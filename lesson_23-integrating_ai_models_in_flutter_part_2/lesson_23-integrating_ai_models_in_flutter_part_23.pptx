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08" r:id="rId3"/>
    <p:sldId id="415" r:id="rId4"/>
    <p:sldId id="414" r:id="rId5"/>
    <p:sldId id="416" r:id="rId6"/>
    <p:sldId id="417" r:id="rId7"/>
    <p:sldId id="418" r:id="rId8"/>
    <p:sldId id="419" r:id="rId9"/>
    <p:sldId id="420" r:id="rId10"/>
    <p:sldId id="421" r:id="rId11"/>
    <p:sldId id="422" r:id="rId12"/>
    <p:sldId id="4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4932"/>
  </p:normalViewPr>
  <p:slideViewPr>
    <p:cSldViewPr snapToGrid="0">
      <p:cViewPr varScale="1">
        <p:scale>
          <a:sx n="107" d="100"/>
          <a:sy n="107" d="100"/>
        </p:scale>
        <p:origin x="19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684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679294" cy="1570716"/>
          </a:xfrm>
        </p:spPr>
        <p:txBody>
          <a:bodyPr/>
          <a:lstStyle/>
          <a:p>
            <a:r>
              <a:rPr lang="en-US" dirty="0"/>
              <a:t>Integrating AI Models in Flutter - Part 2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F1E0-45BE-71DC-67EA-7F7230FA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BEAB65-C571-F295-DAD8-5A5F5844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Aim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5A4734-F2CD-3091-2222-17A4D125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D1401986-2B65-5D73-12BB-F43D91AE971B}"/>
              </a:ext>
            </a:extLst>
          </p:cNvPr>
          <p:cNvSpPr txBox="1">
            <a:spLocks/>
          </p:cNvSpPr>
          <p:nvPr/>
        </p:nvSpPr>
        <p:spPr>
          <a:xfrm>
            <a:off x="1372069" y="4997668"/>
            <a:ext cx="3937351" cy="11819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/>
              <a:t>Part 1</a:t>
            </a:r>
          </a:p>
          <a:p>
            <a:pPr marL="0" indent="0" algn="ctr">
              <a:buNone/>
            </a:pPr>
            <a:r>
              <a:rPr lang="en-US" sz="2800" dirty="0"/>
              <a:t>Build a 30-minute glucose prediction model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DE83BF-1212-FF02-1D31-4D5265B4DA41}"/>
              </a:ext>
            </a:extLst>
          </p:cNvPr>
          <p:cNvSpPr txBox="1">
            <a:spLocks/>
          </p:cNvSpPr>
          <p:nvPr/>
        </p:nvSpPr>
        <p:spPr>
          <a:xfrm>
            <a:off x="6641924" y="5005042"/>
            <a:ext cx="3937351" cy="11819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/>
              <a:t>Part 2</a:t>
            </a:r>
          </a:p>
          <a:p>
            <a:pPr marL="0" indent="0" algn="ctr">
              <a:buNone/>
            </a:pPr>
            <a:r>
              <a:rPr lang="en-US" sz="2800" dirty="0"/>
              <a:t>Integrate the model in a Flutter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88E73-4B52-5F20-2992-81F1CD227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686" y="1860332"/>
            <a:ext cx="2748116" cy="27481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2668F8-3322-446C-4C9C-02C650878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661" y="1640949"/>
            <a:ext cx="3186882" cy="318688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3E1367A-7812-D143-E136-5D5C253A1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9345" y="2612589"/>
            <a:ext cx="1001514" cy="124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73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Recap: What we built in Part 1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05}" type="slidenum">
              <a:rPr lang="en-US" smtClean="0"/>
              <a:t>3</a:t>
            </a:fld>
            <a:endParaRPr lang="en-US"/>
          </a:p>
        </p:txBody>
      </p:sp>
      <p:sp>
        <p:nvSpPr>
          <p:cNvPr id="11" name="Content"/>
          <p:cNvSpPr txBox="1">
            <a:spLocks/>
          </p:cNvSpPr>
          <p:nvPr/>
        </p:nvSpPr>
        <p:spPr>
          <a:xfrm>
            <a:off x="428172" y="1200000"/>
            <a:ext cx="10923001" cy="510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charset="2"/>
              <a:buChar char="Ø"/>
              <a:defRPr sz="2400" kern="1200">
                <a:solidFill>
                  <a:schemeClr val="tx1"/>
                </a:solidFill>
                <a:latin typeface="Aptos" pitchFamily="34" charset="0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Aptos" pitchFamily="34" charset="0"/>
              </a:defRPr>
            </a:lvl2pPr>
          </a:lstStyle>
          <a:p>
            <a:r>
              <a:rPr lang="en-US" sz="2400" dirty="0"/>
              <a:t>Data preparation</a:t>
            </a:r>
          </a:p>
          <a:p>
            <a:pPr lvl="1"/>
            <a:r>
              <a:rPr lang="en-US" sz="2000" dirty="0"/>
              <a:t>ReplaceBG clinical dataset (~226 T1D patients, CGM every 5 min)</a:t>
            </a:r>
          </a:p>
          <a:p>
            <a:pPr lvl="1"/>
            <a:r>
              <a:rPr lang="en-US" sz="2000" dirty="0"/>
              <a:t>Patient-level 80/20 train/test split to avoid data leakage</a:t>
            </a:r>
          </a:p>
          <a:p>
            <a:pPr lvl="1"/>
            <a:r>
              <a:rPr lang="en-US" sz="2000" dirty="0"/>
              <a:t>Target: Y[t] = CGM[t+6] (30 minutes ahead)</a:t>
            </a:r>
          </a:p>
          <a:p>
            <a:endParaRPr lang="en-US" sz="2400" dirty="0"/>
          </a:p>
          <a:p>
            <a:r>
              <a:rPr lang="en-US" sz="2400" dirty="0"/>
              <a:t>Feature engineering</a:t>
            </a:r>
          </a:p>
          <a:p>
            <a:pPr lvl="1"/>
            <a:r>
              <a:rPr lang="en-US" sz="2000" dirty="0"/>
              <a:t>Feature 1 – Current CGM value (mg/dL)</a:t>
            </a:r>
          </a:p>
          <a:p>
            <a:pPr lvl="1"/>
            <a:r>
              <a:rPr lang="en-US" sz="2000" dirty="0"/>
              <a:t>Feature 2 – Rate of Change: ROC[t] = (CGM[t] − CGM[t−3]) / 15</a:t>
            </a:r>
          </a:p>
          <a:p>
            <a:endParaRPr lang="en-US" sz="2400" dirty="0"/>
          </a:p>
          <a:p>
            <a:r>
              <a:rPr lang="en-US" sz="2400" dirty="0"/>
              <a:t>Model training &amp; export</a:t>
            </a:r>
          </a:p>
          <a:p>
            <a:pPr lvl="1"/>
            <a:r>
              <a:rPr lang="en-US" sz="2000" dirty="0"/>
              <a:t>sklearn pipeline: StandardScaler + LinearRegression</a:t>
            </a:r>
          </a:p>
          <a:p>
            <a:pPr lvl="1"/>
            <a:r>
              <a:rPr lang="en-US" sz="2000" dirty="0"/>
              <a:t>Exported to </a:t>
            </a:r>
            <a:r>
              <a:rPr lang="en-US" sz="2000" dirty="0">
                <a:latin typeface="Consolas" pitchFamily="49" charset="0"/>
              </a:rPr>
              <a:t>cgm_forecast.json</a:t>
            </a:r>
            <a:r>
              <a:rPr lang="en-US" sz="2000" dirty="0"/>
              <a:t> → ready to bundle with the Flutter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68A0-5391-4153-3767-A0C3929E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97D7A-B6CC-FB78-031F-78C39585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Our model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D29F9D-D786-E6C3-6D96-E43A4541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E8429AEC-4574-00E3-BA13-805591BA6EB4}"/>
              </a:ext>
            </a:extLst>
          </p:cNvPr>
          <p:cNvSpPr txBox="1">
            <a:spLocks/>
          </p:cNvSpPr>
          <p:nvPr/>
        </p:nvSpPr>
        <p:spPr>
          <a:xfrm>
            <a:off x="428172" y="1509675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Learned prediction formula</a:t>
            </a:r>
          </a:p>
          <a:p>
            <a:endParaRPr lang="en-US" sz="3200" dirty="0"/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Y = 58.40 * (CGM - 159.70)/64.55 + 11.84 * (ROC + 0.001)/0.952 + 159.66</a:t>
            </a:r>
          </a:p>
          <a:p>
            <a:pPr lvl="1"/>
            <a:endParaRPr lang="en-US" sz="24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457200" lvl="1" indent="0" algn="ctr">
              <a:buNone/>
            </a:pPr>
            <a:r>
              <a:rPr lang="en-US" sz="3200" dirty="0">
                <a:latin typeface="Consolas" panose="020B0609020204030204" pitchFamily="49" charset="0"/>
              </a:rPr>
              <a:t>Y = 0.905*CGM + 12.44*ROC + 15.21</a:t>
            </a: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800" dirty="0"/>
              <a:t>ROC coefficient is positive: rising glucose → higher future value</a:t>
            </a:r>
          </a:p>
          <a:p>
            <a:endParaRPr lang="en-US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9D35F0-8FB4-382A-DBBB-D592E8823595}"/>
              </a:ext>
            </a:extLst>
          </p:cNvPr>
          <p:cNvSpPr/>
          <p:nvPr/>
        </p:nvSpPr>
        <p:spPr>
          <a:xfrm>
            <a:off x="2091930" y="3475812"/>
            <a:ext cx="8111613" cy="1187245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6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Prepare the App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06}" type="slidenum">
              <a:rPr lang="en-US" smtClean="0"/>
              <a:t>5</a:t>
            </a:fld>
            <a:endParaRPr lang="en-US"/>
          </a:p>
        </p:txBody>
      </p:sp>
      <p:sp>
        <p:nvSpPr>
          <p:cNvPr id="11" name="Left col"/>
          <p:cNvSpPr txBox="1">
            <a:spLocks/>
          </p:cNvSpPr>
          <p:nvPr/>
        </p:nvSpPr>
        <p:spPr>
          <a:xfrm>
            <a:off x="428172" y="1200000"/>
            <a:ext cx="5800000" cy="51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charset="2"/>
              <a:buChar char="Ø"/>
              <a:defRPr sz="2400" kern="1200">
                <a:solidFill>
                  <a:schemeClr val="tx1"/>
                </a:solidFill>
                <a:latin typeface="Aptos" pitchFamily="34" charset="0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Aptos" pitchFamily="34" charset="0"/>
              </a:defRPr>
            </a:lvl2pPr>
          </a:lstStyle>
          <a:p>
            <a:r>
              <a:rPr lang="en-US" sz="2400" dirty="0"/>
              <a:t>Create the project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Key source files</a:t>
            </a:r>
          </a:p>
          <a:p>
            <a:pPr lvl="1"/>
            <a:r>
              <a:rPr lang="en-US" sz="2000" dirty="0">
                <a:latin typeface="Consolas" pitchFamily="49" charset="0"/>
              </a:rPr>
              <a:t>lib/main.dart</a:t>
            </a:r>
            <a:r>
              <a:rPr lang="en-US" sz="2000" dirty="0"/>
              <a:t> – app entry point</a:t>
            </a:r>
          </a:p>
          <a:p>
            <a:pPr lvl="1"/>
            <a:r>
              <a:rPr lang="en-US" sz="2000" dirty="0">
                <a:latin typeface="Consolas" pitchFamily="49" charset="0"/>
              </a:rPr>
              <a:t>lib/models/glucose_predictor.dart</a:t>
            </a:r>
            <a:r>
              <a:rPr lang="en-US" sz="2000" dirty="0"/>
              <a:t> – model class</a:t>
            </a:r>
          </a:p>
          <a:p>
            <a:pPr lvl="1"/>
            <a:r>
              <a:rPr lang="en-US" sz="2000" dirty="0">
                <a:latin typeface="Consolas" pitchFamily="49" charset="0"/>
              </a:rPr>
              <a:t>lib/screens/homepage.dart</a:t>
            </a:r>
            <a:r>
              <a:rPr lang="en-US" sz="2000" dirty="0"/>
              <a:t> – UI</a:t>
            </a:r>
          </a:p>
          <a:p>
            <a:endParaRPr lang="en-US" sz="2400" dirty="0"/>
          </a:p>
          <a:p>
            <a:r>
              <a:rPr lang="en-US" sz="2400" dirty="0"/>
              <a:t>Bundle the model</a:t>
            </a:r>
          </a:p>
          <a:p>
            <a:pPr lvl="1"/>
            <a:r>
              <a:rPr lang="en-US" sz="2000" dirty="0"/>
              <a:t>Place </a:t>
            </a:r>
            <a:r>
              <a:rPr lang="en-US" sz="2000" dirty="0">
                <a:latin typeface="Consolas" pitchFamily="49" charset="0"/>
              </a:rPr>
              <a:t>cgm_forecast.json</a:t>
            </a:r>
            <a:r>
              <a:rPr lang="en-US" sz="2000" dirty="0"/>
              <a:t> in </a:t>
            </a:r>
            <a:r>
              <a:rPr lang="en-US" sz="2000" dirty="0">
                <a:latin typeface="Consolas" pitchFamily="49" charset="0"/>
              </a:rPr>
              <a:t>assets/</a:t>
            </a:r>
          </a:p>
          <a:p>
            <a:pPr lvl="1"/>
            <a:r>
              <a:rPr lang="en-US" sz="2000" dirty="0"/>
              <a:t>Declare in </a:t>
            </a:r>
            <a:r>
              <a:rPr lang="en-US" sz="2000" dirty="0">
                <a:latin typeface="Consolas" pitchFamily="49" charset="0"/>
              </a:rPr>
              <a:t>pubspec.yaml</a:t>
            </a:r>
            <a:r>
              <a:rPr lang="en-US" sz="2000" dirty="0"/>
              <a:t> → loaded offline at runtime</a:t>
            </a:r>
          </a:p>
        </p:txBody>
      </p:sp>
      <p:sp>
        <p:nvSpPr>
          <p:cNvPr id="12" name="Code box"/>
          <p:cNvSpPr txBox="1">
            <a:spLocks/>
          </p:cNvSpPr>
          <p:nvPr/>
        </p:nvSpPr>
        <p:spPr>
          <a:xfrm>
            <a:off x="6400000" y="1200000"/>
            <a:ext cx="5200000" cy="510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</a:ln>
        </p:spPr>
        <p:txBody>
          <a:bodyPr vert="horz" lIns="182880" tIns="182880" rIns="182880" bIns="182880" rtlCol="0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latin typeface="Consolas" pitchFamily="49" charset="0"/>
              </a:rPr>
              <a:t>predict_glucose_app/</a:t>
            </a:r>
          </a:p>
          <a:p>
            <a:pPr marL="0" indent="0" algn="l">
              <a:buNone/>
            </a:pPr>
            <a:r>
              <a:rPr lang="en-US" sz="1800" dirty="0">
                <a:latin typeface="Consolas" pitchFamily="49" charset="0"/>
              </a:rPr>
              <a:t>  assets/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00B050"/>
                </a:solidFill>
                <a:latin typeface="Consolas" pitchFamily="49" charset="0"/>
              </a:rPr>
              <a:t>    cgm_forecast.json</a:t>
            </a:r>
          </a:p>
          <a:p>
            <a:pPr marL="0" indent="0" algn="l">
              <a:buNone/>
            </a:pPr>
            <a:r>
              <a:rPr lang="en-US" sz="1800" dirty="0">
                <a:latin typeface="Consolas" pitchFamily="49" charset="0"/>
              </a:rPr>
              <a:t>  lib/</a:t>
            </a:r>
          </a:p>
          <a:p>
            <a:pPr marL="0" indent="0" algn="l">
              <a:buNone/>
            </a:pPr>
            <a:r>
              <a:rPr lang="en-US" sz="1800" dirty="0">
                <a:latin typeface="Consolas" pitchFamily="49" charset="0"/>
              </a:rPr>
              <a:t>    main.dart</a:t>
            </a:r>
          </a:p>
          <a:p>
            <a:pPr marL="0" indent="0" algn="l">
              <a:buNone/>
            </a:pPr>
            <a:r>
              <a:rPr lang="en-US" sz="1800" dirty="0">
                <a:latin typeface="Consolas" pitchFamily="49" charset="0"/>
              </a:rPr>
              <a:t>    models/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00B050"/>
                </a:solidFill>
                <a:latin typeface="Consolas" pitchFamily="49" charset="0"/>
              </a:rPr>
              <a:t>      glucose_predictor.dart</a:t>
            </a:r>
          </a:p>
          <a:p>
            <a:pPr marL="0" indent="0" algn="l">
              <a:buNone/>
            </a:pPr>
            <a:r>
              <a:rPr lang="en-US" sz="1800" dirty="0">
                <a:latin typeface="Consolas" pitchFamily="49" charset="0"/>
              </a:rPr>
              <a:t>    screens/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00B050"/>
                </a:solidFill>
                <a:latin typeface="Consolas" pitchFamily="49" charset="0"/>
              </a:rPr>
              <a:t>      homepage.dart</a:t>
            </a:r>
          </a:p>
          <a:p>
            <a:endParaRPr lang="en-US" sz="1800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1600" b="0" dirty="0">
                <a:solidFill>
                  <a:srgbClr val="555555"/>
                </a:solidFill>
                <a:latin typeface="Consolas" pitchFamily="49" charset="0"/>
              </a:rPr>
              <a:t># pubspec.yaml</a:t>
            </a:r>
          </a:p>
          <a:p>
            <a:pPr marL="0" indent="0" algn="l">
              <a:buNone/>
            </a:pPr>
            <a:r>
              <a:rPr lang="en-US" sz="1800" dirty="0">
                <a:latin typeface="Consolas" pitchFamily="49" charset="0"/>
              </a:rPr>
              <a:t>flutter:</a:t>
            </a:r>
          </a:p>
          <a:p>
            <a:pPr marL="0" indent="0" algn="l">
              <a:buNone/>
            </a:pPr>
            <a:r>
              <a:rPr lang="en-US" sz="1800" dirty="0">
                <a:latin typeface="Consolas" pitchFamily="49" charset="0"/>
              </a:rPr>
              <a:t>  assets: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00B050"/>
                </a:solidFill>
                <a:latin typeface="Consolas" pitchFamily="49" charset="0"/>
              </a:rPr>
              <a:t>    - assets/cgm_forecast.json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Step 1: The GlucosePredictor Class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07}" type="slidenum">
              <a:rPr lang="en-US" smtClean="0"/>
              <a:t>6</a:t>
            </a:fld>
            <a:endParaRPr lang="en-US"/>
          </a:p>
        </p:txBody>
      </p:sp>
      <p:sp>
        <p:nvSpPr>
          <p:cNvPr id="11" name="Left col"/>
          <p:cNvSpPr txBox="1">
            <a:spLocks/>
          </p:cNvSpPr>
          <p:nvPr/>
        </p:nvSpPr>
        <p:spPr>
          <a:xfrm>
            <a:off x="428172" y="1200000"/>
            <a:ext cx="5500000" cy="510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charset="2"/>
              <a:buChar char="Ø"/>
              <a:defRPr sz="2400" kern="1200">
                <a:solidFill>
                  <a:schemeClr val="tx1"/>
                </a:solidFill>
                <a:latin typeface="Aptos" pitchFamily="34" charset="0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Aptos" pitchFamily="34" charset="0"/>
              </a:defRPr>
            </a:lvl2pPr>
          </a:lstStyle>
          <a:p>
            <a:r>
              <a:rPr lang="en-US" sz="2400" dirty="0"/>
              <a:t>Class overview</a:t>
            </a:r>
          </a:p>
          <a:p>
            <a:pPr lvl="1"/>
            <a:r>
              <a:rPr lang="en-US" sz="2000" dirty="0"/>
              <a:t>Encapsulates model loading and inference</a:t>
            </a:r>
          </a:p>
          <a:p>
            <a:pPr lvl="1"/>
            <a:r>
              <a:rPr lang="en-US" sz="2000" dirty="0"/>
              <a:t>Holds four parameters parsed from JSON:</a:t>
            </a:r>
          </a:p>
          <a:p>
            <a:pPr lvl="1"/>
            <a:r>
              <a:rPr lang="en-US" sz="2000" dirty="0">
                <a:latin typeface="Consolas" pitchFamily="49" charset="0"/>
              </a:rPr>
              <a:t>_mean</a:t>
            </a:r>
            <a:r>
              <a:rPr lang="en-US" sz="2000" dirty="0"/>
              <a:t>, </a:t>
            </a:r>
            <a:r>
              <a:rPr lang="en-US" sz="2000" dirty="0">
                <a:latin typeface="Consolas" pitchFamily="49" charset="0"/>
              </a:rPr>
              <a:t>_scale</a:t>
            </a:r>
            <a:r>
              <a:rPr lang="en-US" sz="2000" dirty="0"/>
              <a:t>, </a:t>
            </a:r>
            <a:r>
              <a:rPr lang="en-US" sz="2000" dirty="0">
                <a:latin typeface="Consolas" pitchFamily="49" charset="0"/>
              </a:rPr>
              <a:t>_coef</a:t>
            </a:r>
            <a:r>
              <a:rPr lang="en-US" sz="2000" dirty="0"/>
              <a:t>, </a:t>
            </a:r>
            <a:r>
              <a:rPr lang="en-US" sz="2000" dirty="0">
                <a:latin typeface="Consolas" pitchFamily="49" charset="0"/>
              </a:rPr>
              <a:t>_intercept</a:t>
            </a:r>
          </a:p>
          <a:p>
            <a:endParaRPr lang="en-US" sz="2400" dirty="0"/>
          </a:p>
          <a:p>
            <a:r>
              <a:rPr lang="en-US" sz="2400" dirty="0"/>
              <a:t>Two methods</a:t>
            </a:r>
          </a:p>
          <a:p>
            <a:pPr lvl="1"/>
            <a:r>
              <a:rPr lang="en-US" sz="2000" dirty="0">
                <a:latin typeface="Consolas" pitchFamily="49" charset="0"/>
              </a:rPr>
              <a:t>load()</a:t>
            </a:r>
            <a:r>
              <a:rPr lang="en-US" sz="2000" dirty="0"/>
              <a:t> – async, reads &amp; parses the JSON asset</a:t>
            </a:r>
          </a:p>
          <a:p>
            <a:pPr lvl="1"/>
            <a:r>
              <a:rPr lang="en-US" sz="2000" dirty="0">
                <a:latin typeface="Consolas" pitchFamily="49" charset="0"/>
              </a:rPr>
              <a:t>predict(cgm, roc)</a:t>
            </a:r>
            <a:r>
              <a:rPr lang="en-US" sz="2000" dirty="0"/>
              <a:t> – runs scaled inference</a:t>
            </a:r>
          </a:p>
          <a:p>
            <a:endParaRPr lang="en-US" sz="2400" dirty="0"/>
          </a:p>
          <a:p>
            <a:r>
              <a:rPr lang="en-US" sz="2400" dirty="0"/>
              <a:t>Design choice</a:t>
            </a:r>
          </a:p>
          <a:p>
            <a:pPr lvl="1"/>
            <a:r>
              <a:rPr lang="en-US" sz="2000" dirty="0"/>
              <a:t>No sklearn dependency needed on the device</a:t>
            </a:r>
          </a:p>
          <a:p>
            <a:pPr lvl="1"/>
            <a:r>
              <a:rPr lang="en-US" sz="2000" dirty="0"/>
              <a:t>Pure Dart → fast, offline, zero dependencies</a:t>
            </a:r>
          </a:p>
        </p:txBody>
      </p:sp>
      <p:sp>
        <p:nvSpPr>
          <p:cNvPr id="12" name="Code box"/>
          <p:cNvSpPr txBox="1">
            <a:spLocks/>
          </p:cNvSpPr>
          <p:nvPr/>
        </p:nvSpPr>
        <p:spPr>
          <a:xfrm>
            <a:off x="6100000" y="1200000"/>
            <a:ext cx="5500000" cy="510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</a:ln>
        </p:spPr>
        <p:txBody>
          <a:bodyPr vert="horz" lIns="182880" tIns="182880" rIns="182880" bIns="182880" rtlCol="0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class </a:t>
            </a:r>
            <a:r>
              <a:rPr lang="en-US" sz="1700" b="1" dirty="0">
                <a:latin typeface="Consolas" pitchFamily="49" charset="0"/>
              </a:rPr>
              <a:t>GlucosePredictor </a:t>
            </a:r>
            <a:r>
              <a:rPr lang="en-US" sz="1700" dirty="0">
                <a:latin typeface="Consolas" pitchFamily="49" charset="0"/>
              </a:rPr>
              <a:t>{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late List&lt;double&gt; _mean;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late List&lt;double&gt; _scale;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late List&lt;double&gt; _coef;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late double _intercept;</a:t>
            </a:r>
          </a:p>
          <a:p>
            <a:endParaRPr lang="en-US" sz="1700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  Future&lt;void&gt; </a:t>
            </a:r>
            <a:r>
              <a:rPr lang="en-US" sz="1700" b="1" dirty="0">
                <a:latin typeface="Consolas" pitchFamily="49" charset="0"/>
              </a:rPr>
              <a:t>load</a:t>
            </a:r>
            <a:r>
              <a:rPr lang="en-US" sz="1700" dirty="0">
                <a:latin typeface="Consolas" pitchFamily="49" charset="0"/>
              </a:rPr>
              <a:t>() async { ... }</a:t>
            </a:r>
          </a:p>
          <a:p>
            <a:endParaRPr lang="en-US" sz="1700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  double </a:t>
            </a:r>
            <a:r>
              <a:rPr lang="en-US" sz="1700" b="1" dirty="0">
                <a:latin typeface="Consolas" pitchFamily="49" charset="0"/>
              </a:rPr>
              <a:t>predict</a:t>
            </a:r>
            <a:r>
              <a:rPr lang="en-US" sz="1700" dirty="0">
                <a:latin typeface="Consolas" pitchFamily="49" charset="0"/>
              </a:rPr>
              <a:t>(double cgm,</a:t>
            </a:r>
          </a:p>
          <a:p>
            <a:pPr marL="0" indent="0" algn="l">
              <a:buNone/>
            </a:pPr>
            <a:r>
              <a:rPr lang="en-US" sz="1700" dirty="0">
                <a:latin typeface="Consolas" pitchFamily="49" charset="0"/>
              </a:rPr>
              <a:t>               double roc) { ... }</a:t>
            </a:r>
          </a:p>
          <a:p>
            <a:endParaRPr lang="en-US" sz="1700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1700" dirty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Step 2: Loading the Model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08}" type="slidenum">
              <a:rPr lang="en-US" smtClean="0"/>
              <a:t>7</a:t>
            </a:fld>
            <a:endParaRPr lang="en-US"/>
          </a:p>
        </p:txBody>
      </p:sp>
      <p:sp>
        <p:nvSpPr>
          <p:cNvPr id="11" name="Left col"/>
          <p:cNvSpPr txBox="1">
            <a:spLocks/>
          </p:cNvSpPr>
          <p:nvPr/>
        </p:nvSpPr>
        <p:spPr>
          <a:xfrm>
            <a:off x="428172" y="1200000"/>
            <a:ext cx="4800000" cy="240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charset="2"/>
              <a:buChar char="Ø"/>
              <a:defRPr sz="2200" kern="1200">
                <a:solidFill>
                  <a:schemeClr val="tx1"/>
                </a:solidFill>
                <a:latin typeface="Aptos" pitchFamily="34" charset="0"/>
              </a:defRPr>
            </a:lvl1pPr>
          </a:lstStyle>
          <a:p>
            <a:r>
              <a:rPr lang="en-US" sz="2200" dirty="0"/>
              <a:t>Use </a:t>
            </a:r>
            <a:r>
              <a:rPr lang="en-US" sz="2200" dirty="0">
                <a:latin typeface="Consolas" pitchFamily="49" charset="0"/>
              </a:rPr>
              <a:t>rootBundle</a:t>
            </a:r>
            <a:r>
              <a:rPr lang="en-US" sz="2200" dirty="0"/>
              <a:t> to read the bundled JSON asset</a:t>
            </a:r>
          </a:p>
          <a:p>
            <a:r>
              <a:rPr lang="en-US" sz="2200" dirty="0"/>
              <a:t>Decode with </a:t>
            </a:r>
            <a:r>
              <a:rPr lang="en-US" sz="2200" dirty="0">
                <a:latin typeface="Consolas" pitchFamily="49" charset="0"/>
              </a:rPr>
              <a:t>jsonDecode</a:t>
            </a:r>
            <a:r>
              <a:rPr lang="en-US" sz="2200" dirty="0"/>
              <a:t> → standard </a:t>
            </a:r>
            <a:r>
              <a:rPr lang="en-US" sz="2200" dirty="0">
                <a:latin typeface="Consolas" pitchFamily="49" charset="0"/>
              </a:rPr>
              <a:t>dart:convert</a:t>
            </a:r>
          </a:p>
          <a:p>
            <a:r>
              <a:rPr lang="en-US" sz="2200" dirty="0"/>
              <a:t>Store lists as </a:t>
            </a:r>
            <a:r>
              <a:rPr lang="en-US" sz="2200" dirty="0">
                <a:latin typeface="Consolas" pitchFamily="49" charset="0"/>
              </a:rPr>
              <a:t>List&lt;double&gt;</a:t>
            </a:r>
            <a:r>
              <a:rPr lang="en-US" sz="2200" dirty="0"/>
              <a:t> for type safety</a:t>
            </a:r>
          </a:p>
          <a:p>
            <a:r>
              <a:rPr lang="en-US" sz="2200" dirty="0"/>
              <a:t>Called once before first prediction</a:t>
            </a:r>
          </a:p>
        </p:txBody>
      </p:sp>
      <p:sp>
        <p:nvSpPr>
          <p:cNvPr id="12" name="Code box"/>
          <p:cNvSpPr txBox="1">
            <a:spLocks/>
          </p:cNvSpPr>
          <p:nvPr/>
        </p:nvSpPr>
        <p:spPr>
          <a:xfrm>
            <a:off x="428172" y="3700000"/>
            <a:ext cx="11100000" cy="285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</a:ln>
        </p:spPr>
        <p:txBody>
          <a:bodyPr vert="horz" lIns="182880" tIns="182880" rIns="182880" bIns="182880" rtlCol="0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CC"/>
                </a:solidFill>
                <a:latin typeface="Consolas" pitchFamily="49" charset="0"/>
              </a:rPr>
              <a:t>Future&lt;void&gt; </a:t>
            </a:r>
            <a:r>
              <a:rPr lang="en-US" sz="1800" b="1" dirty="0">
                <a:latin typeface="Consolas" pitchFamily="49" charset="0"/>
              </a:rPr>
              <a:t>load</a:t>
            </a:r>
            <a:r>
              <a:rPr lang="en-US" sz="1800" dirty="0">
                <a:latin typeface="Consolas" pitchFamily="49" charset="0"/>
              </a:rPr>
              <a:t>() async {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  final String raw = </a:t>
            </a:r>
            <a:r>
              <a:rPr lang="en-US" sz="1800" dirty="0">
                <a:solidFill>
                  <a:srgbClr val="0000CC"/>
                </a:solidFill>
                <a:latin typeface="Consolas" pitchFamily="49" charset="0"/>
              </a:rPr>
              <a:t>await </a:t>
            </a: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rootBundle.loadString(</a:t>
            </a:r>
            <a:r>
              <a:rPr lang="en-US" sz="1800" dirty="0">
                <a:solidFill>
                  <a:srgbClr val="CC0000"/>
                </a:solidFill>
                <a:latin typeface="Consolas" pitchFamily="49" charset="0"/>
              </a:rPr>
              <a:t>'assets/cgm_forecast.json'</a:t>
            </a: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);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  final Map&lt;String, dynamic&gt; json = jsonDecode(raw);</a:t>
            </a:r>
          </a:p>
          <a:p>
            <a:endParaRPr lang="en-US" sz="1800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  _mean      = List&lt;double&gt;.from(json[</a:t>
            </a:r>
            <a:r>
              <a:rPr lang="en-US" sz="1800" dirty="0">
                <a:solidFill>
                  <a:srgbClr val="CC0000"/>
                </a:solidFill>
                <a:latin typeface="Consolas" pitchFamily="49" charset="0"/>
              </a:rPr>
              <a:t>'mean'</a:t>
            </a: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]);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  _scale     = List&lt;double&gt;.from(json[</a:t>
            </a:r>
            <a:r>
              <a:rPr lang="en-US" sz="1800" dirty="0">
                <a:solidFill>
                  <a:srgbClr val="CC0000"/>
                </a:solidFill>
                <a:latin typeface="Consolas" pitchFamily="49" charset="0"/>
              </a:rPr>
              <a:t>'scale'</a:t>
            </a: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]);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  _coef      = List&lt;double&gt;.from(json[</a:t>
            </a:r>
            <a:r>
              <a:rPr lang="en-US" sz="1800" dirty="0">
                <a:solidFill>
                  <a:srgbClr val="CC0000"/>
                </a:solidFill>
                <a:latin typeface="Consolas" pitchFamily="49" charset="0"/>
              </a:rPr>
              <a:t>'coef'</a:t>
            </a: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]);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  _intercept = (json[</a:t>
            </a:r>
            <a:r>
              <a:rPr lang="en-US" sz="1800" dirty="0">
                <a:solidFill>
                  <a:srgbClr val="CC0000"/>
                </a:solidFill>
                <a:latin typeface="Consolas" pitchFamily="49" charset="0"/>
              </a:rPr>
              <a:t>'intercept'</a:t>
            </a:r>
            <a:r>
              <a:rPr lang="en-US" sz="1800" dirty="0">
                <a:solidFill>
                  <a:srgbClr val="555555"/>
                </a:solidFill>
                <a:latin typeface="Consolas" pitchFamily="49" charset="0"/>
              </a:rPr>
              <a:t>] as num).toDouble();</a:t>
            </a:r>
          </a:p>
          <a:p>
            <a:pPr marL="0" indent="0" algn="l">
              <a:buNone/>
            </a:pPr>
            <a:r>
              <a:rPr lang="en-US" sz="1800" dirty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Step 3: Running Predictions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09}" type="slidenum">
              <a:rPr lang="en-US" smtClean="0"/>
              <a:t>8</a:t>
            </a:fld>
            <a:endParaRPr lang="en-US"/>
          </a:p>
        </p:txBody>
      </p:sp>
      <p:sp>
        <p:nvSpPr>
          <p:cNvPr id="11" name="Left col"/>
          <p:cNvSpPr txBox="1">
            <a:spLocks/>
          </p:cNvSpPr>
          <p:nvPr/>
        </p:nvSpPr>
        <p:spPr>
          <a:xfrm>
            <a:off x="428172" y="1200000"/>
            <a:ext cx="4800000" cy="270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charset="2"/>
              <a:buChar char="Ø"/>
              <a:defRPr sz="2200" kern="1200">
                <a:solidFill>
                  <a:schemeClr val="tx1"/>
                </a:solidFill>
                <a:latin typeface="Aptos" pitchFamily="34" charset="0"/>
              </a:defRPr>
            </a:lvl1pPr>
          </a:lstStyle>
          <a:p>
            <a:r>
              <a:rPr lang="en-US" sz="2200" dirty="0"/>
              <a:t>Mirrors the sklearn pipeline exactly</a:t>
            </a:r>
          </a:p>
          <a:p>
            <a:r>
              <a:rPr lang="en-US" sz="2200" dirty="0"/>
              <a:t>StandardScaler: </a:t>
            </a:r>
            <a:r>
              <a:rPr lang="en-US" sz="2200" dirty="0">
                <a:latin typeface="Consolas" pitchFamily="49" charset="0"/>
              </a:rPr>
              <a:t>x_s = (x − mean) / scale</a:t>
            </a:r>
          </a:p>
          <a:p>
            <a:r>
              <a:rPr lang="en-US" sz="2200" dirty="0"/>
              <a:t>Linear regression: </a:t>
            </a:r>
            <a:r>
              <a:rPr lang="en-US" sz="2200" dirty="0">
                <a:latin typeface="Consolas" pitchFamily="49" charset="0"/>
              </a:rPr>
              <a:t>y = coef·x_s + intercept</a:t>
            </a:r>
          </a:p>
          <a:p>
            <a:r>
              <a:rPr lang="en-US" sz="2200" dirty="0"/>
              <a:t>Returns predicted glucose in mg/dL (30 min ahead)</a:t>
            </a:r>
          </a:p>
        </p:txBody>
      </p:sp>
      <p:sp>
        <p:nvSpPr>
          <p:cNvPr id="12" name="Code box"/>
          <p:cNvSpPr txBox="1">
            <a:spLocks/>
          </p:cNvSpPr>
          <p:nvPr/>
        </p:nvSpPr>
        <p:spPr>
          <a:xfrm>
            <a:off x="428172" y="3970000"/>
            <a:ext cx="11100000" cy="252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</a:ln>
        </p:spPr>
        <p:txBody>
          <a:bodyPr vert="horz" lIns="182880" tIns="182880" rIns="182880" bIns="182880" rtlCol="0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0000CC"/>
                </a:solidFill>
                <a:latin typeface="Consolas" pitchFamily="49" charset="0"/>
              </a:rPr>
              <a:t>double </a:t>
            </a:r>
            <a:r>
              <a:rPr lang="en-US" sz="1900" b="1" dirty="0">
                <a:latin typeface="Consolas" pitchFamily="49" charset="0"/>
              </a:rPr>
              <a:t>predict</a:t>
            </a:r>
            <a:r>
              <a:rPr lang="en-US" sz="1900" dirty="0">
                <a:latin typeface="Consolas" pitchFamily="49" charset="0"/>
              </a:rPr>
              <a:t>(double cgm, double roc) {</a:t>
            </a:r>
          </a:p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Consolas" pitchFamily="49" charset="0"/>
              </a:rPr>
              <a:t>  </a:t>
            </a:r>
            <a:r>
              <a:rPr lang="en-US" sz="1900" dirty="0">
                <a:solidFill>
                  <a:srgbClr val="0000CC"/>
                </a:solidFill>
                <a:latin typeface="Consolas" pitchFamily="49" charset="0"/>
              </a:rPr>
              <a:t>final double </a:t>
            </a:r>
            <a:r>
              <a:rPr lang="en-US" sz="1900" dirty="0">
                <a:solidFill>
                  <a:srgbClr val="555555"/>
                </a:solidFill>
                <a:latin typeface="Consolas" pitchFamily="49" charset="0"/>
              </a:rPr>
              <a:t>cgmScaled = (cgm - _mean[0]) / _scale[0];</a:t>
            </a:r>
          </a:p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Consolas" pitchFamily="49" charset="0"/>
              </a:rPr>
              <a:t>  </a:t>
            </a:r>
            <a:r>
              <a:rPr lang="en-US" sz="1900" dirty="0">
                <a:solidFill>
                  <a:srgbClr val="0000CC"/>
                </a:solidFill>
                <a:latin typeface="Consolas" pitchFamily="49" charset="0"/>
              </a:rPr>
              <a:t>final double </a:t>
            </a:r>
            <a:r>
              <a:rPr lang="en-US" sz="1900" dirty="0">
                <a:solidFill>
                  <a:srgbClr val="555555"/>
                </a:solidFill>
                <a:latin typeface="Consolas" pitchFamily="49" charset="0"/>
              </a:rPr>
              <a:t>rocScaled = (roc - _mean[1]) / _scale[1];</a:t>
            </a:r>
          </a:p>
          <a:p>
            <a:endParaRPr lang="en-US" sz="1900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1900" dirty="0">
                <a:solidFill>
                  <a:srgbClr val="0000CC"/>
                </a:solidFill>
                <a:latin typeface="Consolas" pitchFamily="49" charset="0"/>
              </a:rPr>
              <a:t>  return </a:t>
            </a:r>
            <a:r>
              <a:rPr lang="en-US" sz="1900" dirty="0">
                <a:solidFill>
                  <a:srgbClr val="555555"/>
                </a:solidFill>
                <a:latin typeface="Consolas" pitchFamily="49" charset="0"/>
              </a:rPr>
              <a:t>_coef[0] * cgmScaled + _coef[1] * rocScaled + _intercept;</a:t>
            </a:r>
          </a:p>
          <a:p>
            <a:pPr marL="0" indent="0" algn="l">
              <a:buNone/>
            </a:pPr>
            <a:r>
              <a:rPr lang="en-US" sz="1900" dirty="0">
                <a:latin typeface="Consolas" pitchFamily="49" charset="0"/>
              </a:rPr>
              <a:t>}</a:t>
            </a:r>
          </a:p>
        </p:txBody>
      </p:sp>
      <p:sp>
        <p:nvSpPr>
          <p:cNvPr id="13" name="Formula box"/>
          <p:cNvSpPr txBox="1">
            <a:spLocks/>
          </p:cNvSpPr>
          <p:nvPr/>
        </p:nvSpPr>
        <p:spPr>
          <a:xfrm>
            <a:off x="5400000" y="1500000"/>
            <a:ext cx="6100000" cy="21000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algn="ctr">
              <a:buNone/>
            </a:pPr>
            <a:r>
              <a:rPr lang="en-US" sz="2400" dirty="0">
                <a:latin typeface="Consolas" pitchFamily="49" charset="0"/>
              </a:rPr>
              <a:t>Y = 0.905·CGM + 12.44·ROC + 15.21</a:t>
            </a:r>
          </a:p>
          <a:p>
            <a:endParaRPr lang="en-US" sz="2000" dirty="0"/>
          </a:p>
          <a:p>
            <a:pPr algn="ctr">
              <a:buNone/>
            </a:pPr>
            <a:r>
              <a:rPr lang="en-US" sz="1800" dirty="0"/>
              <a:t>RMSE ≈ 20 mg/dL on held-out test patients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Step 4: Building the UI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10}" type="slidenum">
              <a:rPr lang="en-US" smtClean="0"/>
              <a:t>9</a:t>
            </a:fld>
            <a:endParaRPr lang="en-US"/>
          </a:p>
        </p:txBody>
      </p:sp>
      <p:sp>
        <p:nvSpPr>
          <p:cNvPr id="11" name="Left col"/>
          <p:cNvSpPr txBox="1">
            <a:spLocks/>
          </p:cNvSpPr>
          <p:nvPr/>
        </p:nvSpPr>
        <p:spPr>
          <a:xfrm>
            <a:off x="428172" y="1200000"/>
            <a:ext cx="5100000" cy="510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charset="2"/>
              <a:buChar char="Ø"/>
              <a:defRPr sz="2200" kern="1200">
                <a:solidFill>
                  <a:schemeClr val="tx1"/>
                </a:solidFill>
                <a:latin typeface="Aptos" pitchFamily="34" charset="0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Aptos" pitchFamily="34" charset="0"/>
              </a:defRPr>
            </a:lvl2pPr>
          </a:lstStyle>
          <a:p>
            <a:r>
              <a:rPr lang="en-US" sz="2200" dirty="0"/>
              <a:t>Widget: </a:t>
            </a:r>
            <a:r>
              <a:rPr lang="en-US" sz="2200" dirty="0">
                <a:latin typeface="Consolas" pitchFamily="49" charset="0"/>
              </a:rPr>
              <a:t>StatelessWidget</a:t>
            </a:r>
          </a:p>
          <a:p>
            <a:pPr lvl="1"/>
            <a:r>
              <a:rPr lang="en-US" sz="2000" dirty="0"/>
              <a:t>Simple, no local state needed</a:t>
            </a:r>
          </a:p>
          <a:p>
            <a:endParaRPr lang="en-US" sz="2200" dirty="0"/>
          </a:p>
          <a:p>
            <a:r>
              <a:rPr lang="en-US" sz="2200" dirty="0"/>
              <a:t>Two </a:t>
            </a:r>
            <a:r>
              <a:rPr lang="en-US" sz="2200" dirty="0">
                <a:latin typeface="Consolas" pitchFamily="49" charset="0"/>
              </a:rPr>
              <a:t>TextFormField</a:t>
            </a:r>
            <a:r>
              <a:rPr lang="en-US" sz="2200" dirty="0"/>
              <a:t> inputs</a:t>
            </a:r>
          </a:p>
          <a:p>
            <a:pPr lvl="1"/>
            <a:r>
              <a:rPr lang="en-US" sz="2000" dirty="0"/>
              <a:t>CGM (mg/dL) – decimal, unsigned</a:t>
            </a:r>
          </a:p>
          <a:p>
            <a:pPr lvl="1"/>
            <a:r>
              <a:rPr lang="en-US" sz="2000" dirty="0"/>
              <a:t>ROC (mg/dL/min) – decimal, signed</a:t>
            </a:r>
          </a:p>
          <a:p>
            <a:endParaRPr lang="en-US" sz="2200" dirty="0"/>
          </a:p>
          <a:p>
            <a:r>
              <a:rPr lang="en-US" sz="2200" dirty="0"/>
              <a:t>One </a:t>
            </a:r>
            <a:r>
              <a:rPr lang="en-US" sz="2200" dirty="0">
                <a:latin typeface="Consolas" pitchFamily="49" charset="0"/>
              </a:rPr>
              <a:t>ElevatedButton</a:t>
            </a:r>
          </a:p>
          <a:p>
            <a:pPr lvl="1"/>
            <a:r>
              <a:rPr lang="en-US" sz="2000" dirty="0"/>
              <a:t>Async </a:t>
            </a:r>
            <a:r>
              <a:rPr lang="en-US" sz="2000" dirty="0">
                <a:latin typeface="Consolas" pitchFamily="49" charset="0"/>
              </a:rPr>
              <a:t>onPressed</a:t>
            </a:r>
            <a:r>
              <a:rPr lang="en-US" sz="2000" dirty="0"/>
              <a:t>: load → predict → show</a:t>
            </a:r>
          </a:p>
          <a:p>
            <a:endParaRPr lang="en-US" sz="2200" dirty="0"/>
          </a:p>
          <a:p>
            <a:r>
              <a:rPr lang="en-US" sz="2200" dirty="0"/>
              <a:t>Result in a </a:t>
            </a:r>
            <a:r>
              <a:rPr lang="en-US" sz="2200" dirty="0">
                <a:latin typeface="Consolas" pitchFamily="49" charset="0"/>
              </a:rPr>
              <a:t>SnackBar</a:t>
            </a:r>
          </a:p>
          <a:p>
            <a:pPr lvl="1"/>
            <a:r>
              <a:rPr lang="en-US" sz="2000" dirty="0"/>
              <a:t>“Predicted glucose in 30 min: X mg/dL”</a:t>
            </a:r>
          </a:p>
        </p:txBody>
      </p:sp>
      <p:sp>
        <p:nvSpPr>
          <p:cNvPr id="12" name="Code box"/>
          <p:cNvSpPr txBox="1">
            <a:spLocks/>
          </p:cNvSpPr>
          <p:nvPr/>
        </p:nvSpPr>
        <p:spPr>
          <a:xfrm>
            <a:off x="5700000" y="1200000"/>
            <a:ext cx="5900000" cy="5100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</a:ln>
        </p:spPr>
        <p:txBody>
          <a:bodyPr vert="horz" lIns="182880" tIns="182880" rIns="182880" bIns="182880" rtlCol="0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onPressed: () </a:t>
            </a: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async </a:t>
            </a: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{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</a:t>
            </a: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final double</a:t>
            </a: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? cgm =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    double.tryParse(_cgmController.text);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  final double</a:t>
            </a: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? roc =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    double.tryParse(_rocController.text);</a:t>
            </a:r>
          </a:p>
          <a:p>
            <a:endParaRPr lang="en-US" sz="1700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  final </a:t>
            </a: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predictor = GlucosePredictor();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  await </a:t>
            </a: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predictor.load();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0000CC"/>
                </a:solidFill>
                <a:latin typeface="Consolas" pitchFamily="49" charset="0"/>
              </a:rPr>
              <a:t>  final double </a:t>
            </a: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pred =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    predictor.predict(cgm!, roc!);</a:t>
            </a:r>
          </a:p>
          <a:p>
            <a:endParaRPr lang="en-US" sz="1700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ScaffoldMessenger.of(context)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  ..showSnackBar(SnackBar(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    content: Text(</a:t>
            </a:r>
            <a:r>
              <a:rPr lang="en-US" sz="1700" dirty="0">
                <a:solidFill>
                  <a:srgbClr val="CC0000"/>
                </a:solidFill>
                <a:latin typeface="Consolas" pitchFamily="49" charset="0"/>
              </a:rPr>
              <a:t>'${pred.toStringAsFixed(1)} mg/dL'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Consolas" pitchFamily="49" charset="0"/>
              </a:rPr>
              <a:t>    )));</a:t>
            </a:r>
          </a:p>
          <a:p>
            <a:pPr marL="0" indent="0" algn="l">
              <a:buNone/>
            </a:pPr>
            <a:r>
              <a:rPr lang="en-US" sz="1700" dirty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Run it!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11}" type="slidenum">
              <a:rPr lang="en-US" smtClean="0"/>
              <a:t>10</a:t>
            </a:fld>
            <a:endParaRPr lang="en-US"/>
          </a:p>
        </p:txBody>
      </p:sp>
      <p:sp>
        <p:nvSpPr>
          <p:cNvPr id="11" name="Content"/>
          <p:cNvSpPr txBox="1">
            <a:spLocks/>
          </p:cNvSpPr>
          <p:nvPr/>
        </p:nvSpPr>
        <p:spPr>
          <a:xfrm>
            <a:off x="428172" y="1200000"/>
            <a:ext cx="10923001" cy="50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charset="2"/>
              <a:buChar char="Ø"/>
              <a:defRPr sz="2400" kern="1200">
                <a:solidFill>
                  <a:schemeClr val="tx1"/>
                </a:solidFill>
                <a:latin typeface="Aptos" pitchFamily="34" charset="0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Aptos" pitchFamily="34" charset="0"/>
              </a:defRPr>
            </a:lvl2pPr>
          </a:lstStyle>
          <a:p>
            <a:r>
              <a:rPr lang="en-US" sz="2400" dirty="0"/>
              <a:t>End-to-end data flow</a:t>
            </a:r>
          </a:p>
          <a:p>
            <a:pPr lvl="1"/>
            <a:r>
              <a:rPr lang="en-US" sz="2000" dirty="0"/>
              <a:t>User enters CGM and ROC values → button tap → </a:t>
            </a:r>
            <a:r>
              <a:rPr lang="en-US" sz="2000" dirty="0">
                <a:latin typeface="Consolas" pitchFamily="49" charset="0"/>
              </a:rPr>
              <a:t>load()</a:t>
            </a:r>
            <a:r>
              <a:rPr lang="en-US" sz="2000" dirty="0"/>
              <a:t> → </a:t>
            </a:r>
            <a:r>
              <a:rPr lang="en-US" sz="2000" dirty="0">
                <a:latin typeface="Consolas" pitchFamily="49" charset="0"/>
              </a:rPr>
              <a:t>predict()</a:t>
            </a:r>
            <a:r>
              <a:rPr lang="en-US" sz="2000" dirty="0"/>
              <a:t> → SnackBar result</a:t>
            </a:r>
          </a:p>
          <a:p>
            <a:pPr lvl="1"/>
            <a:r>
              <a:rPr lang="en-US" sz="2000" dirty="0"/>
              <a:t>Example: CGM = 120 mg/dL, ROC = −0.5 mg/dL/min</a:t>
            </a:r>
          </a:p>
          <a:p>
            <a:pPr lvl="1"/>
            <a:r>
              <a:rPr lang="en-US" sz="2000" dirty="0"/>
              <a:t>→ Predicted glucose in 30 min: </a:t>
            </a:r>
            <a:r>
              <a:rPr lang="en-US" sz="2000" b="1" dirty="0">
                <a:solidFill>
                  <a:srgbClr val="00B050"/>
                </a:solidFill>
              </a:rPr>
              <a:t>≈ 101.5 mg/dL</a:t>
            </a:r>
          </a:p>
          <a:p>
            <a:endParaRPr lang="en-US" sz="2400" dirty="0"/>
          </a:p>
          <a:p>
            <a:r>
              <a:rPr lang="en-US" sz="2400" dirty="0"/>
              <a:t>Run the app</a:t>
            </a:r>
          </a:p>
          <a:p>
            <a:pPr lvl="1"/>
            <a:r>
              <a:rPr lang="en-US" sz="2000" dirty="0"/>
              <a:t>Works fully offline – no server, no network required</a:t>
            </a:r>
          </a:p>
          <a:p>
            <a:pPr lvl="1"/>
            <a:r>
              <a:rPr lang="en-US" sz="2000" dirty="0"/>
              <a:t>Inference is instant: pure arithmetic, no GPU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12}" type="slidenum">
              <a:rPr lang="en-US" smtClean="0"/>
              <a:t>11</a:t>
            </a:fld>
            <a:endParaRPr lang="en-US"/>
          </a:p>
        </p:txBody>
      </p:sp>
      <p:sp>
        <p:nvSpPr>
          <p:cNvPr id="10" name="Box1"/>
          <p:cNvSpPr txBox="1">
            <a:spLocks/>
          </p:cNvSpPr>
          <p:nvPr/>
        </p:nvSpPr>
        <p:spPr>
          <a:xfrm>
            <a:off x="428172" y="1350000"/>
            <a:ext cx="2100000" cy="11000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B05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buNone/>
            </a:pPr>
            <a:r>
              <a:rPr lang="en-US" sz="1800" b="1" dirty="0"/>
              <a:t>Python</a:t>
            </a:r>
          </a:p>
          <a:p>
            <a:pPr algn="ctr">
              <a:buNone/>
            </a:pPr>
            <a:r>
              <a:rPr lang="en-US" sz="1600" dirty="0"/>
              <a:t>Train &amp; export model</a:t>
            </a:r>
          </a:p>
        </p:txBody>
      </p:sp>
      <p:sp>
        <p:nvSpPr>
          <p:cNvPr id="21" name="Arrow1"/>
          <p:cNvSpPr txBox="1">
            <a:spLocks/>
          </p:cNvSpPr>
          <p:nvPr/>
        </p:nvSpPr>
        <p:spPr>
          <a:xfrm>
            <a:off x="2600000" y="1700000"/>
            <a:ext cx="500000" cy="5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→</a:t>
            </a:r>
          </a:p>
        </p:txBody>
      </p:sp>
      <p:sp>
        <p:nvSpPr>
          <p:cNvPr id="11" name="Box2"/>
          <p:cNvSpPr txBox="1">
            <a:spLocks/>
          </p:cNvSpPr>
          <p:nvPr/>
        </p:nvSpPr>
        <p:spPr>
          <a:xfrm>
            <a:off x="3200000" y="1350000"/>
            <a:ext cx="2100000" cy="11000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B05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buNone/>
            </a:pPr>
            <a:r>
              <a:rPr lang="en-US" sz="1800" b="1" dirty="0">
                <a:latin typeface="Consolas" pitchFamily="49" charset="0"/>
              </a:rPr>
              <a:t>JSON</a:t>
            </a:r>
          </a:p>
          <a:p>
            <a:pPr algn="ctr">
              <a:buNone/>
            </a:pPr>
            <a:r>
              <a:rPr lang="en-US" sz="1600" dirty="0"/>
              <a:t>cgm_forecast.json</a:t>
            </a:r>
          </a:p>
        </p:txBody>
      </p:sp>
      <p:sp>
        <p:nvSpPr>
          <p:cNvPr id="22" name="Arrow2"/>
          <p:cNvSpPr txBox="1">
            <a:spLocks/>
          </p:cNvSpPr>
          <p:nvPr/>
        </p:nvSpPr>
        <p:spPr>
          <a:xfrm>
            <a:off x="5370000" y="1700000"/>
            <a:ext cx="500000" cy="5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→</a:t>
            </a:r>
          </a:p>
        </p:txBody>
      </p:sp>
      <p:sp>
        <p:nvSpPr>
          <p:cNvPr id="12" name="Box3"/>
          <p:cNvSpPr txBox="1">
            <a:spLocks/>
          </p:cNvSpPr>
          <p:nvPr/>
        </p:nvSpPr>
        <p:spPr>
          <a:xfrm>
            <a:off x="5950000" y="1350000"/>
            <a:ext cx="2100000" cy="11000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B05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buNone/>
            </a:pPr>
            <a:r>
              <a:rPr lang="en-US" sz="1800" b="1" dirty="0"/>
              <a:t>Dart</a:t>
            </a:r>
          </a:p>
          <a:p>
            <a:pPr algn="ctr">
              <a:buNone/>
            </a:pPr>
            <a:r>
              <a:rPr lang="en-US" sz="1600" dirty="0"/>
              <a:t>GlucosePredictor</a:t>
            </a:r>
          </a:p>
        </p:txBody>
      </p:sp>
      <p:sp>
        <p:nvSpPr>
          <p:cNvPr id="23" name="Arrow3"/>
          <p:cNvSpPr txBox="1">
            <a:spLocks/>
          </p:cNvSpPr>
          <p:nvPr/>
        </p:nvSpPr>
        <p:spPr>
          <a:xfrm>
            <a:off x="8120000" y="1700000"/>
            <a:ext cx="500000" cy="50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→</a:t>
            </a:r>
          </a:p>
        </p:txBody>
      </p:sp>
      <p:sp>
        <p:nvSpPr>
          <p:cNvPr id="13" name="Box4"/>
          <p:cNvSpPr txBox="1">
            <a:spLocks/>
          </p:cNvSpPr>
          <p:nvPr/>
        </p:nvSpPr>
        <p:spPr>
          <a:xfrm>
            <a:off x="8700000" y="1350000"/>
            <a:ext cx="2100000" cy="11000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B05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buNone/>
            </a:pPr>
            <a:r>
              <a:rPr lang="en-US" sz="1800" b="1" dirty="0"/>
              <a:t>Flutter UI</a:t>
            </a:r>
          </a:p>
          <a:p>
            <a:pPr algn="ctr">
              <a:buNone/>
            </a:pPr>
            <a:r>
              <a:rPr lang="en-US" sz="1600" dirty="0"/>
              <a:t>Prediction result</a:t>
            </a:r>
          </a:p>
        </p:txBody>
      </p:sp>
      <p:sp>
        <p:nvSpPr>
          <p:cNvPr id="14" name="Summary"/>
          <p:cNvSpPr txBox="1">
            <a:spLocks/>
          </p:cNvSpPr>
          <p:nvPr/>
        </p:nvSpPr>
        <p:spPr>
          <a:xfrm>
            <a:off x="428172" y="2800000"/>
            <a:ext cx="10923001" cy="37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charset="2"/>
              <a:buChar char="Ø"/>
              <a:defRPr sz="2400" kern="1200">
                <a:solidFill>
                  <a:schemeClr val="tx1"/>
                </a:solidFill>
                <a:latin typeface="Aptos" pitchFamily="34" charset="0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Aptos" pitchFamily="34" charset="0"/>
              </a:defRPr>
            </a:lvl2pPr>
          </a:lstStyle>
          <a:p>
            <a:r>
              <a:rPr lang="en-US" sz="2800" dirty="0"/>
              <a:t>Key takeaways</a:t>
            </a:r>
          </a:p>
          <a:p>
            <a:pPr lvl="1"/>
            <a:r>
              <a:rPr lang="en-US" sz="2400" dirty="0"/>
              <a:t>The model was built in Python but runs entirely in Dart — no interop needed</a:t>
            </a:r>
          </a:p>
          <a:p>
            <a:pPr lvl="1"/>
            <a:r>
              <a:rPr lang="en-US" sz="2400" dirty="0"/>
              <a:t>JSON is the portable “bridge” between the ML world and the mobile world</a:t>
            </a:r>
          </a:p>
          <a:p>
            <a:pPr lvl="1"/>
            <a:r>
              <a:rPr lang="en-US" sz="2400" dirty="0"/>
              <a:t>This pattern scales to any model that can be expressed as a formula</a:t>
            </a:r>
          </a:p>
          <a:p>
            <a:pPr lvl="1"/>
            <a:r>
              <a:rPr lang="en-US" sz="2400" dirty="0"/>
              <a:t>More complex models → use TFLite or ONNX runtime on the device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US" dirty="0"/>
              <a:t>Open Discussion: What’s Next?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AAAAAA-0001-0001-0001-000000000013}" type="slidenum">
              <a:rPr lang="en-US" smtClean="0"/>
              <a:t>12</a:t>
            </a:fld>
            <a:endParaRPr lang="en-US"/>
          </a:p>
        </p:txBody>
      </p:sp>
      <p:sp>
        <p:nvSpPr>
          <p:cNvPr id="11" name="Left col"/>
          <p:cNvSpPr txBox="1">
            <a:spLocks/>
          </p:cNvSpPr>
          <p:nvPr/>
        </p:nvSpPr>
        <p:spPr>
          <a:xfrm>
            <a:off x="428172" y="1200000"/>
            <a:ext cx="5400000" cy="510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>
              <a:lnSpc>
                <a:spcPct val="90000"/>
              </a:lnSpc>
              <a:spcBef>
                <a:spcPts val="1200"/>
              </a:spcBef>
              <a:buClr>
                <a:srgbClr val="00B050"/>
              </a:buClr>
              <a:buFont typeface="Wingdings" charset="2"/>
              <a:buChar char="Ø"/>
              <a:defRPr sz="2200" kern="1200">
                <a:solidFill>
                  <a:schemeClr val="tx1"/>
                </a:solidFill>
                <a:latin typeface="Aptos" pitchFamily="34" charset="0"/>
              </a:defRPr>
            </a:lvl1pPr>
            <a:lvl2pPr marL="685800" indent="-228600" algn="l">
              <a:lnSpc>
                <a:spcPct val="90000"/>
              </a:lnSpc>
              <a:spcBef>
                <a:spcPts val="400"/>
              </a:spcBef>
              <a:buClr>
                <a:srgbClr val="00B050"/>
              </a:buClr>
              <a:buFont typeface="Wingdings" charset="2"/>
              <a:buChar char="§"/>
              <a:defRPr sz="1900" kern="1200">
                <a:solidFill>
                  <a:schemeClr val="tx1"/>
                </a:solidFill>
                <a:latin typeface="Aptos" pitchFamily="34" charset="0"/>
              </a:defRPr>
            </a:lvl2pPr>
          </a:lstStyle>
          <a:p>
            <a:r>
              <a:rPr lang="en-US" sz="2200" dirty="0"/>
              <a:t>Connect to a real CGM</a:t>
            </a:r>
          </a:p>
          <a:p>
            <a:pPr lvl="1"/>
            <a:r>
              <a:rPr lang="en-US" sz="1900" dirty="0"/>
              <a:t>Read live BLE data from a Dexcom or FreeStyle Libre</a:t>
            </a:r>
          </a:p>
          <a:p>
            <a:pPr lvl="1"/>
            <a:r>
              <a:rPr lang="en-US" sz="1900" dirty="0"/>
              <a:t>Use the </a:t>
            </a:r>
            <a:r>
              <a:rPr lang="en-US" sz="1900" dirty="0">
                <a:latin typeface="Consolas" pitchFamily="49" charset="0"/>
              </a:rPr>
              <a:t>flutter_blue_plus</a:t>
            </a:r>
            <a:r>
              <a:rPr lang="en-US" sz="1900" dirty="0"/>
              <a:t> package</a:t>
            </a:r>
          </a:p>
          <a:p>
            <a:endParaRPr lang="en-US" sz="2200" dirty="0"/>
          </a:p>
          <a:p>
            <a:r>
              <a:rPr lang="en-US" sz="2200" dirty="0"/>
              <a:t>Continuous background prediction</a:t>
            </a:r>
          </a:p>
          <a:p>
            <a:pPr lvl="1"/>
            <a:r>
              <a:rPr lang="en-US" sz="1900" dirty="0"/>
              <a:t>Run inference every 5 minutes via a timer</a:t>
            </a:r>
          </a:p>
          <a:p>
            <a:pPr lvl="1"/>
            <a:r>
              <a:rPr lang="en-US" sz="1900" dirty="0"/>
              <a:t>Auto-compute ROC from the last two CGM readings</a:t>
            </a:r>
          </a:p>
          <a:p>
            <a:endParaRPr lang="en-US" sz="2200" dirty="0"/>
          </a:p>
          <a:p>
            <a:r>
              <a:rPr lang="en-US" sz="2200" dirty="0"/>
              <a:t>Proactive hypoglycemia alerts</a:t>
            </a:r>
          </a:p>
          <a:p>
            <a:pPr lvl="1"/>
            <a:r>
              <a:rPr lang="en-US" sz="1900" dirty="0"/>
              <a:t>Push notification if predicted glucose &lt; 70 mg/dL</a:t>
            </a:r>
          </a:p>
          <a:p>
            <a:pPr lvl="1"/>
            <a:r>
              <a:rPr lang="en-US" sz="1900" dirty="0"/>
              <a:t>Use </a:t>
            </a:r>
            <a:r>
              <a:rPr lang="en-US" sz="1900" dirty="0">
                <a:latin typeface="Consolas" pitchFamily="49" charset="0"/>
              </a:rPr>
              <a:t>flutter_local_notifications</a:t>
            </a:r>
          </a:p>
        </p:txBody>
      </p:sp>
      <p:sp>
        <p:nvSpPr>
          <p:cNvPr id="12" name="Right col"/>
          <p:cNvSpPr txBox="1">
            <a:spLocks/>
          </p:cNvSpPr>
          <p:nvPr/>
        </p:nvSpPr>
        <p:spPr>
          <a:xfrm>
            <a:off x="6000000" y="1200000"/>
            <a:ext cx="5400000" cy="51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>
              <a:lnSpc>
                <a:spcPct val="90000"/>
              </a:lnSpc>
              <a:spcBef>
                <a:spcPts val="1200"/>
              </a:spcBef>
              <a:buClr>
                <a:srgbClr val="00B050"/>
              </a:buClr>
              <a:buFont typeface="Wingdings" charset="2"/>
              <a:buChar char="Ø"/>
              <a:defRPr sz="2200" kern="1200">
                <a:solidFill>
                  <a:schemeClr val="tx1"/>
                </a:solidFill>
                <a:latin typeface="Aptos" pitchFamily="34" charset="0"/>
              </a:defRPr>
            </a:lvl1pPr>
            <a:lvl2pPr marL="685800" indent="-228600" algn="l">
              <a:lnSpc>
                <a:spcPct val="90000"/>
              </a:lnSpc>
              <a:spcBef>
                <a:spcPts val="400"/>
              </a:spcBef>
              <a:buClr>
                <a:srgbClr val="00B050"/>
              </a:buClr>
              <a:buFont typeface="Wingdings" charset="2"/>
              <a:buChar char="§"/>
              <a:defRPr sz="1900" kern="1200">
                <a:solidFill>
                  <a:schemeClr val="tx1"/>
                </a:solidFill>
                <a:latin typeface="Aptos" pitchFamily="34" charset="0"/>
              </a:defRPr>
            </a:lvl2pPr>
          </a:lstStyle>
          <a:p>
            <a:r>
              <a:rPr lang="en-US" sz="2200" dirty="0"/>
              <a:t>Visualize the forecast</a:t>
            </a:r>
          </a:p>
          <a:p>
            <a:pPr lvl="1"/>
            <a:r>
              <a:rPr lang="en-US" sz="1900" dirty="0"/>
              <a:t>Plot glucose history + predicted point on a chart</a:t>
            </a:r>
          </a:p>
          <a:p>
            <a:pPr lvl="1"/>
            <a:r>
              <a:rPr lang="en-US" sz="1900" dirty="0"/>
              <a:t>E.g. using the </a:t>
            </a:r>
            <a:r>
              <a:rPr lang="en-US" sz="1900" dirty="0">
                <a:latin typeface="Consolas" pitchFamily="49" charset="0"/>
              </a:rPr>
              <a:t>fl_chart</a:t>
            </a:r>
            <a:r>
              <a:rPr lang="en-US" sz="1900" dirty="0"/>
              <a:t> package</a:t>
            </a:r>
          </a:p>
          <a:p>
            <a:endParaRPr lang="en-US" sz="2200" dirty="0"/>
          </a:p>
          <a:p>
            <a:r>
              <a:rPr lang="en-US" sz="2200" dirty="0"/>
              <a:t>Upgrade to a deep learning model</a:t>
            </a:r>
          </a:p>
          <a:p>
            <a:pPr lvl="1"/>
            <a:r>
              <a:rPr lang="en-US" sz="1900" dirty="0"/>
              <a:t>Train an LSTM or transformer in Python</a:t>
            </a:r>
          </a:p>
          <a:p>
            <a:pPr lvl="1"/>
            <a:r>
              <a:rPr lang="en-US" sz="1900" dirty="0"/>
              <a:t>Export to TFLite or ONNX → run on-device with </a:t>
            </a:r>
            <a:r>
              <a:rPr lang="en-US" sz="1900" dirty="0">
                <a:latin typeface="Consolas" pitchFamily="49" charset="0"/>
              </a:rPr>
              <a:t>tflite_flutter</a:t>
            </a:r>
          </a:p>
          <a:p>
            <a:endParaRPr lang="en-US" sz="2200" dirty="0"/>
          </a:p>
          <a:p>
            <a:r>
              <a:rPr lang="en-US" sz="2200" dirty="0"/>
              <a:t>Personalize the model</a:t>
            </a:r>
          </a:p>
          <a:p>
            <a:pPr lvl="1"/>
            <a:r>
              <a:rPr lang="en-US" sz="1900" dirty="0"/>
              <a:t>Fine-tune on individual patient data</a:t>
            </a:r>
          </a:p>
          <a:p>
            <a:pPr lvl="1"/>
            <a:r>
              <a:rPr lang="en-US" sz="1900" dirty="0"/>
              <a:t>On-device federated learning, privacy preserved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2848</TotalTime>
  <Words>1167</Words>
  <Application>Microsoft Macintosh PowerPoint</Application>
  <PresentationFormat>Widescreen</PresentationFormat>
  <Paragraphs>197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Consolas</vt:lpstr>
      <vt:lpstr>Courier New</vt:lpstr>
      <vt:lpstr>Times New Roman</vt:lpstr>
      <vt:lpstr>Wingdings</vt:lpstr>
      <vt:lpstr>Tema di Office</vt:lpstr>
      <vt:lpstr>PowerPoint Presentation</vt:lpstr>
      <vt:lpstr>Aim</vt:lpstr>
      <vt:lpstr>Recap: What we built in Part 1</vt:lpstr>
      <vt:lpstr>Our model</vt:lpstr>
      <vt:lpstr>Prepare the App</vt:lpstr>
      <vt:lpstr>Step 1: The GlucosePredictor Class</vt:lpstr>
      <vt:lpstr>Step 2: Loading the Model</vt:lpstr>
      <vt:lpstr>Step 3: Running Predictions</vt:lpstr>
      <vt:lpstr>Step 4: Building the UI</vt:lpstr>
      <vt:lpstr>Run it!</vt:lpstr>
      <vt:lpstr>Putting It All Together</vt:lpstr>
      <vt:lpstr>Open Discussion: 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906</cp:revision>
  <cp:lastPrinted>2022-05-08T20:17:57Z</cp:lastPrinted>
  <dcterms:created xsi:type="dcterms:W3CDTF">2021-07-19T09:08:13Z</dcterms:created>
  <dcterms:modified xsi:type="dcterms:W3CDTF">2026-05-21T09:08:58Z</dcterms:modified>
</cp:coreProperties>
</file>