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407" r:id="rId3"/>
    <p:sldId id="398" r:id="rId4"/>
    <p:sldId id="409" r:id="rId5"/>
    <p:sldId id="410" r:id="rId6"/>
    <p:sldId id="412" r:id="rId7"/>
    <p:sldId id="411" r:id="rId8"/>
    <p:sldId id="408" r:id="rId9"/>
    <p:sldId id="413" r:id="rId10"/>
    <p:sldId id="400" r:id="rId11"/>
    <p:sldId id="401" r:id="rId12"/>
    <p:sldId id="402" r:id="rId13"/>
    <p:sldId id="403" r:id="rId14"/>
    <p:sldId id="404" r:id="rId15"/>
    <p:sldId id="414" r:id="rId16"/>
    <p:sldId id="405" r:id="rId17"/>
    <p:sldId id="4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9" autoAdjust="0"/>
    <p:restoredTop sz="84783"/>
  </p:normalViewPr>
  <p:slideViewPr>
    <p:cSldViewPr snapToGrid="0">
      <p:cViewPr varScale="1">
        <p:scale>
          <a:sx n="173" d="100"/>
          <a:sy n="173" d="100"/>
        </p:scale>
        <p:origin x="20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684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bo-net.org/data" TargetMode="External"/><Relationship Id="rId2" Type="http://schemas.openxmlformats.org/officeDocument/2006/relationships/hyperlink" Target="https://pmc.ncbi.nlm.nih.gov/articles/PMC586410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679294" cy="1570716"/>
          </a:xfrm>
        </p:spPr>
        <p:txBody>
          <a:bodyPr/>
          <a:lstStyle/>
          <a:p>
            <a:r>
              <a:rPr lang="en-US" dirty="0"/>
              <a:t>Integrating AI Models in Flutter – Part 1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F348-B9B7-2E12-24B0-B0DE0A46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9B2910-CAC4-C139-9885-75D6708A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Type 1 Diabetes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6B693B-F8AC-12D3-C1E0-5D6FCF98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7716AE9-D961-D77B-CAD1-D38300BBF819}"/>
              </a:ext>
            </a:extLst>
          </p:cNvPr>
          <p:cNvSpPr/>
          <p:nvPr/>
        </p:nvSpPr>
        <p:spPr>
          <a:xfrm>
            <a:off x="7328503" y="3325669"/>
            <a:ext cx="1164431" cy="435769"/>
          </a:xfrm>
          <a:custGeom>
            <a:avLst/>
            <a:gdLst>
              <a:gd name="connsiteX0" fmla="*/ 0 w 1164431"/>
              <a:gd name="connsiteY0" fmla="*/ 435769 h 435769"/>
              <a:gd name="connsiteX1" fmla="*/ 1164431 w 1164431"/>
              <a:gd name="connsiteY1" fmla="*/ 435769 h 435769"/>
              <a:gd name="connsiteX2" fmla="*/ 1042987 w 1164431"/>
              <a:gd name="connsiteY2" fmla="*/ 278606 h 435769"/>
              <a:gd name="connsiteX3" fmla="*/ 850106 w 1164431"/>
              <a:gd name="connsiteY3" fmla="*/ 78581 h 435769"/>
              <a:gd name="connsiteX4" fmla="*/ 692943 w 1164431"/>
              <a:gd name="connsiteY4" fmla="*/ 7144 h 435769"/>
              <a:gd name="connsiteX5" fmla="*/ 535781 w 1164431"/>
              <a:gd name="connsiteY5" fmla="*/ 0 h 435769"/>
              <a:gd name="connsiteX6" fmla="*/ 250031 w 1164431"/>
              <a:gd name="connsiteY6" fmla="*/ 114300 h 435769"/>
              <a:gd name="connsiteX7" fmla="*/ 100012 w 1164431"/>
              <a:gd name="connsiteY7" fmla="*/ 250031 h 435769"/>
              <a:gd name="connsiteX8" fmla="*/ 0 w 1164431"/>
              <a:gd name="connsiteY8" fmla="*/ 435769 h 435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4431" h="435769">
                <a:moveTo>
                  <a:pt x="0" y="435769"/>
                </a:moveTo>
                <a:lnTo>
                  <a:pt x="1164431" y="435769"/>
                </a:lnTo>
                <a:lnTo>
                  <a:pt x="1042987" y="278606"/>
                </a:lnTo>
                <a:lnTo>
                  <a:pt x="850106" y="78581"/>
                </a:lnTo>
                <a:lnTo>
                  <a:pt x="692943" y="7144"/>
                </a:lnTo>
                <a:lnTo>
                  <a:pt x="535781" y="0"/>
                </a:lnTo>
                <a:lnTo>
                  <a:pt x="250031" y="114300"/>
                </a:lnTo>
                <a:lnTo>
                  <a:pt x="100012" y="250031"/>
                </a:lnTo>
                <a:lnTo>
                  <a:pt x="0" y="435769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227372-6B2E-4BA5-DD26-EE51D56195E9}"/>
              </a:ext>
            </a:extLst>
          </p:cNvPr>
          <p:cNvCxnSpPr>
            <a:cxnSpLocks/>
          </p:cNvCxnSpPr>
          <p:nvPr/>
        </p:nvCxnSpPr>
        <p:spPr>
          <a:xfrm flipV="1">
            <a:off x="6566445" y="2670455"/>
            <a:ext cx="5509" cy="2912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6E67C-3E0C-9884-C9B2-09372F90E0CF}"/>
              </a:ext>
            </a:extLst>
          </p:cNvPr>
          <p:cNvCxnSpPr>
            <a:cxnSpLocks/>
          </p:cNvCxnSpPr>
          <p:nvPr/>
        </p:nvCxnSpPr>
        <p:spPr>
          <a:xfrm>
            <a:off x="6577468" y="5583295"/>
            <a:ext cx="3701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9BEFF5D-0E89-A645-C7F1-9156BA3EF3F5}"/>
              </a:ext>
            </a:extLst>
          </p:cNvPr>
          <p:cNvSpPr/>
          <p:nvPr/>
        </p:nvSpPr>
        <p:spPr>
          <a:xfrm>
            <a:off x="6577468" y="3760649"/>
            <a:ext cx="3418225" cy="11589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6D0B4-49C5-A726-E7E8-480A8E5552CC}"/>
              </a:ext>
            </a:extLst>
          </p:cNvPr>
          <p:cNvSpPr txBox="1"/>
          <p:nvPr/>
        </p:nvSpPr>
        <p:spPr>
          <a:xfrm>
            <a:off x="6103844" y="5643205"/>
            <a:ext cx="46489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time</a:t>
            </a:r>
            <a:endParaRPr lang="en-US" sz="2000" b="1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2CC3F-15E4-362E-B5CF-71FB5998A2EA}"/>
              </a:ext>
            </a:extLst>
          </p:cNvPr>
          <p:cNvSpPr txBox="1"/>
          <p:nvPr/>
        </p:nvSpPr>
        <p:spPr>
          <a:xfrm rot="16200000">
            <a:off x="5550339" y="3886261"/>
            <a:ext cx="150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Glucose</a:t>
            </a:r>
            <a:endParaRPr lang="en-US" sz="2000" b="1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4740F-1280-E808-BA7E-3EC5FE3B3F30}"/>
              </a:ext>
            </a:extLst>
          </p:cNvPr>
          <p:cNvSpPr txBox="1"/>
          <p:nvPr/>
        </p:nvSpPr>
        <p:spPr>
          <a:xfrm>
            <a:off x="9672690" y="2421283"/>
            <a:ext cx="9457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Aptos" panose="020B0004020202020204" pitchFamily="34" charset="0"/>
                <a:cs typeface="Arial" panose="020B0604020202020204" pitchFamily="34" charset="0"/>
              </a:rPr>
              <a:t>Safety range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10C7B4-EF66-F454-CF43-41670A5AFEE6}"/>
              </a:ext>
            </a:extLst>
          </p:cNvPr>
          <p:cNvCxnSpPr>
            <a:cxnSpLocks/>
          </p:cNvCxnSpPr>
          <p:nvPr/>
        </p:nvCxnSpPr>
        <p:spPr>
          <a:xfrm flipH="1">
            <a:off x="8813975" y="3138075"/>
            <a:ext cx="1170698" cy="840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99B6DBDA-F43F-0ADE-F8AA-1A62B6CC6AE7}"/>
              </a:ext>
            </a:extLst>
          </p:cNvPr>
          <p:cNvSpPr/>
          <p:nvPr/>
        </p:nvSpPr>
        <p:spPr>
          <a:xfrm>
            <a:off x="6566445" y="3338054"/>
            <a:ext cx="3415229" cy="1457525"/>
          </a:xfrm>
          <a:custGeom>
            <a:avLst/>
            <a:gdLst>
              <a:gd name="connsiteX0" fmla="*/ 0 w 3415229"/>
              <a:gd name="connsiteY0" fmla="*/ 850804 h 1457525"/>
              <a:gd name="connsiteX1" fmla="*/ 517793 w 3415229"/>
              <a:gd name="connsiteY1" fmla="*/ 784702 h 1457525"/>
              <a:gd name="connsiteX2" fmla="*/ 936434 w 3415229"/>
              <a:gd name="connsiteY2" fmla="*/ 156741 h 1457525"/>
              <a:gd name="connsiteX3" fmla="*/ 1542362 w 3415229"/>
              <a:gd name="connsiteY3" fmla="*/ 35555 h 1457525"/>
              <a:gd name="connsiteX4" fmla="*/ 2126256 w 3415229"/>
              <a:gd name="connsiteY4" fmla="*/ 674534 h 1457525"/>
              <a:gd name="connsiteX5" fmla="*/ 2655065 w 3415229"/>
              <a:gd name="connsiteY5" fmla="*/ 1291478 h 1457525"/>
              <a:gd name="connsiteX6" fmla="*/ 3084723 w 3415229"/>
              <a:gd name="connsiteY6" fmla="*/ 1445714 h 1457525"/>
              <a:gd name="connsiteX7" fmla="*/ 3415229 w 3415229"/>
              <a:gd name="connsiteY7" fmla="*/ 1049107 h 145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15229" h="1457525">
                <a:moveTo>
                  <a:pt x="0" y="850804"/>
                </a:moveTo>
                <a:lnTo>
                  <a:pt x="517793" y="784702"/>
                </a:lnTo>
                <a:cubicBezTo>
                  <a:pt x="673865" y="669025"/>
                  <a:pt x="765673" y="281599"/>
                  <a:pt x="936434" y="156741"/>
                </a:cubicBezTo>
                <a:cubicBezTo>
                  <a:pt x="1107195" y="31883"/>
                  <a:pt x="1344058" y="-50744"/>
                  <a:pt x="1542362" y="35555"/>
                </a:cubicBezTo>
                <a:cubicBezTo>
                  <a:pt x="1740666" y="121854"/>
                  <a:pt x="1940806" y="465213"/>
                  <a:pt x="2126256" y="674534"/>
                </a:cubicBezTo>
                <a:cubicBezTo>
                  <a:pt x="2311707" y="883855"/>
                  <a:pt x="2495321" y="1162948"/>
                  <a:pt x="2655065" y="1291478"/>
                </a:cubicBezTo>
                <a:cubicBezTo>
                  <a:pt x="2814809" y="1420008"/>
                  <a:pt x="2958029" y="1486109"/>
                  <a:pt x="3084723" y="1445714"/>
                </a:cubicBezTo>
                <a:cubicBezTo>
                  <a:pt x="3211417" y="1405319"/>
                  <a:pt x="3319750" y="1129897"/>
                  <a:pt x="3415229" y="1049107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0C993-E879-9A41-4242-2F7CCBD2C25A}"/>
              </a:ext>
            </a:extLst>
          </p:cNvPr>
          <p:cNvSpPr txBox="1"/>
          <p:nvPr/>
        </p:nvSpPr>
        <p:spPr>
          <a:xfrm>
            <a:off x="509451" y="1616760"/>
            <a:ext cx="53004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Aptos" panose="020B0004020202020204" pitchFamily="34" charset="0"/>
                <a:ea typeface="Gadugi" panose="020B0502040204020203" pitchFamily="34" charset="0"/>
              </a:rPr>
              <a:t>T1D</a:t>
            </a:r>
            <a:r>
              <a:rPr lang="en-US" sz="2400" dirty="0">
                <a:latin typeface="Aptos" panose="020B0004020202020204" pitchFamily="34" charset="0"/>
                <a:ea typeface="Gadugi" panose="020B0502040204020203" pitchFamily="34" charset="0"/>
              </a:rPr>
              <a:t> is a chronic, autoimmune pathology, in which the </a:t>
            </a:r>
            <a:r>
              <a:rPr lang="en-US" sz="2400" b="1" dirty="0">
                <a:latin typeface="Aptos" panose="020B0004020202020204" pitchFamily="34" charset="0"/>
                <a:ea typeface="Gadugi" panose="020B0502040204020203" pitchFamily="34" charset="0"/>
              </a:rPr>
              <a:t>pancreas is no longer able to produce insulin</a:t>
            </a:r>
            <a:r>
              <a:rPr lang="en-US" sz="2400" dirty="0">
                <a:latin typeface="Aptos" panose="020B0004020202020204" pitchFamily="34" charset="0"/>
                <a:ea typeface="Gadugi" panose="020B0502040204020203" pitchFamily="34" charset="0"/>
              </a:rPr>
              <a:t>, which must then be externally injected</a:t>
            </a:r>
          </a:p>
          <a:p>
            <a:pPr algn="just"/>
            <a:endParaRPr lang="en-US" sz="2400" dirty="0">
              <a:latin typeface="Aptos" panose="020B0004020202020204" pitchFamily="34" charset="0"/>
              <a:ea typeface="Gadug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68F2CF-3584-586D-80D7-0DA1E5BD4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20" y="3916373"/>
            <a:ext cx="999575" cy="999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C746AB-CB2A-865B-B394-5FF1F0F52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50" y="3750116"/>
            <a:ext cx="1179989" cy="11799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2C3EEF-4DC6-CA81-1FC4-7E43852CC633}"/>
              </a:ext>
            </a:extLst>
          </p:cNvPr>
          <p:cNvSpPr txBox="1"/>
          <p:nvPr/>
        </p:nvSpPr>
        <p:spPr>
          <a:xfrm>
            <a:off x="4813300" y="3678012"/>
            <a:ext cx="8614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solidFill>
                  <a:srgbClr val="FF0000"/>
                </a:solidFill>
                <a:latin typeface="Aptos" panose="020B0004020202020204" pitchFamily="34" charset="0"/>
                <a:ea typeface="Gadugi" panose="020B0502040204020203" pitchFamily="34" charset="0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90F01-079E-3979-83A9-E7F3CF9860B2}"/>
              </a:ext>
            </a:extLst>
          </p:cNvPr>
          <p:cNvSpPr txBox="1"/>
          <p:nvPr/>
        </p:nvSpPr>
        <p:spPr>
          <a:xfrm>
            <a:off x="2275152" y="3692885"/>
            <a:ext cx="8614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solidFill>
                  <a:srgbClr val="FF0000"/>
                </a:solidFill>
                <a:latin typeface="Aptos" panose="020B0004020202020204" pitchFamily="34" charset="0"/>
                <a:ea typeface="Gadugi" panose="020B0502040204020203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57101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The burden of T1D management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3" name="Figura a mano libera 56">
            <a:extLst>
              <a:ext uri="{FF2B5EF4-FFF2-40B4-BE49-F238E27FC236}">
                <a16:creationId xmlns:a16="http://schemas.microsoft.com/office/drawing/2014/main" id="{132C255F-7AA4-1532-6723-4050558B8F58}"/>
              </a:ext>
            </a:extLst>
          </p:cNvPr>
          <p:cNvSpPr/>
          <p:nvPr/>
        </p:nvSpPr>
        <p:spPr>
          <a:xfrm>
            <a:off x="7756366" y="4646015"/>
            <a:ext cx="1314450" cy="308979"/>
          </a:xfrm>
          <a:custGeom>
            <a:avLst/>
            <a:gdLst>
              <a:gd name="connsiteX0" fmla="*/ 0 w 663336"/>
              <a:gd name="connsiteY0" fmla="*/ 0 h 158567"/>
              <a:gd name="connsiteX1" fmla="*/ 663336 w 663336"/>
              <a:gd name="connsiteY1" fmla="*/ 0 h 158567"/>
              <a:gd name="connsiteX2" fmla="*/ 626338 w 663336"/>
              <a:gd name="connsiteY2" fmla="*/ 34356 h 158567"/>
              <a:gd name="connsiteX3" fmla="*/ 573482 w 663336"/>
              <a:gd name="connsiteY3" fmla="*/ 71355 h 158567"/>
              <a:gd name="connsiteX4" fmla="*/ 536483 w 663336"/>
              <a:gd name="connsiteY4" fmla="*/ 100426 h 158567"/>
              <a:gd name="connsiteX5" fmla="*/ 504770 w 663336"/>
              <a:gd name="connsiteY5" fmla="*/ 116282 h 158567"/>
              <a:gd name="connsiteX6" fmla="*/ 480985 w 663336"/>
              <a:gd name="connsiteY6" fmla="*/ 137424 h 158567"/>
              <a:gd name="connsiteX7" fmla="*/ 436058 w 663336"/>
              <a:gd name="connsiteY7" fmla="*/ 153281 h 158567"/>
              <a:gd name="connsiteX8" fmla="*/ 375274 w 663336"/>
              <a:gd name="connsiteY8" fmla="*/ 158567 h 158567"/>
              <a:gd name="connsiteX9" fmla="*/ 338275 w 663336"/>
              <a:gd name="connsiteY9" fmla="*/ 155924 h 158567"/>
              <a:gd name="connsiteX10" fmla="*/ 285420 w 663336"/>
              <a:gd name="connsiteY10" fmla="*/ 142710 h 158567"/>
              <a:gd name="connsiteX11" fmla="*/ 219350 w 663336"/>
              <a:gd name="connsiteY11" fmla="*/ 116282 h 158567"/>
              <a:gd name="connsiteX12" fmla="*/ 174423 w 663336"/>
              <a:gd name="connsiteY12" fmla="*/ 89854 h 158567"/>
              <a:gd name="connsiteX13" fmla="*/ 140067 w 663336"/>
              <a:gd name="connsiteY13" fmla="*/ 73998 h 158567"/>
              <a:gd name="connsiteX14" fmla="*/ 95140 w 663336"/>
              <a:gd name="connsiteY14" fmla="*/ 47570 h 158567"/>
              <a:gd name="connsiteX15" fmla="*/ 0 w 663336"/>
              <a:gd name="connsiteY15" fmla="*/ 0 h 15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63336" h="158567">
                <a:moveTo>
                  <a:pt x="0" y="0"/>
                </a:moveTo>
                <a:lnTo>
                  <a:pt x="663336" y="0"/>
                </a:lnTo>
                <a:lnTo>
                  <a:pt x="626338" y="34356"/>
                </a:lnTo>
                <a:lnTo>
                  <a:pt x="573482" y="71355"/>
                </a:lnTo>
                <a:lnTo>
                  <a:pt x="536483" y="100426"/>
                </a:lnTo>
                <a:lnTo>
                  <a:pt x="504770" y="116282"/>
                </a:lnTo>
                <a:lnTo>
                  <a:pt x="480985" y="137424"/>
                </a:lnTo>
                <a:lnTo>
                  <a:pt x="436058" y="153281"/>
                </a:lnTo>
                <a:lnTo>
                  <a:pt x="375274" y="158567"/>
                </a:lnTo>
                <a:lnTo>
                  <a:pt x="338275" y="155924"/>
                </a:lnTo>
                <a:lnTo>
                  <a:pt x="285420" y="142710"/>
                </a:lnTo>
                <a:lnTo>
                  <a:pt x="219350" y="116282"/>
                </a:lnTo>
                <a:lnTo>
                  <a:pt x="174423" y="89854"/>
                </a:lnTo>
                <a:lnTo>
                  <a:pt x="140067" y="73998"/>
                </a:lnTo>
                <a:lnTo>
                  <a:pt x="95140" y="4757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>
              <a:latin typeface="Aptos" panose="020B0004020202020204" pitchFamily="34" charset="0"/>
            </a:endParaRPr>
          </a:p>
        </p:txBody>
      </p:sp>
      <p:sp>
        <p:nvSpPr>
          <p:cNvPr id="5" name="CasellaDiTesto 58">
            <a:extLst>
              <a:ext uri="{FF2B5EF4-FFF2-40B4-BE49-F238E27FC236}">
                <a16:creationId xmlns:a16="http://schemas.microsoft.com/office/drawing/2014/main" id="{2D2A7FB3-0DB4-4D1B-C489-3D7F25C2F11F}"/>
              </a:ext>
            </a:extLst>
          </p:cNvPr>
          <p:cNvSpPr txBox="1"/>
          <p:nvPr/>
        </p:nvSpPr>
        <p:spPr>
          <a:xfrm>
            <a:off x="360040" y="1449292"/>
            <a:ext cx="108385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b="1" dirty="0">
                <a:latin typeface="Aptos" panose="020B0004020202020204" pitchFamily="34" charset="0"/>
                <a:cs typeface="Segoe UI Semilight" pitchFamily="34" charset="0"/>
              </a:rPr>
              <a:t>T1D</a:t>
            </a:r>
            <a:r>
              <a:rPr lang="it-IT" sz="2400" b="1" dirty="0">
                <a:latin typeface="Aptos" panose="020B0004020202020204" pitchFamily="34" charset="0"/>
                <a:cs typeface="Segoe UI Semilight" pitchFamily="34" charset="0"/>
              </a:rPr>
              <a:t> management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is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a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constant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learning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process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about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how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daily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conditions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/routine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affect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blood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glucose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 (BG) </a:t>
            </a:r>
            <a:r>
              <a:rPr lang="it-IT" sz="2400" dirty="0" err="1">
                <a:latin typeface="Aptos" panose="020B0004020202020204" pitchFamily="34" charset="0"/>
                <a:cs typeface="Segoe UI Semilight" pitchFamily="34" charset="0"/>
              </a:rPr>
              <a:t>levels</a:t>
            </a:r>
            <a:r>
              <a:rPr lang="it-IT" sz="2400" dirty="0">
                <a:latin typeface="Aptos" panose="020B0004020202020204" pitchFamily="34" charset="0"/>
                <a:cs typeface="Segoe UI Semilight" pitchFamily="34" charset="0"/>
              </a:rPr>
              <a:t>.</a:t>
            </a:r>
          </a:p>
        </p:txBody>
      </p:sp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CD34745B-51C2-E2B2-CCDA-F9F26E01A19B}"/>
              </a:ext>
            </a:extLst>
          </p:cNvPr>
          <p:cNvCxnSpPr>
            <a:cxnSpLocks/>
          </p:cNvCxnSpPr>
          <p:nvPr/>
        </p:nvCxnSpPr>
        <p:spPr>
          <a:xfrm>
            <a:off x="5596711" y="5205835"/>
            <a:ext cx="4295448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0">
            <a:extLst>
              <a:ext uri="{FF2B5EF4-FFF2-40B4-BE49-F238E27FC236}">
                <a16:creationId xmlns:a16="http://schemas.microsoft.com/office/drawing/2014/main" id="{0C939E21-76D7-A578-8D16-DACA020A96D4}"/>
              </a:ext>
            </a:extLst>
          </p:cNvPr>
          <p:cNvSpPr txBox="1"/>
          <p:nvPr/>
        </p:nvSpPr>
        <p:spPr>
          <a:xfrm rot="16200000">
            <a:off x="4795645" y="3411881"/>
            <a:ext cx="1086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Aptos" panose="020B0004020202020204" pitchFamily="34" charset="0"/>
                <a:cs typeface="Segoe UI Semilight" pitchFamily="34" charset="0"/>
              </a:rPr>
              <a:t>BG </a:t>
            </a:r>
            <a:r>
              <a:rPr lang="it-IT" sz="1400" b="1" dirty="0" err="1">
                <a:latin typeface="Aptos" panose="020B0004020202020204" pitchFamily="34" charset="0"/>
                <a:cs typeface="Segoe UI Semilight" pitchFamily="34" charset="0"/>
              </a:rPr>
              <a:t>level</a:t>
            </a:r>
            <a:endParaRPr lang="it-IT" sz="1400" b="1" dirty="0">
              <a:latin typeface="Aptos" panose="020B0004020202020204" pitchFamily="34" charset="0"/>
              <a:cs typeface="Segoe UI Semilight" pitchFamily="34" charset="0"/>
            </a:endParaRPr>
          </a:p>
        </p:txBody>
      </p:sp>
      <p:sp>
        <p:nvSpPr>
          <p:cNvPr id="8" name="Figura a mano libera 61">
            <a:extLst>
              <a:ext uri="{FF2B5EF4-FFF2-40B4-BE49-F238E27FC236}">
                <a16:creationId xmlns:a16="http://schemas.microsoft.com/office/drawing/2014/main" id="{DBF0D538-CFD9-AF2C-D6BB-B596AE37F0CB}"/>
              </a:ext>
            </a:extLst>
          </p:cNvPr>
          <p:cNvSpPr/>
          <p:nvPr/>
        </p:nvSpPr>
        <p:spPr>
          <a:xfrm>
            <a:off x="5610485" y="3607762"/>
            <a:ext cx="1213159" cy="737601"/>
          </a:xfrm>
          <a:custGeom>
            <a:avLst/>
            <a:gdLst>
              <a:gd name="connsiteX0" fmla="*/ 0 w 1213164"/>
              <a:gd name="connsiteY0" fmla="*/ 549998 h 549998"/>
              <a:gd name="connsiteX1" fmla="*/ 443620 w 1213164"/>
              <a:gd name="connsiteY1" fmla="*/ 33951 h 549998"/>
              <a:gd name="connsiteX2" fmla="*/ 1213164 w 1213164"/>
              <a:gd name="connsiteY2" fmla="*/ 346295 h 54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3164" h="549998">
                <a:moveTo>
                  <a:pt x="0" y="549998"/>
                </a:moveTo>
                <a:cubicBezTo>
                  <a:pt x="120713" y="308950"/>
                  <a:pt x="241426" y="67902"/>
                  <a:pt x="443620" y="33951"/>
                </a:cubicBezTo>
                <a:cubicBezTo>
                  <a:pt x="645814" y="0"/>
                  <a:pt x="929489" y="173147"/>
                  <a:pt x="1213164" y="346295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1600">
              <a:latin typeface="Aptos" panose="020B0004020202020204" pitchFamily="34" charset="0"/>
            </a:endParaRPr>
          </a:p>
        </p:txBody>
      </p:sp>
      <p:cxnSp>
        <p:nvCxnSpPr>
          <p:cNvPr id="9" name="Connettore 1 38">
            <a:extLst>
              <a:ext uri="{FF2B5EF4-FFF2-40B4-BE49-F238E27FC236}">
                <a16:creationId xmlns:a16="http://schemas.microsoft.com/office/drawing/2014/main" id="{4315DE43-8B06-1C84-61C6-307D6BDB4E5C}"/>
              </a:ext>
            </a:extLst>
          </p:cNvPr>
          <p:cNvCxnSpPr>
            <a:cxnSpLocks/>
          </p:cNvCxnSpPr>
          <p:nvPr/>
        </p:nvCxnSpPr>
        <p:spPr>
          <a:xfrm>
            <a:off x="5603544" y="4632187"/>
            <a:ext cx="4167718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68">
            <a:extLst>
              <a:ext uri="{FF2B5EF4-FFF2-40B4-BE49-F238E27FC236}">
                <a16:creationId xmlns:a16="http://schemas.microsoft.com/office/drawing/2014/main" id="{D0625122-4358-4F4C-5DA3-D14E117A373A}"/>
              </a:ext>
            </a:extLst>
          </p:cNvPr>
          <p:cNvCxnSpPr>
            <a:cxnSpLocks/>
          </p:cNvCxnSpPr>
          <p:nvPr/>
        </p:nvCxnSpPr>
        <p:spPr>
          <a:xfrm flipV="1">
            <a:off x="5596711" y="3226826"/>
            <a:ext cx="0" cy="1979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B94B0A-3737-7E1F-80FA-85693772161F}"/>
              </a:ext>
            </a:extLst>
          </p:cNvPr>
          <p:cNvCxnSpPr>
            <a:cxnSpLocks/>
          </p:cNvCxnSpPr>
          <p:nvPr/>
        </p:nvCxnSpPr>
        <p:spPr>
          <a:xfrm>
            <a:off x="8413591" y="4788339"/>
            <a:ext cx="475819" cy="71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F13AF-25D5-1197-6756-2C1F65C7F601}"/>
              </a:ext>
            </a:extLst>
          </p:cNvPr>
          <p:cNvSpPr/>
          <p:nvPr/>
        </p:nvSpPr>
        <p:spPr>
          <a:xfrm>
            <a:off x="10191690" y="2981061"/>
            <a:ext cx="1974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Have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a rescue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hypotreatment</a:t>
            </a:r>
            <a:endParaRPr lang="en-IT" sz="1400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6F95A8-45D7-1607-604E-42E650D01D85}"/>
              </a:ext>
            </a:extLst>
          </p:cNvPr>
          <p:cNvSpPr/>
          <p:nvPr/>
        </p:nvSpPr>
        <p:spPr>
          <a:xfrm>
            <a:off x="9429456" y="5575393"/>
            <a:ext cx="18998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Hypoglycemia due to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physical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exercise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endParaRPr lang="en-IT" sz="1400" dirty="0"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DF81E1-9E5B-0C85-69E7-D5C2B77707C9}"/>
              </a:ext>
            </a:extLst>
          </p:cNvPr>
          <p:cNvSpPr/>
          <p:nvPr/>
        </p:nvSpPr>
        <p:spPr>
          <a:xfrm>
            <a:off x="5529069" y="4306680"/>
            <a:ext cx="135284" cy="116905"/>
          </a:xfrm>
          <a:prstGeom prst="ellipse">
            <a:avLst/>
          </a:prstGeom>
          <a:solidFill>
            <a:srgbClr val="C00000"/>
          </a:solidFill>
          <a:ln w="25400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cxnSp>
        <p:nvCxnSpPr>
          <p:cNvPr id="16" name="Connettore 1 38">
            <a:extLst>
              <a:ext uri="{FF2B5EF4-FFF2-40B4-BE49-F238E27FC236}">
                <a16:creationId xmlns:a16="http://schemas.microsoft.com/office/drawing/2014/main" id="{45E847C2-63B3-188C-8D0F-BF7286D6DE6D}"/>
              </a:ext>
            </a:extLst>
          </p:cNvPr>
          <p:cNvCxnSpPr>
            <a:cxnSpLocks/>
          </p:cNvCxnSpPr>
          <p:nvPr/>
        </p:nvCxnSpPr>
        <p:spPr>
          <a:xfrm>
            <a:off x="5596711" y="3733752"/>
            <a:ext cx="4167718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Segnaposto contenuto 22">
            <a:extLst>
              <a:ext uri="{FF2B5EF4-FFF2-40B4-BE49-F238E27FC236}">
                <a16:creationId xmlns:a16="http://schemas.microsoft.com/office/drawing/2014/main" id="{EE5EDFF9-9CBB-1A23-A2E5-79373443F70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5158" y="2252471"/>
            <a:ext cx="981029" cy="981029"/>
          </a:xfrm>
          <a:prstGeom prst="rect">
            <a:avLst/>
          </a:prstGeom>
        </p:spPr>
      </p:pic>
      <p:sp>
        <p:nvSpPr>
          <p:cNvPr id="18" name="Figura a mano libera 63">
            <a:extLst>
              <a:ext uri="{FF2B5EF4-FFF2-40B4-BE49-F238E27FC236}">
                <a16:creationId xmlns:a16="http://schemas.microsoft.com/office/drawing/2014/main" id="{E2F43EEA-A4F3-1851-F5F2-39F7EDCD0A70}"/>
              </a:ext>
            </a:extLst>
          </p:cNvPr>
          <p:cNvSpPr/>
          <p:nvPr/>
        </p:nvSpPr>
        <p:spPr>
          <a:xfrm>
            <a:off x="6809873" y="4056559"/>
            <a:ext cx="2889581" cy="902259"/>
          </a:xfrm>
          <a:custGeom>
            <a:avLst/>
            <a:gdLst>
              <a:gd name="connsiteX0" fmla="*/ 0 w 1638153"/>
              <a:gd name="connsiteY0" fmla="*/ 10591 h 535460"/>
              <a:gd name="connsiteX1" fmla="*/ 162403 w 1638153"/>
              <a:gd name="connsiteY1" fmla="*/ 112976 h 535460"/>
              <a:gd name="connsiteX2" fmla="*/ 384825 w 1638153"/>
              <a:gd name="connsiteY2" fmla="*/ 257727 h 535460"/>
              <a:gd name="connsiteX3" fmla="*/ 579002 w 1638153"/>
              <a:gd name="connsiteY3" fmla="*/ 381294 h 535460"/>
              <a:gd name="connsiteX4" fmla="*/ 886156 w 1638153"/>
              <a:gd name="connsiteY4" fmla="*/ 522514 h 535460"/>
              <a:gd name="connsiteX5" fmla="*/ 1119169 w 1638153"/>
              <a:gd name="connsiteY5" fmla="*/ 448374 h 535460"/>
              <a:gd name="connsiteX6" fmla="*/ 1638153 w 1638153"/>
              <a:gd name="connsiteY6" fmla="*/ 0 h 535460"/>
              <a:gd name="connsiteX7" fmla="*/ 1638153 w 1638153"/>
              <a:gd name="connsiteY7" fmla="*/ 0 h 535460"/>
              <a:gd name="connsiteX0" fmla="*/ 0 w 1694926"/>
              <a:gd name="connsiteY0" fmla="*/ 0 h 556495"/>
              <a:gd name="connsiteX1" fmla="*/ 219176 w 1694926"/>
              <a:gd name="connsiteY1" fmla="*/ 134011 h 556495"/>
              <a:gd name="connsiteX2" fmla="*/ 441598 w 1694926"/>
              <a:gd name="connsiteY2" fmla="*/ 278762 h 556495"/>
              <a:gd name="connsiteX3" fmla="*/ 635775 w 1694926"/>
              <a:gd name="connsiteY3" fmla="*/ 402329 h 556495"/>
              <a:gd name="connsiteX4" fmla="*/ 942929 w 1694926"/>
              <a:gd name="connsiteY4" fmla="*/ 543549 h 556495"/>
              <a:gd name="connsiteX5" fmla="*/ 1175942 w 1694926"/>
              <a:gd name="connsiteY5" fmla="*/ 469409 h 556495"/>
              <a:gd name="connsiteX6" fmla="*/ 1694926 w 1694926"/>
              <a:gd name="connsiteY6" fmla="*/ 21035 h 556495"/>
              <a:gd name="connsiteX7" fmla="*/ 1694926 w 1694926"/>
              <a:gd name="connsiteY7" fmla="*/ 21035 h 556495"/>
              <a:gd name="connsiteX0" fmla="*/ 0 w 1694926"/>
              <a:gd name="connsiteY0" fmla="*/ 0 h 556495"/>
              <a:gd name="connsiteX1" fmla="*/ 0 w 1694926"/>
              <a:gd name="connsiteY1" fmla="*/ 1 h 556495"/>
              <a:gd name="connsiteX2" fmla="*/ 219176 w 1694926"/>
              <a:gd name="connsiteY2" fmla="*/ 134011 h 556495"/>
              <a:gd name="connsiteX3" fmla="*/ 441598 w 1694926"/>
              <a:gd name="connsiteY3" fmla="*/ 278762 h 556495"/>
              <a:gd name="connsiteX4" fmla="*/ 635775 w 1694926"/>
              <a:gd name="connsiteY4" fmla="*/ 402329 h 556495"/>
              <a:gd name="connsiteX5" fmla="*/ 942929 w 1694926"/>
              <a:gd name="connsiteY5" fmla="*/ 543549 h 556495"/>
              <a:gd name="connsiteX6" fmla="*/ 1175942 w 1694926"/>
              <a:gd name="connsiteY6" fmla="*/ 469409 h 556495"/>
              <a:gd name="connsiteX7" fmla="*/ 1694926 w 1694926"/>
              <a:gd name="connsiteY7" fmla="*/ 21035 h 556495"/>
              <a:gd name="connsiteX8" fmla="*/ 1694926 w 1694926"/>
              <a:gd name="connsiteY8" fmla="*/ 21035 h 556495"/>
              <a:gd name="connsiteX0" fmla="*/ 0 w 1694926"/>
              <a:gd name="connsiteY0" fmla="*/ 0 h 556495"/>
              <a:gd name="connsiteX1" fmla="*/ 0 w 1694926"/>
              <a:gd name="connsiteY1" fmla="*/ 1 h 556495"/>
              <a:gd name="connsiteX2" fmla="*/ 219176 w 1694926"/>
              <a:gd name="connsiteY2" fmla="*/ 134011 h 556495"/>
              <a:gd name="connsiteX3" fmla="*/ 441598 w 1694926"/>
              <a:gd name="connsiteY3" fmla="*/ 278762 h 556495"/>
              <a:gd name="connsiteX4" fmla="*/ 635775 w 1694926"/>
              <a:gd name="connsiteY4" fmla="*/ 402329 h 556495"/>
              <a:gd name="connsiteX5" fmla="*/ 942929 w 1694926"/>
              <a:gd name="connsiteY5" fmla="*/ 543549 h 556495"/>
              <a:gd name="connsiteX6" fmla="*/ 1175942 w 1694926"/>
              <a:gd name="connsiteY6" fmla="*/ 469409 h 556495"/>
              <a:gd name="connsiteX7" fmla="*/ 1694926 w 1694926"/>
              <a:gd name="connsiteY7" fmla="*/ 21035 h 556495"/>
              <a:gd name="connsiteX8" fmla="*/ 1694926 w 1694926"/>
              <a:gd name="connsiteY8" fmla="*/ 21035 h 556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4926" h="556495">
                <a:moveTo>
                  <a:pt x="0" y="0"/>
                </a:moveTo>
                <a:lnTo>
                  <a:pt x="0" y="1"/>
                </a:lnTo>
                <a:cubicBezTo>
                  <a:pt x="69407" y="49912"/>
                  <a:pt x="146117" y="89341"/>
                  <a:pt x="219176" y="134011"/>
                </a:cubicBezTo>
                <a:lnTo>
                  <a:pt x="441598" y="278762"/>
                </a:lnTo>
                <a:cubicBezTo>
                  <a:pt x="511031" y="323482"/>
                  <a:pt x="552220" y="358198"/>
                  <a:pt x="635775" y="402329"/>
                </a:cubicBezTo>
                <a:cubicBezTo>
                  <a:pt x="719330" y="446460"/>
                  <a:pt x="852901" y="532369"/>
                  <a:pt x="942929" y="543549"/>
                </a:cubicBezTo>
                <a:cubicBezTo>
                  <a:pt x="1032957" y="554729"/>
                  <a:pt x="1050609" y="556495"/>
                  <a:pt x="1175942" y="469409"/>
                </a:cubicBezTo>
                <a:cubicBezTo>
                  <a:pt x="1301275" y="382323"/>
                  <a:pt x="1694926" y="21035"/>
                  <a:pt x="1694926" y="21035"/>
                </a:cubicBezTo>
                <a:lnTo>
                  <a:pt x="1694926" y="21035"/>
                </a:ln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sz="1600">
              <a:latin typeface="Aptos" panose="020B00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174FD2E-AF25-AD29-8183-5F88CB5ADD5A}"/>
              </a:ext>
            </a:extLst>
          </p:cNvPr>
          <p:cNvSpPr/>
          <p:nvPr/>
        </p:nvSpPr>
        <p:spPr>
          <a:xfrm>
            <a:off x="7705346" y="4588153"/>
            <a:ext cx="135284" cy="116905"/>
          </a:xfrm>
          <a:prstGeom prst="ellipse">
            <a:avLst/>
          </a:prstGeom>
          <a:solidFill>
            <a:srgbClr val="C00000"/>
          </a:solidFill>
          <a:ln w="25400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37DE9B-FB5F-0E42-3939-2BE5698E1C83}"/>
              </a:ext>
            </a:extLst>
          </p:cNvPr>
          <p:cNvCxnSpPr>
            <a:cxnSpLocks/>
            <a:stCxn id="21" idx="7"/>
          </p:cNvCxnSpPr>
          <p:nvPr/>
        </p:nvCxnSpPr>
        <p:spPr>
          <a:xfrm flipV="1">
            <a:off x="6850871" y="3429225"/>
            <a:ext cx="376857" cy="580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070004F-C98F-C3BA-7BB1-43693574D768}"/>
              </a:ext>
            </a:extLst>
          </p:cNvPr>
          <p:cNvSpPr/>
          <p:nvPr/>
        </p:nvSpPr>
        <p:spPr>
          <a:xfrm>
            <a:off x="6735399" y="3992919"/>
            <a:ext cx="135284" cy="116905"/>
          </a:xfrm>
          <a:prstGeom prst="ellipse">
            <a:avLst/>
          </a:prstGeom>
          <a:solidFill>
            <a:srgbClr val="C00000"/>
          </a:solidFill>
          <a:ln w="25400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22" name="Picture 21" descr="A plate of food with fork and spoon&#10;&#10;Description automatically generated">
            <a:extLst>
              <a:ext uri="{FF2B5EF4-FFF2-40B4-BE49-F238E27FC236}">
                <a16:creationId xmlns:a16="http://schemas.microsoft.com/office/drawing/2014/main" id="{C37BADC8-26A1-545D-3115-38C7B576E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967" y="2922707"/>
            <a:ext cx="491017" cy="491017"/>
          </a:xfrm>
          <a:prstGeom prst="rect">
            <a:avLst/>
          </a:prstGeom>
        </p:spPr>
      </p:pic>
      <p:pic>
        <p:nvPicPr>
          <p:cNvPr id="23" name="Picture 22" descr="A syringe with a needle&#10;&#10;Description automatically generated">
            <a:extLst>
              <a:ext uri="{FF2B5EF4-FFF2-40B4-BE49-F238E27FC236}">
                <a16:creationId xmlns:a16="http://schemas.microsoft.com/office/drawing/2014/main" id="{9ED6C747-04A6-3B62-0634-1B3F1CE31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187" y="2909145"/>
            <a:ext cx="533298" cy="533298"/>
          </a:xfrm>
          <a:prstGeom prst="rect">
            <a:avLst/>
          </a:prstGeom>
        </p:spPr>
      </p:pic>
      <p:pic>
        <p:nvPicPr>
          <p:cNvPr id="24" name="Picture 23" descr="A red and white can of soda&#10;&#10;Description automatically generated">
            <a:extLst>
              <a:ext uri="{FF2B5EF4-FFF2-40B4-BE49-F238E27FC236}">
                <a16:creationId xmlns:a16="http://schemas.microsoft.com/office/drawing/2014/main" id="{961C2C15-F534-7678-91A8-5E4CAC5053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793" y="2899901"/>
            <a:ext cx="617568" cy="61756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9E59EE0-82B7-B370-ACF6-39F84F91B767}"/>
              </a:ext>
            </a:extLst>
          </p:cNvPr>
          <p:cNvSpPr/>
          <p:nvPr/>
        </p:nvSpPr>
        <p:spPr>
          <a:xfrm>
            <a:off x="4212109" y="2954246"/>
            <a:ext cx="3440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b="1" dirty="0">
                <a:latin typeface="Aptos" panose="020B0004020202020204" pitchFamily="34" charset="0"/>
                <a:cs typeface="Segoe UI Semilight" pitchFamily="34" charset="0"/>
              </a:rPr>
              <a:t>+</a:t>
            </a:r>
            <a:endParaRPr lang="en-IT" sz="2000" b="1" dirty="0">
              <a:latin typeface="Aptos" panose="020B00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961F910-0FD0-D5C2-D297-6E59A65B76DC}"/>
              </a:ext>
            </a:extLst>
          </p:cNvPr>
          <p:cNvCxnSpPr>
            <a:cxnSpLocks/>
            <a:stCxn id="15" idx="1"/>
            <a:endCxn id="23" idx="2"/>
          </p:cNvCxnSpPr>
          <p:nvPr/>
        </p:nvCxnSpPr>
        <p:spPr>
          <a:xfrm flipH="1" flipV="1">
            <a:off x="4677836" y="3442443"/>
            <a:ext cx="871045" cy="881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26" descr="A person running on a treadmill&#10;&#10;Description automatically generated">
            <a:extLst>
              <a:ext uri="{FF2B5EF4-FFF2-40B4-BE49-F238E27FC236}">
                <a16:creationId xmlns:a16="http://schemas.microsoft.com/office/drawing/2014/main" id="{0206994E-EB26-8227-6E5F-81BC981A8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324" y="2347349"/>
            <a:ext cx="663779" cy="663779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4294CD-4EBD-A1F1-5F08-9438BB7EAA02}"/>
              </a:ext>
            </a:extLst>
          </p:cNvPr>
          <p:cNvCxnSpPr>
            <a:cxnSpLocks/>
            <a:stCxn id="19" idx="3"/>
          </p:cNvCxnSpPr>
          <p:nvPr/>
        </p:nvCxnSpPr>
        <p:spPr>
          <a:xfrm flipH="1">
            <a:off x="6848195" y="4687938"/>
            <a:ext cx="876963" cy="734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3AC634F-FCD3-D235-F315-0A6336954218}"/>
              </a:ext>
            </a:extLst>
          </p:cNvPr>
          <p:cNvSpPr/>
          <p:nvPr/>
        </p:nvSpPr>
        <p:spPr>
          <a:xfrm>
            <a:off x="3165203" y="5227339"/>
            <a:ext cx="28245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Check BG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level</a:t>
            </a:r>
            <a:endParaRPr lang="en-IT" sz="1400" dirty="0">
              <a:latin typeface="Aptos" panose="020B00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EC38C7-C00C-12C8-4E0A-FECAB5A037D5}"/>
              </a:ext>
            </a:extLst>
          </p:cNvPr>
          <p:cNvSpPr/>
          <p:nvPr/>
        </p:nvSpPr>
        <p:spPr>
          <a:xfrm>
            <a:off x="8168236" y="4821162"/>
            <a:ext cx="135284" cy="116905"/>
          </a:xfrm>
          <a:prstGeom prst="ellipse">
            <a:avLst/>
          </a:prstGeom>
          <a:solidFill>
            <a:srgbClr val="C00000"/>
          </a:solidFill>
          <a:ln w="25400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D33687C-CC0A-1C12-1E74-3C8EACD68AB7}"/>
              </a:ext>
            </a:extLst>
          </p:cNvPr>
          <p:cNvCxnSpPr>
            <a:cxnSpLocks/>
            <a:stCxn id="30" idx="7"/>
          </p:cNvCxnSpPr>
          <p:nvPr/>
        </p:nvCxnSpPr>
        <p:spPr>
          <a:xfrm flipV="1">
            <a:off x="8283708" y="3504281"/>
            <a:ext cx="1160859" cy="1334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51D2D2F-EF0A-B880-0861-5E02B263DF69}"/>
              </a:ext>
            </a:extLst>
          </p:cNvPr>
          <p:cNvSpPr/>
          <p:nvPr/>
        </p:nvSpPr>
        <p:spPr>
          <a:xfrm>
            <a:off x="3224310" y="3592623"/>
            <a:ext cx="19755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Estimate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meal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amount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and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inject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insulin</a:t>
            </a:r>
            <a:endParaRPr lang="en-IT" sz="1400" dirty="0">
              <a:latin typeface="Aptos" panose="020B0004020202020204" pitchFamily="34" charset="0"/>
            </a:endParaRPr>
          </a:p>
        </p:txBody>
      </p:sp>
      <p:pic>
        <p:nvPicPr>
          <p:cNvPr id="33" name="Segnaposto contenuto 22">
            <a:extLst>
              <a:ext uri="{FF2B5EF4-FFF2-40B4-BE49-F238E27FC236}">
                <a16:creationId xmlns:a16="http://schemas.microsoft.com/office/drawing/2014/main" id="{88C9C0B9-800D-E0C6-82F5-756545491DD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5173" y="4291239"/>
            <a:ext cx="981029" cy="981029"/>
          </a:xfrm>
          <a:prstGeom prst="rect">
            <a:avLst/>
          </a:prstGeom>
        </p:spPr>
      </p:pic>
      <p:sp>
        <p:nvSpPr>
          <p:cNvPr id="34" name="CasellaDiTesto 60">
            <a:extLst>
              <a:ext uri="{FF2B5EF4-FFF2-40B4-BE49-F238E27FC236}">
                <a16:creationId xmlns:a16="http://schemas.microsoft.com/office/drawing/2014/main" id="{91526462-257E-21EF-28EB-890F66EE41AC}"/>
              </a:ext>
            </a:extLst>
          </p:cNvPr>
          <p:cNvSpPr txBox="1"/>
          <p:nvPr/>
        </p:nvSpPr>
        <p:spPr>
          <a:xfrm>
            <a:off x="9184115" y="5230358"/>
            <a:ext cx="1086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latin typeface="Aptos" panose="020B0004020202020204" pitchFamily="34" charset="0"/>
                <a:cs typeface="Segoe UI Semilight" pitchFamily="34" charset="0"/>
              </a:rPr>
              <a:t>time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63129E4-B5AE-4747-D073-D1156C1918CB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874375" y="4365133"/>
            <a:ext cx="654694" cy="277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D417E2A-3099-7A19-6692-5B8A2F9E8142}"/>
              </a:ext>
            </a:extLst>
          </p:cNvPr>
          <p:cNvSpPr/>
          <p:nvPr/>
        </p:nvSpPr>
        <p:spPr>
          <a:xfrm>
            <a:off x="5076021" y="5908016"/>
            <a:ext cx="31396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Feel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deezy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? Re-check BG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level</a:t>
            </a:r>
            <a:endParaRPr lang="en-IT" sz="1400" dirty="0"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A04C7B-5514-658C-4F13-5D4FD9A63D2C}"/>
              </a:ext>
            </a:extLst>
          </p:cNvPr>
          <p:cNvSpPr/>
          <p:nvPr/>
        </p:nvSpPr>
        <p:spPr>
          <a:xfrm>
            <a:off x="6834516" y="3034388"/>
            <a:ext cx="19755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Do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exercise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 and check BG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level</a:t>
            </a:r>
            <a:endParaRPr lang="en-IT" sz="1400" dirty="0">
              <a:latin typeface="Aptos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052A92-99E9-588B-87CA-E6CE0222BC3F}"/>
              </a:ext>
            </a:extLst>
          </p:cNvPr>
          <p:cNvSpPr/>
          <p:nvPr/>
        </p:nvSpPr>
        <p:spPr>
          <a:xfrm>
            <a:off x="7531591" y="2555279"/>
            <a:ext cx="3440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b="1" dirty="0">
                <a:latin typeface="Aptos" panose="020B0004020202020204" pitchFamily="34" charset="0"/>
                <a:cs typeface="Segoe UI Semilight" pitchFamily="34" charset="0"/>
              </a:rPr>
              <a:t>+</a:t>
            </a:r>
            <a:endParaRPr lang="en-IT" sz="2000" b="1" dirty="0">
              <a:latin typeface="Aptos" panose="020B0004020202020204" pitchFamily="34" charset="0"/>
            </a:endParaRPr>
          </a:p>
        </p:txBody>
      </p:sp>
      <p:pic>
        <p:nvPicPr>
          <p:cNvPr id="39" name="Segnaposto contenuto 22">
            <a:extLst>
              <a:ext uri="{FF2B5EF4-FFF2-40B4-BE49-F238E27FC236}">
                <a16:creationId xmlns:a16="http://schemas.microsoft.com/office/drawing/2014/main" id="{0CDE0605-4C44-BAAD-C3D3-26611D6884D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065" y="5245642"/>
            <a:ext cx="829322" cy="82932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1E56999-495B-63E0-E67F-A9634343C753}"/>
              </a:ext>
            </a:extLst>
          </p:cNvPr>
          <p:cNvSpPr/>
          <p:nvPr/>
        </p:nvSpPr>
        <p:spPr>
          <a:xfrm>
            <a:off x="9208540" y="4754922"/>
            <a:ext cx="31396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Ready to re-check BG </a:t>
            </a:r>
            <a:r>
              <a:rPr lang="it-IT" sz="1400" dirty="0" err="1">
                <a:latin typeface="Aptos" panose="020B0004020202020204" pitchFamily="34" charset="0"/>
                <a:cs typeface="Segoe UI Semilight" pitchFamily="34" charset="0"/>
              </a:rPr>
              <a:t>level</a:t>
            </a:r>
            <a:r>
              <a:rPr lang="it-IT" sz="1400" dirty="0">
                <a:latin typeface="Aptos" panose="020B0004020202020204" pitchFamily="34" charset="0"/>
                <a:cs typeface="Segoe UI Semilight" pitchFamily="34" charset="0"/>
              </a:rPr>
              <a:t>?</a:t>
            </a:r>
            <a:endParaRPr lang="en-IT" sz="1400" dirty="0">
              <a:latin typeface="Aptos" panose="020B0004020202020204" pitchFamily="34" charset="0"/>
            </a:endParaRPr>
          </a:p>
        </p:txBody>
      </p:sp>
      <p:pic>
        <p:nvPicPr>
          <p:cNvPr id="41" name="Segnaposto contenuto 22">
            <a:extLst>
              <a:ext uri="{FF2B5EF4-FFF2-40B4-BE49-F238E27FC236}">
                <a16:creationId xmlns:a16="http://schemas.microsoft.com/office/drawing/2014/main" id="{026B8365-E401-1D27-0430-CE559F33A8E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12324" y="3967746"/>
            <a:ext cx="829322" cy="829322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FCF1AD92-C31F-E1BF-B6C6-AABA7768C063}"/>
              </a:ext>
            </a:extLst>
          </p:cNvPr>
          <p:cNvSpPr/>
          <p:nvPr/>
        </p:nvSpPr>
        <p:spPr>
          <a:xfrm>
            <a:off x="9477238" y="4186675"/>
            <a:ext cx="135284" cy="116905"/>
          </a:xfrm>
          <a:prstGeom prst="ellipse">
            <a:avLst/>
          </a:prstGeom>
          <a:solidFill>
            <a:srgbClr val="C00000"/>
          </a:solidFill>
          <a:ln w="25400" cap="flat">
            <a:solidFill>
              <a:srgbClr val="C0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D6D10ED-CFDD-6272-6665-B019846D930C}"/>
              </a:ext>
            </a:extLst>
          </p:cNvPr>
          <p:cNvCxnSpPr>
            <a:cxnSpLocks/>
            <a:stCxn id="42" idx="5"/>
          </p:cNvCxnSpPr>
          <p:nvPr/>
        </p:nvCxnSpPr>
        <p:spPr>
          <a:xfrm>
            <a:off x="9592710" y="4286460"/>
            <a:ext cx="619614" cy="69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Picture 43" descr="A red and black object with a black background&#10;&#10;Description automatically generated">
            <a:extLst>
              <a:ext uri="{FF2B5EF4-FFF2-40B4-BE49-F238E27FC236}">
                <a16:creationId xmlns:a16="http://schemas.microsoft.com/office/drawing/2014/main" id="{97B4727C-DF2C-34F5-31B3-094C14C026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689" y="5481181"/>
            <a:ext cx="532549" cy="53254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C45F783-C78F-B6D5-7C8E-213A6CDAD6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885" y="4345364"/>
            <a:ext cx="2916671" cy="186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609F-CD8C-D863-E30F-E6C6CAF2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E57FC3-DDD3-DD69-CC25-8A818D49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The role of wearable devices in T1D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CE8B85-7B8A-AC64-3C94-219E5971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2567C-48D3-8137-79CD-91652FB4DDC1}"/>
              </a:ext>
            </a:extLst>
          </p:cNvPr>
          <p:cNvSpPr txBox="1"/>
          <p:nvPr/>
        </p:nvSpPr>
        <p:spPr>
          <a:xfrm>
            <a:off x="439144" y="1606321"/>
            <a:ext cx="65403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it-IT" sz="2400" b="1" dirty="0" err="1">
                <a:latin typeface="Aptos" panose="020B0004020202020204" pitchFamily="34" charset="0"/>
                <a:cs typeface="Arial" panose="020B0604020202020204" pitchFamily="34" charset="0"/>
              </a:rPr>
              <a:t>Continuous</a:t>
            </a:r>
            <a:r>
              <a:rPr lang="it-IT" sz="2400" b="1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>
                <a:latin typeface="Aptos" panose="020B0004020202020204" pitchFamily="34" charset="0"/>
                <a:cs typeface="Arial" panose="020B0604020202020204" pitchFamily="34" charset="0"/>
              </a:rPr>
              <a:t>Glucose</a:t>
            </a:r>
            <a:r>
              <a:rPr lang="it-IT" sz="2400" b="1" dirty="0">
                <a:latin typeface="Aptos" panose="020B0004020202020204" pitchFamily="34" charset="0"/>
                <a:cs typeface="Arial" panose="020B0604020202020204" pitchFamily="34" charset="0"/>
              </a:rPr>
              <a:t> Monitoring (CGM) systems: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it-IT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it-IT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Minimally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-invasive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sensors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that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measure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interstitial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glucose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every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~ 1/5 minutes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it-IT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Micro-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needle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under the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skin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that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leverages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glucose-oxidase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reaction </a:t>
            </a: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it-IT" sz="24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Surpasses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the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traditional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  <a:cs typeface="Arial" panose="020B0604020202020204" pitchFamily="34" charset="0"/>
              </a:rPr>
              <a:t>fingerprick</a:t>
            </a:r>
            <a:r>
              <a:rPr lang="it-IT" sz="2400" dirty="0">
                <a:latin typeface="Aptos" panose="020B0004020202020204" pitchFamily="34" charset="0"/>
                <a:cs typeface="Arial" panose="020B0604020202020204" pitchFamily="34" charset="0"/>
              </a:rPr>
              <a:t> devices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it-IT" sz="24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Immagine 7">
            <a:extLst>
              <a:ext uri="{FF2B5EF4-FFF2-40B4-BE49-F238E27FC236}">
                <a16:creationId xmlns:a16="http://schemas.microsoft.com/office/drawing/2014/main" id="{E588F880-6087-E2E7-5842-EA21DF391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859" y="1553369"/>
            <a:ext cx="3209062" cy="2253555"/>
          </a:xfrm>
          <a:prstGeom prst="rect">
            <a:avLst/>
          </a:prstGeom>
        </p:spPr>
      </p:pic>
      <p:pic>
        <p:nvPicPr>
          <p:cNvPr id="47" name="Immagine 8">
            <a:extLst>
              <a:ext uri="{FF2B5EF4-FFF2-40B4-BE49-F238E27FC236}">
                <a16:creationId xmlns:a16="http://schemas.microsoft.com/office/drawing/2014/main" id="{39B4CB3F-4BF1-CEBC-6D61-782F8AE53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21" y="1629682"/>
            <a:ext cx="1832219" cy="18734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7E89C79-96CB-1F74-DA4B-1E439F85FA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900" b="16181"/>
          <a:stretch>
            <a:fillRect/>
          </a:stretch>
        </p:blipFill>
        <p:spPr>
          <a:xfrm>
            <a:off x="8526982" y="4127009"/>
            <a:ext cx="2576048" cy="174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8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B4DF-BE1D-D057-626A-F27B7EF4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491DBC-941F-7FBB-75C5-527F9DDA0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What does it mean in practice?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8B71672-C757-7B3A-6D2E-A7F03C4E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512B16A-25F2-3F59-B8A7-230914405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00" b="16181"/>
          <a:stretch>
            <a:fillRect/>
          </a:stretch>
        </p:blipFill>
        <p:spPr>
          <a:xfrm>
            <a:off x="8845927" y="1888901"/>
            <a:ext cx="1266573" cy="86024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DEF2AE-B42F-393D-E51C-1E7CF68A86FE}"/>
              </a:ext>
            </a:extLst>
          </p:cNvPr>
          <p:cNvCxnSpPr>
            <a:cxnSpLocks/>
          </p:cNvCxnSpPr>
          <p:nvPr/>
        </p:nvCxnSpPr>
        <p:spPr>
          <a:xfrm flipH="1" flipV="1">
            <a:off x="1637484" y="2732939"/>
            <a:ext cx="2999" cy="325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13C1CE-0F8B-4887-E980-8F2629B488A2}"/>
              </a:ext>
            </a:extLst>
          </p:cNvPr>
          <p:cNvCxnSpPr>
            <a:cxnSpLocks/>
          </p:cNvCxnSpPr>
          <p:nvPr/>
        </p:nvCxnSpPr>
        <p:spPr>
          <a:xfrm>
            <a:off x="1651506" y="5990191"/>
            <a:ext cx="8672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5236751-6B4F-AD79-407A-E8F7887F35B9}"/>
              </a:ext>
            </a:extLst>
          </p:cNvPr>
          <p:cNvSpPr/>
          <p:nvPr/>
        </p:nvSpPr>
        <p:spPr>
          <a:xfrm>
            <a:off x="1651506" y="4167545"/>
            <a:ext cx="8606902" cy="11589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BFB9E-1AC9-C3FA-566F-29E32C19EC4F}"/>
              </a:ext>
            </a:extLst>
          </p:cNvPr>
          <p:cNvSpPr txBox="1"/>
          <p:nvPr/>
        </p:nvSpPr>
        <p:spPr>
          <a:xfrm>
            <a:off x="3771546" y="6022362"/>
            <a:ext cx="46489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time</a:t>
            </a:r>
            <a:endParaRPr lang="en-US" sz="2000" b="1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28E73-4A9D-F55E-4B9C-BCB6DE5CB9B6}"/>
              </a:ext>
            </a:extLst>
          </p:cNvPr>
          <p:cNvSpPr txBox="1"/>
          <p:nvPr/>
        </p:nvSpPr>
        <p:spPr>
          <a:xfrm rot="16200000">
            <a:off x="624377" y="4293157"/>
            <a:ext cx="150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Glucose</a:t>
            </a:r>
            <a:endParaRPr lang="en-US" sz="2000" b="1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D917F-82FB-7828-EDB3-DA0AB49ACE7E}"/>
              </a:ext>
            </a:extLst>
          </p:cNvPr>
          <p:cNvSpPr txBox="1"/>
          <p:nvPr/>
        </p:nvSpPr>
        <p:spPr>
          <a:xfrm>
            <a:off x="8494444" y="2781315"/>
            <a:ext cx="1969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Aptos" panose="020B0004020202020204" pitchFamily="34" charset="0"/>
                <a:cs typeface="Arial" panose="020B0604020202020204" pitchFamily="34" charset="0"/>
              </a:rPr>
              <a:t>With CGM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67FCCF-A45F-DFB7-7B58-D7B5C1450200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5215500" y="2719133"/>
            <a:ext cx="589885" cy="1998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E346907C-3A73-F8D1-0BAC-D3144E8D4BB0}"/>
              </a:ext>
            </a:extLst>
          </p:cNvPr>
          <p:cNvSpPr/>
          <p:nvPr/>
        </p:nvSpPr>
        <p:spPr>
          <a:xfrm>
            <a:off x="1637071" y="3831521"/>
            <a:ext cx="8620432" cy="1726390"/>
          </a:xfrm>
          <a:custGeom>
            <a:avLst/>
            <a:gdLst>
              <a:gd name="csX0" fmla="*/ 0 w 8620432"/>
              <a:gd name="csY0" fmla="*/ 851455 h 1726390"/>
              <a:gd name="csX1" fmla="*/ 877529 w 8620432"/>
              <a:gd name="csY1" fmla="*/ 1249662 h 1726390"/>
              <a:gd name="csX2" fmla="*/ 2698955 w 8620432"/>
              <a:gd name="csY2" fmla="*/ 3423 h 1726390"/>
              <a:gd name="csX3" fmla="*/ 5309419 w 8620432"/>
              <a:gd name="csY3" fmla="*/ 1699488 h 1726390"/>
              <a:gd name="csX4" fmla="*/ 7234084 w 8620432"/>
              <a:gd name="csY4" fmla="*/ 976817 h 1726390"/>
              <a:gd name="csX5" fmla="*/ 8244348 w 8620432"/>
              <a:gd name="csY5" fmla="*/ 69791 h 1726390"/>
              <a:gd name="csX6" fmla="*/ 8620432 w 8620432"/>
              <a:gd name="csY6" fmla="*/ 165655 h 1726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620432" h="1726390">
                <a:moveTo>
                  <a:pt x="0" y="851455"/>
                </a:moveTo>
                <a:cubicBezTo>
                  <a:pt x="213851" y="1121228"/>
                  <a:pt x="427703" y="1391001"/>
                  <a:pt x="877529" y="1249662"/>
                </a:cubicBezTo>
                <a:cubicBezTo>
                  <a:pt x="1327355" y="1108323"/>
                  <a:pt x="1960307" y="-71548"/>
                  <a:pt x="2698955" y="3423"/>
                </a:cubicBezTo>
                <a:cubicBezTo>
                  <a:pt x="3437603" y="78394"/>
                  <a:pt x="4553564" y="1537256"/>
                  <a:pt x="5309419" y="1699488"/>
                </a:cubicBezTo>
                <a:cubicBezTo>
                  <a:pt x="6065274" y="1861720"/>
                  <a:pt x="6744929" y="1248433"/>
                  <a:pt x="7234084" y="976817"/>
                </a:cubicBezTo>
                <a:cubicBezTo>
                  <a:pt x="7723239" y="705201"/>
                  <a:pt x="8013290" y="204985"/>
                  <a:pt x="8244348" y="69791"/>
                </a:cubicBezTo>
                <a:cubicBezTo>
                  <a:pt x="8475406" y="-65403"/>
                  <a:pt x="8556522" y="112807"/>
                  <a:pt x="8620432" y="16565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Segnaposto contenuto 22">
            <a:extLst>
              <a:ext uri="{FF2B5EF4-FFF2-40B4-BE49-F238E27FC236}">
                <a16:creationId xmlns:a16="http://schemas.microsoft.com/office/drawing/2014/main" id="{33B07776-A900-8482-50CD-4D1CAE6C16B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7955" y="1486377"/>
            <a:ext cx="981029" cy="981029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AFA920E2-C398-B69C-E7E0-150FA573D295}"/>
              </a:ext>
            </a:extLst>
          </p:cNvPr>
          <p:cNvSpPr/>
          <p:nvPr/>
        </p:nvSpPr>
        <p:spPr>
          <a:xfrm>
            <a:off x="2271249" y="5073445"/>
            <a:ext cx="103239" cy="8849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68E131-CD69-9A8C-12D9-096A007C05B4}"/>
              </a:ext>
            </a:extLst>
          </p:cNvPr>
          <p:cNvSpPr/>
          <p:nvPr/>
        </p:nvSpPr>
        <p:spPr>
          <a:xfrm>
            <a:off x="3338051" y="4274034"/>
            <a:ext cx="103239" cy="8849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85273DF-B036-B8FC-2D0F-43C62BFACBA5}"/>
              </a:ext>
            </a:extLst>
          </p:cNvPr>
          <p:cNvSpPr/>
          <p:nvPr/>
        </p:nvSpPr>
        <p:spPr>
          <a:xfrm>
            <a:off x="5753766" y="4751923"/>
            <a:ext cx="103239" cy="8849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30191F-EB72-C5E2-6572-694A64D58261}"/>
              </a:ext>
            </a:extLst>
          </p:cNvPr>
          <p:cNvSpPr/>
          <p:nvPr/>
        </p:nvSpPr>
        <p:spPr>
          <a:xfrm>
            <a:off x="8912941" y="4717770"/>
            <a:ext cx="103239" cy="8849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9930B3-07D4-B8B0-9B01-9A85B6D2D773}"/>
              </a:ext>
            </a:extLst>
          </p:cNvPr>
          <p:cNvSpPr txBox="1"/>
          <p:nvPr/>
        </p:nvSpPr>
        <p:spPr>
          <a:xfrm>
            <a:off x="4230731" y="2319023"/>
            <a:ext cx="1969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Aptos" panose="020B0004020202020204" pitchFamily="34" charset="0"/>
                <a:cs typeface="Arial" panose="020B0604020202020204" pitchFamily="34" charset="0"/>
              </a:rPr>
              <a:t>Without CGM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54AAD1-6373-EEAB-9B75-4A41F6ED8080}"/>
              </a:ext>
            </a:extLst>
          </p:cNvPr>
          <p:cNvCxnSpPr>
            <a:cxnSpLocks/>
            <a:stCxn id="10" idx="2"/>
            <a:endCxn id="16" idx="3"/>
          </p:cNvCxnSpPr>
          <p:nvPr/>
        </p:nvCxnSpPr>
        <p:spPr>
          <a:xfrm flipH="1">
            <a:off x="6946490" y="3181425"/>
            <a:ext cx="2532723" cy="2349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8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3B18-B629-AE5E-975F-650545D1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88A130-1C17-4097-D417-D1B041FC9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What does it mean in practice?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F44638-7A4E-627C-5403-BAB9A541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pic>
        <p:nvPicPr>
          <p:cNvPr id="3" name="Picture 6" descr="InPen Smart Insulin Pen,Blue | Diabetes Shop">
            <a:extLst>
              <a:ext uri="{FF2B5EF4-FFF2-40B4-BE49-F238E27FC236}">
                <a16:creationId xmlns:a16="http://schemas.microsoft.com/office/drawing/2014/main" id="{34660D36-8ECC-96FD-9926-9AF0CC1F4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78" y="4042936"/>
            <a:ext cx="1671098" cy="167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8811;p46">
            <a:extLst>
              <a:ext uri="{FF2B5EF4-FFF2-40B4-BE49-F238E27FC236}">
                <a16:creationId xmlns:a16="http://schemas.microsoft.com/office/drawing/2014/main" id="{EE32028C-433D-4D73-8D85-1E349ACA1EB2}"/>
              </a:ext>
            </a:extLst>
          </p:cNvPr>
          <p:cNvSpPr/>
          <p:nvPr/>
        </p:nvSpPr>
        <p:spPr>
          <a:xfrm>
            <a:off x="6281023" y="2662709"/>
            <a:ext cx="2615781" cy="1307453"/>
          </a:xfrm>
          <a:custGeom>
            <a:avLst/>
            <a:gdLst/>
            <a:ahLst/>
            <a:cxnLst/>
            <a:rect l="l" t="t" r="r" b="b"/>
            <a:pathLst>
              <a:path w="165771" h="69253" extrusionOk="0">
                <a:moveTo>
                  <a:pt x="0" y="62158"/>
                </a:moveTo>
                <a:cubicBezTo>
                  <a:pt x="3093" y="59686"/>
                  <a:pt x="11731" y="46368"/>
                  <a:pt x="18559" y="47324"/>
                </a:cubicBezTo>
                <a:cubicBezTo>
                  <a:pt x="25388" y="48280"/>
                  <a:pt x="34933" y="75569"/>
                  <a:pt x="40971" y="67894"/>
                </a:cubicBezTo>
                <a:cubicBezTo>
                  <a:pt x="47009" y="60219"/>
                  <a:pt x="49466" y="8743"/>
                  <a:pt x="54788" y="1272"/>
                </a:cubicBezTo>
                <a:cubicBezTo>
                  <a:pt x="60110" y="-6199"/>
                  <a:pt x="66121" y="21612"/>
                  <a:pt x="72901" y="23070"/>
                </a:cubicBezTo>
                <a:cubicBezTo>
                  <a:pt x="79681" y="24528"/>
                  <a:pt x="89301" y="7131"/>
                  <a:pt x="95467" y="10022"/>
                </a:cubicBezTo>
                <a:cubicBezTo>
                  <a:pt x="101633" y="12913"/>
                  <a:pt x="104182" y="34714"/>
                  <a:pt x="109898" y="40416"/>
                </a:cubicBezTo>
                <a:cubicBezTo>
                  <a:pt x="115614" y="46118"/>
                  <a:pt x="123315" y="40320"/>
                  <a:pt x="129762" y="44234"/>
                </a:cubicBezTo>
                <a:cubicBezTo>
                  <a:pt x="136209" y="48148"/>
                  <a:pt x="142580" y="65416"/>
                  <a:pt x="148581" y="63902"/>
                </a:cubicBezTo>
                <a:cubicBezTo>
                  <a:pt x="154583" y="62388"/>
                  <a:pt x="162906" y="39942"/>
                  <a:pt x="165771" y="3515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3" name="Google Shape;8813;p46">
            <a:extLst>
              <a:ext uri="{FF2B5EF4-FFF2-40B4-BE49-F238E27FC236}">
                <a16:creationId xmlns:a16="http://schemas.microsoft.com/office/drawing/2014/main" id="{5F1150BE-563E-101B-94BA-55C0FA6FA4D2}"/>
              </a:ext>
            </a:extLst>
          </p:cNvPr>
          <p:cNvCxnSpPr>
            <a:cxnSpLocks/>
          </p:cNvCxnSpPr>
          <p:nvPr/>
        </p:nvCxnSpPr>
        <p:spPr>
          <a:xfrm>
            <a:off x="6281023" y="2491577"/>
            <a:ext cx="0" cy="195766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8814;p46">
            <a:extLst>
              <a:ext uri="{FF2B5EF4-FFF2-40B4-BE49-F238E27FC236}">
                <a16:creationId xmlns:a16="http://schemas.microsoft.com/office/drawing/2014/main" id="{99DDF6D0-90B9-E7F1-3E0F-91EF9CE9D905}"/>
              </a:ext>
            </a:extLst>
          </p:cNvPr>
          <p:cNvCxnSpPr>
            <a:cxnSpLocks/>
          </p:cNvCxnSpPr>
          <p:nvPr/>
        </p:nvCxnSpPr>
        <p:spPr>
          <a:xfrm>
            <a:off x="6281452" y="4447704"/>
            <a:ext cx="2639413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Immagine 32">
            <a:extLst>
              <a:ext uri="{FF2B5EF4-FFF2-40B4-BE49-F238E27FC236}">
                <a16:creationId xmlns:a16="http://schemas.microsoft.com/office/drawing/2014/main" id="{8C589C57-638E-B0F6-E0E8-AD7CDF3D0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4160662"/>
            <a:ext cx="1377701" cy="144262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DBE60F8-EC73-47B1-3A76-9CAD63A3EE18}"/>
              </a:ext>
            </a:extLst>
          </p:cNvPr>
          <p:cNvSpPr/>
          <p:nvPr/>
        </p:nvSpPr>
        <p:spPr>
          <a:xfrm>
            <a:off x="554290" y="5656230"/>
            <a:ext cx="20151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Smart </a:t>
            </a:r>
            <a:r>
              <a:rPr lang="it-IT" dirty="0" err="1">
                <a:latin typeface="Aptos" panose="020B0004020202020204" pitchFamily="34" charset="0"/>
                <a:cs typeface="Segoe UI Semilight" pitchFamily="34" charset="0"/>
              </a:rPr>
              <a:t>insulin</a:t>
            </a:r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  <a:cs typeface="Segoe UI Semilight" pitchFamily="34" charset="0"/>
              </a:rPr>
              <a:t>pen</a:t>
            </a:r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  <a:cs typeface="Segoe UI Semilight" pitchFamily="34" charset="0"/>
              </a:rPr>
              <a:t>Insulin</a:t>
            </a:r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 pump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20D1FE-FB66-F31B-9B89-F50C14E0DC21}"/>
              </a:ext>
            </a:extLst>
          </p:cNvPr>
          <p:cNvSpPr/>
          <p:nvPr/>
        </p:nvSpPr>
        <p:spPr>
          <a:xfrm>
            <a:off x="489630" y="3252692"/>
            <a:ext cx="23199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CGM</a:t>
            </a:r>
            <a:endParaRPr lang="en-IT" dirty="0">
              <a:latin typeface="Aptos" panose="020B0004020202020204" pitchFamily="34" charset="0"/>
            </a:endParaRPr>
          </a:p>
        </p:txBody>
      </p:sp>
      <p:pic>
        <p:nvPicPr>
          <p:cNvPr id="25" name="Picture 8" descr="carb counting - myDario.com">
            <a:extLst>
              <a:ext uri="{FF2B5EF4-FFF2-40B4-BE49-F238E27FC236}">
                <a16:creationId xmlns:a16="http://schemas.microsoft.com/office/drawing/2014/main" id="{0EEF37DF-1688-75C6-A463-28C36719E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t="6584" b="16170"/>
          <a:stretch/>
        </p:blipFill>
        <p:spPr bwMode="auto">
          <a:xfrm>
            <a:off x="3409616" y="1598418"/>
            <a:ext cx="1751592" cy="161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8E3ACA4-3C60-CE0C-CF58-E8CC4E5C31C7}"/>
              </a:ext>
            </a:extLst>
          </p:cNvPr>
          <p:cNvSpPr/>
          <p:nvPr/>
        </p:nvSpPr>
        <p:spPr>
          <a:xfrm>
            <a:off x="3271052" y="3249918"/>
            <a:ext cx="1975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Apps for </a:t>
            </a:r>
            <a:r>
              <a:rPr lang="it-IT" dirty="0" err="1">
                <a:latin typeface="Aptos" panose="020B0004020202020204" pitchFamily="34" charset="0"/>
                <a:cs typeface="Segoe UI Semilight" pitchFamily="34" charset="0"/>
              </a:rPr>
              <a:t>meal</a:t>
            </a:r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  <a:cs typeface="Segoe UI Semilight" pitchFamily="34" charset="0"/>
              </a:rPr>
              <a:t>intake</a:t>
            </a:r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  <a:cs typeface="Segoe UI Semilight" pitchFamily="34" charset="0"/>
              </a:rPr>
              <a:t>estimation</a:t>
            </a:r>
            <a:endParaRPr lang="en-IT" dirty="0">
              <a:latin typeface="Aptos" panose="020B0004020202020204" pitchFamily="34" charset="0"/>
            </a:endParaRPr>
          </a:p>
        </p:txBody>
      </p:sp>
      <p:pic>
        <p:nvPicPr>
          <p:cNvPr id="28" name="Picture 10" descr="Acquista Apple Watch SE GPS + Cellular, Cassa 44 mm in alluminio color  argento con Solo Loop galassia - Apple (IT)">
            <a:extLst>
              <a:ext uri="{FF2B5EF4-FFF2-40B4-BE49-F238E27FC236}">
                <a16:creationId xmlns:a16="http://schemas.microsoft.com/office/drawing/2014/main" id="{3968AF89-5F90-877A-5090-715479DCF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53" y="4091354"/>
            <a:ext cx="1531419" cy="153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02EB985-B73B-6F2A-8BE8-F5FD396B4556}"/>
              </a:ext>
            </a:extLst>
          </p:cNvPr>
          <p:cNvSpPr/>
          <p:nvPr/>
        </p:nvSpPr>
        <p:spPr>
          <a:xfrm>
            <a:off x="2569454" y="5711885"/>
            <a:ext cx="3378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  <a:cs typeface="Segoe UI Semilight" pitchFamily="34" charset="0"/>
              </a:rPr>
              <a:t>Activity tracker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00A4E1-F4BC-3DCC-DF4A-3265A2EBF086}"/>
              </a:ext>
            </a:extLst>
          </p:cNvPr>
          <p:cNvSpPr/>
          <p:nvPr/>
        </p:nvSpPr>
        <p:spPr>
          <a:xfrm>
            <a:off x="6281023" y="4035328"/>
            <a:ext cx="106356" cy="4039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A2E794-1078-9A27-276C-A823254B7DF4}"/>
              </a:ext>
            </a:extLst>
          </p:cNvPr>
          <p:cNvSpPr/>
          <p:nvPr/>
        </p:nvSpPr>
        <p:spPr>
          <a:xfrm>
            <a:off x="7683102" y="3722639"/>
            <a:ext cx="106353" cy="7163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0710A4-3772-9D34-B47F-21A5BE44FF70}"/>
              </a:ext>
            </a:extLst>
          </p:cNvPr>
          <p:cNvCxnSpPr>
            <a:cxnSpLocks/>
          </p:cNvCxnSpPr>
          <p:nvPr/>
        </p:nvCxnSpPr>
        <p:spPr>
          <a:xfrm flipV="1">
            <a:off x="7042699" y="4126768"/>
            <a:ext cx="0" cy="31246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AD14FC-1C85-F7BB-E5E8-1CFF0161E250}"/>
              </a:ext>
            </a:extLst>
          </p:cNvPr>
          <p:cNvCxnSpPr>
            <a:cxnSpLocks/>
          </p:cNvCxnSpPr>
          <p:nvPr/>
        </p:nvCxnSpPr>
        <p:spPr>
          <a:xfrm flipV="1">
            <a:off x="7400839" y="4135243"/>
            <a:ext cx="0" cy="31246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12848C4-FCCA-83B2-C5A6-1A1FEDB439E0}"/>
              </a:ext>
            </a:extLst>
          </p:cNvPr>
          <p:cNvCxnSpPr>
            <a:cxnSpLocks/>
          </p:cNvCxnSpPr>
          <p:nvPr/>
        </p:nvCxnSpPr>
        <p:spPr>
          <a:xfrm flipV="1">
            <a:off x="8802919" y="3899023"/>
            <a:ext cx="0" cy="54868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F5CEFB5A-2AC3-0340-1BEB-85266E232735}"/>
              </a:ext>
            </a:extLst>
          </p:cNvPr>
          <p:cNvSpPr/>
          <p:nvPr/>
        </p:nvSpPr>
        <p:spPr>
          <a:xfrm>
            <a:off x="8132359" y="3406403"/>
            <a:ext cx="125888" cy="128016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DAA69D-2832-1EB1-65FA-32C1BB018BB1}"/>
              </a:ext>
            </a:extLst>
          </p:cNvPr>
          <p:cNvSpPr/>
          <p:nvPr/>
        </p:nvSpPr>
        <p:spPr>
          <a:xfrm>
            <a:off x="6941115" y="3480247"/>
            <a:ext cx="125888" cy="128016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1641879-F6A1-C7B6-3B1C-9981D247025C}"/>
              </a:ext>
            </a:extLst>
          </p:cNvPr>
          <p:cNvSpPr/>
          <p:nvPr/>
        </p:nvSpPr>
        <p:spPr>
          <a:xfrm>
            <a:off x="7520338" y="2932602"/>
            <a:ext cx="125888" cy="128016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48F871-FE27-BCDC-5BB7-83C078DC08F6}"/>
              </a:ext>
            </a:extLst>
          </p:cNvPr>
          <p:cNvSpPr/>
          <p:nvPr/>
        </p:nvSpPr>
        <p:spPr>
          <a:xfrm>
            <a:off x="7895810" y="4081077"/>
            <a:ext cx="785189" cy="366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B914B4-9A1B-321B-2E9B-E071EE08146E}"/>
              </a:ext>
            </a:extLst>
          </p:cNvPr>
          <p:cNvSpPr/>
          <p:nvPr/>
        </p:nvSpPr>
        <p:spPr>
          <a:xfrm>
            <a:off x="5911760" y="4662600"/>
            <a:ext cx="33787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Aptos" panose="020B0004020202020204" pitchFamily="34" charset="0"/>
                <a:cs typeface="Segoe UI Semilight" pitchFamily="34" charset="0"/>
              </a:rPr>
              <a:t>Rich </a:t>
            </a:r>
            <a:r>
              <a:rPr lang="it-IT" sz="2000" b="1" dirty="0" err="1">
                <a:latin typeface="Aptos" panose="020B0004020202020204" pitchFamily="34" charset="0"/>
                <a:cs typeface="Segoe UI Semilight" pitchFamily="34" charset="0"/>
              </a:rPr>
              <a:t>patient-generated</a:t>
            </a:r>
            <a:r>
              <a:rPr lang="it-IT" sz="2000" b="1" dirty="0">
                <a:latin typeface="Aptos" panose="020B0004020202020204" pitchFamily="34" charset="0"/>
                <a:cs typeface="Segoe UI Semilight" pitchFamily="34" charset="0"/>
              </a:rPr>
              <a:t> dataset</a:t>
            </a:r>
            <a:endParaRPr lang="en-IT" sz="2000" b="1" dirty="0">
              <a:latin typeface="Aptos" panose="020B0004020202020204" pitchFamily="34" charset="0"/>
            </a:endParaRPr>
          </a:p>
        </p:txBody>
      </p:sp>
      <p:pic>
        <p:nvPicPr>
          <p:cNvPr id="40" name="Picture 39" descr="A brain with a green object&#10;&#10;Description automatically generated with medium confidence">
            <a:extLst>
              <a:ext uri="{FF2B5EF4-FFF2-40B4-BE49-F238E27FC236}">
                <a16:creationId xmlns:a16="http://schemas.microsoft.com/office/drawing/2014/main" id="{062913A0-9010-2BEA-3859-2CAE611A16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252" y="1783323"/>
            <a:ext cx="1830104" cy="1830104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04EA7CE-2F82-B8FB-8BCF-82A605942170}"/>
              </a:ext>
            </a:extLst>
          </p:cNvPr>
          <p:cNvSpPr/>
          <p:nvPr/>
        </p:nvSpPr>
        <p:spPr>
          <a:xfrm>
            <a:off x="9904027" y="3820482"/>
            <a:ext cx="1966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Aptos" panose="020B0004020202020204" pitchFamily="34" charset="0"/>
                <a:cs typeface="Segoe UI Semilight" pitchFamily="34" charset="0"/>
              </a:rPr>
              <a:t>AI-</a:t>
            </a:r>
            <a:r>
              <a:rPr lang="it-IT" sz="2000" b="1" dirty="0" err="1">
                <a:latin typeface="Aptos" panose="020B0004020202020204" pitchFamily="34" charset="0"/>
                <a:cs typeface="Segoe UI Semilight" pitchFamily="34" charset="0"/>
              </a:rPr>
              <a:t>based</a:t>
            </a:r>
            <a:r>
              <a:rPr lang="it-IT" sz="2000" b="1" dirty="0">
                <a:latin typeface="Aptos" panose="020B0004020202020204" pitchFamily="34" charset="0"/>
                <a:cs typeface="Segoe UI Semilight" pitchFamily="34" charset="0"/>
              </a:rPr>
              <a:t> </a:t>
            </a:r>
            <a:r>
              <a:rPr lang="it-IT" sz="2000" b="1" dirty="0" err="1">
                <a:latin typeface="Aptos" panose="020B0004020202020204" pitchFamily="34" charset="0"/>
                <a:cs typeface="Segoe UI Semilight" pitchFamily="34" charset="0"/>
              </a:rPr>
              <a:t>algos</a:t>
            </a:r>
            <a:endParaRPr lang="en-IT" sz="2000" b="1" dirty="0">
              <a:latin typeface="Aptos" panose="020B0004020202020204" pitchFamily="34" charset="0"/>
            </a:endParaRPr>
          </a:p>
        </p:txBody>
      </p:sp>
      <p:sp>
        <p:nvSpPr>
          <p:cNvPr id="42" name="Freccia a destra 7">
            <a:extLst>
              <a:ext uri="{FF2B5EF4-FFF2-40B4-BE49-F238E27FC236}">
                <a16:creationId xmlns:a16="http://schemas.microsoft.com/office/drawing/2014/main" id="{E3EC0B6D-62E0-BF09-5C1F-779698C0105C}"/>
              </a:ext>
            </a:extLst>
          </p:cNvPr>
          <p:cNvSpPr/>
          <p:nvPr/>
        </p:nvSpPr>
        <p:spPr>
          <a:xfrm>
            <a:off x="5516231" y="3722925"/>
            <a:ext cx="516120" cy="273026"/>
          </a:xfrm>
          <a:prstGeom prst="rightArrow">
            <a:avLst>
              <a:gd name="adj1" fmla="val 31908"/>
              <a:gd name="adj2" fmla="val 86183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43" name="Freccia a destra 7">
            <a:extLst>
              <a:ext uri="{FF2B5EF4-FFF2-40B4-BE49-F238E27FC236}">
                <a16:creationId xmlns:a16="http://schemas.microsoft.com/office/drawing/2014/main" id="{BF0660BF-9470-4AE3-098D-1E569A8E33D1}"/>
              </a:ext>
            </a:extLst>
          </p:cNvPr>
          <p:cNvSpPr/>
          <p:nvPr/>
        </p:nvSpPr>
        <p:spPr>
          <a:xfrm>
            <a:off x="9179066" y="3697136"/>
            <a:ext cx="516120" cy="273026"/>
          </a:xfrm>
          <a:prstGeom prst="rightArrow">
            <a:avLst>
              <a:gd name="adj1" fmla="val 31908"/>
              <a:gd name="adj2" fmla="val 86183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BF9F431-1C38-3D97-6C66-8C2FD82D526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839" b="16189"/>
          <a:stretch>
            <a:fillRect/>
          </a:stretch>
        </p:blipFill>
        <p:spPr>
          <a:xfrm>
            <a:off x="684104" y="1747777"/>
            <a:ext cx="1931031" cy="135116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5ABBA7-2ED5-95EE-DA3C-63E801BDF4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7337" y="4519717"/>
            <a:ext cx="1899708" cy="145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6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699F4-66FD-6620-2268-8E93E617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2BF223-A487-DA01-A19B-6D824F9B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What does it mean?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BFC835-F94D-A289-C6E1-DCC6874F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cxnSp>
        <p:nvCxnSpPr>
          <p:cNvPr id="11" name="Connettore diritto 18">
            <a:extLst>
              <a:ext uri="{FF2B5EF4-FFF2-40B4-BE49-F238E27FC236}">
                <a16:creationId xmlns:a16="http://schemas.microsoft.com/office/drawing/2014/main" id="{F75F85CA-0B13-FF2C-FA9F-EB6B752E2CFA}"/>
              </a:ext>
            </a:extLst>
          </p:cNvPr>
          <p:cNvCxnSpPr>
            <a:cxnSpLocks/>
          </p:cNvCxnSpPr>
          <p:nvPr/>
        </p:nvCxnSpPr>
        <p:spPr>
          <a:xfrm>
            <a:off x="2843212" y="3722508"/>
            <a:ext cx="650557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igura a mano libera: forma 10">
            <a:extLst>
              <a:ext uri="{FF2B5EF4-FFF2-40B4-BE49-F238E27FC236}">
                <a16:creationId xmlns:a16="http://schemas.microsoft.com/office/drawing/2014/main" id="{8BB04544-DE27-AF70-9F23-9E057C9A8006}"/>
              </a:ext>
            </a:extLst>
          </p:cNvPr>
          <p:cNvSpPr/>
          <p:nvPr/>
        </p:nvSpPr>
        <p:spPr>
          <a:xfrm>
            <a:off x="7014194" y="4978601"/>
            <a:ext cx="618699" cy="450376"/>
          </a:xfrm>
          <a:custGeom>
            <a:avLst/>
            <a:gdLst>
              <a:gd name="connsiteX0" fmla="*/ 0 w 618699"/>
              <a:gd name="connsiteY0" fmla="*/ 0 h 450376"/>
              <a:gd name="connsiteX1" fmla="*/ 300251 w 618699"/>
              <a:gd name="connsiteY1" fmla="*/ 122830 h 450376"/>
              <a:gd name="connsiteX2" fmla="*/ 618699 w 618699"/>
              <a:gd name="connsiteY2" fmla="*/ 450376 h 450376"/>
              <a:gd name="connsiteX0" fmla="*/ 0 w 618699"/>
              <a:gd name="connsiteY0" fmla="*/ 0 h 450376"/>
              <a:gd name="connsiteX1" fmla="*/ 155567 w 618699"/>
              <a:gd name="connsiteY1" fmla="*/ 33717 h 450376"/>
              <a:gd name="connsiteX2" fmla="*/ 300251 w 618699"/>
              <a:gd name="connsiteY2" fmla="*/ 122830 h 450376"/>
              <a:gd name="connsiteX3" fmla="*/ 618699 w 618699"/>
              <a:gd name="connsiteY3" fmla="*/ 450376 h 450376"/>
              <a:gd name="connsiteX0" fmla="*/ 0 w 618699"/>
              <a:gd name="connsiteY0" fmla="*/ 0 h 450376"/>
              <a:gd name="connsiteX1" fmla="*/ 138205 w 618699"/>
              <a:gd name="connsiteY1" fmla="*/ 85803 h 450376"/>
              <a:gd name="connsiteX2" fmla="*/ 300251 w 618699"/>
              <a:gd name="connsiteY2" fmla="*/ 122830 h 450376"/>
              <a:gd name="connsiteX3" fmla="*/ 618699 w 618699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699" h="450376">
                <a:moveTo>
                  <a:pt x="0" y="0"/>
                </a:moveTo>
                <a:cubicBezTo>
                  <a:pt x="25928" y="5620"/>
                  <a:pt x="88163" y="65331"/>
                  <a:pt x="138205" y="85803"/>
                </a:cubicBezTo>
                <a:cubicBezTo>
                  <a:pt x="188247" y="106275"/>
                  <a:pt x="223062" y="53387"/>
                  <a:pt x="300251" y="122830"/>
                </a:cubicBezTo>
                <a:cubicBezTo>
                  <a:pt x="403367" y="197893"/>
                  <a:pt x="511033" y="324134"/>
                  <a:pt x="618699" y="450376"/>
                </a:cubicBezTo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46B42FAC-86CE-666C-68AF-4C6FE3E0E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623" y="1381108"/>
            <a:ext cx="11269325" cy="1029175"/>
          </a:xfrm>
        </p:spPr>
        <p:txBody>
          <a:bodyPr>
            <a:noAutofit/>
          </a:bodyPr>
          <a:lstStyle/>
          <a:p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Diabetes technology research community intensively focused on AI</a:t>
            </a:r>
          </a:p>
          <a:p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Accurate </a:t>
            </a:r>
            <a:r>
              <a:rPr lang="en-US" b="1" dirty="0">
                <a:latin typeface="Aptos" panose="020B0004020202020204" pitchFamily="34" charset="0"/>
                <a:sym typeface="Wingdings" panose="05000000000000000000" pitchFamily="2" charset="2"/>
              </a:rPr>
              <a:t>predictive algorithms </a:t>
            </a:r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enable preventive actions  avoiding/mitigating onset of critical events</a:t>
            </a:r>
          </a:p>
          <a:p>
            <a:endParaRPr lang="en-US" dirty="0">
              <a:latin typeface="Aptos" panose="020B00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latin typeface="Aptos" panose="020B0004020202020204" pitchFamily="34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4D5C660-A84B-A0BB-97A2-B74696CDAB75}"/>
              </a:ext>
            </a:extLst>
          </p:cNvPr>
          <p:cNvCxnSpPr/>
          <p:nvPr/>
        </p:nvCxnSpPr>
        <p:spPr>
          <a:xfrm flipV="1">
            <a:off x="2852062" y="2934482"/>
            <a:ext cx="0" cy="292963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60B0F1F2-387E-EC86-78F7-63EEC2B6CE63}"/>
              </a:ext>
            </a:extLst>
          </p:cNvPr>
          <p:cNvCxnSpPr>
            <a:cxnSpLocks/>
          </p:cNvCxnSpPr>
          <p:nvPr/>
        </p:nvCxnSpPr>
        <p:spPr>
          <a:xfrm>
            <a:off x="2852062" y="5864113"/>
            <a:ext cx="6501044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A30A99B3-7BC3-2809-2BF0-39AEFE1DFDEE}"/>
              </a:ext>
            </a:extLst>
          </p:cNvPr>
          <p:cNvCxnSpPr/>
          <p:nvPr/>
        </p:nvCxnSpPr>
        <p:spPr>
          <a:xfrm>
            <a:off x="2843212" y="5159669"/>
            <a:ext cx="650557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igura a mano libera: forma 21">
            <a:extLst>
              <a:ext uri="{FF2B5EF4-FFF2-40B4-BE49-F238E27FC236}">
                <a16:creationId xmlns:a16="http://schemas.microsoft.com/office/drawing/2014/main" id="{53A88466-D709-5DB6-FDBE-562B44F675C4}"/>
              </a:ext>
            </a:extLst>
          </p:cNvPr>
          <p:cNvSpPr/>
          <p:nvPr/>
        </p:nvSpPr>
        <p:spPr>
          <a:xfrm>
            <a:off x="2843211" y="3175188"/>
            <a:ext cx="4169804" cy="1804454"/>
          </a:xfrm>
          <a:custGeom>
            <a:avLst/>
            <a:gdLst>
              <a:gd name="connsiteX0" fmla="*/ 0 w 6629400"/>
              <a:gd name="connsiteY0" fmla="*/ 1608988 h 2144220"/>
              <a:gd name="connsiteX1" fmla="*/ 476250 w 6629400"/>
              <a:gd name="connsiteY1" fmla="*/ 1618513 h 2144220"/>
              <a:gd name="connsiteX2" fmla="*/ 1400175 w 6629400"/>
              <a:gd name="connsiteY2" fmla="*/ 704113 h 2144220"/>
              <a:gd name="connsiteX3" fmla="*/ 2609850 w 6629400"/>
              <a:gd name="connsiteY3" fmla="*/ 113563 h 2144220"/>
              <a:gd name="connsiteX4" fmla="*/ 3286125 w 6629400"/>
              <a:gd name="connsiteY4" fmla="*/ 46888 h 2144220"/>
              <a:gd name="connsiteX5" fmla="*/ 3962400 w 6629400"/>
              <a:gd name="connsiteY5" fmla="*/ 646963 h 2144220"/>
              <a:gd name="connsiteX6" fmla="*/ 4333875 w 6629400"/>
              <a:gd name="connsiteY6" fmla="*/ 1675663 h 2144220"/>
              <a:gd name="connsiteX7" fmla="*/ 5076825 w 6629400"/>
              <a:gd name="connsiteY7" fmla="*/ 2142388 h 2144220"/>
              <a:gd name="connsiteX8" fmla="*/ 6629400 w 6629400"/>
              <a:gd name="connsiteY8" fmla="*/ 1523263 h 2144220"/>
              <a:gd name="connsiteX0" fmla="*/ 0 w 6629400"/>
              <a:gd name="connsiteY0" fmla="*/ 1609392 h 2144624"/>
              <a:gd name="connsiteX1" fmla="*/ 476250 w 6629400"/>
              <a:gd name="connsiteY1" fmla="*/ 1618917 h 2144624"/>
              <a:gd name="connsiteX2" fmla="*/ 1400175 w 6629400"/>
              <a:gd name="connsiteY2" fmla="*/ 714042 h 2144624"/>
              <a:gd name="connsiteX3" fmla="*/ 2609850 w 6629400"/>
              <a:gd name="connsiteY3" fmla="*/ 113967 h 2144624"/>
              <a:gd name="connsiteX4" fmla="*/ 3286125 w 6629400"/>
              <a:gd name="connsiteY4" fmla="*/ 47292 h 2144624"/>
              <a:gd name="connsiteX5" fmla="*/ 3962400 w 6629400"/>
              <a:gd name="connsiteY5" fmla="*/ 647367 h 2144624"/>
              <a:gd name="connsiteX6" fmla="*/ 4333875 w 6629400"/>
              <a:gd name="connsiteY6" fmla="*/ 1676067 h 2144624"/>
              <a:gd name="connsiteX7" fmla="*/ 5076825 w 6629400"/>
              <a:gd name="connsiteY7" fmla="*/ 2142792 h 2144624"/>
              <a:gd name="connsiteX8" fmla="*/ 6629400 w 6629400"/>
              <a:gd name="connsiteY8" fmla="*/ 1523667 h 2144624"/>
              <a:gd name="connsiteX0" fmla="*/ 0 w 6629400"/>
              <a:gd name="connsiteY0" fmla="*/ 1609392 h 2144624"/>
              <a:gd name="connsiteX1" fmla="*/ 476250 w 6629400"/>
              <a:gd name="connsiteY1" fmla="*/ 1618917 h 2144624"/>
              <a:gd name="connsiteX2" fmla="*/ 1400175 w 6629400"/>
              <a:gd name="connsiteY2" fmla="*/ 714042 h 2144624"/>
              <a:gd name="connsiteX3" fmla="*/ 2609850 w 6629400"/>
              <a:gd name="connsiteY3" fmla="*/ 113967 h 2144624"/>
              <a:gd name="connsiteX4" fmla="*/ 3286125 w 6629400"/>
              <a:gd name="connsiteY4" fmla="*/ 47292 h 2144624"/>
              <a:gd name="connsiteX5" fmla="*/ 3962400 w 6629400"/>
              <a:gd name="connsiteY5" fmla="*/ 647367 h 2144624"/>
              <a:gd name="connsiteX6" fmla="*/ 4333875 w 6629400"/>
              <a:gd name="connsiteY6" fmla="*/ 1676067 h 2144624"/>
              <a:gd name="connsiteX7" fmla="*/ 5076825 w 6629400"/>
              <a:gd name="connsiteY7" fmla="*/ 2142792 h 2144624"/>
              <a:gd name="connsiteX8" fmla="*/ 6629400 w 6629400"/>
              <a:gd name="connsiteY8" fmla="*/ 1523667 h 2144624"/>
              <a:gd name="connsiteX0" fmla="*/ 0 w 6629400"/>
              <a:gd name="connsiteY0" fmla="*/ 1609392 h 2144624"/>
              <a:gd name="connsiteX1" fmla="*/ 476250 w 6629400"/>
              <a:gd name="connsiteY1" fmla="*/ 1618917 h 2144624"/>
              <a:gd name="connsiteX2" fmla="*/ 1400175 w 6629400"/>
              <a:gd name="connsiteY2" fmla="*/ 714042 h 2144624"/>
              <a:gd name="connsiteX3" fmla="*/ 2400300 w 6629400"/>
              <a:gd name="connsiteY3" fmla="*/ 113967 h 2144624"/>
              <a:gd name="connsiteX4" fmla="*/ 3286125 w 6629400"/>
              <a:gd name="connsiteY4" fmla="*/ 47292 h 2144624"/>
              <a:gd name="connsiteX5" fmla="*/ 3962400 w 6629400"/>
              <a:gd name="connsiteY5" fmla="*/ 647367 h 2144624"/>
              <a:gd name="connsiteX6" fmla="*/ 4333875 w 6629400"/>
              <a:gd name="connsiteY6" fmla="*/ 1676067 h 2144624"/>
              <a:gd name="connsiteX7" fmla="*/ 5076825 w 6629400"/>
              <a:gd name="connsiteY7" fmla="*/ 2142792 h 2144624"/>
              <a:gd name="connsiteX8" fmla="*/ 6629400 w 6629400"/>
              <a:gd name="connsiteY8" fmla="*/ 1523667 h 2144624"/>
              <a:gd name="connsiteX0" fmla="*/ 0 w 6629400"/>
              <a:gd name="connsiteY0" fmla="*/ 1598909 h 2134141"/>
              <a:gd name="connsiteX1" fmla="*/ 476250 w 6629400"/>
              <a:gd name="connsiteY1" fmla="*/ 1608434 h 2134141"/>
              <a:gd name="connsiteX2" fmla="*/ 1400175 w 6629400"/>
              <a:gd name="connsiteY2" fmla="*/ 703559 h 2134141"/>
              <a:gd name="connsiteX3" fmla="*/ 2400300 w 6629400"/>
              <a:gd name="connsiteY3" fmla="*/ 103484 h 2134141"/>
              <a:gd name="connsiteX4" fmla="*/ 3286125 w 6629400"/>
              <a:gd name="connsiteY4" fmla="*/ 36809 h 2134141"/>
              <a:gd name="connsiteX5" fmla="*/ 3962400 w 6629400"/>
              <a:gd name="connsiteY5" fmla="*/ 636884 h 2134141"/>
              <a:gd name="connsiteX6" fmla="*/ 4333875 w 6629400"/>
              <a:gd name="connsiteY6" fmla="*/ 1665584 h 2134141"/>
              <a:gd name="connsiteX7" fmla="*/ 5076825 w 6629400"/>
              <a:gd name="connsiteY7" fmla="*/ 2132309 h 2134141"/>
              <a:gd name="connsiteX8" fmla="*/ 6629400 w 6629400"/>
              <a:gd name="connsiteY8" fmla="*/ 1513184 h 2134141"/>
              <a:gd name="connsiteX0" fmla="*/ 0 w 6629400"/>
              <a:gd name="connsiteY0" fmla="*/ 1615517 h 2150749"/>
              <a:gd name="connsiteX1" fmla="*/ 476250 w 6629400"/>
              <a:gd name="connsiteY1" fmla="*/ 1625042 h 2150749"/>
              <a:gd name="connsiteX2" fmla="*/ 1400175 w 6629400"/>
              <a:gd name="connsiteY2" fmla="*/ 720167 h 2150749"/>
              <a:gd name="connsiteX3" fmla="*/ 2228850 w 6629400"/>
              <a:gd name="connsiteY3" fmla="*/ 72467 h 2150749"/>
              <a:gd name="connsiteX4" fmla="*/ 3286125 w 6629400"/>
              <a:gd name="connsiteY4" fmla="*/ 53417 h 2150749"/>
              <a:gd name="connsiteX5" fmla="*/ 3962400 w 6629400"/>
              <a:gd name="connsiteY5" fmla="*/ 653492 h 2150749"/>
              <a:gd name="connsiteX6" fmla="*/ 4333875 w 6629400"/>
              <a:gd name="connsiteY6" fmla="*/ 1682192 h 2150749"/>
              <a:gd name="connsiteX7" fmla="*/ 5076825 w 6629400"/>
              <a:gd name="connsiteY7" fmla="*/ 2148917 h 2150749"/>
              <a:gd name="connsiteX8" fmla="*/ 6629400 w 6629400"/>
              <a:gd name="connsiteY8" fmla="*/ 1529792 h 2150749"/>
              <a:gd name="connsiteX0" fmla="*/ 0 w 6629400"/>
              <a:gd name="connsiteY0" fmla="*/ 1615517 h 2150749"/>
              <a:gd name="connsiteX1" fmla="*/ 628650 w 6629400"/>
              <a:gd name="connsiteY1" fmla="*/ 1472642 h 2150749"/>
              <a:gd name="connsiteX2" fmla="*/ 1400175 w 6629400"/>
              <a:gd name="connsiteY2" fmla="*/ 720167 h 2150749"/>
              <a:gd name="connsiteX3" fmla="*/ 2228850 w 6629400"/>
              <a:gd name="connsiteY3" fmla="*/ 72467 h 2150749"/>
              <a:gd name="connsiteX4" fmla="*/ 3286125 w 6629400"/>
              <a:gd name="connsiteY4" fmla="*/ 53417 h 2150749"/>
              <a:gd name="connsiteX5" fmla="*/ 3962400 w 6629400"/>
              <a:gd name="connsiteY5" fmla="*/ 653492 h 2150749"/>
              <a:gd name="connsiteX6" fmla="*/ 4333875 w 6629400"/>
              <a:gd name="connsiteY6" fmla="*/ 1682192 h 2150749"/>
              <a:gd name="connsiteX7" fmla="*/ 5076825 w 6629400"/>
              <a:gd name="connsiteY7" fmla="*/ 2148917 h 2150749"/>
              <a:gd name="connsiteX8" fmla="*/ 6629400 w 6629400"/>
              <a:gd name="connsiteY8" fmla="*/ 1529792 h 2150749"/>
              <a:gd name="connsiteX0" fmla="*/ 0 w 6629400"/>
              <a:gd name="connsiteY0" fmla="*/ 1615517 h 2150749"/>
              <a:gd name="connsiteX1" fmla="*/ 628650 w 6629400"/>
              <a:gd name="connsiteY1" fmla="*/ 1472642 h 2150749"/>
              <a:gd name="connsiteX2" fmla="*/ 1400175 w 6629400"/>
              <a:gd name="connsiteY2" fmla="*/ 720167 h 2150749"/>
              <a:gd name="connsiteX3" fmla="*/ 2228850 w 6629400"/>
              <a:gd name="connsiteY3" fmla="*/ 72467 h 2150749"/>
              <a:gd name="connsiteX4" fmla="*/ 3286125 w 6629400"/>
              <a:gd name="connsiteY4" fmla="*/ 53417 h 2150749"/>
              <a:gd name="connsiteX5" fmla="*/ 3962400 w 6629400"/>
              <a:gd name="connsiteY5" fmla="*/ 653492 h 2150749"/>
              <a:gd name="connsiteX6" fmla="*/ 4333875 w 6629400"/>
              <a:gd name="connsiteY6" fmla="*/ 1682192 h 2150749"/>
              <a:gd name="connsiteX7" fmla="*/ 5076825 w 6629400"/>
              <a:gd name="connsiteY7" fmla="*/ 2148917 h 2150749"/>
              <a:gd name="connsiteX8" fmla="*/ 6629400 w 6629400"/>
              <a:gd name="connsiteY8" fmla="*/ 1529792 h 2150749"/>
              <a:gd name="connsiteX0" fmla="*/ 0 w 6629400"/>
              <a:gd name="connsiteY0" fmla="*/ 1624319 h 2159551"/>
              <a:gd name="connsiteX1" fmla="*/ 628650 w 6629400"/>
              <a:gd name="connsiteY1" fmla="*/ 1481444 h 2159551"/>
              <a:gd name="connsiteX2" fmla="*/ 1400175 w 6629400"/>
              <a:gd name="connsiteY2" fmla="*/ 728969 h 2159551"/>
              <a:gd name="connsiteX3" fmla="*/ 2228850 w 6629400"/>
              <a:gd name="connsiteY3" fmla="*/ 81269 h 2159551"/>
              <a:gd name="connsiteX4" fmla="*/ 3286125 w 6629400"/>
              <a:gd name="connsiteY4" fmla="*/ 62219 h 2159551"/>
              <a:gd name="connsiteX5" fmla="*/ 3962400 w 6629400"/>
              <a:gd name="connsiteY5" fmla="*/ 662294 h 2159551"/>
              <a:gd name="connsiteX6" fmla="*/ 4333875 w 6629400"/>
              <a:gd name="connsiteY6" fmla="*/ 1690994 h 2159551"/>
              <a:gd name="connsiteX7" fmla="*/ 5076825 w 6629400"/>
              <a:gd name="connsiteY7" fmla="*/ 2157719 h 2159551"/>
              <a:gd name="connsiteX8" fmla="*/ 6629400 w 6629400"/>
              <a:gd name="connsiteY8" fmla="*/ 1538594 h 2159551"/>
              <a:gd name="connsiteX0" fmla="*/ 0 w 6629400"/>
              <a:gd name="connsiteY0" fmla="*/ 1648451 h 2183683"/>
              <a:gd name="connsiteX1" fmla="*/ 628650 w 6629400"/>
              <a:gd name="connsiteY1" fmla="*/ 1505576 h 2183683"/>
              <a:gd name="connsiteX2" fmla="*/ 1400175 w 6629400"/>
              <a:gd name="connsiteY2" fmla="*/ 753101 h 2183683"/>
              <a:gd name="connsiteX3" fmla="*/ 2228850 w 6629400"/>
              <a:gd name="connsiteY3" fmla="*/ 105401 h 2183683"/>
              <a:gd name="connsiteX4" fmla="*/ 3286125 w 6629400"/>
              <a:gd name="connsiteY4" fmla="*/ 86351 h 2183683"/>
              <a:gd name="connsiteX5" fmla="*/ 3962400 w 6629400"/>
              <a:gd name="connsiteY5" fmla="*/ 686426 h 2183683"/>
              <a:gd name="connsiteX6" fmla="*/ 4333875 w 6629400"/>
              <a:gd name="connsiteY6" fmla="*/ 1715126 h 2183683"/>
              <a:gd name="connsiteX7" fmla="*/ 5076825 w 6629400"/>
              <a:gd name="connsiteY7" fmla="*/ 2181851 h 2183683"/>
              <a:gd name="connsiteX8" fmla="*/ 6629400 w 6629400"/>
              <a:gd name="connsiteY8" fmla="*/ 1562726 h 2183683"/>
              <a:gd name="connsiteX0" fmla="*/ 0 w 6629400"/>
              <a:gd name="connsiteY0" fmla="*/ 1648451 h 2183683"/>
              <a:gd name="connsiteX1" fmla="*/ 628650 w 6629400"/>
              <a:gd name="connsiteY1" fmla="*/ 1505576 h 2183683"/>
              <a:gd name="connsiteX2" fmla="*/ 1400175 w 6629400"/>
              <a:gd name="connsiteY2" fmla="*/ 753101 h 2183683"/>
              <a:gd name="connsiteX3" fmla="*/ 2228850 w 6629400"/>
              <a:gd name="connsiteY3" fmla="*/ 105401 h 2183683"/>
              <a:gd name="connsiteX4" fmla="*/ 3286125 w 6629400"/>
              <a:gd name="connsiteY4" fmla="*/ 86351 h 2183683"/>
              <a:gd name="connsiteX5" fmla="*/ 3962400 w 6629400"/>
              <a:gd name="connsiteY5" fmla="*/ 686426 h 2183683"/>
              <a:gd name="connsiteX6" fmla="*/ 4333875 w 6629400"/>
              <a:gd name="connsiteY6" fmla="*/ 1715126 h 2183683"/>
              <a:gd name="connsiteX7" fmla="*/ 5076825 w 6629400"/>
              <a:gd name="connsiteY7" fmla="*/ 2181851 h 2183683"/>
              <a:gd name="connsiteX8" fmla="*/ 6629400 w 6629400"/>
              <a:gd name="connsiteY8" fmla="*/ 1562726 h 2183683"/>
              <a:gd name="connsiteX0" fmla="*/ 0 w 6629400"/>
              <a:gd name="connsiteY0" fmla="*/ 1624320 h 2159552"/>
              <a:gd name="connsiteX1" fmla="*/ 628650 w 6629400"/>
              <a:gd name="connsiteY1" fmla="*/ 1481445 h 2159552"/>
              <a:gd name="connsiteX2" fmla="*/ 1400175 w 6629400"/>
              <a:gd name="connsiteY2" fmla="*/ 728970 h 2159552"/>
              <a:gd name="connsiteX3" fmla="*/ 2228850 w 6629400"/>
              <a:gd name="connsiteY3" fmla="*/ 81270 h 2159552"/>
              <a:gd name="connsiteX4" fmla="*/ 3286125 w 6629400"/>
              <a:gd name="connsiteY4" fmla="*/ 62220 h 2159552"/>
              <a:gd name="connsiteX5" fmla="*/ 3876675 w 6629400"/>
              <a:gd name="connsiteY5" fmla="*/ 662295 h 2159552"/>
              <a:gd name="connsiteX6" fmla="*/ 4333875 w 6629400"/>
              <a:gd name="connsiteY6" fmla="*/ 1690995 h 2159552"/>
              <a:gd name="connsiteX7" fmla="*/ 5076825 w 6629400"/>
              <a:gd name="connsiteY7" fmla="*/ 2157720 h 2159552"/>
              <a:gd name="connsiteX8" fmla="*/ 6629400 w 6629400"/>
              <a:gd name="connsiteY8" fmla="*/ 1538595 h 2159552"/>
              <a:gd name="connsiteX0" fmla="*/ 0 w 6629400"/>
              <a:gd name="connsiteY0" fmla="*/ 1630816 h 2166048"/>
              <a:gd name="connsiteX1" fmla="*/ 628650 w 6629400"/>
              <a:gd name="connsiteY1" fmla="*/ 1487941 h 2166048"/>
              <a:gd name="connsiteX2" fmla="*/ 1400175 w 6629400"/>
              <a:gd name="connsiteY2" fmla="*/ 735466 h 2166048"/>
              <a:gd name="connsiteX3" fmla="*/ 2228850 w 6629400"/>
              <a:gd name="connsiteY3" fmla="*/ 87766 h 2166048"/>
              <a:gd name="connsiteX4" fmla="*/ 3145288 w 6629400"/>
              <a:gd name="connsiteY4" fmla="*/ 68716 h 2166048"/>
              <a:gd name="connsiteX5" fmla="*/ 3876675 w 6629400"/>
              <a:gd name="connsiteY5" fmla="*/ 668791 h 2166048"/>
              <a:gd name="connsiteX6" fmla="*/ 4333875 w 6629400"/>
              <a:gd name="connsiteY6" fmla="*/ 1697491 h 2166048"/>
              <a:gd name="connsiteX7" fmla="*/ 5076825 w 6629400"/>
              <a:gd name="connsiteY7" fmla="*/ 2164216 h 2166048"/>
              <a:gd name="connsiteX8" fmla="*/ 6629400 w 6629400"/>
              <a:gd name="connsiteY8" fmla="*/ 1545091 h 2166048"/>
              <a:gd name="connsiteX0" fmla="*/ 0 w 6629400"/>
              <a:gd name="connsiteY0" fmla="*/ 1630816 h 2166048"/>
              <a:gd name="connsiteX1" fmla="*/ 628650 w 6629400"/>
              <a:gd name="connsiteY1" fmla="*/ 1487941 h 2166048"/>
              <a:gd name="connsiteX2" fmla="*/ 1400175 w 6629400"/>
              <a:gd name="connsiteY2" fmla="*/ 735466 h 2166048"/>
              <a:gd name="connsiteX3" fmla="*/ 2228850 w 6629400"/>
              <a:gd name="connsiteY3" fmla="*/ 87766 h 2166048"/>
              <a:gd name="connsiteX4" fmla="*/ 3145288 w 6629400"/>
              <a:gd name="connsiteY4" fmla="*/ 68716 h 2166048"/>
              <a:gd name="connsiteX5" fmla="*/ 3876675 w 6629400"/>
              <a:gd name="connsiteY5" fmla="*/ 668791 h 2166048"/>
              <a:gd name="connsiteX6" fmla="*/ 4333875 w 6629400"/>
              <a:gd name="connsiteY6" fmla="*/ 1697491 h 2166048"/>
              <a:gd name="connsiteX7" fmla="*/ 5076825 w 6629400"/>
              <a:gd name="connsiteY7" fmla="*/ 2164216 h 2166048"/>
              <a:gd name="connsiteX8" fmla="*/ 6629400 w 6629400"/>
              <a:gd name="connsiteY8" fmla="*/ 1545091 h 2166048"/>
              <a:gd name="connsiteX0" fmla="*/ 0 w 6629400"/>
              <a:gd name="connsiteY0" fmla="*/ 1630816 h 2166048"/>
              <a:gd name="connsiteX1" fmla="*/ 628650 w 6629400"/>
              <a:gd name="connsiteY1" fmla="*/ 1487941 h 2166048"/>
              <a:gd name="connsiteX2" fmla="*/ 1400175 w 6629400"/>
              <a:gd name="connsiteY2" fmla="*/ 735466 h 2166048"/>
              <a:gd name="connsiteX3" fmla="*/ 2228850 w 6629400"/>
              <a:gd name="connsiteY3" fmla="*/ 87766 h 2166048"/>
              <a:gd name="connsiteX4" fmla="*/ 3145288 w 6629400"/>
              <a:gd name="connsiteY4" fmla="*/ 68716 h 2166048"/>
              <a:gd name="connsiteX5" fmla="*/ 3876675 w 6629400"/>
              <a:gd name="connsiteY5" fmla="*/ 668791 h 2166048"/>
              <a:gd name="connsiteX6" fmla="*/ 4333875 w 6629400"/>
              <a:gd name="connsiteY6" fmla="*/ 1697491 h 2166048"/>
              <a:gd name="connsiteX7" fmla="*/ 5076825 w 6629400"/>
              <a:gd name="connsiteY7" fmla="*/ 2164216 h 2166048"/>
              <a:gd name="connsiteX8" fmla="*/ 6629400 w 6629400"/>
              <a:gd name="connsiteY8" fmla="*/ 1545091 h 2166048"/>
              <a:gd name="connsiteX0" fmla="*/ 0 w 6629400"/>
              <a:gd name="connsiteY0" fmla="*/ 1630816 h 2168463"/>
              <a:gd name="connsiteX1" fmla="*/ 628650 w 6629400"/>
              <a:gd name="connsiteY1" fmla="*/ 1487941 h 2168463"/>
              <a:gd name="connsiteX2" fmla="*/ 1400175 w 6629400"/>
              <a:gd name="connsiteY2" fmla="*/ 735466 h 2168463"/>
              <a:gd name="connsiteX3" fmla="*/ 2228850 w 6629400"/>
              <a:gd name="connsiteY3" fmla="*/ 87766 h 2168463"/>
              <a:gd name="connsiteX4" fmla="*/ 3145288 w 6629400"/>
              <a:gd name="connsiteY4" fmla="*/ 68716 h 2168463"/>
              <a:gd name="connsiteX5" fmla="*/ 3876675 w 6629400"/>
              <a:gd name="connsiteY5" fmla="*/ 668791 h 2168463"/>
              <a:gd name="connsiteX6" fmla="*/ 4333875 w 6629400"/>
              <a:gd name="connsiteY6" fmla="*/ 1697491 h 2168463"/>
              <a:gd name="connsiteX7" fmla="*/ 5076825 w 6629400"/>
              <a:gd name="connsiteY7" fmla="*/ 2164216 h 2168463"/>
              <a:gd name="connsiteX8" fmla="*/ 5874918 w 6629400"/>
              <a:gd name="connsiteY8" fmla="*/ 1907040 h 2168463"/>
              <a:gd name="connsiteX9" fmla="*/ 6629400 w 6629400"/>
              <a:gd name="connsiteY9" fmla="*/ 1545091 h 2168463"/>
              <a:gd name="connsiteX0" fmla="*/ 0 w 5874918"/>
              <a:gd name="connsiteY0" fmla="*/ 1630816 h 2168463"/>
              <a:gd name="connsiteX1" fmla="*/ 628650 w 5874918"/>
              <a:gd name="connsiteY1" fmla="*/ 1487941 h 2168463"/>
              <a:gd name="connsiteX2" fmla="*/ 1400175 w 5874918"/>
              <a:gd name="connsiteY2" fmla="*/ 735466 h 2168463"/>
              <a:gd name="connsiteX3" fmla="*/ 2228850 w 5874918"/>
              <a:gd name="connsiteY3" fmla="*/ 87766 h 2168463"/>
              <a:gd name="connsiteX4" fmla="*/ 3145288 w 5874918"/>
              <a:gd name="connsiteY4" fmla="*/ 68716 h 2168463"/>
              <a:gd name="connsiteX5" fmla="*/ 3876675 w 5874918"/>
              <a:gd name="connsiteY5" fmla="*/ 668791 h 2168463"/>
              <a:gd name="connsiteX6" fmla="*/ 4333875 w 5874918"/>
              <a:gd name="connsiteY6" fmla="*/ 1697491 h 2168463"/>
              <a:gd name="connsiteX7" fmla="*/ 5076825 w 5874918"/>
              <a:gd name="connsiteY7" fmla="*/ 2164216 h 2168463"/>
              <a:gd name="connsiteX8" fmla="*/ 5874918 w 5874918"/>
              <a:gd name="connsiteY8" fmla="*/ 1907040 h 2168463"/>
              <a:gd name="connsiteX0" fmla="*/ 0 w 5076825"/>
              <a:gd name="connsiteY0" fmla="*/ 1630816 h 2164216"/>
              <a:gd name="connsiteX1" fmla="*/ 628650 w 5076825"/>
              <a:gd name="connsiteY1" fmla="*/ 1487941 h 2164216"/>
              <a:gd name="connsiteX2" fmla="*/ 1400175 w 5076825"/>
              <a:gd name="connsiteY2" fmla="*/ 735466 h 2164216"/>
              <a:gd name="connsiteX3" fmla="*/ 2228850 w 5076825"/>
              <a:gd name="connsiteY3" fmla="*/ 87766 h 2164216"/>
              <a:gd name="connsiteX4" fmla="*/ 3145288 w 5076825"/>
              <a:gd name="connsiteY4" fmla="*/ 68716 h 2164216"/>
              <a:gd name="connsiteX5" fmla="*/ 3876675 w 5076825"/>
              <a:gd name="connsiteY5" fmla="*/ 668791 h 2164216"/>
              <a:gd name="connsiteX6" fmla="*/ 4333875 w 5076825"/>
              <a:gd name="connsiteY6" fmla="*/ 1697491 h 2164216"/>
              <a:gd name="connsiteX7" fmla="*/ 5076825 w 5076825"/>
              <a:gd name="connsiteY7" fmla="*/ 2164216 h 2164216"/>
              <a:gd name="connsiteX0" fmla="*/ 0 w 5076825"/>
              <a:gd name="connsiteY0" fmla="*/ 1630816 h 2164216"/>
              <a:gd name="connsiteX1" fmla="*/ 628650 w 5076825"/>
              <a:gd name="connsiteY1" fmla="*/ 1487941 h 2164216"/>
              <a:gd name="connsiteX2" fmla="*/ 1400175 w 5076825"/>
              <a:gd name="connsiteY2" fmla="*/ 735466 h 2164216"/>
              <a:gd name="connsiteX3" fmla="*/ 2228850 w 5076825"/>
              <a:gd name="connsiteY3" fmla="*/ 87766 h 2164216"/>
              <a:gd name="connsiteX4" fmla="*/ 3145288 w 5076825"/>
              <a:gd name="connsiteY4" fmla="*/ 68716 h 2164216"/>
              <a:gd name="connsiteX5" fmla="*/ 3876675 w 5076825"/>
              <a:gd name="connsiteY5" fmla="*/ 668791 h 2164216"/>
              <a:gd name="connsiteX6" fmla="*/ 4333875 w 5076825"/>
              <a:gd name="connsiteY6" fmla="*/ 1697491 h 2164216"/>
              <a:gd name="connsiteX7" fmla="*/ 5076825 w 5076825"/>
              <a:gd name="connsiteY7" fmla="*/ 2164216 h 2164216"/>
              <a:gd name="connsiteX0" fmla="*/ 0 w 4631745"/>
              <a:gd name="connsiteY0" fmla="*/ 1630816 h 1877969"/>
              <a:gd name="connsiteX1" fmla="*/ 628650 w 4631745"/>
              <a:gd name="connsiteY1" fmla="*/ 1487941 h 1877969"/>
              <a:gd name="connsiteX2" fmla="*/ 1400175 w 4631745"/>
              <a:gd name="connsiteY2" fmla="*/ 735466 h 1877969"/>
              <a:gd name="connsiteX3" fmla="*/ 2228850 w 4631745"/>
              <a:gd name="connsiteY3" fmla="*/ 87766 h 1877969"/>
              <a:gd name="connsiteX4" fmla="*/ 3145288 w 4631745"/>
              <a:gd name="connsiteY4" fmla="*/ 68716 h 1877969"/>
              <a:gd name="connsiteX5" fmla="*/ 3876675 w 4631745"/>
              <a:gd name="connsiteY5" fmla="*/ 668791 h 1877969"/>
              <a:gd name="connsiteX6" fmla="*/ 4333875 w 4631745"/>
              <a:gd name="connsiteY6" fmla="*/ 1697491 h 1877969"/>
              <a:gd name="connsiteX7" fmla="*/ 4631745 w 4631745"/>
              <a:gd name="connsiteY7" fmla="*/ 1877969 h 1877969"/>
              <a:gd name="connsiteX0" fmla="*/ 0 w 4631745"/>
              <a:gd name="connsiteY0" fmla="*/ 1630816 h 1877969"/>
              <a:gd name="connsiteX1" fmla="*/ 628650 w 4631745"/>
              <a:gd name="connsiteY1" fmla="*/ 1487941 h 1877969"/>
              <a:gd name="connsiteX2" fmla="*/ 1400175 w 4631745"/>
              <a:gd name="connsiteY2" fmla="*/ 735466 h 1877969"/>
              <a:gd name="connsiteX3" fmla="*/ 2228850 w 4631745"/>
              <a:gd name="connsiteY3" fmla="*/ 87766 h 1877969"/>
              <a:gd name="connsiteX4" fmla="*/ 3145288 w 4631745"/>
              <a:gd name="connsiteY4" fmla="*/ 68716 h 1877969"/>
              <a:gd name="connsiteX5" fmla="*/ 3876675 w 4631745"/>
              <a:gd name="connsiteY5" fmla="*/ 668791 h 1877969"/>
              <a:gd name="connsiteX6" fmla="*/ 4333875 w 4631745"/>
              <a:gd name="connsiteY6" fmla="*/ 1697491 h 1877969"/>
              <a:gd name="connsiteX7" fmla="*/ 4631745 w 4631745"/>
              <a:gd name="connsiteY7" fmla="*/ 1877969 h 1877969"/>
              <a:gd name="connsiteX0" fmla="*/ 0 w 4522574"/>
              <a:gd name="connsiteY0" fmla="*/ 1630816 h 2124460"/>
              <a:gd name="connsiteX1" fmla="*/ 628650 w 4522574"/>
              <a:gd name="connsiteY1" fmla="*/ 1487941 h 2124460"/>
              <a:gd name="connsiteX2" fmla="*/ 1400175 w 4522574"/>
              <a:gd name="connsiteY2" fmla="*/ 735466 h 2124460"/>
              <a:gd name="connsiteX3" fmla="*/ 2228850 w 4522574"/>
              <a:gd name="connsiteY3" fmla="*/ 87766 h 2124460"/>
              <a:gd name="connsiteX4" fmla="*/ 3145288 w 4522574"/>
              <a:gd name="connsiteY4" fmla="*/ 68716 h 2124460"/>
              <a:gd name="connsiteX5" fmla="*/ 3876675 w 4522574"/>
              <a:gd name="connsiteY5" fmla="*/ 668791 h 2124460"/>
              <a:gd name="connsiteX6" fmla="*/ 4333875 w 4522574"/>
              <a:gd name="connsiteY6" fmla="*/ 1697491 h 2124460"/>
              <a:gd name="connsiteX7" fmla="*/ 4522574 w 4522574"/>
              <a:gd name="connsiteY7" fmla="*/ 2124460 h 2124460"/>
              <a:gd name="connsiteX0" fmla="*/ 0 w 4522574"/>
              <a:gd name="connsiteY0" fmla="*/ 1630816 h 2124460"/>
              <a:gd name="connsiteX1" fmla="*/ 628650 w 4522574"/>
              <a:gd name="connsiteY1" fmla="*/ 1487941 h 2124460"/>
              <a:gd name="connsiteX2" fmla="*/ 1400175 w 4522574"/>
              <a:gd name="connsiteY2" fmla="*/ 735466 h 2124460"/>
              <a:gd name="connsiteX3" fmla="*/ 2228850 w 4522574"/>
              <a:gd name="connsiteY3" fmla="*/ 87766 h 2124460"/>
              <a:gd name="connsiteX4" fmla="*/ 3145288 w 4522574"/>
              <a:gd name="connsiteY4" fmla="*/ 68716 h 2124460"/>
              <a:gd name="connsiteX5" fmla="*/ 3876675 w 4522574"/>
              <a:gd name="connsiteY5" fmla="*/ 668791 h 2124460"/>
              <a:gd name="connsiteX6" fmla="*/ 4333875 w 4522574"/>
              <a:gd name="connsiteY6" fmla="*/ 1697491 h 2124460"/>
              <a:gd name="connsiteX7" fmla="*/ 4522574 w 4522574"/>
              <a:gd name="connsiteY7" fmla="*/ 2124460 h 2124460"/>
              <a:gd name="connsiteX0" fmla="*/ 0 w 4374997"/>
              <a:gd name="connsiteY0" fmla="*/ 1630816 h 1754817"/>
              <a:gd name="connsiteX1" fmla="*/ 628650 w 4374997"/>
              <a:gd name="connsiteY1" fmla="*/ 1487941 h 1754817"/>
              <a:gd name="connsiteX2" fmla="*/ 1400175 w 4374997"/>
              <a:gd name="connsiteY2" fmla="*/ 735466 h 1754817"/>
              <a:gd name="connsiteX3" fmla="*/ 2228850 w 4374997"/>
              <a:gd name="connsiteY3" fmla="*/ 87766 h 1754817"/>
              <a:gd name="connsiteX4" fmla="*/ 3145288 w 4374997"/>
              <a:gd name="connsiteY4" fmla="*/ 68716 h 1754817"/>
              <a:gd name="connsiteX5" fmla="*/ 3876675 w 4374997"/>
              <a:gd name="connsiteY5" fmla="*/ 668791 h 1754817"/>
              <a:gd name="connsiteX6" fmla="*/ 4333875 w 4374997"/>
              <a:gd name="connsiteY6" fmla="*/ 1697491 h 1754817"/>
              <a:gd name="connsiteX7" fmla="*/ 4312630 w 4374997"/>
              <a:gd name="connsiteY7" fmla="*/ 1671236 h 1754817"/>
              <a:gd name="connsiteX0" fmla="*/ 0 w 4403922"/>
              <a:gd name="connsiteY0" fmla="*/ 1630816 h 1804454"/>
              <a:gd name="connsiteX1" fmla="*/ 628650 w 4403922"/>
              <a:gd name="connsiteY1" fmla="*/ 1487941 h 1804454"/>
              <a:gd name="connsiteX2" fmla="*/ 1400175 w 4403922"/>
              <a:gd name="connsiteY2" fmla="*/ 735466 h 1804454"/>
              <a:gd name="connsiteX3" fmla="*/ 2228850 w 4403922"/>
              <a:gd name="connsiteY3" fmla="*/ 87766 h 1804454"/>
              <a:gd name="connsiteX4" fmla="*/ 3145288 w 4403922"/>
              <a:gd name="connsiteY4" fmla="*/ 68716 h 1804454"/>
              <a:gd name="connsiteX5" fmla="*/ 3876675 w 4403922"/>
              <a:gd name="connsiteY5" fmla="*/ 668791 h 1804454"/>
              <a:gd name="connsiteX6" fmla="*/ 4333875 w 4403922"/>
              <a:gd name="connsiteY6" fmla="*/ 1697491 h 1804454"/>
              <a:gd name="connsiteX7" fmla="*/ 4312630 w 4403922"/>
              <a:gd name="connsiteY7" fmla="*/ 1671236 h 180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3922" h="1804454">
                <a:moveTo>
                  <a:pt x="0" y="1630816"/>
                </a:moveTo>
                <a:cubicBezTo>
                  <a:pt x="121444" y="1710984"/>
                  <a:pt x="395288" y="1637166"/>
                  <a:pt x="628650" y="1487941"/>
                </a:cubicBezTo>
                <a:cubicBezTo>
                  <a:pt x="862012" y="1338716"/>
                  <a:pt x="1152525" y="1006928"/>
                  <a:pt x="1400175" y="735466"/>
                </a:cubicBezTo>
                <a:cubicBezTo>
                  <a:pt x="1647825" y="464004"/>
                  <a:pt x="1937998" y="198891"/>
                  <a:pt x="2228850" y="87766"/>
                </a:cubicBezTo>
                <a:cubicBezTo>
                  <a:pt x="2519702" y="-23359"/>
                  <a:pt x="2870651" y="-28121"/>
                  <a:pt x="3145288" y="68716"/>
                </a:cubicBezTo>
                <a:cubicBezTo>
                  <a:pt x="3419925" y="165553"/>
                  <a:pt x="3698697" y="387804"/>
                  <a:pt x="3876675" y="668791"/>
                </a:cubicBezTo>
                <a:cubicBezTo>
                  <a:pt x="4054653" y="949778"/>
                  <a:pt x="4174090" y="1448254"/>
                  <a:pt x="4333875" y="1697491"/>
                </a:cubicBezTo>
                <a:cubicBezTo>
                  <a:pt x="4493660" y="1946728"/>
                  <a:pt x="4332916" y="1684019"/>
                  <a:pt x="4312630" y="1671236"/>
                </a:cubicBezTo>
              </a:path>
            </a:pathLst>
          </a:cu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5483BE-B0FD-6550-BB21-D6080CBA2000}"/>
              </a:ext>
            </a:extLst>
          </p:cNvPr>
          <p:cNvCxnSpPr/>
          <p:nvPr/>
        </p:nvCxnSpPr>
        <p:spPr bwMode="auto">
          <a:xfrm rot="5400000">
            <a:off x="5583806" y="4408696"/>
            <a:ext cx="2844577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34">
            <a:extLst>
              <a:ext uri="{FF2B5EF4-FFF2-40B4-BE49-F238E27FC236}">
                <a16:creationId xmlns:a16="http://schemas.microsoft.com/office/drawing/2014/main" id="{7F59FB61-700F-C3B1-1BA5-62FE46E6FC12}"/>
              </a:ext>
            </a:extLst>
          </p:cNvPr>
          <p:cNvSpPr txBox="1"/>
          <p:nvPr/>
        </p:nvSpPr>
        <p:spPr bwMode="auto">
          <a:xfrm>
            <a:off x="6691902" y="2986584"/>
            <a:ext cx="642228" cy="3407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sz="1600" b="1" dirty="0">
                <a:latin typeface="+mn-lt"/>
                <a:cs typeface="+mn-cs"/>
              </a:rPr>
              <a:t>NOW</a:t>
            </a:r>
          </a:p>
        </p:txBody>
      </p:sp>
      <p:grpSp>
        <p:nvGrpSpPr>
          <p:cNvPr id="22" name="Gruppo 36">
            <a:extLst>
              <a:ext uri="{FF2B5EF4-FFF2-40B4-BE49-F238E27FC236}">
                <a16:creationId xmlns:a16="http://schemas.microsoft.com/office/drawing/2014/main" id="{28D0658E-EA2D-8449-1FC2-FF0770F457DD}"/>
              </a:ext>
            </a:extLst>
          </p:cNvPr>
          <p:cNvGrpSpPr/>
          <p:nvPr/>
        </p:nvGrpSpPr>
        <p:grpSpPr>
          <a:xfrm>
            <a:off x="6052401" y="4411049"/>
            <a:ext cx="574282" cy="574282"/>
            <a:chOff x="987338" y="3375874"/>
            <a:chExt cx="1260000" cy="1260000"/>
          </a:xfrm>
        </p:grpSpPr>
        <p:pic>
          <p:nvPicPr>
            <p:cNvPr id="23" name="Immagine 37">
              <a:extLst>
                <a:ext uri="{FF2B5EF4-FFF2-40B4-BE49-F238E27FC236}">
                  <a16:creationId xmlns:a16="http://schemas.microsoft.com/office/drawing/2014/main" id="{3CFDACCB-A6E9-977E-3DDE-53CD9A090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7338" y="3375874"/>
              <a:ext cx="1260000" cy="126000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4" name="Immagine 38">
              <a:extLst>
                <a:ext uri="{FF2B5EF4-FFF2-40B4-BE49-F238E27FC236}">
                  <a16:creationId xmlns:a16="http://schemas.microsoft.com/office/drawing/2014/main" id="{7FBAF632-A2EF-422C-2621-0D496BDC4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84327" y="3732443"/>
              <a:ext cx="252000" cy="252000"/>
            </a:xfrm>
            <a:prstGeom prst="rect">
              <a:avLst/>
            </a:prstGeom>
          </p:spPr>
        </p:pic>
        <p:pic>
          <p:nvPicPr>
            <p:cNvPr id="25" name="Immagine 39">
              <a:extLst>
                <a:ext uri="{FF2B5EF4-FFF2-40B4-BE49-F238E27FC236}">
                  <a16:creationId xmlns:a16="http://schemas.microsoft.com/office/drawing/2014/main" id="{196C59E7-53CB-89F6-46F1-C279B001C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94835" y="3732443"/>
              <a:ext cx="252000" cy="252000"/>
            </a:xfrm>
            <a:prstGeom prst="rect">
              <a:avLst/>
            </a:prstGeom>
          </p:spPr>
        </p:pic>
      </p:grpSp>
      <p:sp>
        <p:nvSpPr>
          <p:cNvPr id="26" name="CasellaDiTesto 41">
            <a:extLst>
              <a:ext uri="{FF2B5EF4-FFF2-40B4-BE49-F238E27FC236}">
                <a16:creationId xmlns:a16="http://schemas.microsoft.com/office/drawing/2014/main" id="{8A3B59DB-5DB3-E9CD-816F-678432BEB8D7}"/>
              </a:ext>
            </a:extLst>
          </p:cNvPr>
          <p:cNvSpPr txBox="1"/>
          <p:nvPr/>
        </p:nvSpPr>
        <p:spPr>
          <a:xfrm>
            <a:off x="8712084" y="5864113"/>
            <a:ext cx="72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  <a:endParaRPr lang="en-US" dirty="0"/>
          </a:p>
        </p:txBody>
      </p:sp>
      <p:sp>
        <p:nvSpPr>
          <p:cNvPr id="27" name="CasellaDiTesto 42">
            <a:extLst>
              <a:ext uri="{FF2B5EF4-FFF2-40B4-BE49-F238E27FC236}">
                <a16:creationId xmlns:a16="http://schemas.microsoft.com/office/drawing/2014/main" id="{118CF39E-21CB-5887-DC95-529FBF8C528F}"/>
              </a:ext>
            </a:extLst>
          </p:cNvPr>
          <p:cNvSpPr txBox="1"/>
          <p:nvPr/>
        </p:nvSpPr>
        <p:spPr>
          <a:xfrm rot="16200000">
            <a:off x="1265351" y="4177913"/>
            <a:ext cx="186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Glucose</a:t>
            </a:r>
            <a:r>
              <a:rPr lang="it-IT" dirty="0"/>
              <a:t> [mg/</a:t>
            </a:r>
            <a:r>
              <a:rPr lang="it-IT" dirty="0" err="1"/>
              <a:t>dL</a:t>
            </a:r>
            <a:r>
              <a:rPr lang="it-IT" dirty="0"/>
              <a:t>]</a:t>
            </a:r>
            <a:endParaRPr lang="en-US" dirty="0"/>
          </a:p>
        </p:txBody>
      </p:sp>
      <p:sp>
        <p:nvSpPr>
          <p:cNvPr id="28" name="CasellaDiTesto 44">
            <a:extLst>
              <a:ext uri="{FF2B5EF4-FFF2-40B4-BE49-F238E27FC236}">
                <a16:creationId xmlns:a16="http://schemas.microsoft.com/office/drawing/2014/main" id="{B39DC68C-0098-329D-0A0A-3179DB803B9A}"/>
              </a:ext>
            </a:extLst>
          </p:cNvPr>
          <p:cNvSpPr txBox="1"/>
          <p:nvPr/>
        </p:nvSpPr>
        <p:spPr>
          <a:xfrm>
            <a:off x="2303155" y="3469382"/>
            <a:ext cx="64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180 </a:t>
            </a:r>
          </a:p>
        </p:txBody>
      </p:sp>
      <p:sp>
        <p:nvSpPr>
          <p:cNvPr id="29" name="CasellaDiTesto 45">
            <a:extLst>
              <a:ext uri="{FF2B5EF4-FFF2-40B4-BE49-F238E27FC236}">
                <a16:creationId xmlns:a16="http://schemas.microsoft.com/office/drawing/2014/main" id="{1EAC762D-03FB-08E9-5414-0C17FACC1FC3}"/>
              </a:ext>
            </a:extLst>
          </p:cNvPr>
          <p:cNvSpPr txBox="1"/>
          <p:nvPr/>
        </p:nvSpPr>
        <p:spPr>
          <a:xfrm>
            <a:off x="2446015" y="4950847"/>
            <a:ext cx="45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 </a:t>
            </a:r>
          </a:p>
        </p:txBody>
      </p:sp>
      <p:sp>
        <p:nvSpPr>
          <p:cNvPr id="30" name="CasellaDiTesto 49">
            <a:extLst>
              <a:ext uri="{FF2B5EF4-FFF2-40B4-BE49-F238E27FC236}">
                <a16:creationId xmlns:a16="http://schemas.microsoft.com/office/drawing/2014/main" id="{89E797DF-4F01-4017-2847-4302006AE588}"/>
              </a:ext>
            </a:extLst>
          </p:cNvPr>
          <p:cNvSpPr txBox="1"/>
          <p:nvPr/>
        </p:nvSpPr>
        <p:spPr>
          <a:xfrm>
            <a:off x="6776223" y="5878114"/>
            <a:ext cx="45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 </a:t>
            </a:r>
          </a:p>
        </p:txBody>
      </p:sp>
      <p:sp>
        <p:nvSpPr>
          <p:cNvPr id="31" name="CasellaDiTesto 50">
            <a:extLst>
              <a:ext uri="{FF2B5EF4-FFF2-40B4-BE49-F238E27FC236}">
                <a16:creationId xmlns:a16="http://schemas.microsoft.com/office/drawing/2014/main" id="{E7516834-16F2-1953-C7CC-F600C7F80440}"/>
              </a:ext>
            </a:extLst>
          </p:cNvPr>
          <p:cNvSpPr txBox="1"/>
          <p:nvPr/>
        </p:nvSpPr>
        <p:spPr>
          <a:xfrm>
            <a:off x="6154622" y="5878114"/>
            <a:ext cx="45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</a:t>
            </a:r>
          </a:p>
        </p:txBody>
      </p:sp>
      <p:sp>
        <p:nvSpPr>
          <p:cNvPr id="32" name="CasellaDiTesto 51">
            <a:extLst>
              <a:ext uri="{FF2B5EF4-FFF2-40B4-BE49-F238E27FC236}">
                <a16:creationId xmlns:a16="http://schemas.microsoft.com/office/drawing/2014/main" id="{D3598A9C-A7A1-B8B1-1483-D4A5C404DDCF}"/>
              </a:ext>
            </a:extLst>
          </p:cNvPr>
          <p:cNvSpPr txBox="1"/>
          <p:nvPr/>
        </p:nvSpPr>
        <p:spPr>
          <a:xfrm>
            <a:off x="7406799" y="5878114"/>
            <a:ext cx="45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/>
              <a:t> </a:t>
            </a:r>
          </a:p>
        </p:txBody>
      </p:sp>
      <p:sp>
        <p:nvSpPr>
          <p:cNvPr id="33" name="Figura a mano libera: forma 2">
            <a:extLst>
              <a:ext uri="{FF2B5EF4-FFF2-40B4-BE49-F238E27FC236}">
                <a16:creationId xmlns:a16="http://schemas.microsoft.com/office/drawing/2014/main" id="{BFC50614-F84B-7C72-9EA8-3D471730F982}"/>
              </a:ext>
            </a:extLst>
          </p:cNvPr>
          <p:cNvSpPr/>
          <p:nvPr/>
        </p:nvSpPr>
        <p:spPr>
          <a:xfrm>
            <a:off x="7026807" y="4681129"/>
            <a:ext cx="1035962" cy="422637"/>
          </a:xfrm>
          <a:custGeom>
            <a:avLst/>
            <a:gdLst>
              <a:gd name="connsiteX0" fmla="*/ 0 w 1063256"/>
              <a:gd name="connsiteY0" fmla="*/ 120765 h 504434"/>
              <a:gd name="connsiteX1" fmla="*/ 340242 w 1063256"/>
              <a:gd name="connsiteY1" fmla="*/ 503537 h 504434"/>
              <a:gd name="connsiteX2" fmla="*/ 829340 w 1063256"/>
              <a:gd name="connsiteY2" fmla="*/ 25072 h 504434"/>
              <a:gd name="connsiteX3" fmla="*/ 1063256 w 1063256"/>
              <a:gd name="connsiteY3" fmla="*/ 110132 h 504434"/>
              <a:gd name="connsiteX0" fmla="*/ 0 w 1026862"/>
              <a:gd name="connsiteY0" fmla="*/ 430115 h 566980"/>
              <a:gd name="connsiteX1" fmla="*/ 303848 w 1026862"/>
              <a:gd name="connsiteY1" fmla="*/ 503537 h 566980"/>
              <a:gd name="connsiteX2" fmla="*/ 792946 w 1026862"/>
              <a:gd name="connsiteY2" fmla="*/ 25072 h 566980"/>
              <a:gd name="connsiteX3" fmla="*/ 1026862 w 1026862"/>
              <a:gd name="connsiteY3" fmla="*/ 110132 h 566980"/>
              <a:gd name="connsiteX0" fmla="*/ 0 w 1026862"/>
              <a:gd name="connsiteY0" fmla="*/ 430115 h 519739"/>
              <a:gd name="connsiteX1" fmla="*/ 353890 w 1026862"/>
              <a:gd name="connsiteY1" fmla="*/ 376158 h 519739"/>
              <a:gd name="connsiteX2" fmla="*/ 792946 w 1026862"/>
              <a:gd name="connsiteY2" fmla="*/ 25072 h 519739"/>
              <a:gd name="connsiteX3" fmla="*/ 1026862 w 1026862"/>
              <a:gd name="connsiteY3" fmla="*/ 110132 h 519739"/>
              <a:gd name="connsiteX0" fmla="*/ 0 w 1181537"/>
              <a:gd name="connsiteY0" fmla="*/ 415793 h 505417"/>
              <a:gd name="connsiteX1" fmla="*/ 353890 w 1181537"/>
              <a:gd name="connsiteY1" fmla="*/ 361836 h 505417"/>
              <a:gd name="connsiteX2" fmla="*/ 792946 w 1181537"/>
              <a:gd name="connsiteY2" fmla="*/ 10750 h 505417"/>
              <a:gd name="connsiteX3" fmla="*/ 1181537 w 1181537"/>
              <a:gd name="connsiteY3" fmla="*/ 273230 h 505417"/>
              <a:gd name="connsiteX0" fmla="*/ 0 w 1181537"/>
              <a:gd name="connsiteY0" fmla="*/ 231231 h 313821"/>
              <a:gd name="connsiteX1" fmla="*/ 353890 w 1181537"/>
              <a:gd name="connsiteY1" fmla="*/ 177274 h 313821"/>
              <a:gd name="connsiteX2" fmla="*/ 683764 w 1181537"/>
              <a:gd name="connsiteY2" fmla="*/ 30905 h 313821"/>
              <a:gd name="connsiteX3" fmla="*/ 1181537 w 1181537"/>
              <a:gd name="connsiteY3" fmla="*/ 88668 h 313821"/>
              <a:gd name="connsiteX0" fmla="*/ 0 w 1181537"/>
              <a:gd name="connsiteY0" fmla="*/ 231231 h 330723"/>
              <a:gd name="connsiteX1" fmla="*/ 399382 w 1181537"/>
              <a:gd name="connsiteY1" fmla="*/ 240963 h 330723"/>
              <a:gd name="connsiteX2" fmla="*/ 683764 w 1181537"/>
              <a:gd name="connsiteY2" fmla="*/ 30905 h 330723"/>
              <a:gd name="connsiteX3" fmla="*/ 1181537 w 1181537"/>
              <a:gd name="connsiteY3" fmla="*/ 88668 h 330723"/>
              <a:gd name="connsiteX0" fmla="*/ 0 w 1181537"/>
              <a:gd name="connsiteY0" fmla="*/ 325138 h 429577"/>
              <a:gd name="connsiteX1" fmla="*/ 399382 w 1181537"/>
              <a:gd name="connsiteY1" fmla="*/ 334870 h 429577"/>
              <a:gd name="connsiteX2" fmla="*/ 647370 w 1181537"/>
              <a:gd name="connsiteY2" fmla="*/ 15630 h 429577"/>
              <a:gd name="connsiteX3" fmla="*/ 1181537 w 1181537"/>
              <a:gd name="connsiteY3" fmla="*/ 182575 h 429577"/>
              <a:gd name="connsiteX0" fmla="*/ 0 w 872188"/>
              <a:gd name="connsiteY0" fmla="*/ 319371 h 423810"/>
              <a:gd name="connsiteX1" fmla="*/ 399382 w 872188"/>
              <a:gd name="connsiteY1" fmla="*/ 329103 h 423810"/>
              <a:gd name="connsiteX2" fmla="*/ 647370 w 872188"/>
              <a:gd name="connsiteY2" fmla="*/ 9863 h 423810"/>
              <a:gd name="connsiteX3" fmla="*/ 872188 w 872188"/>
              <a:gd name="connsiteY3" fmla="*/ 299638 h 423810"/>
              <a:gd name="connsiteX0" fmla="*/ 0 w 872188"/>
              <a:gd name="connsiteY0" fmla="*/ 319371 h 404531"/>
              <a:gd name="connsiteX1" fmla="*/ 344791 w 872188"/>
              <a:gd name="connsiteY1" fmla="*/ 260865 h 404531"/>
              <a:gd name="connsiteX2" fmla="*/ 647370 w 872188"/>
              <a:gd name="connsiteY2" fmla="*/ 9863 h 404531"/>
              <a:gd name="connsiteX3" fmla="*/ 872188 w 872188"/>
              <a:gd name="connsiteY3" fmla="*/ 299638 h 404531"/>
              <a:gd name="connsiteX0" fmla="*/ 0 w 872188"/>
              <a:gd name="connsiteY0" fmla="*/ 319371 h 415605"/>
              <a:gd name="connsiteX1" fmla="*/ 344791 w 872188"/>
              <a:gd name="connsiteY1" fmla="*/ 260865 h 415605"/>
              <a:gd name="connsiteX2" fmla="*/ 647370 w 872188"/>
              <a:gd name="connsiteY2" fmla="*/ 9863 h 415605"/>
              <a:gd name="connsiteX3" fmla="*/ 872188 w 872188"/>
              <a:gd name="connsiteY3" fmla="*/ 299638 h 415605"/>
              <a:gd name="connsiteX0" fmla="*/ 0 w 1035962"/>
              <a:gd name="connsiteY0" fmla="*/ 363130 h 459364"/>
              <a:gd name="connsiteX1" fmla="*/ 344791 w 1035962"/>
              <a:gd name="connsiteY1" fmla="*/ 304624 h 459364"/>
              <a:gd name="connsiteX2" fmla="*/ 647370 w 1035962"/>
              <a:gd name="connsiteY2" fmla="*/ 53622 h 459364"/>
              <a:gd name="connsiteX3" fmla="*/ 1035962 w 1035962"/>
              <a:gd name="connsiteY3" fmla="*/ 52245 h 459364"/>
              <a:gd name="connsiteX0" fmla="*/ 0 w 1035962"/>
              <a:gd name="connsiteY0" fmla="*/ 326403 h 422637"/>
              <a:gd name="connsiteX1" fmla="*/ 344791 w 1035962"/>
              <a:gd name="connsiteY1" fmla="*/ 267897 h 422637"/>
              <a:gd name="connsiteX2" fmla="*/ 647370 w 1035962"/>
              <a:gd name="connsiteY2" fmla="*/ 16895 h 422637"/>
              <a:gd name="connsiteX3" fmla="*/ 1035962 w 1035962"/>
              <a:gd name="connsiteY3" fmla="*/ 15518 h 42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5962" h="422637">
                <a:moveTo>
                  <a:pt x="0" y="326403"/>
                </a:moveTo>
                <a:cubicBezTo>
                  <a:pt x="101009" y="525763"/>
                  <a:pt x="236896" y="369524"/>
                  <a:pt x="344791" y="267897"/>
                </a:cubicBezTo>
                <a:cubicBezTo>
                  <a:pt x="452686" y="166270"/>
                  <a:pt x="526868" y="82462"/>
                  <a:pt x="647370" y="16895"/>
                </a:cubicBezTo>
                <a:cubicBezTo>
                  <a:pt x="767872" y="-48672"/>
                  <a:pt x="888270" y="103977"/>
                  <a:pt x="1035962" y="15518"/>
                </a:cubicBezTo>
              </a:path>
            </a:pathLst>
          </a:cu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e 5">
            <a:extLst>
              <a:ext uri="{FF2B5EF4-FFF2-40B4-BE49-F238E27FC236}">
                <a16:creationId xmlns:a16="http://schemas.microsoft.com/office/drawing/2014/main" id="{8EEC1F11-C2ED-ED86-0256-CBB9EE6A3A54}"/>
              </a:ext>
            </a:extLst>
          </p:cNvPr>
          <p:cNvSpPr/>
          <p:nvPr/>
        </p:nvSpPr>
        <p:spPr>
          <a:xfrm>
            <a:off x="7606483" y="5396462"/>
            <a:ext cx="75405" cy="7903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Immagine 47">
            <a:extLst>
              <a:ext uri="{FF2B5EF4-FFF2-40B4-BE49-F238E27FC236}">
                <a16:creationId xmlns:a16="http://schemas.microsoft.com/office/drawing/2014/main" id="{4BA3589F-9B3B-7A03-D273-3E109E5C8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266" y="5250423"/>
            <a:ext cx="445361" cy="445361"/>
          </a:xfrm>
          <a:prstGeom prst="rect">
            <a:avLst/>
          </a:prstGeom>
        </p:spPr>
      </p:pic>
      <p:sp>
        <p:nvSpPr>
          <p:cNvPr id="36" name="Rettangolo 25">
            <a:extLst>
              <a:ext uri="{FF2B5EF4-FFF2-40B4-BE49-F238E27FC236}">
                <a16:creationId xmlns:a16="http://schemas.microsoft.com/office/drawing/2014/main" id="{66D4D321-DF5B-7D45-6D21-DF0C86049528}"/>
              </a:ext>
            </a:extLst>
          </p:cNvPr>
          <p:cNvSpPr/>
          <p:nvPr/>
        </p:nvSpPr>
        <p:spPr>
          <a:xfrm>
            <a:off x="7368778" y="3689725"/>
            <a:ext cx="556707" cy="5567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93D87815-CBCB-1D35-FB46-D34F27388F1E}"/>
              </a:ext>
            </a:extLst>
          </p:cNvPr>
          <p:cNvSpPr txBox="1"/>
          <p:nvPr/>
        </p:nvSpPr>
        <p:spPr>
          <a:xfrm>
            <a:off x="6706181" y="4200240"/>
            <a:ext cx="1951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 err="1">
                <a:latin typeface="Aptos" panose="020B0004020202020204" pitchFamily="34" charset="0"/>
              </a:rPr>
              <a:t>Predictive</a:t>
            </a:r>
            <a:endParaRPr lang="it-IT" sz="1200" b="1" dirty="0">
              <a:latin typeface="Aptos" panose="020B0004020202020204" pitchFamily="34" charset="0"/>
            </a:endParaRPr>
          </a:p>
          <a:p>
            <a:pPr algn="ctr"/>
            <a:r>
              <a:rPr lang="it-IT" sz="1200" b="1" dirty="0" err="1">
                <a:latin typeface="Aptos" panose="020B0004020202020204" pitchFamily="34" charset="0"/>
              </a:rPr>
              <a:t>algorithm</a:t>
            </a:r>
            <a:endParaRPr lang="en-IT" sz="1200" b="1" dirty="0">
              <a:latin typeface="Aptos" panose="020B0004020202020204" pitchFamily="34" charset="0"/>
            </a:endParaRPr>
          </a:p>
        </p:txBody>
      </p:sp>
      <p:pic>
        <p:nvPicPr>
          <p:cNvPr id="38" name="Picture 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1FA9668-0594-0B4B-7B93-8D5F1FB3EE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70" y="3776180"/>
            <a:ext cx="444229" cy="44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9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33" grpId="0" animBg="1"/>
      <p:bldP spid="34" grpId="0" animBg="1"/>
      <p:bldP spid="37" grpId="0"/>
      <p:bldP spid="3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F1E0-45BE-71DC-67EA-7F7230FA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BEAB65-C571-F295-DAD8-5A5F5844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Aim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5A4734-F2CD-3091-2222-17A4D125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D1401986-2B65-5D73-12BB-F43D91AE971B}"/>
              </a:ext>
            </a:extLst>
          </p:cNvPr>
          <p:cNvSpPr txBox="1">
            <a:spLocks/>
          </p:cNvSpPr>
          <p:nvPr/>
        </p:nvSpPr>
        <p:spPr>
          <a:xfrm>
            <a:off x="1372069" y="4997668"/>
            <a:ext cx="3937351" cy="11819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/>
              <a:t>Part 1</a:t>
            </a:r>
          </a:p>
          <a:p>
            <a:pPr marL="0" indent="0" algn="ctr">
              <a:buNone/>
            </a:pPr>
            <a:r>
              <a:rPr lang="en-US" sz="2800" dirty="0"/>
              <a:t>Build a 30-minute glucose prediction model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DE83BF-1212-FF02-1D31-4D5265B4DA41}"/>
              </a:ext>
            </a:extLst>
          </p:cNvPr>
          <p:cNvSpPr txBox="1">
            <a:spLocks/>
          </p:cNvSpPr>
          <p:nvPr/>
        </p:nvSpPr>
        <p:spPr>
          <a:xfrm>
            <a:off x="6641924" y="5005042"/>
            <a:ext cx="3937351" cy="11819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/>
              <a:t>Part 2</a:t>
            </a:r>
          </a:p>
          <a:p>
            <a:pPr marL="0" indent="0" algn="ctr">
              <a:buNone/>
            </a:pPr>
            <a:r>
              <a:rPr lang="en-US" sz="2800" dirty="0"/>
              <a:t>Integrate the model in a Flutter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88E73-4B52-5F20-2992-81F1CD227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686" y="1860332"/>
            <a:ext cx="2748116" cy="2748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2668F8-3322-446C-4C9C-02C650878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661" y="1640949"/>
            <a:ext cx="3186882" cy="318688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3E1367A-7812-D143-E136-5D5C253A1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9345" y="2612589"/>
            <a:ext cx="1001514" cy="124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73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EEF6-F250-96F2-CB03-924FEA543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7957FA-7CC3-8016-D994-8769FAF7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Aim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8E91C9-6812-8258-94F4-FAF92CF3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2C696B62-4AA5-B4BC-9FD5-FA4C2B89616B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Build a 30-minute glucose prediction model</a:t>
            </a:r>
          </a:p>
          <a:p>
            <a:pPr lvl="1"/>
            <a:r>
              <a:rPr lang="en-US" sz="1800" dirty="0"/>
              <a:t>Predict future CGM values using current CGM and Rate of Change</a:t>
            </a:r>
          </a:p>
          <a:p>
            <a:pPr lvl="1"/>
            <a:r>
              <a:rPr lang="en-US" sz="1800" dirty="0"/>
              <a:t>Train on real-world clinical data (ReplaceBG dataset)</a:t>
            </a:r>
          </a:p>
          <a:p>
            <a:endParaRPr lang="en-US" dirty="0"/>
          </a:p>
          <a:p>
            <a:r>
              <a:rPr lang="en-US" sz="2000" dirty="0"/>
              <a:t>Learn the full Python ML pipeline</a:t>
            </a:r>
          </a:p>
          <a:p>
            <a:pPr lvl="1"/>
            <a:r>
              <a:rPr lang="en-US" sz="1800" dirty="0"/>
              <a:t>Data loading &amp; preprocessing</a:t>
            </a:r>
          </a:p>
          <a:p>
            <a:pPr lvl="1"/>
            <a:r>
              <a:rPr lang="en-US" sz="1800" dirty="0"/>
              <a:t>Feature engineering</a:t>
            </a:r>
          </a:p>
          <a:p>
            <a:pPr lvl="1"/>
            <a:r>
              <a:rPr lang="en-US" sz="1800" dirty="0"/>
              <a:t>Model training, evaluation, and export</a:t>
            </a:r>
          </a:p>
          <a:p>
            <a:endParaRPr lang="en-US" dirty="0"/>
          </a:p>
          <a:p>
            <a:r>
              <a:rPr lang="en-US" sz="2000" dirty="0"/>
              <a:t>Prepare for Flutter integration (Part 2)</a:t>
            </a:r>
          </a:p>
          <a:p>
            <a:pPr lvl="1"/>
            <a:r>
              <a:rPr lang="en-US" sz="1800" dirty="0"/>
              <a:t>Export model as a portable JSON file</a:t>
            </a:r>
          </a:p>
          <a:p>
            <a:pPr lvl="1"/>
            <a:r>
              <a:rPr lang="en-US" sz="1800" dirty="0"/>
              <a:t>Re-implement the prediction formula in Dart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0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The Dataset – ReplaceBG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We will use data coming from the </a:t>
            </a:r>
            <a:r>
              <a:rPr lang="en-US" sz="2000" dirty="0" err="1"/>
              <a:t>ReplaceBG</a:t>
            </a:r>
            <a:r>
              <a:rPr lang="en-US" sz="2000" dirty="0"/>
              <a:t> clinical trial (</a:t>
            </a:r>
            <a:r>
              <a:rPr lang="en-US" sz="2000" dirty="0">
                <a:hlinkClick r:id="rId2"/>
              </a:rPr>
              <a:t>https://pmc.ncbi.nlm.nih.gov/articles/PMC5864100/</a:t>
            </a:r>
            <a:r>
              <a:rPr lang="en-US" sz="2000" dirty="0"/>
              <a:t>)</a:t>
            </a:r>
          </a:p>
          <a:p>
            <a:pPr lvl="1"/>
            <a:r>
              <a:rPr lang="en-US" sz="1800" dirty="0"/>
              <a:t>Studied whether CGM can replace blood glucose for insulin dosing decisions</a:t>
            </a:r>
          </a:p>
          <a:p>
            <a:pPr lvl="1"/>
            <a:r>
              <a:rPr lang="en-US" sz="1800" dirty="0"/>
              <a:t>Conducted by the T1D Exchange consortium</a:t>
            </a:r>
          </a:p>
          <a:p>
            <a:pPr lvl="1"/>
            <a:r>
              <a:rPr lang="en-US" sz="1800" dirty="0"/>
              <a:t>Available freely thanks to the </a:t>
            </a:r>
            <a:r>
              <a:rPr lang="en-US" sz="1800" dirty="0" err="1"/>
              <a:t>MetaboNet</a:t>
            </a:r>
            <a:r>
              <a:rPr lang="en-US" sz="1800" dirty="0"/>
              <a:t> initiative: </a:t>
            </a:r>
            <a:r>
              <a:rPr lang="en-US" sz="1800" dirty="0">
                <a:hlinkClick r:id="rId3"/>
              </a:rPr>
              <a:t>https://metabo-net.org/data</a:t>
            </a:r>
            <a:r>
              <a:rPr lang="en-US" sz="1800" dirty="0"/>
              <a:t> </a:t>
            </a:r>
          </a:p>
          <a:p>
            <a:endParaRPr lang="en-US" dirty="0"/>
          </a:p>
          <a:p>
            <a:r>
              <a:rPr lang="en-US" sz="2000" dirty="0"/>
              <a:t>Dataset characteristics</a:t>
            </a:r>
          </a:p>
          <a:p>
            <a:pPr lvl="1"/>
            <a:r>
              <a:rPr lang="en-US" sz="1800" dirty="0"/>
              <a:t>~226 Type 1 Diabetes patients</a:t>
            </a:r>
          </a:p>
          <a:p>
            <a:pPr lvl="1"/>
            <a:r>
              <a:rPr lang="en-US" sz="1800" dirty="0"/>
              <a:t>CGM readings sampled every 5 minutes</a:t>
            </a:r>
          </a:p>
          <a:p>
            <a:pPr lvl="1"/>
            <a:r>
              <a:rPr lang="en-US" sz="1800" dirty="0"/>
              <a:t>Columns: date (timestamp), CGM (mg/dL), id (patient)</a:t>
            </a:r>
          </a:p>
          <a:p>
            <a:endParaRPr lang="en-US" dirty="0"/>
          </a:p>
          <a:p>
            <a:r>
              <a:rPr lang="en-US" sz="2000" dirty="0"/>
              <a:t>Available as a Parquet file</a:t>
            </a:r>
          </a:p>
          <a:p>
            <a:pPr lvl="1"/>
            <a:r>
              <a:rPr lang="en-US" sz="1800" dirty="0"/>
              <a:t>Efficient columnar binary format</a:t>
            </a:r>
          </a:p>
          <a:p>
            <a:pPr lvl="1"/>
            <a:r>
              <a:rPr lang="en-US" sz="1800" dirty="0"/>
              <a:t>Loaded with pandas + pyarrow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df = pd.read_parquet('data/ReplaceBG.parquet')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9682F-FF95-CC11-58E1-A8DB0B000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496" y="3312447"/>
            <a:ext cx="2510094" cy="284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Setting Up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Requirements</a:t>
            </a:r>
          </a:p>
          <a:p>
            <a:pPr lvl="1"/>
            <a:r>
              <a:rPr lang="en-US" sz="1800" dirty="0"/>
              <a:t>Python 3.10+</a:t>
            </a:r>
          </a:p>
          <a:p>
            <a:pPr lvl="1"/>
            <a:r>
              <a:rPr lang="en-US" sz="1800" dirty="0"/>
              <a:t>numpy, pandas, scikit-learn, </a:t>
            </a:r>
            <a:r>
              <a:rPr lang="en-US" sz="1800" dirty="0" err="1"/>
              <a:t>pyarrow</a:t>
            </a:r>
            <a:endParaRPr lang="en-US" sz="1800" dirty="0"/>
          </a:p>
          <a:p>
            <a:pPr lvl="1"/>
            <a:r>
              <a:rPr lang="en-US" sz="1800" dirty="0"/>
              <a:t>I provided a requirements file for convenience </a:t>
            </a:r>
            <a:r>
              <a:rPr lang="en-US" sz="1600" dirty="0">
                <a:latin typeface="Consolas" panose="020B0609020204030204" pitchFamily="49" charset="0"/>
              </a:rPr>
              <a:t>(pip install -r </a:t>
            </a:r>
            <a:r>
              <a:rPr lang="en-US" sz="1600" dirty="0" err="1">
                <a:latin typeface="Consolas" panose="020B0609020204030204" pitchFamily="49" charset="0"/>
              </a:rPr>
              <a:t>requirements.txt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  <a:p>
            <a:r>
              <a:rPr lang="en-US" sz="2000" dirty="0"/>
              <a:t>Project structure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predict_glucose/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data/ReplaceBG.parquet   # input data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main.py                  # training script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model/cgm_forecast.json  # exported model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requirements.txt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Step 1: Preparing the Data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Load and filter</a:t>
            </a:r>
          </a:p>
          <a:p>
            <a:pPr lvl="1"/>
            <a:r>
              <a:rPr lang="en-US" sz="1800" dirty="0"/>
              <a:t>Keep only CGM, date, id columns</a:t>
            </a:r>
          </a:p>
          <a:p>
            <a:pPr lvl="1"/>
            <a:r>
              <a:rPr lang="en-US" sz="1800" dirty="0"/>
              <a:t>Sort each patient's readings by timestamp</a:t>
            </a:r>
          </a:p>
          <a:p>
            <a:endParaRPr lang="en-US" dirty="0"/>
          </a:p>
          <a:p>
            <a:r>
              <a:rPr lang="en-US" sz="2000" dirty="0"/>
              <a:t>Patient-level train/test split</a:t>
            </a:r>
          </a:p>
          <a:p>
            <a:pPr lvl="1"/>
            <a:r>
              <a:rPr lang="en-US" sz="1800" dirty="0"/>
              <a:t>80% of patients → training set</a:t>
            </a:r>
          </a:p>
          <a:p>
            <a:pPr lvl="1"/>
            <a:r>
              <a:rPr lang="en-US" sz="1800" dirty="0"/>
              <a:t>20% of patients → test set</a:t>
            </a:r>
          </a:p>
          <a:p>
            <a:pPr lvl="1"/>
            <a:r>
              <a:rPr lang="en-US" sz="1800" dirty="0"/>
              <a:t>Avoids data leakage across patients</a:t>
            </a:r>
          </a:p>
          <a:p>
            <a:endParaRPr lang="en-US" dirty="0"/>
          </a:p>
          <a:p>
            <a:r>
              <a:rPr lang="en-US" sz="2000" dirty="0"/>
              <a:t>Build the target vector Y</a:t>
            </a:r>
          </a:p>
          <a:p>
            <a:pPr lvl="1"/>
            <a:r>
              <a:rPr lang="en-US" sz="1800" dirty="0"/>
              <a:t>Shift CGM by 6 samples = 30 minutes ahead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Y[t] = CGM[t + 6]</a:t>
            </a:r>
          </a:p>
          <a:p>
            <a:pPr lvl="1"/>
            <a:r>
              <a:rPr lang="en-US" sz="1800" dirty="0"/>
              <a:t>Drop rows with NaN (edges of the time series)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2F368-521A-C835-405C-B260DF44B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465" y="2529144"/>
            <a:ext cx="2551470" cy="25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Step 2: Feature Extraction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13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Feature 1 – Current CGM value</a:t>
            </a:r>
          </a:p>
          <a:p>
            <a:pPr lvl="1"/>
            <a:r>
              <a:rPr lang="en-US" sz="1800" dirty="0"/>
              <a:t>Most informative single predictor of near-future glucose</a:t>
            </a:r>
          </a:p>
          <a:p>
            <a:pPr lvl="1"/>
            <a:r>
              <a:rPr lang="en-US" sz="1800" dirty="0"/>
              <a:t>Captures the current glucose level</a:t>
            </a:r>
          </a:p>
          <a:p>
            <a:endParaRPr lang="en-US" dirty="0"/>
          </a:p>
          <a:p>
            <a:r>
              <a:rPr lang="en-US" sz="2000" dirty="0"/>
              <a:t>Feature 2 – Rate of Change (ROC)</a:t>
            </a:r>
          </a:p>
          <a:p>
            <a:pPr lvl="1"/>
            <a:r>
              <a:rPr lang="en-US" sz="1800" dirty="0"/>
              <a:t>Glucose velocity over the last 15 minutes (3 samples)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ROC[t] = (CGM[t] - CGM[t-3]) / 15   # mg/dL/min</a:t>
            </a:r>
          </a:p>
          <a:p>
            <a:pPr lvl="1"/>
            <a:r>
              <a:rPr lang="en-US" sz="1800" dirty="0"/>
              <a:t>Captures the glucose trend (rising, stable, falling)</a:t>
            </a:r>
          </a:p>
          <a:p>
            <a:endParaRPr lang="en-US" dirty="0"/>
          </a:p>
          <a:p>
            <a:r>
              <a:rPr lang="en-US" sz="2000" dirty="0"/>
              <a:t>Final feature matrix X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X = [CGM,  ROC]  →  shape: (N_samples, 2)</a:t>
            </a:r>
          </a:p>
          <a:p>
            <a:pPr lvl="1"/>
            <a:r>
              <a:rPr lang="en-US" sz="1800" dirty="0"/>
              <a:t>Simple yet physiologically meaningful</a:t>
            </a:r>
          </a:p>
          <a:p>
            <a:pPr lvl="1"/>
            <a:r>
              <a:rPr lang="en-US" sz="1800" dirty="0"/>
              <a:t>Easy to compute in real-time on a mobile device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E0860-DAD5-97F3-F822-AFDB8810C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302" y="2571560"/>
            <a:ext cx="2723112" cy="272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Step 3: Model selection and training pipeline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sklearn Pipeline</a:t>
            </a:r>
          </a:p>
          <a:p>
            <a:pPr lvl="1"/>
            <a:r>
              <a:rPr lang="en-US" sz="1800" dirty="0"/>
              <a:t>StandardScaler: zero-mean, unit-variance normalization</a:t>
            </a:r>
          </a:p>
          <a:p>
            <a:pPr lvl="1"/>
            <a:r>
              <a:rPr lang="en-US" sz="1800" dirty="0"/>
              <a:t>LinearRegression: learns weights for CGM and ROC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model = make_pipeline(StandardScaler(), LinearRegression())</a:t>
            </a:r>
          </a:p>
          <a:p>
            <a:endParaRPr lang="en-US" dirty="0"/>
          </a:p>
          <a:p>
            <a:r>
              <a:rPr lang="en-US" sz="2000" dirty="0"/>
              <a:t>Why linear regression?</a:t>
            </a:r>
          </a:p>
          <a:p>
            <a:pPr lvl="1"/>
            <a:r>
              <a:rPr lang="en-US" sz="1800" dirty="0"/>
              <a:t>Simple and interpretable</a:t>
            </a:r>
          </a:p>
          <a:p>
            <a:pPr lvl="1"/>
            <a:r>
              <a:rPr lang="en-US" sz="1800" dirty="0"/>
              <a:t>Prediction formula can be trivially re-implemented in Dart/Flutter</a:t>
            </a:r>
          </a:p>
          <a:p>
            <a:pPr lvl="1"/>
            <a:r>
              <a:rPr lang="en-US" sz="1800" dirty="0"/>
              <a:t>Fast inference: a single dot product</a:t>
            </a:r>
          </a:p>
          <a:p>
            <a:endParaRPr lang="en-US" dirty="0"/>
          </a:p>
          <a:p>
            <a:r>
              <a:rPr lang="en-US" sz="2000" dirty="0"/>
              <a:t>Training</a:t>
            </a:r>
          </a:p>
          <a:p>
            <a:pPr lvl="1"/>
            <a:r>
              <a:rPr lang="en-US" sz="1600" dirty="0" err="1">
                <a:latin typeface="Consolas" panose="020B0609020204030204" pitchFamily="49" charset="0"/>
              </a:rPr>
              <a:t>model.fit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X_train</a:t>
            </a:r>
            <a:r>
              <a:rPr lang="en-US" sz="1600" dirty="0">
                <a:latin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</a:rPr>
              <a:t>Y_train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800" dirty="0"/>
              <a:t>Fits scaler parameters and regression coefficients on training patients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68A0-5391-4153-3767-A0C3929E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97D7A-B6CC-FB78-031F-78C39585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Step 4: Learning the model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D29F9D-D786-E6C3-6D96-E43A4541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15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E8429AEC-4574-00E3-BA13-805591BA6EB4}"/>
              </a:ext>
            </a:extLst>
          </p:cNvPr>
          <p:cNvSpPr txBox="1">
            <a:spLocks/>
          </p:cNvSpPr>
          <p:nvPr/>
        </p:nvSpPr>
        <p:spPr>
          <a:xfrm>
            <a:off x="428172" y="1509675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Learned prediction formula</a:t>
            </a:r>
          </a:p>
          <a:p>
            <a:endParaRPr lang="en-US" sz="3200" dirty="0"/>
          </a:p>
          <a:p>
            <a:pPr lvl="1"/>
            <a:r>
              <a:rPr lang="en-US" sz="2400" dirty="0">
                <a:latin typeface="Consolas" panose="020B0609020204030204" pitchFamily="49" charset="0"/>
              </a:rPr>
              <a:t>Y = 58.40 * (CGM - 159.70)/64.55 + 11.84 * (ROC + 0.001)/0.952 + 159.66</a:t>
            </a:r>
          </a:p>
          <a:p>
            <a:pPr lvl="1"/>
            <a:endParaRPr lang="en-US" sz="24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457200" lvl="1" indent="0" algn="ctr">
              <a:buNone/>
            </a:pPr>
            <a:r>
              <a:rPr lang="en-US" sz="3200" dirty="0">
                <a:latin typeface="Consolas" panose="020B0609020204030204" pitchFamily="49" charset="0"/>
              </a:rPr>
              <a:t>Y = 0.905*CGM + 12.44*ROC + 15.21</a:t>
            </a: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lvl="1"/>
            <a:r>
              <a:rPr lang="en-US" sz="2800" dirty="0"/>
              <a:t>ROC coefficient is positive: rising glucose → higher future value</a:t>
            </a:r>
          </a:p>
          <a:p>
            <a:endParaRPr lang="en-US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9D35F0-8FB4-382A-DBBB-D592E8823595}"/>
              </a:ext>
            </a:extLst>
          </p:cNvPr>
          <p:cNvSpPr/>
          <p:nvPr/>
        </p:nvSpPr>
        <p:spPr>
          <a:xfrm>
            <a:off x="2091930" y="3475812"/>
            <a:ext cx="8111613" cy="1187245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67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How about performance?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Evaluation on held-out test patients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y_pred = model.predict(X_test)</a:t>
            </a:r>
          </a:p>
          <a:p>
            <a:pPr lvl="1"/>
            <a:r>
              <a:rPr lang="en-US" sz="1800" dirty="0"/>
              <a:t>RMSE – Root Mean Squared Error (mg/dL)</a:t>
            </a:r>
          </a:p>
          <a:p>
            <a:pPr lvl="1"/>
            <a:r>
              <a:rPr lang="en-US" sz="1800" dirty="0"/>
              <a:t>R²  – Coefficient of Determination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Interpreting the results</a:t>
            </a:r>
          </a:p>
          <a:p>
            <a:pPr lvl="1"/>
            <a:r>
              <a:rPr lang="en-US" sz="1800" dirty="0"/>
              <a:t>RMSE ~ 20 mg/dL is clinically acceptable for 30-min horizon</a:t>
            </a:r>
          </a:p>
          <a:p>
            <a:pPr lvl="1"/>
            <a:r>
              <a:rPr lang="en-US" sz="1800" dirty="0"/>
              <a:t>R² close to 1.0 indicates strong predictive power</a:t>
            </a:r>
          </a:p>
          <a:p>
            <a:pPr lvl="1"/>
            <a:r>
              <a:rPr lang="en-US" sz="1800" dirty="0"/>
              <a:t>Linear model is surprisingly competitive as a baseline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7286E-AA4C-A8FC-573D-033A06F7C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326773"/>
            <a:ext cx="2620297" cy="262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4621-967F-326A-3DC6-07577E71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D0534-75BA-C92E-C364-5C96731F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 anchor="ctr">
            <a:normAutofit/>
          </a:bodyPr>
          <a:lstStyle/>
          <a:p>
            <a:r>
              <a:rPr lang="en-GB" dirty="0"/>
              <a:t>Exporting the Model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9F21CA-BC00-0C2C-DB1F-3D1A5EE7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1DE2C5B-556E-47B8-A792-024C2FCA4ACC}" type="slidenum">
              <a:rPr lang="en-GB" smtClean="0"/>
              <a:pPr>
                <a:spcAft>
                  <a:spcPts val="600"/>
                </a:spcAft>
              </a:pPr>
              <a:t>17</a:t>
            </a:fld>
            <a:endParaRPr lang="en-GB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784D7EA-480E-70DE-FCCD-68E9A7D7BEA3}"/>
              </a:ext>
            </a:extLst>
          </p:cNvPr>
          <p:cNvSpPr txBox="1">
            <a:spLocks/>
          </p:cNvSpPr>
          <p:nvPr/>
        </p:nvSpPr>
        <p:spPr>
          <a:xfrm>
            <a:off x="428172" y="1797269"/>
            <a:ext cx="10923001" cy="46455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Export as JSON – language-agnostic format</a:t>
            </a:r>
          </a:p>
          <a:p>
            <a:pPr lvl="1"/>
            <a:r>
              <a:rPr lang="en-US" sz="1800" dirty="0"/>
              <a:t>No sklearn dependency needed at inference time</a:t>
            </a:r>
          </a:p>
          <a:p>
            <a:pPr lvl="1"/>
            <a:r>
              <a:rPr lang="en-US" sz="1800" dirty="0"/>
              <a:t>Can be bundled directly in Flutter app assets</a:t>
            </a:r>
          </a:p>
          <a:p>
            <a:endParaRPr lang="en-US" dirty="0"/>
          </a:p>
          <a:p>
            <a:r>
              <a:rPr lang="en-US" sz="2000" dirty="0"/>
              <a:t>JSON structure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feature_names: ["CGM", "ROC"]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mean:      [159.70,  -0.0008]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scale:     [ 64.55,   0.9516]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coef:      [ 58.40,  11.84  ]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intercept:  159.66</a:t>
            </a:r>
          </a:p>
          <a:p>
            <a:endParaRPr lang="en-US" dirty="0"/>
          </a:p>
          <a:p>
            <a:r>
              <a:rPr lang="en-US" sz="2000" dirty="0"/>
              <a:t>In Part 2 – Flutter integration</a:t>
            </a:r>
          </a:p>
          <a:p>
            <a:pPr lvl="1"/>
            <a:r>
              <a:rPr lang="en-US" sz="1800" dirty="0"/>
              <a:t>Load JSON from assets at app startup</a:t>
            </a:r>
          </a:p>
          <a:p>
            <a:pPr lvl="1"/>
            <a:r>
              <a:rPr lang="en-US" sz="1800" dirty="0"/>
              <a:t>Implement StandardScaler + dot product in Dart</a:t>
            </a:r>
          </a:p>
          <a:p>
            <a:pPr lvl="1"/>
            <a:r>
              <a:rPr lang="en-US" sz="1800" dirty="0"/>
              <a:t>Run real-time glucose predictions from live CGM stream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63A93-42F0-54D3-8E6A-354CE2652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372" y="2523818"/>
            <a:ext cx="2070305" cy="207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53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3837</TotalTime>
  <Words>999</Words>
  <Application>Microsoft Macintosh PowerPoint</Application>
  <PresentationFormat>Widescreen</PresentationFormat>
  <Paragraphs>196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Consolas</vt:lpstr>
      <vt:lpstr>Courier New</vt:lpstr>
      <vt:lpstr>Times New Roman</vt:lpstr>
      <vt:lpstr>Wingdings</vt:lpstr>
      <vt:lpstr>Tema di Office</vt:lpstr>
      <vt:lpstr>PowerPoint Presentation</vt:lpstr>
      <vt:lpstr>Type 1 Diabetes</vt:lpstr>
      <vt:lpstr>The burden of T1D management</vt:lpstr>
      <vt:lpstr>The role of wearable devices in T1D</vt:lpstr>
      <vt:lpstr>What does it mean in practice?</vt:lpstr>
      <vt:lpstr>What does it mean in practice?</vt:lpstr>
      <vt:lpstr>What does it mean?</vt:lpstr>
      <vt:lpstr>Aim</vt:lpstr>
      <vt:lpstr>Aim</vt:lpstr>
      <vt:lpstr>The Dataset – ReplaceBG</vt:lpstr>
      <vt:lpstr>Setting Up</vt:lpstr>
      <vt:lpstr>Step 1: Preparing the Data</vt:lpstr>
      <vt:lpstr>Step 2: Feature Extraction</vt:lpstr>
      <vt:lpstr>Step 3: Model selection and training pipeline</vt:lpstr>
      <vt:lpstr>Step 4: Learning the model</vt:lpstr>
      <vt:lpstr>How about performance? </vt:lpstr>
      <vt:lpstr>Exporting the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910</cp:revision>
  <cp:lastPrinted>2022-05-08T20:17:57Z</cp:lastPrinted>
  <dcterms:created xsi:type="dcterms:W3CDTF">2021-07-19T09:08:13Z</dcterms:created>
  <dcterms:modified xsi:type="dcterms:W3CDTF">2026-05-21T07:12:36Z</dcterms:modified>
</cp:coreProperties>
</file>