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2"/>
  </p:notesMasterIdLst>
  <p:sldIdLst>
    <p:sldId id="256" r:id="rId2"/>
    <p:sldId id="300" r:id="rId3"/>
    <p:sldId id="301" r:id="rId4"/>
    <p:sldId id="302" r:id="rId5"/>
    <p:sldId id="304" r:id="rId6"/>
    <p:sldId id="303" r:id="rId7"/>
    <p:sldId id="305" r:id="rId8"/>
    <p:sldId id="306" r:id="rId9"/>
    <p:sldId id="308" r:id="rId10"/>
    <p:sldId id="309" r:id="rId11"/>
    <p:sldId id="311" r:id="rId12"/>
    <p:sldId id="340" r:id="rId13"/>
    <p:sldId id="341" r:id="rId14"/>
    <p:sldId id="342" r:id="rId15"/>
    <p:sldId id="310" r:id="rId16"/>
    <p:sldId id="312" r:id="rId17"/>
    <p:sldId id="314" r:id="rId18"/>
    <p:sldId id="313" r:id="rId19"/>
    <p:sldId id="315" r:id="rId20"/>
    <p:sldId id="316" r:id="rId21"/>
    <p:sldId id="317" r:id="rId22"/>
    <p:sldId id="318" r:id="rId23"/>
    <p:sldId id="319" r:id="rId24"/>
    <p:sldId id="320" r:id="rId25"/>
    <p:sldId id="321" r:id="rId26"/>
    <p:sldId id="322" r:id="rId27"/>
    <p:sldId id="323" r:id="rId28"/>
    <p:sldId id="324" r:id="rId29"/>
    <p:sldId id="325" r:id="rId30"/>
    <p:sldId id="343" r:id="rId3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le medio 2 - Color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essuno stile, griglia tabel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8D230F3-CF80-4859-8CE7-A43EE81993B5}" styleName="Stile chiaro 1 - Colore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5266" autoAdjust="0"/>
    <p:restoredTop sz="94660"/>
  </p:normalViewPr>
  <p:slideViewPr>
    <p:cSldViewPr snapToGrid="0">
      <p:cViewPr varScale="1">
        <p:scale>
          <a:sx n="153" d="100"/>
          <a:sy n="153" d="100"/>
        </p:scale>
        <p:origin x="176" y="4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51090E0-FB0C-49E9-9864-9F53EABEA96F}" type="datetimeFigureOut">
              <a:rPr lang="en-GB" smtClean="0"/>
              <a:t>07/04/2025</a:t>
            </a:fld>
            <a:endParaRPr lang="en-GB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it-IT"/>
              <a:t>Modifica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  <a:endParaRPr lang="en-GB"/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669C82F-DE94-4CA4-8B4D-F0EAC95D82AA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2109485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5" Type="http://schemas.microsoft.com/office/2007/relationships/hdphoto" Target="../media/hdphoto2.wdp"/><Relationship Id="rId4" Type="http://schemas.openxmlformats.org/officeDocument/2006/relationships/image" Target="../media/image2.png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383871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860243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contenuto 2"/>
          <p:cNvSpPr>
            <a:spLocks noGrp="1"/>
          </p:cNvSpPr>
          <p:nvPr>
            <p:ph sz="half" idx="1"/>
          </p:nvPr>
        </p:nvSpPr>
        <p:spPr>
          <a:xfrm>
            <a:off x="428172" y="1364343"/>
            <a:ext cx="5591628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4" name="Segnaposto contenuto 3"/>
          <p:cNvSpPr>
            <a:spLocks noGrp="1"/>
          </p:cNvSpPr>
          <p:nvPr>
            <p:ph sz="half" idx="2"/>
          </p:nvPr>
        </p:nvSpPr>
        <p:spPr>
          <a:xfrm>
            <a:off x="6172200" y="1364343"/>
            <a:ext cx="5624286" cy="4812620"/>
          </a:xfrm>
        </p:spPr>
        <p:txBody>
          <a:bodyPr/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759481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ottotitolo 2"/>
          <p:cNvSpPr>
            <a:spLocks noGrp="1"/>
          </p:cNvSpPr>
          <p:nvPr>
            <p:ph type="subTitle" idx="1"/>
          </p:nvPr>
        </p:nvSpPr>
        <p:spPr>
          <a:xfrm>
            <a:off x="1426028" y="2355399"/>
            <a:ext cx="9456058" cy="1570716"/>
          </a:xfrm>
        </p:spPr>
        <p:txBody>
          <a:bodyPr anchor="ctr">
            <a:noAutofit/>
          </a:bodyPr>
          <a:lstStyle>
            <a:lvl1pPr marL="0" indent="0" algn="ctr">
              <a:buNone/>
              <a:defRPr sz="4800" b="1">
                <a:latin typeface="Aptos" panose="020B00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endParaRPr lang="it-IT" dirty="0"/>
          </a:p>
        </p:txBody>
      </p:sp>
      <p:sp>
        <p:nvSpPr>
          <p:cNvPr id="7" name="Rettangolo arrotondato 6"/>
          <p:cNvSpPr/>
          <p:nvPr userDrawn="1"/>
        </p:nvSpPr>
        <p:spPr>
          <a:xfrm>
            <a:off x="2997200" y="855254"/>
            <a:ext cx="6125029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8" name="Rettangolo arrotondato 7"/>
          <p:cNvSpPr/>
          <p:nvPr userDrawn="1"/>
        </p:nvSpPr>
        <p:spPr>
          <a:xfrm>
            <a:off x="1426028" y="4152532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Aptos" panose="020B0004020202020204" pitchFamily="34" charset="0"/>
            </a:endParaRPr>
          </a:p>
        </p:txBody>
      </p:sp>
      <p:sp>
        <p:nvSpPr>
          <p:cNvPr id="9" name="Titolo 1"/>
          <p:cNvSpPr txBox="1">
            <a:spLocks/>
          </p:cNvSpPr>
          <p:nvPr userDrawn="1"/>
        </p:nvSpPr>
        <p:spPr>
          <a:xfrm>
            <a:off x="460370" y="1155224"/>
            <a:ext cx="10926088" cy="94592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r>
              <a:rPr lang="it-IT" sz="2800" b="0" dirty="0" err="1">
                <a:latin typeface="Aptos" panose="020B0004020202020204" pitchFamily="34" charset="0"/>
              </a:rPr>
              <a:t>Biomedical</a:t>
            </a:r>
            <a:r>
              <a:rPr lang="it-IT" sz="2800" b="0" dirty="0">
                <a:latin typeface="Aptos" panose="020B0004020202020204" pitchFamily="34" charset="0"/>
              </a:rPr>
              <a:t> </a:t>
            </a:r>
            <a:r>
              <a:rPr lang="it-IT" sz="2800" b="0" dirty="0" err="1">
                <a:latin typeface="Aptos" panose="020B0004020202020204" pitchFamily="34" charset="0"/>
              </a:rPr>
              <a:t>Wearable</a:t>
            </a:r>
            <a:r>
              <a:rPr lang="it-IT" sz="2800" b="0" dirty="0">
                <a:latin typeface="Aptos" panose="020B0004020202020204" pitchFamily="34" charset="0"/>
              </a:rPr>
              <a:t> Technologies </a:t>
            </a:r>
          </a:p>
          <a:p>
            <a:r>
              <a:rPr lang="it-IT" sz="2800" b="0" dirty="0">
                <a:latin typeface="Aptos" panose="020B0004020202020204" pitchFamily="34" charset="0"/>
              </a:rPr>
              <a:t>for Healthcare and </a:t>
            </a:r>
            <a:r>
              <a:rPr lang="it-IT" sz="2800" b="0" dirty="0" err="1">
                <a:latin typeface="Aptos" panose="020B0004020202020204" pitchFamily="34" charset="0"/>
              </a:rPr>
              <a:t>Wellbeing</a:t>
            </a:r>
            <a:r>
              <a:rPr lang="it-IT" sz="2800" b="0" dirty="0">
                <a:latin typeface="Aptos" panose="020B0004020202020204" pitchFamily="34" charset="0"/>
              </a:rPr>
              <a:t>  </a:t>
            </a:r>
            <a:endParaRPr lang="en-GB" sz="2800" b="0" dirty="0">
              <a:latin typeface="Aptos" panose="020B0004020202020204" pitchFamily="34" charset="0"/>
            </a:endParaRPr>
          </a:p>
        </p:txBody>
      </p:sp>
      <p:sp>
        <p:nvSpPr>
          <p:cNvPr id="10" name="Titolo 1"/>
          <p:cNvSpPr txBox="1">
            <a:spLocks/>
          </p:cNvSpPr>
          <p:nvPr userDrawn="1"/>
        </p:nvSpPr>
        <p:spPr>
          <a:xfrm>
            <a:off x="1426028" y="4424669"/>
            <a:ext cx="9456058" cy="100502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000" kern="1200" baseline="0">
                <a:solidFill>
                  <a:schemeClr val="tx1"/>
                </a:solidFill>
                <a:latin typeface="Palatino Linotype" panose="02040502050505030304" pitchFamily="18" charset="0"/>
                <a:ea typeface="+mj-ea"/>
                <a:cs typeface="+mj-cs"/>
              </a:defRPr>
            </a:lvl1pPr>
          </a:lstStyle>
          <a:p>
            <a:pPr>
              <a:spcAft>
                <a:spcPts val="600"/>
              </a:spcAft>
            </a:pPr>
            <a:r>
              <a:rPr lang="it-IT" sz="2800" dirty="0">
                <a:latin typeface="Aptos" panose="020B0004020202020204" pitchFamily="34" charset="0"/>
              </a:rPr>
              <a:t>A.Y. 2024-2025</a:t>
            </a:r>
          </a:p>
          <a:p>
            <a:pPr>
              <a:spcAft>
                <a:spcPts val="600"/>
              </a:spcAft>
            </a:pPr>
            <a:r>
              <a:rPr lang="it-IT" sz="2800" baseline="0" dirty="0">
                <a:latin typeface="Aptos" panose="020B0004020202020204" pitchFamily="34" charset="0"/>
              </a:rPr>
              <a:t>Giacomo Cappon</a:t>
            </a:r>
          </a:p>
        </p:txBody>
      </p:sp>
      <p:sp>
        <p:nvSpPr>
          <p:cNvPr id="14" name="CasellaDiTesto 13"/>
          <p:cNvSpPr txBox="1"/>
          <p:nvPr userDrawn="1"/>
        </p:nvSpPr>
        <p:spPr>
          <a:xfrm>
            <a:off x="2997200" y="133745"/>
            <a:ext cx="612503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University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Padova</a:t>
            </a:r>
            <a:b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</a:b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Department</a:t>
            </a:r>
            <a:r>
              <a:rPr kumimoji="0" lang="it-IT" sz="2000" b="0" i="0" u="none" strike="noStrike" kern="1200" cap="small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 of Information </a:t>
            </a:r>
            <a:r>
              <a:rPr kumimoji="0" lang="it-IT" sz="2000" b="0" i="0" u="none" strike="noStrike" kern="1200" cap="small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  <a:ea typeface="+mj-ea"/>
                <a:cs typeface="+mj-cs"/>
              </a:rPr>
              <a:t>Engineering</a:t>
            </a:r>
            <a:endParaRPr lang="en-GB" sz="1100" cap="small" baseline="0" dirty="0">
              <a:latin typeface="Aptos" panose="020B0004020202020204" pitchFamily="34" charset="0"/>
            </a:endParaRPr>
          </a:p>
        </p:txBody>
      </p:sp>
      <p:pic>
        <p:nvPicPr>
          <p:cNvPr id="15" name="Immagine 14"/>
          <p:cNvPicPr>
            <a:picLocks noChangeAspect="1"/>
          </p:cNvPicPr>
          <p:nvPr userDrawn="1"/>
        </p:nvPicPr>
        <p:blipFill>
          <a:blip r:embed="rId2" cstate="print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artisticChalkSketch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0370" y="5094383"/>
            <a:ext cx="1648258" cy="1648258"/>
          </a:xfrm>
          <a:prstGeom prst="rect">
            <a:avLst/>
          </a:prstGeom>
        </p:spPr>
      </p:pic>
      <p:pic>
        <p:nvPicPr>
          <p:cNvPr id="16" name="Immagine 15"/>
          <p:cNvPicPr>
            <a:picLocks noChangeAspect="1"/>
          </p:cNvPicPr>
          <p:nvPr userDrawn="1"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saturation sat="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35946" y="5094383"/>
            <a:ext cx="2153135" cy="1399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3993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05962"/>
          </a:xfrm>
        </p:spPr>
        <p:txBody>
          <a:bodyPr/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5" name="Segnaposto numero diapositiva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‹#›</a:t>
            </a:fld>
            <a:endParaRPr lang="en-GB"/>
          </a:p>
        </p:txBody>
      </p:sp>
      <p:sp>
        <p:nvSpPr>
          <p:cNvPr id="6" name="Rettangolo arrotondato 5"/>
          <p:cNvSpPr/>
          <p:nvPr userDrawn="1"/>
        </p:nvSpPr>
        <p:spPr>
          <a:xfrm>
            <a:off x="1393371" y="1022169"/>
            <a:ext cx="9456058" cy="45719"/>
          </a:xfrm>
          <a:prstGeom prst="roundRect">
            <a:avLst>
              <a:gd name="adj" fmla="val 26104"/>
            </a:avLst>
          </a:prstGeom>
          <a:solidFill>
            <a:srgbClr val="00B050"/>
          </a:solidFill>
          <a:ln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0065272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/>
          <p:cNvSpPr>
            <a:spLocks noGrp="1"/>
          </p:cNvSpPr>
          <p:nvPr>
            <p:ph type="title"/>
          </p:nvPr>
        </p:nvSpPr>
        <p:spPr>
          <a:xfrm>
            <a:off x="428172" y="161926"/>
            <a:ext cx="11368314" cy="9193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 noProof="0" dirty="0"/>
              <a:t>Fare </a:t>
            </a:r>
            <a:r>
              <a:rPr lang="en-GB" noProof="0" dirty="0" err="1"/>
              <a:t>clic</a:t>
            </a:r>
            <a:r>
              <a:rPr lang="en-GB" noProof="0" dirty="0"/>
              <a:t> per </a:t>
            </a:r>
            <a:r>
              <a:rPr lang="en-GB" noProof="0" dirty="0" err="1"/>
              <a:t>modificare</a:t>
            </a:r>
            <a:r>
              <a:rPr lang="en-GB" noProof="0" dirty="0"/>
              <a:t> lo stile del </a:t>
            </a:r>
            <a:r>
              <a:rPr lang="en-GB" noProof="0" dirty="0" err="1"/>
              <a:t>titolo</a:t>
            </a:r>
            <a:endParaRPr lang="en-GB" noProof="0" dirty="0"/>
          </a:p>
        </p:txBody>
      </p:sp>
      <p:sp>
        <p:nvSpPr>
          <p:cNvPr id="3" name="Segnaposto testo 2"/>
          <p:cNvSpPr>
            <a:spLocks noGrp="1"/>
          </p:cNvSpPr>
          <p:nvPr>
            <p:ph type="body" idx="1"/>
          </p:nvPr>
        </p:nvSpPr>
        <p:spPr>
          <a:xfrm>
            <a:off x="428172" y="1375682"/>
            <a:ext cx="11368314" cy="482191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 noProof="0" dirty="0" err="1"/>
              <a:t>Modifica</a:t>
            </a:r>
            <a:r>
              <a:rPr lang="en-GB" noProof="0" dirty="0"/>
              <a:t> </a:t>
            </a:r>
            <a:r>
              <a:rPr lang="en-GB" noProof="0" dirty="0" err="1"/>
              <a:t>gli</a:t>
            </a:r>
            <a:r>
              <a:rPr lang="en-GB" noProof="0" dirty="0"/>
              <a:t> </a:t>
            </a:r>
            <a:r>
              <a:rPr lang="en-GB" noProof="0" dirty="0" err="1"/>
              <a:t>stili</a:t>
            </a:r>
            <a:r>
              <a:rPr lang="en-GB" noProof="0" dirty="0"/>
              <a:t> del </a:t>
            </a:r>
            <a:r>
              <a:rPr lang="en-GB" noProof="0" dirty="0" err="1"/>
              <a:t>testo</a:t>
            </a:r>
            <a:r>
              <a:rPr lang="en-GB" noProof="0" dirty="0"/>
              <a:t> </a:t>
            </a:r>
            <a:r>
              <a:rPr lang="en-GB" noProof="0" dirty="0" err="1"/>
              <a:t>dello</a:t>
            </a:r>
            <a:r>
              <a:rPr lang="en-GB" noProof="0" dirty="0"/>
              <a:t> schema</a:t>
            </a:r>
          </a:p>
          <a:p>
            <a:pPr lvl="1"/>
            <a:r>
              <a:rPr lang="en-GB" noProof="0" dirty="0"/>
              <a:t>Secondo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2"/>
            <a:r>
              <a:rPr lang="en-GB" noProof="0" dirty="0" err="1"/>
              <a:t>Terzo</a:t>
            </a:r>
            <a:r>
              <a:rPr lang="en-GB" noProof="0" dirty="0"/>
              <a:t>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3"/>
            <a:r>
              <a:rPr lang="en-GB" noProof="0" dirty="0"/>
              <a:t>Quarto </a:t>
            </a:r>
            <a:r>
              <a:rPr lang="en-GB" noProof="0" dirty="0" err="1"/>
              <a:t>livello</a:t>
            </a:r>
            <a:endParaRPr lang="en-GB" noProof="0" dirty="0"/>
          </a:p>
          <a:p>
            <a:pPr lvl="4"/>
            <a:r>
              <a:rPr lang="en-GB" noProof="0" dirty="0"/>
              <a:t>Quinto </a:t>
            </a:r>
            <a:r>
              <a:rPr lang="en-GB" noProof="0" dirty="0" err="1"/>
              <a:t>livello</a:t>
            </a:r>
            <a:endParaRPr lang="en-GB" noProof="0" dirty="0"/>
          </a:p>
        </p:txBody>
      </p:sp>
      <p:sp>
        <p:nvSpPr>
          <p:cNvPr id="6" name="Segnaposto numero diapositiva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318588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ptos" panose="020B0004020202020204" pitchFamily="34" charset="0"/>
              </a:defRPr>
            </a:lvl1pPr>
          </a:lstStyle>
          <a:p>
            <a:fld id="{31DE2C5B-556E-47B8-A792-024C2FCA4ACC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2879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1"/>
    <p:sldLayoutId id="2147483652" r:id="rId2"/>
    <p:sldLayoutId id="2147483649" r:id="rId3"/>
    <p:sldLayoutId id="2147483654" r:id="rId4"/>
  </p:sldLayoutIdLst>
  <p:hf hdr="0" dt="0"/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chemeClr val="tx1"/>
          </a:solidFill>
          <a:latin typeface="Aptos" panose="020B0004020202020204" pitchFamily="34" charset="0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lnSpc>
          <a:spcPct val="90000"/>
        </a:lnSpc>
        <a:spcBef>
          <a:spcPts val="1000"/>
        </a:spcBef>
        <a:buClr>
          <a:srgbClr val="00B050"/>
        </a:buClr>
        <a:buFont typeface="Wingdings" panose="05000000000000000000" pitchFamily="2" charset="2"/>
        <a:buChar char="Ø"/>
        <a:defRPr sz="24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Courier New" panose="02070309020205020404" pitchFamily="49" charset="0"/>
        <a:buChar char="o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00B050"/>
        </a:buClr>
        <a:buFont typeface="Times New Roman" panose="02020603050405020304" pitchFamily="18" charset="0"/>
        <a:buChar char="̶"/>
        <a:defRPr sz="1600" kern="1200">
          <a:solidFill>
            <a:schemeClr val="tx1"/>
          </a:solidFill>
          <a:latin typeface="Aptos" panose="020B0004020202020204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eg"/><Relationship Id="rId2" Type="http://schemas.openxmlformats.org/officeDocument/2006/relationships/image" Target="../media/image12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ottotitolo 1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Elements of </a:t>
            </a:r>
            <a:r>
              <a:rPr lang="en-US"/>
              <a:t>network security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818568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Network security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/>
              <a:t>Network security problems can be divided roughly into four areas: </a:t>
            </a:r>
          </a:p>
          <a:p>
            <a:pPr lvl="1"/>
            <a:r>
              <a:rPr lang="en-GB" sz="2400" b="1" dirty="0"/>
              <a:t>Secrecy</a:t>
            </a:r>
            <a:r>
              <a:rPr lang="en-GB" sz="2400" dirty="0"/>
              <a:t>, also called </a:t>
            </a:r>
            <a:r>
              <a:rPr lang="en-GB" sz="2400" b="1" dirty="0"/>
              <a:t>confidentiality </a:t>
            </a:r>
            <a:r>
              <a:rPr lang="en-GB" sz="2400" b="1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keeping information secret to unauthorized users. </a:t>
            </a:r>
          </a:p>
          <a:p>
            <a:pPr lvl="1"/>
            <a:r>
              <a:rPr lang="en-GB" sz="2400" b="1" dirty="0"/>
              <a:t>Authentication</a:t>
            </a:r>
            <a:r>
              <a:rPr lang="en-GB" sz="2400" dirty="0"/>
              <a:t> </a:t>
            </a:r>
            <a:r>
              <a:rPr lang="en-GB" sz="2400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determining whom you are talking to before revealing sensitive information. </a:t>
            </a:r>
          </a:p>
          <a:p>
            <a:pPr lvl="1"/>
            <a:r>
              <a:rPr lang="en-GB" sz="2400" b="1" dirty="0"/>
              <a:t>Nonrepudiation</a:t>
            </a:r>
            <a:r>
              <a:rPr lang="en-GB" sz="2400" dirty="0"/>
              <a:t> </a:t>
            </a:r>
            <a:r>
              <a:rPr lang="en-GB" sz="2400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signatures to ensure that the user you are talking to is who it claims to be. </a:t>
            </a:r>
          </a:p>
          <a:p>
            <a:pPr lvl="1"/>
            <a:r>
              <a:rPr lang="en-GB" sz="2400" b="1" dirty="0"/>
              <a:t>Integrity control </a:t>
            </a:r>
            <a:r>
              <a:rPr lang="en-GB" sz="2400" b="1" dirty="0">
                <a:sym typeface="Wingdings" panose="05000000000000000000" pitchFamily="2" charset="2"/>
              </a:rPr>
              <a:t> </a:t>
            </a:r>
            <a:r>
              <a:rPr lang="en-GB" sz="2400" dirty="0"/>
              <a:t>how you can be sure that a message you received was really the one sent and not something that a malicious adversary modified in transit or concocted. </a:t>
            </a:r>
          </a:p>
          <a:p>
            <a:pPr lvl="1"/>
            <a:endParaRPr lang="en-GB" sz="2400" dirty="0"/>
          </a:p>
          <a:p>
            <a:r>
              <a:rPr lang="en-GB" dirty="0"/>
              <a:t>All network security is based on cryptographic principles.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738721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Immagine 5">
            <a:extLst>
              <a:ext uri="{FF2B5EF4-FFF2-40B4-BE49-F238E27FC236}">
                <a16:creationId xmlns:a16="http://schemas.microsoft.com/office/drawing/2014/main" id="{938F5D21-41B4-FF42-B578-9CD71C2CE4F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01078" y="3366534"/>
            <a:ext cx="7576309" cy="3491466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Cryptography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2067833"/>
          </a:xfrm>
        </p:spPr>
        <p:txBody>
          <a:bodyPr>
            <a:normAutofit/>
          </a:bodyPr>
          <a:lstStyle/>
          <a:p>
            <a:r>
              <a:rPr lang="en-GB" sz="2200" b="1" dirty="0"/>
              <a:t>Cryptography: </a:t>
            </a:r>
            <a:r>
              <a:rPr lang="en-GB" sz="2200" dirty="0"/>
              <a:t>the study of secure communications techniques that allow only the sender and intended recipient of a message to view its contents.</a:t>
            </a:r>
          </a:p>
          <a:p>
            <a:r>
              <a:rPr lang="en-GB" sz="2200" b="1" dirty="0"/>
              <a:t>Cipher: </a:t>
            </a:r>
            <a:r>
              <a:rPr lang="en-GB" sz="2200" dirty="0"/>
              <a:t>a transformation of the message, without regard to the linguistic structure of the message. </a:t>
            </a:r>
          </a:p>
          <a:p>
            <a:r>
              <a:rPr lang="en-GB" sz="2200" dirty="0"/>
              <a:t>General encryption model (symmetric cryptography):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</a:t>
            </a:fld>
            <a:endParaRPr lang="en-GB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BDEED46C-E2B7-7B40-8E5B-644DB80EF318}"/>
                  </a:ext>
                </a:extLst>
              </p:cNvPr>
              <p:cNvSpPr txBox="1"/>
              <p:nvPr/>
            </p:nvSpPr>
            <p:spPr>
              <a:xfrm>
                <a:off x="9945757" y="4558269"/>
                <a:ext cx="1183016" cy="1384995"/>
              </a:xfrm>
              <a:prstGeom prst="rect">
                <a:avLst/>
              </a:prstGeom>
              <a:noFill/>
              <a:ln>
                <a:solidFill>
                  <a:srgbClr val="00B050"/>
                </a:solidFill>
              </a:ln>
            </p:spPr>
            <p:txBody>
              <a:bodyPr wrap="none" lIns="0" tIns="0" rIns="0" bIns="0" rtlCol="0">
                <a:spAutoFit/>
              </a:bodyPr>
              <a:lstStyle/>
              <a:p>
                <a:endParaRPr lang="it-IT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𝐸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d>
                        <m:d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𝑃</m:t>
                          </m:r>
                        </m:e>
                      </m:d>
                    </m:oMath>
                  </m:oMathPara>
                </a14:m>
                <a:endParaRPr lang="it-IT" b="0" dirty="0"/>
              </a:p>
              <a:p>
                <a:endParaRPr lang="it-IT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d>
                        <m:dPr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</m:d>
                    </m:oMath>
                  </m:oMathPara>
                </a14:m>
                <a:endParaRPr lang="it-IT" b="0" dirty="0"/>
              </a:p>
              <a:p>
                <a:endParaRPr lang="it-IT" dirty="0"/>
              </a:p>
            </p:txBody>
          </p:sp>
        </mc:Choice>
        <mc:Fallback xmlns="">
          <p:sp>
            <p:nvSpPr>
              <p:cNvPr id="7" name="CasellaDiTesto 6">
                <a:extLst>
                  <a:ext uri="{FF2B5EF4-FFF2-40B4-BE49-F238E27FC236}">
                    <a16:creationId xmlns:a16="http://schemas.microsoft.com/office/drawing/2014/main" id="{BDEED46C-E2B7-7B40-8E5B-644DB80EF31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945757" y="4558269"/>
                <a:ext cx="1183016" cy="1384995"/>
              </a:xfrm>
              <a:prstGeom prst="rect">
                <a:avLst/>
              </a:prstGeom>
              <a:blipFill>
                <a:blip r:embed="rId3"/>
                <a:stretch>
                  <a:fillRect l="-1053"/>
                </a:stretch>
              </a:blipFill>
              <a:ln>
                <a:solidFill>
                  <a:srgbClr val="00B050"/>
                </a:solidFill>
              </a:ln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0614525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4A669353-7B9B-634F-9023-935FE50FE1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Cryptography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781CCC6-DC26-EC44-B2D7-4E3D509987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261134"/>
          </a:xfrm>
        </p:spPr>
        <p:txBody>
          <a:bodyPr>
            <a:normAutofit lnSpcReduction="10000"/>
          </a:bodyPr>
          <a:lstStyle/>
          <a:p>
            <a:r>
              <a:rPr lang="en-GB" b="1" dirty="0"/>
              <a:t>Cryptanalysis: </a:t>
            </a:r>
            <a:r>
              <a:rPr lang="en-GB" dirty="0"/>
              <a:t>the art of breaking ciphers</a:t>
            </a:r>
          </a:p>
          <a:p>
            <a:r>
              <a:rPr lang="en-GB" b="1" dirty="0"/>
              <a:t>Cryptology: </a:t>
            </a:r>
            <a:r>
              <a:rPr lang="en-GB" dirty="0"/>
              <a:t>the art of devising ciphers</a:t>
            </a:r>
          </a:p>
          <a:p>
            <a:endParaRPr lang="en-GB" dirty="0"/>
          </a:p>
          <a:p>
            <a:r>
              <a:rPr lang="en-GB" dirty="0"/>
              <a:t>A fundamental rule of cryptography is that one must assume that the crypt- analyst knows the methods used for encryption (E) and decryption (D). </a:t>
            </a:r>
          </a:p>
          <a:p>
            <a:endParaRPr lang="en-GB" dirty="0"/>
          </a:p>
          <a:p>
            <a:r>
              <a:rPr lang="en-GB" b="1" dirty="0" err="1"/>
              <a:t>Kerckhoff’s</a:t>
            </a:r>
            <a:r>
              <a:rPr lang="en-GB" b="1" dirty="0"/>
              <a:t> principle</a:t>
            </a:r>
            <a:r>
              <a:rPr lang="en-GB" dirty="0"/>
              <a:t> (1883): All algorithms must be public; only the keys are secret. </a:t>
            </a:r>
          </a:p>
          <a:p>
            <a:endParaRPr lang="en-GB" dirty="0"/>
          </a:p>
          <a:p>
            <a:r>
              <a:rPr lang="en-GB" dirty="0"/>
              <a:t>The secrecy of a cipher stands on the secrecy of the key. </a:t>
            </a:r>
          </a:p>
          <a:p>
            <a:endParaRPr lang="en-GB" dirty="0"/>
          </a:p>
          <a:p>
            <a:r>
              <a:rPr lang="en-GB" dirty="0"/>
              <a:t>The key must be sufficiently complex not to allow an intruder to discover the key by exhaustive search!</a:t>
            </a:r>
          </a:p>
          <a:p>
            <a:endParaRPr lang="it-IT" dirty="0"/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1411FBE9-9042-C344-8700-C3CA920748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26304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B972128-1491-6648-9666-AD1CF87D36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Two historic ciphers: substitution ciphers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59389394-6756-ED4D-A96A-50807144A3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200" b="1" dirty="0"/>
              <a:t>Substitution ciphers</a:t>
            </a:r>
            <a:r>
              <a:rPr lang="en-GB" sz="2200" dirty="0"/>
              <a:t>: each letter or group of letters is replaced by another letter or group of letters. </a:t>
            </a:r>
          </a:p>
          <a:p>
            <a:r>
              <a:rPr lang="en-GB" sz="2200" b="1" dirty="0"/>
              <a:t>Caesar cipher</a:t>
            </a:r>
            <a:r>
              <a:rPr lang="en-GB" sz="2200" dirty="0"/>
              <a:t>: each letter is substituted with the letter k steps ahead in the alphabet, where k is the key of the cipher. Only 25 possible keys.</a:t>
            </a:r>
          </a:p>
          <a:p>
            <a:endParaRPr lang="en-GB" sz="2200" dirty="0"/>
          </a:p>
          <a:p>
            <a:endParaRPr lang="en-GB" sz="2200" dirty="0"/>
          </a:p>
          <a:p>
            <a:pPr marL="0" indent="0">
              <a:buNone/>
            </a:pPr>
            <a:endParaRPr lang="en-GB" sz="2200" dirty="0"/>
          </a:p>
          <a:p>
            <a:r>
              <a:rPr lang="en-GB" sz="2200" b="1" dirty="0"/>
              <a:t>Monoalphabetic substitution cipher</a:t>
            </a:r>
            <a:r>
              <a:rPr lang="en-GB" sz="2200" dirty="0"/>
              <a:t>: each letter is substituted with another general alphabet letter. The key is the 26-letter string representing the alphabet permutation. Number of possible keys: 26! However, this cipher can be easily broken comparing the frequency of letters in the plain and encrypted text.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54023AD5-82B8-2248-95EB-E38F4A06A9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5</a:t>
            </a:fld>
            <a:endParaRPr lang="en-GB"/>
          </a:p>
        </p:txBody>
      </p:sp>
      <p:graphicFrame>
        <p:nvGraphicFramePr>
          <p:cNvPr id="5" name="Tabella 4">
            <a:extLst>
              <a:ext uri="{FF2B5EF4-FFF2-40B4-BE49-F238E27FC236}">
                <a16:creationId xmlns:a16="http://schemas.microsoft.com/office/drawing/2014/main" id="{4153E3F2-4495-3341-9928-2B2C10A7E46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01649"/>
              </p:ext>
            </p:extLst>
          </p:nvPr>
        </p:nvGraphicFramePr>
        <p:xfrm>
          <a:off x="2888974" y="2904400"/>
          <a:ext cx="7085500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550">
                  <a:extLst>
                    <a:ext uri="{9D8B030D-6E8A-4147-A177-3AD203B41FA5}">
                      <a16:colId xmlns:a16="http://schemas.microsoft.com/office/drawing/2014/main" val="1303210429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51826316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730153429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657693152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8154250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25438368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504262997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2482943454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92694014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904868811"/>
                    </a:ext>
                  </a:extLst>
                </a:gridCol>
              </a:tblGrid>
              <a:tr h="259560"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 err="1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W</a:t>
                      </a:r>
                      <a:endParaRPr lang="it-IT" sz="2200" b="0" dirty="0">
                        <a:solidFill>
                          <a:sysClr val="windowText" lastClr="000000"/>
                        </a:solidFill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 err="1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Z</a:t>
                      </a:r>
                      <a:endParaRPr lang="it-IT" sz="2200" b="0" dirty="0">
                        <a:solidFill>
                          <a:sysClr val="windowText" lastClr="000000"/>
                        </a:solidFill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971071"/>
                  </a:ext>
                </a:extLst>
              </a:tr>
            </a:tbl>
          </a:graphicData>
        </a:graphic>
      </p:graphicFrame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732264" y="2935918"/>
            <a:ext cx="249140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200" dirty="0" err="1">
                <a:latin typeface="Aptos" panose="020B0004020202020204" pitchFamily="34" charset="0"/>
                <a:ea typeface="Palatino" pitchFamily="2" charset="77"/>
              </a:rPr>
              <a:t>Plain</a:t>
            </a:r>
            <a:r>
              <a:rPr lang="it-IT" sz="2200" dirty="0">
                <a:latin typeface="Aptos" panose="020B0004020202020204" pitchFamily="34" charset="0"/>
                <a:ea typeface="Palatino" pitchFamily="2" charset="77"/>
              </a:rPr>
              <a:t> text:</a:t>
            </a: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BA9775AB-8777-F249-8AA2-9314BA67F1B7}"/>
              </a:ext>
            </a:extLst>
          </p:cNvPr>
          <p:cNvSpPr txBox="1"/>
          <p:nvPr/>
        </p:nvSpPr>
        <p:spPr>
          <a:xfrm>
            <a:off x="732264" y="3522714"/>
            <a:ext cx="249140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200" dirty="0" err="1">
                <a:latin typeface="Aptos" panose="020B0004020202020204" pitchFamily="34" charset="0"/>
                <a:ea typeface="Palatino" pitchFamily="2" charset="77"/>
              </a:rPr>
              <a:t>Encrypted</a:t>
            </a:r>
            <a:r>
              <a:rPr lang="it-IT" sz="2200" dirty="0">
                <a:latin typeface="Aptos" panose="020B0004020202020204" pitchFamily="34" charset="0"/>
                <a:ea typeface="Palatino" pitchFamily="2" charset="77"/>
              </a:rPr>
              <a:t> text:</a:t>
            </a:r>
          </a:p>
        </p:txBody>
      </p:sp>
      <p:graphicFrame>
        <p:nvGraphicFramePr>
          <p:cNvPr id="8" name="Tabella 7">
            <a:extLst>
              <a:ext uri="{FF2B5EF4-FFF2-40B4-BE49-F238E27FC236}">
                <a16:creationId xmlns:a16="http://schemas.microsoft.com/office/drawing/2014/main" id="{046F9741-7F85-2343-A444-58D1C73B44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2237319"/>
              </p:ext>
            </p:extLst>
          </p:nvPr>
        </p:nvGraphicFramePr>
        <p:xfrm>
          <a:off x="2888974" y="3496401"/>
          <a:ext cx="7085500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550">
                  <a:extLst>
                    <a:ext uri="{9D8B030D-6E8A-4147-A177-3AD203B41FA5}">
                      <a16:colId xmlns:a16="http://schemas.microsoft.com/office/drawing/2014/main" val="1303210429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51826316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730153429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657693152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8154250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25438368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504262997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2482943454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92694014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904868811"/>
                    </a:ext>
                  </a:extLst>
                </a:gridCol>
              </a:tblGrid>
              <a:tr h="259560"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H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Z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971071"/>
                  </a:ext>
                </a:extLst>
              </a:tr>
            </a:tbl>
          </a:graphicData>
        </a:graphic>
      </p:graphicFrame>
      <p:sp>
        <p:nvSpPr>
          <p:cNvPr id="10" name="CasellaDiTesto 9">
            <a:extLst>
              <a:ext uri="{FF2B5EF4-FFF2-40B4-BE49-F238E27FC236}">
                <a16:creationId xmlns:a16="http://schemas.microsoft.com/office/drawing/2014/main" id="{F42EFFE1-AF08-FE49-AECF-7C8000BDC42C}"/>
              </a:ext>
            </a:extLst>
          </p:cNvPr>
          <p:cNvSpPr txBox="1"/>
          <p:nvPr/>
        </p:nvSpPr>
        <p:spPr>
          <a:xfrm>
            <a:off x="10083562" y="3218762"/>
            <a:ext cx="249140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200" dirty="0">
                <a:latin typeface="Aptos" panose="020B0004020202020204" pitchFamily="34" charset="0"/>
                <a:ea typeface="Palatino" pitchFamily="2" charset="77"/>
              </a:rPr>
              <a:t>k = 3</a:t>
            </a:r>
          </a:p>
        </p:txBody>
      </p:sp>
      <p:graphicFrame>
        <p:nvGraphicFramePr>
          <p:cNvPr id="11" name="Tabella 10">
            <a:extLst>
              <a:ext uri="{FF2B5EF4-FFF2-40B4-BE49-F238E27FC236}">
                <a16:creationId xmlns:a16="http://schemas.microsoft.com/office/drawing/2014/main" id="{6CBB7964-B859-9F46-9422-F1B3E3BBB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40626215"/>
              </p:ext>
            </p:extLst>
          </p:nvPr>
        </p:nvGraphicFramePr>
        <p:xfrm>
          <a:off x="2863495" y="5605684"/>
          <a:ext cx="7085500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550">
                  <a:extLst>
                    <a:ext uri="{9D8B030D-6E8A-4147-A177-3AD203B41FA5}">
                      <a16:colId xmlns:a16="http://schemas.microsoft.com/office/drawing/2014/main" val="1303210429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51826316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730153429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657693152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8154250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25438368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504262997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2482943454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92694014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904868811"/>
                    </a:ext>
                  </a:extLst>
                </a:gridCol>
              </a:tblGrid>
              <a:tr h="259560"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B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C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D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E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 err="1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W</a:t>
                      </a:r>
                      <a:endParaRPr lang="it-IT" sz="2200" b="0" dirty="0">
                        <a:solidFill>
                          <a:sysClr val="windowText" lastClr="000000"/>
                        </a:solidFill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X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Y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 err="1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Z</a:t>
                      </a:r>
                      <a:endParaRPr lang="it-IT" sz="2200" b="0" dirty="0">
                        <a:solidFill>
                          <a:sysClr val="windowText" lastClr="000000"/>
                        </a:solidFill>
                        <a:latin typeface="Palatino" pitchFamily="2" charset="77"/>
                        <a:ea typeface="Palatino" pitchFamily="2" charset="77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971071"/>
                  </a:ext>
                </a:extLst>
              </a:tr>
            </a:tbl>
          </a:graphicData>
        </a:graphic>
      </p:graphicFrame>
      <p:graphicFrame>
        <p:nvGraphicFramePr>
          <p:cNvPr id="12" name="Tabella 11">
            <a:extLst>
              <a:ext uri="{FF2B5EF4-FFF2-40B4-BE49-F238E27FC236}">
                <a16:creationId xmlns:a16="http://schemas.microsoft.com/office/drawing/2014/main" id="{4028EA20-701B-F644-9ACE-8DF6A6F4DCE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5879036"/>
              </p:ext>
            </p:extLst>
          </p:nvPr>
        </p:nvGraphicFramePr>
        <p:xfrm>
          <a:off x="2863495" y="6197685"/>
          <a:ext cx="7085500" cy="426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550">
                  <a:extLst>
                    <a:ext uri="{9D8B030D-6E8A-4147-A177-3AD203B41FA5}">
                      <a16:colId xmlns:a16="http://schemas.microsoft.com/office/drawing/2014/main" val="1303210429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51826316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730153429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657693152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8154250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254383683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504262997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2482943454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192694014"/>
                    </a:ext>
                  </a:extLst>
                </a:gridCol>
                <a:gridCol w="708550">
                  <a:extLst>
                    <a:ext uri="{9D8B030D-6E8A-4147-A177-3AD203B41FA5}">
                      <a16:colId xmlns:a16="http://schemas.microsoft.com/office/drawing/2014/main" val="904868811"/>
                    </a:ext>
                  </a:extLst>
                </a:gridCol>
              </a:tblGrid>
              <a:tr h="259560"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F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M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P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Z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G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…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S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J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L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it-IT" sz="2200" b="0" dirty="0">
                          <a:solidFill>
                            <a:sysClr val="windowText" lastClr="000000"/>
                          </a:solidFill>
                          <a:latin typeface="Palatino" pitchFamily="2" charset="77"/>
                          <a:ea typeface="Palatino" pitchFamily="2" charset="77"/>
                        </a:rPr>
                        <a:t>A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32971071"/>
                  </a:ext>
                </a:extLst>
              </a:tr>
            </a:tbl>
          </a:graphicData>
        </a:graphic>
      </p:graphicFrame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732264" y="5582411"/>
            <a:ext cx="249140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200" dirty="0" err="1">
                <a:latin typeface="Aptos" panose="020B0004020202020204" pitchFamily="34" charset="0"/>
                <a:ea typeface="Palatino" pitchFamily="2" charset="77"/>
              </a:rPr>
              <a:t>Plain</a:t>
            </a:r>
            <a:r>
              <a:rPr lang="it-IT" sz="2200" dirty="0">
                <a:latin typeface="Aptos" panose="020B0004020202020204" pitchFamily="34" charset="0"/>
                <a:ea typeface="Palatino" pitchFamily="2" charset="77"/>
              </a:rPr>
              <a:t> text:</a:t>
            </a:r>
          </a:p>
        </p:txBody>
      </p:sp>
      <p:sp>
        <p:nvSpPr>
          <p:cNvPr id="14" name="CasellaDiTesto 13">
            <a:extLst>
              <a:ext uri="{FF2B5EF4-FFF2-40B4-BE49-F238E27FC236}">
                <a16:creationId xmlns:a16="http://schemas.microsoft.com/office/drawing/2014/main" id="{BA9775AB-8777-F249-8AA2-9314BA67F1B7}"/>
              </a:ext>
            </a:extLst>
          </p:cNvPr>
          <p:cNvSpPr txBox="1"/>
          <p:nvPr/>
        </p:nvSpPr>
        <p:spPr>
          <a:xfrm>
            <a:off x="732264" y="6169207"/>
            <a:ext cx="2491408" cy="4308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200" dirty="0" err="1">
                <a:latin typeface="Aptos" panose="020B0004020202020204" pitchFamily="34" charset="0"/>
                <a:ea typeface="Palatino" pitchFamily="2" charset="77"/>
              </a:rPr>
              <a:t>Encrypted</a:t>
            </a:r>
            <a:r>
              <a:rPr lang="it-IT" sz="2200" dirty="0">
                <a:latin typeface="Aptos" panose="020B0004020202020204" pitchFamily="34" charset="0"/>
                <a:ea typeface="Palatino" pitchFamily="2" charset="77"/>
              </a:rPr>
              <a:t> text:</a:t>
            </a:r>
          </a:p>
        </p:txBody>
      </p:sp>
    </p:spTree>
    <p:extLst>
      <p:ext uri="{BB962C8B-B14F-4D97-AF65-F5344CB8AC3E}">
        <p14:creationId xmlns:p14="http://schemas.microsoft.com/office/powerpoint/2010/main" val="387206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64063F-8EB8-9A4D-9A9F-7163354AB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Modern cryptography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536A219-D253-F341-B2E7-06118134B14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encryption algorithm is made so complex that, even if the cryptanalyst acquires vast amount of enciphered text, he/she will not be able to make any sense of it without the key.</a:t>
            </a:r>
          </a:p>
          <a:p>
            <a:endParaRPr lang="en-US" dirty="0"/>
          </a:p>
          <a:p>
            <a:r>
              <a:rPr lang="en-US" dirty="0"/>
              <a:t>There are mainly two classes of cryptography algorithms: </a:t>
            </a:r>
          </a:p>
          <a:p>
            <a:endParaRPr lang="en-US" dirty="0"/>
          </a:p>
          <a:p>
            <a:pPr lvl="1"/>
            <a:r>
              <a:rPr lang="en-US" sz="2400" b="1" dirty="0"/>
              <a:t>Symmetric-key algorithms </a:t>
            </a:r>
            <a:r>
              <a:rPr lang="en-US" sz="2400" b="1" dirty="0">
                <a:sym typeface="Wingdings" panose="05000000000000000000" pitchFamily="2" charset="2"/>
              </a:rPr>
              <a:t> </a:t>
            </a:r>
            <a:r>
              <a:rPr lang="en-US" sz="2400" dirty="0"/>
              <a:t>same key for encryption and decryption</a:t>
            </a:r>
          </a:p>
          <a:p>
            <a:pPr lvl="1"/>
            <a:endParaRPr lang="en-US" sz="2400" dirty="0"/>
          </a:p>
          <a:p>
            <a:pPr lvl="1"/>
            <a:r>
              <a:rPr lang="en-US" sz="2400" b="1" dirty="0"/>
              <a:t>Asymmetric-key algorithms </a:t>
            </a:r>
            <a:r>
              <a:rPr lang="en-US" sz="2400" b="1" dirty="0">
                <a:sym typeface="Wingdings" panose="05000000000000000000" pitchFamily="2" charset="2"/>
              </a:rPr>
              <a:t> </a:t>
            </a:r>
            <a:r>
              <a:rPr lang="en-US" sz="2400" dirty="0"/>
              <a:t>different key for encryption and decryption</a:t>
            </a:r>
          </a:p>
          <a:p>
            <a:pPr lvl="1"/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DC17BDE-DE11-4749-A335-1CC1BFB2B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094359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Symmetric-key algorithms</a:t>
            </a:r>
            <a:endParaRPr lang="en-GB" dirty="0"/>
          </a:p>
        </p:txBody>
      </p:sp>
      <p:pic>
        <p:nvPicPr>
          <p:cNvPr id="5" name="Segnaposto contenuto 4"/>
          <p:cNvPicPr>
            <a:picLocks noGrp="1" noChangeAspect="1"/>
          </p:cNvPicPr>
          <p:nvPr>
            <p:ph idx="1"/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59"/>
          <a:stretch/>
        </p:blipFill>
        <p:spPr>
          <a:xfrm>
            <a:off x="2261385" y="3790268"/>
            <a:ext cx="7673711" cy="2768099"/>
          </a:xfrm>
        </p:spPr>
      </p:pic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7</a:t>
            </a:fld>
            <a:endParaRPr lang="en-GB"/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A536A219-D253-F341-B2E7-06118134B140}"/>
              </a:ext>
            </a:extLst>
          </p:cNvPr>
          <p:cNvSpPr txBox="1">
            <a:spLocks/>
          </p:cNvSpPr>
          <p:nvPr/>
        </p:nvSpPr>
        <p:spPr>
          <a:xfrm>
            <a:off x="428172" y="1361167"/>
            <a:ext cx="11368314" cy="48582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Aptos" panose="020B0004020202020204" pitchFamily="34" charset="0"/>
              </a:rPr>
              <a:t>The key for encrypting the data is the same to be used for decrypting the ciphered message.</a:t>
            </a:r>
          </a:p>
          <a:p>
            <a:r>
              <a:rPr lang="en-US" dirty="0">
                <a:latin typeface="Aptos" panose="020B0004020202020204" pitchFamily="34" charset="0"/>
              </a:rPr>
              <a:t>The key must be shared between the sender and the recipient, but it must be protected, because any user having the key can potentially decrypt the message.</a:t>
            </a:r>
          </a:p>
          <a:p>
            <a:r>
              <a:rPr lang="en-US" dirty="0">
                <a:latin typeface="Aptos" panose="020B0004020202020204" pitchFamily="34" charset="0"/>
              </a:rPr>
              <a:t>Also called </a:t>
            </a:r>
            <a:r>
              <a:rPr lang="en-US" b="1" dirty="0">
                <a:latin typeface="Aptos" panose="020B0004020202020204" pitchFamily="34" charset="0"/>
              </a:rPr>
              <a:t>private-key</a:t>
            </a:r>
            <a:r>
              <a:rPr lang="en-US" dirty="0">
                <a:latin typeface="Aptos" panose="020B0004020202020204" pitchFamily="34" charset="0"/>
              </a:rPr>
              <a:t> cryptography algorithms.</a:t>
            </a:r>
          </a:p>
          <a:p>
            <a:pPr lvl="1"/>
            <a:endParaRPr lang="it-IT" dirty="0">
              <a:latin typeface="Aptos" panose="020B0004020202020204" pitchFamily="34" charset="0"/>
            </a:endParaRPr>
          </a:p>
        </p:txBody>
      </p:sp>
      <p:sp>
        <p:nvSpPr>
          <p:cNvPr id="7" name="Rettangolo 6"/>
          <p:cNvSpPr/>
          <p:nvPr/>
        </p:nvSpPr>
        <p:spPr>
          <a:xfrm>
            <a:off x="4526283" y="3938451"/>
            <a:ext cx="1051561" cy="2619917"/>
          </a:xfrm>
          <a:prstGeom prst="rect">
            <a:avLst/>
          </a:prstGeom>
          <a:noFill/>
          <a:ln w="28575"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8" name="Rettangolo 7"/>
          <p:cNvSpPr/>
          <p:nvPr/>
        </p:nvSpPr>
        <p:spPr>
          <a:xfrm>
            <a:off x="6511769" y="3938450"/>
            <a:ext cx="1051561" cy="2619917"/>
          </a:xfrm>
          <a:prstGeom prst="rect">
            <a:avLst/>
          </a:prstGeom>
          <a:noFill/>
          <a:ln w="28575">
            <a:solidFill>
              <a:srgbClr val="00B05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4343399" y="3524755"/>
            <a:ext cx="1521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solidFill>
                  <a:srgbClr val="FFC000"/>
                </a:solidFill>
                <a:latin typeface="Aptos" panose="020B0004020202020204" pitchFamily="34" charset="0"/>
              </a:rPr>
              <a:t>Encryption</a:t>
            </a:r>
            <a:endParaRPr lang="en-GB" b="1" dirty="0">
              <a:solidFill>
                <a:srgbClr val="FFC000"/>
              </a:solidFill>
              <a:latin typeface="Aptos" panose="020B0004020202020204" pitchFamily="34" charset="0"/>
            </a:endParaRPr>
          </a:p>
        </p:txBody>
      </p:sp>
      <p:sp>
        <p:nvSpPr>
          <p:cNvPr id="10" name="CasellaDiTesto 9"/>
          <p:cNvSpPr txBox="1"/>
          <p:nvPr/>
        </p:nvSpPr>
        <p:spPr>
          <a:xfrm>
            <a:off x="6276637" y="3524755"/>
            <a:ext cx="1521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solidFill>
                  <a:srgbClr val="00B050"/>
                </a:solidFill>
                <a:latin typeface="Aptos" panose="020B0004020202020204" pitchFamily="34" charset="0"/>
              </a:rPr>
              <a:t>Decryption</a:t>
            </a:r>
            <a:endParaRPr lang="en-GB" b="1" dirty="0">
              <a:solidFill>
                <a:srgbClr val="00B050"/>
              </a:solidFill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68278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Data </a:t>
            </a:r>
            <a:r>
              <a:rPr lang="it-IT" dirty="0" err="1"/>
              <a:t>Encryption</a:t>
            </a:r>
            <a:r>
              <a:rPr lang="it-IT" dirty="0"/>
              <a:t> Standard (DES)</a:t>
            </a:r>
            <a:endParaRPr lang="en-GB" dirty="0"/>
          </a:p>
        </p:txBody>
      </p:sp>
      <p:pic>
        <p:nvPicPr>
          <p:cNvPr id="5" name="Segnaposto contenuto 4"/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1628" y="1259591"/>
            <a:ext cx="2734928" cy="4859337"/>
          </a:xfrm>
        </p:spPr>
      </p:pic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8</a:t>
            </a:fld>
            <a:endParaRPr lang="en-GB"/>
          </a:p>
        </p:txBody>
      </p:sp>
      <p:sp>
        <p:nvSpPr>
          <p:cNvPr id="6" name="Segnaposto contenuto 2">
            <a:extLst>
              <a:ext uri="{FF2B5EF4-FFF2-40B4-BE49-F238E27FC236}">
                <a16:creationId xmlns:a16="http://schemas.microsoft.com/office/drawing/2014/main" id="{A536A219-D253-F341-B2E7-06118134B140}"/>
              </a:ext>
            </a:extLst>
          </p:cNvPr>
          <p:cNvSpPr txBox="1">
            <a:spLocks/>
          </p:cNvSpPr>
          <p:nvPr/>
        </p:nvSpPr>
        <p:spPr>
          <a:xfrm>
            <a:off x="428172" y="1361167"/>
            <a:ext cx="8353456" cy="485820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00B050"/>
              </a:buClr>
              <a:buFont typeface="Wingdings" panose="05000000000000000000" pitchFamily="2" charset="2"/>
              <a:buChar char="Ø"/>
              <a:defRPr sz="24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Wingdings" panose="05000000000000000000" pitchFamily="2" charset="2"/>
              <a:buChar char="§"/>
              <a:defRPr sz="20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00B050"/>
              </a:buClr>
              <a:buFont typeface="Times New Roman" panose="02020603050405020304" pitchFamily="18" charset="0"/>
              <a:buChar char="̶"/>
              <a:defRPr sz="1600" kern="1200">
                <a:solidFill>
                  <a:schemeClr val="tx1"/>
                </a:solidFill>
                <a:latin typeface="Palatino Linotype" panose="02040502050505030304" pitchFamily="18" charset="0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>
                <a:latin typeface="Aptos" panose="020B0004020202020204" pitchFamily="34" charset="0"/>
              </a:rPr>
              <a:t>Introduced in the ‘70 by IBM and adopted as a security standard by the U.S. government for many years.  </a:t>
            </a:r>
          </a:p>
          <a:p>
            <a:r>
              <a:rPr lang="en-US" dirty="0">
                <a:latin typeface="Aptos" panose="020B0004020202020204" pitchFamily="34" charset="0"/>
              </a:rPr>
              <a:t>Encryption by groups of 64 bits. </a:t>
            </a:r>
          </a:p>
          <a:p>
            <a:r>
              <a:rPr lang="en-US" dirty="0">
                <a:latin typeface="Aptos" panose="020B0004020202020204" pitchFamily="34" charset="0"/>
              </a:rPr>
              <a:t>Key K made of 56 bits. </a:t>
            </a:r>
          </a:p>
          <a:p>
            <a:pPr lvl="1"/>
            <a:r>
              <a:rPr lang="en-US" dirty="0">
                <a:latin typeface="Aptos" panose="020B0004020202020204" pitchFamily="34" charset="0"/>
              </a:rPr>
              <a:t>From K, creates 16 keys (K</a:t>
            </a:r>
            <a:r>
              <a:rPr lang="en-US" baseline="-25000" dirty="0">
                <a:latin typeface="Aptos" panose="020B0004020202020204" pitchFamily="34" charset="0"/>
              </a:rPr>
              <a:t>i</a:t>
            </a:r>
            <a:r>
              <a:rPr lang="en-US" dirty="0">
                <a:latin typeface="Aptos" panose="020B0004020202020204" pitchFamily="34" charset="0"/>
              </a:rPr>
              <a:t>) of 48 bit using specific functions</a:t>
            </a:r>
          </a:p>
          <a:p>
            <a:r>
              <a:rPr lang="en-US" dirty="0">
                <a:latin typeface="Aptos" panose="020B0004020202020204" pitchFamily="34" charset="0"/>
              </a:rPr>
              <a:t>Encryption steps: </a:t>
            </a:r>
          </a:p>
          <a:p>
            <a:pPr lvl="1"/>
            <a:r>
              <a:rPr lang="en-US" sz="2200" dirty="0">
                <a:latin typeface="Aptos" panose="020B0004020202020204" pitchFamily="34" charset="0"/>
              </a:rPr>
              <a:t>Key-independent transposition</a:t>
            </a:r>
          </a:p>
          <a:p>
            <a:pPr lvl="1"/>
            <a:r>
              <a:rPr lang="en-US" sz="2200" dirty="0">
                <a:latin typeface="Aptos" panose="020B0004020202020204" pitchFamily="34" charset="0"/>
              </a:rPr>
              <a:t>16 encryption iterations using each </a:t>
            </a:r>
            <a:r>
              <a:rPr lang="en-US" sz="2000" dirty="0">
                <a:latin typeface="Aptos" panose="020B0004020202020204" pitchFamily="34" charset="0"/>
              </a:rPr>
              <a:t>K</a:t>
            </a:r>
            <a:r>
              <a:rPr lang="en-US" sz="2000" baseline="-25000" dirty="0">
                <a:latin typeface="Aptos" panose="020B0004020202020204" pitchFamily="34" charset="0"/>
              </a:rPr>
              <a:t>i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</a:p>
          <a:p>
            <a:pPr lvl="1"/>
            <a:r>
              <a:rPr lang="en-US" sz="2200" dirty="0">
                <a:latin typeface="Aptos" panose="020B0004020202020204" pitchFamily="34" charset="0"/>
              </a:rPr>
              <a:t>Swap of the leftmost 32 bits with the rightmost 32 bits</a:t>
            </a:r>
          </a:p>
          <a:p>
            <a:pPr lvl="1"/>
            <a:r>
              <a:rPr lang="en-US" sz="2200" dirty="0">
                <a:latin typeface="Aptos" panose="020B0004020202020204" pitchFamily="34" charset="0"/>
              </a:rPr>
              <a:t>Inverse of the key-independent transposition</a:t>
            </a:r>
          </a:p>
          <a:p>
            <a:r>
              <a:rPr lang="en-US" dirty="0">
                <a:latin typeface="Aptos" panose="020B0004020202020204" pitchFamily="34" charset="0"/>
              </a:rPr>
              <a:t>Decryption done with the same steps in reverse order.</a:t>
            </a:r>
          </a:p>
        </p:txBody>
      </p:sp>
    </p:spTree>
    <p:extLst>
      <p:ext uri="{BB962C8B-B14F-4D97-AF65-F5344CB8AC3E}">
        <p14:creationId xmlns:p14="http://schemas.microsoft.com/office/powerpoint/2010/main" val="5613620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2F64063F-8EB8-9A4D-9A9F-7163354AB6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Triple DES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A536A219-D253-F341-B2E7-06118134B14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49795" y="1260713"/>
            <a:ext cx="11368314" cy="5157339"/>
          </a:xfrm>
        </p:spPr>
        <p:txBody>
          <a:bodyPr>
            <a:normAutofit/>
          </a:bodyPr>
          <a:lstStyle/>
          <a:p>
            <a:r>
              <a:rPr lang="en-GB" sz="2200" dirty="0"/>
              <a:t>1977: Diffie and Hellman (Stanford) designed a machine able to break DES by exhaustive search in less than a day and estimated that it could be built for 20 million $. </a:t>
            </a:r>
          </a:p>
          <a:p>
            <a:r>
              <a:rPr lang="en-GB" sz="2200" dirty="0"/>
              <a:t>1979: IBM proposed</a:t>
            </a:r>
            <a:r>
              <a:rPr lang="en-GB" sz="2200" dirty="0">
                <a:sym typeface="Wingdings" panose="05000000000000000000" pitchFamily="2" charset="2"/>
              </a:rPr>
              <a:t> </a:t>
            </a:r>
            <a:r>
              <a:rPr lang="en-GB" sz="2200" b="1" dirty="0">
                <a:sym typeface="Wingdings" panose="05000000000000000000" pitchFamily="2" charset="2"/>
              </a:rPr>
              <a:t>Triple DES algorithm</a:t>
            </a:r>
            <a:r>
              <a:rPr lang="en-GB" sz="2200" b="1" dirty="0"/>
              <a:t> </a:t>
            </a:r>
          </a:p>
          <a:p>
            <a:endParaRPr lang="it-IT" sz="2200" dirty="0"/>
          </a:p>
          <a:p>
            <a:endParaRPr lang="it-IT" sz="2200" dirty="0"/>
          </a:p>
          <a:p>
            <a:endParaRPr lang="it-IT" sz="2200" dirty="0"/>
          </a:p>
          <a:p>
            <a:endParaRPr lang="it-IT" sz="2200" dirty="0"/>
          </a:p>
          <a:p>
            <a:endParaRPr lang="it-IT" sz="2200" dirty="0"/>
          </a:p>
          <a:p>
            <a:endParaRPr lang="it-IT" sz="2200" dirty="0"/>
          </a:p>
          <a:p>
            <a:endParaRPr lang="it-IT" sz="2200" dirty="0"/>
          </a:p>
          <a:p>
            <a:r>
              <a:rPr lang="it-IT" sz="2200" dirty="0"/>
              <a:t>The triple DES key </a:t>
            </a:r>
            <a:r>
              <a:rPr lang="it-IT" sz="2200" dirty="0" err="1"/>
              <a:t>is</a:t>
            </a:r>
            <a:r>
              <a:rPr lang="it-IT" sz="2200" dirty="0"/>
              <a:t> 112-bit long (K</a:t>
            </a:r>
            <a:r>
              <a:rPr lang="it-IT" sz="2200" baseline="-25000" dirty="0"/>
              <a:t>1</a:t>
            </a:r>
            <a:r>
              <a:rPr lang="it-IT" sz="2200" dirty="0"/>
              <a:t>,K</a:t>
            </a:r>
            <a:r>
              <a:rPr lang="it-IT" sz="2200" baseline="-25000" dirty="0"/>
              <a:t>2</a:t>
            </a:r>
            <a:r>
              <a:rPr lang="it-IT" sz="2200" dirty="0"/>
              <a:t>).</a:t>
            </a:r>
          </a:p>
          <a:p>
            <a:r>
              <a:rPr lang="it-IT" sz="2200" dirty="0"/>
              <a:t>With K</a:t>
            </a:r>
            <a:r>
              <a:rPr lang="it-IT" sz="2200" baseline="-25000" dirty="0"/>
              <a:t>1</a:t>
            </a:r>
            <a:r>
              <a:rPr lang="it-IT" sz="2200" dirty="0"/>
              <a:t>=K</a:t>
            </a:r>
            <a:r>
              <a:rPr lang="it-IT" sz="2200" baseline="-25000" dirty="0"/>
              <a:t>2</a:t>
            </a:r>
            <a:r>
              <a:rPr lang="it-IT" sz="2200" dirty="0"/>
              <a:t> the triple DES </a:t>
            </a:r>
            <a:r>
              <a:rPr lang="it-IT" sz="2200" dirty="0" err="1"/>
              <a:t>is</a:t>
            </a:r>
            <a:r>
              <a:rPr lang="it-IT" sz="2200" dirty="0"/>
              <a:t> </a:t>
            </a:r>
            <a:r>
              <a:rPr lang="it-IT" sz="2200" dirty="0" err="1"/>
              <a:t>equivalent</a:t>
            </a:r>
            <a:r>
              <a:rPr lang="it-IT" sz="2200" dirty="0"/>
              <a:t> to DES.</a:t>
            </a:r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EDC17BDE-DE11-4749-A335-1CC1BFB2B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9</a:t>
            </a:fld>
            <a:endParaRPr lang="en-GB"/>
          </a:p>
        </p:txBody>
      </p:sp>
      <p:sp>
        <p:nvSpPr>
          <p:cNvPr id="5" name="Rettangolo 4"/>
          <p:cNvSpPr/>
          <p:nvPr/>
        </p:nvSpPr>
        <p:spPr>
          <a:xfrm>
            <a:off x="2424037" y="3211897"/>
            <a:ext cx="2083525" cy="49638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>
                <a:latin typeface="Aptos" panose="020B0004020202020204" pitchFamily="34" charset="0"/>
              </a:rPr>
              <a:t>DES </a:t>
            </a:r>
            <a:r>
              <a:rPr lang="it-IT" sz="2000" dirty="0" err="1">
                <a:latin typeface="Aptos" panose="020B0004020202020204" pitchFamily="34" charset="0"/>
              </a:rPr>
              <a:t>encryption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402923" y="3251948"/>
            <a:ext cx="16422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Plain</a:t>
            </a:r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 data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BA9775AB-8777-F249-8AA2-9314BA67F1B7}"/>
              </a:ext>
            </a:extLst>
          </p:cNvPr>
          <p:cNvSpPr txBox="1"/>
          <p:nvPr/>
        </p:nvSpPr>
        <p:spPr>
          <a:xfrm>
            <a:off x="10084239" y="3260036"/>
            <a:ext cx="24914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 err="1">
                <a:latin typeface="Palatino Linotype" panose="02040502050505030304" pitchFamily="18" charset="0"/>
                <a:ea typeface="Palatino" pitchFamily="2" charset="77"/>
              </a:rPr>
              <a:t>Encrypted</a:t>
            </a:r>
            <a:r>
              <a:rPr lang="it-IT" sz="2000" dirty="0">
                <a:latin typeface="Palatino Linotype" panose="02040502050505030304" pitchFamily="18" charset="0"/>
                <a:ea typeface="Palatino" pitchFamily="2" charset="77"/>
              </a:rPr>
              <a:t> data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3150839" y="2527136"/>
            <a:ext cx="629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>
                <a:latin typeface="Aptos" panose="020B0004020202020204" pitchFamily="34" charset="0"/>
                <a:ea typeface="Palatino" pitchFamily="2" charset="77"/>
              </a:rPr>
              <a:t>1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5697371" y="2506472"/>
            <a:ext cx="629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>
                <a:latin typeface="Aptos" panose="020B0004020202020204" pitchFamily="34" charset="0"/>
                <a:ea typeface="Palatino" pitchFamily="2" charset="77"/>
              </a:rPr>
              <a:t>2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8227211" y="2549604"/>
            <a:ext cx="629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>
                <a:latin typeface="Aptos" panose="020B0004020202020204" pitchFamily="34" charset="0"/>
                <a:ea typeface="Palatino" pitchFamily="2" charset="77"/>
              </a:rPr>
              <a:t>1</a:t>
            </a:r>
          </a:p>
        </p:txBody>
      </p:sp>
      <p:sp>
        <p:nvSpPr>
          <p:cNvPr id="13" name="Rettangolo 12"/>
          <p:cNvSpPr/>
          <p:nvPr/>
        </p:nvSpPr>
        <p:spPr>
          <a:xfrm>
            <a:off x="4970569" y="3211897"/>
            <a:ext cx="2083525" cy="49638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>
                <a:latin typeface="Aptos" panose="020B0004020202020204" pitchFamily="34" charset="0"/>
              </a:rPr>
              <a:t>DES </a:t>
            </a:r>
            <a:r>
              <a:rPr lang="it-IT" sz="2000" dirty="0" err="1">
                <a:latin typeface="Aptos" panose="020B0004020202020204" pitchFamily="34" charset="0"/>
              </a:rPr>
              <a:t>decryption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sp>
        <p:nvSpPr>
          <p:cNvPr id="14" name="Rettangolo 13"/>
          <p:cNvSpPr/>
          <p:nvPr/>
        </p:nvSpPr>
        <p:spPr>
          <a:xfrm>
            <a:off x="7500409" y="3203809"/>
            <a:ext cx="2083525" cy="49638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>
                <a:latin typeface="Aptos" panose="020B0004020202020204" pitchFamily="34" charset="0"/>
              </a:rPr>
              <a:t>DES </a:t>
            </a:r>
            <a:r>
              <a:rPr lang="it-IT" sz="2000" dirty="0" err="1">
                <a:latin typeface="Aptos" panose="020B0004020202020204" pitchFamily="34" charset="0"/>
              </a:rPr>
              <a:t>encryption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cxnSp>
        <p:nvCxnSpPr>
          <p:cNvPr id="16" name="Connettore 2 15"/>
          <p:cNvCxnSpPr>
            <a:stCxn id="10" idx="2"/>
            <a:endCxn id="5" idx="0"/>
          </p:cNvCxnSpPr>
          <p:nvPr/>
        </p:nvCxnSpPr>
        <p:spPr>
          <a:xfrm>
            <a:off x="3465799" y="2927246"/>
            <a:ext cx="1" cy="28465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Connettore 2 16"/>
          <p:cNvCxnSpPr/>
          <p:nvPr/>
        </p:nvCxnSpPr>
        <p:spPr>
          <a:xfrm>
            <a:off x="6012330" y="2938751"/>
            <a:ext cx="1" cy="28465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Connettore 2 17"/>
          <p:cNvCxnSpPr/>
          <p:nvPr/>
        </p:nvCxnSpPr>
        <p:spPr>
          <a:xfrm>
            <a:off x="8542171" y="2919158"/>
            <a:ext cx="1" cy="28465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Connettore 2 18"/>
          <p:cNvCxnSpPr>
            <a:stCxn id="8" idx="3"/>
            <a:endCxn id="5" idx="1"/>
          </p:cNvCxnSpPr>
          <p:nvPr/>
        </p:nvCxnSpPr>
        <p:spPr>
          <a:xfrm>
            <a:off x="2045214" y="3452003"/>
            <a:ext cx="378823" cy="8089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/>
          <p:cNvCxnSpPr>
            <a:stCxn id="5" idx="3"/>
            <a:endCxn id="13" idx="1"/>
          </p:cNvCxnSpPr>
          <p:nvPr/>
        </p:nvCxnSpPr>
        <p:spPr>
          <a:xfrm>
            <a:off x="4507562" y="3460092"/>
            <a:ext cx="463007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/>
          <p:cNvCxnSpPr>
            <a:stCxn id="13" idx="3"/>
            <a:endCxn id="14" idx="1"/>
          </p:cNvCxnSpPr>
          <p:nvPr/>
        </p:nvCxnSpPr>
        <p:spPr>
          <a:xfrm flipV="1">
            <a:off x="7054094" y="3452004"/>
            <a:ext cx="446315" cy="8088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onnettore 2 29"/>
          <p:cNvCxnSpPr>
            <a:stCxn id="14" idx="3"/>
          </p:cNvCxnSpPr>
          <p:nvPr/>
        </p:nvCxnSpPr>
        <p:spPr>
          <a:xfrm>
            <a:off x="9583934" y="3452004"/>
            <a:ext cx="501439" cy="8087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ttangolo 32"/>
          <p:cNvSpPr/>
          <p:nvPr/>
        </p:nvSpPr>
        <p:spPr>
          <a:xfrm>
            <a:off x="2404049" y="4471221"/>
            <a:ext cx="2083525" cy="49638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>
                <a:latin typeface="Aptos" panose="020B0004020202020204" pitchFamily="34" charset="0"/>
              </a:rPr>
              <a:t>DES </a:t>
            </a:r>
            <a:r>
              <a:rPr lang="it-IT" sz="2000" dirty="0" err="1">
                <a:latin typeface="Aptos" panose="020B0004020202020204" pitchFamily="34" charset="0"/>
              </a:rPr>
              <a:t>decryption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sp>
        <p:nvSpPr>
          <p:cNvPr id="34" name="CasellaDiTesto 33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38021" y="4511272"/>
            <a:ext cx="199136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Encrypted</a:t>
            </a:r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 data</a:t>
            </a:r>
          </a:p>
        </p:txBody>
      </p:sp>
      <p:sp>
        <p:nvSpPr>
          <p:cNvPr id="35" name="CasellaDiTesto 34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3130851" y="3786460"/>
            <a:ext cx="629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>
                <a:latin typeface="Aptos" panose="020B0004020202020204" pitchFamily="34" charset="0"/>
                <a:ea typeface="Palatino" pitchFamily="2" charset="77"/>
              </a:rPr>
              <a:t>1</a:t>
            </a:r>
          </a:p>
        </p:txBody>
      </p:sp>
      <p:sp>
        <p:nvSpPr>
          <p:cNvPr id="36" name="CasellaDiTesto 35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5677383" y="3808928"/>
            <a:ext cx="629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>
                <a:latin typeface="Aptos" panose="020B0004020202020204" pitchFamily="34" charset="0"/>
                <a:ea typeface="Palatino" pitchFamily="2" charset="77"/>
              </a:rPr>
              <a:t>2</a:t>
            </a:r>
          </a:p>
        </p:txBody>
      </p:sp>
      <p:sp>
        <p:nvSpPr>
          <p:cNvPr id="37" name="CasellaDiTesto 36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8207223" y="3808928"/>
            <a:ext cx="62992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>
                <a:latin typeface="Aptos" panose="020B0004020202020204" pitchFamily="34" charset="0"/>
                <a:ea typeface="Palatino" pitchFamily="2" charset="77"/>
              </a:rPr>
              <a:t>1</a:t>
            </a:r>
          </a:p>
        </p:txBody>
      </p:sp>
      <p:sp>
        <p:nvSpPr>
          <p:cNvPr id="38" name="Rettangolo 37"/>
          <p:cNvSpPr/>
          <p:nvPr/>
        </p:nvSpPr>
        <p:spPr>
          <a:xfrm>
            <a:off x="4950581" y="4471221"/>
            <a:ext cx="2083525" cy="49638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>
                <a:latin typeface="Aptos" panose="020B0004020202020204" pitchFamily="34" charset="0"/>
              </a:rPr>
              <a:t>DES </a:t>
            </a:r>
            <a:r>
              <a:rPr lang="it-IT" sz="2000" dirty="0" err="1">
                <a:latin typeface="Aptos" panose="020B0004020202020204" pitchFamily="34" charset="0"/>
              </a:rPr>
              <a:t>encryption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sp>
        <p:nvSpPr>
          <p:cNvPr id="39" name="Rettangolo 38"/>
          <p:cNvSpPr/>
          <p:nvPr/>
        </p:nvSpPr>
        <p:spPr>
          <a:xfrm>
            <a:off x="7480421" y="4463133"/>
            <a:ext cx="2083525" cy="49638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>
                <a:latin typeface="Aptos" panose="020B0004020202020204" pitchFamily="34" charset="0"/>
              </a:rPr>
              <a:t>DES </a:t>
            </a:r>
            <a:r>
              <a:rPr lang="it-IT" sz="2000" dirty="0" err="1">
                <a:latin typeface="Aptos" panose="020B0004020202020204" pitchFamily="34" charset="0"/>
              </a:rPr>
              <a:t>decryption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cxnSp>
        <p:nvCxnSpPr>
          <p:cNvPr id="40" name="Connettore 2 39"/>
          <p:cNvCxnSpPr>
            <a:stCxn id="35" idx="2"/>
            <a:endCxn id="33" idx="0"/>
          </p:cNvCxnSpPr>
          <p:nvPr/>
        </p:nvCxnSpPr>
        <p:spPr>
          <a:xfrm>
            <a:off x="3445811" y="4186570"/>
            <a:ext cx="1" cy="28465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Connettore 2 40"/>
          <p:cNvCxnSpPr/>
          <p:nvPr/>
        </p:nvCxnSpPr>
        <p:spPr>
          <a:xfrm>
            <a:off x="5992342" y="4198075"/>
            <a:ext cx="1" cy="28465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ttore 2 41"/>
          <p:cNvCxnSpPr/>
          <p:nvPr/>
        </p:nvCxnSpPr>
        <p:spPr>
          <a:xfrm>
            <a:off x="8522183" y="4178482"/>
            <a:ext cx="1" cy="28465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onnettore 2 42"/>
          <p:cNvCxnSpPr>
            <a:endCxn id="33" idx="1"/>
          </p:cNvCxnSpPr>
          <p:nvPr/>
        </p:nvCxnSpPr>
        <p:spPr>
          <a:xfrm>
            <a:off x="2117391" y="4719415"/>
            <a:ext cx="286658" cy="1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Connettore 2 43"/>
          <p:cNvCxnSpPr>
            <a:stCxn id="33" idx="3"/>
            <a:endCxn id="38" idx="1"/>
          </p:cNvCxnSpPr>
          <p:nvPr/>
        </p:nvCxnSpPr>
        <p:spPr>
          <a:xfrm>
            <a:off x="4487574" y="4719416"/>
            <a:ext cx="463007" cy="0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Connettore 2 44"/>
          <p:cNvCxnSpPr>
            <a:stCxn id="38" idx="3"/>
            <a:endCxn id="39" idx="1"/>
          </p:cNvCxnSpPr>
          <p:nvPr/>
        </p:nvCxnSpPr>
        <p:spPr>
          <a:xfrm flipV="1">
            <a:off x="7034106" y="4711328"/>
            <a:ext cx="446315" cy="8088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Connettore 2 45"/>
          <p:cNvCxnSpPr>
            <a:stCxn id="39" idx="3"/>
          </p:cNvCxnSpPr>
          <p:nvPr/>
        </p:nvCxnSpPr>
        <p:spPr>
          <a:xfrm>
            <a:off x="9563946" y="4711328"/>
            <a:ext cx="501439" cy="8087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CasellaDiTesto 46">
            <a:extLst>
              <a:ext uri="{FF2B5EF4-FFF2-40B4-BE49-F238E27FC236}">
                <a16:creationId xmlns:a16="http://schemas.microsoft.com/office/drawing/2014/main" id="{BA9775AB-8777-F249-8AA2-9314BA67F1B7}"/>
              </a:ext>
            </a:extLst>
          </p:cNvPr>
          <p:cNvSpPr txBox="1"/>
          <p:nvPr/>
        </p:nvSpPr>
        <p:spPr>
          <a:xfrm>
            <a:off x="10065385" y="4511272"/>
            <a:ext cx="249140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 err="1">
                <a:latin typeface="Palatino Linotype" panose="02040502050505030304" pitchFamily="18" charset="0"/>
                <a:ea typeface="Palatino" pitchFamily="2" charset="77"/>
              </a:rPr>
              <a:t>Plain</a:t>
            </a:r>
            <a:r>
              <a:rPr lang="it-IT" sz="2000" dirty="0">
                <a:latin typeface="Palatino Linotype" panose="02040502050505030304" pitchFamily="18" charset="0"/>
                <a:ea typeface="Palatino" pitchFamily="2" charset="77"/>
              </a:rPr>
              <a:t> data</a:t>
            </a:r>
          </a:p>
        </p:txBody>
      </p:sp>
    </p:spTree>
    <p:extLst>
      <p:ext uri="{BB962C8B-B14F-4D97-AF65-F5344CB8AC3E}">
        <p14:creationId xmlns:p14="http://schemas.microsoft.com/office/powerpoint/2010/main" val="25048484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Advanced </a:t>
            </a:r>
            <a:r>
              <a:rPr lang="it-IT" dirty="0" err="1"/>
              <a:t>Encryption</a:t>
            </a:r>
            <a:r>
              <a:rPr lang="it-IT" dirty="0"/>
              <a:t> Standard (AES)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248639"/>
          </a:xfrm>
        </p:spPr>
        <p:txBody>
          <a:bodyPr>
            <a:normAutofit/>
          </a:bodyPr>
          <a:lstStyle/>
          <a:p>
            <a:r>
              <a:rPr lang="en-US" dirty="0"/>
              <a:t>1997: the U.S. National Institute of Standards and Technology (NIST) invited researchers from all over the world to submit proposals for a new standard, to be called </a:t>
            </a:r>
            <a:r>
              <a:rPr lang="en-US" b="1" dirty="0"/>
              <a:t>AES </a:t>
            </a:r>
            <a:r>
              <a:rPr lang="en-US" dirty="0"/>
              <a:t>(</a:t>
            </a:r>
            <a:r>
              <a:rPr lang="en-US" b="1" dirty="0"/>
              <a:t>Advanced Encryption Standard</a:t>
            </a:r>
            <a:r>
              <a:rPr lang="en-US" dirty="0"/>
              <a:t>).</a:t>
            </a:r>
          </a:p>
          <a:p>
            <a:r>
              <a:rPr lang="en-US" dirty="0"/>
              <a:t>15 serious algorithms were proposed.</a:t>
            </a:r>
          </a:p>
          <a:p>
            <a:r>
              <a:rPr lang="en-US" dirty="0"/>
              <a:t>2000: NIST proclaimed the winner: </a:t>
            </a:r>
            <a:r>
              <a:rPr lang="en-US" b="1" dirty="0" err="1"/>
              <a:t>Rijndael</a:t>
            </a:r>
            <a:r>
              <a:rPr lang="en-US" dirty="0"/>
              <a:t>, by Joan </a:t>
            </a:r>
            <a:r>
              <a:rPr lang="en-US" dirty="0" err="1"/>
              <a:t>Daemen</a:t>
            </a:r>
            <a:r>
              <a:rPr lang="en-US" dirty="0"/>
              <a:t> and Vincent </a:t>
            </a:r>
            <a:r>
              <a:rPr lang="en-US" dirty="0" err="1"/>
              <a:t>Rijmen</a:t>
            </a:r>
            <a:r>
              <a:rPr lang="en-US" dirty="0"/>
              <a:t>, two young Belgian cryptographists. </a:t>
            </a:r>
          </a:p>
          <a:p>
            <a:r>
              <a:rPr lang="en-US" dirty="0"/>
              <a:t>2001: </a:t>
            </a:r>
            <a:r>
              <a:rPr lang="en-US" dirty="0" err="1"/>
              <a:t>Rijndael</a:t>
            </a:r>
            <a:r>
              <a:rPr lang="en-US" dirty="0"/>
              <a:t> became the new AES adopted by U.S. government.  </a:t>
            </a:r>
          </a:p>
          <a:p>
            <a:r>
              <a:rPr lang="en-US" dirty="0"/>
              <a:t>Two variants of AES are generally used: </a:t>
            </a:r>
          </a:p>
          <a:p>
            <a:pPr lvl="1"/>
            <a:r>
              <a:rPr lang="en-US" sz="2400" dirty="0"/>
              <a:t>Variant with blocks of 128 bits and a key of 128 bits</a:t>
            </a:r>
          </a:p>
          <a:p>
            <a:pPr lvl="1"/>
            <a:r>
              <a:rPr lang="en-US" sz="2400" dirty="0"/>
              <a:t>Variant with blocks of 128 bits and a key of 256 bits</a:t>
            </a:r>
          </a:p>
          <a:p>
            <a:pPr lvl="1"/>
            <a:endParaRPr lang="en-GB" dirty="0"/>
          </a:p>
          <a:p>
            <a:pPr lvl="1"/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10</a:t>
            </a:fld>
            <a:endParaRPr lang="en-GB"/>
          </a:p>
        </p:txBody>
      </p:sp>
      <p:sp>
        <p:nvSpPr>
          <p:cNvPr id="5" name="Rettangolo 4"/>
          <p:cNvSpPr/>
          <p:nvPr/>
        </p:nvSpPr>
        <p:spPr>
          <a:xfrm>
            <a:off x="6452559" y="5496833"/>
            <a:ext cx="4852852" cy="104207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ptos" panose="020B0004020202020204" pitchFamily="34" charset="0"/>
              </a:rPr>
              <a:t>Still considered one of the most secure cryptography algorithms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F86FEF38-5A5E-8FF7-7A57-6EE2EE56E3D6}"/>
              </a:ext>
            </a:extLst>
          </p:cNvPr>
          <p:cNvSpPr/>
          <p:nvPr/>
        </p:nvSpPr>
        <p:spPr>
          <a:xfrm>
            <a:off x="164706" y="353508"/>
            <a:ext cx="1913992" cy="4770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BONUS</a:t>
            </a:r>
          </a:p>
        </p:txBody>
      </p:sp>
    </p:spTree>
    <p:extLst>
      <p:ext uri="{BB962C8B-B14F-4D97-AF65-F5344CB8AC3E}">
        <p14:creationId xmlns:p14="http://schemas.microsoft.com/office/powerpoint/2010/main" val="37073420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Limitations</a:t>
            </a:r>
            <a:r>
              <a:rPr lang="it-IT" dirty="0"/>
              <a:t> of the </a:t>
            </a:r>
            <a:r>
              <a:rPr lang="it-IT" dirty="0" err="1"/>
              <a:t>symmetric-key</a:t>
            </a:r>
            <a:r>
              <a:rPr lang="it-IT" dirty="0"/>
              <a:t> </a:t>
            </a:r>
            <a:r>
              <a:rPr lang="it-IT" dirty="0" err="1"/>
              <a:t>algorithms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privacy of the key is fundamental. No matter how strong a cryptosystem is, if an intruder can steal the key, the system is worthless.</a:t>
            </a:r>
          </a:p>
          <a:p>
            <a:r>
              <a:rPr lang="en-US" dirty="0"/>
              <a:t>The key must be shared between the sender and the recipient.</a:t>
            </a:r>
          </a:p>
          <a:p>
            <a:pPr marL="0" indent="0">
              <a:buNone/>
            </a:pP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/>
              <a:t>	need to distribute the key and at the same time to keep it protected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11</a:t>
            </a:fld>
            <a:endParaRPr lang="en-GB"/>
          </a:p>
        </p:txBody>
      </p:sp>
      <p:sp>
        <p:nvSpPr>
          <p:cNvPr id="5" name="Freccia a destra 4">
            <a:extLst>
              <a:ext uri="{FF2B5EF4-FFF2-40B4-BE49-F238E27FC236}">
                <a16:creationId xmlns:a16="http://schemas.microsoft.com/office/drawing/2014/main" id="{E541D105-D0B6-F9B1-D8ED-8E8B122C60A3}"/>
              </a:ext>
            </a:extLst>
          </p:cNvPr>
          <p:cNvSpPr/>
          <p:nvPr/>
        </p:nvSpPr>
        <p:spPr>
          <a:xfrm>
            <a:off x="810883" y="3156747"/>
            <a:ext cx="526212" cy="258792"/>
          </a:xfrm>
          <a:prstGeom prst="rightArrow">
            <a:avLst/>
          </a:prstGeom>
          <a:solidFill>
            <a:srgbClr val="00B05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pic>
        <p:nvPicPr>
          <p:cNvPr id="7" name="Picture 6" descr="A key in a shield&#10;&#10;Description automatically generated">
            <a:extLst>
              <a:ext uri="{FF2B5EF4-FFF2-40B4-BE49-F238E27FC236}">
                <a16:creationId xmlns:a16="http://schemas.microsoft.com/office/drawing/2014/main" id="{AD12D452-06F5-48AD-1F11-AF174F4DBF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3543" y="4520884"/>
            <a:ext cx="1414670" cy="1414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0874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0774" y="3426528"/>
            <a:ext cx="5921175" cy="2783628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Diffie-Hellman</a:t>
            </a:r>
            <a:r>
              <a:rPr lang="it-IT" dirty="0"/>
              <a:t> </a:t>
            </a:r>
            <a:r>
              <a:rPr lang="it-IT" dirty="0" err="1"/>
              <a:t>key</a:t>
            </a:r>
            <a:r>
              <a:rPr lang="it-IT" dirty="0"/>
              <a:t> </a:t>
            </a:r>
            <a:r>
              <a:rPr lang="it-IT" dirty="0" err="1"/>
              <a:t>exchange</a:t>
            </a:r>
            <a:r>
              <a:rPr lang="it-IT" dirty="0"/>
              <a:t> </a:t>
            </a:r>
            <a:r>
              <a:rPr lang="it-IT" dirty="0" err="1"/>
              <a:t>protocol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sz="2000" b="1" dirty="0"/>
              <a:t>Diffie-Hellman key exchange </a:t>
            </a:r>
            <a:r>
              <a:rPr lang="en-GB" sz="2000" dirty="0"/>
              <a:t>protocol: two users (Alice and Bob) that never met before can establish a shared secret key (Diffie and Hellman, 1976).</a:t>
            </a:r>
          </a:p>
          <a:p>
            <a:r>
              <a:rPr lang="en-GB" sz="2000" dirty="0"/>
              <a:t>Alice and Bob have to agree on two large numbers, </a:t>
            </a:r>
            <a:r>
              <a:rPr lang="en-GB" sz="2000" i="1" dirty="0"/>
              <a:t>n </a:t>
            </a:r>
            <a:r>
              <a:rPr lang="en-GB" sz="2000" dirty="0"/>
              <a:t>and </a:t>
            </a:r>
            <a:r>
              <a:rPr lang="en-GB" sz="2000" i="1" dirty="0"/>
              <a:t>g</a:t>
            </a:r>
            <a:r>
              <a:rPr lang="en-GB" sz="2000" dirty="0"/>
              <a:t>, where </a:t>
            </a:r>
            <a:r>
              <a:rPr lang="en-GB" sz="2000" i="1" dirty="0"/>
              <a:t>n </a:t>
            </a:r>
            <a:r>
              <a:rPr lang="en-GB" sz="2000" dirty="0"/>
              <a:t>is a prime, (</a:t>
            </a:r>
            <a:r>
              <a:rPr lang="en-GB" sz="2000" i="1" dirty="0"/>
              <a:t>n </a:t>
            </a:r>
            <a:r>
              <a:rPr lang="en-GB" sz="2000" dirty="0"/>
              <a:t>− 1)</a:t>
            </a:r>
            <a:r>
              <a:rPr lang="en-GB" sz="2000" i="1" dirty="0"/>
              <a:t>/</a:t>
            </a:r>
            <a:r>
              <a:rPr lang="en-GB" sz="2000" dirty="0"/>
              <a:t>2 is also a prime, and certain conditions apply to </a:t>
            </a:r>
            <a:r>
              <a:rPr lang="en-GB" sz="2000" i="1" dirty="0"/>
              <a:t>g</a:t>
            </a:r>
            <a:r>
              <a:rPr lang="en-GB" sz="2000" dirty="0"/>
              <a:t>. These numbers may be public.</a:t>
            </a:r>
          </a:p>
          <a:p>
            <a:r>
              <a:rPr lang="en-GB" sz="2000" dirty="0"/>
              <a:t>Now Alice picks a large (e.g., 1024-bit) number, </a:t>
            </a:r>
            <a:r>
              <a:rPr lang="en-GB" sz="2000" i="1" dirty="0"/>
              <a:t>x</a:t>
            </a:r>
            <a:r>
              <a:rPr lang="en-GB" sz="2000" dirty="0"/>
              <a:t>, and keeps it secret. </a:t>
            </a:r>
          </a:p>
          <a:p>
            <a:r>
              <a:rPr lang="en-GB" sz="2000" dirty="0"/>
              <a:t>Similarly, Bob picks a large secret number, </a:t>
            </a:r>
            <a:r>
              <a:rPr lang="en-GB" sz="2000" i="1" dirty="0"/>
              <a:t>y</a:t>
            </a:r>
            <a:r>
              <a:rPr lang="en-GB" sz="2000" dirty="0"/>
              <a:t>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1DE2C5B-556E-47B8-A792-024C2FCA4ACC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</a:endParaRPr>
          </a:p>
        </p:txBody>
      </p:sp>
      <p:sp>
        <p:nvSpPr>
          <p:cNvPr id="6" name="Rettangolo 5"/>
          <p:cNvSpPr/>
          <p:nvPr/>
        </p:nvSpPr>
        <p:spPr>
          <a:xfrm>
            <a:off x="6503907" y="3579715"/>
            <a:ext cx="5006692" cy="646331"/>
          </a:xfrm>
          <a:prstGeom prst="rect">
            <a:avLst/>
          </a:prstGeom>
          <a:ln>
            <a:solidFill>
              <a:srgbClr val="00B050"/>
            </a:solidFill>
          </a:ln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By the laws of modular arithmetic: </a:t>
            </a:r>
            <a:endParaRPr kumimoji="0" lang="it-IT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(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g</a:t>
            </a:r>
            <a:r>
              <a:rPr kumimoji="0" lang="it-IT" sz="1800" b="0" i="0" u="none" strike="noStrike" kern="1200" cap="none" spc="0" normalizeH="0" baseline="3000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y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mod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n)</a:t>
            </a:r>
            <a:r>
              <a:rPr kumimoji="0" lang="it-IT" sz="18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x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mod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n = (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g</a:t>
            </a:r>
            <a:r>
              <a:rPr kumimoji="0" lang="it-IT" sz="1800" b="0" i="0" u="none" strike="noStrike" kern="1200" cap="none" spc="0" normalizeH="0" baseline="3000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x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mod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n)</a:t>
            </a:r>
            <a:r>
              <a:rPr kumimoji="0" lang="it-IT" sz="1800" b="0" i="0" u="none" strike="noStrike" kern="1200" cap="none" spc="0" normalizeH="0" baseline="3000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y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mod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n =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g</a:t>
            </a:r>
            <a:r>
              <a:rPr kumimoji="0" lang="it-IT" sz="1800" b="0" i="0" u="none" strike="noStrike" kern="1200" cap="none" spc="0" normalizeH="0" baseline="3000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xy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mod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n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</a:endParaRPr>
          </a:p>
        </p:txBody>
      </p:sp>
      <p:sp>
        <p:nvSpPr>
          <p:cNvPr id="8" name="Rettangolo 7"/>
          <p:cNvSpPr/>
          <p:nvPr/>
        </p:nvSpPr>
        <p:spPr>
          <a:xfrm>
            <a:off x="6772891" y="4896046"/>
            <a:ext cx="4468723" cy="369332"/>
          </a:xfrm>
          <a:prstGeom prst="rect">
            <a:avLst/>
          </a:prstGeom>
          <a:ln>
            <a:solidFill>
              <a:srgbClr val="00B050"/>
            </a:solidFill>
          </a:ln>
        </p:spPr>
        <p:txBody>
          <a:bodyPr wrap="none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g</a:t>
            </a:r>
            <a:r>
              <a:rPr kumimoji="0" lang="it-IT" sz="1800" b="0" i="0" u="none" strike="noStrike" kern="1200" cap="none" spc="0" normalizeH="0" baseline="3000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xy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mod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n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is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the secret </a:t>
            </a:r>
            <a:r>
              <a:rPr kumimoji="0" lang="it-IT" sz="1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key</a:t>
            </a:r>
            <a:r>
              <a:rPr kumimoji="0" lang="it-IT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for Alice and Bob</a:t>
            </a:r>
            <a:endParaRPr kumimoji="0" lang="en-GB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</a:endParaRPr>
          </a:p>
        </p:txBody>
      </p:sp>
      <p:sp>
        <p:nvSpPr>
          <p:cNvPr id="9" name="Freccia a destra 8"/>
          <p:cNvSpPr/>
          <p:nvPr/>
        </p:nvSpPr>
        <p:spPr>
          <a:xfrm rot="5400000">
            <a:off x="8709470" y="4393594"/>
            <a:ext cx="595563" cy="342900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Aptos" panose="020B0004020202020204" pitchFamily="34" charset="0"/>
            </a:endParaRPr>
          </a:p>
        </p:txBody>
      </p:sp>
      <p:sp>
        <p:nvSpPr>
          <p:cNvPr id="10" name="Rettangolo 9"/>
          <p:cNvSpPr/>
          <p:nvPr/>
        </p:nvSpPr>
        <p:spPr>
          <a:xfrm>
            <a:off x="428172" y="6287860"/>
            <a:ext cx="10155601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The strength of the approach is that from only </a:t>
            </a:r>
            <a:r>
              <a:rPr kumimoji="0" lang="en-GB" sz="2000" b="0" i="1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g</a:t>
            </a:r>
            <a:r>
              <a:rPr kumimoji="0" lang="en-GB" sz="2000" b="0" i="1" u="none" strike="noStrike" kern="1200" cap="none" spc="0" normalizeH="0" baseline="3000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x</a:t>
            </a:r>
            <a:r>
              <a:rPr kumimoji="0" lang="en-GB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mod n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, </a:t>
            </a:r>
            <a:r>
              <a:rPr kumimoji="0" lang="en-GB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n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, and </a:t>
            </a:r>
            <a:r>
              <a:rPr kumimoji="0" lang="en-GB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g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 is very difficult to find </a:t>
            </a:r>
            <a:r>
              <a:rPr kumimoji="0" lang="en-GB" sz="2000" b="0" i="1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x.</a:t>
            </a:r>
          </a:p>
        </p:txBody>
      </p:sp>
    </p:spTree>
    <p:extLst>
      <p:ext uri="{BB962C8B-B14F-4D97-AF65-F5344CB8AC3E}">
        <p14:creationId xmlns:p14="http://schemas.microsoft.com/office/powerpoint/2010/main" val="375425349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r>
              <a:rPr lang="it-IT" dirty="0"/>
              <a:t> of generation of a secret </a:t>
            </a:r>
            <a:r>
              <a:rPr lang="it-IT" dirty="0" err="1"/>
              <a:t>key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Alice and Bob publicly agree to use </a:t>
            </a:r>
            <a:r>
              <a:rPr lang="en-GB" i="1" dirty="0"/>
              <a:t>n</a:t>
            </a:r>
            <a:r>
              <a:rPr lang="en-GB" dirty="0"/>
              <a:t> = 23 and </a:t>
            </a:r>
            <a:r>
              <a:rPr lang="en-GB" i="1" dirty="0"/>
              <a:t>g</a:t>
            </a:r>
            <a:r>
              <a:rPr lang="en-GB" dirty="0"/>
              <a:t> = 5 (which is a primitive root modulo 23).</a:t>
            </a:r>
          </a:p>
          <a:p>
            <a:r>
              <a:rPr lang="en-GB" dirty="0"/>
              <a:t>Alice chooses a secret integer </a:t>
            </a:r>
            <a:r>
              <a:rPr lang="en-GB" i="1" dirty="0"/>
              <a:t>x</a:t>
            </a:r>
            <a:r>
              <a:rPr lang="en-GB" dirty="0"/>
              <a:t> = 4, then sends Bob </a:t>
            </a:r>
            <a:r>
              <a:rPr lang="en-GB" i="1" dirty="0"/>
              <a:t>A</a:t>
            </a:r>
            <a:r>
              <a:rPr lang="en-GB" dirty="0"/>
              <a:t> = </a:t>
            </a:r>
            <a:r>
              <a:rPr lang="en-GB" i="1" dirty="0" err="1"/>
              <a:t>g</a:t>
            </a:r>
            <a:r>
              <a:rPr lang="en-GB" i="1" baseline="30000" dirty="0" err="1"/>
              <a:t>x</a:t>
            </a:r>
            <a:r>
              <a:rPr lang="en-GB" dirty="0"/>
              <a:t> mod </a:t>
            </a:r>
            <a:r>
              <a:rPr lang="en-GB" i="1" dirty="0"/>
              <a:t>n</a:t>
            </a:r>
            <a:endParaRPr lang="en-GB" dirty="0"/>
          </a:p>
          <a:p>
            <a:pPr lvl="1"/>
            <a:r>
              <a:rPr lang="en-GB" i="1" dirty="0"/>
              <a:t>A</a:t>
            </a:r>
            <a:r>
              <a:rPr lang="en-GB" dirty="0"/>
              <a:t> = 5</a:t>
            </a:r>
            <a:r>
              <a:rPr lang="en-GB" baseline="30000" dirty="0"/>
              <a:t>4</a:t>
            </a:r>
            <a:r>
              <a:rPr lang="en-GB" dirty="0"/>
              <a:t> mod 23 = 4</a:t>
            </a:r>
          </a:p>
          <a:p>
            <a:r>
              <a:rPr lang="en-GB" dirty="0"/>
              <a:t>Bob chooses a secret integer </a:t>
            </a:r>
            <a:r>
              <a:rPr lang="en-GB" i="1" dirty="0"/>
              <a:t>y</a:t>
            </a:r>
            <a:r>
              <a:rPr lang="en-GB" dirty="0"/>
              <a:t> = 3, then sends Alice </a:t>
            </a:r>
            <a:r>
              <a:rPr lang="en-GB" i="1" dirty="0"/>
              <a:t>B</a:t>
            </a:r>
            <a:r>
              <a:rPr lang="en-GB" dirty="0"/>
              <a:t> = </a:t>
            </a:r>
            <a:r>
              <a:rPr lang="en-GB" i="1" dirty="0" err="1"/>
              <a:t>g</a:t>
            </a:r>
            <a:r>
              <a:rPr lang="en-GB" i="1" baseline="30000" dirty="0" err="1"/>
              <a:t>y</a:t>
            </a:r>
            <a:r>
              <a:rPr lang="en-GB" dirty="0"/>
              <a:t> mod </a:t>
            </a:r>
            <a:r>
              <a:rPr lang="en-GB" i="1" dirty="0"/>
              <a:t>n</a:t>
            </a:r>
            <a:endParaRPr lang="en-GB" dirty="0"/>
          </a:p>
          <a:p>
            <a:pPr lvl="1"/>
            <a:r>
              <a:rPr lang="en-GB" i="1" dirty="0"/>
              <a:t>B</a:t>
            </a:r>
            <a:r>
              <a:rPr lang="en-GB" dirty="0"/>
              <a:t> = 5</a:t>
            </a:r>
            <a:r>
              <a:rPr lang="en-GB" baseline="30000" dirty="0"/>
              <a:t>3</a:t>
            </a:r>
            <a:r>
              <a:rPr lang="en-GB" dirty="0"/>
              <a:t> mod 23 = 10</a:t>
            </a:r>
          </a:p>
          <a:p>
            <a:r>
              <a:rPr lang="en-GB" dirty="0"/>
              <a:t>Alice computes </a:t>
            </a:r>
            <a:r>
              <a:rPr lang="en-GB" i="1" dirty="0"/>
              <a:t>s</a:t>
            </a:r>
            <a:r>
              <a:rPr lang="en-GB" dirty="0"/>
              <a:t> = </a:t>
            </a:r>
            <a:r>
              <a:rPr lang="en-GB" i="1" dirty="0" err="1"/>
              <a:t>B</a:t>
            </a:r>
            <a:r>
              <a:rPr lang="en-GB" i="1" baseline="30000" dirty="0" err="1"/>
              <a:t>x</a:t>
            </a:r>
            <a:r>
              <a:rPr lang="en-GB" dirty="0"/>
              <a:t> mod </a:t>
            </a:r>
            <a:r>
              <a:rPr lang="en-GB" i="1" dirty="0"/>
              <a:t>n</a:t>
            </a:r>
            <a:endParaRPr lang="en-GB" dirty="0"/>
          </a:p>
          <a:p>
            <a:pPr lvl="1"/>
            <a:r>
              <a:rPr lang="en-GB" i="1" dirty="0"/>
              <a:t>s</a:t>
            </a:r>
            <a:r>
              <a:rPr lang="en-GB" dirty="0"/>
              <a:t> = 10</a:t>
            </a:r>
            <a:r>
              <a:rPr lang="en-GB" baseline="30000" dirty="0"/>
              <a:t>4</a:t>
            </a:r>
            <a:r>
              <a:rPr lang="en-GB" dirty="0"/>
              <a:t> mod 23 = 18</a:t>
            </a:r>
          </a:p>
          <a:p>
            <a:r>
              <a:rPr lang="en-GB" dirty="0"/>
              <a:t>Bob computes </a:t>
            </a:r>
            <a:r>
              <a:rPr lang="en-GB" i="1" dirty="0"/>
              <a:t>s</a:t>
            </a:r>
            <a:r>
              <a:rPr lang="en-GB" dirty="0"/>
              <a:t> = </a:t>
            </a:r>
            <a:r>
              <a:rPr lang="en-GB" i="1" dirty="0"/>
              <a:t>A</a:t>
            </a:r>
            <a:r>
              <a:rPr lang="en-GB" i="1" baseline="30000" dirty="0"/>
              <a:t>y</a:t>
            </a:r>
            <a:r>
              <a:rPr lang="en-GB" dirty="0"/>
              <a:t> mod </a:t>
            </a:r>
            <a:r>
              <a:rPr lang="en-GB" i="1" dirty="0"/>
              <a:t>n</a:t>
            </a:r>
            <a:endParaRPr lang="en-GB" dirty="0"/>
          </a:p>
          <a:p>
            <a:pPr lvl="1"/>
            <a:r>
              <a:rPr lang="en-GB" i="1" dirty="0"/>
              <a:t>s</a:t>
            </a:r>
            <a:r>
              <a:rPr lang="en-GB" dirty="0"/>
              <a:t> = 4</a:t>
            </a:r>
            <a:r>
              <a:rPr lang="en-GB" baseline="30000" dirty="0"/>
              <a:t>3</a:t>
            </a:r>
            <a:r>
              <a:rPr lang="en-GB" dirty="0"/>
              <a:t> mod 23 = 18</a:t>
            </a:r>
          </a:p>
          <a:p>
            <a:r>
              <a:rPr lang="en-GB" dirty="0"/>
              <a:t>Alice and Bob now share a secret key (the number 18).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1DE2C5B-556E-47B8-A792-024C2FCA4ACC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462536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Man-in-the-middle </a:t>
            </a:r>
            <a:r>
              <a:rPr lang="it-IT" dirty="0" err="1"/>
              <a:t>attack</a:t>
            </a:r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1DE2C5B-556E-47B8-A792-024C2FCA4ACC}" type="slidenum">
              <a:rPr kumimoji="0" lang="en-GB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GB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</a:endParaRPr>
          </a:p>
        </p:txBody>
      </p:sp>
      <p:pic>
        <p:nvPicPr>
          <p:cNvPr id="7" name="Immagine 6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6857" y="1743573"/>
            <a:ext cx="9910943" cy="3509269"/>
          </a:xfrm>
          <a:prstGeom prst="rect">
            <a:avLst/>
          </a:prstGeom>
        </p:spPr>
      </p:pic>
      <p:sp>
        <p:nvSpPr>
          <p:cNvPr id="8" name="Segnaposto contenuto 7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764813"/>
          </a:xfrm>
        </p:spPr>
        <p:txBody>
          <a:bodyPr/>
          <a:lstStyle/>
          <a:p>
            <a:r>
              <a:rPr lang="it-IT" dirty="0"/>
              <a:t>Critical </a:t>
            </a:r>
            <a:r>
              <a:rPr lang="it-IT" dirty="0" err="1"/>
              <a:t>aspect</a:t>
            </a:r>
            <a:r>
              <a:rPr lang="it-IT" dirty="0"/>
              <a:t>: </a:t>
            </a:r>
            <a:r>
              <a:rPr lang="it-IT" dirty="0" err="1"/>
              <a:t>this</a:t>
            </a:r>
            <a:r>
              <a:rPr lang="it-IT" dirty="0"/>
              <a:t> </a:t>
            </a:r>
            <a:r>
              <a:rPr lang="it-IT" dirty="0" err="1"/>
              <a:t>approach</a:t>
            </a:r>
            <a:r>
              <a:rPr lang="it-IT" dirty="0"/>
              <a:t> can be </a:t>
            </a:r>
            <a:r>
              <a:rPr lang="it-IT" dirty="0" err="1"/>
              <a:t>violated</a:t>
            </a:r>
            <a:r>
              <a:rPr lang="it-IT" dirty="0"/>
              <a:t> by a man-in-the-middle </a:t>
            </a:r>
            <a:r>
              <a:rPr lang="it-IT" dirty="0" err="1"/>
              <a:t>attack</a:t>
            </a:r>
            <a:endParaRPr lang="en-GB" dirty="0"/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E99469B0-525D-5F2F-594A-5F9B1079B3B8}"/>
              </a:ext>
            </a:extLst>
          </p:cNvPr>
          <p:cNvSpPr txBox="1"/>
          <p:nvPr/>
        </p:nvSpPr>
        <p:spPr>
          <a:xfrm>
            <a:off x="411843" y="5252842"/>
            <a:ext cx="11368314" cy="1486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Ø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1976: Diffie and Hellman (Stanford University) proposed a new kind of cryptosystem, in which the encryption and decryption keys were different</a:t>
            </a:r>
          </a:p>
          <a:p>
            <a:pPr marL="685800" marR="0" lvl="1" indent="-228600" algn="just" defTabSz="914400" rtl="0" eaLnBrk="1" fontAlgn="auto" latinLnBrk="0" hangingPunct="1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00B050"/>
              </a:buClr>
              <a:buSzTx/>
              <a:buFont typeface="Wingdings" panose="05000000000000000000" pitchFamily="2" charset="2"/>
              <a:buChar char="§"/>
              <a:tabLst/>
              <a:defRPr/>
            </a:pPr>
            <a:r>
              <a:rPr kumimoji="0" lang="en-GB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0B0004020202020204" pitchFamily="34" charset="0"/>
              </a:rPr>
              <a:t>So different that the decryption key could not feasibly be derived from the encryption key. 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06824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magine 4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9817"/>
          <a:stretch/>
        </p:blipFill>
        <p:spPr>
          <a:xfrm>
            <a:off x="751417" y="4160520"/>
            <a:ext cx="7449590" cy="2620011"/>
          </a:xfrm>
          <a:prstGeom prst="rect">
            <a:avLst/>
          </a:prstGeom>
        </p:spPr>
      </p:pic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Asymmetric-key</a:t>
            </a:r>
            <a:r>
              <a:rPr lang="it-IT" dirty="0"/>
              <a:t> </a:t>
            </a:r>
            <a:r>
              <a:rPr lang="it-IT" dirty="0" err="1"/>
              <a:t>algorithms</a:t>
            </a:r>
            <a:r>
              <a:rPr lang="it-IT" dirty="0"/>
              <a:t> 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1" y="1217478"/>
            <a:ext cx="11589657" cy="2609940"/>
          </a:xfrm>
        </p:spPr>
        <p:txBody>
          <a:bodyPr>
            <a:normAutofit fontScale="92500"/>
          </a:bodyPr>
          <a:lstStyle/>
          <a:p>
            <a:r>
              <a:rPr lang="en-US" dirty="0"/>
              <a:t>The key for encrypting is different from the key to be used for decrypting the message.</a:t>
            </a:r>
          </a:p>
          <a:p>
            <a:r>
              <a:rPr lang="en-US" dirty="0"/>
              <a:t>Each recipient has a pair of twin keys, a </a:t>
            </a:r>
            <a:r>
              <a:rPr lang="en-US" b="1" dirty="0"/>
              <a:t>public key</a:t>
            </a:r>
            <a:r>
              <a:rPr lang="en-US" dirty="0"/>
              <a:t> and </a:t>
            </a:r>
            <a:r>
              <a:rPr lang="en-US" b="1" dirty="0"/>
              <a:t>private key</a:t>
            </a:r>
            <a:r>
              <a:rPr lang="en-US" dirty="0"/>
              <a:t>, such that it is extremely difficult to derive the private key from the public one. </a:t>
            </a:r>
          </a:p>
          <a:p>
            <a:r>
              <a:rPr lang="en-US" dirty="0"/>
              <a:t>The sender must encrypt the message using the public key of the recipient. </a:t>
            </a:r>
          </a:p>
          <a:p>
            <a:r>
              <a:rPr lang="en-US" dirty="0"/>
              <a:t>The recipient can decrypt the ciphered message using its own private key. </a:t>
            </a:r>
          </a:p>
          <a:p>
            <a:r>
              <a:rPr lang="en-US" dirty="0"/>
              <a:t>Also called </a:t>
            </a:r>
            <a:r>
              <a:rPr lang="en-US" b="1" dirty="0"/>
              <a:t>public-key cryptographic algorithms</a:t>
            </a:r>
            <a:r>
              <a:rPr lang="en-US" dirty="0"/>
              <a:t>.</a:t>
            </a:r>
          </a:p>
          <a:p>
            <a:endParaRPr lang="en-US" sz="2000" dirty="0"/>
          </a:p>
          <a:p>
            <a:pPr marL="0" indent="0">
              <a:buNone/>
            </a:pPr>
            <a:endParaRPr lang="it-IT" sz="2000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15</a:t>
            </a:fld>
            <a:endParaRPr lang="en-GB"/>
          </a:p>
        </p:txBody>
      </p:sp>
      <p:sp>
        <p:nvSpPr>
          <p:cNvPr id="6" name="Rettangolo 5"/>
          <p:cNvSpPr/>
          <p:nvPr/>
        </p:nvSpPr>
        <p:spPr>
          <a:xfrm>
            <a:off x="2919557" y="4160521"/>
            <a:ext cx="1051561" cy="2619917"/>
          </a:xfrm>
          <a:prstGeom prst="rect">
            <a:avLst/>
          </a:prstGeom>
          <a:noFill/>
          <a:ln w="28575"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7" name="Rettangolo 6"/>
          <p:cNvSpPr/>
          <p:nvPr/>
        </p:nvSpPr>
        <p:spPr>
          <a:xfrm>
            <a:off x="4852795" y="4160520"/>
            <a:ext cx="1051561" cy="2619917"/>
          </a:xfrm>
          <a:prstGeom prst="rect">
            <a:avLst/>
          </a:prstGeom>
          <a:noFill/>
          <a:ln w="28575">
            <a:solidFill>
              <a:srgbClr val="00B05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8" name="CasellaDiTesto 7"/>
          <p:cNvSpPr txBox="1"/>
          <p:nvPr/>
        </p:nvSpPr>
        <p:spPr>
          <a:xfrm>
            <a:off x="2736673" y="3746825"/>
            <a:ext cx="1521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solidFill>
                  <a:srgbClr val="FFC000"/>
                </a:solidFill>
                <a:latin typeface="Aptos" panose="020B0004020202020204" pitchFamily="34" charset="0"/>
              </a:rPr>
              <a:t>Encryption</a:t>
            </a:r>
            <a:endParaRPr lang="en-GB" b="1" dirty="0">
              <a:solidFill>
                <a:srgbClr val="FFC000"/>
              </a:solidFill>
              <a:latin typeface="Aptos" panose="020B0004020202020204" pitchFamily="34" charset="0"/>
            </a:endParaRPr>
          </a:p>
        </p:txBody>
      </p:sp>
      <p:sp>
        <p:nvSpPr>
          <p:cNvPr id="9" name="CasellaDiTesto 8"/>
          <p:cNvSpPr txBox="1"/>
          <p:nvPr/>
        </p:nvSpPr>
        <p:spPr>
          <a:xfrm>
            <a:off x="4617663" y="3746825"/>
            <a:ext cx="1521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solidFill>
                  <a:srgbClr val="00B050"/>
                </a:solidFill>
                <a:latin typeface="Aptos" panose="020B0004020202020204" pitchFamily="34" charset="0"/>
              </a:rPr>
              <a:t>Decryption</a:t>
            </a:r>
            <a:endParaRPr lang="en-GB" b="1" dirty="0">
              <a:solidFill>
                <a:srgbClr val="00B050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ttangolo 10"/>
          <p:cNvSpPr/>
          <p:nvPr/>
        </p:nvSpPr>
        <p:spPr>
          <a:xfrm>
            <a:off x="8694783" y="4906303"/>
            <a:ext cx="3017520" cy="112834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The public key can be distributed also in unsafe channels.</a:t>
            </a:r>
          </a:p>
        </p:txBody>
      </p:sp>
    </p:spTree>
    <p:extLst>
      <p:ext uri="{BB962C8B-B14F-4D97-AF65-F5344CB8AC3E}">
        <p14:creationId xmlns:p14="http://schemas.microsoft.com/office/powerpoint/2010/main" val="237272137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RSA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082765"/>
          </a:xfrm>
        </p:spPr>
        <p:txBody>
          <a:bodyPr>
            <a:normAutofit/>
          </a:bodyPr>
          <a:lstStyle/>
          <a:p>
            <a:r>
              <a:rPr lang="en-US" dirty="0"/>
              <a:t>1978: Rivest, Shamir and Adleman (MIT) proposed the </a:t>
            </a:r>
            <a:r>
              <a:rPr lang="en-US" b="1" dirty="0"/>
              <a:t>RSA</a:t>
            </a:r>
            <a:r>
              <a:rPr lang="en-US" dirty="0"/>
              <a:t> asymmetric-key algorithm. </a:t>
            </a:r>
          </a:p>
          <a:p>
            <a:r>
              <a:rPr lang="en-US" dirty="0"/>
              <a:t>The generation of the keys is based on some number principles by these 4 steps: 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200" dirty="0"/>
              <a:t>Choose two distinct large prime numbers, </a:t>
            </a:r>
            <a:r>
              <a:rPr lang="en-US" sz="2200" i="1" dirty="0"/>
              <a:t>p </a:t>
            </a:r>
            <a:r>
              <a:rPr lang="en-US" sz="2200" dirty="0"/>
              <a:t>and </a:t>
            </a:r>
            <a:r>
              <a:rPr lang="en-US" sz="2200" i="1" dirty="0"/>
              <a:t>q </a:t>
            </a:r>
            <a:r>
              <a:rPr lang="en-US" sz="2200" dirty="0"/>
              <a:t>(typically 1024 bits)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200" dirty="0"/>
              <a:t>Compute </a:t>
            </a:r>
            <a:r>
              <a:rPr lang="en-US" sz="2200" i="1" dirty="0"/>
              <a:t>N </a:t>
            </a:r>
            <a:r>
              <a:rPr lang="en-US" sz="2200" dirty="0"/>
              <a:t>= </a:t>
            </a:r>
            <a:r>
              <a:rPr lang="en-US" sz="2200" i="1" dirty="0"/>
              <a:t>p </a:t>
            </a:r>
            <a:r>
              <a:rPr lang="en-US" sz="2200" dirty="0"/>
              <a:t>× </a:t>
            </a:r>
            <a:r>
              <a:rPr lang="en-US" sz="2200" i="1" dirty="0"/>
              <a:t>q </a:t>
            </a:r>
            <a:r>
              <a:rPr lang="en-US" sz="2200" dirty="0"/>
              <a:t>and </a:t>
            </a:r>
            <a:r>
              <a:rPr lang="en-US" sz="2200" i="1" dirty="0"/>
              <a:t>z </a:t>
            </a:r>
            <a:r>
              <a:rPr lang="en-US" sz="2200" dirty="0"/>
              <a:t>= (</a:t>
            </a:r>
            <a:r>
              <a:rPr lang="en-US" sz="2200" i="1" dirty="0"/>
              <a:t>p </a:t>
            </a:r>
            <a:r>
              <a:rPr lang="en-US" sz="2200" dirty="0"/>
              <a:t>− 1) × (</a:t>
            </a:r>
            <a:r>
              <a:rPr lang="en-US" sz="2200" i="1" dirty="0"/>
              <a:t>q </a:t>
            </a:r>
            <a:r>
              <a:rPr lang="en-US" sz="2200" dirty="0"/>
              <a:t>− 1)</a:t>
            </a:r>
            <a:r>
              <a:rPr lang="en-US" sz="2200" i="1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200" dirty="0"/>
              <a:t>Choose an integer number relatively prime to </a:t>
            </a:r>
            <a:r>
              <a:rPr lang="en-US" sz="2200" i="1" dirty="0"/>
              <a:t>z </a:t>
            </a:r>
            <a:r>
              <a:rPr lang="en-US" sz="2200" dirty="0"/>
              <a:t>and call it </a:t>
            </a:r>
            <a:r>
              <a:rPr lang="en-US" sz="2200" i="1" dirty="0"/>
              <a:t>d</a:t>
            </a:r>
            <a:r>
              <a:rPr lang="en-US" sz="2200" dirty="0"/>
              <a:t>.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sz="2200" dirty="0"/>
              <a:t>Find an integer number </a:t>
            </a:r>
            <a:r>
              <a:rPr lang="en-US" sz="2200" i="1" dirty="0"/>
              <a:t>e </a:t>
            </a:r>
            <a:r>
              <a:rPr lang="en-US" sz="2200" dirty="0"/>
              <a:t>such that the rest of </a:t>
            </a:r>
            <a:r>
              <a:rPr lang="en-US" sz="2200" i="1" dirty="0"/>
              <a:t>e </a:t>
            </a:r>
            <a:r>
              <a:rPr lang="en-US" sz="2200" dirty="0"/>
              <a:t>× </a:t>
            </a:r>
            <a:r>
              <a:rPr lang="en-US" sz="2200" i="1" dirty="0"/>
              <a:t>d </a:t>
            </a:r>
            <a:r>
              <a:rPr lang="en-US" sz="2200" dirty="0"/>
              <a:t>divided by</a:t>
            </a:r>
            <a:r>
              <a:rPr lang="en-US" sz="2200" i="1" dirty="0"/>
              <a:t> z </a:t>
            </a:r>
            <a:r>
              <a:rPr lang="en-US" sz="2200" dirty="0"/>
              <a:t>is 1</a:t>
            </a:r>
            <a:r>
              <a:rPr lang="en-US" sz="2200" i="1" dirty="0"/>
              <a:t>.</a:t>
            </a:r>
            <a:endParaRPr lang="en-US" sz="2200" dirty="0"/>
          </a:p>
          <a:p>
            <a:pPr marL="571500" indent="-457200"/>
            <a:r>
              <a:rPr lang="en-US" dirty="0"/>
              <a:t>Public key: (</a:t>
            </a:r>
            <a:r>
              <a:rPr lang="en-US" i="1" dirty="0" err="1"/>
              <a:t>N</a:t>
            </a:r>
            <a:r>
              <a:rPr lang="en-US" dirty="0" err="1"/>
              <a:t>,</a:t>
            </a:r>
            <a:r>
              <a:rPr lang="en-US" i="1" dirty="0" err="1"/>
              <a:t>e</a:t>
            </a:r>
            <a:r>
              <a:rPr lang="en-US" dirty="0"/>
              <a:t>)</a:t>
            </a:r>
          </a:p>
          <a:p>
            <a:pPr marL="571500" indent="-457200"/>
            <a:r>
              <a:rPr lang="en-US" dirty="0"/>
              <a:t>Private key: (</a:t>
            </a:r>
            <a:r>
              <a:rPr lang="en-US" i="1" dirty="0" err="1"/>
              <a:t>N</a:t>
            </a:r>
            <a:r>
              <a:rPr lang="en-US" dirty="0" err="1"/>
              <a:t>,</a:t>
            </a:r>
            <a:r>
              <a:rPr lang="en-US" i="1" dirty="0" err="1"/>
              <a:t>d</a:t>
            </a:r>
            <a:r>
              <a:rPr lang="en-US" dirty="0"/>
              <a:t>)</a:t>
            </a:r>
          </a:p>
          <a:p>
            <a:pPr marL="571500" indent="-457200"/>
            <a:r>
              <a:rPr lang="en-US" i="1" dirty="0"/>
              <a:t>p</a:t>
            </a:r>
            <a:r>
              <a:rPr lang="en-US" dirty="0"/>
              <a:t> and </a:t>
            </a:r>
            <a:r>
              <a:rPr lang="en-US" i="1" dirty="0"/>
              <a:t>q</a:t>
            </a:r>
            <a:r>
              <a:rPr lang="en-US" dirty="0"/>
              <a:t> are secret, only who generated the keys knows them. </a:t>
            </a:r>
          </a:p>
          <a:p>
            <a:pPr marL="571500" indent="-457200"/>
            <a:r>
              <a:rPr lang="en-US" dirty="0"/>
              <a:t>Strength of RSA: from </a:t>
            </a:r>
            <a:r>
              <a:rPr lang="en-US" i="1" dirty="0"/>
              <a:t>N</a:t>
            </a:r>
            <a:r>
              <a:rPr lang="en-US" dirty="0"/>
              <a:t> it is very difficult to recover </a:t>
            </a:r>
            <a:r>
              <a:rPr lang="en-US" i="1" dirty="0"/>
              <a:t>p</a:t>
            </a:r>
            <a:r>
              <a:rPr lang="en-US" dirty="0"/>
              <a:t> and </a:t>
            </a:r>
            <a:r>
              <a:rPr lang="en-US" i="1" dirty="0"/>
              <a:t>q</a:t>
            </a:r>
            <a:r>
              <a:rPr lang="en-US" dirty="0"/>
              <a:t> </a:t>
            </a:r>
          </a:p>
          <a:p>
            <a:pPr marL="114300" indent="0">
              <a:buNone/>
            </a:pPr>
            <a:r>
              <a:rPr lang="en-US" dirty="0">
                <a:sym typeface="Wingdings" panose="05000000000000000000" pitchFamily="2" charset="2"/>
              </a:rPr>
              <a:t>	 from the public key it is very difficult to retrieve the private key</a:t>
            </a:r>
            <a:endParaRPr lang="en-US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390641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Encryption</a:t>
            </a:r>
            <a:r>
              <a:rPr lang="it-IT" dirty="0"/>
              <a:t> and </a:t>
            </a:r>
            <a:r>
              <a:rPr lang="it-IT" dirty="0" err="1"/>
              <a:t>decryption</a:t>
            </a:r>
            <a:r>
              <a:rPr lang="it-IT" dirty="0"/>
              <a:t> with RSA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54525" cy="4858203"/>
          </a:xfrm>
        </p:spPr>
        <p:txBody>
          <a:bodyPr/>
          <a:lstStyle/>
          <a:p>
            <a:r>
              <a:rPr lang="it-IT" dirty="0"/>
              <a:t>The </a:t>
            </a:r>
            <a:r>
              <a:rPr lang="it-IT" dirty="0" err="1"/>
              <a:t>message</a:t>
            </a:r>
            <a:r>
              <a:rPr lang="it-IT" dirty="0"/>
              <a:t>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divided</a:t>
            </a:r>
            <a:r>
              <a:rPr lang="it-IT" dirty="0"/>
              <a:t> </a:t>
            </a:r>
            <a:r>
              <a:rPr lang="it-IT" dirty="0" err="1"/>
              <a:t>into</a:t>
            </a:r>
            <a:r>
              <a:rPr lang="it-IT" dirty="0"/>
              <a:t> </a:t>
            </a:r>
            <a:r>
              <a:rPr lang="it-IT" dirty="0" err="1"/>
              <a:t>blocks</a:t>
            </a:r>
            <a:r>
              <a:rPr lang="it-IT" dirty="0"/>
              <a:t> of k bits </a:t>
            </a:r>
            <a:r>
              <a:rPr lang="it-IT" dirty="0" err="1"/>
              <a:t>such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2</a:t>
            </a:r>
            <a:r>
              <a:rPr lang="it-IT" baseline="30000" dirty="0"/>
              <a:t>k</a:t>
            </a:r>
            <a:r>
              <a:rPr lang="it-IT" dirty="0"/>
              <a:t>&lt;N</a:t>
            </a:r>
          </a:p>
          <a:p>
            <a:r>
              <a:rPr lang="it-IT" dirty="0" err="1"/>
              <a:t>Each</a:t>
            </a:r>
            <a:r>
              <a:rPr lang="it-IT" dirty="0"/>
              <a:t> k-bit </a:t>
            </a:r>
            <a:r>
              <a:rPr lang="it-IT" dirty="0" err="1"/>
              <a:t>number</a:t>
            </a:r>
            <a:r>
              <a:rPr lang="it-IT" dirty="0"/>
              <a:t> of the </a:t>
            </a:r>
            <a:r>
              <a:rPr lang="it-IT" dirty="0" err="1"/>
              <a:t>plain</a:t>
            </a:r>
            <a:r>
              <a:rPr lang="it-IT" dirty="0"/>
              <a:t> text, P, </a:t>
            </a:r>
            <a:r>
              <a:rPr lang="it-IT" dirty="0" err="1"/>
              <a:t>is</a:t>
            </a:r>
            <a:r>
              <a:rPr lang="it-IT" dirty="0"/>
              <a:t> </a:t>
            </a:r>
            <a:r>
              <a:rPr lang="it-IT" dirty="0" err="1"/>
              <a:t>encrypted</a:t>
            </a:r>
            <a:r>
              <a:rPr lang="it-IT" dirty="0"/>
              <a:t> by the </a:t>
            </a:r>
            <a:r>
              <a:rPr lang="it-IT" dirty="0" err="1"/>
              <a:t>operation</a:t>
            </a:r>
            <a:r>
              <a:rPr lang="it-IT" dirty="0"/>
              <a:t> </a:t>
            </a:r>
          </a:p>
          <a:p>
            <a:pPr marL="0" indent="0">
              <a:buNone/>
            </a:pPr>
            <a:r>
              <a:rPr lang="it-IT" dirty="0"/>
              <a:t>					C = P</a:t>
            </a:r>
            <a:r>
              <a:rPr lang="it-IT" baseline="30000" dirty="0"/>
              <a:t>e</a:t>
            </a:r>
            <a:r>
              <a:rPr lang="it-IT" dirty="0"/>
              <a:t> </a:t>
            </a:r>
            <a:r>
              <a:rPr lang="it-IT" dirty="0" err="1"/>
              <a:t>mod</a:t>
            </a:r>
            <a:r>
              <a:rPr lang="it-IT" dirty="0"/>
              <a:t> N</a:t>
            </a:r>
          </a:p>
          <a:p>
            <a:r>
              <a:rPr lang="it-IT" dirty="0" err="1"/>
              <a:t>It</a:t>
            </a:r>
            <a:r>
              <a:rPr lang="it-IT" dirty="0"/>
              <a:t> can be </a:t>
            </a:r>
            <a:r>
              <a:rPr lang="it-IT" dirty="0" err="1"/>
              <a:t>proven</a:t>
            </a:r>
            <a:r>
              <a:rPr lang="it-IT" dirty="0"/>
              <a:t> </a:t>
            </a:r>
            <a:r>
              <a:rPr lang="it-IT" dirty="0" err="1"/>
              <a:t>that</a:t>
            </a:r>
            <a:r>
              <a:rPr lang="it-IT" dirty="0"/>
              <a:t> C can be </a:t>
            </a:r>
            <a:r>
              <a:rPr lang="it-IT" dirty="0" err="1"/>
              <a:t>decrypted</a:t>
            </a:r>
            <a:r>
              <a:rPr lang="it-IT" dirty="0"/>
              <a:t> </a:t>
            </a:r>
            <a:r>
              <a:rPr lang="it-IT" dirty="0" err="1"/>
              <a:t>using</a:t>
            </a:r>
            <a:r>
              <a:rPr lang="it-IT" dirty="0"/>
              <a:t> d and N </a:t>
            </a:r>
            <a:r>
              <a:rPr lang="it-IT" dirty="0" err="1"/>
              <a:t>as</a:t>
            </a:r>
            <a:r>
              <a:rPr lang="it-IT" dirty="0"/>
              <a:t>: </a:t>
            </a:r>
          </a:p>
          <a:p>
            <a:pPr marL="0" indent="0">
              <a:buNone/>
            </a:pPr>
            <a:r>
              <a:rPr lang="it-IT" dirty="0"/>
              <a:t>					P = </a:t>
            </a:r>
            <a:r>
              <a:rPr lang="it-IT" dirty="0" err="1"/>
              <a:t>C</a:t>
            </a:r>
            <a:r>
              <a:rPr lang="it-IT" baseline="30000" dirty="0" err="1"/>
              <a:t>d</a:t>
            </a:r>
            <a:r>
              <a:rPr lang="it-IT" dirty="0"/>
              <a:t> </a:t>
            </a:r>
            <a:r>
              <a:rPr lang="it-IT" dirty="0" err="1"/>
              <a:t>mod</a:t>
            </a:r>
            <a:r>
              <a:rPr lang="it-IT" dirty="0"/>
              <a:t> N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17</a:t>
            </a:fld>
            <a:endParaRPr lang="en-GB"/>
          </a:p>
        </p:txBody>
      </p:sp>
      <p:sp>
        <p:nvSpPr>
          <p:cNvPr id="5" name="Rettangolo 4"/>
          <p:cNvSpPr/>
          <p:nvPr/>
        </p:nvSpPr>
        <p:spPr>
          <a:xfrm>
            <a:off x="9387114" y="2378640"/>
            <a:ext cx="2539274" cy="1128349"/>
          </a:xfrm>
          <a:prstGeom prst="rect">
            <a:avLst/>
          </a:prstGeom>
          <a:ln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Public key: (</a:t>
            </a:r>
            <a:r>
              <a:rPr lang="en-US" sz="2000" b="1" dirty="0" err="1">
                <a:latin typeface="Aptos" panose="020B0004020202020204" pitchFamily="34" charset="0"/>
              </a:rPr>
              <a:t>N,e</a:t>
            </a:r>
            <a:r>
              <a:rPr lang="en-US" sz="2000" b="1" dirty="0">
                <a:latin typeface="Aptos" panose="020B0004020202020204" pitchFamily="34" charset="0"/>
              </a:rPr>
              <a:t>)</a:t>
            </a:r>
          </a:p>
          <a:p>
            <a:pPr algn="ctr"/>
            <a:r>
              <a:rPr lang="en-US" sz="2000" b="1" dirty="0">
                <a:latin typeface="Aptos" panose="020B0004020202020204" pitchFamily="34" charset="0"/>
              </a:rPr>
              <a:t>Private key: (</a:t>
            </a:r>
            <a:r>
              <a:rPr lang="en-US" sz="2000" b="1" dirty="0" err="1">
                <a:latin typeface="Aptos" panose="020B0004020202020204" pitchFamily="34" charset="0"/>
              </a:rPr>
              <a:t>N,d</a:t>
            </a:r>
            <a:r>
              <a:rPr lang="en-US" sz="2000" b="1" dirty="0">
                <a:latin typeface="Aptos" panose="020B0004020202020204" pitchFamily="34" charset="0"/>
              </a:rPr>
              <a:t>)</a:t>
            </a:r>
          </a:p>
        </p:txBody>
      </p:sp>
      <p:pic>
        <p:nvPicPr>
          <p:cNvPr id="6" name="Immagine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7176" y="3984486"/>
            <a:ext cx="7597765" cy="2873514"/>
          </a:xfrm>
          <a:prstGeom prst="rect">
            <a:avLst/>
          </a:prstGeom>
        </p:spPr>
      </p:pic>
      <p:sp>
        <p:nvSpPr>
          <p:cNvPr id="7" name="CasellaDiTesto 6"/>
          <p:cNvSpPr txBox="1"/>
          <p:nvPr/>
        </p:nvSpPr>
        <p:spPr>
          <a:xfrm>
            <a:off x="1907175" y="3696789"/>
            <a:ext cx="759776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dirty="0" err="1">
                <a:latin typeface="Palatino Linotype" panose="02040502050505030304" pitchFamily="18" charset="0"/>
              </a:rPr>
              <a:t>Example</a:t>
            </a:r>
            <a:r>
              <a:rPr lang="it-IT" dirty="0">
                <a:latin typeface="Palatino Linotype" panose="02040502050505030304" pitchFamily="18" charset="0"/>
              </a:rPr>
              <a:t> with public </a:t>
            </a:r>
            <a:r>
              <a:rPr lang="it-IT" dirty="0" err="1">
                <a:latin typeface="Palatino Linotype" panose="02040502050505030304" pitchFamily="18" charset="0"/>
              </a:rPr>
              <a:t>key</a:t>
            </a:r>
            <a:r>
              <a:rPr lang="it-IT" dirty="0">
                <a:latin typeface="Palatino Linotype" panose="02040502050505030304" pitchFamily="18" charset="0"/>
              </a:rPr>
              <a:t> (33,3) and private </a:t>
            </a:r>
            <a:r>
              <a:rPr lang="it-IT" dirty="0" err="1">
                <a:latin typeface="Palatino Linotype" panose="02040502050505030304" pitchFamily="18" charset="0"/>
              </a:rPr>
              <a:t>key</a:t>
            </a:r>
            <a:r>
              <a:rPr lang="it-IT" dirty="0">
                <a:latin typeface="Palatino Linotype" panose="02040502050505030304" pitchFamily="18" charset="0"/>
              </a:rPr>
              <a:t> (33,7)</a:t>
            </a:r>
            <a:endParaRPr lang="en-GB" dirty="0">
              <a:latin typeface="Palatino Linotype" panose="02040502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7338643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Symmetric</a:t>
            </a:r>
            <a:r>
              <a:rPr lang="it-IT" dirty="0"/>
              <a:t> vs </a:t>
            </a:r>
            <a:r>
              <a:rPr lang="it-IT" dirty="0" err="1"/>
              <a:t>asymmetric</a:t>
            </a:r>
            <a:r>
              <a:rPr lang="it-IT" dirty="0"/>
              <a:t> </a:t>
            </a:r>
            <a:r>
              <a:rPr lang="it-IT" dirty="0" err="1"/>
              <a:t>key</a:t>
            </a:r>
            <a:r>
              <a:rPr lang="it-IT" dirty="0"/>
              <a:t> </a:t>
            </a:r>
            <a:r>
              <a:rPr lang="it-IT" dirty="0" err="1"/>
              <a:t>algorithms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0302965" cy="4858203"/>
          </a:xfrm>
        </p:spPr>
        <p:txBody>
          <a:bodyPr/>
          <a:lstStyle/>
          <a:p>
            <a:r>
              <a:rPr lang="en-US" dirty="0"/>
              <a:t>Symmetric algorithms: </a:t>
            </a:r>
          </a:p>
          <a:p>
            <a:pPr lvl="1"/>
            <a:r>
              <a:rPr lang="en-US" sz="2400" dirty="0"/>
              <a:t>Their application for encryption and decryption is fast</a:t>
            </a:r>
          </a:p>
          <a:p>
            <a:pPr lvl="1"/>
            <a:r>
              <a:rPr lang="en-US" sz="2400" dirty="0"/>
              <a:t>Need to distribute the private key through a safe communication channel</a:t>
            </a:r>
          </a:p>
          <a:p>
            <a:pPr lvl="1"/>
            <a:r>
              <a:rPr lang="en-US" sz="2400" dirty="0"/>
              <a:t>A new key must be generated for each pair of communication entities</a:t>
            </a:r>
          </a:p>
          <a:p>
            <a:pPr lvl="1"/>
            <a:endParaRPr lang="en-US" sz="2400" dirty="0"/>
          </a:p>
          <a:p>
            <a:r>
              <a:rPr lang="en-US" dirty="0"/>
              <a:t>Asymmetric algorithms: </a:t>
            </a:r>
          </a:p>
          <a:p>
            <a:pPr lvl="1"/>
            <a:r>
              <a:rPr lang="en-US" sz="2400" dirty="0"/>
              <a:t>Very strong security level, no need to distribute the private key. </a:t>
            </a:r>
          </a:p>
          <a:p>
            <a:pPr lvl="1"/>
            <a:r>
              <a:rPr lang="en-US" sz="2400" dirty="0"/>
              <a:t>There is a pair of keys for each user. </a:t>
            </a:r>
          </a:p>
          <a:p>
            <a:pPr lvl="1"/>
            <a:r>
              <a:rPr lang="en-US" sz="2400" dirty="0"/>
              <a:t>It requires keys of at least 1024 bits for good security, which makes the encryption and decryption quite slow. 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18</a:t>
            </a:fld>
            <a:endParaRPr lang="en-GB"/>
          </a:p>
        </p:txBody>
      </p:sp>
      <p:pic>
        <p:nvPicPr>
          <p:cNvPr id="5" name="Immagine 4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879" t="17842" r="5152" b="13601"/>
          <a:stretch/>
        </p:blipFill>
        <p:spPr>
          <a:xfrm>
            <a:off x="10203543" y="2145180"/>
            <a:ext cx="571244" cy="569633"/>
          </a:xfrm>
          <a:prstGeom prst="rect">
            <a:avLst/>
          </a:prstGeom>
        </p:spPr>
      </p:pic>
      <p:pic>
        <p:nvPicPr>
          <p:cNvPr id="6" name="Immagine 5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2" t="18838" r="50785" b="12120"/>
          <a:stretch/>
        </p:blipFill>
        <p:spPr>
          <a:xfrm>
            <a:off x="8685160" y="1545013"/>
            <a:ext cx="556079" cy="555299"/>
          </a:xfrm>
          <a:prstGeom prst="rect">
            <a:avLst/>
          </a:prstGeom>
        </p:spPr>
      </p:pic>
      <p:pic>
        <p:nvPicPr>
          <p:cNvPr id="7" name="Immagine 6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1879" t="17842" r="5152" b="13601"/>
          <a:stretch/>
        </p:blipFill>
        <p:spPr>
          <a:xfrm>
            <a:off x="10355836" y="5213854"/>
            <a:ext cx="571244" cy="569633"/>
          </a:xfrm>
          <a:prstGeom prst="rect">
            <a:avLst/>
          </a:prstGeom>
        </p:spPr>
      </p:pic>
      <p:pic>
        <p:nvPicPr>
          <p:cNvPr id="8" name="Immagine 7"/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002" t="18838" r="50785" b="12120"/>
          <a:stretch/>
        </p:blipFill>
        <p:spPr>
          <a:xfrm>
            <a:off x="9905729" y="4286671"/>
            <a:ext cx="556079" cy="5552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27262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Hybrid algorithms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13379" y="1211556"/>
            <a:ext cx="11687628" cy="2357903"/>
          </a:xfrm>
        </p:spPr>
        <p:txBody>
          <a:bodyPr>
            <a:normAutofit/>
          </a:bodyPr>
          <a:lstStyle/>
          <a:p>
            <a:r>
              <a:rPr lang="en-US" sz="2200" dirty="0"/>
              <a:t>Asymmetric-key and symmetric-key algorithms combined to have the advantages of both approaches.</a:t>
            </a:r>
          </a:p>
          <a:p>
            <a:r>
              <a:rPr lang="en-US" sz="2200" dirty="0"/>
              <a:t>Symmetric algorithm (fast) used to encrypt the message M with key </a:t>
            </a:r>
            <a:r>
              <a:rPr lang="it-IT" sz="2200" dirty="0" err="1">
                <a:ea typeface="Palatino" pitchFamily="2" charset="77"/>
              </a:rPr>
              <a:t>K</a:t>
            </a:r>
            <a:r>
              <a:rPr lang="it-IT" sz="2200" baseline="-25000" dirty="0" err="1">
                <a:ea typeface="Palatino" pitchFamily="2" charset="77"/>
              </a:rPr>
              <a:t>sym</a:t>
            </a:r>
            <a:r>
              <a:rPr lang="en-US" sz="2200" dirty="0"/>
              <a:t>.</a:t>
            </a:r>
          </a:p>
          <a:p>
            <a:r>
              <a:rPr lang="it-IT" sz="2200" dirty="0" err="1">
                <a:ea typeface="Palatino" pitchFamily="2" charset="77"/>
              </a:rPr>
              <a:t>K</a:t>
            </a:r>
            <a:r>
              <a:rPr lang="it-IT" sz="2200" baseline="-25000" dirty="0" err="1">
                <a:ea typeface="Palatino" pitchFamily="2" charset="77"/>
              </a:rPr>
              <a:t>sym</a:t>
            </a:r>
            <a:r>
              <a:rPr lang="en-US" sz="2200" dirty="0"/>
              <a:t>, typically much shorter than M, encrypted with the asymmetric algorithm (slow).</a:t>
            </a:r>
          </a:p>
          <a:p>
            <a:r>
              <a:rPr lang="en-US" sz="2200" dirty="0"/>
              <a:t>Encrypted </a:t>
            </a:r>
            <a:r>
              <a:rPr lang="it-IT" sz="2200" dirty="0" err="1">
                <a:ea typeface="Palatino" pitchFamily="2" charset="77"/>
              </a:rPr>
              <a:t>K</a:t>
            </a:r>
            <a:r>
              <a:rPr lang="it-IT" sz="2200" baseline="-25000" dirty="0" err="1">
                <a:ea typeface="Palatino" pitchFamily="2" charset="77"/>
              </a:rPr>
              <a:t>sym,en</a:t>
            </a:r>
            <a:r>
              <a:rPr lang="it-IT" sz="2200" baseline="-25000" dirty="0">
                <a:ea typeface="Palatino" pitchFamily="2" charset="77"/>
              </a:rPr>
              <a:t> </a:t>
            </a:r>
            <a:r>
              <a:rPr lang="en-US" sz="2200" dirty="0"/>
              <a:t>securely distributed even using an unsafe communication channel. </a:t>
            </a:r>
          </a:p>
          <a:p>
            <a:endParaRPr lang="en-GB" sz="2200" dirty="0"/>
          </a:p>
          <a:p>
            <a:endParaRPr lang="en-GB" sz="2200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19</a:t>
            </a:fld>
            <a:endParaRPr lang="en-GB" dirty="0"/>
          </a:p>
        </p:txBody>
      </p:sp>
      <p:sp>
        <p:nvSpPr>
          <p:cNvPr id="5" name="Rettangolo 4"/>
          <p:cNvSpPr/>
          <p:nvPr/>
        </p:nvSpPr>
        <p:spPr>
          <a:xfrm>
            <a:off x="2372724" y="4392710"/>
            <a:ext cx="2083525" cy="753746"/>
          </a:xfrm>
          <a:prstGeom prst="rect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 err="1">
                <a:latin typeface="Aptos" panose="020B0004020202020204" pitchFamily="34" charset="0"/>
              </a:rPr>
              <a:t>Symmetric</a:t>
            </a:r>
            <a:r>
              <a:rPr lang="it-IT" sz="2000" dirty="0">
                <a:latin typeface="Aptos" panose="020B0004020202020204" pitchFamily="34" charset="0"/>
              </a:rPr>
              <a:t> </a:t>
            </a:r>
            <a:r>
              <a:rPr lang="it-IT" sz="2000" dirty="0" err="1">
                <a:latin typeface="Aptos" panose="020B0004020202020204" pitchFamily="34" charset="0"/>
              </a:rPr>
              <a:t>encryption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sp>
        <p:nvSpPr>
          <p:cNvPr id="6" name="Rettangolo 5"/>
          <p:cNvSpPr/>
          <p:nvPr/>
        </p:nvSpPr>
        <p:spPr>
          <a:xfrm>
            <a:off x="2372724" y="5621934"/>
            <a:ext cx="2083525" cy="753746"/>
          </a:xfrm>
          <a:prstGeom prst="rect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 err="1">
                <a:latin typeface="Aptos" panose="020B0004020202020204" pitchFamily="34" charset="0"/>
              </a:rPr>
              <a:t>Asymmetric</a:t>
            </a:r>
            <a:r>
              <a:rPr lang="it-IT" sz="2000" dirty="0">
                <a:latin typeface="Aptos" panose="020B0004020202020204" pitchFamily="34" charset="0"/>
              </a:rPr>
              <a:t> </a:t>
            </a:r>
            <a:r>
              <a:rPr lang="it-IT" sz="2000" dirty="0" err="1">
                <a:latin typeface="Aptos" panose="020B0004020202020204" pitchFamily="34" charset="0"/>
              </a:rPr>
              <a:t>encryption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sp>
        <p:nvSpPr>
          <p:cNvPr id="7" name="CasellaDiTesto 6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225715" y="4365244"/>
            <a:ext cx="164229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Plain</a:t>
            </a:r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 </a:t>
            </a:r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message</a:t>
            </a:r>
            <a:endParaRPr lang="it-IT" sz="20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4890840" y="4415640"/>
            <a:ext cx="136635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Encrypted</a:t>
            </a:r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 </a:t>
            </a:r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message</a:t>
            </a:r>
            <a:endParaRPr lang="it-IT" sz="20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49498" y="5701564"/>
            <a:ext cx="16422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 err="1">
                <a:latin typeface="Aptos" panose="020B0004020202020204" pitchFamily="34" charset="0"/>
                <a:ea typeface="Palatino" pitchFamily="2" charset="77"/>
              </a:rPr>
              <a:t>sym</a:t>
            </a:r>
            <a:endParaRPr lang="it-IT" sz="2000" baseline="-250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4877216" y="5795965"/>
            <a:ext cx="98987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 err="1">
                <a:latin typeface="Aptos" panose="020B0004020202020204" pitchFamily="34" charset="0"/>
                <a:ea typeface="Palatino" pitchFamily="2" charset="77"/>
              </a:rPr>
              <a:t>sym,en</a:t>
            </a:r>
            <a:endParaRPr lang="it-IT" sz="2000" baseline="-250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293189" y="3680078"/>
            <a:ext cx="19906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Aptos" panose="020B0004020202020204" pitchFamily="34" charset="0"/>
                <a:ea typeface="Palatino" pitchFamily="2" charset="77"/>
              </a:rPr>
              <a:t>Alice (</a:t>
            </a:r>
            <a:r>
              <a:rPr lang="it-IT" sz="2000" b="1" dirty="0" err="1">
                <a:latin typeface="Aptos" panose="020B0004020202020204" pitchFamily="34" charset="0"/>
                <a:ea typeface="Palatino" pitchFamily="2" charset="77"/>
              </a:rPr>
              <a:t>sender</a:t>
            </a:r>
            <a:r>
              <a:rPr lang="it-IT" sz="2000" b="1" dirty="0">
                <a:latin typeface="Aptos" panose="020B0004020202020204" pitchFamily="34" charset="0"/>
                <a:ea typeface="Palatino" pitchFamily="2" charset="77"/>
              </a:rPr>
              <a:t>)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6475034" y="3642607"/>
            <a:ext cx="2705463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b="1" dirty="0">
                <a:latin typeface="Aptos" panose="020B0004020202020204" pitchFamily="34" charset="0"/>
                <a:ea typeface="Palatino" pitchFamily="2" charset="77"/>
              </a:rPr>
              <a:t>Bob (</a:t>
            </a:r>
            <a:r>
              <a:rPr lang="it-IT" sz="2000" b="1" dirty="0" err="1">
                <a:latin typeface="Aptos" panose="020B0004020202020204" pitchFamily="34" charset="0"/>
                <a:ea typeface="Palatino" pitchFamily="2" charset="77"/>
              </a:rPr>
              <a:t>recipient</a:t>
            </a:r>
            <a:r>
              <a:rPr lang="it-IT" sz="2000" b="1" dirty="0">
                <a:latin typeface="Aptos" panose="020B0004020202020204" pitchFamily="34" charset="0"/>
                <a:ea typeface="Palatino" pitchFamily="2" charset="77"/>
              </a:rPr>
              <a:t>)</a:t>
            </a:r>
          </a:p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 err="1">
                <a:latin typeface="Aptos" panose="020B0004020202020204" pitchFamily="34" charset="0"/>
                <a:ea typeface="Palatino" pitchFamily="2" charset="77"/>
              </a:rPr>
              <a:t>Bob,public</a:t>
            </a:r>
            <a:r>
              <a:rPr lang="it-IT" sz="2000" baseline="-25000" dirty="0">
                <a:latin typeface="Aptos" panose="020B0004020202020204" pitchFamily="34" charset="0"/>
                <a:ea typeface="Palatino" pitchFamily="2" charset="77"/>
              </a:rPr>
              <a:t> </a:t>
            </a:r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 err="1">
                <a:latin typeface="Aptos" panose="020B0004020202020204" pitchFamily="34" charset="0"/>
                <a:ea typeface="Palatino" pitchFamily="2" charset="77"/>
              </a:rPr>
              <a:t>Bob,private</a:t>
            </a:r>
            <a:endParaRPr lang="it-IT" sz="2000" baseline="-250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14" name="Rettangolo 13"/>
          <p:cNvSpPr/>
          <p:nvPr/>
        </p:nvSpPr>
        <p:spPr>
          <a:xfrm>
            <a:off x="6759274" y="5617635"/>
            <a:ext cx="2083525" cy="758046"/>
          </a:xfrm>
          <a:prstGeom prst="rect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 err="1">
                <a:latin typeface="Aptos" panose="020B0004020202020204" pitchFamily="34" charset="0"/>
              </a:rPr>
              <a:t>Asymmetric</a:t>
            </a:r>
            <a:r>
              <a:rPr lang="it-IT" sz="2000" dirty="0">
                <a:latin typeface="Aptos" panose="020B0004020202020204" pitchFamily="34" charset="0"/>
              </a:rPr>
              <a:t> </a:t>
            </a:r>
            <a:r>
              <a:rPr lang="it-IT" sz="2000" dirty="0" err="1">
                <a:latin typeface="Aptos" panose="020B0004020202020204" pitchFamily="34" charset="0"/>
              </a:rPr>
              <a:t>decryption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sp>
        <p:nvSpPr>
          <p:cNvPr id="15" name="CasellaDiTesto 14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2593340" y="3722039"/>
            <a:ext cx="16422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 err="1">
                <a:latin typeface="Aptos" panose="020B0004020202020204" pitchFamily="34" charset="0"/>
                <a:ea typeface="Palatino" pitchFamily="2" charset="77"/>
              </a:rPr>
              <a:t>sym</a:t>
            </a:r>
            <a:endParaRPr lang="it-IT" sz="2000" baseline="-250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16" name="CasellaDiTesto 15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2593340" y="5184140"/>
            <a:ext cx="16422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 err="1">
                <a:latin typeface="Aptos" panose="020B0004020202020204" pitchFamily="34" charset="0"/>
                <a:ea typeface="Palatino" pitchFamily="2" charset="77"/>
              </a:rPr>
              <a:t>Bob,public</a:t>
            </a:r>
            <a:endParaRPr lang="it-IT" sz="20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17" name="Rettangolo 16"/>
          <p:cNvSpPr/>
          <p:nvPr/>
        </p:nvSpPr>
        <p:spPr>
          <a:xfrm>
            <a:off x="8425904" y="4395483"/>
            <a:ext cx="2083525" cy="753746"/>
          </a:xfrm>
          <a:prstGeom prst="rect">
            <a:avLst/>
          </a:prstGeom>
          <a:ln w="28575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it-IT" sz="2000" dirty="0" err="1">
                <a:latin typeface="Aptos" panose="020B0004020202020204" pitchFamily="34" charset="0"/>
              </a:rPr>
              <a:t>Symmetric</a:t>
            </a:r>
            <a:r>
              <a:rPr lang="it-IT" sz="2000" dirty="0">
                <a:latin typeface="Aptos" panose="020B0004020202020204" pitchFamily="34" charset="0"/>
              </a:rPr>
              <a:t> </a:t>
            </a:r>
            <a:r>
              <a:rPr lang="it-IT" sz="2000" dirty="0" err="1">
                <a:latin typeface="Aptos" panose="020B0004020202020204" pitchFamily="34" charset="0"/>
              </a:rPr>
              <a:t>decryption</a:t>
            </a:r>
            <a:endParaRPr lang="en-GB" sz="2000" dirty="0">
              <a:latin typeface="Aptos" panose="020B0004020202020204" pitchFamily="34" charset="0"/>
            </a:endParaRPr>
          </a:p>
        </p:txBody>
      </p:sp>
      <p:sp>
        <p:nvSpPr>
          <p:cNvPr id="18" name="CasellaDiTesto 17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0665823" y="4392710"/>
            <a:ext cx="15779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Decrypted</a:t>
            </a:r>
            <a:r>
              <a:rPr lang="it-IT" sz="2000" dirty="0">
                <a:latin typeface="Aptos" panose="020B0004020202020204" pitchFamily="34" charset="0"/>
                <a:ea typeface="Palatino" pitchFamily="2" charset="77"/>
              </a:rPr>
              <a:t> </a:t>
            </a:r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message</a:t>
            </a:r>
            <a:endParaRPr lang="it-IT" sz="2000" dirty="0">
              <a:latin typeface="Aptos" panose="020B0004020202020204" pitchFamily="34" charset="0"/>
              <a:ea typeface="Palatino" pitchFamily="2" charset="77"/>
            </a:endParaRPr>
          </a:p>
        </p:txBody>
      </p:sp>
      <p:cxnSp>
        <p:nvCxnSpPr>
          <p:cNvPr id="22" name="Connettore 2 21"/>
          <p:cNvCxnSpPr>
            <a:stCxn id="10" idx="3"/>
            <a:endCxn id="14" idx="1"/>
          </p:cNvCxnSpPr>
          <p:nvPr/>
        </p:nvCxnSpPr>
        <p:spPr>
          <a:xfrm>
            <a:off x="5867089" y="5996020"/>
            <a:ext cx="892185" cy="63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onnettore 2 23"/>
          <p:cNvCxnSpPr/>
          <p:nvPr/>
        </p:nvCxnSpPr>
        <p:spPr>
          <a:xfrm>
            <a:off x="1538097" y="5998807"/>
            <a:ext cx="80927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Connettore 2 25"/>
          <p:cNvCxnSpPr/>
          <p:nvPr/>
        </p:nvCxnSpPr>
        <p:spPr>
          <a:xfrm>
            <a:off x="1563445" y="4769583"/>
            <a:ext cx="80927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/>
          <p:cNvCxnSpPr>
            <a:stCxn id="8" idx="3"/>
          </p:cNvCxnSpPr>
          <p:nvPr/>
        </p:nvCxnSpPr>
        <p:spPr>
          <a:xfrm>
            <a:off x="6257193" y="4769583"/>
            <a:ext cx="2098695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onnettore 2 28"/>
          <p:cNvCxnSpPr/>
          <p:nvPr/>
        </p:nvCxnSpPr>
        <p:spPr>
          <a:xfrm>
            <a:off x="8852537" y="6003132"/>
            <a:ext cx="477883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asellaDiTesto 30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9006571" y="5593328"/>
            <a:ext cx="109404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sz="2000" dirty="0" err="1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sz="2000" baseline="-25000" dirty="0" err="1">
                <a:latin typeface="Aptos" panose="020B0004020202020204" pitchFamily="34" charset="0"/>
                <a:ea typeface="Palatino" pitchFamily="2" charset="77"/>
              </a:rPr>
              <a:t>sym</a:t>
            </a:r>
            <a:endParaRPr lang="it-IT" sz="2000" baseline="-25000" dirty="0">
              <a:latin typeface="Aptos" panose="020B0004020202020204" pitchFamily="34" charset="0"/>
              <a:ea typeface="Palatino" pitchFamily="2" charset="77"/>
            </a:endParaRPr>
          </a:p>
        </p:txBody>
      </p:sp>
      <p:cxnSp>
        <p:nvCxnSpPr>
          <p:cNvPr id="32" name="Connettore 2 31"/>
          <p:cNvCxnSpPr>
            <a:endCxn id="17" idx="2"/>
          </p:cNvCxnSpPr>
          <p:nvPr/>
        </p:nvCxnSpPr>
        <p:spPr>
          <a:xfrm flipH="1" flipV="1">
            <a:off x="9467667" y="5149229"/>
            <a:ext cx="9436" cy="43502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Connettore 2 34"/>
          <p:cNvCxnSpPr>
            <a:stCxn id="15" idx="2"/>
            <a:endCxn id="5" idx="0"/>
          </p:cNvCxnSpPr>
          <p:nvPr/>
        </p:nvCxnSpPr>
        <p:spPr>
          <a:xfrm>
            <a:off x="3414486" y="4122149"/>
            <a:ext cx="1" cy="2705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onnettore 2 37"/>
          <p:cNvCxnSpPr>
            <a:stCxn id="5" idx="3"/>
            <a:endCxn id="8" idx="1"/>
          </p:cNvCxnSpPr>
          <p:nvPr/>
        </p:nvCxnSpPr>
        <p:spPr>
          <a:xfrm>
            <a:off x="4456249" y="4769583"/>
            <a:ext cx="434591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onnettore 2 41"/>
          <p:cNvCxnSpPr>
            <a:stCxn id="6" idx="3"/>
            <a:endCxn id="10" idx="1"/>
          </p:cNvCxnSpPr>
          <p:nvPr/>
        </p:nvCxnSpPr>
        <p:spPr>
          <a:xfrm flipV="1">
            <a:off x="4456249" y="5996020"/>
            <a:ext cx="420967" cy="278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onnettore 2 52"/>
          <p:cNvCxnSpPr/>
          <p:nvPr/>
        </p:nvCxnSpPr>
        <p:spPr>
          <a:xfrm>
            <a:off x="10520959" y="4746653"/>
            <a:ext cx="289727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" name="Rettangolo 56"/>
          <p:cNvSpPr/>
          <p:nvPr/>
        </p:nvSpPr>
        <p:spPr>
          <a:xfrm>
            <a:off x="225715" y="3628393"/>
            <a:ext cx="4520261" cy="2926079"/>
          </a:xfrm>
          <a:prstGeom prst="rect">
            <a:avLst/>
          </a:prstGeom>
          <a:noFill/>
          <a:ln w="28575">
            <a:solidFill>
              <a:srgbClr val="FFC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60" name="CasellaDiTesto 59"/>
          <p:cNvSpPr txBox="1"/>
          <p:nvPr/>
        </p:nvSpPr>
        <p:spPr>
          <a:xfrm>
            <a:off x="1724933" y="3268117"/>
            <a:ext cx="1521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solidFill>
                  <a:srgbClr val="FFC000"/>
                </a:solidFill>
                <a:latin typeface="Aptos" panose="020B0004020202020204" pitchFamily="34" charset="0"/>
              </a:rPr>
              <a:t>Encryption</a:t>
            </a:r>
            <a:endParaRPr lang="en-GB" b="1" dirty="0">
              <a:solidFill>
                <a:srgbClr val="FFC000"/>
              </a:solidFill>
              <a:latin typeface="Aptos" panose="020B0004020202020204" pitchFamily="34" charset="0"/>
            </a:endParaRPr>
          </a:p>
        </p:txBody>
      </p:sp>
      <p:sp>
        <p:nvSpPr>
          <p:cNvPr id="61" name="Rettangolo 60"/>
          <p:cNvSpPr/>
          <p:nvPr/>
        </p:nvSpPr>
        <p:spPr>
          <a:xfrm>
            <a:off x="6544400" y="3628393"/>
            <a:ext cx="4164563" cy="3017519"/>
          </a:xfrm>
          <a:prstGeom prst="rect">
            <a:avLst/>
          </a:prstGeom>
          <a:noFill/>
          <a:ln w="28575">
            <a:solidFill>
              <a:srgbClr val="00B05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62" name="CasellaDiTesto 61"/>
          <p:cNvSpPr txBox="1"/>
          <p:nvPr/>
        </p:nvSpPr>
        <p:spPr>
          <a:xfrm>
            <a:off x="7865769" y="3236529"/>
            <a:ext cx="152182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it-IT" b="1" dirty="0" err="1">
                <a:solidFill>
                  <a:srgbClr val="00B050"/>
                </a:solidFill>
                <a:latin typeface="Aptos" panose="020B0004020202020204" pitchFamily="34" charset="0"/>
              </a:rPr>
              <a:t>Decryption</a:t>
            </a:r>
            <a:endParaRPr lang="en-GB" b="1" dirty="0">
              <a:solidFill>
                <a:srgbClr val="00B050"/>
              </a:solidFill>
              <a:latin typeface="Aptos" panose="020B0004020202020204" pitchFamily="34" charset="0"/>
            </a:endParaRPr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B2851667-1DB0-5C4C-B03F-EFEE84B00CFA}"/>
              </a:ext>
            </a:extLst>
          </p:cNvPr>
          <p:cNvSpPr/>
          <p:nvPr/>
        </p:nvSpPr>
        <p:spPr>
          <a:xfrm>
            <a:off x="7158898" y="5166595"/>
            <a:ext cx="107343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it-IT" dirty="0" err="1">
                <a:latin typeface="Aptos" panose="020B0004020202020204" pitchFamily="34" charset="0"/>
                <a:ea typeface="Palatino" pitchFamily="2" charset="77"/>
              </a:rPr>
              <a:t>K</a:t>
            </a:r>
            <a:r>
              <a:rPr lang="it-IT" baseline="-25000" dirty="0" err="1">
                <a:latin typeface="Aptos" panose="020B0004020202020204" pitchFamily="34" charset="0"/>
                <a:ea typeface="Palatino" pitchFamily="2" charset="77"/>
              </a:rPr>
              <a:t>Bob,private</a:t>
            </a:r>
            <a:endParaRPr lang="it-IT" dirty="0">
              <a:latin typeface="Aptos" panose="020B000402020202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D397FCE7-F0A7-B80E-B7C4-4C73606B85D9}"/>
              </a:ext>
            </a:extLst>
          </p:cNvPr>
          <p:cNvSpPr/>
          <p:nvPr/>
        </p:nvSpPr>
        <p:spPr>
          <a:xfrm>
            <a:off x="9638117" y="346450"/>
            <a:ext cx="1913992" cy="477078"/>
          </a:xfrm>
          <a:prstGeom prst="rect">
            <a:avLst/>
          </a:prstGeom>
        </p:spPr>
        <p:style>
          <a:lnRef idx="2">
            <a:schemeClr val="accent6">
              <a:shade val="15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b="1" dirty="0">
                <a:latin typeface="Aptos" panose="020B0004020202020204" pitchFamily="34" charset="0"/>
              </a:rPr>
              <a:t>BONUS</a:t>
            </a:r>
          </a:p>
        </p:txBody>
      </p:sp>
    </p:spTree>
    <p:extLst>
      <p:ext uri="{BB962C8B-B14F-4D97-AF65-F5344CB8AC3E}">
        <p14:creationId xmlns:p14="http://schemas.microsoft.com/office/powerpoint/2010/main" val="26136604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Network security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915808"/>
          </a:xfrm>
        </p:spPr>
        <p:txBody>
          <a:bodyPr/>
          <a:lstStyle/>
          <a:p>
            <a:r>
              <a:rPr lang="en-US" sz="2800" b="1" dirty="0"/>
              <a:t>Secrecy</a:t>
            </a:r>
            <a:r>
              <a:rPr lang="en-US" sz="2800" dirty="0"/>
              <a:t> or </a:t>
            </a:r>
            <a:r>
              <a:rPr lang="en-US" sz="2800" b="1" dirty="0"/>
              <a:t>confidentiality</a:t>
            </a:r>
            <a:r>
              <a:rPr lang="en-US" sz="2800" dirty="0"/>
              <a:t>. </a:t>
            </a:r>
          </a:p>
          <a:p>
            <a:pPr lvl="1"/>
            <a:r>
              <a:rPr lang="en-US" sz="2800" dirty="0"/>
              <a:t>Addressed by cryptography algorithms (symmetric-key, asymmetric-key, or hybrid)</a:t>
            </a:r>
          </a:p>
          <a:p>
            <a:endParaRPr lang="en-GB" sz="2800" b="1" dirty="0"/>
          </a:p>
          <a:p>
            <a:r>
              <a:rPr lang="en-GB" sz="2800" b="1" dirty="0"/>
              <a:t>Authentication</a:t>
            </a:r>
            <a:r>
              <a:rPr lang="en-GB" sz="2800" dirty="0"/>
              <a:t> </a:t>
            </a:r>
          </a:p>
          <a:p>
            <a:endParaRPr lang="en-GB" sz="2800" dirty="0"/>
          </a:p>
          <a:p>
            <a:r>
              <a:rPr lang="en-GB" sz="2800" b="1" dirty="0"/>
              <a:t>Nonrepudiation</a:t>
            </a:r>
            <a:r>
              <a:rPr lang="en-GB" sz="2800" dirty="0"/>
              <a:t> </a:t>
            </a:r>
          </a:p>
          <a:p>
            <a:endParaRPr lang="en-GB" sz="2800" b="1" dirty="0"/>
          </a:p>
          <a:p>
            <a:r>
              <a:rPr lang="en-GB" sz="2800" b="1" dirty="0"/>
              <a:t>Integrity control</a:t>
            </a:r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20</a:t>
            </a:fld>
            <a:endParaRPr lang="en-GB"/>
          </a:p>
        </p:txBody>
      </p:sp>
      <p:cxnSp>
        <p:nvCxnSpPr>
          <p:cNvPr id="6" name="Connettore diritto 5"/>
          <p:cNvCxnSpPr/>
          <p:nvPr/>
        </p:nvCxnSpPr>
        <p:spPr>
          <a:xfrm>
            <a:off x="4000500" y="3224464"/>
            <a:ext cx="6016" cy="2574758"/>
          </a:xfrm>
          <a:prstGeom prst="line">
            <a:avLst/>
          </a:prstGeom>
          <a:ln w="38100">
            <a:solidFill>
              <a:srgbClr val="00B05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ccia a destra 6"/>
          <p:cNvSpPr/>
          <p:nvPr/>
        </p:nvSpPr>
        <p:spPr>
          <a:xfrm>
            <a:off x="4331368" y="4295275"/>
            <a:ext cx="595563" cy="342900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4826089" y="4235892"/>
            <a:ext cx="645953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>
                <a:latin typeface="Aptos" panose="020B0004020202020204" pitchFamily="34" charset="0"/>
                <a:ea typeface="Palatino" pitchFamily="2" charset="77"/>
              </a:rPr>
              <a:t>They can be achieved by digital signature</a:t>
            </a:r>
          </a:p>
        </p:txBody>
      </p:sp>
    </p:spTree>
    <p:extLst>
      <p:ext uri="{BB962C8B-B14F-4D97-AF65-F5344CB8AC3E}">
        <p14:creationId xmlns:p14="http://schemas.microsoft.com/office/powerpoint/2010/main" val="19618853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Digital signatures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4858203"/>
          </a:xfrm>
        </p:spPr>
        <p:txBody>
          <a:bodyPr>
            <a:normAutofit/>
          </a:bodyPr>
          <a:lstStyle/>
          <a:p>
            <a:r>
              <a:rPr lang="en-US" dirty="0"/>
              <a:t>The authenticity of documents is determined by the presence or absence of an authorized handwritten signature. </a:t>
            </a:r>
          </a:p>
          <a:p>
            <a:r>
              <a:rPr lang="en-US" b="1" dirty="0"/>
              <a:t>Digital signature </a:t>
            </a:r>
            <a:r>
              <a:rPr lang="en-US" dirty="0"/>
              <a:t>replaces handwritten signature for digital messages. </a:t>
            </a:r>
          </a:p>
          <a:p>
            <a:r>
              <a:rPr lang="en-US" dirty="0"/>
              <a:t>Requirements of a digital signature: </a:t>
            </a:r>
          </a:p>
          <a:p>
            <a:pPr lvl="1"/>
            <a:r>
              <a:rPr lang="en-US" sz="2400" dirty="0"/>
              <a:t>The receiver can verify the claimed identity of the sender (</a:t>
            </a:r>
            <a:r>
              <a:rPr lang="en-US" sz="2400" b="1" dirty="0"/>
              <a:t>authentication</a:t>
            </a:r>
            <a:r>
              <a:rPr lang="en-US" sz="2400" dirty="0"/>
              <a:t>).</a:t>
            </a:r>
          </a:p>
          <a:p>
            <a:pPr lvl="1"/>
            <a:r>
              <a:rPr lang="en-US" sz="2400" dirty="0"/>
              <a:t>The sender cannot later repudiate the contents of the message (</a:t>
            </a:r>
            <a:r>
              <a:rPr lang="en-US" sz="2400" b="1" dirty="0"/>
              <a:t>non-repudiation</a:t>
            </a:r>
            <a:r>
              <a:rPr lang="en-US" sz="2400" dirty="0"/>
              <a:t>).</a:t>
            </a:r>
          </a:p>
          <a:p>
            <a:pPr lvl="1"/>
            <a:r>
              <a:rPr lang="en-US" sz="2400" dirty="0"/>
              <a:t>The receiver cannot possibly have altered the message himself (</a:t>
            </a:r>
            <a:r>
              <a:rPr lang="en-US" sz="2400" b="1" dirty="0"/>
              <a:t>integrity</a:t>
            </a:r>
            <a:r>
              <a:rPr lang="en-US" sz="2400" dirty="0"/>
              <a:t>).  </a:t>
            </a:r>
          </a:p>
          <a:p>
            <a:endParaRPr lang="en-GB" dirty="0"/>
          </a:p>
          <a:p>
            <a:endParaRPr lang="en-GB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5453191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Digital signature by symmetric-key cryptography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6"/>
            <a:ext cx="11368314" cy="1535273"/>
          </a:xfrm>
        </p:spPr>
        <p:txBody>
          <a:bodyPr>
            <a:normAutofit fontScale="92500" lnSpcReduction="10000"/>
          </a:bodyPr>
          <a:lstStyle/>
          <a:p>
            <a:r>
              <a:rPr lang="en-US" dirty="0"/>
              <a:t>E</a:t>
            </a:r>
            <a:r>
              <a:rPr lang="en-US" baseline="-25000" dirty="0"/>
              <a:t>K</a:t>
            </a:r>
            <a:r>
              <a:rPr lang="en-US" dirty="0"/>
              <a:t>(.): Function for symmetric encryption with key K</a:t>
            </a:r>
          </a:p>
          <a:p>
            <a:r>
              <a:rPr lang="en-US" dirty="0"/>
              <a:t>Each user is provided a secret key to be used in symmetric-key cryptography. </a:t>
            </a:r>
          </a:p>
          <a:p>
            <a:r>
              <a:rPr lang="en-US" dirty="0"/>
              <a:t>A central trusted authority knows the keys of every user and can verify the identify of all users.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US" smtClean="0"/>
              <a:t>22</a:t>
            </a:fld>
            <a:endParaRPr lang="en-US" dirty="0"/>
          </a:p>
        </p:txBody>
      </p:sp>
      <p:sp>
        <p:nvSpPr>
          <p:cNvPr id="5" name="CasellaDiTesto 4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778788" y="3008428"/>
            <a:ext cx="19906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ptos" panose="020B0004020202020204" pitchFamily="34" charset="0"/>
                <a:ea typeface="Palatino" pitchFamily="2" charset="77"/>
              </a:rPr>
              <a:t>Alice (sender)</a:t>
            </a:r>
          </a:p>
        </p:txBody>
      </p:sp>
      <p:sp>
        <p:nvSpPr>
          <p:cNvPr id="6" name="CasellaDiTesto 5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9554499" y="3454406"/>
            <a:ext cx="2705463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ptos" panose="020B0004020202020204" pitchFamily="34" charset="0"/>
                <a:ea typeface="Palatino" pitchFamily="2" charset="77"/>
              </a:rPr>
              <a:t>Bob (recipient)</a:t>
            </a:r>
          </a:p>
        </p:txBody>
      </p:sp>
      <p:sp>
        <p:nvSpPr>
          <p:cNvPr id="7" name="Rettangolo 6"/>
          <p:cNvSpPr/>
          <p:nvPr/>
        </p:nvSpPr>
        <p:spPr>
          <a:xfrm>
            <a:off x="4176231" y="3269479"/>
            <a:ext cx="3425203" cy="1628775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b="1" dirty="0">
                <a:latin typeface="Aptos" panose="020B0004020202020204" pitchFamily="34" charset="0"/>
              </a:rPr>
              <a:t>Central trusted authority</a:t>
            </a:r>
          </a:p>
          <a:p>
            <a:pPr algn="ctr"/>
            <a:r>
              <a:rPr lang="en-US" sz="2000" dirty="0">
                <a:latin typeface="Aptos" panose="020B0004020202020204" pitchFamily="34" charset="0"/>
              </a:rPr>
              <a:t>with secret key Kc</a:t>
            </a:r>
          </a:p>
          <a:p>
            <a:pPr algn="ctr"/>
            <a:endParaRPr lang="en-US" sz="1000" dirty="0">
              <a:latin typeface="Aptos" panose="020B0004020202020204" pitchFamily="34" charset="0"/>
            </a:endParaRPr>
          </a:p>
          <a:p>
            <a:pPr algn="ctr"/>
            <a:r>
              <a:rPr lang="en-US" sz="2000" dirty="0" err="1">
                <a:latin typeface="Aptos" panose="020B0004020202020204" pitchFamily="34" charset="0"/>
                <a:ea typeface="Palatino" pitchFamily="2" charset="77"/>
              </a:rPr>
              <a:t>Ka</a:t>
            </a:r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 is secret key of Alice</a:t>
            </a:r>
          </a:p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Kb is the secret key of Bob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8" name="CasellaDiTesto 7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260976" y="3375981"/>
            <a:ext cx="19906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Plaintext P</a:t>
            </a:r>
          </a:p>
        </p:txBody>
      </p: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637345" y="3385289"/>
            <a:ext cx="88342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err="1">
                <a:latin typeface="Aptos" panose="020B0004020202020204" pitchFamily="34" charset="0"/>
                <a:ea typeface="Palatino" pitchFamily="2" charset="77"/>
              </a:rPr>
              <a:t>Ka</a:t>
            </a:r>
            <a:endParaRPr lang="en-US" sz="2000" dirty="0">
              <a:latin typeface="Aptos" panose="020B0004020202020204" pitchFamily="34" charset="0"/>
              <a:ea typeface="Palatino" pitchFamily="2" charset="77"/>
            </a:endParaRP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9412073" y="3839711"/>
            <a:ext cx="2990314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Kb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237672" y="3885878"/>
            <a:ext cx="3072849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 err="1">
                <a:latin typeface="Aptos" panose="020B0004020202020204" pitchFamily="34" charset="0"/>
                <a:ea typeface="Palatino" pitchFamily="2" charset="77"/>
              </a:rPr>
              <a:t>Ciphertext</a:t>
            </a:r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 C</a:t>
            </a:r>
          </a:p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C = </a:t>
            </a:r>
            <a:r>
              <a:rPr lang="en-US" sz="2000" dirty="0" err="1">
                <a:latin typeface="Aptos" panose="020B0004020202020204" pitchFamily="34" charset="0"/>
                <a:ea typeface="Palatino" pitchFamily="2" charset="77"/>
              </a:rPr>
              <a:t>E</a:t>
            </a:r>
            <a:r>
              <a:rPr lang="en-US" sz="2000" baseline="-25000" dirty="0" err="1">
                <a:latin typeface="Aptos" panose="020B0004020202020204" pitchFamily="34" charset="0"/>
                <a:ea typeface="Palatino" pitchFamily="2" charset="77"/>
              </a:rPr>
              <a:t>Ka</a:t>
            </a:r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(B, P)</a:t>
            </a:r>
            <a:endParaRPr lang="en-US" sz="2000" baseline="-25000" dirty="0">
              <a:latin typeface="Aptos" panose="020B0004020202020204" pitchFamily="34" charset="0"/>
              <a:ea typeface="Palatino" pitchFamily="2" charset="77"/>
            </a:endParaRPr>
          </a:p>
        </p:txBody>
      </p:sp>
      <p:cxnSp>
        <p:nvCxnSpPr>
          <p:cNvPr id="15" name="Connettore 2 14"/>
          <p:cNvCxnSpPr>
            <a:endCxn id="7" idx="1"/>
          </p:cNvCxnSpPr>
          <p:nvPr/>
        </p:nvCxnSpPr>
        <p:spPr>
          <a:xfrm>
            <a:off x="2731563" y="4083866"/>
            <a:ext cx="1444668" cy="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2 15"/>
          <p:cNvCxnSpPr/>
          <p:nvPr/>
        </p:nvCxnSpPr>
        <p:spPr>
          <a:xfrm flipV="1">
            <a:off x="7601434" y="4039766"/>
            <a:ext cx="2523641" cy="35651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CasellaDiTesto 17"/>
          <p:cNvSpPr txBox="1"/>
          <p:nvPr/>
        </p:nvSpPr>
        <p:spPr>
          <a:xfrm>
            <a:off x="1368501" y="4980758"/>
            <a:ext cx="272195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ptos" panose="020B0004020202020204" pitchFamily="34" charset="0"/>
              </a:rPr>
              <a:t>Bob’s identity</a:t>
            </a:r>
          </a:p>
        </p:txBody>
      </p:sp>
      <p:sp>
        <p:nvSpPr>
          <p:cNvPr id="21" name="Rettangolo 20"/>
          <p:cNvSpPr/>
          <p:nvPr/>
        </p:nvSpPr>
        <p:spPr>
          <a:xfrm>
            <a:off x="7711077" y="4243642"/>
            <a:ext cx="263379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2000" dirty="0">
                <a:latin typeface="Aptos" panose="020B0004020202020204" pitchFamily="34" charset="0"/>
              </a:rPr>
              <a:t>C’ = </a:t>
            </a:r>
            <a:r>
              <a:rPr lang="en-US" sz="2000" dirty="0" err="1">
                <a:latin typeface="Aptos" panose="020B0004020202020204" pitchFamily="34" charset="0"/>
              </a:rPr>
              <a:t>E</a:t>
            </a:r>
            <a:r>
              <a:rPr lang="en-US" sz="2000" baseline="-25000" dirty="0" err="1">
                <a:latin typeface="Aptos" panose="020B0004020202020204" pitchFamily="34" charset="0"/>
              </a:rPr>
              <a:t>Kb</a:t>
            </a:r>
            <a:r>
              <a:rPr lang="en-US" sz="2000" dirty="0">
                <a:latin typeface="Aptos" panose="020B0004020202020204" pitchFamily="34" charset="0"/>
              </a:rPr>
              <a:t> (A, P, </a:t>
            </a:r>
            <a:r>
              <a:rPr lang="en-US" sz="2000" dirty="0" err="1">
                <a:latin typeface="Aptos" panose="020B0004020202020204" pitchFamily="34" charset="0"/>
              </a:rPr>
              <a:t>E</a:t>
            </a:r>
            <a:r>
              <a:rPr lang="en-US" sz="2000" baseline="-25000" dirty="0" err="1">
                <a:latin typeface="Aptos" panose="020B0004020202020204" pitchFamily="34" charset="0"/>
              </a:rPr>
              <a:t>Kc</a:t>
            </a:r>
            <a:r>
              <a:rPr lang="en-US" sz="2000" dirty="0">
                <a:latin typeface="Aptos" panose="020B0004020202020204" pitchFamily="34" charset="0"/>
              </a:rPr>
              <a:t>(A, P))</a:t>
            </a:r>
          </a:p>
        </p:txBody>
      </p:sp>
      <p:sp>
        <p:nvSpPr>
          <p:cNvPr id="22" name="CasellaDiTesto 21"/>
          <p:cNvSpPr txBox="1"/>
          <p:nvPr/>
        </p:nvSpPr>
        <p:spPr>
          <a:xfrm>
            <a:off x="8610600" y="5044032"/>
            <a:ext cx="34800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Needed to Bob to demonstrate he has received the message from the central authority (Alice cannot repudiate the message)</a:t>
            </a:r>
          </a:p>
        </p:txBody>
      </p:sp>
      <p:sp>
        <p:nvSpPr>
          <p:cNvPr id="23" name="CasellaDiTesto 22"/>
          <p:cNvSpPr txBox="1"/>
          <p:nvPr/>
        </p:nvSpPr>
        <p:spPr>
          <a:xfrm>
            <a:off x="4272419" y="4980758"/>
            <a:ext cx="327348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The central authority decrypts the message with </a:t>
            </a:r>
            <a:r>
              <a:rPr lang="en-US" dirty="0" err="1">
                <a:latin typeface="Aptos" panose="020B0004020202020204" pitchFamily="34" charset="0"/>
              </a:rPr>
              <a:t>Ka</a:t>
            </a:r>
            <a:r>
              <a:rPr lang="en-US" dirty="0">
                <a:latin typeface="Aptos" panose="020B0004020202020204" pitchFamily="34" charset="0"/>
              </a:rPr>
              <a:t> and thus authenticates Alice.</a:t>
            </a:r>
          </a:p>
        </p:txBody>
      </p:sp>
      <p:cxnSp>
        <p:nvCxnSpPr>
          <p:cNvPr id="13" name="Connettore 2 12"/>
          <p:cNvCxnSpPr>
            <a:cxnSpLocks/>
          </p:cNvCxnSpPr>
          <p:nvPr/>
        </p:nvCxnSpPr>
        <p:spPr>
          <a:xfrm flipH="1">
            <a:off x="2021420" y="4523225"/>
            <a:ext cx="10973" cy="44206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Connettore 2 26"/>
          <p:cNvCxnSpPr/>
          <p:nvPr/>
        </p:nvCxnSpPr>
        <p:spPr>
          <a:xfrm>
            <a:off x="10208140" y="4675752"/>
            <a:ext cx="4108" cy="36828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asellaDiTesto 43"/>
          <p:cNvSpPr txBox="1"/>
          <p:nvPr/>
        </p:nvSpPr>
        <p:spPr>
          <a:xfrm>
            <a:off x="7684772" y="4744255"/>
            <a:ext cx="15049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ptos" panose="020B0004020202020204" pitchFamily="34" charset="0"/>
              </a:rPr>
              <a:t>Alice’s identity</a:t>
            </a:r>
          </a:p>
        </p:txBody>
      </p:sp>
      <p:cxnSp>
        <p:nvCxnSpPr>
          <p:cNvPr id="45" name="Connettore 2 44"/>
          <p:cNvCxnSpPr/>
          <p:nvPr/>
        </p:nvCxnSpPr>
        <p:spPr>
          <a:xfrm flipH="1">
            <a:off x="8521966" y="4605469"/>
            <a:ext cx="387419" cy="315918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475617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Limitations</a:t>
            </a:r>
            <a:r>
              <a:rPr lang="it-IT" dirty="0"/>
              <a:t> of the </a:t>
            </a:r>
            <a:r>
              <a:rPr lang="it-IT" dirty="0" err="1"/>
              <a:t>symmetric-key</a:t>
            </a:r>
            <a:r>
              <a:rPr lang="it-IT" dirty="0"/>
              <a:t> </a:t>
            </a:r>
            <a:r>
              <a:rPr lang="it-IT" dirty="0" err="1"/>
              <a:t>digital</a:t>
            </a:r>
            <a:r>
              <a:rPr lang="it-IT" dirty="0"/>
              <a:t> </a:t>
            </a:r>
            <a:r>
              <a:rPr lang="it-IT" dirty="0" err="1"/>
              <a:t>signature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 central trusted authority must be in the middle of any exchange of signed messages. </a:t>
            </a:r>
          </a:p>
          <a:p>
            <a:r>
              <a:rPr lang="en-US" dirty="0"/>
              <a:t>The central authority reads all the signed messages.  </a:t>
            </a:r>
          </a:p>
          <a:p>
            <a:pPr marL="0" indent="0">
              <a:buNone/>
            </a:pPr>
            <a:r>
              <a:rPr lang="en-US" dirty="0"/>
              <a:t> 		</a:t>
            </a:r>
          </a:p>
          <a:p>
            <a:pPr marL="0" indent="0">
              <a:buNone/>
            </a:pPr>
            <a:r>
              <a:rPr lang="en-US" dirty="0"/>
              <a:t>		This problem can be solved using public-key algorithms. 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23</a:t>
            </a:fld>
            <a:endParaRPr lang="en-GB"/>
          </a:p>
        </p:txBody>
      </p:sp>
      <p:sp>
        <p:nvSpPr>
          <p:cNvPr id="5" name="Freccia a destra 4"/>
          <p:cNvSpPr/>
          <p:nvPr/>
        </p:nvSpPr>
        <p:spPr>
          <a:xfrm>
            <a:off x="1540042" y="3074069"/>
            <a:ext cx="595563" cy="342900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767915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Public-key digital signature</a:t>
            </a:r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10294" y="1376846"/>
            <a:ext cx="11368314" cy="860243"/>
          </a:xfrm>
        </p:spPr>
        <p:txBody>
          <a:bodyPr>
            <a:normAutofit lnSpcReduction="10000"/>
          </a:bodyPr>
          <a:lstStyle/>
          <a:p>
            <a:r>
              <a:rPr lang="en-US" dirty="0" err="1"/>
              <a:t>Ka,pub</a:t>
            </a:r>
            <a:r>
              <a:rPr lang="en-US" dirty="0"/>
              <a:t>: Alice’s public key</a:t>
            </a:r>
          </a:p>
          <a:p>
            <a:r>
              <a:rPr lang="en-US" dirty="0" err="1"/>
              <a:t>Ka,priv</a:t>
            </a:r>
            <a:r>
              <a:rPr lang="en-US" dirty="0"/>
              <a:t>: Alice’s private key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24</a:t>
            </a:fld>
            <a:endParaRPr lang="en-GB" dirty="0"/>
          </a:p>
        </p:txBody>
      </p:sp>
      <p:sp>
        <p:nvSpPr>
          <p:cNvPr id="6" name="CasellaDiTesto 5"/>
          <p:cNvSpPr txBox="1"/>
          <p:nvPr/>
        </p:nvSpPr>
        <p:spPr>
          <a:xfrm>
            <a:off x="5279366" y="1258331"/>
            <a:ext cx="650234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If Alice encrypts a message with her private key (</a:t>
            </a:r>
            <a:r>
              <a:rPr lang="en-US" sz="2400" dirty="0" err="1">
                <a:latin typeface="Aptos" panose="020B0004020202020204" pitchFamily="34" charset="0"/>
              </a:rPr>
              <a:t>Ka,priv</a:t>
            </a:r>
            <a:r>
              <a:rPr lang="en-US" sz="2400" dirty="0">
                <a:latin typeface="Aptos" panose="020B0004020202020204" pitchFamily="34" charset="0"/>
              </a:rPr>
              <a:t>) then Bob can decrypt the message with her public key (</a:t>
            </a:r>
            <a:r>
              <a:rPr lang="en-US" sz="2400" dirty="0" err="1">
                <a:latin typeface="Aptos" panose="020B0004020202020204" pitchFamily="34" charset="0"/>
              </a:rPr>
              <a:t>Ka,pub</a:t>
            </a:r>
            <a:r>
              <a:rPr lang="en-US" sz="2400" dirty="0">
                <a:latin typeface="Aptos" panose="020B0004020202020204" pitchFamily="34" charset="0"/>
              </a:rPr>
              <a:t>). </a:t>
            </a:r>
          </a:p>
        </p:txBody>
      </p:sp>
      <p:sp>
        <p:nvSpPr>
          <p:cNvPr id="7" name="Freccia a destra 6"/>
          <p:cNvSpPr/>
          <p:nvPr/>
        </p:nvSpPr>
        <p:spPr>
          <a:xfrm>
            <a:off x="4609350" y="1607962"/>
            <a:ext cx="595563" cy="342900"/>
          </a:xfrm>
          <a:prstGeom prst="rightArrow">
            <a:avLst/>
          </a:prstGeom>
          <a:solidFill>
            <a:schemeClr val="accent6">
              <a:lumMod val="75000"/>
            </a:schemeClr>
          </a:solidFill>
          <a:ln>
            <a:solidFill>
              <a:schemeClr val="accent6">
                <a:lumMod val="5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8" name="Rettangolo 7"/>
          <p:cNvSpPr/>
          <p:nvPr/>
        </p:nvSpPr>
        <p:spPr>
          <a:xfrm>
            <a:off x="6855001" y="3124373"/>
            <a:ext cx="2645674" cy="854454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Decryption with key </a:t>
            </a:r>
            <a:r>
              <a:rPr lang="en-US" sz="2000" dirty="0" err="1">
                <a:latin typeface="Aptos" panose="020B0004020202020204" pitchFamily="34" charset="0"/>
              </a:rPr>
              <a:t>Ka,pub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</a:p>
        </p:txBody>
      </p:sp>
      <p:sp>
        <p:nvSpPr>
          <p:cNvPr id="9" name="Rettangolo 8"/>
          <p:cNvSpPr/>
          <p:nvPr/>
        </p:nvSpPr>
        <p:spPr>
          <a:xfrm>
            <a:off x="2136549" y="3139426"/>
            <a:ext cx="2645674" cy="839401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Encryption with key </a:t>
            </a:r>
            <a:r>
              <a:rPr lang="en-US" sz="2000" dirty="0" err="1">
                <a:latin typeface="Aptos" panose="020B0004020202020204" pitchFamily="34" charset="0"/>
              </a:rPr>
              <a:t>Ka,priv</a:t>
            </a:r>
            <a:r>
              <a:rPr lang="en-US" sz="2000" dirty="0">
                <a:latin typeface="Aptos" panose="020B0004020202020204" pitchFamily="34" charset="0"/>
              </a:rPr>
              <a:t> </a:t>
            </a:r>
          </a:p>
        </p:txBody>
      </p:sp>
      <p:cxnSp>
        <p:nvCxnSpPr>
          <p:cNvPr id="11" name="Connettore 2 10"/>
          <p:cNvCxnSpPr>
            <a:cxnSpLocks/>
            <a:endCxn id="9" idx="1"/>
          </p:cNvCxnSpPr>
          <p:nvPr/>
        </p:nvCxnSpPr>
        <p:spPr>
          <a:xfrm>
            <a:off x="1594653" y="3551600"/>
            <a:ext cx="541896" cy="75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Connettore 2 12"/>
          <p:cNvCxnSpPr>
            <a:stCxn id="9" idx="3"/>
            <a:endCxn id="8" idx="1"/>
          </p:cNvCxnSpPr>
          <p:nvPr/>
        </p:nvCxnSpPr>
        <p:spPr>
          <a:xfrm flipV="1">
            <a:off x="4782223" y="3551600"/>
            <a:ext cx="2072778" cy="7527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2 15"/>
          <p:cNvCxnSpPr>
            <a:cxnSpLocks/>
            <a:stCxn id="8" idx="3"/>
          </p:cNvCxnSpPr>
          <p:nvPr/>
        </p:nvCxnSpPr>
        <p:spPr>
          <a:xfrm flipV="1">
            <a:off x="9500675" y="3551599"/>
            <a:ext cx="718884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CasellaDiTesto 19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501825" y="2724263"/>
            <a:ext cx="913024" cy="40011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ptos" panose="020B0004020202020204" pitchFamily="34" charset="0"/>
                <a:ea typeface="Palatino" pitchFamily="2" charset="77"/>
              </a:rPr>
              <a:t>Alice</a:t>
            </a:r>
          </a:p>
        </p:txBody>
      </p:sp>
      <p:sp>
        <p:nvSpPr>
          <p:cNvPr id="21" name="CasellaDiTesto 20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-40397" y="3333696"/>
            <a:ext cx="19906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Plaintext P</a:t>
            </a:r>
          </a:p>
        </p:txBody>
      </p:sp>
      <p:sp>
        <p:nvSpPr>
          <p:cNvPr id="22" name="CasellaDiTesto 21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0219559" y="2692192"/>
            <a:ext cx="1148601" cy="40011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ptos" panose="020B0004020202020204" pitchFamily="34" charset="0"/>
                <a:ea typeface="Palatino" pitchFamily="2" charset="77"/>
              </a:rPr>
              <a:t>Bob</a:t>
            </a:r>
          </a:p>
        </p:txBody>
      </p:sp>
      <p:sp>
        <p:nvSpPr>
          <p:cNvPr id="23" name="CasellaDiTesto 22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9917229" y="3359846"/>
            <a:ext cx="199061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Plaintext P</a:t>
            </a:r>
          </a:p>
        </p:txBody>
      </p:sp>
      <p:sp>
        <p:nvSpPr>
          <p:cNvPr id="24" name="Rettangolo 23"/>
          <p:cNvSpPr/>
          <p:nvPr/>
        </p:nvSpPr>
        <p:spPr>
          <a:xfrm>
            <a:off x="5049153" y="3171952"/>
            <a:ext cx="14058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Ciphered P</a:t>
            </a:r>
          </a:p>
        </p:txBody>
      </p:sp>
      <p:sp>
        <p:nvSpPr>
          <p:cNvPr id="25" name="CasellaDiTesto 24"/>
          <p:cNvSpPr txBox="1"/>
          <p:nvPr/>
        </p:nvSpPr>
        <p:spPr>
          <a:xfrm>
            <a:off x="586596" y="4659879"/>
            <a:ext cx="1103493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If Bob can open the message by </a:t>
            </a:r>
            <a:r>
              <a:rPr lang="en-US" sz="2400" dirty="0" err="1">
                <a:latin typeface="Aptos" panose="020B0004020202020204" pitchFamily="34" charset="0"/>
              </a:rPr>
              <a:t>Ka,pub</a:t>
            </a:r>
            <a:r>
              <a:rPr lang="en-US" sz="2400" dirty="0">
                <a:latin typeface="Aptos" panose="020B0004020202020204" pitchFamily="34" charset="0"/>
              </a:rPr>
              <a:t>, then Bob is sure that the message was sent by Alice, because Alice is the only one having </a:t>
            </a:r>
            <a:r>
              <a:rPr lang="en-US" sz="2400" dirty="0" err="1">
                <a:latin typeface="Aptos" panose="020B0004020202020204" pitchFamily="34" charset="0"/>
              </a:rPr>
              <a:t>Ka,priv</a:t>
            </a:r>
            <a:endParaRPr lang="en-US" sz="2400" dirty="0">
              <a:latin typeface="Aptos" panose="020B0004020202020204" pitchFamily="34" charset="0"/>
            </a:endParaRPr>
          </a:p>
          <a:p>
            <a:r>
              <a:rPr lang="en-US" sz="2400" dirty="0">
                <a:latin typeface="Aptos" panose="020B0004020202020204" pitchFamily="34" charset="0"/>
                <a:sym typeface="Wingdings" panose="05000000000000000000" pitchFamily="2" charset="2"/>
              </a:rPr>
              <a:t>	 </a:t>
            </a:r>
            <a:r>
              <a:rPr lang="en-US" sz="2400" b="1" dirty="0">
                <a:latin typeface="Aptos" panose="020B0004020202020204" pitchFamily="34" charset="0"/>
                <a:sym typeface="Wingdings" panose="05000000000000000000" pitchFamily="2" charset="2"/>
              </a:rPr>
              <a:t>authentication and non-repudiation are guaranteed</a:t>
            </a:r>
          </a:p>
          <a:p>
            <a:r>
              <a:rPr lang="en-US" sz="2400" dirty="0">
                <a:latin typeface="Aptos" panose="020B0004020202020204" pitchFamily="34" charset="0"/>
                <a:sym typeface="Wingdings" panose="05000000000000000000" pitchFamily="2" charset="2"/>
              </a:rPr>
              <a:t>Secrecy is not guaranteed: anyone with </a:t>
            </a:r>
            <a:r>
              <a:rPr lang="en-US" sz="2400" dirty="0" err="1">
                <a:latin typeface="Aptos" panose="020B0004020202020204" pitchFamily="34" charset="0"/>
                <a:sym typeface="Wingdings" panose="05000000000000000000" pitchFamily="2" charset="2"/>
              </a:rPr>
              <a:t>Ka,pub</a:t>
            </a:r>
            <a:r>
              <a:rPr lang="en-US" sz="2400" dirty="0">
                <a:latin typeface="Aptos" panose="020B0004020202020204" pitchFamily="34" charset="0"/>
                <a:sym typeface="Wingdings" panose="05000000000000000000" pitchFamily="2" charset="2"/>
              </a:rPr>
              <a:t> can open the message. </a:t>
            </a:r>
            <a:endParaRPr lang="en-US" sz="2400" dirty="0">
              <a:latin typeface="Aptos" panose="020B0004020202020204" pitchFamily="34" charset="0"/>
            </a:endParaRPr>
          </a:p>
        </p:txBody>
      </p:sp>
      <p:sp>
        <p:nvSpPr>
          <p:cNvPr id="26" name="Rettangolo arrotondato 25"/>
          <p:cNvSpPr/>
          <p:nvPr/>
        </p:nvSpPr>
        <p:spPr>
          <a:xfrm>
            <a:off x="284205" y="2724263"/>
            <a:ext cx="4686589" cy="1438664"/>
          </a:xfrm>
          <a:prstGeom prst="roundRect">
            <a:avLst/>
          </a:prstGeom>
          <a:noFill/>
          <a:ln w="28575">
            <a:solidFill>
              <a:schemeClr val="accent4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27" name="Rettangolo arrotondato 26"/>
          <p:cNvSpPr/>
          <p:nvPr/>
        </p:nvSpPr>
        <p:spPr>
          <a:xfrm>
            <a:off x="6634566" y="2692192"/>
            <a:ext cx="4986963" cy="1470735"/>
          </a:xfrm>
          <a:prstGeom prst="roundRect">
            <a:avLst/>
          </a:prstGeom>
          <a:noFill/>
          <a:ln w="28575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70674410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Public-</a:t>
            </a:r>
            <a:r>
              <a:rPr lang="it-IT" dirty="0" err="1"/>
              <a:t>key</a:t>
            </a:r>
            <a:r>
              <a:rPr lang="it-IT" dirty="0"/>
              <a:t> </a:t>
            </a:r>
            <a:r>
              <a:rPr lang="it-IT" dirty="0" err="1"/>
              <a:t>signature</a:t>
            </a:r>
            <a:r>
              <a:rPr lang="it-IT" dirty="0"/>
              <a:t> with </a:t>
            </a:r>
            <a:r>
              <a:rPr lang="it-IT" dirty="0" err="1"/>
              <a:t>secrecy</a:t>
            </a:r>
            <a:r>
              <a:rPr lang="it-IT" dirty="0"/>
              <a:t> 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9793"/>
            <a:ext cx="11368314" cy="2499253"/>
          </a:xfrm>
        </p:spPr>
        <p:txBody>
          <a:bodyPr>
            <a:normAutofit/>
          </a:bodyPr>
          <a:lstStyle/>
          <a:p>
            <a:r>
              <a:rPr lang="en-US" dirty="0"/>
              <a:t>If secrecy of the message must also be guaranteed, public-key cryptography can be applied twice, using both the keys of the sender and the receiver. 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Ka,pub</a:t>
            </a:r>
            <a:r>
              <a:rPr lang="en-US" dirty="0"/>
              <a:t>: Alice’s public key				</a:t>
            </a:r>
            <a:r>
              <a:rPr lang="en-US" dirty="0" err="1"/>
              <a:t>Kb,pub</a:t>
            </a:r>
            <a:r>
              <a:rPr lang="en-US" dirty="0"/>
              <a:t>: Bob’s public key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Ka,priv</a:t>
            </a:r>
            <a:r>
              <a:rPr lang="en-US" dirty="0"/>
              <a:t>: Alice’s private key 			</a:t>
            </a:r>
            <a:r>
              <a:rPr lang="en-US" dirty="0" err="1"/>
              <a:t>Kb,priv</a:t>
            </a:r>
            <a:r>
              <a:rPr lang="en-US" dirty="0"/>
              <a:t>: Bob’s private key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25</a:t>
            </a:fld>
            <a:endParaRPr lang="en-GB"/>
          </a:p>
        </p:txBody>
      </p:sp>
      <p:sp>
        <p:nvSpPr>
          <p:cNvPr id="6" name="Rettangolo 5"/>
          <p:cNvSpPr/>
          <p:nvPr/>
        </p:nvSpPr>
        <p:spPr>
          <a:xfrm>
            <a:off x="1033481" y="4541197"/>
            <a:ext cx="1644239" cy="839401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Encryption with </a:t>
            </a:r>
            <a:r>
              <a:rPr lang="en-US" sz="2000" dirty="0" err="1">
                <a:latin typeface="Aptos" panose="020B0004020202020204" pitchFamily="34" charset="0"/>
              </a:rPr>
              <a:t>Ka,priv</a:t>
            </a:r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7" name="Connettore 2 6"/>
          <p:cNvCxnSpPr>
            <a:cxnSpLocks/>
            <a:endCxn id="6" idx="1"/>
          </p:cNvCxnSpPr>
          <p:nvPr/>
        </p:nvCxnSpPr>
        <p:spPr>
          <a:xfrm>
            <a:off x="559881" y="4960896"/>
            <a:ext cx="473600" cy="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2 7"/>
          <p:cNvCxnSpPr>
            <a:cxnSpLocks/>
            <a:stCxn id="6" idx="3"/>
            <a:endCxn id="23" idx="1"/>
          </p:cNvCxnSpPr>
          <p:nvPr/>
        </p:nvCxnSpPr>
        <p:spPr>
          <a:xfrm flipV="1">
            <a:off x="2677720" y="4960897"/>
            <a:ext cx="579866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nettore 2 8"/>
          <p:cNvCxnSpPr/>
          <p:nvPr/>
        </p:nvCxnSpPr>
        <p:spPr>
          <a:xfrm>
            <a:off x="9808312" y="4929308"/>
            <a:ext cx="909898" cy="7526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435318" y="4101971"/>
            <a:ext cx="913024" cy="40011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ptos" panose="020B0004020202020204" pitchFamily="34" charset="0"/>
                <a:ea typeface="Palatino" pitchFamily="2" charset="77"/>
              </a:rPr>
              <a:t>Alice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65334" y="4682989"/>
            <a:ext cx="6840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P</a:t>
            </a:r>
          </a:p>
        </p:txBody>
      </p:sp>
      <p:sp>
        <p:nvSpPr>
          <p:cNvPr id="12" name="CasellaDiTesto 11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0520019" y="4069900"/>
            <a:ext cx="1148601" cy="40011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ptos" panose="020B0004020202020204" pitchFamily="34" charset="0"/>
                <a:ea typeface="Palatino" pitchFamily="2" charset="77"/>
              </a:rPr>
              <a:t>Bob</a:t>
            </a:r>
          </a:p>
        </p:txBody>
      </p:sp>
      <p:sp>
        <p:nvSpPr>
          <p:cNvPr id="13" name="CasellaDiTesto 12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1407265" y="4760840"/>
            <a:ext cx="64628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P</a:t>
            </a:r>
          </a:p>
        </p:txBody>
      </p:sp>
      <p:sp>
        <p:nvSpPr>
          <p:cNvPr id="15" name="Rettangolo arrotondato 14"/>
          <p:cNvSpPr/>
          <p:nvPr/>
        </p:nvSpPr>
        <p:spPr>
          <a:xfrm>
            <a:off x="217698" y="4101971"/>
            <a:ext cx="4953543" cy="1438664"/>
          </a:xfrm>
          <a:prstGeom prst="roundRect">
            <a:avLst>
              <a:gd name="adj" fmla="val 15413"/>
            </a:avLst>
          </a:prstGeom>
          <a:noFill/>
          <a:ln w="28575">
            <a:solidFill>
              <a:schemeClr val="accent4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16" name="Rettangolo arrotondato 15"/>
          <p:cNvSpPr/>
          <p:nvPr/>
        </p:nvSpPr>
        <p:spPr>
          <a:xfrm>
            <a:off x="6935873" y="4069900"/>
            <a:ext cx="4986117" cy="1470735"/>
          </a:xfrm>
          <a:prstGeom prst="roundRect">
            <a:avLst/>
          </a:prstGeom>
          <a:noFill/>
          <a:ln w="28575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23" name="Rettangolo 22"/>
          <p:cNvSpPr/>
          <p:nvPr/>
        </p:nvSpPr>
        <p:spPr>
          <a:xfrm>
            <a:off x="3257586" y="4541196"/>
            <a:ext cx="1670282" cy="839401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Encryption with </a:t>
            </a:r>
            <a:r>
              <a:rPr lang="en-US" sz="2000" dirty="0" err="1">
                <a:latin typeface="Aptos" panose="020B0004020202020204" pitchFamily="34" charset="0"/>
              </a:rPr>
              <a:t>Kb,pub</a:t>
            </a:r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30" name="Connettore 2 29"/>
          <p:cNvCxnSpPr>
            <a:cxnSpLocks/>
            <a:stCxn id="23" idx="3"/>
            <a:endCxn id="33" idx="1"/>
          </p:cNvCxnSpPr>
          <p:nvPr/>
        </p:nvCxnSpPr>
        <p:spPr>
          <a:xfrm flipV="1">
            <a:off x="4927868" y="4951984"/>
            <a:ext cx="2336263" cy="891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Rettangolo 32"/>
          <p:cNvSpPr/>
          <p:nvPr/>
        </p:nvSpPr>
        <p:spPr>
          <a:xfrm>
            <a:off x="7264131" y="4532283"/>
            <a:ext cx="1828800" cy="839401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Decryption with </a:t>
            </a:r>
            <a:r>
              <a:rPr lang="en-US" sz="2000" dirty="0" err="1">
                <a:latin typeface="Aptos" panose="020B0004020202020204" pitchFamily="34" charset="0"/>
              </a:rPr>
              <a:t>Kb,priv</a:t>
            </a:r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34" name="Connettore 2 33"/>
          <p:cNvCxnSpPr>
            <a:cxnSpLocks/>
            <a:stCxn id="33" idx="3"/>
            <a:endCxn id="36" idx="1"/>
          </p:cNvCxnSpPr>
          <p:nvPr/>
        </p:nvCxnSpPr>
        <p:spPr>
          <a:xfrm>
            <a:off x="9092931" y="4951984"/>
            <a:ext cx="431320" cy="8912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ttangolo 35"/>
          <p:cNvSpPr/>
          <p:nvPr/>
        </p:nvSpPr>
        <p:spPr>
          <a:xfrm>
            <a:off x="9524251" y="4541195"/>
            <a:ext cx="1673525" cy="839401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Decryption with </a:t>
            </a:r>
            <a:r>
              <a:rPr lang="en-US" sz="2000" dirty="0" err="1">
                <a:latin typeface="Aptos" panose="020B0004020202020204" pitchFamily="34" charset="0"/>
              </a:rPr>
              <a:t>Ka,pub</a:t>
            </a:r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37" name="Connettore 2 36"/>
          <p:cNvCxnSpPr/>
          <p:nvPr/>
        </p:nvCxnSpPr>
        <p:spPr>
          <a:xfrm>
            <a:off x="11185967" y="4960895"/>
            <a:ext cx="442596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ttangolo 37"/>
          <p:cNvSpPr/>
          <p:nvPr/>
        </p:nvSpPr>
        <p:spPr>
          <a:xfrm>
            <a:off x="5276446" y="4470010"/>
            <a:ext cx="14058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Ciphered P</a:t>
            </a:r>
          </a:p>
        </p:txBody>
      </p:sp>
    </p:spTree>
    <p:extLst>
      <p:ext uri="{BB962C8B-B14F-4D97-AF65-F5344CB8AC3E}">
        <p14:creationId xmlns:p14="http://schemas.microsoft.com/office/powerpoint/2010/main" val="12846431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Message </a:t>
            </a:r>
            <a:r>
              <a:rPr lang="it-IT" dirty="0" err="1"/>
              <a:t>digest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361167"/>
            <a:ext cx="11368314" cy="5334907"/>
          </a:xfrm>
        </p:spPr>
        <p:txBody>
          <a:bodyPr>
            <a:normAutofit/>
          </a:bodyPr>
          <a:lstStyle/>
          <a:p>
            <a:r>
              <a:rPr lang="en-US" dirty="0"/>
              <a:t>Critical aspect of public-key signature: public-key cryptography is slow. </a:t>
            </a:r>
          </a:p>
          <a:p>
            <a:r>
              <a:rPr lang="en-US" dirty="0"/>
              <a:t>To make digital signature faster, instead of encrypting the entire message, the signature can be applied on a message digest obtained by a hash function. </a:t>
            </a:r>
          </a:p>
          <a:p>
            <a:r>
              <a:rPr lang="en-US" b="1" dirty="0"/>
              <a:t>Hash function: </a:t>
            </a:r>
            <a:r>
              <a:rPr lang="en-US" dirty="0"/>
              <a:t>a function </a:t>
            </a:r>
            <a:r>
              <a:rPr lang="en-US" i="1" dirty="0"/>
              <a:t>h</a:t>
            </a:r>
            <a:r>
              <a:rPr lang="en-US" dirty="0"/>
              <a:t>(.) </a:t>
            </a:r>
            <a:r>
              <a:rPr lang="en-GB" dirty="0"/>
              <a:t>that takes an arbitrarily long piece of plaintext, P, and from it computes a fixed-length bit string, called </a:t>
            </a:r>
            <a:r>
              <a:rPr lang="en-GB" b="1" dirty="0"/>
              <a:t>digest </a:t>
            </a:r>
            <a:r>
              <a:rPr lang="en-GB" dirty="0"/>
              <a:t>or</a:t>
            </a:r>
            <a:r>
              <a:rPr lang="en-GB" b="1" dirty="0"/>
              <a:t> fingerprint</a:t>
            </a:r>
            <a:r>
              <a:rPr lang="en-GB" dirty="0"/>
              <a:t>.</a:t>
            </a:r>
          </a:p>
          <a:p>
            <a:r>
              <a:rPr lang="en-US" dirty="0"/>
              <a:t>Properties that the hash function must have:  </a:t>
            </a:r>
          </a:p>
          <a:p>
            <a:pPr lvl="1"/>
            <a:r>
              <a:rPr lang="en-US" sz="2400" dirty="0"/>
              <a:t>Given </a:t>
            </a:r>
            <a:r>
              <a:rPr lang="en-US" sz="2400" i="1" dirty="0"/>
              <a:t>P</a:t>
            </a:r>
            <a:r>
              <a:rPr lang="en-US" sz="2400" dirty="0"/>
              <a:t>, it is easy to compute </a:t>
            </a:r>
            <a:r>
              <a:rPr lang="en-US" sz="2400" i="1" dirty="0"/>
              <a:t>h</a:t>
            </a:r>
            <a:r>
              <a:rPr lang="en-US" sz="2400" dirty="0"/>
              <a:t>(</a:t>
            </a:r>
            <a:r>
              <a:rPr lang="en-US" sz="2400" i="1" dirty="0"/>
              <a:t>P</a:t>
            </a:r>
            <a:r>
              <a:rPr lang="en-US" sz="2400" dirty="0"/>
              <a:t>).</a:t>
            </a:r>
          </a:p>
          <a:p>
            <a:pPr lvl="1"/>
            <a:r>
              <a:rPr lang="en-US" sz="2400" dirty="0"/>
              <a:t>Given </a:t>
            </a:r>
            <a:r>
              <a:rPr lang="en-US" sz="2400" i="1" dirty="0"/>
              <a:t>h</a:t>
            </a:r>
            <a:r>
              <a:rPr lang="en-US" sz="2400" dirty="0"/>
              <a:t>(</a:t>
            </a:r>
            <a:r>
              <a:rPr lang="en-US" sz="2400" i="1" dirty="0"/>
              <a:t>P</a:t>
            </a:r>
            <a:r>
              <a:rPr lang="en-US" sz="2400" dirty="0"/>
              <a:t>), it is almost impossible to find </a:t>
            </a:r>
            <a:r>
              <a:rPr lang="en-US" sz="2400" i="1" dirty="0"/>
              <a:t>P</a:t>
            </a:r>
            <a:r>
              <a:rPr lang="en-US" sz="2400" dirty="0"/>
              <a:t>.</a:t>
            </a:r>
          </a:p>
          <a:p>
            <a:pPr lvl="1"/>
            <a:r>
              <a:rPr lang="en-US" sz="2400" dirty="0"/>
              <a:t>Given </a:t>
            </a:r>
            <a:r>
              <a:rPr lang="en-US" sz="2400" i="1" dirty="0"/>
              <a:t>P</a:t>
            </a:r>
            <a:r>
              <a:rPr lang="en-US" sz="2400" dirty="0"/>
              <a:t>, no one can find </a:t>
            </a:r>
            <a:r>
              <a:rPr lang="en-US" sz="2400" i="1" dirty="0"/>
              <a:t>P</a:t>
            </a:r>
            <a:r>
              <a:rPr lang="en-US" sz="2400" dirty="0"/>
              <a:t>′ such that </a:t>
            </a:r>
            <a:r>
              <a:rPr lang="en-US" sz="2400" i="1" dirty="0"/>
              <a:t>h</a:t>
            </a:r>
            <a:r>
              <a:rPr lang="en-US" sz="2400" dirty="0"/>
              <a:t>(</a:t>
            </a:r>
            <a:r>
              <a:rPr lang="en-US" sz="2400" i="1" dirty="0"/>
              <a:t>P</a:t>
            </a:r>
            <a:r>
              <a:rPr lang="en-US" sz="2400" dirty="0"/>
              <a:t>′) = </a:t>
            </a:r>
            <a:r>
              <a:rPr lang="en-US" sz="2400" i="1" dirty="0"/>
              <a:t>h</a:t>
            </a:r>
            <a:r>
              <a:rPr lang="en-US" sz="2400" dirty="0"/>
              <a:t>(</a:t>
            </a:r>
            <a:r>
              <a:rPr lang="en-US" sz="2400" i="1" dirty="0"/>
              <a:t>P</a:t>
            </a:r>
            <a:r>
              <a:rPr lang="en-US" sz="2400" dirty="0"/>
              <a:t>).</a:t>
            </a:r>
          </a:p>
          <a:p>
            <a:pPr lvl="1"/>
            <a:r>
              <a:rPr lang="en-US" sz="2400" dirty="0"/>
              <a:t>A change to the input of even 1 bit produces a very different output.</a:t>
            </a:r>
          </a:p>
          <a:p>
            <a:endParaRPr lang="en-US" dirty="0">
              <a:latin typeface="Times-Roman"/>
            </a:endParaRPr>
          </a:p>
          <a:p>
            <a:r>
              <a:rPr lang="en-GB" dirty="0"/>
              <a:t>Computing h(P) is much faster than encrypting P with a public-key algorithm </a:t>
            </a:r>
            <a:r>
              <a:rPr lang="en-GB" dirty="0">
                <a:sym typeface="Wingdings" panose="05000000000000000000" pitchFamily="2" charset="2"/>
              </a:rPr>
              <a:t></a:t>
            </a:r>
            <a:r>
              <a:rPr lang="en-GB" dirty="0"/>
              <a:t> digests can be used to speed up digital signature algorithms.</a:t>
            </a:r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26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7828227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Digital </a:t>
            </a:r>
            <a:r>
              <a:rPr lang="it-IT" dirty="0" err="1"/>
              <a:t>signature</a:t>
            </a:r>
            <a:r>
              <a:rPr lang="it-IT" dirty="0"/>
              <a:t> with </a:t>
            </a:r>
            <a:r>
              <a:rPr lang="it-IT" dirty="0" err="1"/>
              <a:t>message</a:t>
            </a:r>
            <a:r>
              <a:rPr lang="it-IT" dirty="0"/>
              <a:t> </a:t>
            </a:r>
            <a:r>
              <a:rPr lang="it-IT" dirty="0" err="1"/>
              <a:t>digest</a:t>
            </a:r>
            <a:r>
              <a:rPr lang="it-IT" dirty="0"/>
              <a:t> (no </a:t>
            </a:r>
            <a:r>
              <a:rPr lang="it-IT" dirty="0" err="1"/>
              <a:t>secrecy</a:t>
            </a:r>
            <a:r>
              <a:rPr lang="it-IT" dirty="0"/>
              <a:t>)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28172" y="1191820"/>
            <a:ext cx="11368314" cy="1400354"/>
          </a:xfrm>
        </p:spPr>
        <p:txBody>
          <a:bodyPr/>
          <a:lstStyle/>
          <a:p>
            <a:pPr marL="0" indent="0">
              <a:buNone/>
            </a:pPr>
            <a:r>
              <a:rPr lang="en-US" sz="2200" dirty="0"/>
              <a:t>If message secrecy is not required: 	</a:t>
            </a:r>
          </a:p>
          <a:p>
            <a:pPr marL="0" indent="0">
              <a:buNone/>
            </a:pPr>
            <a:r>
              <a:rPr lang="en-US" sz="2200" dirty="0"/>
              <a:t>	</a:t>
            </a:r>
            <a:r>
              <a:rPr lang="en-US" sz="2200" dirty="0" err="1"/>
              <a:t>Ka,pub</a:t>
            </a:r>
            <a:r>
              <a:rPr lang="en-US" sz="2200" dirty="0"/>
              <a:t>: Alice’s public key			</a:t>
            </a:r>
            <a:r>
              <a:rPr lang="en-US" sz="2200" dirty="0" err="1"/>
              <a:t>Kb,pub</a:t>
            </a:r>
            <a:r>
              <a:rPr lang="en-US" sz="2200" dirty="0"/>
              <a:t>: Bob’s public key</a:t>
            </a:r>
          </a:p>
          <a:p>
            <a:pPr marL="0" indent="0">
              <a:buNone/>
            </a:pPr>
            <a:r>
              <a:rPr lang="en-US" sz="2200" dirty="0"/>
              <a:t>	</a:t>
            </a:r>
            <a:r>
              <a:rPr lang="en-US" sz="2200" dirty="0" err="1"/>
              <a:t>Ka,priv</a:t>
            </a:r>
            <a:r>
              <a:rPr lang="en-US" sz="2200" dirty="0"/>
              <a:t>: Alice’s private key 			</a:t>
            </a:r>
            <a:r>
              <a:rPr lang="en-US" sz="2200" dirty="0" err="1"/>
              <a:t>Kb,priv</a:t>
            </a:r>
            <a:r>
              <a:rPr lang="en-US" sz="2200" dirty="0"/>
              <a:t>: Bob’s private key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27</a:t>
            </a:fld>
            <a:endParaRPr lang="en-GB"/>
          </a:p>
        </p:txBody>
      </p:sp>
      <p:sp>
        <p:nvSpPr>
          <p:cNvPr id="5" name="Rettangolo 4"/>
          <p:cNvSpPr/>
          <p:nvPr/>
        </p:nvSpPr>
        <p:spPr>
          <a:xfrm>
            <a:off x="1027620" y="3016250"/>
            <a:ext cx="1433753" cy="839401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ptos" panose="020B0004020202020204" pitchFamily="34" charset="0"/>
              </a:rPr>
              <a:t>h(.)</a:t>
            </a:r>
          </a:p>
        </p:txBody>
      </p:sp>
      <p:cxnSp>
        <p:nvCxnSpPr>
          <p:cNvPr id="6" name="Connettore 2 5"/>
          <p:cNvCxnSpPr>
            <a:endCxn id="5" idx="1"/>
          </p:cNvCxnSpPr>
          <p:nvPr/>
        </p:nvCxnSpPr>
        <p:spPr>
          <a:xfrm>
            <a:off x="585024" y="3435950"/>
            <a:ext cx="442596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2 6"/>
          <p:cNvCxnSpPr>
            <a:cxnSpLocks/>
            <a:stCxn id="5" idx="3"/>
            <a:endCxn id="16" idx="1"/>
          </p:cNvCxnSpPr>
          <p:nvPr/>
        </p:nvCxnSpPr>
        <p:spPr>
          <a:xfrm flipV="1">
            <a:off x="2461373" y="3435950"/>
            <a:ext cx="738177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2 7"/>
          <p:cNvCxnSpPr>
            <a:cxnSpLocks/>
          </p:cNvCxnSpPr>
          <p:nvPr/>
        </p:nvCxnSpPr>
        <p:spPr>
          <a:xfrm>
            <a:off x="8841385" y="4331745"/>
            <a:ext cx="1044668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477761" y="2577024"/>
            <a:ext cx="913024" cy="40011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ptos" panose="020B0004020202020204" pitchFamily="34" charset="0"/>
                <a:ea typeface="Palatino" pitchFamily="2" charset="77"/>
              </a:rPr>
              <a:t>Alice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07777" y="3158042"/>
            <a:ext cx="6840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P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0562462" y="2544953"/>
            <a:ext cx="1148601" cy="40011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ptos" panose="020B0004020202020204" pitchFamily="34" charset="0"/>
                <a:ea typeface="Palatino" pitchFamily="2" charset="77"/>
              </a:rPr>
              <a:t>Bob</a:t>
            </a:r>
          </a:p>
        </p:txBody>
      </p:sp>
      <p:sp>
        <p:nvSpPr>
          <p:cNvPr id="13" name="Rettangolo 12"/>
          <p:cNvSpPr/>
          <p:nvPr/>
        </p:nvSpPr>
        <p:spPr>
          <a:xfrm>
            <a:off x="2540959" y="3014684"/>
            <a:ext cx="5790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h(P)</a:t>
            </a:r>
          </a:p>
        </p:txBody>
      </p:sp>
      <p:sp>
        <p:nvSpPr>
          <p:cNvPr id="14" name="Rettangolo arrotondato 13"/>
          <p:cNvSpPr/>
          <p:nvPr/>
        </p:nvSpPr>
        <p:spPr>
          <a:xfrm>
            <a:off x="260142" y="2577024"/>
            <a:ext cx="4805152" cy="2184758"/>
          </a:xfrm>
          <a:prstGeom prst="roundRect">
            <a:avLst>
              <a:gd name="adj" fmla="val 15413"/>
            </a:avLst>
          </a:prstGeom>
          <a:noFill/>
          <a:ln w="28575">
            <a:solidFill>
              <a:schemeClr val="accent4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15" name="Rettangolo arrotondato 14"/>
          <p:cNvSpPr/>
          <p:nvPr/>
        </p:nvSpPr>
        <p:spPr>
          <a:xfrm>
            <a:off x="6978316" y="2544953"/>
            <a:ext cx="5105907" cy="2216829"/>
          </a:xfrm>
          <a:prstGeom prst="roundRect">
            <a:avLst/>
          </a:prstGeom>
          <a:noFill/>
          <a:ln w="28575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16" name="Rettangolo 15"/>
          <p:cNvSpPr/>
          <p:nvPr/>
        </p:nvSpPr>
        <p:spPr>
          <a:xfrm>
            <a:off x="3199550" y="3016249"/>
            <a:ext cx="1740905" cy="839401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Encryption with </a:t>
            </a:r>
            <a:r>
              <a:rPr lang="en-US" sz="2000" dirty="0" err="1">
                <a:latin typeface="Aptos" panose="020B0004020202020204" pitchFamily="34" charset="0"/>
              </a:rPr>
              <a:t>Ka,priv</a:t>
            </a:r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17" name="Connettore 2 16"/>
          <p:cNvCxnSpPr>
            <a:cxnSpLocks/>
            <a:stCxn id="16" idx="3"/>
            <a:endCxn id="18" idx="1"/>
          </p:cNvCxnSpPr>
          <p:nvPr/>
        </p:nvCxnSpPr>
        <p:spPr>
          <a:xfrm>
            <a:off x="4940455" y="3435950"/>
            <a:ext cx="2490585" cy="123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ttangolo 17"/>
          <p:cNvSpPr/>
          <p:nvPr/>
        </p:nvSpPr>
        <p:spPr>
          <a:xfrm>
            <a:off x="7431040" y="3112562"/>
            <a:ext cx="1585875" cy="671426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Decryption with </a:t>
            </a:r>
            <a:r>
              <a:rPr lang="en-US" sz="2000" dirty="0" err="1">
                <a:latin typeface="Aptos" panose="020B0004020202020204" pitchFamily="34" charset="0"/>
              </a:rPr>
              <a:t>Ka,pub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20" name="Rettangolo 19"/>
          <p:cNvSpPr/>
          <p:nvPr/>
        </p:nvSpPr>
        <p:spPr>
          <a:xfrm>
            <a:off x="9187845" y="3035711"/>
            <a:ext cx="5790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h(P)</a:t>
            </a:r>
          </a:p>
        </p:txBody>
      </p:sp>
      <p:sp>
        <p:nvSpPr>
          <p:cNvPr id="21" name="Rettangolo 20"/>
          <p:cNvSpPr/>
          <p:nvPr/>
        </p:nvSpPr>
        <p:spPr>
          <a:xfrm>
            <a:off x="7431039" y="4054943"/>
            <a:ext cx="1577972" cy="568657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ptos" panose="020B0004020202020204" pitchFamily="34" charset="0"/>
              </a:rPr>
              <a:t>h(.)</a:t>
            </a:r>
          </a:p>
        </p:txBody>
      </p:sp>
      <p:cxnSp>
        <p:nvCxnSpPr>
          <p:cNvPr id="22" name="Connettore 2 21"/>
          <p:cNvCxnSpPr/>
          <p:nvPr/>
        </p:nvCxnSpPr>
        <p:spPr>
          <a:xfrm>
            <a:off x="9009011" y="3448275"/>
            <a:ext cx="877042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ttangolo 22"/>
          <p:cNvSpPr/>
          <p:nvPr/>
        </p:nvSpPr>
        <p:spPr>
          <a:xfrm>
            <a:off x="5173017" y="2945063"/>
            <a:ext cx="16975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Ciphered h(P)</a:t>
            </a:r>
          </a:p>
        </p:txBody>
      </p:sp>
      <p:sp>
        <p:nvSpPr>
          <p:cNvPr id="26" name="Rettangolo 25"/>
          <p:cNvSpPr/>
          <p:nvPr/>
        </p:nvSpPr>
        <p:spPr>
          <a:xfrm>
            <a:off x="5814103" y="3951486"/>
            <a:ext cx="340158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P</a:t>
            </a:r>
          </a:p>
        </p:txBody>
      </p:sp>
      <p:sp>
        <p:nvSpPr>
          <p:cNvPr id="30" name="Rettangolo 29"/>
          <p:cNvSpPr/>
          <p:nvPr/>
        </p:nvSpPr>
        <p:spPr>
          <a:xfrm>
            <a:off x="9203654" y="3887292"/>
            <a:ext cx="5790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h(P)</a:t>
            </a:r>
          </a:p>
        </p:txBody>
      </p:sp>
      <p:sp>
        <p:nvSpPr>
          <p:cNvPr id="32" name="CasellaDiTesto 31"/>
          <p:cNvSpPr txBox="1"/>
          <p:nvPr/>
        </p:nvSpPr>
        <p:spPr>
          <a:xfrm>
            <a:off x="428172" y="4891666"/>
            <a:ext cx="11536261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>
                <a:latin typeface="Palatino Linotype" panose="02040502050505030304" pitchFamily="18" charset="0"/>
              </a:rPr>
              <a:t>If the two digest are the same Bob can be sure that the message was sent by Alice, because otherwise the decrypted hash would differ from the one obtained by Bob. </a:t>
            </a:r>
          </a:p>
          <a:p>
            <a:r>
              <a:rPr lang="en-US" sz="2200" dirty="0">
                <a:latin typeface="Palatino Linotype" panose="02040502050505030304" pitchFamily="18" charset="0"/>
                <a:sym typeface="Wingdings" panose="05000000000000000000" pitchFamily="2" charset="2"/>
              </a:rPr>
              <a:t> </a:t>
            </a:r>
            <a:r>
              <a:rPr lang="en-US" sz="2200" b="1" dirty="0">
                <a:latin typeface="Palatino Linotype" panose="02040502050505030304" pitchFamily="18" charset="0"/>
                <a:sym typeface="Wingdings" panose="05000000000000000000" pitchFamily="2" charset="2"/>
              </a:rPr>
              <a:t>Authentication</a:t>
            </a:r>
            <a:r>
              <a:rPr lang="en-US" sz="2200" dirty="0">
                <a:latin typeface="Palatino Linotype" panose="02040502050505030304" pitchFamily="18" charset="0"/>
                <a:sym typeface="Wingdings" panose="05000000000000000000" pitchFamily="2" charset="2"/>
              </a:rPr>
              <a:t> and </a:t>
            </a:r>
            <a:r>
              <a:rPr lang="en-US" sz="2200" b="1" dirty="0">
                <a:latin typeface="Palatino Linotype" panose="02040502050505030304" pitchFamily="18" charset="0"/>
                <a:sym typeface="Wingdings" panose="05000000000000000000" pitchFamily="2" charset="2"/>
              </a:rPr>
              <a:t>non-repudiation</a:t>
            </a:r>
            <a:r>
              <a:rPr lang="en-US" sz="2200" dirty="0">
                <a:latin typeface="Palatino Linotype" panose="02040502050505030304" pitchFamily="18" charset="0"/>
                <a:sym typeface="Wingdings" panose="05000000000000000000" pitchFamily="2" charset="2"/>
              </a:rPr>
              <a:t> ensured.</a:t>
            </a:r>
            <a:endParaRPr lang="en-US" sz="2200" dirty="0">
              <a:latin typeface="Palatino Linotype" panose="02040502050505030304" pitchFamily="18" charset="0"/>
            </a:endParaRPr>
          </a:p>
          <a:p>
            <a:r>
              <a:rPr lang="en-US" sz="2200" dirty="0">
                <a:latin typeface="Palatino Linotype" panose="02040502050505030304" pitchFamily="18" charset="0"/>
              </a:rPr>
              <a:t>Bob is also sure that the message P was not altered during transmission. Any small modification of P would result in a different digest! </a:t>
            </a:r>
            <a:r>
              <a:rPr lang="en-US" sz="2200" dirty="0">
                <a:latin typeface="Palatino Linotype" panose="02040502050505030304" pitchFamily="18" charset="0"/>
                <a:sym typeface="Wingdings" panose="05000000000000000000" pitchFamily="2" charset="2"/>
              </a:rPr>
              <a:t> </a:t>
            </a:r>
            <a:r>
              <a:rPr lang="en-US" sz="2200" b="1" dirty="0">
                <a:latin typeface="Palatino Linotype" panose="02040502050505030304" pitchFamily="18" charset="0"/>
                <a:sym typeface="Wingdings" panose="05000000000000000000" pitchFamily="2" charset="2"/>
              </a:rPr>
              <a:t>Integrity</a:t>
            </a:r>
            <a:r>
              <a:rPr lang="en-US" sz="2200" dirty="0">
                <a:latin typeface="Palatino Linotype" panose="02040502050505030304" pitchFamily="18" charset="0"/>
                <a:sym typeface="Wingdings" panose="05000000000000000000" pitchFamily="2" charset="2"/>
              </a:rPr>
              <a:t> ensured. </a:t>
            </a:r>
            <a:endParaRPr lang="en-US" sz="2200" dirty="0">
              <a:latin typeface="Palatino Linotype" panose="02040502050505030304" pitchFamily="18" charset="0"/>
            </a:endParaRPr>
          </a:p>
        </p:txBody>
      </p:sp>
      <p:sp>
        <p:nvSpPr>
          <p:cNvPr id="33" name="CasellaDiTesto 32"/>
          <p:cNvSpPr txBox="1"/>
          <p:nvPr/>
        </p:nvSpPr>
        <p:spPr>
          <a:xfrm>
            <a:off x="9783681" y="3599322"/>
            <a:ext cx="240853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sz="2000" dirty="0">
                <a:latin typeface="Aptos" panose="020B0004020202020204" pitchFamily="34" charset="0"/>
              </a:rPr>
              <a:t>Digest </a:t>
            </a:r>
            <a:r>
              <a:rPr lang="it-IT" sz="2000" dirty="0" err="1">
                <a:latin typeface="Aptos" panose="020B0004020202020204" pitchFamily="34" charset="0"/>
              </a:rPr>
              <a:t>comparison</a:t>
            </a:r>
            <a:endParaRPr lang="en-GB" sz="2000" dirty="0">
              <a:latin typeface="Aptos" panose="020B0004020202020204" pitchFamily="34" charset="0"/>
            </a:endParaRPr>
          </a:p>
        </p:txBody>
      </p:sp>
      <p:cxnSp>
        <p:nvCxnSpPr>
          <p:cNvPr id="35" name="Connettore 4 34"/>
          <p:cNvCxnSpPr>
            <a:cxnSpLocks/>
            <a:endCxn id="21" idx="1"/>
          </p:cNvCxnSpPr>
          <p:nvPr/>
        </p:nvCxnSpPr>
        <p:spPr>
          <a:xfrm>
            <a:off x="703847" y="3435312"/>
            <a:ext cx="6727192" cy="903960"/>
          </a:xfrm>
          <a:prstGeom prst="bentConnector3">
            <a:avLst>
              <a:gd name="adj1" fmla="val 1015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222245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/>
              <a:t>Digital </a:t>
            </a:r>
            <a:r>
              <a:rPr lang="it-IT" dirty="0" err="1"/>
              <a:t>signature</a:t>
            </a:r>
            <a:r>
              <a:rPr lang="it-IT" dirty="0"/>
              <a:t> with </a:t>
            </a:r>
            <a:r>
              <a:rPr lang="it-IT" dirty="0" err="1"/>
              <a:t>message</a:t>
            </a:r>
            <a:r>
              <a:rPr lang="it-IT" dirty="0"/>
              <a:t> </a:t>
            </a:r>
            <a:r>
              <a:rPr lang="it-IT" dirty="0" err="1"/>
              <a:t>digest</a:t>
            </a:r>
            <a:r>
              <a:rPr lang="it-IT" dirty="0"/>
              <a:t> (with </a:t>
            </a:r>
            <a:r>
              <a:rPr lang="it-IT" dirty="0" err="1"/>
              <a:t>secrecy</a:t>
            </a:r>
            <a:r>
              <a:rPr lang="it-IT" dirty="0"/>
              <a:t>)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>
          <a:xfrm>
            <a:off x="404475" y="1195637"/>
            <a:ext cx="11368314" cy="1333907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If message secrecy is required: 	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Ka,pub</a:t>
            </a:r>
            <a:r>
              <a:rPr lang="en-US" dirty="0"/>
              <a:t>: Alice’s public key			</a:t>
            </a:r>
            <a:r>
              <a:rPr lang="en-US" dirty="0" err="1"/>
              <a:t>Kb,pub</a:t>
            </a:r>
            <a:r>
              <a:rPr lang="en-US" dirty="0"/>
              <a:t>: Bob’s public key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Ka,priv</a:t>
            </a:r>
            <a:r>
              <a:rPr lang="en-US" dirty="0"/>
              <a:t>: Alice’s private key 		</a:t>
            </a:r>
            <a:r>
              <a:rPr lang="en-US" dirty="0" err="1"/>
              <a:t>Kb,priv</a:t>
            </a:r>
            <a:r>
              <a:rPr lang="en-US" dirty="0"/>
              <a:t>: Bob’s private key</a:t>
            </a:r>
          </a:p>
          <a:p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28</a:t>
            </a:fld>
            <a:endParaRPr lang="en-GB" dirty="0"/>
          </a:p>
        </p:txBody>
      </p:sp>
      <p:sp>
        <p:nvSpPr>
          <p:cNvPr id="5" name="Rettangolo 4"/>
          <p:cNvSpPr/>
          <p:nvPr/>
        </p:nvSpPr>
        <p:spPr>
          <a:xfrm>
            <a:off x="1027620" y="3274932"/>
            <a:ext cx="1433753" cy="839401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ptos" panose="020B0004020202020204" pitchFamily="34" charset="0"/>
              </a:rPr>
              <a:t>h(.)</a:t>
            </a:r>
          </a:p>
        </p:txBody>
      </p:sp>
      <p:cxnSp>
        <p:nvCxnSpPr>
          <p:cNvPr id="6" name="Connettore 2 5"/>
          <p:cNvCxnSpPr>
            <a:endCxn id="5" idx="1"/>
          </p:cNvCxnSpPr>
          <p:nvPr/>
        </p:nvCxnSpPr>
        <p:spPr>
          <a:xfrm>
            <a:off x="585024" y="3694632"/>
            <a:ext cx="442596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nettore 2 6"/>
          <p:cNvCxnSpPr>
            <a:cxnSpLocks/>
            <a:stCxn id="5" idx="3"/>
            <a:endCxn id="16" idx="1"/>
          </p:cNvCxnSpPr>
          <p:nvPr/>
        </p:nvCxnSpPr>
        <p:spPr>
          <a:xfrm flipV="1">
            <a:off x="2461373" y="3694632"/>
            <a:ext cx="777711" cy="1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nettore 2 7"/>
          <p:cNvCxnSpPr>
            <a:cxnSpLocks/>
            <a:stCxn id="31" idx="3"/>
          </p:cNvCxnSpPr>
          <p:nvPr/>
        </p:nvCxnSpPr>
        <p:spPr>
          <a:xfrm>
            <a:off x="9110485" y="4591245"/>
            <a:ext cx="1801084" cy="3763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CasellaDiTesto 8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477761" y="2835706"/>
            <a:ext cx="913024" cy="400110"/>
          </a:xfrm>
          <a:prstGeom prst="rect">
            <a:avLst/>
          </a:prstGeom>
          <a:solidFill>
            <a:schemeClr val="accent4"/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latin typeface="Aptos" panose="020B0004020202020204" pitchFamily="34" charset="0"/>
                <a:ea typeface="Palatino" pitchFamily="2" charset="77"/>
              </a:rPr>
              <a:t>Alice</a:t>
            </a:r>
          </a:p>
        </p:txBody>
      </p:sp>
      <p:sp>
        <p:nvSpPr>
          <p:cNvPr id="10" name="CasellaDiTesto 9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07777" y="3416724"/>
            <a:ext cx="684086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  <a:ea typeface="Palatino" pitchFamily="2" charset="77"/>
              </a:rPr>
              <a:t>P</a:t>
            </a:r>
          </a:p>
        </p:txBody>
      </p:sp>
      <p:sp>
        <p:nvSpPr>
          <p:cNvPr id="11" name="CasellaDiTesto 10">
            <a:extLst>
              <a:ext uri="{FF2B5EF4-FFF2-40B4-BE49-F238E27FC236}">
                <a16:creationId xmlns:a16="http://schemas.microsoft.com/office/drawing/2014/main" id="{24EA1DD3-7181-BE4A-9D14-5830AF9D197F}"/>
              </a:ext>
            </a:extLst>
          </p:cNvPr>
          <p:cNvSpPr txBox="1"/>
          <p:nvPr/>
        </p:nvSpPr>
        <p:spPr>
          <a:xfrm>
            <a:off x="10562462" y="2803635"/>
            <a:ext cx="1148601" cy="400110"/>
          </a:xfrm>
          <a:prstGeom prst="rect">
            <a:avLst/>
          </a:prstGeom>
          <a:solidFill>
            <a:srgbClr val="0070C0"/>
          </a:solidFill>
          <a:ln>
            <a:solidFill>
              <a:srgbClr val="0070C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chemeClr val="bg1"/>
                </a:solidFill>
                <a:latin typeface="Aptos" panose="020B0004020202020204" pitchFamily="34" charset="0"/>
                <a:ea typeface="Palatino" pitchFamily="2" charset="77"/>
              </a:rPr>
              <a:t>Bob</a:t>
            </a:r>
          </a:p>
        </p:txBody>
      </p:sp>
      <p:sp>
        <p:nvSpPr>
          <p:cNvPr id="13" name="Rettangolo 12"/>
          <p:cNvSpPr/>
          <p:nvPr/>
        </p:nvSpPr>
        <p:spPr>
          <a:xfrm>
            <a:off x="2605327" y="3232058"/>
            <a:ext cx="5790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h(P)</a:t>
            </a:r>
          </a:p>
        </p:txBody>
      </p:sp>
      <p:sp>
        <p:nvSpPr>
          <p:cNvPr id="14" name="Rettangolo arrotondato 13"/>
          <p:cNvSpPr/>
          <p:nvPr/>
        </p:nvSpPr>
        <p:spPr>
          <a:xfrm>
            <a:off x="260142" y="2835705"/>
            <a:ext cx="4805152" cy="2349903"/>
          </a:xfrm>
          <a:prstGeom prst="roundRect">
            <a:avLst>
              <a:gd name="adj" fmla="val 15413"/>
            </a:avLst>
          </a:prstGeom>
          <a:noFill/>
          <a:ln w="28575">
            <a:solidFill>
              <a:schemeClr val="accent4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15" name="Rettangolo arrotondato 14"/>
          <p:cNvSpPr/>
          <p:nvPr/>
        </p:nvSpPr>
        <p:spPr>
          <a:xfrm>
            <a:off x="6978316" y="2803635"/>
            <a:ext cx="5038280" cy="2381974"/>
          </a:xfrm>
          <a:prstGeom prst="roundRect">
            <a:avLst/>
          </a:prstGeom>
          <a:noFill/>
          <a:ln w="28575">
            <a:solidFill>
              <a:srgbClr val="0070C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latin typeface="Aptos" panose="020B0004020202020204" pitchFamily="34" charset="0"/>
            </a:endParaRPr>
          </a:p>
        </p:txBody>
      </p:sp>
      <p:sp>
        <p:nvSpPr>
          <p:cNvPr id="16" name="Rettangolo 15"/>
          <p:cNvSpPr/>
          <p:nvPr/>
        </p:nvSpPr>
        <p:spPr>
          <a:xfrm>
            <a:off x="3239084" y="3274931"/>
            <a:ext cx="1701371" cy="839401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Encryption with </a:t>
            </a:r>
            <a:r>
              <a:rPr lang="en-US" sz="2000" dirty="0" err="1">
                <a:latin typeface="Aptos" panose="020B0004020202020204" pitchFamily="34" charset="0"/>
              </a:rPr>
              <a:t>Ka,priv</a:t>
            </a:r>
            <a:endParaRPr lang="en-US" sz="2000" dirty="0">
              <a:latin typeface="Aptos" panose="020B0004020202020204" pitchFamily="34" charset="0"/>
            </a:endParaRPr>
          </a:p>
        </p:txBody>
      </p:sp>
      <p:cxnSp>
        <p:nvCxnSpPr>
          <p:cNvPr id="17" name="Connettore 2 16"/>
          <p:cNvCxnSpPr>
            <a:cxnSpLocks/>
            <a:stCxn id="16" idx="3"/>
            <a:endCxn id="18" idx="1"/>
          </p:cNvCxnSpPr>
          <p:nvPr/>
        </p:nvCxnSpPr>
        <p:spPr>
          <a:xfrm>
            <a:off x="4940455" y="3694632"/>
            <a:ext cx="2490585" cy="12325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Rettangolo 17"/>
          <p:cNvSpPr/>
          <p:nvPr/>
        </p:nvSpPr>
        <p:spPr>
          <a:xfrm>
            <a:off x="7431040" y="3371244"/>
            <a:ext cx="1664232" cy="671426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Decryption with </a:t>
            </a:r>
            <a:r>
              <a:rPr lang="en-US" sz="2000" dirty="0" err="1">
                <a:latin typeface="Aptos" panose="020B0004020202020204" pitchFamily="34" charset="0"/>
              </a:rPr>
              <a:t>Ka,pub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20" name="Rettangolo 19"/>
          <p:cNvSpPr/>
          <p:nvPr/>
        </p:nvSpPr>
        <p:spPr>
          <a:xfrm>
            <a:off x="9206611" y="3298889"/>
            <a:ext cx="5790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h(P)</a:t>
            </a:r>
          </a:p>
        </p:txBody>
      </p:sp>
      <p:cxnSp>
        <p:nvCxnSpPr>
          <p:cNvPr id="22" name="Connettore 2 21"/>
          <p:cNvCxnSpPr/>
          <p:nvPr/>
        </p:nvCxnSpPr>
        <p:spPr>
          <a:xfrm>
            <a:off x="9095272" y="3706957"/>
            <a:ext cx="1577641" cy="0"/>
          </a:xfrm>
          <a:prstGeom prst="straightConnector1">
            <a:avLst/>
          </a:prstGeom>
          <a:ln w="381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ttangolo 22"/>
          <p:cNvSpPr/>
          <p:nvPr/>
        </p:nvSpPr>
        <p:spPr>
          <a:xfrm>
            <a:off x="5173017" y="3203745"/>
            <a:ext cx="1697580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Ciphered h(P)</a:t>
            </a:r>
          </a:p>
        </p:txBody>
      </p:sp>
      <p:sp>
        <p:nvSpPr>
          <p:cNvPr id="26" name="Rettangolo 25"/>
          <p:cNvSpPr/>
          <p:nvPr/>
        </p:nvSpPr>
        <p:spPr>
          <a:xfrm>
            <a:off x="5243396" y="4136425"/>
            <a:ext cx="1405834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Ciphered P</a:t>
            </a:r>
          </a:p>
        </p:txBody>
      </p:sp>
      <p:sp>
        <p:nvSpPr>
          <p:cNvPr id="30" name="Rettangolo 29"/>
          <p:cNvSpPr/>
          <p:nvPr/>
        </p:nvSpPr>
        <p:spPr>
          <a:xfrm>
            <a:off x="10315733" y="4218581"/>
            <a:ext cx="579005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>
                <a:latin typeface="Aptos" panose="020B0004020202020204" pitchFamily="34" charset="0"/>
              </a:rPr>
              <a:t>h(P)</a:t>
            </a:r>
          </a:p>
        </p:txBody>
      </p:sp>
      <p:sp>
        <p:nvSpPr>
          <p:cNvPr id="32" name="CasellaDiTesto 31"/>
          <p:cNvSpPr txBox="1"/>
          <p:nvPr/>
        </p:nvSpPr>
        <p:spPr>
          <a:xfrm>
            <a:off x="585024" y="5570991"/>
            <a:ext cx="1100721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latin typeface="Aptos" panose="020B0004020202020204" pitchFamily="34" charset="0"/>
              </a:rPr>
              <a:t>P must be encrypted, but the signature can still be done just on the digest because from the digest it impossible to recover the original message. </a:t>
            </a:r>
          </a:p>
        </p:txBody>
      </p:sp>
      <p:sp>
        <p:nvSpPr>
          <p:cNvPr id="33" name="CasellaDiTesto 32"/>
          <p:cNvSpPr txBox="1"/>
          <p:nvPr/>
        </p:nvSpPr>
        <p:spPr>
          <a:xfrm>
            <a:off x="10671992" y="3611146"/>
            <a:ext cx="166423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t-IT" dirty="0">
                <a:latin typeface="Aptos" panose="020B0004020202020204" pitchFamily="34" charset="0"/>
              </a:rPr>
              <a:t>Digest </a:t>
            </a:r>
            <a:r>
              <a:rPr lang="it-IT" dirty="0" err="1">
                <a:latin typeface="Aptos" panose="020B0004020202020204" pitchFamily="34" charset="0"/>
              </a:rPr>
              <a:t>comparison</a:t>
            </a:r>
            <a:endParaRPr lang="en-GB" dirty="0">
              <a:latin typeface="Aptos" panose="020B0004020202020204" pitchFamily="34" charset="0"/>
            </a:endParaRPr>
          </a:p>
        </p:txBody>
      </p:sp>
      <p:cxnSp>
        <p:nvCxnSpPr>
          <p:cNvPr id="35" name="Connettore 4 34"/>
          <p:cNvCxnSpPr>
            <a:cxnSpLocks/>
            <a:endCxn id="31" idx="1"/>
          </p:cNvCxnSpPr>
          <p:nvPr/>
        </p:nvCxnSpPr>
        <p:spPr>
          <a:xfrm>
            <a:off x="703847" y="3693994"/>
            <a:ext cx="6727191" cy="897251"/>
          </a:xfrm>
          <a:prstGeom prst="bentConnector3">
            <a:avLst>
              <a:gd name="adj1" fmla="val -13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ttangolo 26"/>
          <p:cNvSpPr/>
          <p:nvPr/>
        </p:nvSpPr>
        <p:spPr>
          <a:xfrm>
            <a:off x="1916680" y="4313625"/>
            <a:ext cx="1906641" cy="658996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Encryption with </a:t>
            </a:r>
            <a:r>
              <a:rPr lang="en-US" sz="2000" dirty="0" err="1">
                <a:latin typeface="Aptos" panose="020B0004020202020204" pitchFamily="34" charset="0"/>
              </a:rPr>
              <a:t>Kb,</a:t>
            </a:r>
            <a:r>
              <a:rPr lang="en-US" sz="2000" dirty="0" err="1">
                <a:solidFill>
                  <a:srgbClr val="FF0000"/>
                </a:solidFill>
                <a:latin typeface="Aptos" panose="020B0004020202020204" pitchFamily="34" charset="0"/>
              </a:rPr>
              <a:t>pub</a:t>
            </a:r>
            <a:endParaRPr lang="en-US" sz="2000" dirty="0">
              <a:solidFill>
                <a:srgbClr val="FF0000"/>
              </a:solidFill>
              <a:latin typeface="Aptos" panose="020B0004020202020204" pitchFamily="34" charset="0"/>
            </a:endParaRPr>
          </a:p>
        </p:txBody>
      </p:sp>
      <p:sp>
        <p:nvSpPr>
          <p:cNvPr id="29" name="Rettangolo 28"/>
          <p:cNvSpPr/>
          <p:nvPr/>
        </p:nvSpPr>
        <p:spPr>
          <a:xfrm>
            <a:off x="9547890" y="4298002"/>
            <a:ext cx="737635" cy="568657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400" dirty="0">
                <a:latin typeface="Aptos" panose="020B0004020202020204" pitchFamily="34" charset="0"/>
              </a:rPr>
              <a:t>h(.)</a:t>
            </a:r>
          </a:p>
        </p:txBody>
      </p:sp>
      <p:sp>
        <p:nvSpPr>
          <p:cNvPr id="31" name="Rettangolo 30"/>
          <p:cNvSpPr/>
          <p:nvPr/>
        </p:nvSpPr>
        <p:spPr>
          <a:xfrm>
            <a:off x="7431038" y="4310445"/>
            <a:ext cx="1679447" cy="561600"/>
          </a:xfrm>
          <a:prstGeom prst="rect">
            <a:avLst/>
          </a:prstGeom>
          <a:ln w="38100">
            <a:solidFill>
              <a:srgbClr val="00B05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sz="2000" dirty="0">
                <a:latin typeface="Aptos" panose="020B0004020202020204" pitchFamily="34" charset="0"/>
              </a:rPr>
              <a:t>Decryption with </a:t>
            </a:r>
            <a:r>
              <a:rPr lang="en-US" sz="2000" dirty="0" err="1">
                <a:latin typeface="Aptos" panose="020B0004020202020204" pitchFamily="34" charset="0"/>
              </a:rPr>
              <a:t>Kb,priv</a:t>
            </a:r>
            <a:endParaRPr lang="en-US" sz="2000" dirty="0">
              <a:latin typeface="Aptos" panose="020B0004020202020204" pitchFamily="34" charset="0"/>
            </a:endParaRPr>
          </a:p>
        </p:txBody>
      </p:sp>
      <p:sp>
        <p:nvSpPr>
          <p:cNvPr id="24" name="Rettangolo 23"/>
          <p:cNvSpPr/>
          <p:nvPr/>
        </p:nvSpPr>
        <p:spPr>
          <a:xfrm>
            <a:off x="9182035" y="4107208"/>
            <a:ext cx="32412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dirty="0">
                <a:latin typeface="Aptos" panose="020B0004020202020204" pitchFamily="34" charset="0"/>
              </a:rPr>
              <a:t>P</a:t>
            </a:r>
            <a:endParaRPr lang="en-GB" dirty="0">
              <a:latin typeface="Aptos" panose="020B00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6191601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Example</a:t>
            </a:r>
            <a:r>
              <a:rPr lang="it-IT" dirty="0"/>
              <a:t> of </a:t>
            </a:r>
            <a:r>
              <a:rPr lang="it-IT" dirty="0" err="1"/>
              <a:t>hash</a:t>
            </a:r>
            <a:r>
              <a:rPr lang="it-IT" dirty="0"/>
              <a:t> </a:t>
            </a:r>
            <a:r>
              <a:rPr lang="it-IT" dirty="0" err="1"/>
              <a:t>functions</a:t>
            </a:r>
            <a:endParaRPr lang="en-GB" dirty="0"/>
          </a:p>
        </p:txBody>
      </p:sp>
      <p:sp>
        <p:nvSpPr>
          <p:cNvPr id="3" name="Segnaposto contenut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b="1" dirty="0"/>
              <a:t>SHA-1 </a:t>
            </a:r>
            <a:r>
              <a:rPr lang="en-GB" dirty="0"/>
              <a:t>(</a:t>
            </a:r>
            <a:r>
              <a:rPr lang="en-GB" b="1" dirty="0"/>
              <a:t>Secure Hash Algorithm 1</a:t>
            </a:r>
            <a:r>
              <a:rPr lang="en-GB" dirty="0"/>
              <a:t>)</a:t>
            </a:r>
          </a:p>
          <a:p>
            <a:pPr lvl="1"/>
            <a:r>
              <a:rPr lang="en-GB" sz="2400" dirty="0"/>
              <a:t>it generates a 160-bit message digest</a:t>
            </a:r>
          </a:p>
          <a:p>
            <a:pPr marL="914400" lvl="2" indent="0">
              <a:buNone/>
            </a:pPr>
            <a:r>
              <a:rPr lang="it-IT" sz="2000" dirty="0"/>
              <a:t>SHA-1(«hello world») </a:t>
            </a:r>
            <a:r>
              <a:rPr lang="it-IT" sz="2000" dirty="0">
                <a:sym typeface="Wingdings" panose="05000000000000000000" pitchFamily="2" charset="2"/>
              </a:rPr>
              <a:t> </a:t>
            </a:r>
            <a:r>
              <a:rPr lang="en-GB" sz="2000" dirty="0"/>
              <a:t>2aae6c35c94fcfb415dbe95f408b9ce91ee846ed</a:t>
            </a:r>
            <a:endParaRPr lang="it-IT" sz="2000" dirty="0">
              <a:sym typeface="Wingdings" panose="05000000000000000000" pitchFamily="2" charset="2"/>
            </a:endParaRPr>
          </a:p>
          <a:p>
            <a:pPr marL="914400" lvl="2" indent="0">
              <a:buNone/>
            </a:pPr>
            <a:r>
              <a:rPr lang="it-IT" sz="2000" dirty="0">
                <a:sym typeface="Wingdings" panose="05000000000000000000" pitchFamily="2" charset="2"/>
              </a:rPr>
              <a:t>SHA-1(«hello word»)  </a:t>
            </a:r>
            <a:r>
              <a:rPr lang="en-GB" sz="2000" dirty="0"/>
              <a:t>e0738b87e67bbfc9c5b77556665064446430e81c</a:t>
            </a:r>
          </a:p>
          <a:p>
            <a:pPr marL="914400" lvl="2" indent="0">
              <a:buNone/>
            </a:pPr>
            <a:endParaRPr lang="en-GB" dirty="0"/>
          </a:p>
          <a:p>
            <a:r>
              <a:rPr lang="it-IT" b="1" dirty="0"/>
              <a:t>MD5 (Message Digest 5)</a:t>
            </a:r>
          </a:p>
          <a:p>
            <a:pPr lvl="1"/>
            <a:r>
              <a:rPr lang="en-GB" sz="2400" dirty="0"/>
              <a:t>it generates a 128-bit message digest</a:t>
            </a:r>
            <a:endParaRPr lang="it-IT" sz="2400" dirty="0"/>
          </a:p>
          <a:p>
            <a:pPr marL="914400" lvl="2" indent="0">
              <a:buNone/>
            </a:pPr>
            <a:r>
              <a:rPr lang="it-IT" sz="2000" dirty="0"/>
              <a:t>MD5(«hello world») </a:t>
            </a:r>
            <a:r>
              <a:rPr lang="it-IT" sz="2000" dirty="0">
                <a:sym typeface="Wingdings" panose="05000000000000000000" pitchFamily="2" charset="2"/>
              </a:rPr>
              <a:t> 5eb63bbbe01eeed093cb22bb8f5acdc3</a:t>
            </a:r>
          </a:p>
          <a:p>
            <a:pPr marL="914400" lvl="2" indent="0">
              <a:buNone/>
            </a:pPr>
            <a:r>
              <a:rPr lang="it-IT" sz="2000" dirty="0">
                <a:sym typeface="Wingdings" panose="05000000000000000000" pitchFamily="2" charset="2"/>
              </a:rPr>
              <a:t>MD5(«hello word»)  13574ef0d58b50fab38ec841efe39df4</a:t>
            </a:r>
            <a:endParaRPr lang="en-GB" sz="2000" dirty="0"/>
          </a:p>
          <a:p>
            <a:pPr lvl="1"/>
            <a:endParaRPr lang="en-GB" dirty="0"/>
          </a:p>
        </p:txBody>
      </p:sp>
      <p:sp>
        <p:nvSpPr>
          <p:cNvPr id="4" name="Segnaposto numero diapositiva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29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931373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242402A-BE6A-BE40-4831-77E7103070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 dirty="0" err="1"/>
              <a:t>References</a:t>
            </a:r>
            <a:endParaRPr lang="it-IT" dirty="0"/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8C1BC6E5-F9F5-AA1D-BD62-79BF41B741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it-IT" dirty="0" err="1"/>
              <a:t>Tanenbaum</a:t>
            </a:r>
            <a:r>
              <a:rPr lang="it-IT" dirty="0"/>
              <a:t>, </a:t>
            </a:r>
            <a:r>
              <a:rPr lang="it-IT" dirty="0" err="1"/>
              <a:t>Wetherall</a:t>
            </a:r>
            <a:r>
              <a:rPr lang="it-IT" dirty="0"/>
              <a:t> – Computer Networks – Fifth Edition</a:t>
            </a:r>
          </a:p>
          <a:p>
            <a:pPr lvl="1"/>
            <a:r>
              <a:rPr lang="it-IT" sz="2400" dirty="0" err="1"/>
              <a:t>Chapter</a:t>
            </a:r>
            <a:r>
              <a:rPr lang="it-IT" sz="2400" dirty="0"/>
              <a:t> 8 – Network security</a:t>
            </a:r>
          </a:p>
          <a:p>
            <a:endParaRPr lang="it-IT" dirty="0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BDDE0274-3613-AF73-FA54-29A8F55BCC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1DE2C5B-556E-47B8-A792-024C2FCA4ACC}" type="slidenum">
              <a:rPr lang="en-GB" smtClean="0"/>
              <a:t>30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3973557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189</TotalTime>
  <Words>2870</Words>
  <Application>Microsoft Macintosh PowerPoint</Application>
  <PresentationFormat>Widescreen</PresentationFormat>
  <Paragraphs>405</Paragraphs>
  <Slides>30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30</vt:i4>
      </vt:variant>
    </vt:vector>
  </HeadingPairs>
  <TitlesOfParts>
    <vt:vector size="41" baseType="lpstr">
      <vt:lpstr>Aptos</vt:lpstr>
      <vt:lpstr>Arial</vt:lpstr>
      <vt:lpstr>Calibri</vt:lpstr>
      <vt:lpstr>Cambria Math</vt:lpstr>
      <vt:lpstr>Courier New</vt:lpstr>
      <vt:lpstr>Palatino</vt:lpstr>
      <vt:lpstr>Palatino Linotype</vt:lpstr>
      <vt:lpstr>Times New Roman</vt:lpstr>
      <vt:lpstr>Times-Roman</vt:lpstr>
      <vt:lpstr>Wingdings</vt:lpstr>
      <vt:lpstr>Tema di Office</vt:lpstr>
      <vt:lpstr>PowerPoint Presentation</vt:lpstr>
      <vt:lpstr>Network security</vt:lpstr>
      <vt:lpstr>Cryptography</vt:lpstr>
      <vt:lpstr>Cryptography</vt:lpstr>
      <vt:lpstr>Two historic ciphers: substitution ciphers</vt:lpstr>
      <vt:lpstr>Modern cryptography</vt:lpstr>
      <vt:lpstr>Symmetric-key algorithms</vt:lpstr>
      <vt:lpstr>Data Encryption Standard (DES)</vt:lpstr>
      <vt:lpstr>Triple DES</vt:lpstr>
      <vt:lpstr>Advanced Encryption Standard (AES)</vt:lpstr>
      <vt:lpstr>Limitations of the symmetric-key algorithms</vt:lpstr>
      <vt:lpstr>Diffie-Hellman key exchange protocol</vt:lpstr>
      <vt:lpstr>Example of generation of a secret key</vt:lpstr>
      <vt:lpstr>Man-in-the-middle attack</vt:lpstr>
      <vt:lpstr>Asymmetric-key algorithms </vt:lpstr>
      <vt:lpstr>RSA</vt:lpstr>
      <vt:lpstr>Encryption and decryption with RSA</vt:lpstr>
      <vt:lpstr>Symmetric vs asymmetric key algorithms</vt:lpstr>
      <vt:lpstr>Hybrid algorithms</vt:lpstr>
      <vt:lpstr>Network security</vt:lpstr>
      <vt:lpstr>Digital signatures</vt:lpstr>
      <vt:lpstr>Digital signature by symmetric-key cryptography</vt:lpstr>
      <vt:lpstr>Limitations of the symmetric-key digital signature</vt:lpstr>
      <vt:lpstr>Public-key digital signature</vt:lpstr>
      <vt:lpstr>Public-key signature with secrecy </vt:lpstr>
      <vt:lpstr>Message digest</vt:lpstr>
      <vt:lpstr>Digital signature with message digest (no secrecy)</vt:lpstr>
      <vt:lpstr>Digital signature with message digest (with secrecy)</vt:lpstr>
      <vt:lpstr>Example of hash functions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creator>Martina</dc:creator>
  <cp:lastModifiedBy>Giacomo Cappon</cp:lastModifiedBy>
  <cp:revision>524</cp:revision>
  <dcterms:created xsi:type="dcterms:W3CDTF">2021-07-19T09:08:13Z</dcterms:created>
  <dcterms:modified xsi:type="dcterms:W3CDTF">2025-04-07T15:57:05Z</dcterms:modified>
</cp:coreProperties>
</file>