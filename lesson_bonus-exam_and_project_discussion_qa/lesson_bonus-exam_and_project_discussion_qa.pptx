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95" r:id="rId3"/>
    <p:sldId id="340" r:id="rId4"/>
    <p:sldId id="341" r:id="rId5"/>
    <p:sldId id="342" r:id="rId6"/>
    <p:sldId id="414" r:id="rId7"/>
    <p:sldId id="356" r:id="rId8"/>
    <p:sldId id="412" r:id="rId9"/>
    <p:sldId id="390" r:id="rId10"/>
    <p:sldId id="404" r:id="rId11"/>
    <p:sldId id="405" r:id="rId12"/>
    <p:sldId id="406" r:id="rId13"/>
    <p:sldId id="407" r:id="rId14"/>
    <p:sldId id="408" r:id="rId15"/>
    <p:sldId id="409" r:id="rId16"/>
    <p:sldId id="411" r:id="rId17"/>
    <p:sldId id="410" r:id="rId18"/>
    <p:sldId id="398" r:id="rId19"/>
    <p:sldId id="401" r:id="rId20"/>
    <p:sldId id="40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05" autoAdjust="0"/>
    <p:restoredTop sz="86803"/>
  </p:normalViewPr>
  <p:slideViewPr>
    <p:cSldViewPr snapToGrid="0">
      <p:cViewPr varScale="1">
        <p:scale>
          <a:sx n="110" d="100"/>
          <a:sy n="110" d="100"/>
        </p:scale>
        <p:origin x="180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2/19/26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66557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91634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53266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T"/>
              <a:t>We focused the laboratories on front-end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67493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49029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97763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254635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66557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26659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56422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03908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 and Project Discussion Q&amp;A </a:t>
            </a:r>
            <a:endParaRPr lang="en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The theory exam </a:t>
            </a:r>
          </a:p>
          <a:p>
            <a:endParaRPr lang="en-GB" b="1" dirty="0"/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Project delivery instructions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Project presentation guidelines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A05B1-19C9-EE42-9540-E05EF446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45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</a:t>
            </a:r>
            <a:r>
              <a:rPr lang="it-IT" dirty="0"/>
              <a:t> </a:t>
            </a:r>
            <a:r>
              <a:rPr lang="it-IT" dirty="0" err="1"/>
              <a:t>structure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111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Written</a:t>
            </a:r>
            <a:r>
              <a:rPr lang="fr-FR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test of 90-minute duration:</a:t>
            </a:r>
          </a:p>
          <a:p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open questions</a:t>
            </a:r>
          </a:p>
          <a:p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Notes: </a:t>
            </a:r>
          </a:p>
          <a:p>
            <a:pPr lvl="0"/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exam is in English, answers to be provided in English (English errors not penalized). Dictionary is not allowed.</a:t>
            </a:r>
            <a:endParaRPr lang="it-IT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At the exam, the students cannot use any course material (slides, books, articles, etc.), nor any electronic device (e.g., smartphone, notebook, etc.). Only the pen and a calculator is allowed. </a:t>
            </a:r>
            <a:endParaRPr lang="it-IT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80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theory exam will cover all the theory program except the material marked as  </a:t>
            </a:r>
            <a:endParaRPr lang="it-IT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2225A9-4B41-E88A-A557-21E98EEF7A8C}"/>
              </a:ext>
            </a:extLst>
          </p:cNvPr>
          <p:cNvSpPr/>
          <p:nvPr/>
        </p:nvSpPr>
        <p:spPr>
          <a:xfrm>
            <a:off x="915161" y="5496833"/>
            <a:ext cx="998622" cy="2326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ptos" panose="020B0004020202020204" pitchFamily="34" charset="0"/>
                <a:ea typeface="Palatino" pitchFamily="2" charset="77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696513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A7C72B-601C-E8BA-1C30-98915BF7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Mark of the theory </a:t>
            </a:r>
            <a:r>
              <a:rPr lang="it-IT" dirty="0" err="1"/>
              <a:t>exam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2D49F4-F5A6-8402-19D4-F9CC4C571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122079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it-IT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Open </a:t>
            </a:r>
            <a:r>
              <a:rPr lang="it-IT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questions</a:t>
            </a:r>
            <a:r>
              <a:rPr lang="it-IT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800100" lvl="1">
              <a:lnSpc>
                <a:spcPct val="107000"/>
              </a:lnSpc>
              <a:spcAft>
                <a:spcPts val="800"/>
              </a:spcAft>
            </a:pPr>
            <a:r>
              <a:rPr lang="it-IT" dirty="0">
                <a:ea typeface="Calibri" panose="020F0502020204030204" pitchFamily="34" charset="0"/>
                <a:cs typeface="Times New Roman" panose="02020603050405020304" pitchFamily="18" charset="0"/>
              </a:rPr>
              <a:t>0 to 5 points </a:t>
            </a:r>
            <a:r>
              <a:rPr lang="it-IT" dirty="0" err="1">
                <a:ea typeface="Calibri" panose="020F0502020204030204" pitchFamily="34" charset="0"/>
                <a:cs typeface="Times New Roman" panose="02020603050405020304" pitchFamily="18" charset="0"/>
              </a:rPr>
              <a:t>each</a:t>
            </a:r>
            <a:endParaRPr lang="it-IT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it-IT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Total score:  up to 20 points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295D15-3395-96C7-CA62-0E7BDCDB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9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60CA2C-C455-4A2B-36E1-F2999322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mark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DBCF875-2A5B-33DF-AEA4-B5A6A41061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172" y="1361167"/>
                <a:ext cx="11368314" cy="510001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GB" dirty="0"/>
                  <a:t>The written exam is passed if the student gets at least 12/20 points (which corresponds to 18/30).</a:t>
                </a:r>
              </a:p>
              <a:p>
                <a:endParaRPr lang="en-GB" dirty="0"/>
              </a:p>
              <a:p>
                <a:r>
                  <a:rPr lang="en-GB" dirty="0"/>
                  <a:t>To get the final mark, students must pass both the written exam and the project discussion. </a:t>
                </a:r>
              </a:p>
              <a:p>
                <a:endParaRPr lang="en-GB" dirty="0"/>
              </a:p>
              <a:p>
                <a:r>
                  <a:rPr lang="en-GB" dirty="0"/>
                  <a:t>The mark of the project is up to 12 (based on Q&amp;A project discussion, different students in the same group can get different marks for the project). </a:t>
                </a:r>
              </a:p>
              <a:p>
                <a:endParaRPr lang="en-GB" dirty="0"/>
              </a:p>
              <a:p>
                <a:r>
                  <a:rPr lang="en-GB" dirty="0"/>
                  <a:t>The vote of the theory exam accounts for 2/3 of the final mark. </a:t>
                </a:r>
              </a:p>
              <a:p>
                <a:pPr marL="0" indent="0">
                  <a:buNone/>
                </a:pPr>
                <a:endParaRPr lang="it-IT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𝑓𝑖𝑛𝑎𝑙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𝑚𝑎𝑟𝑘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𝑚𝑎𝑟𝑘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𝑡h𝑒𝑜𝑟𝑦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𝑒𝑥𝑎𝑚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𝑚𝑎𝑟𝑘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𝑝𝑟𝑜𝑗𝑒𝑐𝑡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𝑠𝑦𝑚𝑝𝑜𝑠𝑖𝑢𝑚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𝑏𝑜𝑛𝑢𝑠</m:t>
                      </m:r>
                    </m:oMath>
                  </m:oMathPara>
                </a14:m>
                <a:endParaRPr lang="it-IT" dirty="0"/>
              </a:p>
              <a:p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DBCF875-2A5B-33DF-AEA4-B5A6A41061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172" y="1361167"/>
                <a:ext cx="11368314" cy="5100018"/>
              </a:xfrm>
              <a:blipFill>
                <a:blip r:embed="rId2"/>
                <a:stretch>
                  <a:fillRect l="-558" t="-1244" r="-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45031E-9291-7BD9-0BA2-2578914B4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645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87A9A-4155-3523-DF28-5694A427C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27D35B-9706-04C5-A9BB-A0A2E464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open </a:t>
            </a:r>
            <a:r>
              <a:rPr lang="it-IT" dirty="0" err="1"/>
              <a:t>questions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F3541E-89E1-2623-1DC6-AF2E65614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36622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Q1. Explain the RSA algorithm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Q2. Explain the role of the embedded processing unit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Q3. Provide a description of the following HTTP methods: GET, HEAD, POST, PUT, DELETE. </a:t>
            </a:r>
            <a:endParaRPr lang="it-IT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7E5C40B-3EA0-0C57-690C-5521C8C9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940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D66EB3-8BE4-359F-B352-1F503AB2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r>
              <a:rPr lang="it-IT" dirty="0"/>
              <a:t> of open </a:t>
            </a:r>
            <a:r>
              <a:rPr lang="it-IT" dirty="0" err="1"/>
              <a:t>questions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3E232F-845A-74AB-F81B-B47455340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1309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Q4.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Given the results of 5 SUS questionnaires collected by 5 participants evaluating an app A: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	SUS</a:t>
            </a:r>
            <a:r>
              <a:rPr lang="en-US" baseline="-25000" dirty="0">
                <a:cs typeface="Times New Roman" panose="02020603050405020304" pitchFamily="18" charset="0"/>
              </a:rPr>
              <a:t>A</a:t>
            </a:r>
            <a:r>
              <a:rPr lang="en-US" dirty="0">
                <a:cs typeface="Times New Roman" panose="02020603050405020304" pitchFamily="18" charset="0"/>
              </a:rPr>
              <a:t> = 65, 80, 93, 78, 54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25F44F-FB00-6331-AE9C-F38A1E6E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C0CA1A39-49EE-ACD5-ECB4-B49AC6DE7874}"/>
              </a:ext>
            </a:extLst>
          </p:cNvPr>
          <p:cNvSpPr txBox="1">
            <a:spLocks/>
          </p:cNvSpPr>
          <p:nvPr/>
        </p:nvSpPr>
        <p:spPr>
          <a:xfrm>
            <a:off x="411843" y="2887578"/>
            <a:ext cx="7697441" cy="346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>
                <a:latin typeface="Aptos" panose="020B0004020202020204" pitchFamily="34" charset="0"/>
              </a:rPr>
              <a:t>Calculate</a:t>
            </a:r>
            <a:r>
              <a:rPr lang="it-IT" dirty="0">
                <a:latin typeface="Aptos" panose="020B0004020202020204" pitchFamily="34" charset="0"/>
              </a:rPr>
              <a:t> the confidence </a:t>
            </a:r>
            <a:r>
              <a:rPr lang="it-IT" dirty="0" err="1">
                <a:latin typeface="Aptos" panose="020B0004020202020204" pitchFamily="34" charset="0"/>
              </a:rPr>
              <a:t>interval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at</a:t>
            </a:r>
            <a:r>
              <a:rPr lang="it-IT" dirty="0">
                <a:latin typeface="Aptos" panose="020B0004020202020204" pitchFamily="34" charset="0"/>
              </a:rPr>
              <a:t> 90% : </a:t>
            </a:r>
            <a:r>
              <a:rPr lang="it-IT" b="1" dirty="0">
                <a:solidFill>
                  <a:srgbClr val="00B050"/>
                </a:solidFill>
                <a:latin typeface="Aptos" panose="020B0004020202020204" pitchFamily="34" charset="0"/>
              </a:rPr>
              <a:t>74 ± 14.25</a:t>
            </a:r>
          </a:p>
          <a:p>
            <a:r>
              <a:rPr lang="it-IT" dirty="0" err="1">
                <a:latin typeface="Aptos" panose="020B0004020202020204" pitchFamily="34" charset="0"/>
              </a:rPr>
              <a:t>Evaluate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if</a:t>
            </a:r>
            <a:r>
              <a:rPr lang="it-IT" dirty="0">
                <a:latin typeface="Aptos" panose="020B0004020202020204" pitchFamily="34" charset="0"/>
              </a:rPr>
              <a:t> an app B (</a:t>
            </a:r>
            <a:r>
              <a:rPr lang="it-IT" dirty="0" err="1">
                <a:latin typeface="Aptos" panose="020B0004020202020204" pitchFamily="34" charset="0"/>
              </a:rPr>
              <a:t>evaluated</a:t>
            </a:r>
            <a:r>
              <a:rPr lang="it-IT" dirty="0">
                <a:latin typeface="Aptos" panose="020B0004020202020204" pitchFamily="34" charset="0"/>
              </a:rPr>
              <a:t> by the </a:t>
            </a:r>
            <a:r>
              <a:rPr lang="it-IT" dirty="0" err="1">
                <a:latin typeface="Aptos" panose="020B0004020202020204" pitchFamily="34" charset="0"/>
              </a:rPr>
              <a:t>same</a:t>
            </a:r>
            <a:r>
              <a:rPr lang="it-IT" dirty="0">
                <a:latin typeface="Aptos" panose="020B0004020202020204" pitchFamily="34" charset="0"/>
              </a:rPr>
              <a:t> 5 </a:t>
            </a:r>
            <a:r>
              <a:rPr lang="it-IT" dirty="0" err="1">
                <a:latin typeface="Aptos" panose="020B0004020202020204" pitchFamily="34" charset="0"/>
              </a:rPr>
              <a:t>participants</a:t>
            </a:r>
            <a:r>
              <a:rPr lang="it-IT" dirty="0">
                <a:latin typeface="Aptos" panose="020B0004020202020204" pitchFamily="34" charset="0"/>
              </a:rPr>
              <a:t>) with SUS:</a:t>
            </a: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  <a:cs typeface="Times New Roman" panose="02020603050405020304" pitchFamily="18" charset="0"/>
              </a:rPr>
              <a:t>	SUS</a:t>
            </a:r>
            <a:r>
              <a:rPr lang="en-US" baseline="-25000" dirty="0">
                <a:latin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Aptos" panose="020B0004020202020204" pitchFamily="34" charset="0"/>
                <a:cs typeface="Times New Roman" panose="02020603050405020304" pitchFamily="18" charset="0"/>
              </a:rPr>
              <a:t> = 90, 90, 87, 95, 91</a:t>
            </a:r>
            <a:endParaRPr lang="it-IT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  <a:cs typeface="Times New Roman" panose="02020603050405020304" pitchFamily="18" charset="0"/>
              </a:rPr>
              <a:t>can be said to be significantly more usable with a level of confidence &gt;= 0.05: </a:t>
            </a: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 = 2.30 </a:t>
            </a:r>
            <a:r>
              <a:rPr lang="en-US" b="1" dirty="0">
                <a:solidFill>
                  <a:srgbClr val="00B050"/>
                </a:solidFill>
                <a:latin typeface="Aptos" panose="020B0004020202020204" pitchFamily="34" charset="0"/>
                <a:cs typeface="Times New Roman" panose="02020603050405020304" pitchFamily="18" charset="0"/>
                <a:sym typeface="Wingdings" pitchFamily="2" charset="2"/>
              </a:rPr>
              <a:t> NO (if it was &gt;= 0.1, YES)</a:t>
            </a:r>
            <a:endParaRPr lang="en-US" b="1" dirty="0">
              <a:solidFill>
                <a:srgbClr val="00B05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F79592-CDA8-ADE1-270B-500832BF9B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77" t="7957" r="9380" b="8278"/>
          <a:stretch/>
        </p:blipFill>
        <p:spPr>
          <a:xfrm>
            <a:off x="7993988" y="1840832"/>
            <a:ext cx="3373302" cy="488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1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theory exam</a:t>
            </a:r>
            <a:endParaRPr lang="en-GB" b="1" dirty="0"/>
          </a:p>
          <a:p>
            <a:endParaRPr lang="en-GB" b="1" dirty="0"/>
          </a:p>
          <a:p>
            <a:r>
              <a:rPr lang="en-GB" b="1" dirty="0"/>
              <a:t>Project delivery instructions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Project presentation guidelines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A05B1-19C9-EE42-9540-E05EF446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235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General info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In the following, we reported the instructions on how to deliver your project. In a nutshell, you must prepare and submit a </a:t>
            </a:r>
            <a:r>
              <a:rPr lang="en-GB" b="1" dirty="0"/>
              <a:t>.pdf file </a:t>
            </a:r>
            <a:r>
              <a:rPr lang="en-GB" dirty="0"/>
              <a:t>containing </a:t>
            </a:r>
          </a:p>
          <a:p>
            <a:pPr lvl="1"/>
            <a:r>
              <a:rPr lang="en-GB" dirty="0"/>
              <a:t>the number of your group and the name of each group participant</a:t>
            </a:r>
          </a:p>
          <a:p>
            <a:pPr lvl="1"/>
            <a:r>
              <a:rPr lang="en-GB" dirty="0"/>
              <a:t>the link to a public GitHub repository containing a ”valid” version of the code</a:t>
            </a:r>
          </a:p>
          <a:p>
            <a:endParaRPr lang="en-GB" dirty="0"/>
          </a:p>
          <a:p>
            <a:r>
              <a:rPr lang="en-GB" dirty="0"/>
              <a:t>Since the project must be delivered through GitHub, code delivered via mail will be ignored</a:t>
            </a:r>
          </a:p>
          <a:p>
            <a:endParaRPr lang="en-GB" dirty="0"/>
          </a:p>
          <a:p>
            <a:r>
              <a:rPr lang="en-GB" dirty="0"/>
              <a:t>“Valid” code must be in the </a:t>
            </a:r>
            <a:r>
              <a:rPr lang="en-GB" b="1" dirty="0"/>
              <a:t>master</a:t>
            </a:r>
            <a:r>
              <a:rPr lang="en-GB" dirty="0"/>
              <a:t> (or </a:t>
            </a:r>
            <a:r>
              <a:rPr lang="en-GB" b="1" dirty="0"/>
              <a:t>main</a:t>
            </a:r>
            <a:r>
              <a:rPr lang="en-GB" dirty="0"/>
              <a:t>) </a:t>
            </a:r>
            <a:r>
              <a:rPr lang="en-GB" b="1" dirty="0"/>
              <a:t>branch</a:t>
            </a:r>
            <a:r>
              <a:rPr lang="en-GB" dirty="0"/>
              <a:t> and must have been committed no later than the </a:t>
            </a:r>
            <a:r>
              <a:rPr lang="en-GB" b="1" dirty="0"/>
              <a:t>12/07/2026</a:t>
            </a:r>
            <a:r>
              <a:rPr lang="en-GB" dirty="0"/>
              <a:t>, and no later than the </a:t>
            </a:r>
            <a:r>
              <a:rPr lang="en-GB" b="1" dirty="0"/>
              <a:t>day before the project discussion date</a:t>
            </a:r>
            <a:r>
              <a:rPr lang="en-GB" dirty="0"/>
              <a:t>.</a:t>
            </a:r>
            <a:endParaRPr lang="en-GB" b="1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9058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Example scenario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”I belong to Group 50 composed by me, Martina </a:t>
            </a:r>
            <a:r>
              <a:rPr lang="en-GB" dirty="0" err="1"/>
              <a:t>Vettoretti</a:t>
            </a:r>
            <a:r>
              <a:rPr lang="en-GB" dirty="0"/>
              <a:t>, and Luca Cossu”</a:t>
            </a:r>
          </a:p>
          <a:p>
            <a:endParaRPr lang="en-GB" dirty="0"/>
          </a:p>
          <a:p>
            <a:r>
              <a:rPr lang="en-GB" dirty="0"/>
              <a:t>“My code is located in my public repository named </a:t>
            </a:r>
            <a:r>
              <a:rPr lang="en-GB" dirty="0" err="1"/>
              <a:t>bwthw</a:t>
            </a:r>
            <a:r>
              <a:rPr lang="en-GB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4418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Step 1: Fill the group info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Create a .docx file</a:t>
            </a:r>
          </a:p>
          <a:p>
            <a:endParaRPr lang="en-GB" dirty="0"/>
          </a:p>
          <a:p>
            <a:r>
              <a:rPr lang="en-GB" dirty="0"/>
              <a:t>Fill the group info at the very top of the file, e.g.: 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6E54D86A-D1E3-D641-2844-75379CB5EC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130" y="2862465"/>
            <a:ext cx="8947230" cy="344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73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pplication&#10;&#10;Description automatically generated with medium confidence">
            <a:extLst>
              <a:ext uri="{FF2B5EF4-FFF2-40B4-BE49-F238E27FC236}">
                <a16:creationId xmlns:a16="http://schemas.microsoft.com/office/drawing/2014/main" id="{4449EF9E-C6F2-7F8C-AF44-F4E4B6524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218" y="3161409"/>
            <a:ext cx="5700486" cy="969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Step 2: Make your repository public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First, make sure your repository is public. This is true if, in GitHub, a “public” label is present near your repo name:</a:t>
            </a:r>
          </a:p>
          <a:p>
            <a:r>
              <a:rPr lang="en-GB" dirty="0"/>
              <a:t>If, instead, the label says “private”, follow these steps to make it public:</a:t>
            </a:r>
          </a:p>
          <a:p>
            <a:endParaRPr lang="en-GB" dirty="0"/>
          </a:p>
          <a:p>
            <a:pPr lvl="1"/>
            <a:r>
              <a:rPr lang="en-GB" dirty="0"/>
              <a:t>Go to “Settings”</a:t>
            </a:r>
          </a:p>
          <a:p>
            <a:pPr lvl="1"/>
            <a:r>
              <a:rPr lang="en-GB" dirty="0"/>
              <a:t>Scroll down till the “Danger Zone”</a:t>
            </a:r>
          </a:p>
          <a:p>
            <a:pPr lvl="1"/>
            <a:r>
              <a:rPr lang="en-GB" dirty="0"/>
              <a:t>Click on “Change visibility” </a:t>
            </a:r>
          </a:p>
          <a:p>
            <a:pPr lvl="1"/>
            <a:r>
              <a:rPr lang="en-GB" dirty="0"/>
              <a:t>Select “Make public”</a:t>
            </a:r>
          </a:p>
          <a:p>
            <a:pPr lvl="1"/>
            <a:r>
              <a:rPr lang="en-GB" dirty="0"/>
              <a:t>Type the name of the repo to confirm</a:t>
            </a:r>
          </a:p>
          <a:p>
            <a:pPr lvl="1"/>
            <a:r>
              <a:rPr lang="en-GB" dirty="0"/>
              <a:t>Click on the button</a:t>
            </a:r>
          </a:p>
          <a:p>
            <a:pPr lvl="1"/>
            <a:endParaRPr lang="en-GB" dirty="0"/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CD861484-0F5C-0290-AB7A-E320B93D18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749" y="1662920"/>
            <a:ext cx="2429686" cy="4759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588A0C-C2A0-EA15-0092-6BDB5CEE85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291" y="2489184"/>
            <a:ext cx="6342927" cy="7279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57BCB0A-369F-A36C-9C11-C5455AAF4599}"/>
              </a:ext>
            </a:extLst>
          </p:cNvPr>
          <p:cNvSpPr/>
          <p:nvPr/>
        </p:nvSpPr>
        <p:spPr>
          <a:xfrm>
            <a:off x="11019098" y="2845420"/>
            <a:ext cx="879676" cy="3916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B6F5AC-9212-5E90-2EAD-390A5CEAF776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136739" y="3041225"/>
            <a:ext cx="7882359" cy="1003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33584C-A68C-8EB5-8C44-94F907BA9523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4444678" y="3756227"/>
            <a:ext cx="6202771" cy="129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125DE5D-A7BA-4483-33E4-699D08E9EFB2}"/>
              </a:ext>
            </a:extLst>
          </p:cNvPr>
          <p:cNvSpPr/>
          <p:nvPr/>
        </p:nvSpPr>
        <p:spPr>
          <a:xfrm>
            <a:off x="10647449" y="3560422"/>
            <a:ext cx="1116379" cy="3916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21" name="Picture 20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62049BC-9D84-358A-048E-71C8B75921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809" y="4008476"/>
            <a:ext cx="3105965" cy="2845963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9754A73-569B-B950-AFFF-8F099B4479E8}"/>
              </a:ext>
            </a:extLst>
          </p:cNvPr>
          <p:cNvSpPr/>
          <p:nvPr/>
        </p:nvSpPr>
        <p:spPr>
          <a:xfrm>
            <a:off x="8810216" y="4901870"/>
            <a:ext cx="1919516" cy="45720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01F138A-BC6D-651A-85CA-8FEB6C119C25}"/>
              </a:ext>
            </a:extLst>
          </p:cNvPr>
          <p:cNvCxnSpPr>
            <a:cxnSpLocks/>
          </p:cNvCxnSpPr>
          <p:nvPr/>
        </p:nvCxnSpPr>
        <p:spPr>
          <a:xfrm>
            <a:off x="3646025" y="4130424"/>
            <a:ext cx="5146784" cy="7637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90EEEA0-FEBF-D7A4-C58A-40936D4FFDBA}"/>
              </a:ext>
            </a:extLst>
          </p:cNvPr>
          <p:cNvCxnSpPr>
            <a:cxnSpLocks/>
          </p:cNvCxnSpPr>
          <p:nvPr/>
        </p:nvCxnSpPr>
        <p:spPr>
          <a:xfrm>
            <a:off x="5162309" y="4669480"/>
            <a:ext cx="3647907" cy="16271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495B53B-85C2-EFE2-ED82-A17917F28D23}"/>
              </a:ext>
            </a:extLst>
          </p:cNvPr>
          <p:cNvCxnSpPr>
            <a:cxnSpLocks/>
          </p:cNvCxnSpPr>
          <p:nvPr/>
        </p:nvCxnSpPr>
        <p:spPr>
          <a:xfrm>
            <a:off x="3541853" y="4894180"/>
            <a:ext cx="5250956" cy="16688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235E05A3-C4B6-6E74-5FA3-5B87BEA20CED}"/>
              </a:ext>
            </a:extLst>
          </p:cNvPr>
          <p:cNvSpPr/>
          <p:nvPr/>
        </p:nvSpPr>
        <p:spPr>
          <a:xfrm>
            <a:off x="8861678" y="6507060"/>
            <a:ext cx="3037096" cy="2981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1EEE34-42F8-2C0F-F57D-26021E0F40AB}"/>
              </a:ext>
            </a:extLst>
          </p:cNvPr>
          <p:cNvSpPr/>
          <p:nvPr/>
        </p:nvSpPr>
        <p:spPr>
          <a:xfrm>
            <a:off x="8863532" y="6208875"/>
            <a:ext cx="3037096" cy="2981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08158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Step 3: Locate the link to a valid code version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From the home page of your GitHub repo, click on the “history” link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on the link of the version of the code that you want to submit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Note: be sure that your are in the master (or main) branch!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 descr="Graphical user interface, application, 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E7BB534-2414-83D2-02C1-DCB9270BF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79" y="1663852"/>
            <a:ext cx="11722100" cy="1600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44D5B9F-EF6A-1E79-74AF-28AFEE9EE9B0}"/>
              </a:ext>
            </a:extLst>
          </p:cNvPr>
          <p:cNvSpPr/>
          <p:nvPr/>
        </p:nvSpPr>
        <p:spPr>
          <a:xfrm>
            <a:off x="10289755" y="2547258"/>
            <a:ext cx="1423274" cy="4502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E90450-5EEB-0066-B932-A65A6EA9B6FF}"/>
              </a:ext>
            </a:extLst>
          </p:cNvPr>
          <p:cNvCxnSpPr>
            <a:cxnSpLocks/>
          </p:cNvCxnSpPr>
          <p:nvPr/>
        </p:nvCxnSpPr>
        <p:spPr>
          <a:xfrm>
            <a:off x="9437914" y="1453543"/>
            <a:ext cx="1519646" cy="10937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BC3D8E74-DC5E-D9DC-C907-D9FDD0EAC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977" y="3695426"/>
            <a:ext cx="9122228" cy="216534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89EB3F7-D1AF-0CB9-B3F8-66583731DFA3}"/>
              </a:ext>
            </a:extLst>
          </p:cNvPr>
          <p:cNvSpPr/>
          <p:nvPr/>
        </p:nvSpPr>
        <p:spPr>
          <a:xfrm>
            <a:off x="10112829" y="4441371"/>
            <a:ext cx="664028" cy="35631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3F9069-F81F-FA85-5BA3-44C8CF732BC6}"/>
              </a:ext>
            </a:extLst>
          </p:cNvPr>
          <p:cNvCxnSpPr>
            <a:cxnSpLocks/>
          </p:cNvCxnSpPr>
          <p:nvPr/>
        </p:nvCxnSpPr>
        <p:spPr>
          <a:xfrm>
            <a:off x="8937171" y="3593949"/>
            <a:ext cx="1175658" cy="84742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D4B9482-F6DB-D006-5ABA-A9E2D5ADCB8E}"/>
              </a:ext>
            </a:extLst>
          </p:cNvPr>
          <p:cNvSpPr/>
          <p:nvPr/>
        </p:nvSpPr>
        <p:spPr>
          <a:xfrm>
            <a:off x="2133600" y="3639309"/>
            <a:ext cx="1423274" cy="4502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7FB3F2-FDD8-D553-518A-C8AC9CA7DBE7}"/>
              </a:ext>
            </a:extLst>
          </p:cNvPr>
          <p:cNvCxnSpPr>
            <a:cxnSpLocks/>
          </p:cNvCxnSpPr>
          <p:nvPr/>
        </p:nvCxnSpPr>
        <p:spPr>
          <a:xfrm flipV="1">
            <a:off x="1249011" y="4089596"/>
            <a:ext cx="1047966" cy="192960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504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Step 4: Put the link in the .docx file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Copy and paste the link in the </a:t>
            </a:r>
            <a:r>
              <a:rPr lang="en-GB" dirty="0" err="1"/>
              <a:t>url</a:t>
            </a:r>
            <a:r>
              <a:rPr lang="en-GB" dirty="0"/>
              <a:t> bar of your browser in the .docx file below the group info, e.g.: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AF0621-DB50-9616-4866-66E751E58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36" y="2075339"/>
            <a:ext cx="10172700" cy="520700"/>
          </a:xfrm>
          <a:prstGeom prst="rect">
            <a:avLst/>
          </a:prstGeom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B1C92175-15C0-10AC-0DF1-779F4667E5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777" y="2969829"/>
            <a:ext cx="7637417" cy="369645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A87FB7-F2E1-D437-7B58-0899C4BF4118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954486" y="2596039"/>
            <a:ext cx="0" cy="37379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240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Step 5: Submit the .pdf to moodle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Export your .docx file to .pdf</a:t>
            </a:r>
          </a:p>
          <a:p>
            <a:endParaRPr lang="en-GB" dirty="0"/>
          </a:p>
          <a:p>
            <a:r>
              <a:rPr lang="en-GB" dirty="0"/>
              <a:t>Then, go to moodle. In the “Project discussion – Project delivery” section locate “Project delivery”:</a:t>
            </a:r>
          </a:p>
          <a:p>
            <a:r>
              <a:rPr lang="en-GB" dirty="0"/>
              <a:t>Click on the delivery button:</a:t>
            </a:r>
          </a:p>
          <a:p>
            <a:endParaRPr lang="en-GB" dirty="0"/>
          </a:p>
          <a:p>
            <a:r>
              <a:rPr lang="en-GB" dirty="0"/>
              <a:t>Upload the .pdf file </a:t>
            </a:r>
          </a:p>
          <a:p>
            <a:endParaRPr lang="en-GB" dirty="0"/>
          </a:p>
          <a:p>
            <a:r>
              <a:rPr lang="en-GB" dirty="0"/>
              <a:t>Save and that’s it!  </a:t>
            </a:r>
          </a:p>
        </p:txBody>
      </p:sp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C8C096C0-D4C7-8146-E383-58F3E001B3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22" b="32275"/>
          <a:stretch/>
        </p:blipFill>
        <p:spPr>
          <a:xfrm>
            <a:off x="4332515" y="2605836"/>
            <a:ext cx="2184400" cy="4193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5FC5FF-F6C0-DC4A-AFB2-5F2FCAFCF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943" y="2970344"/>
            <a:ext cx="1981526" cy="527105"/>
          </a:xfrm>
          <a:prstGeom prst="rect">
            <a:avLst/>
          </a:prstGeom>
        </p:spPr>
      </p:pic>
      <p:pic>
        <p:nvPicPr>
          <p:cNvPr id="14" name="Picture 13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CAAD58DF-CA57-96E6-5A90-3D08D8C42B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060" y="3497449"/>
            <a:ext cx="5956300" cy="28402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3F3C16F-733D-B75A-A704-79F3197C4952}"/>
              </a:ext>
            </a:extLst>
          </p:cNvPr>
          <p:cNvSpPr/>
          <p:nvPr/>
        </p:nvSpPr>
        <p:spPr>
          <a:xfrm>
            <a:off x="6505592" y="5706303"/>
            <a:ext cx="1092637" cy="4502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2D2E73-BD4B-38CD-151B-DB3145A9A669}"/>
              </a:ext>
            </a:extLst>
          </p:cNvPr>
          <p:cNvCxnSpPr>
            <a:cxnSpLocks/>
          </p:cNvCxnSpPr>
          <p:nvPr/>
        </p:nvCxnSpPr>
        <p:spPr>
          <a:xfrm>
            <a:off x="3396343" y="4996543"/>
            <a:ext cx="3109249" cy="7431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F0B449-6D0A-0972-F177-6D10B1C48D0D}"/>
              </a:ext>
            </a:extLst>
          </p:cNvPr>
          <p:cNvCxnSpPr>
            <a:cxnSpLocks/>
          </p:cNvCxnSpPr>
          <p:nvPr/>
        </p:nvCxnSpPr>
        <p:spPr>
          <a:xfrm>
            <a:off x="3722914" y="4207209"/>
            <a:ext cx="4441372" cy="4997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040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theory exam</a:t>
            </a:r>
            <a:endParaRPr lang="en-GB" b="1" dirty="0"/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Project delivery instructions</a:t>
            </a:r>
          </a:p>
          <a:p>
            <a:r>
              <a:rPr lang="en-GB" b="1" dirty="0"/>
              <a:t>Project presentation guidelines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A05B1-19C9-EE42-9540-E05EF446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141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Rationale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0453188" cy="5377686"/>
          </a:xfrm>
        </p:spPr>
        <p:txBody>
          <a:bodyPr>
            <a:normAutofit/>
          </a:bodyPr>
          <a:lstStyle/>
          <a:p>
            <a:r>
              <a:rPr lang="en-GB" dirty="0"/>
              <a:t>In the following we reported a brief guide that contains some </a:t>
            </a:r>
            <a:r>
              <a:rPr lang="en-GB" b="1" dirty="0"/>
              <a:t>hints </a:t>
            </a:r>
            <a:r>
              <a:rPr lang="en-GB" dirty="0"/>
              <a:t>on what to cover during your project discussion. As such, consider this document as a guide rather than something to “fill” with words and images. </a:t>
            </a:r>
          </a:p>
          <a:p>
            <a:endParaRPr lang="en-GB" dirty="0"/>
          </a:p>
          <a:p>
            <a:r>
              <a:rPr lang="en-GB" dirty="0"/>
              <a:t>You are free to use the template your prefer </a:t>
            </a:r>
          </a:p>
          <a:p>
            <a:endParaRPr lang="en-GB" dirty="0"/>
          </a:p>
          <a:p>
            <a:r>
              <a:rPr lang="en-GB" dirty="0"/>
              <a:t>The skeleton proposed here is just a simple guideline. Feel free to change it according to your needs.</a:t>
            </a:r>
          </a:p>
        </p:txBody>
      </p:sp>
    </p:spTree>
    <p:extLst>
      <p:ext uri="{BB962C8B-B14F-4D97-AF65-F5344CB8AC3E}">
        <p14:creationId xmlns:p14="http://schemas.microsoft.com/office/powerpoint/2010/main" val="4245697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Discussion structure – General info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288595"/>
            <a:ext cx="9304163" cy="5274251"/>
          </a:xfrm>
        </p:spPr>
        <p:txBody>
          <a:bodyPr>
            <a:normAutofit/>
          </a:bodyPr>
          <a:lstStyle/>
          <a:p>
            <a:r>
              <a:rPr lang="en-GB" dirty="0"/>
              <a:t>You have </a:t>
            </a:r>
            <a:r>
              <a:rPr lang="en-GB" b="1" dirty="0"/>
              <a:t>25 minutes max </a:t>
            </a:r>
            <a:r>
              <a:rPr lang="en-GB" dirty="0"/>
              <a:t>to present your project followed by ~20 min of Q&amp;A. Discussions of more than 25 minutes will be penalized. </a:t>
            </a:r>
          </a:p>
          <a:p>
            <a:endParaRPr lang="en-GB" dirty="0"/>
          </a:p>
          <a:p>
            <a:r>
              <a:rPr lang="en-GB" dirty="0"/>
              <a:t>The presentation must include a PowerPoint presentation followed by a live demonstration of your app working. Both the presentation and the demo must fit the 25 minutes.</a:t>
            </a:r>
          </a:p>
          <a:p>
            <a:endParaRPr lang="en-GB" dirty="0"/>
          </a:p>
          <a:p>
            <a:r>
              <a:rPr lang="en-GB" dirty="0"/>
              <a:t>The discussion must be in English. </a:t>
            </a:r>
          </a:p>
          <a:p>
            <a:endParaRPr lang="en-GB" dirty="0"/>
          </a:p>
          <a:p>
            <a:r>
              <a:rPr lang="en-GB" dirty="0"/>
              <a:t>The Q&amp;A session will be in English. 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7708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Discussion structure – (Possible) skeleton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288595"/>
            <a:ext cx="11368314" cy="5407479"/>
          </a:xfrm>
        </p:spPr>
        <p:txBody>
          <a:bodyPr>
            <a:normAutofit/>
          </a:bodyPr>
          <a:lstStyle/>
          <a:p>
            <a:r>
              <a:rPr lang="en-GB" dirty="0"/>
              <a:t>A possible skeleton for your discussion can be:</a:t>
            </a:r>
          </a:p>
          <a:p>
            <a:pPr lvl="1"/>
            <a:r>
              <a:rPr lang="en-GB" b="1" dirty="0"/>
              <a:t>Background/Target</a:t>
            </a:r>
            <a:endParaRPr lang="en-GB" dirty="0"/>
          </a:p>
          <a:p>
            <a:pPr lvl="1"/>
            <a:r>
              <a:rPr lang="en-GB" b="1" dirty="0"/>
              <a:t>Problem to be solved/Feature to be provided to the public </a:t>
            </a:r>
            <a:r>
              <a:rPr lang="en-GB" dirty="0"/>
              <a:t>–</a:t>
            </a:r>
          </a:p>
          <a:p>
            <a:pPr lvl="1"/>
            <a:r>
              <a:rPr lang="en-GB" b="1" dirty="0"/>
              <a:t>Your solution </a:t>
            </a:r>
          </a:p>
          <a:p>
            <a:pPr lvl="1"/>
            <a:r>
              <a:rPr lang="en-GB" b="1" dirty="0"/>
              <a:t>Core app functionalities</a:t>
            </a:r>
          </a:p>
          <a:p>
            <a:pPr lvl="1"/>
            <a:r>
              <a:rPr lang="en-GB" b="1" dirty="0"/>
              <a:t>Original part </a:t>
            </a:r>
          </a:p>
          <a:p>
            <a:pPr lvl="1"/>
            <a:r>
              <a:rPr lang="en-GB" b="1" dirty="0"/>
              <a:t>Project management flavours</a:t>
            </a:r>
          </a:p>
          <a:p>
            <a:pPr lvl="1"/>
            <a:r>
              <a:rPr lang="en-GB" b="1" dirty="0"/>
              <a:t>Special implementation decisions</a:t>
            </a:r>
            <a:endParaRPr lang="en-GB" i="1" dirty="0"/>
          </a:p>
          <a:p>
            <a:pPr lvl="1"/>
            <a:r>
              <a:rPr lang="en-GB" b="1" dirty="0"/>
              <a:t>Closing remarks and future developments </a:t>
            </a:r>
          </a:p>
          <a:p>
            <a:pPr lvl="1"/>
            <a:endParaRPr lang="en-GB" b="1" dirty="0"/>
          </a:p>
          <a:p>
            <a:pPr lvl="1"/>
            <a:r>
              <a:rPr lang="en-GB" b="1" dirty="0"/>
              <a:t>Live demo </a:t>
            </a:r>
            <a:r>
              <a:rPr lang="en-GB" dirty="0"/>
              <a:t>- </a:t>
            </a:r>
            <a:r>
              <a:rPr lang="en-GB" i="1" dirty="0"/>
              <a:t>Show (via emulator or physical device) your app working. 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4363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Discussion suggestions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2B2631-DEDB-D847-9680-271CA1C8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288595"/>
            <a:ext cx="9304163" cy="5274251"/>
          </a:xfrm>
        </p:spPr>
        <p:txBody>
          <a:bodyPr>
            <a:normAutofit/>
          </a:bodyPr>
          <a:lstStyle/>
          <a:p>
            <a:r>
              <a:rPr lang="en-GB" dirty="0"/>
              <a:t>Try to motivate every choice.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Consider in advance how much time you will allocate to the PowerPoint presentation and how much time for the live demo.</a:t>
            </a:r>
          </a:p>
          <a:p>
            <a:endParaRPr lang="en-GB" dirty="0"/>
          </a:p>
          <a:p>
            <a:r>
              <a:rPr lang="en-GB" dirty="0"/>
              <a:t>Prepare the live demo. You have limited time so you must know what to ”tap”,  to show, to do ,….</a:t>
            </a:r>
          </a:p>
          <a:p>
            <a:endParaRPr lang="en-GB" dirty="0"/>
          </a:p>
          <a:p>
            <a:r>
              <a:rPr lang="en-GB" dirty="0"/>
              <a:t>Be sure that your app is working when you run the demo.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94932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19081</TotalTime>
  <Words>1129</Words>
  <Application>Microsoft Macintosh PowerPoint</Application>
  <PresentationFormat>Widescreen</PresentationFormat>
  <Paragraphs>166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Cambria Math</vt:lpstr>
      <vt:lpstr>Courier New</vt:lpstr>
      <vt:lpstr>Times New Roman</vt:lpstr>
      <vt:lpstr>Wingdings</vt:lpstr>
      <vt:lpstr>Tema di Office</vt:lpstr>
      <vt:lpstr>Giacomo Cappon</vt:lpstr>
      <vt:lpstr>Outline</vt:lpstr>
      <vt:lpstr>Exam structure</vt:lpstr>
      <vt:lpstr>Mark of the theory exam</vt:lpstr>
      <vt:lpstr>Final mark</vt:lpstr>
      <vt:lpstr>Examples of open questions</vt:lpstr>
      <vt:lpstr>Examples of open questions</vt:lpstr>
      <vt:lpstr>Outline</vt:lpstr>
      <vt:lpstr>General info</vt:lpstr>
      <vt:lpstr>Example scenario</vt:lpstr>
      <vt:lpstr>Step 1: Fill the group info</vt:lpstr>
      <vt:lpstr>Step 2: Make your repository public</vt:lpstr>
      <vt:lpstr>Step 3: Locate the link to a valid code version</vt:lpstr>
      <vt:lpstr>Step 4: Put the link in the .docx file</vt:lpstr>
      <vt:lpstr>Step 5: Submit the .pdf to moodle</vt:lpstr>
      <vt:lpstr>Outline</vt:lpstr>
      <vt:lpstr>Rationale</vt:lpstr>
      <vt:lpstr>Discussion structure – General info</vt:lpstr>
      <vt:lpstr>Discussion structure – (Possible) skeleton</vt:lpstr>
      <vt:lpstr>Discussion 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252</cp:revision>
  <dcterms:created xsi:type="dcterms:W3CDTF">2021-07-19T09:08:13Z</dcterms:created>
  <dcterms:modified xsi:type="dcterms:W3CDTF">2026-02-19T11:39:04Z</dcterms:modified>
</cp:coreProperties>
</file>