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9" r:id="rId2"/>
    <p:sldId id="401" r:id="rId3"/>
    <p:sldId id="398" r:id="rId4"/>
    <p:sldId id="366" r:id="rId5"/>
    <p:sldId id="40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52" autoAdjust="0"/>
    <p:restoredTop sz="87823"/>
  </p:normalViewPr>
  <p:slideViewPr>
    <p:cSldViewPr snapToGrid="0">
      <p:cViewPr>
        <p:scale>
          <a:sx n="288" d="100"/>
          <a:sy n="288" d="100"/>
        </p:scale>
        <p:origin x="80" y="-34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C4B3FE-0320-8142-8396-5C3025C019EC}" type="datetimeFigureOut">
              <a:rPr lang="en-IT" smtClean="0"/>
              <a:t>5/28/26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0F43FB-3F33-3F4B-9768-2FBED988F992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929496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0105816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1937858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8217165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526255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71311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6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</a:rPr>
              <a:t>A.Y. 2025-2026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96487F-10E0-114E-8185-2B9A87D777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7534" y="4986716"/>
            <a:ext cx="4393045" cy="919388"/>
          </a:xfrm>
        </p:spPr>
        <p:txBody>
          <a:bodyPr>
            <a:normAutofit/>
          </a:bodyPr>
          <a:lstStyle>
            <a:lvl1pPr>
              <a:defRPr sz="3200">
                <a:latin typeface="Aptos" panose="020B0004020202020204" pitchFamily="34" charset="0"/>
              </a:defRPr>
            </a:lvl1pPr>
          </a:lstStyle>
          <a:p>
            <a:r>
              <a:rPr lang="en-IT" dirty="0"/>
              <a:t>Name Surname</a:t>
            </a:r>
          </a:p>
        </p:txBody>
      </p:sp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7E0323C-B2D5-E147-A405-326B19A39E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Symposium</a:t>
            </a:r>
            <a:endParaRPr lang="en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EB437F2-B298-5D42-A17B-E5DDC2184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Giacomo Cappon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184054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devices</a:t>
            </a:r>
            <a:endParaRPr lang="en-IT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8A145D-8226-994F-B500-D78B3CF73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</a:t>
            </a:fld>
            <a:endParaRPr lang="en-GB"/>
          </a:p>
        </p:txBody>
      </p:sp>
      <p:sp>
        <p:nvSpPr>
          <p:cNvPr id="4" name="Content Placeholder 21">
            <a:extLst>
              <a:ext uri="{FF2B5EF4-FFF2-40B4-BE49-F238E27FC236}">
                <a16:creationId xmlns:a16="http://schemas.microsoft.com/office/drawing/2014/main" id="{CAB8428E-DDB5-A89A-002B-85211C1A6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395" y="4405747"/>
            <a:ext cx="4390242" cy="229032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/>
              <a:t>Polar H10 Heart Rate Monitor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Bluetooth and ANT+ communication </a:t>
            </a:r>
          </a:p>
          <a:p>
            <a:r>
              <a:rPr lang="en-US" dirty="0"/>
              <a:t>Sampling rate of 1 Hz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90329A-A29B-7E51-689F-4A5BD888072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924" t="11890" r="16842" b="10261"/>
          <a:stretch/>
        </p:blipFill>
        <p:spPr>
          <a:xfrm>
            <a:off x="7873339" y="1098124"/>
            <a:ext cx="2624447" cy="30846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B7A9707-58C9-CBE4-0814-A37C50D7BA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467" y="1420093"/>
            <a:ext cx="4489576" cy="2207718"/>
          </a:xfrm>
          <a:prstGeom prst="rect">
            <a:avLst/>
          </a:prstGeom>
        </p:spPr>
      </p:pic>
      <p:sp>
        <p:nvSpPr>
          <p:cNvPr id="12" name="Content Placeholder 21">
            <a:extLst>
              <a:ext uri="{FF2B5EF4-FFF2-40B4-BE49-F238E27FC236}">
                <a16:creationId xmlns:a16="http://schemas.microsoft.com/office/drawing/2014/main" id="{6C92B5A5-5FDE-498A-3C1F-CEF9C0CC8BB0}"/>
              </a:ext>
            </a:extLst>
          </p:cNvPr>
          <p:cNvSpPr txBox="1">
            <a:spLocks/>
          </p:cNvSpPr>
          <p:nvPr/>
        </p:nvSpPr>
        <p:spPr>
          <a:xfrm>
            <a:off x="6281694" y="4398351"/>
            <a:ext cx="5807736" cy="195799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" panose="05000000000000000000" pitchFamily="2" charset="2"/>
              <a:buNone/>
            </a:pPr>
            <a:r>
              <a:rPr lang="en-US" b="1" dirty="0">
                <a:latin typeface="Aptos" panose="020B0004020202020204" pitchFamily="34" charset="0"/>
              </a:rPr>
              <a:t>iPhone 15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Hosts a custom app that communicates with Polar H10</a:t>
            </a:r>
          </a:p>
          <a:p>
            <a:r>
              <a:rPr lang="en-US" dirty="0">
                <a:latin typeface="Aptos" panose="020B0004020202020204" pitchFamily="34" charset="0"/>
              </a:rPr>
              <a:t>Collects and export data 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pPr marL="0" indent="0">
              <a:buFont typeface="Wingdings" panose="05000000000000000000" pitchFamily="2" charset="2"/>
              <a:buNone/>
            </a:pPr>
            <a:endParaRPr lang="en-US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4063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E60FB-C861-1E44-92E6-8F9396441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“protocol”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ACF48-43BD-9049-83DA-4C0AF0AC5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</a:t>
            </a:fld>
            <a:endParaRPr lang="en-GB" dirty="0"/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342A3D3D-5934-1835-374E-222525E08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3 volunteers wearing 1 x Polar H10 + 1x iPhone (need their Age and BW)</a:t>
            </a:r>
          </a:p>
          <a:p>
            <a:r>
              <a:rPr lang="en-US" dirty="0"/>
              <a:t>Measure heart rate at rest</a:t>
            </a:r>
          </a:p>
          <a:p>
            <a:r>
              <a:rPr lang="en-US" dirty="0"/>
              <a:t>2 laps of the DEI “highway” running (or walking as fast as possible)</a:t>
            </a:r>
          </a:p>
          <a:p>
            <a:r>
              <a:rPr lang="en-US" dirty="0"/>
              <a:t>At the end, export data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BE017CB-6C2A-4A87-9EDE-F8C872C228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6431" y="2730914"/>
            <a:ext cx="3594100" cy="25654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98D34D0-9A33-EF3F-0E99-928D5BE859E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6924" t="11890" r="16842" b="10261"/>
          <a:stretch/>
        </p:blipFill>
        <p:spPr>
          <a:xfrm>
            <a:off x="10846511" y="5011047"/>
            <a:ext cx="884020" cy="1039033"/>
          </a:xfrm>
          <a:prstGeom prst="rect">
            <a:avLst/>
          </a:prstGeom>
        </p:spPr>
      </p:pic>
      <p:sp>
        <p:nvSpPr>
          <p:cNvPr id="41" name="Oval 40">
            <a:extLst>
              <a:ext uri="{FF2B5EF4-FFF2-40B4-BE49-F238E27FC236}">
                <a16:creationId xmlns:a16="http://schemas.microsoft.com/office/drawing/2014/main" id="{44CD1E3D-6C72-053A-897B-5FCBB34A0F84}"/>
              </a:ext>
            </a:extLst>
          </p:cNvPr>
          <p:cNvSpPr/>
          <p:nvPr/>
        </p:nvSpPr>
        <p:spPr>
          <a:xfrm>
            <a:off x="8857556" y="6394964"/>
            <a:ext cx="320842" cy="301110"/>
          </a:xfrm>
          <a:prstGeom prst="ellipse">
            <a:avLst/>
          </a:prstGeom>
          <a:pattFill prst="lgCheck">
            <a:fgClr>
              <a:schemeClr val="dk1"/>
            </a:fgClr>
            <a:bgClr>
              <a:schemeClr val="bg1"/>
            </a:bgClr>
          </a:patt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Arc 42">
            <a:extLst>
              <a:ext uri="{FF2B5EF4-FFF2-40B4-BE49-F238E27FC236}">
                <a16:creationId xmlns:a16="http://schemas.microsoft.com/office/drawing/2014/main" id="{C2381EFA-8565-5E45-11B1-05D5FC9590CF}"/>
              </a:ext>
            </a:extLst>
          </p:cNvPr>
          <p:cNvSpPr/>
          <p:nvPr/>
        </p:nvSpPr>
        <p:spPr>
          <a:xfrm rot="9679481">
            <a:off x="318775" y="6656228"/>
            <a:ext cx="905854" cy="1052705"/>
          </a:xfrm>
          <a:prstGeom prst="arc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3862695-87CD-3123-63BC-5A2239C2687C}"/>
              </a:ext>
            </a:extLst>
          </p:cNvPr>
          <p:cNvSpPr txBox="1"/>
          <p:nvPr/>
        </p:nvSpPr>
        <p:spPr>
          <a:xfrm>
            <a:off x="771702" y="7456918"/>
            <a:ext cx="609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Start/Stop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48C998-1F19-3CCA-FC24-6F887BC564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4140" y="3323296"/>
            <a:ext cx="2738372" cy="3375502"/>
          </a:xfrm>
          <a:prstGeom prst="rect">
            <a:avLst/>
          </a:prstGeom>
        </p:spPr>
      </p:pic>
      <p:sp>
        <p:nvSpPr>
          <p:cNvPr id="6" name="Down Arrow 5">
            <a:extLst>
              <a:ext uri="{FF2B5EF4-FFF2-40B4-BE49-F238E27FC236}">
                <a16:creationId xmlns:a16="http://schemas.microsoft.com/office/drawing/2014/main" id="{DAE6A564-12B0-B80A-7880-F78A573995C8}"/>
              </a:ext>
            </a:extLst>
          </p:cNvPr>
          <p:cNvSpPr/>
          <p:nvPr/>
        </p:nvSpPr>
        <p:spPr>
          <a:xfrm rot="631478">
            <a:off x="4162927" y="3412553"/>
            <a:ext cx="166279" cy="1880976"/>
          </a:xfrm>
          <a:prstGeom prst="downArrow">
            <a:avLst>
              <a:gd name="adj1" fmla="val 15663"/>
              <a:gd name="adj2" fmla="val 47286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39705126-AA88-D725-A860-2B01A0877F2F}"/>
              </a:ext>
            </a:extLst>
          </p:cNvPr>
          <p:cNvSpPr/>
          <p:nvPr/>
        </p:nvSpPr>
        <p:spPr>
          <a:xfrm rot="11436811">
            <a:off x="4307697" y="3415047"/>
            <a:ext cx="147026" cy="1844461"/>
          </a:xfrm>
          <a:prstGeom prst="downArrow">
            <a:avLst>
              <a:gd name="adj1" fmla="val 15663"/>
              <a:gd name="adj2" fmla="val 47286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656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aim</a:t>
            </a:r>
            <a:endParaRPr lang="en-IT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7BD54680-C4AA-3741-1B3D-F704809292EC}"/>
              </a:ext>
            </a:extLst>
          </p:cNvPr>
          <p:cNvSpPr txBox="1">
            <a:spLocks/>
          </p:cNvSpPr>
          <p:nvPr/>
        </p:nvSpPr>
        <p:spPr>
          <a:xfrm>
            <a:off x="539647" y="1259174"/>
            <a:ext cx="11256840" cy="4922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ptos" panose="020B0004020202020204" pitchFamily="34" charset="0"/>
              </a:rPr>
              <a:t>Quantify and rank the activity “load” experienced by each participant</a:t>
            </a:r>
            <a:endParaRPr lang="en-US" baseline="-25000" dirty="0">
              <a:latin typeface="Aptos" panose="020B0004020202020204" pitchFamily="34" charset="0"/>
            </a:endParaRPr>
          </a:p>
          <a:p>
            <a:endParaRPr lang="en-US" baseline="-25000" dirty="0">
              <a:latin typeface="Aptos" panose="020B0004020202020204" pitchFamily="34" charset="0"/>
            </a:endParaRPr>
          </a:p>
        </p:txBody>
      </p:sp>
      <p:pic>
        <p:nvPicPr>
          <p:cNvPr id="1026" name="Picture 2" descr="VO2max: Its Role in Running and How to Improve It | Fitpage">
            <a:extLst>
              <a:ext uri="{FF2B5EF4-FFF2-40B4-BE49-F238E27FC236}">
                <a16:creationId xmlns:a16="http://schemas.microsoft.com/office/drawing/2014/main" id="{412D241A-1443-FEE5-0EED-DFB4364F59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5112" y="2970890"/>
            <a:ext cx="5707707" cy="321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3640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data will look like</a:t>
            </a:r>
            <a:endParaRPr lang="en-IT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7BD54680-C4AA-3741-1B3D-F704809292EC}"/>
              </a:ext>
            </a:extLst>
          </p:cNvPr>
          <p:cNvSpPr txBox="1">
            <a:spLocks/>
          </p:cNvSpPr>
          <p:nvPr/>
        </p:nvSpPr>
        <p:spPr>
          <a:xfrm>
            <a:off x="3265713" y="2004661"/>
            <a:ext cx="8530773" cy="41768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Aptos" panose="020B0004020202020204" pitchFamily="34" charset="0"/>
              </a:rPr>
              <a:t>3 .csv files containing </a:t>
            </a:r>
          </a:p>
          <a:p>
            <a:r>
              <a:rPr lang="en-US" dirty="0">
                <a:latin typeface="Aptos" panose="020B0004020202020204" pitchFamily="34" charset="0"/>
              </a:rPr>
              <a:t>time from start (s)</a:t>
            </a:r>
          </a:p>
          <a:p>
            <a:r>
              <a:rPr lang="en-US" dirty="0">
                <a:latin typeface="Aptos" panose="020B0004020202020204" pitchFamily="34" charset="0"/>
              </a:rPr>
              <a:t>heart rate at given time (bpm)</a:t>
            </a:r>
          </a:p>
          <a:p>
            <a:endParaRPr lang="en-US" dirty="0">
              <a:latin typeface="Aptos" panose="020B00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FA32ED-C5D8-FE62-1C95-9A7A48BD71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476" y="1260046"/>
            <a:ext cx="1502472" cy="5436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17987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21140</TotalTime>
  <Words>132</Words>
  <Application>Microsoft Macintosh PowerPoint</Application>
  <PresentationFormat>Widescreen</PresentationFormat>
  <Paragraphs>30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Arial</vt:lpstr>
      <vt:lpstr>Calibri</vt:lpstr>
      <vt:lpstr>Courier New</vt:lpstr>
      <vt:lpstr>Times New Roman</vt:lpstr>
      <vt:lpstr>Wingdings</vt:lpstr>
      <vt:lpstr>Tema di Office</vt:lpstr>
      <vt:lpstr>Giacomo Cappon</vt:lpstr>
      <vt:lpstr>The devices</vt:lpstr>
      <vt:lpstr>The “protocol”</vt:lpstr>
      <vt:lpstr>The aim</vt:lpstr>
      <vt:lpstr>How data will look like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232</cp:revision>
  <dcterms:created xsi:type="dcterms:W3CDTF">2021-07-19T09:08:13Z</dcterms:created>
  <dcterms:modified xsi:type="dcterms:W3CDTF">2026-05-28T08:17:35Z</dcterms:modified>
</cp:coreProperties>
</file>