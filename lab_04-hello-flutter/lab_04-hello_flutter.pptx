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9" r:id="rId2"/>
    <p:sldId id="381" r:id="rId3"/>
    <p:sldId id="304" r:id="rId4"/>
    <p:sldId id="389" r:id="rId5"/>
    <p:sldId id="384" r:id="rId6"/>
    <p:sldId id="289" r:id="rId7"/>
    <p:sldId id="315" r:id="rId8"/>
    <p:sldId id="291" r:id="rId9"/>
    <p:sldId id="292" r:id="rId10"/>
    <p:sldId id="383" r:id="rId11"/>
    <p:sldId id="314" r:id="rId12"/>
    <p:sldId id="316" r:id="rId13"/>
    <p:sldId id="317" r:id="rId14"/>
    <p:sldId id="311" r:id="rId15"/>
    <p:sldId id="327" r:id="rId16"/>
    <p:sldId id="322" r:id="rId17"/>
    <p:sldId id="325" r:id="rId18"/>
    <p:sldId id="323" r:id="rId19"/>
    <p:sldId id="318" r:id="rId20"/>
    <p:sldId id="385" r:id="rId21"/>
    <p:sldId id="328" r:id="rId22"/>
    <p:sldId id="388" r:id="rId23"/>
    <p:sldId id="330" r:id="rId24"/>
    <p:sldId id="329" r:id="rId25"/>
    <p:sldId id="331" r:id="rId26"/>
    <p:sldId id="333" r:id="rId27"/>
    <p:sldId id="332" r:id="rId28"/>
    <p:sldId id="334" r:id="rId29"/>
    <p:sldId id="335" r:id="rId30"/>
    <p:sldId id="336" r:id="rId31"/>
    <p:sldId id="337" r:id="rId32"/>
    <p:sldId id="338" r:id="rId33"/>
    <p:sldId id="339" r:id="rId34"/>
    <p:sldId id="340" r:id="rId35"/>
    <p:sldId id="342" r:id="rId36"/>
    <p:sldId id="343" r:id="rId37"/>
    <p:sldId id="350" r:id="rId38"/>
    <p:sldId id="344" r:id="rId39"/>
    <p:sldId id="345" r:id="rId40"/>
    <p:sldId id="346" r:id="rId41"/>
    <p:sldId id="347" r:id="rId42"/>
    <p:sldId id="348" r:id="rId43"/>
    <p:sldId id="341" r:id="rId44"/>
    <p:sldId id="351" r:id="rId45"/>
    <p:sldId id="352" r:id="rId46"/>
    <p:sldId id="353" r:id="rId47"/>
    <p:sldId id="382" r:id="rId48"/>
    <p:sldId id="391" r:id="rId49"/>
    <p:sldId id="309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19" autoAdjust="0"/>
    <p:restoredTop sz="86763"/>
  </p:normalViewPr>
  <p:slideViewPr>
    <p:cSldViewPr snapToGrid="0">
      <p:cViewPr varScale="1">
        <p:scale>
          <a:sx n="180" d="100"/>
          <a:sy n="180" d="100"/>
        </p:scale>
        <p:origin x="268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B3FE-0320-8142-8396-5C3025C019EC}" type="datetimeFigureOut">
              <a:rPr lang="en-IT" smtClean="0"/>
              <a:t>3/10/25</a:t>
            </a:fld>
            <a:endParaRPr lang="en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F43FB-3F33-3F4B-9768-2FBED988F992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92949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105816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252295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25043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784048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02582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T" dirty="0"/>
              <a:t>Note the .gitignore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3365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824875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38536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6473784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19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206424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29860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06775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33489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407013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844612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24032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869653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3887023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29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7018225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421403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572938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6657326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9449821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7182805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0714669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422436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37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5350711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38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161299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39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374497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40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3550338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41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469234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42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6853185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43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7503809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44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182609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45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4317470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F43FB-3F33-3F4B-9768-2FBED988F992}" type="slidenum">
              <a:rPr lang="en-IT" smtClean="0"/>
              <a:t>46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171361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6239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</a:rPr>
              <a:t>A.Y. 2024-2025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+mj-cs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6487F-10E0-114E-8185-2B9A87D777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534" y="4986716"/>
            <a:ext cx="4393045" cy="919388"/>
          </a:xfrm>
        </p:spPr>
        <p:txBody>
          <a:bodyPr>
            <a:normAutofit/>
          </a:bodyPr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IT" dirty="0"/>
              <a:t>Name Surname</a:t>
            </a:r>
          </a:p>
        </p:txBody>
      </p:sp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sv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lutter.dev/development/ui/widgets-intro" TargetMode="External"/><Relationship Id="rId2" Type="http://schemas.openxmlformats.org/officeDocument/2006/relationships/hyperlink" Target="https://github.com/gcappon/bwthw/tree/master/lab_04-hello_flutter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ocs.flutter.dev/development/tools/devtools/overview" TargetMode="External"/><Relationship Id="rId4" Type="http://schemas.openxmlformats.org/officeDocument/2006/relationships/hyperlink" Target="https://docs.flutter.dev/get-started/codela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7E0323C-B2D5-E147-A405-326B19A3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T"/>
              <a:t>Hello, Flutter!</a:t>
            </a:r>
            <a:endParaRPr lang="en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B437F2-B298-5D42-A17B-E5DDC2184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Giacomo Cappon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18405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T" b="1" dirty="0"/>
              <a:t>Flutter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Creating a new project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App dissection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Expanding our first app</a:t>
            </a:r>
          </a:p>
          <a:p>
            <a:pPr marL="0" indent="0">
              <a:buNone/>
            </a:pPr>
            <a:endParaRPr lang="en-IT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Homework &amp; Resources</a:t>
            </a:r>
          </a:p>
          <a:p>
            <a:pPr marL="0" indent="0">
              <a:buNone/>
            </a:pPr>
            <a:endParaRPr lang="en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80F60-35B4-6F45-9B78-E226153C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8072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Flutter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101679" cy="5334907"/>
          </a:xfrm>
        </p:spPr>
        <p:txBody>
          <a:bodyPr>
            <a:normAutofit/>
          </a:bodyPr>
          <a:lstStyle/>
          <a:p>
            <a:r>
              <a:rPr lang="en-IT" dirty="0"/>
              <a:t>What is </a:t>
            </a:r>
            <a:r>
              <a:rPr lang="en-IT"/>
              <a:t>Flutter?</a:t>
            </a:r>
            <a:endParaRPr lang="en-IT" dirty="0"/>
          </a:p>
          <a:p>
            <a:pPr lvl="1"/>
            <a:r>
              <a:rPr lang="en-IT" dirty="0"/>
              <a:t>Simply a declarative framework for Dart</a:t>
            </a:r>
          </a:p>
          <a:p>
            <a:endParaRPr lang="en-IT" dirty="0"/>
          </a:p>
          <a:p>
            <a:r>
              <a:rPr lang="en-IT" dirty="0"/>
              <a:t>Why this choice?</a:t>
            </a:r>
          </a:p>
          <a:p>
            <a:pPr lvl="1"/>
            <a:r>
              <a:rPr lang="en-IT" dirty="0"/>
              <a:t>State-of-the-art and Google-maintained</a:t>
            </a:r>
          </a:p>
          <a:p>
            <a:pPr lvl="1"/>
            <a:r>
              <a:rPr lang="en-IT" dirty="0"/>
              <a:t>Single codebase for iOS and Android (and Mac, Windows, Web)</a:t>
            </a:r>
          </a:p>
          <a:p>
            <a:pPr lvl="1"/>
            <a:r>
              <a:rPr lang="en-IT" dirty="0"/>
              <a:t>Relatively easy to learn</a:t>
            </a:r>
          </a:p>
          <a:p>
            <a:pPr lvl="1"/>
            <a:r>
              <a:rPr lang="en-IT" dirty="0"/>
              <a:t>Lots of examples</a:t>
            </a:r>
          </a:p>
          <a:p>
            <a:pPr lvl="1"/>
            <a:r>
              <a:rPr lang="en-IT" dirty="0"/>
              <a:t>Fastly growing job market</a:t>
            </a:r>
          </a:p>
          <a:p>
            <a:endParaRPr lang="en-IT" dirty="0"/>
          </a:p>
          <a:p>
            <a:r>
              <a:rPr lang="en-IT" dirty="0"/>
              <a:t>Today we will create and study our first Flutter app</a:t>
            </a:r>
          </a:p>
          <a:p>
            <a:endParaRPr lang="en-I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4EB4A2-B6B6-A848-BB05-B57E4F554F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90"/>
          <a:stretch/>
        </p:blipFill>
        <p:spPr>
          <a:xfrm>
            <a:off x="9281738" y="1654060"/>
            <a:ext cx="2332041" cy="209907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0336D-308D-2049-B3B0-C7FF90A0B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35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Before starting…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7E4116-D610-A249-B96D-BFDB3C964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579534"/>
            <a:ext cx="4867159" cy="4858203"/>
          </a:xfrm>
        </p:spPr>
        <p:txBody>
          <a:bodyPr/>
          <a:lstStyle/>
          <a:p>
            <a:endParaRPr lang="en-IT" dirty="0"/>
          </a:p>
          <a:p>
            <a:r>
              <a:rPr lang="en-IT" dirty="0"/>
              <a:t>What you’ll see in these labs about Flutter capabilities</a:t>
            </a:r>
          </a:p>
          <a:p>
            <a:endParaRPr lang="en-IT" dirty="0"/>
          </a:p>
          <a:p>
            <a:endParaRPr lang="en-IT" dirty="0"/>
          </a:p>
          <a:p>
            <a:r>
              <a:rPr lang="en-IT" dirty="0"/>
              <a:t>Actual things that you will probably use</a:t>
            </a:r>
          </a:p>
          <a:p>
            <a:endParaRPr lang="en-IT" dirty="0"/>
          </a:p>
          <a:p>
            <a:endParaRPr lang="en-IT" dirty="0"/>
          </a:p>
          <a:p>
            <a:r>
              <a:rPr lang="en-IT" dirty="0"/>
              <a:t>Flutter possibilities</a:t>
            </a:r>
          </a:p>
        </p:txBody>
      </p:sp>
      <p:pic>
        <p:nvPicPr>
          <p:cNvPr id="1028" name="Picture 4" descr="Iceberg - animazione 3D - Insegnamento e apprendimento digitale Mozaik">
            <a:extLst>
              <a:ext uri="{FF2B5EF4-FFF2-40B4-BE49-F238E27FC236}">
                <a16:creationId xmlns:a16="http://schemas.microsoft.com/office/drawing/2014/main" id="{F394ACDD-6FD7-BB4D-9061-5A95A9A106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63" t="-1" r="30340" b="1419"/>
          <a:stretch/>
        </p:blipFill>
        <p:spPr bwMode="auto">
          <a:xfrm>
            <a:off x="5880337" y="1308050"/>
            <a:ext cx="6177343" cy="5388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BE6E80-1985-9F45-AF76-436B03B7FB19}"/>
              </a:ext>
            </a:extLst>
          </p:cNvPr>
          <p:cNvCxnSpPr>
            <a:cxnSpLocks/>
          </p:cNvCxnSpPr>
          <p:nvPr/>
        </p:nvCxnSpPr>
        <p:spPr>
          <a:xfrm flipV="1">
            <a:off x="4735773" y="2293749"/>
            <a:ext cx="4423725" cy="149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2295D03-4AC3-484F-9959-CA715A16E9E4}"/>
              </a:ext>
            </a:extLst>
          </p:cNvPr>
          <p:cNvCxnSpPr>
            <a:cxnSpLocks/>
          </p:cNvCxnSpPr>
          <p:nvPr/>
        </p:nvCxnSpPr>
        <p:spPr>
          <a:xfrm>
            <a:off x="4572000" y="4053385"/>
            <a:ext cx="510426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469C071-10FA-D14B-891A-CD63848D1C9B}"/>
              </a:ext>
            </a:extLst>
          </p:cNvPr>
          <p:cNvCxnSpPr>
            <a:cxnSpLocks/>
          </p:cNvCxnSpPr>
          <p:nvPr/>
        </p:nvCxnSpPr>
        <p:spPr>
          <a:xfrm flipV="1">
            <a:off x="3521122" y="5063319"/>
            <a:ext cx="3930556" cy="54591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7F8063-66E4-8F4F-B2B6-3152513F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567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Flutter</a:t>
            </a:r>
          </a:p>
          <a:p>
            <a:r>
              <a:rPr lang="en-IT" b="1" dirty="0"/>
              <a:t>Creating a new project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App dissection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Expanding our first app</a:t>
            </a:r>
          </a:p>
          <a:p>
            <a:pPr marL="0" indent="0">
              <a:buNone/>
            </a:pPr>
            <a:endParaRPr lang="en-IT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Homework &amp; Resources</a:t>
            </a:r>
          </a:p>
          <a:p>
            <a:pPr marL="0" indent="0">
              <a:buNone/>
            </a:pPr>
            <a:endParaRPr lang="en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B72D3-569F-CF43-AF68-C4F130329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3266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Hello, Flutter!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 fontScale="92500" lnSpcReduction="20000"/>
          </a:bodyPr>
          <a:lstStyle/>
          <a:p>
            <a:r>
              <a:rPr lang="en-IT" dirty="0"/>
              <a:t>In this lesson, we will run and analyse our first Flutter app</a:t>
            </a:r>
          </a:p>
          <a:p>
            <a:endParaRPr lang="en-IT" dirty="0"/>
          </a:p>
          <a:p>
            <a:r>
              <a:rPr lang="en-IT" dirty="0"/>
              <a:t>First, setup VS Code to work with Flutter </a:t>
            </a:r>
            <a:r>
              <a:rPr lang="en-IT" b="1" dirty="0"/>
              <a:t>(this should have already been done)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Start VS Code.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Invoke </a:t>
            </a:r>
            <a:r>
              <a:rPr lang="en-GB" b="1" dirty="0"/>
              <a:t>View &gt; Command Palette…</a:t>
            </a:r>
            <a:r>
              <a:rPr lang="en-GB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Type “install”, and select </a:t>
            </a:r>
            <a:r>
              <a:rPr lang="en-GB" b="1" dirty="0"/>
              <a:t>Extensions: Install Extensions</a:t>
            </a:r>
            <a:r>
              <a:rPr lang="en-GB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Type “flutter” in the extensions search field, select </a:t>
            </a:r>
            <a:r>
              <a:rPr lang="en-GB" b="1" dirty="0"/>
              <a:t>Flutter</a:t>
            </a:r>
            <a:r>
              <a:rPr lang="en-GB" dirty="0"/>
              <a:t> in the list, and click </a:t>
            </a:r>
            <a:r>
              <a:rPr lang="en-GB" b="1" dirty="0"/>
              <a:t>Install</a:t>
            </a:r>
            <a:r>
              <a:rPr lang="en-GB" dirty="0"/>
              <a:t>. This also installs the required Dart plugin.</a:t>
            </a:r>
          </a:p>
          <a:p>
            <a:endParaRPr lang="en-GB" dirty="0"/>
          </a:p>
          <a:p>
            <a:r>
              <a:rPr lang="en-GB" dirty="0"/>
              <a:t>Then, create the app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Invoke </a:t>
            </a:r>
            <a:r>
              <a:rPr lang="en-GB" b="1" dirty="0"/>
              <a:t>View &gt; Command Palette</a:t>
            </a:r>
            <a:r>
              <a:rPr lang="en-GB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Type “flutter”, and select the </a:t>
            </a:r>
            <a:r>
              <a:rPr lang="en-GB" b="1" dirty="0"/>
              <a:t>Flutter: New Project</a:t>
            </a:r>
            <a:r>
              <a:rPr lang="en-GB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Select </a:t>
            </a:r>
            <a:r>
              <a:rPr lang="en-GB" b="1" dirty="0"/>
              <a:t>Application</a:t>
            </a: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Select the parent directory that will contain the app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Enter a project name, such as ”</a:t>
            </a:r>
            <a:r>
              <a:rPr lang="en-GB" dirty="0" err="1"/>
              <a:t>my_first_app</a:t>
            </a:r>
            <a:r>
              <a:rPr lang="en-GB" dirty="0"/>
              <a:t>”, and press </a:t>
            </a:r>
            <a:r>
              <a:rPr lang="en-GB" b="1" dirty="0"/>
              <a:t>Enter</a:t>
            </a:r>
            <a:r>
              <a:rPr lang="en-GB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Wait for project creation to complete and the </a:t>
            </a:r>
            <a:r>
              <a:rPr lang="en-GB" dirty="0" err="1"/>
              <a:t>main.dart</a:t>
            </a:r>
            <a:r>
              <a:rPr lang="en-GB" dirty="0"/>
              <a:t> file to appear.</a:t>
            </a:r>
            <a:br>
              <a:rPr lang="en-GB" dirty="0"/>
            </a:b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47FBE-60CA-6E44-BDBB-26F8D8BAA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9868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Hello, Flutter!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7910611" cy="5334907"/>
          </a:xfrm>
        </p:spPr>
        <p:txBody>
          <a:bodyPr>
            <a:normAutofit/>
          </a:bodyPr>
          <a:lstStyle/>
          <a:p>
            <a:r>
              <a:rPr lang="en-US" dirty="0"/>
              <a:t>Replace all the code of </a:t>
            </a:r>
            <a:r>
              <a:rPr lang="en-US" dirty="0" err="1"/>
              <a:t>main.dart</a:t>
            </a:r>
            <a:r>
              <a:rPr lang="en-US" dirty="0"/>
              <a:t> with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20AF9C-1ED0-5540-A353-2C08AACCEDBF}"/>
              </a:ext>
            </a:extLst>
          </p:cNvPr>
          <p:cNvSpPr/>
          <p:nvPr/>
        </p:nvSpPr>
        <p:spPr>
          <a:xfrm>
            <a:off x="696655" y="1747595"/>
            <a:ext cx="916219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urier" pitchFamily="2" charset="0"/>
              </a:rPr>
              <a:t>import '</a:t>
            </a:r>
            <a:r>
              <a:rPr lang="en-GB" dirty="0" err="1">
                <a:latin typeface="Courier" pitchFamily="2" charset="0"/>
              </a:rPr>
              <a:t>package:flutter</a:t>
            </a:r>
            <a:r>
              <a:rPr lang="en-GB" dirty="0">
                <a:latin typeface="Courier" pitchFamily="2" charset="0"/>
              </a:rPr>
              <a:t>/</a:t>
            </a:r>
            <a:r>
              <a:rPr lang="en-GB" dirty="0" err="1">
                <a:latin typeface="Courier" pitchFamily="2" charset="0"/>
              </a:rPr>
              <a:t>material.dart</a:t>
            </a:r>
            <a:r>
              <a:rPr lang="en-GB" dirty="0">
                <a:latin typeface="Courier" pitchFamily="2" charset="0"/>
              </a:rPr>
              <a:t>';</a:t>
            </a:r>
            <a:br>
              <a:rPr lang="en-GB" dirty="0">
                <a:latin typeface="Courier" pitchFamily="2" charset="0"/>
              </a:rPr>
            </a:br>
            <a:r>
              <a:rPr lang="en-GB" dirty="0">
                <a:latin typeface="Courier" pitchFamily="2" charset="0"/>
              </a:rPr>
              <a:t>void main() {</a:t>
            </a:r>
          </a:p>
          <a:p>
            <a:r>
              <a:rPr lang="en-GB" dirty="0">
                <a:latin typeface="Courier" pitchFamily="2" charset="0"/>
              </a:rPr>
              <a:t>  </a:t>
            </a:r>
            <a:r>
              <a:rPr lang="en-GB" dirty="0" err="1">
                <a:latin typeface="Courier" pitchFamily="2" charset="0"/>
              </a:rPr>
              <a:t>runApp</a:t>
            </a:r>
            <a:r>
              <a:rPr lang="en-GB" dirty="0">
                <a:latin typeface="Courier" pitchFamily="2" charset="0"/>
              </a:rPr>
              <a:t>(</a:t>
            </a:r>
            <a:r>
              <a:rPr lang="en-GB" dirty="0" err="1">
                <a:latin typeface="Courier" pitchFamily="2" charset="0"/>
              </a:rPr>
              <a:t>MyApp</a:t>
            </a:r>
            <a:r>
              <a:rPr lang="en-GB" dirty="0">
                <a:latin typeface="Courier" pitchFamily="2" charset="0"/>
              </a:rPr>
              <a:t>());</a:t>
            </a:r>
          </a:p>
          <a:p>
            <a:r>
              <a:rPr lang="en-GB" dirty="0">
                <a:latin typeface="Courier" pitchFamily="2" charset="0"/>
              </a:rPr>
              <a:t>}//main</a:t>
            </a:r>
            <a:br>
              <a:rPr lang="en-GB" dirty="0">
                <a:latin typeface="Courier" pitchFamily="2" charset="0"/>
              </a:rPr>
            </a:br>
            <a:r>
              <a:rPr lang="en-GB" dirty="0">
                <a:latin typeface="Courier" pitchFamily="2" charset="0"/>
              </a:rPr>
              <a:t>class </a:t>
            </a:r>
            <a:r>
              <a:rPr lang="en-GB" dirty="0" err="1">
                <a:latin typeface="Courier" pitchFamily="2" charset="0"/>
              </a:rPr>
              <a:t>MyApp</a:t>
            </a:r>
            <a:r>
              <a:rPr lang="en-GB" dirty="0">
                <a:latin typeface="Courier" pitchFamily="2" charset="0"/>
              </a:rPr>
              <a:t> extends </a:t>
            </a:r>
            <a:r>
              <a:rPr lang="en-GB" dirty="0" err="1">
                <a:latin typeface="Courier" pitchFamily="2" charset="0"/>
              </a:rPr>
              <a:t>StatelessWidget</a:t>
            </a:r>
            <a:r>
              <a:rPr lang="en-GB" dirty="0">
                <a:latin typeface="Courier" pitchFamily="2" charset="0"/>
              </a:rPr>
              <a:t> {</a:t>
            </a:r>
          </a:p>
          <a:p>
            <a:r>
              <a:rPr lang="en-GB" dirty="0">
                <a:latin typeface="Courier" pitchFamily="2" charset="0"/>
              </a:rPr>
              <a:t>  </a:t>
            </a:r>
            <a:r>
              <a:rPr lang="en-GB" dirty="0" err="1">
                <a:latin typeface="Courier" pitchFamily="2" charset="0"/>
              </a:rPr>
              <a:t>MyApp</a:t>
            </a:r>
            <a:r>
              <a:rPr lang="en-GB" dirty="0">
                <a:latin typeface="Courier" pitchFamily="2" charset="0"/>
              </a:rPr>
              <a:t>({Key? key}) : super(key: key);</a:t>
            </a:r>
          </a:p>
          <a:p>
            <a:br>
              <a:rPr lang="en-GB" dirty="0">
                <a:latin typeface="Courier" pitchFamily="2" charset="0"/>
              </a:rPr>
            </a:br>
            <a:r>
              <a:rPr lang="en-GB" dirty="0">
                <a:latin typeface="Courier" pitchFamily="2" charset="0"/>
              </a:rPr>
              <a:t>  @override</a:t>
            </a:r>
          </a:p>
          <a:p>
            <a:r>
              <a:rPr lang="en-GB" dirty="0">
                <a:latin typeface="Courier" pitchFamily="2" charset="0"/>
              </a:rPr>
              <a:t>  Widget build(</a:t>
            </a:r>
            <a:r>
              <a:rPr lang="en-GB" dirty="0" err="1">
                <a:latin typeface="Courier" pitchFamily="2" charset="0"/>
              </a:rPr>
              <a:t>BuildContext</a:t>
            </a:r>
            <a:r>
              <a:rPr lang="en-GB" dirty="0">
                <a:latin typeface="Courier" pitchFamily="2" charset="0"/>
              </a:rPr>
              <a:t> context) {</a:t>
            </a:r>
          </a:p>
          <a:p>
            <a:r>
              <a:rPr lang="en-GB" dirty="0">
                <a:latin typeface="Courier" pitchFamily="2" charset="0"/>
              </a:rPr>
              <a:t>    return </a:t>
            </a:r>
            <a:r>
              <a:rPr lang="en-GB" dirty="0" err="1">
                <a:latin typeface="Courier" pitchFamily="2" charset="0"/>
              </a:rPr>
              <a:t>MaterialApp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r>
              <a:rPr lang="en-GB" dirty="0">
                <a:latin typeface="Courier" pitchFamily="2" charset="0"/>
              </a:rPr>
              <a:t>      title: 'Welcome to Flutter’,</a:t>
            </a:r>
          </a:p>
          <a:p>
            <a:r>
              <a:rPr lang="en-GB" dirty="0">
                <a:latin typeface="Courier" pitchFamily="2" charset="0"/>
              </a:rPr>
              <a:t>      home: Scaffold(</a:t>
            </a:r>
          </a:p>
          <a:p>
            <a:r>
              <a:rPr lang="en-GB" dirty="0">
                <a:latin typeface="Courier" pitchFamily="2" charset="0"/>
              </a:rPr>
              <a:t>      </a:t>
            </a:r>
            <a:r>
              <a:rPr lang="en-GB" dirty="0" err="1">
                <a:latin typeface="Courier" pitchFamily="2" charset="0"/>
              </a:rPr>
              <a:t>appBar</a:t>
            </a:r>
            <a:r>
              <a:rPr lang="en-GB" dirty="0">
                <a:latin typeface="Courier" pitchFamily="2" charset="0"/>
              </a:rPr>
              <a:t>: </a:t>
            </a:r>
            <a:r>
              <a:rPr lang="en-GB" dirty="0" err="1">
                <a:latin typeface="Courier" pitchFamily="2" charset="0"/>
              </a:rPr>
              <a:t>AppBar</a:t>
            </a:r>
            <a:r>
              <a:rPr lang="en-GB" dirty="0">
                <a:latin typeface="Courier" pitchFamily="2" charset="0"/>
              </a:rPr>
              <a:t>(title: Text('Welcome to Flutter'),),</a:t>
            </a:r>
          </a:p>
          <a:p>
            <a:r>
              <a:rPr lang="en-GB" dirty="0">
                <a:latin typeface="Courier" pitchFamily="2" charset="0"/>
              </a:rPr>
              <a:t>      body: </a:t>
            </a:r>
            <a:r>
              <a:rPr lang="en-GB" dirty="0" err="1">
                <a:latin typeface="Courier" pitchFamily="2" charset="0"/>
              </a:rPr>
              <a:t>Center</a:t>
            </a:r>
            <a:r>
              <a:rPr lang="en-GB" dirty="0">
                <a:latin typeface="Courier" pitchFamily="2" charset="0"/>
              </a:rPr>
              <a:t>(child: Text('Hello World'),),),</a:t>
            </a:r>
          </a:p>
          <a:p>
            <a:r>
              <a:rPr lang="en-GB" dirty="0">
                <a:latin typeface="Courier" pitchFamily="2" charset="0"/>
              </a:rPr>
              <a:t>    );</a:t>
            </a:r>
          </a:p>
          <a:p>
            <a:r>
              <a:rPr lang="en-GB" dirty="0">
                <a:latin typeface="Courier" pitchFamily="2" charset="0"/>
              </a:rPr>
              <a:t>  }//build</a:t>
            </a:r>
          </a:p>
          <a:p>
            <a:r>
              <a:rPr lang="en-GB" dirty="0">
                <a:latin typeface="Courier" pitchFamily="2" charset="0"/>
              </a:rPr>
              <a:t>}//</a:t>
            </a:r>
            <a:r>
              <a:rPr lang="en-GB" dirty="0" err="1">
                <a:latin typeface="Courier" pitchFamily="2" charset="0"/>
              </a:rPr>
              <a:t>MyApp</a:t>
            </a:r>
            <a:endParaRPr lang="en-GB" dirty="0">
              <a:latin typeface="Courier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C5FE9-2B88-0540-A361-050D02A5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5743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Hello, Flutter!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7378348" cy="5334907"/>
          </a:xfrm>
        </p:spPr>
        <p:txBody>
          <a:bodyPr>
            <a:normAutofit/>
          </a:bodyPr>
          <a:lstStyle/>
          <a:p>
            <a:r>
              <a:rPr lang="en-US" dirty="0"/>
              <a:t>Finally, run the app!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Locate the VS Code status bar (the bar at the bottom of the window):</a:t>
            </a:r>
          </a:p>
          <a:p>
            <a:pPr marL="914400" lvl="1" indent="-457200">
              <a:buFont typeface="+mj-lt"/>
              <a:buAutoNum type="arabicPeriod"/>
            </a:pPr>
            <a:endParaRPr lang="en-GB" dirty="0"/>
          </a:p>
          <a:p>
            <a:pPr marL="914400" lvl="1" indent="-457200">
              <a:buFont typeface="+mj-lt"/>
              <a:buAutoNum type="arabicPeriod"/>
            </a:pPr>
            <a:endParaRPr lang="en-GB" dirty="0"/>
          </a:p>
          <a:p>
            <a:pPr marL="914400" lvl="1" indent="-457200">
              <a:buFont typeface="+mj-lt"/>
              <a:buAutoNum type="arabicPeriod"/>
            </a:pPr>
            <a:endParaRPr lang="en-GB" dirty="0"/>
          </a:p>
          <a:p>
            <a:pPr marL="914400" lvl="1" indent="-457200">
              <a:buFont typeface="+mj-lt"/>
              <a:buAutoNum type="arabicPeriod"/>
            </a:pPr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Select a mobile device from the </a:t>
            </a:r>
            <a:r>
              <a:rPr lang="en-GB" b="1" dirty="0"/>
              <a:t>Device Selector</a:t>
            </a:r>
            <a:r>
              <a:rPr lang="en-GB" dirty="0"/>
              <a:t> area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Invoke </a:t>
            </a:r>
            <a:r>
              <a:rPr lang="en-GB" b="1" dirty="0"/>
              <a:t>Run &gt; Start Debugging</a:t>
            </a:r>
            <a:r>
              <a:rPr lang="en-GB" dirty="0"/>
              <a:t> or press </a:t>
            </a:r>
            <a:r>
              <a:rPr lang="en-GB" b="1" dirty="0"/>
              <a:t>F5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Wait for the app to launch — progress is printed in the </a:t>
            </a:r>
            <a:r>
              <a:rPr lang="en-GB" b="1" dirty="0"/>
              <a:t>Debug Console</a:t>
            </a:r>
            <a:r>
              <a:rPr lang="en-GB" dirty="0"/>
              <a:t> view.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After the app build completes, you’ll see the starter app on your device.</a:t>
            </a:r>
          </a:p>
          <a:p>
            <a:pPr marL="457200" lvl="1" indent="0">
              <a:buNone/>
            </a:pPr>
            <a:br>
              <a:rPr lang="en-GB" dirty="0"/>
            </a:br>
            <a:endParaRPr lang="en-IT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5579A1C-3F1C-0E4F-B288-1615DA9C1D6E}"/>
              </a:ext>
            </a:extLst>
          </p:cNvPr>
          <p:cNvCxnSpPr/>
          <p:nvPr/>
        </p:nvCxnSpPr>
        <p:spPr>
          <a:xfrm flipV="1">
            <a:off x="5145206" y="3263521"/>
            <a:ext cx="0" cy="3309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81B6B1E-E6AB-0F48-94DF-AE9A54B0F679}"/>
              </a:ext>
            </a:extLst>
          </p:cNvPr>
          <p:cNvCxnSpPr>
            <a:cxnSpLocks/>
          </p:cNvCxnSpPr>
          <p:nvPr/>
        </p:nvCxnSpPr>
        <p:spPr>
          <a:xfrm>
            <a:off x="7794530" y="5227093"/>
            <a:ext cx="789912" cy="150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A60FD-33C7-3044-8C74-0A108A5E5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2E8A59-D888-7C03-8801-4B009E6009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870" y="2676873"/>
            <a:ext cx="5757851" cy="495299"/>
          </a:xfrm>
          <a:prstGeom prst="rect">
            <a:avLst/>
          </a:prstGeom>
        </p:spPr>
      </p:pic>
      <p:pic>
        <p:nvPicPr>
          <p:cNvPr id="13" name="Picture 12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88221EAA-A8A9-4007-5B50-ECC1D0C829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5419" y="1361166"/>
            <a:ext cx="2461384" cy="533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737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A great feature: Hot reload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8908868" cy="5334907"/>
          </a:xfrm>
        </p:spPr>
        <p:txBody>
          <a:bodyPr>
            <a:normAutofit/>
          </a:bodyPr>
          <a:lstStyle/>
          <a:p>
            <a:r>
              <a:rPr lang="en-GB" dirty="0"/>
              <a:t>Dart offers a fast development cycle with </a:t>
            </a:r>
            <a:r>
              <a:rPr lang="en-GB" i="1" dirty="0"/>
              <a:t>Stateful Hot Reload</a:t>
            </a:r>
            <a:r>
              <a:rPr lang="en-GB" dirty="0"/>
              <a:t>, the ability to reload the code of a live running app without restarting or losing app state. Make a change to app source, tell your IDE or command-line tool that you want to hot reload, and see the change in your simulator, emulator, or device.</a:t>
            </a:r>
          </a:p>
          <a:p>
            <a:endParaRPr lang="en-GB" dirty="0"/>
          </a:p>
          <a:p>
            <a:r>
              <a:rPr lang="en-GB" dirty="0"/>
              <a:t>Try that!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Open lib/</a:t>
            </a:r>
            <a:r>
              <a:rPr lang="en-GB" dirty="0" err="1"/>
              <a:t>main.dart</a:t>
            </a:r>
            <a:r>
              <a:rPr lang="en-GB" dirty="0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Change the string</a:t>
            </a:r>
          </a:p>
          <a:p>
            <a:pPr marL="914400" lvl="2" indent="0">
              <a:buNone/>
            </a:pPr>
            <a:r>
              <a:rPr lang="en-GB" dirty="0">
                <a:latin typeface="Courier" pitchFamily="2" charset="0"/>
              </a:rPr>
              <a:t>‘Hello World’</a:t>
            </a:r>
          </a:p>
          <a:p>
            <a:pPr marL="914400" lvl="2" indent="0">
              <a:buNone/>
            </a:pPr>
            <a:r>
              <a:rPr lang="en-GB" dirty="0"/>
              <a:t>with</a:t>
            </a:r>
          </a:p>
          <a:p>
            <a:pPr marL="914400" lvl="2" indent="0">
              <a:buNone/>
            </a:pPr>
            <a:r>
              <a:rPr lang="en-GB" dirty="0">
                <a:latin typeface="Courier" pitchFamily="2" charset="0"/>
              </a:rPr>
              <a:t>‘Hello, Flutter!’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Save your changes: invoke </a:t>
            </a:r>
            <a:r>
              <a:rPr lang="en-GB" b="1" dirty="0"/>
              <a:t>Save All</a:t>
            </a:r>
            <a:r>
              <a:rPr lang="en-GB" dirty="0"/>
              <a:t>, or click </a:t>
            </a:r>
            <a:r>
              <a:rPr lang="en-GB" b="1" dirty="0"/>
              <a:t>Hot Reload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/>
              <a:t>You’ll see the updated string in the running app almost immediately.</a:t>
            </a:r>
            <a:br>
              <a:rPr lang="en-GB" dirty="0">
                <a:latin typeface="Courier" pitchFamily="2" charset="0"/>
              </a:rPr>
            </a:br>
            <a:endParaRPr lang="en-IT" dirty="0">
              <a:latin typeface="Courier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73EFD-6E40-2740-B6C0-BB8EAC5FD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  <p:pic>
        <p:nvPicPr>
          <p:cNvPr id="6" name="Picture 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DE24F618-7F8B-AA02-9430-6A767F16D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808" y="1335766"/>
            <a:ext cx="2461384" cy="533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574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Flutter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Creating a new project</a:t>
            </a:r>
          </a:p>
          <a:p>
            <a:r>
              <a:rPr lang="en-IT" b="1" dirty="0"/>
              <a:t>App dissection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Expanding our first app</a:t>
            </a:r>
          </a:p>
          <a:p>
            <a:pPr marL="0" indent="0">
              <a:buNone/>
            </a:pPr>
            <a:endParaRPr lang="en-IT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Homework &amp; Resources</a:t>
            </a:r>
          </a:p>
          <a:p>
            <a:pPr marL="0" indent="0">
              <a:buNone/>
            </a:pPr>
            <a:endParaRPr lang="en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04235-725C-B443-9278-19A01252D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376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Let’s dissect the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Let’s understand what we have done.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41296-A6A1-744D-A572-59F4B3ED7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7611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Let’s dissect the app – Project 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First, what’s inside the project folder?</a:t>
            </a:r>
          </a:p>
          <a:p>
            <a:endParaRPr lang="en-US" dirty="0"/>
          </a:p>
          <a:p>
            <a:r>
              <a:rPr lang="en-US" dirty="0"/>
              <a:t>Important things</a:t>
            </a:r>
          </a:p>
          <a:p>
            <a:pPr lvl="1"/>
            <a:r>
              <a:rPr lang="en-US" b="1" dirty="0"/>
              <a:t>lib folder</a:t>
            </a:r>
            <a:r>
              <a:rPr lang="en-US" dirty="0"/>
              <a:t>: it contains the app source code</a:t>
            </a:r>
          </a:p>
          <a:p>
            <a:pPr lvl="1"/>
            <a:r>
              <a:rPr lang="en-US" b="1" dirty="0" err="1"/>
              <a:t>main.dart</a:t>
            </a:r>
            <a:r>
              <a:rPr lang="en-US" b="1" dirty="0"/>
              <a:t> file</a:t>
            </a:r>
            <a:r>
              <a:rPr lang="en-US" dirty="0"/>
              <a:t>: the entry point for the compiler</a:t>
            </a:r>
          </a:p>
          <a:p>
            <a:pPr lvl="1"/>
            <a:r>
              <a:rPr lang="en-IT" b="1" dirty="0"/>
              <a:t>pubspec.yaml file</a:t>
            </a:r>
            <a:r>
              <a:rPr lang="en-IT" dirty="0"/>
              <a:t>: it specifies high level app features as well as listing which third party libraries our app needs and uses</a:t>
            </a:r>
          </a:p>
          <a:p>
            <a:pPr lvl="1"/>
            <a:r>
              <a:rPr lang="en-IT" b="1" dirty="0"/>
              <a:t>README.md file</a:t>
            </a:r>
            <a:r>
              <a:rPr lang="en-IT" dirty="0"/>
              <a:t>: a markdown file describing the app</a:t>
            </a:r>
          </a:p>
          <a:p>
            <a:pPr lvl="1"/>
            <a:endParaRPr lang="en-IT" dirty="0"/>
          </a:p>
          <a:p>
            <a:r>
              <a:rPr lang="en-IT" dirty="0"/>
              <a:t>(Less) Important things</a:t>
            </a:r>
          </a:p>
          <a:p>
            <a:pPr lvl="1"/>
            <a:r>
              <a:rPr lang="en-IT" b="1" dirty="0"/>
              <a:t>android/ios/linux/macos/windows/web folders</a:t>
            </a:r>
            <a:r>
              <a:rPr lang="en-IT" dirty="0"/>
              <a:t>: where native specific code can be defined if needed</a:t>
            </a:r>
          </a:p>
          <a:p>
            <a:pPr lvl="1"/>
            <a:r>
              <a:rPr lang="en-IT" b="1" dirty="0"/>
              <a:t>test folder</a:t>
            </a:r>
            <a:r>
              <a:rPr lang="en-IT" dirty="0"/>
              <a:t>: where to put code for running automatic testers</a:t>
            </a:r>
          </a:p>
          <a:p>
            <a:pPr lvl="1"/>
            <a:endParaRPr lang="en-IT" dirty="0"/>
          </a:p>
          <a:p>
            <a:r>
              <a:rPr lang="en-IT" dirty="0"/>
              <a:t>(Even less) Important things</a:t>
            </a:r>
          </a:p>
          <a:p>
            <a:pPr lvl="1"/>
            <a:r>
              <a:rPr lang="en-GB" dirty="0"/>
              <a:t>A</a:t>
            </a:r>
            <a:r>
              <a:rPr lang="en-IT" dirty="0"/>
              <a:t>ll other folders and files are very use case specific and probably you will never use those in this course. If you are curious…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8C660-DCF4-A140-972E-EC6CD590C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 dirty="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DDC24C99-05DE-C648-5781-10CC3C9FD6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963" y="1276349"/>
            <a:ext cx="3450329" cy="491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584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Let’s dissect the app – main.dart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Let’s understand the </a:t>
            </a:r>
            <a:r>
              <a:rPr lang="en-US" dirty="0" err="1"/>
              <a:t>main.dart</a:t>
            </a:r>
            <a:r>
              <a:rPr lang="en-US" dirty="0"/>
              <a:t> file. </a:t>
            </a:r>
          </a:p>
          <a:p>
            <a:pPr lvl="1"/>
            <a:endParaRPr lang="en-IT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C5CF97-E765-B048-A97B-1B7DD054A404}"/>
              </a:ext>
            </a:extLst>
          </p:cNvPr>
          <p:cNvSpPr/>
          <p:nvPr/>
        </p:nvSpPr>
        <p:spPr>
          <a:xfrm>
            <a:off x="237103" y="2072181"/>
            <a:ext cx="9162197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import '</a:t>
            </a:r>
            <a:r>
              <a:rPr lang="en-GB" sz="1600" dirty="0" err="1">
                <a:latin typeface="Courier" pitchFamily="2" charset="0"/>
              </a:rPr>
              <a:t>package:flutter</a:t>
            </a:r>
            <a:r>
              <a:rPr lang="en-GB" sz="1600" dirty="0">
                <a:latin typeface="Courier" pitchFamily="2" charset="0"/>
              </a:rPr>
              <a:t>/</a:t>
            </a:r>
            <a:r>
              <a:rPr lang="en-GB" sz="1600" dirty="0" err="1">
                <a:latin typeface="Courier" pitchFamily="2" charset="0"/>
              </a:rPr>
              <a:t>material.dart</a:t>
            </a:r>
            <a:r>
              <a:rPr lang="en-GB" sz="1600" dirty="0">
                <a:latin typeface="Courier" pitchFamily="2" charset="0"/>
              </a:rPr>
              <a:t>';</a:t>
            </a:r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void main() {</a:t>
            </a:r>
          </a:p>
          <a:p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runApp</a:t>
            </a:r>
            <a:r>
              <a:rPr lang="en-GB" sz="1600" dirty="0">
                <a:latin typeface="Courier" pitchFamily="2" charset="0"/>
              </a:rPr>
              <a:t>(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());</a:t>
            </a:r>
          </a:p>
          <a:p>
            <a:r>
              <a:rPr lang="en-GB" sz="1600" dirty="0">
                <a:latin typeface="Courier" pitchFamily="2" charset="0"/>
              </a:rPr>
              <a:t>}//main</a:t>
            </a:r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class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 extends </a:t>
            </a:r>
            <a:r>
              <a:rPr lang="en-GB" sz="1600" dirty="0" err="1">
                <a:latin typeface="Courier" pitchFamily="2" charset="0"/>
              </a:rPr>
              <a:t>StatelessWidget</a:t>
            </a:r>
            <a:r>
              <a:rPr lang="en-GB" sz="1600" dirty="0">
                <a:latin typeface="Courier" pitchFamily="2" charset="0"/>
              </a:rPr>
              <a:t> {</a:t>
            </a:r>
          </a:p>
          <a:p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({Key? key}) : super(key: key);</a:t>
            </a:r>
          </a:p>
          <a:p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  @override</a:t>
            </a:r>
          </a:p>
          <a:p>
            <a:r>
              <a:rPr lang="en-GB" sz="1600" dirty="0">
                <a:latin typeface="Courier" pitchFamily="2" charset="0"/>
              </a:rPr>
              <a:t>  Widget build(</a:t>
            </a:r>
            <a:r>
              <a:rPr lang="en-GB" sz="1600" dirty="0" err="1">
                <a:latin typeface="Courier" pitchFamily="2" charset="0"/>
              </a:rPr>
              <a:t>BuildContext</a:t>
            </a:r>
            <a:r>
              <a:rPr lang="en-GB" sz="1600" dirty="0">
                <a:latin typeface="Courier" pitchFamily="2" charset="0"/>
              </a:rPr>
              <a:t> context) {</a:t>
            </a:r>
          </a:p>
          <a:p>
            <a:r>
              <a:rPr lang="en-GB" sz="1600" dirty="0">
                <a:latin typeface="Courier" pitchFamily="2" charset="0"/>
              </a:rPr>
              <a:t>    return </a:t>
            </a:r>
            <a:r>
              <a:rPr lang="en-GB" sz="1600" dirty="0" err="1">
                <a:latin typeface="Courier" pitchFamily="2" charset="0"/>
              </a:rPr>
              <a:t>MaterialApp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r>
              <a:rPr lang="en-GB" sz="1600" dirty="0">
                <a:latin typeface="Courier" pitchFamily="2" charset="0"/>
              </a:rPr>
              <a:t>      title: 'Welcome to Flutter’,</a:t>
            </a:r>
          </a:p>
          <a:p>
            <a:r>
              <a:rPr lang="en-GB" sz="1600" dirty="0">
                <a:latin typeface="Courier" pitchFamily="2" charset="0"/>
              </a:rPr>
              <a:t>      home: Scaffold(</a:t>
            </a:r>
          </a:p>
          <a:p>
            <a:r>
              <a:rPr lang="en-GB" sz="1600" dirty="0">
                <a:latin typeface="Courier" pitchFamily="2" charset="0"/>
              </a:rPr>
              <a:t>      </a:t>
            </a:r>
            <a:r>
              <a:rPr lang="en-GB" sz="1600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: </a:t>
            </a:r>
            <a:r>
              <a:rPr lang="en-GB" sz="1600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(title: Text('Welcome to Flutter'),),</a:t>
            </a:r>
          </a:p>
          <a:p>
            <a:r>
              <a:rPr lang="en-GB" sz="1600" dirty="0">
                <a:latin typeface="Courier" pitchFamily="2" charset="0"/>
              </a:rPr>
              <a:t>      body: </a:t>
            </a:r>
            <a:r>
              <a:rPr lang="en-GB" sz="1600" dirty="0" err="1">
                <a:latin typeface="Courier" pitchFamily="2" charset="0"/>
              </a:rPr>
              <a:t>Center</a:t>
            </a:r>
            <a:r>
              <a:rPr lang="en-GB" sz="1600" dirty="0">
                <a:latin typeface="Courier" pitchFamily="2" charset="0"/>
              </a:rPr>
              <a:t>(child: Text('Hello World'),),),</a:t>
            </a:r>
          </a:p>
          <a:p>
            <a:r>
              <a:rPr lang="en-GB" sz="1600" dirty="0">
                <a:latin typeface="Courier" pitchFamily="2" charset="0"/>
              </a:rPr>
              <a:t>    );</a:t>
            </a:r>
          </a:p>
          <a:p>
            <a:r>
              <a:rPr lang="en-GB" sz="1600" dirty="0">
                <a:latin typeface="Courier" pitchFamily="2" charset="0"/>
              </a:rPr>
              <a:t>  }//build</a:t>
            </a:r>
          </a:p>
          <a:p>
            <a:r>
              <a:rPr lang="en-GB" sz="1600" dirty="0">
                <a:latin typeface="Courier" pitchFamily="2" charset="0"/>
              </a:rPr>
              <a:t>}//</a:t>
            </a:r>
            <a:r>
              <a:rPr lang="en-GB" sz="1600" dirty="0" err="1">
                <a:latin typeface="Courier" pitchFamily="2" charset="0"/>
              </a:rPr>
              <a:t>MyApp</a:t>
            </a:r>
            <a:endParaRPr lang="en-GB" sz="1600" dirty="0">
              <a:latin typeface="Courier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5B69A03-9D75-8245-8131-3C03042A7444}"/>
              </a:ext>
            </a:extLst>
          </p:cNvPr>
          <p:cNvCxnSpPr>
            <a:cxnSpLocks/>
          </p:cNvCxnSpPr>
          <p:nvPr/>
        </p:nvCxnSpPr>
        <p:spPr>
          <a:xfrm flipV="1">
            <a:off x="3285811" y="2311121"/>
            <a:ext cx="5372575" cy="456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6D188D5-B536-7741-A9DB-D6E05DED7E04}"/>
              </a:ext>
            </a:extLst>
          </p:cNvPr>
          <p:cNvSpPr/>
          <p:nvPr/>
        </p:nvSpPr>
        <p:spPr>
          <a:xfrm>
            <a:off x="8824892" y="2121135"/>
            <a:ext cx="31300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To run an app using the Flutter framework we can use the </a:t>
            </a:r>
            <a:r>
              <a:rPr lang="en-GB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runApp</a:t>
            </a:r>
            <a:r>
              <a:rPr lang="en-GB" dirty="0">
                <a:latin typeface="Aptos" panose="020B0004020202020204" pitchFamily="34" charset="0"/>
              </a:rPr>
              <a:t> method which takes a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Widget</a:t>
            </a:r>
            <a:r>
              <a:rPr lang="en-GB" dirty="0">
                <a:latin typeface="Aptos" panose="020B0004020202020204" pitchFamily="34" charset="0"/>
              </a:rPr>
              <a:t> object as an input.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07E922-C034-C64E-8477-DD875DBC497E}"/>
              </a:ext>
            </a:extLst>
          </p:cNvPr>
          <p:cNvSpPr/>
          <p:nvPr/>
        </p:nvSpPr>
        <p:spPr>
          <a:xfrm>
            <a:off x="9069757" y="4103506"/>
            <a:ext cx="264027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Aptos" panose="020B0004020202020204" pitchFamily="34" charset="0"/>
              </a:rPr>
              <a:t>What’s a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Widget</a:t>
            </a:r>
            <a:r>
              <a:rPr lang="en-GB" b="1" dirty="0">
                <a:latin typeface="Aptos" panose="020B0004020202020204" pitchFamily="34" charset="0"/>
              </a:rPr>
              <a:t>?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C2BEA-78DF-E04C-97E7-52B63C111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5742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Everything is a Widget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9425215" cy="5496833"/>
          </a:xfrm>
        </p:spPr>
        <p:txBody>
          <a:bodyPr>
            <a:normAutofit/>
          </a:bodyPr>
          <a:lstStyle/>
          <a:p>
            <a:r>
              <a:rPr lang="en-IT" dirty="0"/>
              <a:t>In Flutter, almost everything is (inherits from) a Widget!</a:t>
            </a:r>
          </a:p>
          <a:p>
            <a:endParaRPr lang="en-IT" dirty="0"/>
          </a:p>
          <a:p>
            <a:r>
              <a:rPr lang="en-IT" dirty="0"/>
              <a:t>A Widget is </a:t>
            </a:r>
            <a:r>
              <a:rPr lang="en-GB" dirty="0"/>
              <a:t>a building block for your user interface (UI). Using widgets is like combining Legos. </a:t>
            </a:r>
          </a:p>
          <a:p>
            <a:endParaRPr lang="en-IT" dirty="0"/>
          </a:p>
          <a:p>
            <a:r>
              <a:rPr lang="en-IT" dirty="0"/>
              <a:t>More technically, a Widget is a sort of blueprint for displaying your app state.</a:t>
            </a:r>
          </a:p>
          <a:p>
            <a:endParaRPr lang="en-IT" dirty="0"/>
          </a:p>
          <a:p>
            <a:r>
              <a:rPr lang="en-IT" dirty="0"/>
              <a:t>Widgets can be thought as a function of UI. Given a state, the build() method (that every custom Widget must override and implement) constructs the widget UI:</a:t>
            </a:r>
          </a:p>
          <a:p>
            <a:endParaRPr lang="en-IT" dirty="0"/>
          </a:p>
        </p:txBody>
      </p:sp>
      <p:pic>
        <p:nvPicPr>
          <p:cNvPr id="1025" name="Picture 1" descr="page126image39824768">
            <a:extLst>
              <a:ext uri="{FF2B5EF4-FFF2-40B4-BE49-F238E27FC236}">
                <a16:creationId xmlns:a16="http://schemas.microsoft.com/office/drawing/2014/main" id="{DFA56163-39FD-AE43-989D-31D366B35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3386" y="1361167"/>
            <a:ext cx="1943100" cy="255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age126image39822896">
            <a:extLst>
              <a:ext uri="{FF2B5EF4-FFF2-40B4-BE49-F238E27FC236}">
                <a16:creationId xmlns:a16="http://schemas.microsoft.com/office/drawing/2014/main" id="{2C0A66CF-34D4-8F4F-80B4-91F826B6F7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4896" y="5800787"/>
            <a:ext cx="3776870" cy="98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435CD-DAF8-CF43-B7BF-69FF9F82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1871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Let’s dissect the app – main.dart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In </a:t>
            </a:r>
            <a:r>
              <a:rPr lang="en-US" b="1" dirty="0"/>
              <a:t>bold</a:t>
            </a:r>
            <a:r>
              <a:rPr lang="en-US" dirty="0"/>
              <a:t> the Widgets of our app</a:t>
            </a:r>
          </a:p>
          <a:p>
            <a:pPr lvl="1"/>
            <a:endParaRPr lang="en-IT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C5CF97-E765-B048-A97B-1B7DD054A404}"/>
              </a:ext>
            </a:extLst>
          </p:cNvPr>
          <p:cNvSpPr/>
          <p:nvPr/>
        </p:nvSpPr>
        <p:spPr>
          <a:xfrm>
            <a:off x="237103" y="2072181"/>
            <a:ext cx="9162197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import '</a:t>
            </a:r>
            <a:r>
              <a:rPr lang="en-GB" sz="1600" dirty="0" err="1">
                <a:latin typeface="Courier" pitchFamily="2" charset="0"/>
              </a:rPr>
              <a:t>package:flutter</a:t>
            </a:r>
            <a:r>
              <a:rPr lang="en-GB" sz="1600" dirty="0">
                <a:latin typeface="Courier" pitchFamily="2" charset="0"/>
              </a:rPr>
              <a:t>/</a:t>
            </a:r>
            <a:r>
              <a:rPr lang="en-GB" sz="1600" dirty="0" err="1">
                <a:latin typeface="Courier" pitchFamily="2" charset="0"/>
              </a:rPr>
              <a:t>material.dart</a:t>
            </a:r>
            <a:r>
              <a:rPr lang="en-GB" sz="1600" dirty="0">
                <a:latin typeface="Courier" pitchFamily="2" charset="0"/>
              </a:rPr>
              <a:t>';</a:t>
            </a:r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void main() {</a:t>
            </a:r>
          </a:p>
          <a:p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runApp</a:t>
            </a:r>
            <a:r>
              <a:rPr lang="en-GB" sz="1600" dirty="0">
                <a:latin typeface="Courier" pitchFamily="2" charset="0"/>
              </a:rPr>
              <a:t>(</a:t>
            </a:r>
            <a:r>
              <a:rPr lang="en-GB" sz="1600" b="1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());</a:t>
            </a:r>
          </a:p>
          <a:p>
            <a:r>
              <a:rPr lang="en-GB" sz="1600" dirty="0">
                <a:latin typeface="Courier" pitchFamily="2" charset="0"/>
              </a:rPr>
              <a:t>}//main</a:t>
            </a:r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class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 extends </a:t>
            </a:r>
            <a:r>
              <a:rPr lang="en-GB" sz="1600" dirty="0" err="1">
                <a:latin typeface="Courier" pitchFamily="2" charset="0"/>
              </a:rPr>
              <a:t>StatelessWidget</a:t>
            </a:r>
            <a:r>
              <a:rPr lang="en-GB" sz="1600" dirty="0">
                <a:latin typeface="Courier" pitchFamily="2" charset="0"/>
              </a:rPr>
              <a:t> {</a:t>
            </a:r>
          </a:p>
          <a:p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({Key? key}) : super(key: key);</a:t>
            </a:r>
          </a:p>
          <a:p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  @override</a:t>
            </a:r>
          </a:p>
          <a:p>
            <a:r>
              <a:rPr lang="en-GB" sz="1600" dirty="0">
                <a:latin typeface="Courier" pitchFamily="2" charset="0"/>
              </a:rPr>
              <a:t>  Widget </a:t>
            </a:r>
            <a:r>
              <a:rPr lang="en-GB" sz="1600" b="1" dirty="0">
                <a:latin typeface="Courier" pitchFamily="2" charset="0"/>
              </a:rPr>
              <a:t>build</a:t>
            </a:r>
            <a:r>
              <a:rPr lang="en-GB" sz="1600" dirty="0">
                <a:latin typeface="Courier" pitchFamily="2" charset="0"/>
              </a:rPr>
              <a:t>(</a:t>
            </a:r>
            <a:r>
              <a:rPr lang="en-GB" sz="1600" dirty="0" err="1">
                <a:latin typeface="Courier" pitchFamily="2" charset="0"/>
              </a:rPr>
              <a:t>BuildContext</a:t>
            </a:r>
            <a:r>
              <a:rPr lang="en-GB" sz="1600" dirty="0">
                <a:latin typeface="Courier" pitchFamily="2" charset="0"/>
              </a:rPr>
              <a:t> context) {</a:t>
            </a:r>
          </a:p>
          <a:p>
            <a:r>
              <a:rPr lang="en-GB" sz="1600" dirty="0">
                <a:latin typeface="Courier" pitchFamily="2" charset="0"/>
              </a:rPr>
              <a:t>    return </a:t>
            </a:r>
            <a:r>
              <a:rPr lang="en-GB" sz="1600" b="1" dirty="0" err="1">
                <a:latin typeface="Courier" pitchFamily="2" charset="0"/>
              </a:rPr>
              <a:t>MaterialApp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r>
              <a:rPr lang="en-GB" sz="1600" dirty="0">
                <a:latin typeface="Courier" pitchFamily="2" charset="0"/>
              </a:rPr>
              <a:t>      title: 'Welcome to Flutter’,</a:t>
            </a:r>
          </a:p>
          <a:p>
            <a:r>
              <a:rPr lang="en-GB" sz="1600" dirty="0">
                <a:latin typeface="Courier" pitchFamily="2" charset="0"/>
              </a:rPr>
              <a:t>      home: </a:t>
            </a:r>
            <a:r>
              <a:rPr lang="en-GB" sz="1600" b="1" dirty="0">
                <a:latin typeface="Courier" pitchFamily="2" charset="0"/>
              </a:rPr>
              <a:t>Scaffold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r>
              <a:rPr lang="en-GB" sz="1600" dirty="0">
                <a:latin typeface="Courier" pitchFamily="2" charset="0"/>
              </a:rPr>
              <a:t>      </a:t>
            </a:r>
            <a:r>
              <a:rPr lang="en-GB" sz="1600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: </a:t>
            </a:r>
            <a:r>
              <a:rPr lang="en-GB" sz="1600" b="1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(title: </a:t>
            </a:r>
            <a:r>
              <a:rPr lang="en-GB" sz="1600" b="1" dirty="0">
                <a:latin typeface="Courier" pitchFamily="2" charset="0"/>
              </a:rPr>
              <a:t>Text</a:t>
            </a:r>
            <a:r>
              <a:rPr lang="en-GB" sz="1600" dirty="0">
                <a:latin typeface="Courier" pitchFamily="2" charset="0"/>
              </a:rPr>
              <a:t>('Welcome to Flutter'),),</a:t>
            </a:r>
          </a:p>
          <a:p>
            <a:r>
              <a:rPr lang="en-GB" sz="1600" dirty="0">
                <a:latin typeface="Courier" pitchFamily="2" charset="0"/>
              </a:rPr>
              <a:t>      body: </a:t>
            </a:r>
            <a:r>
              <a:rPr lang="en-GB" sz="1600" b="1" dirty="0" err="1">
                <a:latin typeface="Courier" pitchFamily="2" charset="0"/>
              </a:rPr>
              <a:t>Center</a:t>
            </a:r>
            <a:r>
              <a:rPr lang="en-GB" sz="1600" dirty="0">
                <a:latin typeface="Courier" pitchFamily="2" charset="0"/>
              </a:rPr>
              <a:t>(child: </a:t>
            </a:r>
            <a:r>
              <a:rPr lang="en-GB" sz="1600" b="1" dirty="0">
                <a:latin typeface="Courier" pitchFamily="2" charset="0"/>
              </a:rPr>
              <a:t>Text</a:t>
            </a:r>
            <a:r>
              <a:rPr lang="en-GB" sz="1600" dirty="0">
                <a:latin typeface="Courier" pitchFamily="2" charset="0"/>
              </a:rPr>
              <a:t>('Hello World'),),),</a:t>
            </a:r>
          </a:p>
          <a:p>
            <a:r>
              <a:rPr lang="en-GB" sz="1600" dirty="0">
                <a:latin typeface="Courier" pitchFamily="2" charset="0"/>
              </a:rPr>
              <a:t>    );</a:t>
            </a:r>
          </a:p>
          <a:p>
            <a:r>
              <a:rPr lang="en-GB" sz="1600" dirty="0">
                <a:latin typeface="Courier" pitchFamily="2" charset="0"/>
              </a:rPr>
              <a:t>  }//build</a:t>
            </a:r>
          </a:p>
          <a:p>
            <a:r>
              <a:rPr lang="en-GB" sz="1600" dirty="0">
                <a:latin typeface="Courier" pitchFamily="2" charset="0"/>
              </a:rPr>
              <a:t>}//</a:t>
            </a:r>
            <a:r>
              <a:rPr lang="en-GB" sz="1600" dirty="0" err="1">
                <a:latin typeface="Courier" pitchFamily="2" charset="0"/>
              </a:rPr>
              <a:t>MyApp</a:t>
            </a:r>
            <a:endParaRPr lang="en-GB" sz="1600" dirty="0">
              <a:latin typeface="Courier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07E922-C034-C64E-8477-DD875DBC497E}"/>
              </a:ext>
            </a:extLst>
          </p:cNvPr>
          <p:cNvSpPr/>
          <p:nvPr/>
        </p:nvSpPr>
        <p:spPr>
          <a:xfrm>
            <a:off x="9069757" y="4103506"/>
            <a:ext cx="2640276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Aptos" panose="020B0004020202020204" pitchFamily="34" charset="0"/>
              </a:rPr>
              <a:t>But how </a:t>
            </a:r>
            <a:r>
              <a:rPr lang="en-GB" b="1" dirty="0">
                <a:latin typeface="Courier New" panose="02070309020205020404" pitchFamily="49" charset="0"/>
                <a:cs typeface="Courier New" panose="02070309020205020404" pitchFamily="49" charset="0"/>
              </a:rPr>
              <a:t>Widgets</a:t>
            </a:r>
            <a:r>
              <a:rPr lang="en-GB" b="1" dirty="0">
                <a:latin typeface="Aptos" panose="020B0004020202020204" pitchFamily="34" charset="0"/>
              </a:rPr>
              <a:t> are combined together?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C1AA9B-77EE-984E-964B-7F892A37C6F5}"/>
              </a:ext>
            </a:extLst>
          </p:cNvPr>
          <p:cNvSpPr/>
          <p:nvPr/>
        </p:nvSpPr>
        <p:spPr>
          <a:xfrm>
            <a:off x="8824892" y="2121135"/>
            <a:ext cx="31300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Key method for building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Widget</a:t>
            </a:r>
            <a:r>
              <a:rPr lang="en-GB" dirty="0">
                <a:latin typeface="Aptos" panose="020B0004020202020204" pitchFamily="34" charset="0"/>
              </a:rPr>
              <a:t> that must be implemented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ACD19E4-2CE1-3744-AFBE-9FDF75513CD5}"/>
              </a:ext>
            </a:extLst>
          </p:cNvPr>
          <p:cNvCxnSpPr>
            <a:cxnSpLocks/>
          </p:cNvCxnSpPr>
          <p:nvPr/>
        </p:nvCxnSpPr>
        <p:spPr>
          <a:xfrm flipV="1">
            <a:off x="1889090" y="2391508"/>
            <a:ext cx="6812783" cy="1711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12F6FB-2F89-4942-9D7F-06E76D30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7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Widget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/>
          </a:bodyPr>
          <a:lstStyle/>
          <a:p>
            <a:r>
              <a:rPr lang="en-IT" dirty="0"/>
              <a:t>Widgets are combined together using a </a:t>
            </a:r>
            <a:r>
              <a:rPr lang="en-IT" b="1" dirty="0"/>
              <a:t>tree structure</a:t>
            </a:r>
            <a:endParaRPr lang="en-IT" dirty="0"/>
          </a:p>
          <a:p>
            <a:endParaRPr lang="en-IT" dirty="0"/>
          </a:p>
          <a:p>
            <a:endParaRPr lang="en-IT" dirty="0"/>
          </a:p>
          <a:p>
            <a:endParaRPr lang="en-IT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A3B9D3-1456-2948-AFD8-90CEF4F73DAF}"/>
              </a:ext>
            </a:extLst>
          </p:cNvPr>
          <p:cNvSpPr/>
          <p:nvPr/>
        </p:nvSpPr>
        <p:spPr>
          <a:xfrm>
            <a:off x="9504064" y="2114791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main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B63788-C832-1444-89E0-79ADD95AC631}"/>
              </a:ext>
            </a:extLst>
          </p:cNvPr>
          <p:cNvSpPr/>
          <p:nvPr/>
        </p:nvSpPr>
        <p:spPr>
          <a:xfrm>
            <a:off x="8477459" y="5906231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894B00-861F-3246-B986-37768DA3DCED}"/>
              </a:ext>
            </a:extLst>
          </p:cNvPr>
          <p:cNvSpPr/>
          <p:nvPr/>
        </p:nvSpPr>
        <p:spPr>
          <a:xfrm>
            <a:off x="9507414" y="2795885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MyApp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032DF1-053C-0045-9C11-3CB0F24651CD}"/>
              </a:ext>
            </a:extLst>
          </p:cNvPr>
          <p:cNvSpPr/>
          <p:nvPr/>
        </p:nvSpPr>
        <p:spPr>
          <a:xfrm>
            <a:off x="9507414" y="4314998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Scaffold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5C727B-9719-CD44-BC17-FDF455AD0959}"/>
              </a:ext>
            </a:extLst>
          </p:cNvPr>
          <p:cNvSpPr/>
          <p:nvPr/>
        </p:nvSpPr>
        <p:spPr>
          <a:xfrm>
            <a:off x="8477459" y="513585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AppBar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87FDD2-E8FD-9144-B99E-C22635C3CF09}"/>
              </a:ext>
            </a:extLst>
          </p:cNvPr>
          <p:cNvSpPr/>
          <p:nvPr/>
        </p:nvSpPr>
        <p:spPr>
          <a:xfrm>
            <a:off x="10564165" y="5135860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Center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EB67A7-F63E-964D-9968-8E994C8B94B3}"/>
              </a:ext>
            </a:extLst>
          </p:cNvPr>
          <p:cNvSpPr/>
          <p:nvPr/>
        </p:nvSpPr>
        <p:spPr>
          <a:xfrm>
            <a:off x="9507413" y="3530320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400" dirty="0">
                <a:latin typeface="Courier" pitchFamily="2" charset="0"/>
              </a:rPr>
              <a:t>MaterialApp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82B769-60AC-B145-8431-3EA6114B7167}"/>
              </a:ext>
            </a:extLst>
          </p:cNvPr>
          <p:cNvSpPr/>
          <p:nvPr/>
        </p:nvSpPr>
        <p:spPr>
          <a:xfrm>
            <a:off x="10564166" y="5906232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54C365-5178-5640-B473-1345FDA09B17}"/>
              </a:ext>
            </a:extLst>
          </p:cNvPr>
          <p:cNvSpPr/>
          <p:nvPr/>
        </p:nvSpPr>
        <p:spPr>
          <a:xfrm>
            <a:off x="237103" y="2072181"/>
            <a:ext cx="9162197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import '</a:t>
            </a:r>
            <a:r>
              <a:rPr lang="en-GB" sz="1600" dirty="0" err="1">
                <a:latin typeface="Courier" pitchFamily="2" charset="0"/>
              </a:rPr>
              <a:t>package:flutter</a:t>
            </a:r>
            <a:r>
              <a:rPr lang="en-GB" sz="1600" dirty="0">
                <a:latin typeface="Courier" pitchFamily="2" charset="0"/>
              </a:rPr>
              <a:t>/</a:t>
            </a:r>
            <a:r>
              <a:rPr lang="en-GB" sz="1600" dirty="0" err="1">
                <a:latin typeface="Courier" pitchFamily="2" charset="0"/>
              </a:rPr>
              <a:t>material.dart</a:t>
            </a:r>
            <a:r>
              <a:rPr lang="en-GB" sz="1600" dirty="0">
                <a:latin typeface="Courier" pitchFamily="2" charset="0"/>
              </a:rPr>
              <a:t>';</a:t>
            </a:r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void main() {</a:t>
            </a:r>
          </a:p>
          <a:p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runApp</a:t>
            </a:r>
            <a:r>
              <a:rPr lang="en-GB" sz="1600" dirty="0">
                <a:latin typeface="Courier" pitchFamily="2" charset="0"/>
              </a:rPr>
              <a:t>(</a:t>
            </a:r>
            <a:r>
              <a:rPr lang="en-GB" sz="1600" b="1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());</a:t>
            </a:r>
          </a:p>
          <a:p>
            <a:r>
              <a:rPr lang="en-GB" sz="1600" dirty="0">
                <a:latin typeface="Courier" pitchFamily="2" charset="0"/>
              </a:rPr>
              <a:t>}//main</a:t>
            </a:r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class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 extends </a:t>
            </a:r>
            <a:r>
              <a:rPr lang="en-GB" sz="1600" dirty="0" err="1">
                <a:latin typeface="Courier" pitchFamily="2" charset="0"/>
              </a:rPr>
              <a:t>StatelessWidget</a:t>
            </a:r>
            <a:r>
              <a:rPr lang="en-GB" sz="1600" dirty="0">
                <a:latin typeface="Courier" pitchFamily="2" charset="0"/>
              </a:rPr>
              <a:t> {</a:t>
            </a:r>
          </a:p>
          <a:p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({Key? key}) : super(key: key);</a:t>
            </a:r>
          </a:p>
          <a:p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  @override</a:t>
            </a:r>
          </a:p>
          <a:p>
            <a:r>
              <a:rPr lang="en-GB" sz="1600" dirty="0">
                <a:latin typeface="Courier" pitchFamily="2" charset="0"/>
              </a:rPr>
              <a:t>  Widget </a:t>
            </a:r>
            <a:r>
              <a:rPr lang="en-GB" sz="1600" b="1" dirty="0">
                <a:latin typeface="Courier" pitchFamily="2" charset="0"/>
              </a:rPr>
              <a:t>build</a:t>
            </a:r>
            <a:r>
              <a:rPr lang="en-GB" sz="1600" dirty="0">
                <a:latin typeface="Courier" pitchFamily="2" charset="0"/>
              </a:rPr>
              <a:t>(</a:t>
            </a:r>
            <a:r>
              <a:rPr lang="en-GB" sz="1600" dirty="0" err="1">
                <a:latin typeface="Courier" pitchFamily="2" charset="0"/>
              </a:rPr>
              <a:t>BuildContext</a:t>
            </a:r>
            <a:r>
              <a:rPr lang="en-GB" sz="1600" dirty="0">
                <a:latin typeface="Courier" pitchFamily="2" charset="0"/>
              </a:rPr>
              <a:t> context) {</a:t>
            </a:r>
          </a:p>
          <a:p>
            <a:r>
              <a:rPr lang="en-GB" sz="1600" dirty="0">
                <a:latin typeface="Courier" pitchFamily="2" charset="0"/>
              </a:rPr>
              <a:t>    return </a:t>
            </a:r>
            <a:r>
              <a:rPr lang="en-GB" sz="1600" b="1" dirty="0" err="1">
                <a:latin typeface="Courier" pitchFamily="2" charset="0"/>
              </a:rPr>
              <a:t>MaterialApp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r>
              <a:rPr lang="en-GB" sz="1600" dirty="0">
                <a:latin typeface="Courier" pitchFamily="2" charset="0"/>
              </a:rPr>
              <a:t>      title: 'Welcome to Flutter’,</a:t>
            </a:r>
          </a:p>
          <a:p>
            <a:r>
              <a:rPr lang="en-GB" sz="1600" dirty="0">
                <a:latin typeface="Courier" pitchFamily="2" charset="0"/>
              </a:rPr>
              <a:t>      home: </a:t>
            </a:r>
            <a:r>
              <a:rPr lang="en-GB" sz="1600" b="1" dirty="0">
                <a:latin typeface="Courier" pitchFamily="2" charset="0"/>
              </a:rPr>
              <a:t>Scaffold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r>
              <a:rPr lang="en-GB" sz="1600" dirty="0">
                <a:latin typeface="Courier" pitchFamily="2" charset="0"/>
              </a:rPr>
              <a:t>      </a:t>
            </a:r>
            <a:r>
              <a:rPr lang="en-GB" sz="1600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: </a:t>
            </a:r>
            <a:r>
              <a:rPr lang="en-GB" sz="1600" b="1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(title: </a:t>
            </a:r>
            <a:r>
              <a:rPr lang="en-GB" sz="1600" b="1" dirty="0">
                <a:latin typeface="Courier" pitchFamily="2" charset="0"/>
              </a:rPr>
              <a:t>Text</a:t>
            </a:r>
            <a:r>
              <a:rPr lang="en-GB" sz="1600" dirty="0">
                <a:latin typeface="Courier" pitchFamily="2" charset="0"/>
              </a:rPr>
              <a:t>('Welcome to Flutter'),),</a:t>
            </a:r>
          </a:p>
          <a:p>
            <a:r>
              <a:rPr lang="en-GB" sz="1600" dirty="0">
                <a:latin typeface="Courier" pitchFamily="2" charset="0"/>
              </a:rPr>
              <a:t>      body: </a:t>
            </a:r>
            <a:r>
              <a:rPr lang="en-GB" sz="1600" b="1" dirty="0" err="1">
                <a:latin typeface="Courier" pitchFamily="2" charset="0"/>
              </a:rPr>
              <a:t>Center</a:t>
            </a:r>
            <a:r>
              <a:rPr lang="en-GB" sz="1600" dirty="0">
                <a:latin typeface="Courier" pitchFamily="2" charset="0"/>
              </a:rPr>
              <a:t>(child: </a:t>
            </a:r>
            <a:r>
              <a:rPr lang="en-GB" sz="1600" b="1" dirty="0">
                <a:latin typeface="Courier" pitchFamily="2" charset="0"/>
              </a:rPr>
              <a:t>Text</a:t>
            </a:r>
            <a:r>
              <a:rPr lang="en-GB" sz="1600" dirty="0">
                <a:latin typeface="Courier" pitchFamily="2" charset="0"/>
              </a:rPr>
              <a:t>('Hello World'),),),</a:t>
            </a:r>
          </a:p>
          <a:p>
            <a:r>
              <a:rPr lang="en-GB" sz="1600" dirty="0">
                <a:latin typeface="Courier" pitchFamily="2" charset="0"/>
              </a:rPr>
              <a:t>    );</a:t>
            </a:r>
          </a:p>
          <a:p>
            <a:r>
              <a:rPr lang="en-GB" sz="1600" dirty="0">
                <a:latin typeface="Courier" pitchFamily="2" charset="0"/>
              </a:rPr>
              <a:t>  }//build</a:t>
            </a:r>
          </a:p>
          <a:p>
            <a:r>
              <a:rPr lang="en-GB" sz="1600" dirty="0">
                <a:latin typeface="Courier" pitchFamily="2" charset="0"/>
              </a:rPr>
              <a:t>}//</a:t>
            </a:r>
            <a:r>
              <a:rPr lang="en-GB" sz="1600" dirty="0" err="1">
                <a:latin typeface="Courier" pitchFamily="2" charset="0"/>
              </a:rPr>
              <a:t>MyApp</a:t>
            </a:r>
            <a:endParaRPr lang="en-GB" sz="1600" dirty="0">
              <a:latin typeface="Courier" pitchFamily="2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D9686A-BFF3-7A4F-8CC2-312853EF16F8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10232570" y="2566966"/>
            <a:ext cx="3350" cy="228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BEF30D8-7853-FC4E-9BFC-F2C7FB5ECA78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flipH="1">
            <a:off x="10235919" y="3248060"/>
            <a:ext cx="1" cy="282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72FC5C0-1E03-BF47-A172-B6EBF05BFD5D}"/>
              </a:ext>
            </a:extLst>
          </p:cNvPr>
          <p:cNvCxnSpPr>
            <a:cxnSpLocks/>
            <a:stCxn id="13" idx="2"/>
            <a:endCxn id="10" idx="0"/>
          </p:cNvCxnSpPr>
          <p:nvPr/>
        </p:nvCxnSpPr>
        <p:spPr>
          <a:xfrm>
            <a:off x="10235919" y="3982495"/>
            <a:ext cx="1" cy="33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38AC301-B76D-7342-ACCE-A34E280231E2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9205965" y="4767173"/>
            <a:ext cx="1029955" cy="36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B5FCF3E-7F65-C54F-80F6-82166AD4B97F}"/>
              </a:ext>
            </a:extLst>
          </p:cNvPr>
          <p:cNvCxnSpPr>
            <a:cxnSpLocks/>
            <a:stCxn id="11" idx="2"/>
            <a:endCxn id="8" idx="0"/>
          </p:cNvCxnSpPr>
          <p:nvPr/>
        </p:nvCxnSpPr>
        <p:spPr>
          <a:xfrm>
            <a:off x="9205965" y="5588034"/>
            <a:ext cx="0" cy="3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D105159-E45F-B442-95D3-32E8224B052E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10235920" y="4767173"/>
            <a:ext cx="1056751" cy="368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C66CAC6-C908-A34D-8748-63BCB3907A8F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11292671" y="5588035"/>
            <a:ext cx="1" cy="3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C4AA3-85B8-0A4C-B65C-9FE2BF607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1045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State and widgets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In bold the Widgets of our app</a:t>
            </a:r>
          </a:p>
          <a:p>
            <a:pPr lvl="1"/>
            <a:endParaRPr lang="en-IT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C5CF97-E765-B048-A97B-1B7DD054A404}"/>
              </a:ext>
            </a:extLst>
          </p:cNvPr>
          <p:cNvSpPr/>
          <p:nvPr/>
        </p:nvSpPr>
        <p:spPr>
          <a:xfrm>
            <a:off x="237103" y="2072181"/>
            <a:ext cx="9162197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>
                <a:latin typeface="Courier" pitchFamily="2" charset="0"/>
              </a:rPr>
              <a:t>import '</a:t>
            </a:r>
            <a:r>
              <a:rPr lang="en-GB" sz="1600" dirty="0" err="1">
                <a:latin typeface="Courier" pitchFamily="2" charset="0"/>
              </a:rPr>
              <a:t>package:flutter</a:t>
            </a:r>
            <a:r>
              <a:rPr lang="en-GB" sz="1600" dirty="0">
                <a:latin typeface="Courier" pitchFamily="2" charset="0"/>
              </a:rPr>
              <a:t>/</a:t>
            </a:r>
            <a:r>
              <a:rPr lang="en-GB" sz="1600" dirty="0" err="1">
                <a:latin typeface="Courier" pitchFamily="2" charset="0"/>
              </a:rPr>
              <a:t>material.dart</a:t>
            </a:r>
            <a:r>
              <a:rPr lang="en-GB" sz="1600" dirty="0">
                <a:latin typeface="Courier" pitchFamily="2" charset="0"/>
              </a:rPr>
              <a:t>';</a:t>
            </a:r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void main() {</a:t>
            </a:r>
          </a:p>
          <a:p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runApp</a:t>
            </a:r>
            <a:r>
              <a:rPr lang="en-GB" sz="1600" dirty="0">
                <a:latin typeface="Courier" pitchFamily="2" charset="0"/>
              </a:rPr>
              <a:t>(</a:t>
            </a:r>
            <a:r>
              <a:rPr lang="en-GB" sz="1600" b="1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());</a:t>
            </a:r>
          </a:p>
          <a:p>
            <a:r>
              <a:rPr lang="en-GB" sz="1600" dirty="0">
                <a:latin typeface="Courier" pitchFamily="2" charset="0"/>
              </a:rPr>
              <a:t>}//main</a:t>
            </a:r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class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 extends </a:t>
            </a:r>
            <a:r>
              <a:rPr lang="en-GB" sz="1600" dirty="0" err="1">
                <a:latin typeface="Courier" pitchFamily="2" charset="0"/>
              </a:rPr>
              <a:t>StatelessWidget</a:t>
            </a:r>
            <a:r>
              <a:rPr lang="en-GB" sz="1600" dirty="0">
                <a:latin typeface="Courier" pitchFamily="2" charset="0"/>
              </a:rPr>
              <a:t> {</a:t>
            </a:r>
          </a:p>
          <a:p>
            <a:r>
              <a:rPr lang="en-GB" sz="1600" dirty="0">
                <a:latin typeface="Courier" pitchFamily="2" charset="0"/>
              </a:rPr>
              <a:t>  </a:t>
            </a:r>
            <a:r>
              <a:rPr lang="en-GB" sz="1600" dirty="0" err="1">
                <a:latin typeface="Courier" pitchFamily="2" charset="0"/>
              </a:rPr>
              <a:t>MyApp</a:t>
            </a:r>
            <a:r>
              <a:rPr lang="en-GB" sz="1600" dirty="0">
                <a:latin typeface="Courier" pitchFamily="2" charset="0"/>
              </a:rPr>
              <a:t>({Key? key}) : super(key: key);</a:t>
            </a:r>
          </a:p>
          <a:p>
            <a:br>
              <a:rPr lang="en-GB" sz="1600" dirty="0">
                <a:latin typeface="Courier" pitchFamily="2" charset="0"/>
              </a:rPr>
            </a:br>
            <a:r>
              <a:rPr lang="en-GB" sz="1600" dirty="0">
                <a:latin typeface="Courier" pitchFamily="2" charset="0"/>
              </a:rPr>
              <a:t>  @override</a:t>
            </a:r>
          </a:p>
          <a:p>
            <a:r>
              <a:rPr lang="en-GB" sz="1600" dirty="0">
                <a:latin typeface="Courier" pitchFamily="2" charset="0"/>
              </a:rPr>
              <a:t>  Widget </a:t>
            </a:r>
            <a:r>
              <a:rPr lang="en-GB" sz="1600" b="1" dirty="0">
                <a:latin typeface="Courier" pitchFamily="2" charset="0"/>
              </a:rPr>
              <a:t>build</a:t>
            </a:r>
            <a:r>
              <a:rPr lang="en-GB" sz="1600" dirty="0">
                <a:latin typeface="Courier" pitchFamily="2" charset="0"/>
              </a:rPr>
              <a:t>(</a:t>
            </a:r>
            <a:r>
              <a:rPr lang="en-GB" sz="1600" dirty="0" err="1">
                <a:latin typeface="Courier" pitchFamily="2" charset="0"/>
              </a:rPr>
              <a:t>BuildContext</a:t>
            </a:r>
            <a:r>
              <a:rPr lang="en-GB" sz="1600" dirty="0">
                <a:latin typeface="Courier" pitchFamily="2" charset="0"/>
              </a:rPr>
              <a:t> context) {</a:t>
            </a:r>
          </a:p>
          <a:p>
            <a:r>
              <a:rPr lang="en-GB" sz="1600" dirty="0">
                <a:latin typeface="Courier" pitchFamily="2" charset="0"/>
              </a:rPr>
              <a:t>    return </a:t>
            </a:r>
            <a:r>
              <a:rPr lang="en-GB" sz="1600" b="1" dirty="0" err="1">
                <a:latin typeface="Courier" pitchFamily="2" charset="0"/>
              </a:rPr>
              <a:t>MaterialApp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r>
              <a:rPr lang="en-GB" sz="1600" dirty="0">
                <a:latin typeface="Courier" pitchFamily="2" charset="0"/>
              </a:rPr>
              <a:t>      title: 'Welcome to Flutter’,</a:t>
            </a:r>
          </a:p>
          <a:p>
            <a:r>
              <a:rPr lang="en-GB" sz="1600" dirty="0">
                <a:latin typeface="Courier" pitchFamily="2" charset="0"/>
              </a:rPr>
              <a:t>      home: </a:t>
            </a:r>
            <a:r>
              <a:rPr lang="en-GB" sz="1600" b="1" dirty="0">
                <a:latin typeface="Courier" pitchFamily="2" charset="0"/>
              </a:rPr>
              <a:t>Scaffold</a:t>
            </a:r>
            <a:r>
              <a:rPr lang="en-GB" sz="1600" dirty="0">
                <a:latin typeface="Courier" pitchFamily="2" charset="0"/>
              </a:rPr>
              <a:t>(</a:t>
            </a:r>
          </a:p>
          <a:p>
            <a:r>
              <a:rPr lang="en-GB" sz="1600" dirty="0">
                <a:latin typeface="Courier" pitchFamily="2" charset="0"/>
              </a:rPr>
              <a:t>      </a:t>
            </a:r>
            <a:r>
              <a:rPr lang="en-GB" sz="1600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: </a:t>
            </a:r>
            <a:r>
              <a:rPr lang="en-GB" sz="1600" b="1" dirty="0" err="1">
                <a:latin typeface="Courier" pitchFamily="2" charset="0"/>
              </a:rPr>
              <a:t>AppBar</a:t>
            </a:r>
            <a:r>
              <a:rPr lang="en-GB" sz="1600" dirty="0">
                <a:latin typeface="Courier" pitchFamily="2" charset="0"/>
              </a:rPr>
              <a:t>(title: </a:t>
            </a:r>
            <a:r>
              <a:rPr lang="en-GB" sz="1600" b="1" dirty="0">
                <a:latin typeface="Courier" pitchFamily="2" charset="0"/>
              </a:rPr>
              <a:t>Text</a:t>
            </a:r>
            <a:r>
              <a:rPr lang="en-GB" sz="1600" dirty="0">
                <a:latin typeface="Courier" pitchFamily="2" charset="0"/>
              </a:rPr>
              <a:t>('Welcome to Flutter'),),</a:t>
            </a:r>
          </a:p>
          <a:p>
            <a:r>
              <a:rPr lang="en-GB" sz="1600" dirty="0">
                <a:latin typeface="Courier" pitchFamily="2" charset="0"/>
              </a:rPr>
              <a:t>      body: </a:t>
            </a:r>
            <a:r>
              <a:rPr lang="en-GB" sz="1600" b="1" dirty="0" err="1">
                <a:latin typeface="Courier" pitchFamily="2" charset="0"/>
              </a:rPr>
              <a:t>Center</a:t>
            </a:r>
            <a:r>
              <a:rPr lang="en-GB" sz="1600" dirty="0">
                <a:latin typeface="Courier" pitchFamily="2" charset="0"/>
              </a:rPr>
              <a:t>(child: </a:t>
            </a:r>
            <a:r>
              <a:rPr lang="en-GB" sz="1600" b="1" dirty="0">
                <a:latin typeface="Courier" pitchFamily="2" charset="0"/>
              </a:rPr>
              <a:t>Text</a:t>
            </a:r>
            <a:r>
              <a:rPr lang="en-GB" sz="1600" dirty="0">
                <a:latin typeface="Courier" pitchFamily="2" charset="0"/>
              </a:rPr>
              <a:t>('Hello World'),),),</a:t>
            </a:r>
          </a:p>
          <a:p>
            <a:r>
              <a:rPr lang="en-GB" sz="1600" dirty="0">
                <a:latin typeface="Courier" pitchFamily="2" charset="0"/>
              </a:rPr>
              <a:t>    );</a:t>
            </a:r>
          </a:p>
          <a:p>
            <a:r>
              <a:rPr lang="en-GB" sz="1600" dirty="0">
                <a:latin typeface="Courier" pitchFamily="2" charset="0"/>
              </a:rPr>
              <a:t>  }//build</a:t>
            </a:r>
          </a:p>
          <a:p>
            <a:r>
              <a:rPr lang="en-GB" sz="1600" dirty="0">
                <a:latin typeface="Courier" pitchFamily="2" charset="0"/>
              </a:rPr>
              <a:t>}//</a:t>
            </a:r>
            <a:r>
              <a:rPr lang="en-GB" sz="1600" dirty="0" err="1">
                <a:latin typeface="Courier" pitchFamily="2" charset="0"/>
              </a:rPr>
              <a:t>MyApp</a:t>
            </a:r>
            <a:endParaRPr lang="en-GB" sz="1600" dirty="0">
              <a:latin typeface="Courier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86E6085-A827-A347-B834-C1A14DDE5195}"/>
              </a:ext>
            </a:extLst>
          </p:cNvPr>
          <p:cNvCxnSpPr>
            <a:cxnSpLocks/>
          </p:cNvCxnSpPr>
          <p:nvPr/>
        </p:nvCxnSpPr>
        <p:spPr>
          <a:xfrm flipV="1">
            <a:off x="3898760" y="2311122"/>
            <a:ext cx="4759626" cy="763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F4F5E0C-BDA5-C04B-9642-59DFF4512935}"/>
              </a:ext>
            </a:extLst>
          </p:cNvPr>
          <p:cNvSpPr/>
          <p:nvPr/>
        </p:nvSpPr>
        <p:spPr>
          <a:xfrm>
            <a:off x="8824892" y="2121135"/>
            <a:ext cx="31300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>
                <a:latin typeface="Aptos" panose="020B0004020202020204" pitchFamily="34" charset="0"/>
              </a:rPr>
              <a:t>MyApp</a:t>
            </a:r>
            <a:r>
              <a:rPr lang="en-GB" dirty="0">
                <a:latin typeface="Aptos" panose="020B0004020202020204" pitchFamily="34" charset="0"/>
              </a:rPr>
              <a:t> is not just a Widget, it is a </a:t>
            </a:r>
            <a:r>
              <a:rPr lang="en-GB" dirty="0" err="1">
                <a:latin typeface="Courier" pitchFamily="2" charset="0"/>
              </a:rPr>
              <a:t>StatelessWidget</a:t>
            </a:r>
            <a:endParaRPr lang="en-IT" dirty="0">
              <a:latin typeface="Courier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389C0-C0D0-8F4C-A706-6CA276A87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253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Stateless vs. Stateful widgets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/>
          </a:bodyPr>
          <a:lstStyle/>
          <a:p>
            <a:r>
              <a:rPr lang="en-GB" b="1" dirty="0" err="1">
                <a:latin typeface="Courier" pitchFamily="2" charset="0"/>
              </a:rPr>
              <a:t>StatelessWidget</a:t>
            </a:r>
            <a:r>
              <a:rPr lang="en-GB" dirty="0" err="1"/>
              <a:t>s</a:t>
            </a:r>
            <a:r>
              <a:rPr lang="en-GB" dirty="0"/>
              <a:t> are Widgets that always build the same way given a particular configuration and ambient state. So, they never re-build while they are displayed to the user (their lifetime).</a:t>
            </a:r>
          </a:p>
          <a:p>
            <a:endParaRPr lang="en-GB" dirty="0"/>
          </a:p>
          <a:p>
            <a:r>
              <a:rPr lang="en-GB" b="1" dirty="0" err="1">
                <a:latin typeface="Courier" pitchFamily="2" charset="0"/>
              </a:rPr>
              <a:t>StatefulWidget</a:t>
            </a:r>
            <a:r>
              <a:rPr lang="en-GB" dirty="0" err="1"/>
              <a:t>s</a:t>
            </a:r>
            <a:r>
              <a:rPr lang="en-GB" dirty="0"/>
              <a:t> for widgets that can build differently several times over their lifetime.</a:t>
            </a:r>
            <a:endParaRPr lang="en-IT" dirty="0"/>
          </a:p>
          <a:p>
            <a:endParaRPr lang="en-IT" dirty="0"/>
          </a:p>
          <a:p>
            <a:r>
              <a:rPr lang="en-IT" dirty="0"/>
              <a:t>You can think about StatelessWidget as a sort of constant and StatefulWidget as a variable.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57DFA-38F2-7E49-A670-0B55AA36C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318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Let’s dissect the app – pubspec.yaml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1368314" cy="880185"/>
          </a:xfrm>
        </p:spPr>
        <p:txBody>
          <a:bodyPr>
            <a:normAutofit/>
          </a:bodyPr>
          <a:lstStyle/>
          <a:p>
            <a:r>
              <a:rPr lang="en-US" dirty="0" err="1"/>
              <a:t>pubspec.yaml</a:t>
            </a:r>
            <a:r>
              <a:rPr lang="en-US" dirty="0"/>
              <a:t> contains high-level instructions for the development environment and information on the app</a:t>
            </a:r>
          </a:p>
          <a:p>
            <a:pPr lvl="1"/>
            <a:endParaRPr lang="en-IT" dirty="0"/>
          </a:p>
          <a:p>
            <a:pPr lvl="1"/>
            <a:endParaRPr lang="en-IT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354D2-BC35-B24A-B727-64A091DA1466}"/>
              </a:ext>
            </a:extLst>
          </p:cNvPr>
          <p:cNvSpPr/>
          <p:nvPr/>
        </p:nvSpPr>
        <p:spPr>
          <a:xfrm>
            <a:off x="533324" y="2241352"/>
            <a:ext cx="692411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latin typeface="Courier" pitchFamily="2" charset="0"/>
              </a:rPr>
              <a:t>name: </a:t>
            </a:r>
            <a:r>
              <a:rPr lang="en-GB" sz="1200" dirty="0" err="1">
                <a:latin typeface="Courier" pitchFamily="2" charset="0"/>
              </a:rPr>
              <a:t>my_first_app</a:t>
            </a:r>
            <a:endParaRPr lang="en-GB" sz="1200" dirty="0">
              <a:latin typeface="Courier" pitchFamily="2" charset="0"/>
            </a:endParaRPr>
          </a:p>
          <a:p>
            <a:r>
              <a:rPr lang="en-GB" sz="1200" dirty="0">
                <a:latin typeface="Courier" pitchFamily="2" charset="0"/>
              </a:rPr>
              <a:t>description: A new Flutter project.</a:t>
            </a:r>
          </a:p>
          <a:p>
            <a:r>
              <a:rPr lang="en-GB" sz="1200" dirty="0" err="1">
                <a:latin typeface="Courier" pitchFamily="2" charset="0"/>
              </a:rPr>
              <a:t>publish_to</a:t>
            </a:r>
            <a:r>
              <a:rPr lang="en-GB" sz="1200" dirty="0">
                <a:latin typeface="Courier" pitchFamily="2" charset="0"/>
              </a:rPr>
              <a:t>: 'none’</a:t>
            </a:r>
          </a:p>
          <a:p>
            <a:r>
              <a:rPr lang="en-GB" sz="1200" dirty="0">
                <a:latin typeface="Courier" pitchFamily="2" charset="0"/>
              </a:rPr>
              <a:t>version: 1.0.0+1</a:t>
            </a:r>
          </a:p>
          <a:p>
            <a:br>
              <a:rPr lang="en-GB" sz="1200" dirty="0">
                <a:latin typeface="Courier" pitchFamily="2" charset="0"/>
              </a:rPr>
            </a:br>
            <a:r>
              <a:rPr lang="en-GB" sz="1200" dirty="0">
                <a:latin typeface="Courier" pitchFamily="2" charset="0"/>
              </a:rPr>
              <a:t>environment:</a:t>
            </a:r>
          </a:p>
          <a:p>
            <a:r>
              <a:rPr lang="en-GB" sz="1200" dirty="0">
                <a:latin typeface="Courier" pitchFamily="2" charset="0"/>
              </a:rPr>
              <a:t>  </a:t>
            </a:r>
            <a:r>
              <a:rPr lang="en-GB" sz="1200" dirty="0" err="1">
                <a:latin typeface="Courier" pitchFamily="2" charset="0"/>
              </a:rPr>
              <a:t>sdk</a:t>
            </a:r>
            <a:r>
              <a:rPr lang="en-GB" sz="1200" dirty="0">
                <a:latin typeface="Courier" pitchFamily="2" charset="0"/>
              </a:rPr>
              <a:t>: "&gt;=3.2.4 &lt;4.0.0"</a:t>
            </a:r>
          </a:p>
          <a:p>
            <a:br>
              <a:rPr lang="en-GB" sz="1200" dirty="0">
                <a:latin typeface="Courier" pitchFamily="2" charset="0"/>
              </a:rPr>
            </a:br>
            <a:r>
              <a:rPr lang="en-GB" sz="1200" dirty="0">
                <a:latin typeface="Courier" pitchFamily="2" charset="0"/>
              </a:rPr>
              <a:t>dependencies:</a:t>
            </a:r>
          </a:p>
          <a:p>
            <a:r>
              <a:rPr lang="en-GB" sz="1200" dirty="0">
                <a:latin typeface="Courier" pitchFamily="2" charset="0"/>
              </a:rPr>
              <a:t>  flutter:</a:t>
            </a:r>
          </a:p>
          <a:p>
            <a:r>
              <a:rPr lang="en-GB" sz="1200" dirty="0">
                <a:latin typeface="Courier" pitchFamily="2" charset="0"/>
              </a:rPr>
              <a:t>    </a:t>
            </a:r>
            <a:r>
              <a:rPr lang="en-GB" sz="1200" dirty="0" err="1">
                <a:latin typeface="Courier" pitchFamily="2" charset="0"/>
              </a:rPr>
              <a:t>sdk</a:t>
            </a:r>
            <a:r>
              <a:rPr lang="en-GB" sz="1200" dirty="0">
                <a:latin typeface="Courier" pitchFamily="2" charset="0"/>
              </a:rPr>
              <a:t>: flutter</a:t>
            </a:r>
            <a:br>
              <a:rPr lang="en-GB" sz="1200" dirty="0">
                <a:latin typeface="Courier" pitchFamily="2" charset="0"/>
              </a:rPr>
            </a:br>
            <a:br>
              <a:rPr lang="en-GB" sz="1200" dirty="0">
                <a:latin typeface="Courier" pitchFamily="2" charset="0"/>
              </a:rPr>
            </a:br>
            <a:r>
              <a:rPr lang="en-GB" sz="1200" dirty="0">
                <a:latin typeface="Courier" pitchFamily="2" charset="0"/>
              </a:rPr>
              <a:t>  </a:t>
            </a:r>
            <a:r>
              <a:rPr lang="en-GB" sz="1200" dirty="0" err="1">
                <a:latin typeface="Courier" pitchFamily="2" charset="0"/>
              </a:rPr>
              <a:t>cupertino_icons</a:t>
            </a:r>
            <a:r>
              <a:rPr lang="en-GB" sz="1200" dirty="0">
                <a:latin typeface="Courier" pitchFamily="2" charset="0"/>
              </a:rPr>
              <a:t>: ^1.0.2</a:t>
            </a:r>
          </a:p>
          <a:p>
            <a:br>
              <a:rPr lang="en-GB" sz="1200" dirty="0">
                <a:latin typeface="Courier" pitchFamily="2" charset="0"/>
              </a:rPr>
            </a:br>
            <a:r>
              <a:rPr lang="en-GB" sz="1200" dirty="0" err="1">
                <a:latin typeface="Courier" pitchFamily="2" charset="0"/>
              </a:rPr>
              <a:t>dev_dependencies</a:t>
            </a:r>
            <a:r>
              <a:rPr lang="en-GB" sz="1200" dirty="0">
                <a:latin typeface="Courier" pitchFamily="2" charset="0"/>
              </a:rPr>
              <a:t>:</a:t>
            </a:r>
          </a:p>
          <a:p>
            <a:r>
              <a:rPr lang="en-GB" sz="1200" dirty="0">
                <a:latin typeface="Courier" pitchFamily="2" charset="0"/>
              </a:rPr>
              <a:t>  </a:t>
            </a:r>
            <a:r>
              <a:rPr lang="en-GB" sz="1200" dirty="0" err="1">
                <a:latin typeface="Courier" pitchFamily="2" charset="0"/>
              </a:rPr>
              <a:t>flutter_test</a:t>
            </a:r>
            <a:r>
              <a:rPr lang="en-GB" sz="1200" dirty="0">
                <a:latin typeface="Courier" pitchFamily="2" charset="0"/>
              </a:rPr>
              <a:t>:</a:t>
            </a:r>
          </a:p>
          <a:p>
            <a:r>
              <a:rPr lang="en-GB" sz="1200" dirty="0">
                <a:latin typeface="Courier" pitchFamily="2" charset="0"/>
              </a:rPr>
              <a:t>    </a:t>
            </a:r>
            <a:r>
              <a:rPr lang="en-GB" sz="1200" dirty="0" err="1">
                <a:latin typeface="Courier" pitchFamily="2" charset="0"/>
              </a:rPr>
              <a:t>sdk</a:t>
            </a:r>
            <a:r>
              <a:rPr lang="en-GB" sz="1200" dirty="0">
                <a:latin typeface="Courier" pitchFamily="2" charset="0"/>
              </a:rPr>
              <a:t>: flutter </a:t>
            </a:r>
          </a:p>
          <a:p>
            <a:r>
              <a:rPr lang="en-GB" sz="1200" dirty="0">
                <a:latin typeface="Courier" pitchFamily="2" charset="0"/>
              </a:rPr>
              <a:t>  </a:t>
            </a:r>
            <a:r>
              <a:rPr lang="en-GB" sz="1200" dirty="0" err="1">
                <a:latin typeface="Courier" pitchFamily="2" charset="0"/>
              </a:rPr>
              <a:t>flutter_lints</a:t>
            </a:r>
            <a:r>
              <a:rPr lang="en-GB" sz="1200" dirty="0">
                <a:latin typeface="Courier" pitchFamily="2" charset="0"/>
              </a:rPr>
              <a:t>: ^2.0.0</a:t>
            </a:r>
          </a:p>
          <a:p>
            <a:endParaRPr lang="en-GB" sz="1200" dirty="0">
              <a:latin typeface="Courier" pitchFamily="2" charset="0"/>
            </a:endParaRPr>
          </a:p>
          <a:p>
            <a:r>
              <a:rPr lang="en-GB" sz="1200" dirty="0">
                <a:latin typeface="Courier" pitchFamily="2" charset="0"/>
              </a:rPr>
              <a:t>flutter:</a:t>
            </a:r>
            <a:br>
              <a:rPr lang="en-GB" sz="1200" dirty="0">
                <a:latin typeface="Courier" pitchFamily="2" charset="0"/>
              </a:rPr>
            </a:br>
            <a:r>
              <a:rPr lang="en-GB" sz="1200" dirty="0">
                <a:latin typeface="Courier" pitchFamily="2" charset="0"/>
              </a:rPr>
              <a:t>  uses-material-design: true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BBDE7E-7CFE-4443-A566-F33CBD932957}"/>
              </a:ext>
            </a:extLst>
          </p:cNvPr>
          <p:cNvCxnSpPr>
            <a:cxnSpLocks/>
          </p:cNvCxnSpPr>
          <p:nvPr/>
        </p:nvCxnSpPr>
        <p:spPr>
          <a:xfrm>
            <a:off x="3944203" y="2576409"/>
            <a:ext cx="3279557" cy="1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AB5884D-D34D-904D-AEEC-4DADA2449CF1}"/>
              </a:ext>
            </a:extLst>
          </p:cNvPr>
          <p:cNvSpPr/>
          <p:nvPr/>
        </p:nvSpPr>
        <p:spPr>
          <a:xfrm>
            <a:off x="7562592" y="2115915"/>
            <a:ext cx="40960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err="1">
                <a:latin typeface="Aptos" panose="020B0004020202020204" pitchFamily="34" charset="0"/>
              </a:rPr>
              <a:t>my_first_app</a:t>
            </a:r>
            <a:r>
              <a:rPr lang="en-GB" dirty="0">
                <a:latin typeface="Aptos" panose="020B0004020202020204" pitchFamily="34" charset="0"/>
              </a:rPr>
              <a:t> information (name, description, version, …)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4529F4-BD50-C04A-9BA9-4026099FBC76}"/>
              </a:ext>
            </a:extLst>
          </p:cNvPr>
          <p:cNvSpPr/>
          <p:nvPr/>
        </p:nvSpPr>
        <p:spPr>
          <a:xfrm>
            <a:off x="7562592" y="3273346"/>
            <a:ext cx="3962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Flutter </a:t>
            </a:r>
            <a:r>
              <a:rPr lang="en-GB" dirty="0" err="1">
                <a:latin typeface="Aptos" panose="020B0004020202020204" pitchFamily="34" charset="0"/>
              </a:rPr>
              <a:t>sdk</a:t>
            </a:r>
            <a:r>
              <a:rPr lang="en-GB" dirty="0">
                <a:latin typeface="Aptos" panose="020B0004020202020204" pitchFamily="34" charset="0"/>
              </a:rPr>
              <a:t> version to be used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A40E391-3D7E-6241-9D0F-20C80B68C3D7}"/>
              </a:ext>
            </a:extLst>
          </p:cNvPr>
          <p:cNvCxnSpPr>
            <a:cxnSpLocks/>
          </p:cNvCxnSpPr>
          <p:nvPr/>
        </p:nvCxnSpPr>
        <p:spPr>
          <a:xfrm>
            <a:off x="2142699" y="3273346"/>
            <a:ext cx="5081061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0920004-3C44-3045-B58B-15C52FB80960}"/>
              </a:ext>
            </a:extLst>
          </p:cNvPr>
          <p:cNvSpPr/>
          <p:nvPr/>
        </p:nvSpPr>
        <p:spPr>
          <a:xfrm>
            <a:off x="7562592" y="3997801"/>
            <a:ext cx="44465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App dependencies: what the app needs in order to work: other packages? Other libraries? Put them here.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B9E76F9-3FCA-2B4F-8764-47E80138865B}"/>
              </a:ext>
            </a:extLst>
          </p:cNvPr>
          <p:cNvCxnSpPr>
            <a:cxnSpLocks/>
          </p:cNvCxnSpPr>
          <p:nvPr/>
        </p:nvCxnSpPr>
        <p:spPr>
          <a:xfrm>
            <a:off x="1937982" y="3795592"/>
            <a:ext cx="5285778" cy="430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6C54B0-B10E-124D-AAFB-46CF3D0DE49E}"/>
              </a:ext>
            </a:extLst>
          </p:cNvPr>
          <p:cNvCxnSpPr>
            <a:cxnSpLocks/>
          </p:cNvCxnSpPr>
          <p:nvPr/>
        </p:nvCxnSpPr>
        <p:spPr>
          <a:xfrm>
            <a:off x="2238233" y="4974152"/>
            <a:ext cx="4985527" cy="346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8D40037-6E02-EF47-9B91-890CA9539BFE}"/>
              </a:ext>
            </a:extLst>
          </p:cNvPr>
          <p:cNvSpPr/>
          <p:nvPr/>
        </p:nvSpPr>
        <p:spPr>
          <a:xfrm>
            <a:off x="7562592" y="5135721"/>
            <a:ext cx="44465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App dependencies while developing the app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61AE15-330A-FF44-825E-E2A9164B5A2E}"/>
              </a:ext>
            </a:extLst>
          </p:cNvPr>
          <p:cNvSpPr/>
          <p:nvPr/>
        </p:nvSpPr>
        <p:spPr>
          <a:xfrm>
            <a:off x="7562592" y="5971979"/>
            <a:ext cx="44465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Aptos" panose="020B0004020202020204" pitchFamily="34" charset="0"/>
              </a:rPr>
              <a:t>Information for the Flutter environment such as where to find assets.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B31DF6D-2530-8C4A-B6B5-B974F7FD1029}"/>
              </a:ext>
            </a:extLst>
          </p:cNvPr>
          <p:cNvCxnSpPr>
            <a:cxnSpLocks/>
          </p:cNvCxnSpPr>
          <p:nvPr/>
        </p:nvCxnSpPr>
        <p:spPr>
          <a:xfrm>
            <a:off x="1419367" y="5854338"/>
            <a:ext cx="5804393" cy="430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BAB8A10-D91B-4442-B76D-9AA4EFB440A1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in lab_04-hello_flutter/my_first_app/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B6D0C-2695-7642-86BC-893D64AE9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47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Flutter 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Creating a new project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App dissection</a:t>
            </a:r>
          </a:p>
          <a:p>
            <a:r>
              <a:rPr lang="en-IT" b="1" dirty="0"/>
              <a:t>Expanding our first app</a:t>
            </a:r>
          </a:p>
          <a:p>
            <a:pPr marL="0" indent="0">
              <a:buNone/>
            </a:pPr>
            <a:endParaRPr lang="en-IT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Homework &amp; Resources</a:t>
            </a:r>
          </a:p>
          <a:p>
            <a:pPr marL="0" indent="0">
              <a:buNone/>
            </a:pPr>
            <a:endParaRPr lang="en-IT" dirty="0">
              <a:solidFill>
                <a:schemeClr val="bg1">
                  <a:lumMod val="75000"/>
                </a:schemeClr>
              </a:solidFill>
            </a:endParaRPr>
          </a:p>
          <a:p>
            <a:endParaRPr lang="en-IT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335BF9-DF72-1D4E-AC4F-76601C7E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8056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My first app with steroids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Let’s play with </a:t>
            </a:r>
            <a:r>
              <a:rPr lang="en-US" dirty="0" err="1"/>
              <a:t>my_first_app</a:t>
            </a:r>
            <a:r>
              <a:rPr lang="en-US" dirty="0"/>
              <a:t> and let’s expand it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will learn how to:</a:t>
            </a:r>
          </a:p>
          <a:p>
            <a:endParaRPr lang="en-US" dirty="0"/>
          </a:p>
          <a:p>
            <a:pPr lvl="1"/>
            <a:r>
              <a:rPr lang="en-US" dirty="0"/>
              <a:t>Install an external package and add it as a dependency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Use the external package inside our app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StatefulWidgets</a:t>
            </a:r>
            <a:r>
              <a:rPr lang="en-US" dirty="0"/>
              <a:t> 101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How to modify the UI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47AD76-B7B9-164C-A707-48324082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777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My first app with steroids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6732046" cy="5334907"/>
          </a:xfrm>
        </p:spPr>
        <p:txBody>
          <a:bodyPr>
            <a:normAutofit/>
          </a:bodyPr>
          <a:lstStyle/>
          <a:p>
            <a:r>
              <a:rPr lang="en-US" b="1" dirty="0"/>
              <a:t>Aim</a:t>
            </a:r>
            <a:r>
              <a:rPr lang="en-US" dirty="0"/>
              <a:t>: The result will be a very simple app that, each time a button is tapped, a new random ”Hello” message is shown to the user.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C5C5B-B3AF-4148-B826-F40940F6D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22</a:t>
            </a:fld>
            <a:endParaRPr lang="en-GB"/>
          </a:p>
        </p:txBody>
      </p:sp>
      <p:pic>
        <p:nvPicPr>
          <p:cNvPr id="7" name="Picture 6" descr="A screen shot of a phone&#10;&#10;Description automatically generated">
            <a:extLst>
              <a:ext uri="{FF2B5EF4-FFF2-40B4-BE49-F238E27FC236}">
                <a16:creationId xmlns:a16="http://schemas.microsoft.com/office/drawing/2014/main" id="{63B77B94-9C59-70BC-972E-674EF1BF8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920" y="1224642"/>
            <a:ext cx="2536093" cy="549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812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My first app with steroids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Roadmap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Understand what to use to generate a random word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Generate a random word and check that everything is working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Display the word in the “Hello” message 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Modify the UI to generate a new message each time a button is tapped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DA74F-A7E3-BC44-8BC1-2D0089A4F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77110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Solving point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755644" cy="5334907"/>
          </a:xfrm>
        </p:spPr>
        <p:txBody>
          <a:bodyPr>
            <a:normAutofit/>
          </a:bodyPr>
          <a:lstStyle/>
          <a:p>
            <a:r>
              <a:rPr lang="en-US" dirty="0"/>
              <a:t>We do not want to code a random English word generator! </a:t>
            </a:r>
          </a:p>
          <a:p>
            <a:endParaRPr lang="en-US" dirty="0"/>
          </a:p>
          <a:p>
            <a:r>
              <a:rPr lang="en-US" dirty="0"/>
              <a:t>On the Internet we can find a lot of already made code and ready-to-use packages that can fit your needs</a:t>
            </a:r>
          </a:p>
          <a:p>
            <a:endParaRPr lang="en-US" dirty="0"/>
          </a:p>
          <a:p>
            <a:r>
              <a:rPr lang="en-US" dirty="0"/>
              <a:t>A place that we will visit often during this course is </a:t>
            </a:r>
            <a:r>
              <a:rPr lang="en-US" dirty="0" err="1"/>
              <a:t>pub.dev</a:t>
            </a:r>
            <a:r>
              <a:rPr lang="en-US" dirty="0"/>
              <a:t>:</a:t>
            </a:r>
          </a:p>
        </p:txBody>
      </p:sp>
      <p:pic>
        <p:nvPicPr>
          <p:cNvPr id="6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DF021E3C-96D7-C343-ADF9-C90A195BB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032" y="4028620"/>
            <a:ext cx="5840275" cy="254150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EC9CF-F371-DE40-8D5D-80FE0031E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9054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This is the package I was looking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4566"/>
            <a:ext cx="4425183" cy="5331508"/>
          </a:xfrm>
        </p:spPr>
        <p:txBody>
          <a:bodyPr>
            <a:normAutofit/>
          </a:bodyPr>
          <a:lstStyle/>
          <a:p>
            <a:r>
              <a:rPr lang="en-US" dirty="0"/>
              <a:t>After some research, it seems like the </a:t>
            </a:r>
            <a:r>
              <a:rPr lang="en-US" b="1" dirty="0" err="1"/>
              <a:t>english_words</a:t>
            </a:r>
            <a:r>
              <a:rPr lang="en-US" b="1" dirty="0"/>
              <a:t> package</a:t>
            </a:r>
            <a:r>
              <a:rPr lang="en-US" dirty="0"/>
              <a:t> can solve our needs </a:t>
            </a:r>
          </a:p>
          <a:p>
            <a:endParaRPr lang="en-US" dirty="0"/>
          </a:p>
          <a:p>
            <a:r>
              <a:rPr lang="en-US" dirty="0"/>
              <a:t>It can generate words and words pairs!</a:t>
            </a:r>
          </a:p>
        </p:txBody>
      </p:sp>
      <p:pic>
        <p:nvPicPr>
          <p:cNvPr id="8" name="Picture 7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B624064F-5FD7-2046-A503-D2176C5DF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409" y="1136607"/>
            <a:ext cx="7188591" cy="57874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1BABC72-F932-9F4B-8356-B0D2FDF8F8D8}"/>
              </a:ext>
            </a:extLst>
          </p:cNvPr>
          <p:cNvSpPr/>
          <p:nvPr/>
        </p:nvSpPr>
        <p:spPr>
          <a:xfrm>
            <a:off x="1054288" y="4492190"/>
            <a:ext cx="297610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Aptos" panose="020B0004020202020204" pitchFamily="34" charset="0"/>
              </a:rPr>
              <a:t>How to use it? Docs!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53F970E-95C1-DE46-9502-8C700DC2D41B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4030394" y="4676856"/>
            <a:ext cx="6562578" cy="367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9DE8C13-6737-1D49-8962-4FC10F245C4A}"/>
              </a:ext>
            </a:extLst>
          </p:cNvPr>
          <p:cNvSpPr/>
          <p:nvPr/>
        </p:nvSpPr>
        <p:spPr>
          <a:xfrm>
            <a:off x="1054288" y="5308768"/>
            <a:ext cx="297610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Aptos" panose="020B0004020202020204" pitchFamily="34" charset="0"/>
              </a:rPr>
              <a:t>Code is available too!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65632B-A148-C045-9811-05328F4FD774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4030394" y="4412501"/>
            <a:ext cx="6562578" cy="1080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498D7-F4D5-8A49-A525-80FAFB97E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640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Including english_words in the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0" y="1364566"/>
            <a:ext cx="5536531" cy="533150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Installing the </a:t>
            </a:r>
            <a:r>
              <a:rPr lang="en-US" dirty="0" err="1"/>
              <a:t>english_words</a:t>
            </a:r>
            <a:r>
              <a:rPr lang="en-US" dirty="0"/>
              <a:t> package in our app is very easy.</a:t>
            </a:r>
          </a:p>
          <a:p>
            <a:endParaRPr lang="en-US" dirty="0"/>
          </a:p>
          <a:p>
            <a:r>
              <a:rPr lang="en-US" dirty="0"/>
              <a:t>By definition, it is a dependency right? </a:t>
            </a:r>
          </a:p>
          <a:p>
            <a:endParaRPr lang="en-US" dirty="0"/>
          </a:p>
          <a:p>
            <a:r>
              <a:rPr lang="en-US" dirty="0"/>
              <a:t>So, let’s add it under the dependency list of our app into </a:t>
            </a:r>
            <a:r>
              <a:rPr lang="en-US" dirty="0" err="1"/>
              <a:t>pubspec.yaml</a:t>
            </a:r>
            <a:endParaRPr lang="en-US" dirty="0"/>
          </a:p>
          <a:p>
            <a:endParaRPr lang="en-US" dirty="0"/>
          </a:p>
          <a:p>
            <a:r>
              <a:rPr lang="en-US" dirty="0"/>
              <a:t>After adding it, save </a:t>
            </a:r>
            <a:r>
              <a:rPr lang="en-US" dirty="0" err="1"/>
              <a:t>pubspec.yaml</a:t>
            </a:r>
            <a:r>
              <a:rPr lang="en-US" dirty="0"/>
              <a:t> and you will see </a:t>
            </a:r>
            <a:r>
              <a:rPr lang="en-US" dirty="0" err="1"/>
              <a:t>VSCode</a:t>
            </a:r>
            <a:r>
              <a:rPr lang="en-US" dirty="0"/>
              <a:t> running </a:t>
            </a:r>
            <a:r>
              <a:rPr lang="en-US" b="1" dirty="0">
                <a:latin typeface="Courier" pitchFamily="2" charset="0"/>
              </a:rPr>
              <a:t>flutter pub get</a:t>
            </a:r>
            <a:r>
              <a:rPr lang="en-US" dirty="0"/>
              <a:t> for you.</a:t>
            </a:r>
          </a:p>
          <a:p>
            <a:endParaRPr lang="en-US" dirty="0"/>
          </a:p>
          <a:p>
            <a:r>
              <a:rPr lang="en-US" dirty="0"/>
              <a:t>Done!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9F91D7-7D1F-254F-8766-F21DF76F304C}"/>
              </a:ext>
            </a:extLst>
          </p:cNvPr>
          <p:cNvSpPr/>
          <p:nvPr/>
        </p:nvSpPr>
        <p:spPr>
          <a:xfrm>
            <a:off x="6916271" y="2251973"/>
            <a:ext cx="444649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urier" pitchFamily="2" charset="0"/>
              </a:rPr>
              <a:t>...</a:t>
            </a:r>
          </a:p>
          <a:p>
            <a:endParaRPr lang="en-GB" dirty="0">
              <a:latin typeface="Courier" pitchFamily="2" charset="0"/>
            </a:endParaRPr>
          </a:p>
          <a:p>
            <a:r>
              <a:rPr lang="en-GB" dirty="0">
                <a:latin typeface="Courier" pitchFamily="2" charset="0"/>
              </a:rPr>
              <a:t>dependencies:</a:t>
            </a:r>
          </a:p>
          <a:p>
            <a:r>
              <a:rPr lang="en-GB" dirty="0">
                <a:latin typeface="Courier" pitchFamily="2" charset="0"/>
              </a:rPr>
              <a:t>  flutter:</a:t>
            </a:r>
          </a:p>
          <a:p>
            <a:r>
              <a:rPr lang="en-GB" dirty="0">
                <a:latin typeface="Courier" pitchFamily="2" charset="0"/>
              </a:rPr>
              <a:t>    </a:t>
            </a:r>
            <a:r>
              <a:rPr lang="en-GB" dirty="0" err="1">
                <a:latin typeface="Courier" pitchFamily="2" charset="0"/>
              </a:rPr>
              <a:t>sdk</a:t>
            </a:r>
            <a:r>
              <a:rPr lang="en-GB" dirty="0">
                <a:latin typeface="Courier" pitchFamily="2" charset="0"/>
              </a:rPr>
              <a:t>: flutter</a:t>
            </a:r>
          </a:p>
          <a:p>
            <a:br>
              <a:rPr lang="en-GB" dirty="0">
                <a:latin typeface="Courier" pitchFamily="2" charset="0"/>
              </a:rPr>
            </a:br>
            <a:r>
              <a:rPr lang="en-GB" dirty="0">
                <a:latin typeface="Courier" pitchFamily="2" charset="0"/>
              </a:rPr>
              <a:t>  </a:t>
            </a:r>
            <a:r>
              <a:rPr lang="en-GB" dirty="0" err="1">
                <a:latin typeface="Courier" pitchFamily="2" charset="0"/>
              </a:rPr>
              <a:t>cupertino_icons</a:t>
            </a:r>
            <a:r>
              <a:rPr lang="en-GB" dirty="0">
                <a:latin typeface="Courier" pitchFamily="2" charset="0"/>
              </a:rPr>
              <a:t>: ^1.0.2</a:t>
            </a:r>
          </a:p>
          <a:p>
            <a:br>
              <a:rPr lang="en-GB" b="1" dirty="0">
                <a:latin typeface="Courier" pitchFamily="2" charset="0"/>
              </a:rPr>
            </a:br>
            <a:r>
              <a:rPr lang="en-GB" b="1" dirty="0">
                <a:latin typeface="Courier" pitchFamily="2" charset="0"/>
              </a:rPr>
              <a:t>  </a:t>
            </a:r>
            <a:r>
              <a:rPr lang="en-GB" b="1" dirty="0" err="1">
                <a:latin typeface="Courier" pitchFamily="2" charset="0"/>
              </a:rPr>
              <a:t>english_words</a:t>
            </a:r>
            <a:r>
              <a:rPr lang="en-GB" b="1" dirty="0">
                <a:latin typeface="Courier" pitchFamily="2" charset="0"/>
              </a:rPr>
              <a:t>: ^4.0.0</a:t>
            </a:r>
          </a:p>
          <a:p>
            <a:endParaRPr lang="en-GB" b="1" dirty="0">
              <a:latin typeface="Courier" pitchFamily="2" charset="0"/>
            </a:endParaRPr>
          </a:p>
          <a:p>
            <a:r>
              <a:rPr lang="en-GB" dirty="0">
                <a:latin typeface="Courier" pitchFamily="2" charset="0"/>
              </a:rPr>
              <a:t>...</a:t>
            </a:r>
            <a:r>
              <a:rPr lang="en-GB" b="1" dirty="0">
                <a:latin typeface="Courier" pitchFamily="2" charset="0"/>
              </a:rPr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8910B-7AF5-B142-A44E-03FA1000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0824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My first app with steroids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Roadmap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Understand what to use to generate a random word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Generate a random word and check that everything is working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Display the word in the “Hello” message 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Modify the UI to generate a new message each time a button is tapped</a:t>
            </a:r>
          </a:p>
        </p:txBody>
      </p:sp>
      <p:pic>
        <p:nvPicPr>
          <p:cNvPr id="5" name="Graphic 4" descr="Badge Tick1 outline">
            <a:extLst>
              <a:ext uri="{FF2B5EF4-FFF2-40B4-BE49-F238E27FC236}">
                <a16:creationId xmlns:a16="http://schemas.microsoft.com/office/drawing/2014/main" id="{3C654B55-1AAB-4342-A53F-FA092921A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2684" y="1733843"/>
            <a:ext cx="914400" cy="914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BA137-B8C4-804B-BF19-9DD652E12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37729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Generating a random 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0" y="1364566"/>
            <a:ext cx="10302583" cy="5331508"/>
          </a:xfrm>
        </p:spPr>
        <p:txBody>
          <a:bodyPr>
            <a:normAutofit/>
          </a:bodyPr>
          <a:lstStyle/>
          <a:p>
            <a:r>
              <a:rPr lang="en-US" dirty="0"/>
              <a:t>Let’s add some line of code to </a:t>
            </a:r>
            <a:r>
              <a:rPr lang="en-US" dirty="0" err="1"/>
              <a:t>main.dart</a:t>
            </a:r>
            <a:r>
              <a:rPr lang="en-US" dirty="0"/>
              <a:t> to generate a word using the </a:t>
            </a:r>
            <a:r>
              <a:rPr lang="en-US" dirty="0" err="1"/>
              <a:t>english_words</a:t>
            </a:r>
            <a:r>
              <a:rPr lang="en-US" dirty="0"/>
              <a:t> package</a:t>
            </a:r>
          </a:p>
          <a:p>
            <a:endParaRPr lang="en-US" dirty="0"/>
          </a:p>
          <a:p>
            <a:r>
              <a:rPr lang="en-US" dirty="0"/>
              <a:t>Modify the build method by adding 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b="1" dirty="0">
                <a:latin typeface="Courier" pitchFamily="2" charset="0"/>
              </a:rPr>
              <a:t>final word = </a:t>
            </a:r>
            <a:r>
              <a:rPr lang="en-US" b="1" dirty="0" err="1">
                <a:latin typeface="Courier" pitchFamily="2" charset="0"/>
              </a:rPr>
              <a:t>WordPair.random</a:t>
            </a:r>
            <a:r>
              <a:rPr lang="en-US" b="1" dirty="0">
                <a:latin typeface="Courier" pitchFamily="2" charset="0"/>
              </a:rPr>
              <a:t>().first;</a:t>
            </a:r>
          </a:p>
          <a:p>
            <a:pPr marL="457200" lvl="1" indent="0">
              <a:buNone/>
            </a:pPr>
            <a:endParaRPr lang="en-US" b="1" dirty="0">
              <a:latin typeface="Courier" pitchFamily="2" charset="0"/>
            </a:endParaRPr>
          </a:p>
          <a:p>
            <a:pPr marL="114300" indent="0">
              <a:buNone/>
            </a:pPr>
            <a:r>
              <a:rPr lang="en-US" dirty="0"/>
              <a:t>    before the return statement and run the app.</a:t>
            </a:r>
          </a:p>
          <a:p>
            <a:pPr marL="114300" indent="0">
              <a:buNone/>
            </a:pPr>
            <a:endParaRPr lang="en-US" dirty="0"/>
          </a:p>
          <a:p>
            <a:pPr marL="457200"/>
            <a:r>
              <a:rPr lang="en-US" dirty="0"/>
              <a:t>Nothing it’s happening. How to see if we are generating a random word? </a:t>
            </a:r>
          </a:p>
          <a:p>
            <a:pPr marL="457200"/>
            <a:endParaRPr lang="en-US" dirty="0"/>
          </a:p>
          <a:p>
            <a:pPr marL="457200"/>
            <a:r>
              <a:rPr lang="en-US" dirty="0"/>
              <a:t>We can use the logger and the debug console!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DB102-751C-5147-BE9D-34FFEC951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049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Logging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0" y="1364566"/>
            <a:ext cx="10302583" cy="5331508"/>
          </a:xfrm>
        </p:spPr>
        <p:txBody>
          <a:bodyPr>
            <a:normAutofit/>
          </a:bodyPr>
          <a:lstStyle/>
          <a:p>
            <a:r>
              <a:rPr lang="en-US" dirty="0"/>
              <a:t>Simply try to print the word value as a normal Dart program: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b="1" dirty="0">
                <a:latin typeface="Courier" pitchFamily="2" charset="0"/>
              </a:rPr>
              <a:t>final word = </a:t>
            </a:r>
            <a:r>
              <a:rPr lang="en-US" b="1" dirty="0" err="1">
                <a:latin typeface="Courier" pitchFamily="2" charset="0"/>
              </a:rPr>
              <a:t>WordPair.random</a:t>
            </a:r>
            <a:r>
              <a:rPr lang="en-US" b="1" dirty="0">
                <a:latin typeface="Courier" pitchFamily="2" charset="0"/>
              </a:rPr>
              <a:t>().first;</a:t>
            </a:r>
          </a:p>
          <a:p>
            <a:pPr marL="457200" lvl="1" indent="0">
              <a:buNone/>
            </a:pPr>
            <a:r>
              <a:rPr lang="en-US" b="1" dirty="0">
                <a:latin typeface="Courier" pitchFamily="2" charset="0"/>
              </a:rPr>
              <a:t>print(word);</a:t>
            </a:r>
          </a:p>
          <a:p>
            <a:pPr marL="114300" indent="0">
              <a:buNone/>
            </a:pPr>
            <a:endParaRPr lang="en-US" dirty="0"/>
          </a:p>
          <a:p>
            <a:pPr marL="457200"/>
            <a:r>
              <a:rPr lang="en-US" dirty="0"/>
              <a:t>If you run the application now you will see something like this in the </a:t>
            </a:r>
            <a:r>
              <a:rPr lang="en-US" b="1" dirty="0"/>
              <a:t>Debug Console </a:t>
            </a:r>
            <a:r>
              <a:rPr lang="en-US" dirty="0"/>
              <a:t>of VS Code:</a:t>
            </a:r>
          </a:p>
          <a:p>
            <a:pPr marL="457200"/>
            <a:endParaRPr lang="en-US" dirty="0"/>
          </a:p>
          <a:p>
            <a:pPr marL="457200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6AEBA-0870-7E40-AE91-2A9D7FBF6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29</a:t>
            </a:fld>
            <a:endParaRPr lang="en-GB"/>
          </a:p>
        </p:txBody>
      </p:sp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861665F0-6873-B9F3-A8F4-E7B0604904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490" y="4642534"/>
            <a:ext cx="8839678" cy="1394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325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Logging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0" y="1364566"/>
            <a:ext cx="10302583" cy="5331508"/>
          </a:xfrm>
        </p:spPr>
        <p:txBody>
          <a:bodyPr>
            <a:normAutofit/>
          </a:bodyPr>
          <a:lstStyle/>
          <a:p>
            <a:r>
              <a:rPr lang="en-US" dirty="0"/>
              <a:t>Every time you reload/restart the app</a:t>
            </a:r>
          </a:p>
          <a:p>
            <a:pPr marL="457200"/>
            <a:endParaRPr lang="en-US" dirty="0"/>
          </a:p>
          <a:p>
            <a:pPr marL="457200"/>
            <a:endParaRPr lang="en-US" dirty="0"/>
          </a:p>
          <a:p>
            <a:pPr marL="457200"/>
            <a:endParaRPr lang="en-US" dirty="0"/>
          </a:p>
          <a:p>
            <a:pPr marL="457200"/>
            <a:endParaRPr lang="en-US" dirty="0"/>
          </a:p>
          <a:p>
            <a:pPr marL="457200"/>
            <a:r>
              <a:rPr lang="en-US" dirty="0"/>
              <a:t>…you will see a different word</a:t>
            </a:r>
          </a:p>
          <a:p>
            <a:pPr marL="457200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FDAFA9-57C3-4745-9C1C-9B70447B06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889" y="2362206"/>
            <a:ext cx="4500966" cy="680002"/>
          </a:xfrm>
          <a:prstGeom prst="rect">
            <a:avLst/>
          </a:prstGeom>
        </p:spPr>
      </p:pic>
      <p:pic>
        <p:nvPicPr>
          <p:cNvPr id="8" name="Picture 7" descr="Graphical user interface, text&#10;&#10;Description automatically generated with medium confidence">
            <a:extLst>
              <a:ext uri="{FF2B5EF4-FFF2-40B4-BE49-F238E27FC236}">
                <a16:creationId xmlns:a16="http://schemas.microsoft.com/office/drawing/2014/main" id="{4C2BDDBA-CDDE-414A-8C18-382F648BB4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307" y="4584279"/>
            <a:ext cx="8982446" cy="181830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2BA53F2-60DD-9549-9ADC-990BAAA6C63E}"/>
              </a:ext>
            </a:extLst>
          </p:cNvPr>
          <p:cNvSpPr/>
          <p:nvPr/>
        </p:nvSpPr>
        <p:spPr>
          <a:xfrm>
            <a:off x="6069106" y="2310004"/>
            <a:ext cx="640977" cy="732204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1D3FE6-B7DF-1545-ADF0-0CFB0A918033}"/>
              </a:ext>
            </a:extLst>
          </p:cNvPr>
          <p:cNvSpPr/>
          <p:nvPr/>
        </p:nvSpPr>
        <p:spPr>
          <a:xfrm>
            <a:off x="8181230" y="1560731"/>
            <a:ext cx="297610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Aptos" panose="020B0004020202020204" pitchFamily="34" charset="0"/>
              </a:rPr>
              <a:t>Restart button</a:t>
            </a:r>
            <a:endParaRPr lang="en-IT" dirty="0">
              <a:latin typeface="Aptos" panose="020B0004020202020204" pitchFamily="34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E8C927D-2B0E-E440-865E-ABA84A7649DE}"/>
              </a:ext>
            </a:extLst>
          </p:cNvPr>
          <p:cNvCxnSpPr>
            <a:cxnSpLocks/>
            <a:stCxn id="10" idx="1"/>
            <a:endCxn id="9" idx="0"/>
          </p:cNvCxnSpPr>
          <p:nvPr/>
        </p:nvCxnSpPr>
        <p:spPr>
          <a:xfrm flipH="1">
            <a:off x="6389595" y="1745397"/>
            <a:ext cx="1791635" cy="5646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9950C70-4E6F-2E48-8451-28A4E6B137BF}"/>
              </a:ext>
            </a:extLst>
          </p:cNvPr>
          <p:cNvSpPr/>
          <p:nvPr/>
        </p:nvSpPr>
        <p:spPr>
          <a:xfrm>
            <a:off x="8181230" y="3400841"/>
            <a:ext cx="2976106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latin typeface="Aptos" panose="020B0004020202020204" pitchFamily="34" charset="0"/>
              </a:rPr>
              <a:t>Reload button</a:t>
            </a:r>
            <a:endParaRPr lang="en-IT" dirty="0">
              <a:latin typeface="Aptos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A06C81-7A97-2743-9C8A-8314437DA68F}"/>
              </a:ext>
            </a:extLst>
          </p:cNvPr>
          <p:cNvSpPr/>
          <p:nvPr/>
        </p:nvSpPr>
        <p:spPr>
          <a:xfrm>
            <a:off x="5566015" y="2305798"/>
            <a:ext cx="640977" cy="732204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AB296ED-7D06-F342-9C34-AFA06DFAC0B9}"/>
              </a:ext>
            </a:extLst>
          </p:cNvPr>
          <p:cNvCxnSpPr>
            <a:cxnSpLocks/>
            <a:stCxn id="16" idx="1"/>
            <a:endCxn id="18" idx="2"/>
          </p:cNvCxnSpPr>
          <p:nvPr/>
        </p:nvCxnSpPr>
        <p:spPr>
          <a:xfrm flipH="1" flipV="1">
            <a:off x="5886504" y="3038002"/>
            <a:ext cx="2294726" cy="547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D85F2-3001-6840-A043-66121A7CD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586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My first app with steroids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Roadmap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Understand what to use to generate a random word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Generate a random word and check that everything is working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Display the word in the “Hello” message 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Modify the UI to generate a new message each time a button is tapped</a:t>
            </a:r>
          </a:p>
        </p:txBody>
      </p:sp>
      <p:pic>
        <p:nvPicPr>
          <p:cNvPr id="5" name="Graphic 4" descr="Badge Tick1 outline">
            <a:extLst>
              <a:ext uri="{FF2B5EF4-FFF2-40B4-BE49-F238E27FC236}">
                <a16:creationId xmlns:a16="http://schemas.microsoft.com/office/drawing/2014/main" id="{3C654B55-1AAB-4342-A53F-FA092921A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2684" y="1733843"/>
            <a:ext cx="914400" cy="914400"/>
          </a:xfrm>
          <a:prstGeom prst="rect">
            <a:avLst/>
          </a:prstGeom>
        </p:spPr>
      </p:pic>
      <p:pic>
        <p:nvPicPr>
          <p:cNvPr id="6" name="Graphic 5" descr="Badge Tick1 outline">
            <a:extLst>
              <a:ext uri="{FF2B5EF4-FFF2-40B4-BE49-F238E27FC236}">
                <a16:creationId xmlns:a16="http://schemas.microsoft.com/office/drawing/2014/main" id="{BF571C68-5305-5C40-B93A-9260CBDF2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2684" y="2514600"/>
            <a:ext cx="914400" cy="914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D560C-4077-2C45-AA2B-0E46CD894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3013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Change the Hello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50558"/>
            <a:ext cx="7868663" cy="5331508"/>
          </a:xfrm>
        </p:spPr>
        <p:txBody>
          <a:bodyPr>
            <a:normAutofit/>
          </a:bodyPr>
          <a:lstStyle/>
          <a:p>
            <a:r>
              <a:rPr lang="en-US" dirty="0"/>
              <a:t>You should be able to solve this point by yourself now</a:t>
            </a:r>
          </a:p>
          <a:p>
            <a:endParaRPr lang="en-US" dirty="0"/>
          </a:p>
          <a:p>
            <a:r>
              <a:rPr lang="en-US" dirty="0"/>
              <a:t>Simply, using string interpolation, change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‘Hello, Flutter!’</a:t>
            </a:r>
            <a:r>
              <a:rPr lang="en-US" dirty="0"/>
              <a:t>	to	</a:t>
            </a:r>
            <a:r>
              <a:rPr lang="en-US" dirty="0">
                <a:latin typeface="Courier" pitchFamily="2" charset="0"/>
              </a:rPr>
              <a:t>’Hello, $word!’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save to reload the app and see the changes.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endParaRPr lang="en-US" dirty="0">
              <a:latin typeface="Courier" pitchFamily="2" charset="0"/>
            </a:endParaRPr>
          </a:p>
        </p:txBody>
      </p:sp>
      <p:pic>
        <p:nvPicPr>
          <p:cNvPr id="5" name="Picture 4" descr="Chart&#10;&#10;Description automatically generated with medium confidence">
            <a:extLst>
              <a:ext uri="{FF2B5EF4-FFF2-40B4-BE49-F238E27FC236}">
                <a16:creationId xmlns:a16="http://schemas.microsoft.com/office/drawing/2014/main" id="{A0DB92A4-01A1-5D47-976D-F16CE7245D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425" b="29462"/>
          <a:stretch/>
        </p:blipFill>
        <p:spPr>
          <a:xfrm>
            <a:off x="7937181" y="4060643"/>
            <a:ext cx="3859305" cy="2407693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4B7E1-4A4A-5B49-8914-B24E6BDBA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2926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My first app with steroids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Roadmap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Understand what to use to generate a random word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Generate a random word and check that everything is working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Display the word in the “Hello” message 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Modify the UI to generate a new message each time a button is tapped</a:t>
            </a:r>
          </a:p>
        </p:txBody>
      </p:sp>
      <p:pic>
        <p:nvPicPr>
          <p:cNvPr id="5" name="Graphic 4" descr="Badge Tick1 outline">
            <a:extLst>
              <a:ext uri="{FF2B5EF4-FFF2-40B4-BE49-F238E27FC236}">
                <a16:creationId xmlns:a16="http://schemas.microsoft.com/office/drawing/2014/main" id="{3C654B55-1AAB-4342-A53F-FA092921A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2684" y="1733843"/>
            <a:ext cx="914400" cy="914400"/>
          </a:xfrm>
          <a:prstGeom prst="rect">
            <a:avLst/>
          </a:prstGeom>
        </p:spPr>
      </p:pic>
      <p:pic>
        <p:nvPicPr>
          <p:cNvPr id="6" name="Graphic 5" descr="Badge Tick1 outline">
            <a:extLst>
              <a:ext uri="{FF2B5EF4-FFF2-40B4-BE49-F238E27FC236}">
                <a16:creationId xmlns:a16="http://schemas.microsoft.com/office/drawing/2014/main" id="{BF571C68-5305-5C40-B93A-9260CBDF2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2684" y="2514600"/>
            <a:ext cx="914400" cy="914400"/>
          </a:xfrm>
          <a:prstGeom prst="rect">
            <a:avLst/>
          </a:prstGeom>
        </p:spPr>
      </p:pic>
      <p:pic>
        <p:nvPicPr>
          <p:cNvPr id="7" name="Graphic 6" descr="Badge Tick1 outline">
            <a:extLst>
              <a:ext uri="{FF2B5EF4-FFF2-40B4-BE49-F238E27FC236}">
                <a16:creationId xmlns:a16="http://schemas.microsoft.com/office/drawing/2014/main" id="{CBBE2052-621C-9941-8BE3-77BB7FA31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9111" y="3429000"/>
            <a:ext cx="914400" cy="9144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F3741-660A-9F47-93E3-C5365460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951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Changing the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350558"/>
            <a:ext cx="5667828" cy="5331508"/>
          </a:xfrm>
        </p:spPr>
        <p:txBody>
          <a:bodyPr>
            <a:normAutofit/>
          </a:bodyPr>
          <a:lstStyle/>
          <a:p>
            <a:r>
              <a:rPr lang="en-US" dirty="0"/>
              <a:t>Let’s start by simply changing the UI</a:t>
            </a:r>
          </a:p>
          <a:p>
            <a:endParaRPr lang="en-US" dirty="0"/>
          </a:p>
          <a:p>
            <a:r>
              <a:rPr lang="en-US" dirty="0"/>
              <a:t>We need to obtain something like</a:t>
            </a:r>
          </a:p>
          <a:p>
            <a:endParaRPr lang="en-US" dirty="0"/>
          </a:p>
          <a:p>
            <a:r>
              <a:rPr lang="en-US" dirty="0"/>
              <a:t>Problems:</a:t>
            </a:r>
          </a:p>
          <a:p>
            <a:endParaRPr lang="en-US" dirty="0"/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How to add a button</a:t>
            </a:r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r>
              <a:rPr lang="en-US" dirty="0"/>
              <a:t>How to put it there</a:t>
            </a:r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159EB-DDAC-5542-81F0-A86EA519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6443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white rectangular object with black text&#10;&#10;Description automatically generated">
            <a:extLst>
              <a:ext uri="{FF2B5EF4-FFF2-40B4-BE49-F238E27FC236}">
                <a16:creationId xmlns:a16="http://schemas.microsoft.com/office/drawing/2014/main" id="{9536BEDD-5230-4B6A-04F0-62B54C97A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700" y="4212843"/>
            <a:ext cx="2785721" cy="2397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Column Widget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50558"/>
            <a:ext cx="9468863" cy="5331508"/>
          </a:xfrm>
        </p:spPr>
        <p:txBody>
          <a:bodyPr>
            <a:normAutofit/>
          </a:bodyPr>
          <a:lstStyle/>
          <a:p>
            <a:r>
              <a:rPr lang="en-US" dirty="0"/>
              <a:t>We can use the Column widget. </a:t>
            </a:r>
          </a:p>
          <a:p>
            <a:endParaRPr lang="en-US" dirty="0"/>
          </a:p>
          <a:p>
            <a:r>
              <a:rPr lang="en-US" dirty="0"/>
              <a:t>It has a list of children (not like Text or Center or Scaffold)</a:t>
            </a:r>
          </a:p>
          <a:p>
            <a:endParaRPr lang="en-US" dirty="0"/>
          </a:p>
          <a:p>
            <a:r>
              <a:rPr lang="en-US" dirty="0"/>
              <a:t>Children are lined up to a column from top to the bottom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Column(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children: [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  Child#1,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  Child#2,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  ],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);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2C3E43-5939-BC4D-9B08-A8DA4A18A598}"/>
              </a:ext>
            </a:extLst>
          </p:cNvPr>
          <p:cNvSpPr/>
          <p:nvPr/>
        </p:nvSpPr>
        <p:spPr>
          <a:xfrm>
            <a:off x="6831106" y="4747285"/>
            <a:ext cx="2272553" cy="524435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24EB04-E683-4248-B95E-98902820066F}"/>
              </a:ext>
            </a:extLst>
          </p:cNvPr>
          <p:cNvSpPr/>
          <p:nvPr/>
        </p:nvSpPr>
        <p:spPr>
          <a:xfrm>
            <a:off x="6831106" y="5276202"/>
            <a:ext cx="2272553" cy="784248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02D595-9CD5-2446-89A4-EFC01A022089}"/>
              </a:ext>
            </a:extLst>
          </p:cNvPr>
          <p:cNvSpPr/>
          <p:nvPr/>
        </p:nvSpPr>
        <p:spPr>
          <a:xfrm>
            <a:off x="6589060" y="4222850"/>
            <a:ext cx="2667000" cy="2124635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8764FA-8DDD-F24E-B364-7809BB966C82}"/>
              </a:ext>
            </a:extLst>
          </p:cNvPr>
          <p:cNvSpPr/>
          <p:nvPr/>
        </p:nvSpPr>
        <p:spPr>
          <a:xfrm>
            <a:off x="3839887" y="4569304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Column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03AA12-6302-1E4C-8D12-7503A1135559}"/>
              </a:ext>
            </a:extLst>
          </p:cNvPr>
          <p:cNvSpPr/>
          <p:nvPr/>
        </p:nvSpPr>
        <p:spPr>
          <a:xfrm>
            <a:off x="3839887" y="5895310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Child#2</a:t>
            </a:r>
            <a:endParaRPr lang="en-IT" sz="1100" dirty="0">
              <a:latin typeface="Courier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E438DC-01C8-C74E-B33F-3781B4237671}"/>
              </a:ext>
            </a:extLst>
          </p:cNvPr>
          <p:cNvSpPr/>
          <p:nvPr/>
        </p:nvSpPr>
        <p:spPr>
          <a:xfrm>
            <a:off x="3839887" y="5185674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Child#1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344F441-4BB8-9F45-A523-EE169047589B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5296898" y="4569304"/>
            <a:ext cx="1292162" cy="22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53D8A16-764C-0943-A9AF-ADADE1EBD95E}"/>
              </a:ext>
            </a:extLst>
          </p:cNvPr>
          <p:cNvCxnSpPr>
            <a:cxnSpLocks/>
            <a:stCxn id="12" idx="3"/>
            <a:endCxn id="7" idx="1"/>
          </p:cNvCxnSpPr>
          <p:nvPr/>
        </p:nvCxnSpPr>
        <p:spPr>
          <a:xfrm flipV="1">
            <a:off x="5296898" y="5009503"/>
            <a:ext cx="1534208" cy="402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B71A41-7805-1E45-ABC0-6477A4647782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296898" y="5668246"/>
            <a:ext cx="1534208" cy="453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268F1-718F-0043-9079-57C597DB9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41906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Implement the new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364566"/>
            <a:ext cx="9468863" cy="5331508"/>
          </a:xfrm>
        </p:spPr>
        <p:txBody>
          <a:bodyPr>
            <a:normAutofit/>
          </a:bodyPr>
          <a:lstStyle/>
          <a:p>
            <a:r>
              <a:rPr lang="en-US" dirty="0"/>
              <a:t>Change the build method of </a:t>
            </a:r>
            <a:r>
              <a:rPr lang="en-US" dirty="0" err="1"/>
              <a:t>MyApp</a:t>
            </a:r>
            <a:r>
              <a:rPr lang="en-US" dirty="0"/>
              <a:t> to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A9CE55-494A-3D4E-AC21-DF7C50225FAE}"/>
              </a:ext>
            </a:extLst>
          </p:cNvPr>
          <p:cNvSpPr/>
          <p:nvPr/>
        </p:nvSpPr>
        <p:spPr>
          <a:xfrm>
            <a:off x="228601" y="2056686"/>
            <a:ext cx="1137172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urier" pitchFamily="2" charset="0"/>
              </a:rPr>
              <a:t>Widget build(</a:t>
            </a:r>
            <a:r>
              <a:rPr lang="en-GB" dirty="0" err="1">
                <a:latin typeface="Courier" pitchFamily="2" charset="0"/>
              </a:rPr>
              <a:t>BuildContext</a:t>
            </a:r>
            <a:r>
              <a:rPr lang="en-GB" dirty="0">
                <a:latin typeface="Courier" pitchFamily="2" charset="0"/>
              </a:rPr>
              <a:t> context) {</a:t>
            </a:r>
          </a:p>
          <a:p>
            <a:r>
              <a:rPr lang="en-GB" dirty="0">
                <a:latin typeface="Courier" pitchFamily="2" charset="0"/>
              </a:rPr>
              <a:t>  final word = </a:t>
            </a:r>
            <a:r>
              <a:rPr lang="en-GB" dirty="0" err="1">
                <a:latin typeface="Courier" pitchFamily="2" charset="0"/>
              </a:rPr>
              <a:t>WordPair.random</a:t>
            </a:r>
            <a:r>
              <a:rPr lang="en-GB" dirty="0">
                <a:latin typeface="Courier" pitchFamily="2" charset="0"/>
              </a:rPr>
              <a:t>().first;</a:t>
            </a:r>
          </a:p>
          <a:p>
            <a:r>
              <a:rPr lang="en-GB" dirty="0">
                <a:latin typeface="Courier" pitchFamily="2" charset="0"/>
              </a:rPr>
              <a:t>  print(word);</a:t>
            </a:r>
          </a:p>
          <a:p>
            <a:r>
              <a:rPr lang="en-GB" dirty="0">
                <a:latin typeface="Courier" pitchFamily="2" charset="0"/>
              </a:rPr>
              <a:t>  return </a:t>
            </a:r>
            <a:r>
              <a:rPr lang="en-GB" dirty="0" err="1">
                <a:latin typeface="Courier" pitchFamily="2" charset="0"/>
              </a:rPr>
              <a:t>MaterialApp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r>
              <a:rPr lang="en-GB" dirty="0">
                <a:latin typeface="Courier" pitchFamily="2" charset="0"/>
              </a:rPr>
              <a:t>    title: 'Welcome to Flutter’,</a:t>
            </a:r>
          </a:p>
          <a:p>
            <a:r>
              <a:rPr lang="en-GB" dirty="0">
                <a:latin typeface="Courier" pitchFamily="2" charset="0"/>
              </a:rPr>
              <a:t>    home: Scaffold(</a:t>
            </a:r>
          </a:p>
          <a:p>
            <a:r>
              <a:rPr lang="en-GB" dirty="0">
                <a:latin typeface="Courier" pitchFamily="2" charset="0"/>
              </a:rPr>
              <a:t>      </a:t>
            </a:r>
            <a:r>
              <a:rPr lang="en-GB" dirty="0" err="1">
                <a:latin typeface="Courier" pitchFamily="2" charset="0"/>
              </a:rPr>
              <a:t>appBar</a:t>
            </a:r>
            <a:r>
              <a:rPr lang="en-GB" dirty="0">
                <a:latin typeface="Courier" pitchFamily="2" charset="0"/>
              </a:rPr>
              <a:t>: </a:t>
            </a:r>
            <a:r>
              <a:rPr lang="en-GB" dirty="0" err="1">
                <a:latin typeface="Courier" pitchFamily="2" charset="0"/>
              </a:rPr>
              <a:t>AppBar</a:t>
            </a:r>
            <a:r>
              <a:rPr lang="en-GB" dirty="0">
                <a:latin typeface="Courier" pitchFamily="2" charset="0"/>
              </a:rPr>
              <a:t>(title: Text('Welcome to Flutter'),),</a:t>
            </a:r>
          </a:p>
          <a:p>
            <a:r>
              <a:rPr lang="en-GB" dirty="0">
                <a:latin typeface="Courier" pitchFamily="2" charset="0"/>
              </a:rPr>
              <a:t>      body: </a:t>
            </a:r>
            <a:r>
              <a:rPr lang="en-GB" dirty="0" err="1">
                <a:latin typeface="Courier" pitchFamily="2" charset="0"/>
              </a:rPr>
              <a:t>Center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r>
              <a:rPr lang="en-GB" dirty="0">
                <a:latin typeface="Courier" pitchFamily="2" charset="0"/>
              </a:rPr>
              <a:t>        child: </a:t>
            </a:r>
            <a:r>
              <a:rPr lang="en-GB" b="1" dirty="0">
                <a:latin typeface="Courier" pitchFamily="2" charset="0"/>
              </a:rPr>
              <a:t>Column(</a:t>
            </a:r>
          </a:p>
          <a:p>
            <a:r>
              <a:rPr lang="en-GB" b="1" dirty="0">
                <a:latin typeface="Courier" pitchFamily="2" charset="0"/>
              </a:rPr>
              <a:t>          </a:t>
            </a:r>
            <a:r>
              <a:rPr lang="en-GB" b="1" dirty="0" err="1">
                <a:latin typeface="Courier" pitchFamily="2" charset="0"/>
              </a:rPr>
              <a:t>mainAxisAlignment</a:t>
            </a:r>
            <a:r>
              <a:rPr lang="en-GB" b="1" dirty="0">
                <a:latin typeface="Courier" pitchFamily="2" charset="0"/>
              </a:rPr>
              <a:t>: </a:t>
            </a:r>
            <a:r>
              <a:rPr lang="en-GB" b="1" dirty="0" err="1">
                <a:latin typeface="Courier" pitchFamily="2" charset="0"/>
              </a:rPr>
              <a:t>MainAxisAlignment.center</a:t>
            </a:r>
            <a:r>
              <a:rPr lang="en-GB" b="1" dirty="0">
                <a:latin typeface="Courier" pitchFamily="2" charset="0"/>
              </a:rPr>
              <a:t>,</a:t>
            </a:r>
          </a:p>
          <a:p>
            <a:r>
              <a:rPr lang="en-GB" b="1" dirty="0">
                <a:latin typeface="Courier" pitchFamily="2" charset="0"/>
              </a:rPr>
              <a:t>          children: [</a:t>
            </a:r>
          </a:p>
          <a:p>
            <a:r>
              <a:rPr lang="en-GB" b="1" dirty="0">
                <a:latin typeface="Courier" pitchFamily="2" charset="0"/>
              </a:rPr>
              <a:t>            Text('Hello, $word!’),</a:t>
            </a:r>
          </a:p>
          <a:p>
            <a:r>
              <a:rPr lang="en-GB" b="1" dirty="0">
                <a:latin typeface="Courier" pitchFamily="2" charset="0"/>
              </a:rPr>
              <a:t>            </a:t>
            </a:r>
            <a:r>
              <a:rPr lang="en-GB" b="1" dirty="0" err="1">
                <a:latin typeface="Courier" pitchFamily="2" charset="0"/>
              </a:rPr>
              <a:t>ElevatedButton</a:t>
            </a:r>
            <a:r>
              <a:rPr lang="en-GB" b="1" dirty="0">
                <a:latin typeface="Courier" pitchFamily="2" charset="0"/>
              </a:rPr>
              <a:t>(</a:t>
            </a:r>
            <a:r>
              <a:rPr lang="en-GB" b="1" dirty="0" err="1">
                <a:latin typeface="Courier" pitchFamily="2" charset="0"/>
              </a:rPr>
              <a:t>onPressed</a:t>
            </a:r>
            <a:r>
              <a:rPr lang="en-GB" b="1" dirty="0">
                <a:latin typeface="Courier" pitchFamily="2" charset="0"/>
              </a:rPr>
              <a:t>: (){}, child: Text('Press me')),</a:t>
            </a:r>
          </a:p>
          <a:p>
            <a:r>
              <a:rPr lang="en-GB" b="1" dirty="0">
                <a:latin typeface="Courier" pitchFamily="2" charset="0"/>
              </a:rPr>
              <a:t>          ],</a:t>
            </a:r>
          </a:p>
          <a:p>
            <a:r>
              <a:rPr lang="en-GB" b="1" dirty="0">
                <a:latin typeface="Courier" pitchFamily="2" charset="0"/>
              </a:rPr>
              <a:t>        ),</a:t>
            </a:r>
            <a:r>
              <a:rPr lang="en-GB" dirty="0">
                <a:latin typeface="Courier" pitchFamily="2" charset="0"/>
              </a:rPr>
              <a:t>),),</a:t>
            </a:r>
          </a:p>
          <a:p>
            <a:r>
              <a:rPr lang="en-GB" dirty="0">
                <a:latin typeface="Courier" pitchFamily="2" charset="0"/>
              </a:rPr>
              <a:t>  );</a:t>
            </a:r>
          </a:p>
          <a:p>
            <a:r>
              <a:rPr lang="en-GB" dirty="0">
                <a:latin typeface="Courier" pitchFamily="2" charset="0"/>
              </a:rPr>
              <a:t>}//build</a:t>
            </a:r>
            <a:endParaRPr lang="en-GB" b="0" dirty="0">
              <a:effectLst/>
              <a:latin typeface="Courier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7BB763-A9ED-B449-BCBE-608BFDBAB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25898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Different UI, different tree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B42C9F-EA5E-E84C-933B-1E6C49907384}"/>
              </a:ext>
            </a:extLst>
          </p:cNvPr>
          <p:cNvSpPr/>
          <p:nvPr/>
        </p:nvSpPr>
        <p:spPr>
          <a:xfrm>
            <a:off x="825038" y="4917652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9D5A8A-B0AC-B84D-AD4B-863512C279DC}"/>
              </a:ext>
            </a:extLst>
          </p:cNvPr>
          <p:cNvSpPr/>
          <p:nvPr/>
        </p:nvSpPr>
        <p:spPr>
          <a:xfrm>
            <a:off x="1854993" y="332641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Scaffold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2471A4-C1BA-2342-BED9-84A6F866A98C}"/>
              </a:ext>
            </a:extLst>
          </p:cNvPr>
          <p:cNvSpPr/>
          <p:nvPr/>
        </p:nvSpPr>
        <p:spPr>
          <a:xfrm>
            <a:off x="825038" y="4147280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AppBar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018BD8-25DA-494C-B327-BAA6C47353FB}"/>
              </a:ext>
            </a:extLst>
          </p:cNvPr>
          <p:cNvSpPr/>
          <p:nvPr/>
        </p:nvSpPr>
        <p:spPr>
          <a:xfrm>
            <a:off x="2911744" y="4147281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Center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E99EEE-C389-4C46-B50A-614714CC22AD}"/>
              </a:ext>
            </a:extLst>
          </p:cNvPr>
          <p:cNvSpPr/>
          <p:nvPr/>
        </p:nvSpPr>
        <p:spPr>
          <a:xfrm>
            <a:off x="1854992" y="2541741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400" dirty="0">
                <a:latin typeface="Courier" pitchFamily="2" charset="0"/>
              </a:rPr>
              <a:t>...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6C58FE4-50A0-594E-9EC8-3ED6B3197422}"/>
              </a:ext>
            </a:extLst>
          </p:cNvPr>
          <p:cNvCxnSpPr>
            <a:cxnSpLocks/>
            <a:stCxn id="12" idx="2"/>
            <a:endCxn id="9" idx="0"/>
          </p:cNvCxnSpPr>
          <p:nvPr/>
        </p:nvCxnSpPr>
        <p:spPr>
          <a:xfrm>
            <a:off x="2583498" y="2993916"/>
            <a:ext cx="1" cy="33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4690AA-E12A-864A-9704-7490E4A9B9CA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1553544" y="3778594"/>
            <a:ext cx="1029955" cy="36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B82D47-34A1-304C-8A9C-119F8E7415B8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>
            <a:off x="1553544" y="4599455"/>
            <a:ext cx="0" cy="3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A56897D-EB10-FD4D-867C-E7C57BDE59A9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2583499" y="3778594"/>
            <a:ext cx="1056751" cy="368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570FDB-0A87-3146-B350-6A0D8314A0DD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3640250" y="4599456"/>
            <a:ext cx="9457" cy="355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56" name="Graphic 55" descr="Cursor with solid fill">
            <a:extLst>
              <a:ext uri="{FF2B5EF4-FFF2-40B4-BE49-F238E27FC236}">
                <a16:creationId xmlns:a16="http://schemas.microsoft.com/office/drawing/2014/main" id="{BBF7B2EC-8D05-C048-B17F-75F073918C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123154">
            <a:off x="4912159" y="3401106"/>
            <a:ext cx="914400" cy="914400"/>
          </a:xfrm>
          <a:prstGeom prst="rect">
            <a:avLst/>
          </a:prstGeom>
        </p:spPr>
      </p:pic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65D6E243-3B2C-7C44-96BB-E1CF73254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50558"/>
            <a:ext cx="11512815" cy="478242"/>
          </a:xfrm>
        </p:spPr>
        <p:txBody>
          <a:bodyPr>
            <a:normAutofit/>
          </a:bodyPr>
          <a:lstStyle/>
          <a:p>
            <a:r>
              <a:rPr lang="en-US" dirty="0"/>
              <a:t>How the widget tree changed?</a:t>
            </a:r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7A504BD-3AD1-B149-959A-8421A5321612}"/>
              </a:ext>
            </a:extLst>
          </p:cNvPr>
          <p:cNvSpPr/>
          <p:nvPr/>
        </p:nvSpPr>
        <p:spPr>
          <a:xfrm>
            <a:off x="2911743" y="4965431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58C5F1-E8A6-6C41-88E6-DD4176E0F5BA}"/>
              </a:ext>
            </a:extLst>
          </p:cNvPr>
          <p:cNvSpPr/>
          <p:nvPr/>
        </p:nvSpPr>
        <p:spPr>
          <a:xfrm>
            <a:off x="6176079" y="4568058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8E3C733-B5E2-284D-9A45-ED418AECF427}"/>
              </a:ext>
            </a:extLst>
          </p:cNvPr>
          <p:cNvSpPr/>
          <p:nvPr/>
        </p:nvSpPr>
        <p:spPr>
          <a:xfrm>
            <a:off x="7206034" y="2976825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Scaffold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774DF2E-4D44-F946-BF8E-DDF15F66B452}"/>
              </a:ext>
            </a:extLst>
          </p:cNvPr>
          <p:cNvSpPr/>
          <p:nvPr/>
        </p:nvSpPr>
        <p:spPr>
          <a:xfrm>
            <a:off x="6176079" y="3797686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AppBar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112EE59-A034-DE41-8578-CC66DE2CD5EB}"/>
              </a:ext>
            </a:extLst>
          </p:cNvPr>
          <p:cNvSpPr/>
          <p:nvPr/>
        </p:nvSpPr>
        <p:spPr>
          <a:xfrm>
            <a:off x="8262785" y="3797687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Center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15A97B9-26C3-CA47-B9BA-925281EDD817}"/>
              </a:ext>
            </a:extLst>
          </p:cNvPr>
          <p:cNvSpPr/>
          <p:nvPr/>
        </p:nvSpPr>
        <p:spPr>
          <a:xfrm>
            <a:off x="7206033" y="2192147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400" dirty="0">
                <a:latin typeface="Courier" pitchFamily="2" charset="0"/>
              </a:rPr>
              <a:t>...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4CCB585-1875-A443-8058-829FAA42C5F9}"/>
              </a:ext>
            </a:extLst>
          </p:cNvPr>
          <p:cNvCxnSpPr>
            <a:cxnSpLocks/>
            <a:stCxn id="51" idx="2"/>
            <a:endCxn id="47" idx="0"/>
          </p:cNvCxnSpPr>
          <p:nvPr/>
        </p:nvCxnSpPr>
        <p:spPr>
          <a:xfrm>
            <a:off x="7934539" y="2644322"/>
            <a:ext cx="1" cy="33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7DA9B31-6C79-E147-8EB1-F761D31E01D3}"/>
              </a:ext>
            </a:extLst>
          </p:cNvPr>
          <p:cNvCxnSpPr>
            <a:cxnSpLocks/>
            <a:stCxn id="47" idx="2"/>
            <a:endCxn id="48" idx="0"/>
          </p:cNvCxnSpPr>
          <p:nvPr/>
        </p:nvCxnSpPr>
        <p:spPr>
          <a:xfrm flipH="1">
            <a:off x="6904585" y="3429000"/>
            <a:ext cx="1029955" cy="36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F48E2A8-A951-DC4C-8946-E005CFEB5131}"/>
              </a:ext>
            </a:extLst>
          </p:cNvPr>
          <p:cNvCxnSpPr>
            <a:cxnSpLocks/>
            <a:stCxn id="48" idx="2"/>
            <a:endCxn id="45" idx="0"/>
          </p:cNvCxnSpPr>
          <p:nvPr/>
        </p:nvCxnSpPr>
        <p:spPr>
          <a:xfrm>
            <a:off x="6904585" y="4249861"/>
            <a:ext cx="0" cy="3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9AD32BE-81F5-AF42-BA66-809CDC6636C9}"/>
              </a:ext>
            </a:extLst>
          </p:cNvPr>
          <p:cNvCxnSpPr>
            <a:cxnSpLocks/>
            <a:stCxn id="47" idx="2"/>
            <a:endCxn id="50" idx="0"/>
          </p:cNvCxnSpPr>
          <p:nvPr/>
        </p:nvCxnSpPr>
        <p:spPr>
          <a:xfrm>
            <a:off x="7934540" y="3429000"/>
            <a:ext cx="1056751" cy="368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187579B-BFC4-0945-BEBC-77C15B860DC9}"/>
              </a:ext>
            </a:extLst>
          </p:cNvPr>
          <p:cNvCxnSpPr>
            <a:cxnSpLocks/>
            <a:stCxn id="50" idx="2"/>
            <a:endCxn id="61" idx="0"/>
          </p:cNvCxnSpPr>
          <p:nvPr/>
        </p:nvCxnSpPr>
        <p:spPr>
          <a:xfrm>
            <a:off x="8991291" y="4249862"/>
            <a:ext cx="9457" cy="355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1D8B3BD8-FDEA-7441-BF74-2B344650D2F1}"/>
              </a:ext>
            </a:extLst>
          </p:cNvPr>
          <p:cNvSpPr/>
          <p:nvPr/>
        </p:nvSpPr>
        <p:spPr>
          <a:xfrm>
            <a:off x="8272242" y="460581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Column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F8976B3-D8CF-4D44-B2E7-80B1C70BC203}"/>
              </a:ext>
            </a:extLst>
          </p:cNvPr>
          <p:cNvSpPr/>
          <p:nvPr/>
        </p:nvSpPr>
        <p:spPr>
          <a:xfrm>
            <a:off x="8272242" y="5283764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100" dirty="0">
                <a:latin typeface="Courier" pitchFamily="2" charset="0"/>
              </a:rPr>
              <a:t>ElevatedButton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D966DF5-CEFE-4F42-B429-809A05C8DD8D}"/>
              </a:ext>
            </a:extLst>
          </p:cNvPr>
          <p:cNvSpPr/>
          <p:nvPr/>
        </p:nvSpPr>
        <p:spPr>
          <a:xfrm>
            <a:off x="10181017" y="5283763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990A959-51CD-1648-B91D-278A25D06102}"/>
              </a:ext>
            </a:extLst>
          </p:cNvPr>
          <p:cNvSpPr/>
          <p:nvPr/>
        </p:nvSpPr>
        <p:spPr>
          <a:xfrm>
            <a:off x="8272242" y="589306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9476614-597C-2B46-B361-AE85ACBE3573}"/>
              </a:ext>
            </a:extLst>
          </p:cNvPr>
          <p:cNvSpPr/>
          <p:nvPr/>
        </p:nvSpPr>
        <p:spPr>
          <a:xfrm>
            <a:off x="6262470" y="5283762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900" dirty="0">
                <a:latin typeface="Courier" pitchFamily="2" charset="0"/>
              </a:rPr>
              <a:t>MainAxisAlignment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65E073ED-E4D8-C64C-ACED-3BEF0101F829}"/>
              </a:ext>
            </a:extLst>
          </p:cNvPr>
          <p:cNvCxnSpPr>
            <a:cxnSpLocks/>
            <a:stCxn id="62" idx="2"/>
            <a:endCxn id="64" idx="0"/>
          </p:cNvCxnSpPr>
          <p:nvPr/>
        </p:nvCxnSpPr>
        <p:spPr>
          <a:xfrm>
            <a:off x="9000748" y="5735939"/>
            <a:ext cx="0" cy="15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1865B437-17ED-4C4B-8F81-DAA32D4B64A8}"/>
              </a:ext>
            </a:extLst>
          </p:cNvPr>
          <p:cNvCxnSpPr>
            <a:cxnSpLocks/>
            <a:stCxn id="61" idx="2"/>
            <a:endCxn id="62" idx="0"/>
          </p:cNvCxnSpPr>
          <p:nvPr/>
        </p:nvCxnSpPr>
        <p:spPr>
          <a:xfrm>
            <a:off x="9000748" y="5057994"/>
            <a:ext cx="0" cy="225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6E328D1-9F4E-C54F-BF99-BB647CC14D49}"/>
              </a:ext>
            </a:extLst>
          </p:cNvPr>
          <p:cNvCxnSpPr>
            <a:cxnSpLocks/>
            <a:stCxn id="61" idx="2"/>
            <a:endCxn id="65" idx="0"/>
          </p:cNvCxnSpPr>
          <p:nvPr/>
        </p:nvCxnSpPr>
        <p:spPr>
          <a:xfrm flipH="1">
            <a:off x="6990976" y="5057994"/>
            <a:ext cx="2009772" cy="225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A32C1CA-556C-EC45-B559-AF43C59BF4C6}"/>
              </a:ext>
            </a:extLst>
          </p:cNvPr>
          <p:cNvCxnSpPr>
            <a:cxnSpLocks/>
            <a:stCxn id="61" idx="2"/>
            <a:endCxn id="63" idx="0"/>
          </p:cNvCxnSpPr>
          <p:nvPr/>
        </p:nvCxnSpPr>
        <p:spPr>
          <a:xfrm>
            <a:off x="9000748" y="5057994"/>
            <a:ext cx="1908775" cy="225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77C812-0AF0-F942-940A-3EE076ABF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277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Changing the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350558"/>
            <a:ext cx="5667828" cy="5331508"/>
          </a:xfrm>
        </p:spPr>
        <p:txBody>
          <a:bodyPr>
            <a:normAutofit/>
          </a:bodyPr>
          <a:lstStyle/>
          <a:p>
            <a:r>
              <a:rPr lang="en-US" dirty="0"/>
              <a:t>(New) Problem: How to change the message when we press the button?</a:t>
            </a:r>
          </a:p>
          <a:p>
            <a:endParaRPr lang="en-US" dirty="0"/>
          </a:p>
          <a:p>
            <a:r>
              <a:rPr lang="en-US" dirty="0"/>
              <a:t>In other words: how to change the </a:t>
            </a:r>
            <a:r>
              <a:rPr lang="en-US" b="1" dirty="0"/>
              <a:t>app state </a:t>
            </a:r>
            <a:r>
              <a:rPr lang="en-US" dirty="0"/>
              <a:t>without reloading or restarting everything</a:t>
            </a:r>
          </a:p>
          <a:p>
            <a:endParaRPr lang="en-US" dirty="0"/>
          </a:p>
          <a:p>
            <a:r>
              <a:rPr lang="en-US" dirty="0"/>
              <a:t>We need a </a:t>
            </a:r>
            <a:r>
              <a:rPr lang="en-US" b="1" dirty="0" err="1">
                <a:latin typeface="Courier" pitchFamily="2" charset="0"/>
              </a:rPr>
              <a:t>StatefulWidget</a:t>
            </a:r>
            <a:endParaRPr lang="en-US" b="1" dirty="0">
              <a:latin typeface="Courier" pitchFamily="2" charset="0"/>
            </a:endParaRPr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EF363-E83A-EA4F-8414-3F0DCF8EA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38</a:t>
            </a:fld>
            <a:endParaRPr lang="en-GB"/>
          </a:p>
        </p:txBody>
      </p:sp>
      <p:pic>
        <p:nvPicPr>
          <p:cNvPr id="5" name="Picture 4" descr="A screen shot of a phone&#10;&#10;Description automatically generated">
            <a:extLst>
              <a:ext uri="{FF2B5EF4-FFF2-40B4-BE49-F238E27FC236}">
                <a16:creationId xmlns:a16="http://schemas.microsoft.com/office/drawing/2014/main" id="{8CF952AB-AFE4-D234-406A-F3DE757845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920" y="1224642"/>
            <a:ext cx="2536093" cy="549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31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StatefulWidget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350558"/>
            <a:ext cx="11136298" cy="5331508"/>
          </a:xfrm>
        </p:spPr>
        <p:txBody>
          <a:bodyPr>
            <a:normAutofit/>
          </a:bodyPr>
          <a:lstStyle/>
          <a:p>
            <a:r>
              <a:rPr lang="en-US" dirty="0"/>
              <a:t>As we mentioned before, stateful widgets maintain state that might change during the lifetime of the widget. </a:t>
            </a:r>
          </a:p>
          <a:p>
            <a:endParaRPr lang="en-US" dirty="0"/>
          </a:p>
          <a:p>
            <a:r>
              <a:rPr lang="en-US" dirty="0"/>
              <a:t>Implementing a stateful widget requires at least two classes: </a:t>
            </a:r>
          </a:p>
          <a:p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 err="1">
                <a:latin typeface="Courier" pitchFamily="2" charset="0"/>
              </a:rPr>
              <a:t>StatefulWidget</a:t>
            </a:r>
            <a:r>
              <a:rPr lang="en-US" b="1" dirty="0"/>
              <a:t> class </a:t>
            </a:r>
            <a:r>
              <a:rPr lang="en-US" dirty="0"/>
              <a:t>that creates an instance of the </a:t>
            </a:r>
            <a:r>
              <a:rPr lang="en-US" dirty="0">
                <a:latin typeface="Courier" pitchFamily="2" charset="0"/>
              </a:rPr>
              <a:t>Widget</a:t>
            </a:r>
            <a:r>
              <a:rPr lang="en-US" dirty="0"/>
              <a:t> itself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>
                <a:latin typeface="Courier" pitchFamily="2" charset="0"/>
              </a:rPr>
              <a:t>State</a:t>
            </a:r>
            <a:r>
              <a:rPr lang="en-US" b="1" dirty="0"/>
              <a:t> class: </a:t>
            </a:r>
            <a:r>
              <a:rPr lang="en-US" dirty="0"/>
              <a:t>a class that manages the state of the </a:t>
            </a:r>
            <a:r>
              <a:rPr lang="en-US" b="1" dirty="0" err="1">
                <a:latin typeface="Courier" pitchFamily="2" charset="0"/>
              </a:rPr>
              <a:t>StatefulWidget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A3EEA-F317-1147-8750-EC5526CAB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78594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The boilerplate code of a StatefulWidget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A93F4B-D07A-9F44-AD78-DE159776C42D}"/>
              </a:ext>
            </a:extLst>
          </p:cNvPr>
          <p:cNvSpPr/>
          <p:nvPr/>
        </p:nvSpPr>
        <p:spPr>
          <a:xfrm>
            <a:off x="428172" y="1758566"/>
            <a:ext cx="871582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urier" pitchFamily="2" charset="0"/>
              </a:rPr>
              <a:t>class </a:t>
            </a:r>
            <a:r>
              <a:rPr lang="en-GB" b="1" dirty="0" err="1">
                <a:latin typeface="Courier" pitchFamily="2" charset="0"/>
              </a:rPr>
              <a:t>RandomHello</a:t>
            </a:r>
            <a:r>
              <a:rPr lang="en-GB" dirty="0">
                <a:latin typeface="Courier" pitchFamily="2" charset="0"/>
              </a:rPr>
              <a:t> </a:t>
            </a:r>
            <a:r>
              <a:rPr lang="en-GB" b="1" dirty="0">
                <a:latin typeface="Courier" pitchFamily="2" charset="0"/>
              </a:rPr>
              <a:t>extends </a:t>
            </a:r>
            <a:r>
              <a:rPr lang="en-GB" b="1" dirty="0" err="1">
                <a:latin typeface="Courier" pitchFamily="2" charset="0"/>
              </a:rPr>
              <a:t>StatefulWidget</a:t>
            </a:r>
            <a:r>
              <a:rPr lang="en-GB" dirty="0">
                <a:latin typeface="Courier" pitchFamily="2" charset="0"/>
              </a:rPr>
              <a:t>{</a:t>
            </a:r>
          </a:p>
          <a:p>
            <a:r>
              <a:rPr lang="en-GB" dirty="0">
                <a:latin typeface="Courier" pitchFamily="2" charset="0"/>
              </a:rPr>
              <a:t>  </a:t>
            </a:r>
            <a:r>
              <a:rPr lang="en-GB" dirty="0" err="1">
                <a:latin typeface="Courier" pitchFamily="2" charset="0"/>
              </a:rPr>
              <a:t>RandomHello</a:t>
            </a:r>
            <a:r>
              <a:rPr lang="en-GB" dirty="0">
                <a:latin typeface="Courier" pitchFamily="2" charset="0"/>
              </a:rPr>
              <a:t>({Key? key}) : super(key: key);</a:t>
            </a:r>
          </a:p>
          <a:p>
            <a:br>
              <a:rPr lang="en-GB" dirty="0">
                <a:latin typeface="Courier" pitchFamily="2" charset="0"/>
              </a:rPr>
            </a:br>
            <a:r>
              <a:rPr lang="en-GB" dirty="0">
                <a:latin typeface="Courier" pitchFamily="2" charset="0"/>
              </a:rPr>
              <a:t>  @override</a:t>
            </a:r>
          </a:p>
          <a:p>
            <a:r>
              <a:rPr lang="en-GB" dirty="0">
                <a:latin typeface="Courier" pitchFamily="2" charset="0"/>
              </a:rPr>
              <a:t>  _</a:t>
            </a:r>
            <a:r>
              <a:rPr lang="en-GB" dirty="0" err="1">
                <a:latin typeface="Courier" pitchFamily="2" charset="0"/>
              </a:rPr>
              <a:t>RandomHelloState</a:t>
            </a:r>
            <a:r>
              <a:rPr lang="en-GB" dirty="0">
                <a:latin typeface="Courier" pitchFamily="2" charset="0"/>
              </a:rPr>
              <a:t> </a:t>
            </a:r>
            <a:r>
              <a:rPr lang="en-GB" b="1" dirty="0" err="1">
                <a:latin typeface="Courier" pitchFamily="2" charset="0"/>
              </a:rPr>
              <a:t>createState</a:t>
            </a:r>
            <a:r>
              <a:rPr lang="en-GB" b="1" dirty="0">
                <a:latin typeface="Courier" pitchFamily="2" charset="0"/>
              </a:rPr>
              <a:t>() </a:t>
            </a:r>
            <a:r>
              <a:rPr lang="en-GB" dirty="0">
                <a:latin typeface="Courier" pitchFamily="2" charset="0"/>
              </a:rPr>
              <a:t>=&gt; _</a:t>
            </a:r>
            <a:r>
              <a:rPr lang="en-GB" dirty="0" err="1">
                <a:latin typeface="Courier" pitchFamily="2" charset="0"/>
              </a:rPr>
              <a:t>RandomHelloState</a:t>
            </a:r>
            <a:r>
              <a:rPr lang="en-GB" dirty="0">
                <a:latin typeface="Courier" pitchFamily="2" charset="0"/>
              </a:rPr>
              <a:t>();</a:t>
            </a:r>
          </a:p>
          <a:p>
            <a:r>
              <a:rPr lang="en-GB" dirty="0">
                <a:latin typeface="Courier" pitchFamily="2" charset="0"/>
              </a:rPr>
              <a:t>}//</a:t>
            </a:r>
            <a:r>
              <a:rPr lang="en-GB" dirty="0" err="1">
                <a:latin typeface="Courier" pitchFamily="2" charset="0"/>
              </a:rPr>
              <a:t>RandomHello</a:t>
            </a:r>
            <a:endParaRPr lang="en-GB" dirty="0">
              <a:latin typeface="Courier" pitchFamily="2" charset="0"/>
            </a:endParaRPr>
          </a:p>
          <a:p>
            <a:br>
              <a:rPr lang="en-GB" dirty="0">
                <a:latin typeface="Courier" pitchFamily="2" charset="0"/>
              </a:rPr>
            </a:br>
            <a:r>
              <a:rPr lang="en-GB" dirty="0">
                <a:latin typeface="Courier" pitchFamily="2" charset="0"/>
              </a:rPr>
              <a:t>class </a:t>
            </a:r>
            <a:r>
              <a:rPr lang="en-GB" b="1" dirty="0">
                <a:latin typeface="Courier" pitchFamily="2" charset="0"/>
              </a:rPr>
              <a:t>_</a:t>
            </a:r>
            <a:r>
              <a:rPr lang="en-GB" b="1" dirty="0" err="1">
                <a:latin typeface="Courier" pitchFamily="2" charset="0"/>
              </a:rPr>
              <a:t>RandomHelloState</a:t>
            </a:r>
            <a:r>
              <a:rPr lang="en-GB" dirty="0">
                <a:latin typeface="Courier" pitchFamily="2" charset="0"/>
              </a:rPr>
              <a:t> </a:t>
            </a:r>
            <a:r>
              <a:rPr lang="en-GB" b="1" dirty="0">
                <a:latin typeface="Courier" pitchFamily="2" charset="0"/>
              </a:rPr>
              <a:t>extends State&lt;</a:t>
            </a:r>
            <a:r>
              <a:rPr lang="en-GB" b="1" dirty="0" err="1">
                <a:latin typeface="Courier" pitchFamily="2" charset="0"/>
              </a:rPr>
              <a:t>RandomHello</a:t>
            </a:r>
            <a:r>
              <a:rPr lang="en-GB" b="1" dirty="0">
                <a:latin typeface="Courier" pitchFamily="2" charset="0"/>
              </a:rPr>
              <a:t>&gt;</a:t>
            </a:r>
            <a:r>
              <a:rPr lang="en-GB" dirty="0">
                <a:latin typeface="Courier" pitchFamily="2" charset="0"/>
              </a:rPr>
              <a:t>{</a:t>
            </a:r>
          </a:p>
          <a:p>
            <a:br>
              <a:rPr lang="en-GB" dirty="0">
                <a:latin typeface="Courier" pitchFamily="2" charset="0"/>
              </a:rPr>
            </a:br>
            <a:r>
              <a:rPr lang="en-GB" dirty="0">
                <a:latin typeface="Courier" pitchFamily="2" charset="0"/>
              </a:rPr>
              <a:t>  @override</a:t>
            </a:r>
          </a:p>
          <a:p>
            <a:r>
              <a:rPr lang="en-GB" dirty="0">
                <a:latin typeface="Courier" pitchFamily="2" charset="0"/>
              </a:rPr>
              <a:t>  Widget </a:t>
            </a:r>
            <a:r>
              <a:rPr lang="en-GB" b="1" dirty="0">
                <a:latin typeface="Courier" pitchFamily="2" charset="0"/>
              </a:rPr>
              <a:t>build</a:t>
            </a:r>
            <a:r>
              <a:rPr lang="en-GB" dirty="0">
                <a:latin typeface="Courier" pitchFamily="2" charset="0"/>
              </a:rPr>
              <a:t>(</a:t>
            </a:r>
            <a:r>
              <a:rPr lang="en-GB" dirty="0" err="1">
                <a:latin typeface="Courier" pitchFamily="2" charset="0"/>
              </a:rPr>
              <a:t>BuildContext</a:t>
            </a:r>
            <a:r>
              <a:rPr lang="en-GB" dirty="0">
                <a:latin typeface="Courier" pitchFamily="2" charset="0"/>
              </a:rPr>
              <a:t> </a:t>
            </a:r>
            <a:r>
              <a:rPr lang="en-GB" dirty="0" err="1">
                <a:latin typeface="Courier" pitchFamily="2" charset="0"/>
              </a:rPr>
              <a:t>buildContext</a:t>
            </a:r>
            <a:r>
              <a:rPr lang="en-GB" dirty="0">
                <a:latin typeface="Courier" pitchFamily="2" charset="0"/>
              </a:rPr>
              <a:t>){</a:t>
            </a:r>
          </a:p>
          <a:p>
            <a:r>
              <a:rPr lang="en-GB" dirty="0">
                <a:latin typeface="Courier" pitchFamily="2" charset="0"/>
              </a:rPr>
              <a:t>    //return some widget</a:t>
            </a:r>
          </a:p>
          <a:p>
            <a:r>
              <a:rPr lang="en-GB" dirty="0">
                <a:latin typeface="Courier" pitchFamily="2" charset="0"/>
              </a:rPr>
              <a:t>  }//build </a:t>
            </a:r>
          </a:p>
          <a:p>
            <a:endParaRPr lang="en-GB" dirty="0">
              <a:latin typeface="Courier" pitchFamily="2" charset="0"/>
            </a:endParaRPr>
          </a:p>
          <a:p>
            <a:r>
              <a:rPr lang="en-GB" dirty="0">
                <a:latin typeface="Courier" pitchFamily="2" charset="0"/>
              </a:rPr>
              <a:t>}//_</a:t>
            </a:r>
            <a:r>
              <a:rPr lang="en-GB" dirty="0" err="1">
                <a:latin typeface="Courier" pitchFamily="2" charset="0"/>
              </a:rPr>
              <a:t>RandomHelloState</a:t>
            </a:r>
            <a:endParaRPr lang="en-GB" b="0" dirty="0">
              <a:effectLst/>
              <a:latin typeface="Courier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E36FA5-F059-2D45-BCF7-3130ADDA7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77765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Refactoring the UI - RandomHello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A93F4B-D07A-9F44-AD78-DE159776C42D}"/>
              </a:ext>
            </a:extLst>
          </p:cNvPr>
          <p:cNvSpPr/>
          <p:nvPr/>
        </p:nvSpPr>
        <p:spPr>
          <a:xfrm>
            <a:off x="750902" y="1942419"/>
            <a:ext cx="871582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urier" pitchFamily="2" charset="0"/>
              </a:rPr>
              <a:t>...</a:t>
            </a:r>
            <a:br>
              <a:rPr lang="en-GB" dirty="0">
                <a:latin typeface="Courier" pitchFamily="2" charset="0"/>
              </a:rPr>
            </a:br>
            <a:r>
              <a:rPr lang="en-GB" dirty="0">
                <a:latin typeface="Courier" pitchFamily="2" charset="0"/>
              </a:rPr>
              <a:t>class _</a:t>
            </a:r>
            <a:r>
              <a:rPr lang="en-GB" dirty="0" err="1">
                <a:latin typeface="Courier" pitchFamily="2" charset="0"/>
              </a:rPr>
              <a:t>RandomHelloState</a:t>
            </a:r>
            <a:r>
              <a:rPr lang="en-GB" dirty="0">
                <a:latin typeface="Courier" pitchFamily="2" charset="0"/>
              </a:rPr>
              <a:t> extends State&lt;</a:t>
            </a:r>
            <a:r>
              <a:rPr lang="en-GB" dirty="0" err="1">
                <a:latin typeface="Courier" pitchFamily="2" charset="0"/>
              </a:rPr>
              <a:t>RandomHello</a:t>
            </a:r>
            <a:r>
              <a:rPr lang="en-GB" dirty="0">
                <a:latin typeface="Courier" pitchFamily="2" charset="0"/>
              </a:rPr>
              <a:t>&gt;{</a:t>
            </a:r>
          </a:p>
          <a:p>
            <a:br>
              <a:rPr lang="en-GB" dirty="0">
                <a:latin typeface="Courier" pitchFamily="2" charset="0"/>
              </a:rPr>
            </a:br>
            <a:r>
              <a:rPr lang="en-GB" dirty="0">
                <a:latin typeface="Courier" pitchFamily="2" charset="0"/>
              </a:rPr>
              <a:t>  </a:t>
            </a:r>
            <a:r>
              <a:rPr lang="en-GB" b="1" dirty="0">
                <a:latin typeface="Courier" pitchFamily="2" charset="0"/>
              </a:rPr>
              <a:t>@override</a:t>
            </a:r>
          </a:p>
          <a:p>
            <a:r>
              <a:rPr lang="en-GB" b="1" dirty="0">
                <a:latin typeface="Courier" pitchFamily="2" charset="0"/>
              </a:rPr>
              <a:t>  Widget build(</a:t>
            </a:r>
            <a:r>
              <a:rPr lang="en-GB" b="1" dirty="0" err="1">
                <a:latin typeface="Courier" pitchFamily="2" charset="0"/>
              </a:rPr>
              <a:t>BuildContext</a:t>
            </a:r>
            <a:r>
              <a:rPr lang="en-GB" b="1" dirty="0">
                <a:latin typeface="Courier" pitchFamily="2" charset="0"/>
              </a:rPr>
              <a:t> </a:t>
            </a:r>
            <a:r>
              <a:rPr lang="en-GB" b="1" dirty="0" err="1">
                <a:latin typeface="Courier" pitchFamily="2" charset="0"/>
              </a:rPr>
              <a:t>buildContext</a:t>
            </a:r>
            <a:r>
              <a:rPr lang="en-GB" b="1" dirty="0">
                <a:latin typeface="Courier" pitchFamily="2" charset="0"/>
              </a:rPr>
              <a:t>){</a:t>
            </a:r>
          </a:p>
          <a:p>
            <a:r>
              <a:rPr lang="en-GB" b="1" dirty="0">
                <a:latin typeface="Courier" pitchFamily="2" charset="0"/>
              </a:rPr>
              <a:t>    final word = </a:t>
            </a:r>
            <a:r>
              <a:rPr lang="en-GB" b="1" dirty="0" err="1">
                <a:latin typeface="Courier" pitchFamily="2" charset="0"/>
              </a:rPr>
              <a:t>WordPair.random</a:t>
            </a:r>
            <a:r>
              <a:rPr lang="en-GB" b="1" dirty="0">
                <a:latin typeface="Courier" pitchFamily="2" charset="0"/>
              </a:rPr>
              <a:t>().first;</a:t>
            </a:r>
          </a:p>
          <a:p>
            <a:r>
              <a:rPr lang="en-GB" b="1" dirty="0">
                <a:latin typeface="Courier" pitchFamily="2" charset="0"/>
              </a:rPr>
              <a:t>    return Column(</a:t>
            </a:r>
          </a:p>
          <a:p>
            <a:r>
              <a:rPr lang="en-GB" b="1" dirty="0">
                <a:latin typeface="Courier" pitchFamily="2" charset="0"/>
              </a:rPr>
              <a:t>      </a:t>
            </a:r>
            <a:r>
              <a:rPr lang="en-GB" b="1" dirty="0" err="1">
                <a:latin typeface="Courier" pitchFamily="2" charset="0"/>
              </a:rPr>
              <a:t>mainAxisAlignment</a:t>
            </a:r>
            <a:r>
              <a:rPr lang="en-GB" b="1" dirty="0">
                <a:latin typeface="Courier" pitchFamily="2" charset="0"/>
              </a:rPr>
              <a:t>: </a:t>
            </a:r>
            <a:r>
              <a:rPr lang="en-GB" b="1" dirty="0" err="1">
                <a:latin typeface="Courier" pitchFamily="2" charset="0"/>
              </a:rPr>
              <a:t>MainAxisAlignment.center</a:t>
            </a:r>
            <a:r>
              <a:rPr lang="en-GB" b="1" dirty="0">
                <a:latin typeface="Courier" pitchFamily="2" charset="0"/>
              </a:rPr>
              <a:t>,</a:t>
            </a:r>
          </a:p>
          <a:p>
            <a:r>
              <a:rPr lang="en-GB" b="1" dirty="0">
                <a:latin typeface="Courier" pitchFamily="2" charset="0"/>
              </a:rPr>
              <a:t>      children: [</a:t>
            </a:r>
          </a:p>
          <a:p>
            <a:r>
              <a:rPr lang="en-GB" b="1" dirty="0">
                <a:latin typeface="Courier" pitchFamily="2" charset="0"/>
              </a:rPr>
              <a:t>        Text('Hello, $word!’),</a:t>
            </a:r>
          </a:p>
          <a:p>
            <a:r>
              <a:rPr lang="en-GB" b="1" dirty="0">
                <a:latin typeface="Courier" pitchFamily="2" charset="0"/>
              </a:rPr>
              <a:t>        </a:t>
            </a:r>
            <a:r>
              <a:rPr lang="en-GB" b="1" dirty="0" err="1">
                <a:latin typeface="Courier" pitchFamily="2" charset="0"/>
              </a:rPr>
              <a:t>ElevatedButton</a:t>
            </a:r>
            <a:r>
              <a:rPr lang="en-GB" b="1" dirty="0">
                <a:latin typeface="Courier" pitchFamily="2" charset="0"/>
              </a:rPr>
              <a:t>(</a:t>
            </a:r>
            <a:r>
              <a:rPr lang="en-GB" b="1" dirty="0" err="1">
                <a:latin typeface="Courier" pitchFamily="2" charset="0"/>
              </a:rPr>
              <a:t>onPressed</a:t>
            </a:r>
            <a:r>
              <a:rPr lang="en-GB" b="1" dirty="0">
                <a:latin typeface="Courier" pitchFamily="2" charset="0"/>
              </a:rPr>
              <a:t>: (){}, child: Text('Press me')),</a:t>
            </a:r>
          </a:p>
          <a:p>
            <a:r>
              <a:rPr lang="en-GB" b="1" dirty="0">
                <a:latin typeface="Courier" pitchFamily="2" charset="0"/>
              </a:rPr>
              <a:t>      ],</a:t>
            </a:r>
          </a:p>
          <a:p>
            <a:r>
              <a:rPr lang="en-GB" b="1" dirty="0">
                <a:latin typeface="Courier" pitchFamily="2" charset="0"/>
              </a:rPr>
              <a:t>    );</a:t>
            </a:r>
          </a:p>
          <a:p>
            <a:r>
              <a:rPr lang="en-GB" b="1" dirty="0">
                <a:latin typeface="Courier" pitchFamily="2" charset="0"/>
              </a:rPr>
              <a:t>  }//build </a:t>
            </a:r>
          </a:p>
          <a:p>
            <a:endParaRPr lang="en-GB" dirty="0">
              <a:latin typeface="Courier" pitchFamily="2" charset="0"/>
            </a:endParaRPr>
          </a:p>
          <a:p>
            <a:r>
              <a:rPr lang="en-GB" dirty="0">
                <a:latin typeface="Courier" pitchFamily="2" charset="0"/>
              </a:rPr>
              <a:t>}//_</a:t>
            </a:r>
            <a:r>
              <a:rPr lang="en-GB" dirty="0" err="1">
                <a:latin typeface="Courier" pitchFamily="2" charset="0"/>
              </a:rPr>
              <a:t>RandomHelloState</a:t>
            </a:r>
            <a:endParaRPr lang="en-GB" b="0" dirty="0">
              <a:effectLst/>
              <a:latin typeface="Courier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CCAFD9F-3D36-4549-A3FB-0F56B31BE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16470"/>
            <a:ext cx="9468863" cy="531648"/>
          </a:xfrm>
        </p:spPr>
        <p:txBody>
          <a:bodyPr>
            <a:normAutofit/>
          </a:bodyPr>
          <a:lstStyle/>
          <a:p>
            <a:r>
              <a:rPr lang="en-US" dirty="0"/>
              <a:t>Let’s copy some code into the build method new Widget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43A2BD-138B-0C43-907D-4DD6CD0B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751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Refactoring the UI - MyApp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A93F4B-D07A-9F44-AD78-DE159776C42D}"/>
              </a:ext>
            </a:extLst>
          </p:cNvPr>
          <p:cNvSpPr/>
          <p:nvPr/>
        </p:nvSpPr>
        <p:spPr>
          <a:xfrm>
            <a:off x="750902" y="1942419"/>
            <a:ext cx="1011432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urier" pitchFamily="2" charset="0"/>
              </a:rPr>
              <a:t>class </a:t>
            </a:r>
            <a:r>
              <a:rPr lang="en-GB" dirty="0" err="1">
                <a:latin typeface="Courier" pitchFamily="2" charset="0"/>
              </a:rPr>
              <a:t>MyApp</a:t>
            </a:r>
            <a:r>
              <a:rPr lang="en-GB" dirty="0">
                <a:latin typeface="Courier" pitchFamily="2" charset="0"/>
              </a:rPr>
              <a:t> extends </a:t>
            </a:r>
            <a:r>
              <a:rPr lang="en-GB" dirty="0" err="1">
                <a:latin typeface="Courier" pitchFamily="2" charset="0"/>
              </a:rPr>
              <a:t>StatelessWidget</a:t>
            </a:r>
            <a:r>
              <a:rPr lang="en-GB" dirty="0">
                <a:latin typeface="Courier" pitchFamily="2" charset="0"/>
              </a:rPr>
              <a:t> {</a:t>
            </a:r>
          </a:p>
          <a:p>
            <a:r>
              <a:rPr lang="en-GB" dirty="0">
                <a:latin typeface="Courier" pitchFamily="2" charset="0"/>
              </a:rPr>
              <a:t>  </a:t>
            </a:r>
            <a:r>
              <a:rPr lang="en-GB" dirty="0" err="1">
                <a:latin typeface="Courier" pitchFamily="2" charset="0"/>
              </a:rPr>
              <a:t>MyApp</a:t>
            </a:r>
            <a:r>
              <a:rPr lang="en-GB" dirty="0">
                <a:latin typeface="Courier" pitchFamily="2" charset="0"/>
              </a:rPr>
              <a:t>({Key? key}) : super(key: key);</a:t>
            </a:r>
          </a:p>
          <a:p>
            <a:br>
              <a:rPr lang="en-GB" dirty="0">
                <a:latin typeface="Courier" pitchFamily="2" charset="0"/>
              </a:rPr>
            </a:br>
            <a:r>
              <a:rPr lang="en-GB" dirty="0">
                <a:latin typeface="Courier" pitchFamily="2" charset="0"/>
              </a:rPr>
              <a:t>  @override</a:t>
            </a:r>
          </a:p>
          <a:p>
            <a:r>
              <a:rPr lang="en-GB" dirty="0">
                <a:latin typeface="Courier" pitchFamily="2" charset="0"/>
              </a:rPr>
              <a:t>  Widget build(</a:t>
            </a:r>
            <a:r>
              <a:rPr lang="en-GB" dirty="0" err="1">
                <a:latin typeface="Courier" pitchFamily="2" charset="0"/>
              </a:rPr>
              <a:t>BuildContext</a:t>
            </a:r>
            <a:r>
              <a:rPr lang="en-GB" dirty="0">
                <a:latin typeface="Courier" pitchFamily="2" charset="0"/>
              </a:rPr>
              <a:t> context) {</a:t>
            </a:r>
          </a:p>
          <a:p>
            <a:r>
              <a:rPr lang="en-GB" dirty="0">
                <a:latin typeface="Courier" pitchFamily="2" charset="0"/>
              </a:rPr>
              <a:t>    return </a:t>
            </a:r>
            <a:r>
              <a:rPr lang="en-GB" dirty="0" err="1">
                <a:latin typeface="Courier" pitchFamily="2" charset="0"/>
              </a:rPr>
              <a:t>MaterialApp</a:t>
            </a:r>
            <a:r>
              <a:rPr lang="en-GB" dirty="0">
                <a:latin typeface="Courier" pitchFamily="2" charset="0"/>
              </a:rPr>
              <a:t>(</a:t>
            </a:r>
          </a:p>
          <a:p>
            <a:r>
              <a:rPr lang="en-GB" dirty="0">
                <a:latin typeface="Courier" pitchFamily="2" charset="0"/>
              </a:rPr>
              <a:t>      title: 'Welcome to Flutter’,</a:t>
            </a:r>
          </a:p>
          <a:p>
            <a:r>
              <a:rPr lang="en-GB" dirty="0">
                <a:latin typeface="Courier" pitchFamily="2" charset="0"/>
              </a:rPr>
              <a:t>      home: Scaffold(</a:t>
            </a:r>
          </a:p>
          <a:p>
            <a:r>
              <a:rPr lang="en-GB" dirty="0">
                <a:latin typeface="Courier" pitchFamily="2" charset="0"/>
              </a:rPr>
              <a:t>        </a:t>
            </a:r>
            <a:r>
              <a:rPr lang="en-GB" dirty="0" err="1">
                <a:latin typeface="Courier" pitchFamily="2" charset="0"/>
              </a:rPr>
              <a:t>appBar</a:t>
            </a:r>
            <a:r>
              <a:rPr lang="en-GB" dirty="0">
                <a:latin typeface="Courier" pitchFamily="2" charset="0"/>
              </a:rPr>
              <a:t>: </a:t>
            </a:r>
            <a:r>
              <a:rPr lang="en-GB" dirty="0" err="1">
                <a:latin typeface="Courier" pitchFamily="2" charset="0"/>
              </a:rPr>
              <a:t>AppBar</a:t>
            </a:r>
            <a:r>
              <a:rPr lang="en-GB" dirty="0">
                <a:latin typeface="Courier" pitchFamily="2" charset="0"/>
              </a:rPr>
              <a:t>(title: Text('Welcome to Flutter'),),</a:t>
            </a:r>
          </a:p>
          <a:p>
            <a:r>
              <a:rPr lang="en-GB" dirty="0">
                <a:latin typeface="Courier" pitchFamily="2" charset="0"/>
              </a:rPr>
              <a:t>        body: </a:t>
            </a:r>
            <a:r>
              <a:rPr lang="en-GB" dirty="0" err="1">
                <a:latin typeface="Courier" pitchFamily="2" charset="0"/>
              </a:rPr>
              <a:t>Center</a:t>
            </a:r>
            <a:r>
              <a:rPr lang="en-GB" dirty="0">
                <a:latin typeface="Courier" pitchFamily="2" charset="0"/>
              </a:rPr>
              <a:t>(child: </a:t>
            </a:r>
            <a:r>
              <a:rPr lang="en-GB" b="1" dirty="0" err="1">
                <a:latin typeface="Courier" pitchFamily="2" charset="0"/>
              </a:rPr>
              <a:t>RandomHello</a:t>
            </a:r>
            <a:r>
              <a:rPr lang="en-GB" b="1" dirty="0">
                <a:latin typeface="Courier" pitchFamily="2" charset="0"/>
              </a:rPr>
              <a:t>()</a:t>
            </a:r>
            <a:r>
              <a:rPr lang="en-GB" dirty="0">
                <a:latin typeface="Courier" pitchFamily="2" charset="0"/>
              </a:rPr>
              <a:t>,),</a:t>
            </a:r>
          </a:p>
          <a:p>
            <a:r>
              <a:rPr lang="en-GB" dirty="0">
                <a:latin typeface="Courier" pitchFamily="2" charset="0"/>
              </a:rPr>
              <a:t>      ),</a:t>
            </a:r>
          </a:p>
          <a:p>
            <a:r>
              <a:rPr lang="en-GB" dirty="0">
                <a:latin typeface="Courier" pitchFamily="2" charset="0"/>
              </a:rPr>
              <a:t>    );</a:t>
            </a:r>
          </a:p>
          <a:p>
            <a:r>
              <a:rPr lang="en-GB" dirty="0">
                <a:latin typeface="Courier" pitchFamily="2" charset="0"/>
              </a:rPr>
              <a:t>  }//build</a:t>
            </a:r>
          </a:p>
          <a:p>
            <a:endParaRPr lang="en-GB" dirty="0">
              <a:latin typeface="Courier" pitchFamily="2" charset="0"/>
            </a:endParaRPr>
          </a:p>
          <a:p>
            <a:r>
              <a:rPr lang="en-GB" dirty="0">
                <a:latin typeface="Courier" pitchFamily="2" charset="0"/>
              </a:rPr>
              <a:t>}//</a:t>
            </a:r>
            <a:r>
              <a:rPr lang="en-GB" dirty="0" err="1">
                <a:latin typeface="Courier" pitchFamily="2" charset="0"/>
              </a:rPr>
              <a:t>MyApp</a:t>
            </a:r>
            <a:endParaRPr lang="en-GB" dirty="0">
              <a:latin typeface="Courier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CCAFD9F-3D36-4549-A3FB-0F56B31BE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216470"/>
            <a:ext cx="9468863" cy="531648"/>
          </a:xfrm>
        </p:spPr>
        <p:txBody>
          <a:bodyPr>
            <a:normAutofit/>
          </a:bodyPr>
          <a:lstStyle/>
          <a:p>
            <a:r>
              <a:rPr lang="en-US" dirty="0"/>
              <a:t>Now let’s refactor the </a:t>
            </a:r>
            <a:r>
              <a:rPr lang="en-US" dirty="0" err="1"/>
              <a:t>MyApp</a:t>
            </a:r>
            <a:r>
              <a:rPr lang="en-US" dirty="0"/>
              <a:t> code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D2FA61-90F2-5141-A693-B8F4B5418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20640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Same UI, different tree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B42C9F-EA5E-E84C-933B-1E6C49907384}"/>
              </a:ext>
            </a:extLst>
          </p:cNvPr>
          <p:cNvSpPr/>
          <p:nvPr/>
        </p:nvSpPr>
        <p:spPr>
          <a:xfrm>
            <a:off x="850831" y="4271628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9D5A8A-B0AC-B84D-AD4B-863512C279DC}"/>
              </a:ext>
            </a:extLst>
          </p:cNvPr>
          <p:cNvSpPr/>
          <p:nvPr/>
        </p:nvSpPr>
        <p:spPr>
          <a:xfrm>
            <a:off x="1880786" y="2680395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Scaffold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2471A4-C1BA-2342-BED9-84A6F866A98C}"/>
              </a:ext>
            </a:extLst>
          </p:cNvPr>
          <p:cNvSpPr/>
          <p:nvPr/>
        </p:nvSpPr>
        <p:spPr>
          <a:xfrm>
            <a:off x="850831" y="3501256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AppBar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018BD8-25DA-494C-B327-BAA6C47353FB}"/>
              </a:ext>
            </a:extLst>
          </p:cNvPr>
          <p:cNvSpPr/>
          <p:nvPr/>
        </p:nvSpPr>
        <p:spPr>
          <a:xfrm>
            <a:off x="2937537" y="3501257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Center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E99EEE-C389-4C46-B50A-614714CC22AD}"/>
              </a:ext>
            </a:extLst>
          </p:cNvPr>
          <p:cNvSpPr/>
          <p:nvPr/>
        </p:nvSpPr>
        <p:spPr>
          <a:xfrm>
            <a:off x="1880785" y="1895717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400" dirty="0">
                <a:latin typeface="Courier" pitchFamily="2" charset="0"/>
              </a:rPr>
              <a:t>...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6C58FE4-50A0-594E-9EC8-3ED6B3197422}"/>
              </a:ext>
            </a:extLst>
          </p:cNvPr>
          <p:cNvCxnSpPr>
            <a:cxnSpLocks/>
            <a:stCxn id="12" idx="2"/>
            <a:endCxn id="9" idx="0"/>
          </p:cNvCxnSpPr>
          <p:nvPr/>
        </p:nvCxnSpPr>
        <p:spPr>
          <a:xfrm>
            <a:off x="2609291" y="2347892"/>
            <a:ext cx="1" cy="33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4690AA-E12A-864A-9704-7490E4A9B9CA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1579337" y="3132570"/>
            <a:ext cx="1029955" cy="36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B82D47-34A1-304C-8A9C-119F8E7415B8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>
            <a:off x="1579337" y="3953431"/>
            <a:ext cx="0" cy="3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A56897D-EB10-FD4D-867C-E7C57BDE59A9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2609292" y="3132570"/>
            <a:ext cx="1056751" cy="368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6570FDB-0A87-3146-B350-6A0D8314A0DD}"/>
              </a:ext>
            </a:extLst>
          </p:cNvPr>
          <p:cNvCxnSpPr>
            <a:cxnSpLocks/>
            <a:stCxn id="11" idx="2"/>
            <a:endCxn id="66" idx="0"/>
          </p:cNvCxnSpPr>
          <p:nvPr/>
        </p:nvCxnSpPr>
        <p:spPr>
          <a:xfrm>
            <a:off x="3666043" y="3953432"/>
            <a:ext cx="9457" cy="355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D9E012D-EBF4-7846-910B-5E2C5B2A1088}"/>
              </a:ext>
            </a:extLst>
          </p:cNvPr>
          <p:cNvSpPr/>
          <p:nvPr/>
        </p:nvSpPr>
        <p:spPr>
          <a:xfrm>
            <a:off x="6343995" y="427162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E081C1-F1EE-C14E-AF85-393E3AD70D7E}"/>
              </a:ext>
            </a:extLst>
          </p:cNvPr>
          <p:cNvSpPr/>
          <p:nvPr/>
        </p:nvSpPr>
        <p:spPr>
          <a:xfrm>
            <a:off x="7373950" y="2680396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Scaffold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D1140D-5E2D-9E4B-9853-90445D0B2471}"/>
              </a:ext>
            </a:extLst>
          </p:cNvPr>
          <p:cNvSpPr/>
          <p:nvPr/>
        </p:nvSpPr>
        <p:spPr>
          <a:xfrm>
            <a:off x="6343995" y="3501257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AppBar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DA8D98-FF1C-A64B-BBC7-C745DB9A8198}"/>
              </a:ext>
            </a:extLst>
          </p:cNvPr>
          <p:cNvSpPr/>
          <p:nvPr/>
        </p:nvSpPr>
        <p:spPr>
          <a:xfrm>
            <a:off x="8430701" y="3501258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Center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D4DF78-14CF-E047-AE57-E10AB06F6FFF}"/>
              </a:ext>
            </a:extLst>
          </p:cNvPr>
          <p:cNvSpPr/>
          <p:nvPr/>
        </p:nvSpPr>
        <p:spPr>
          <a:xfrm>
            <a:off x="7373949" y="1895718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400" dirty="0">
                <a:latin typeface="Courier" pitchFamily="2" charset="0"/>
              </a:rPr>
              <a:t>...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C3742B-A2A1-954D-8F3A-0F3FD00165BF}"/>
              </a:ext>
            </a:extLst>
          </p:cNvPr>
          <p:cNvSpPr/>
          <p:nvPr/>
        </p:nvSpPr>
        <p:spPr>
          <a:xfrm>
            <a:off x="8430702" y="4271630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400" b="1" dirty="0">
                <a:latin typeface="Courier" pitchFamily="2" charset="0"/>
              </a:rPr>
              <a:t>RandomHello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AF5F20D-9D95-DB41-B685-7333AD63636E}"/>
              </a:ext>
            </a:extLst>
          </p:cNvPr>
          <p:cNvCxnSpPr>
            <a:cxnSpLocks/>
            <a:stCxn id="25" idx="2"/>
            <a:endCxn id="22" idx="0"/>
          </p:cNvCxnSpPr>
          <p:nvPr/>
        </p:nvCxnSpPr>
        <p:spPr>
          <a:xfrm>
            <a:off x="8102455" y="2347893"/>
            <a:ext cx="1" cy="332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7FDAE35-94AF-464D-A39B-79CB6F926258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flipH="1">
            <a:off x="7072501" y="3132571"/>
            <a:ext cx="1029955" cy="36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66E824D-A600-1B40-A207-B16A2AA47E25}"/>
              </a:ext>
            </a:extLst>
          </p:cNvPr>
          <p:cNvCxnSpPr>
            <a:cxnSpLocks/>
            <a:stCxn id="23" idx="2"/>
            <a:endCxn id="21" idx="0"/>
          </p:cNvCxnSpPr>
          <p:nvPr/>
        </p:nvCxnSpPr>
        <p:spPr>
          <a:xfrm>
            <a:off x="7072501" y="3953432"/>
            <a:ext cx="0" cy="3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2F96741-A7D9-A64A-86E4-E84FDD1F83EB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8102456" y="3132571"/>
            <a:ext cx="1056751" cy="368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2CEC288-FAD8-4349-8958-EE1E4D1354D5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9159207" y="3953433"/>
            <a:ext cx="1" cy="318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97D35922-8E37-0C48-A0F9-A0D3DC6F3C19}"/>
              </a:ext>
            </a:extLst>
          </p:cNvPr>
          <p:cNvSpPr/>
          <p:nvPr/>
        </p:nvSpPr>
        <p:spPr>
          <a:xfrm>
            <a:off x="8430700" y="5025502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Column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F1CFC4-7929-F642-9A87-0E81D65BC762}"/>
              </a:ext>
            </a:extLst>
          </p:cNvPr>
          <p:cNvSpPr/>
          <p:nvPr/>
        </p:nvSpPr>
        <p:spPr>
          <a:xfrm>
            <a:off x="8430700" y="5703447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100" dirty="0">
                <a:latin typeface="Courier" pitchFamily="2" charset="0"/>
              </a:rPr>
              <a:t>ElevatedButton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03D7EE-2159-AC46-870E-82EEED623B46}"/>
              </a:ext>
            </a:extLst>
          </p:cNvPr>
          <p:cNvSpPr/>
          <p:nvPr/>
        </p:nvSpPr>
        <p:spPr>
          <a:xfrm>
            <a:off x="10339475" y="5703446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FA7D429-EA3E-9442-8AC5-D1756146170F}"/>
              </a:ext>
            </a:extLst>
          </p:cNvPr>
          <p:cNvSpPr/>
          <p:nvPr/>
        </p:nvSpPr>
        <p:spPr>
          <a:xfrm>
            <a:off x="8430700" y="6312752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F1F57A5-B9FA-D340-96F9-0FA0385A3F38}"/>
              </a:ext>
            </a:extLst>
          </p:cNvPr>
          <p:cNvSpPr/>
          <p:nvPr/>
        </p:nvSpPr>
        <p:spPr>
          <a:xfrm>
            <a:off x="6420928" y="5703445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900" dirty="0">
                <a:latin typeface="Courier" pitchFamily="2" charset="0"/>
              </a:rPr>
              <a:t>MainAxisAlignment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4DC9BD7-D66C-8043-9A60-1F72A4EBBD86}"/>
              </a:ext>
            </a:extLst>
          </p:cNvPr>
          <p:cNvCxnSpPr>
            <a:cxnSpLocks/>
            <a:stCxn id="33" idx="2"/>
            <a:endCxn id="38" idx="0"/>
          </p:cNvCxnSpPr>
          <p:nvPr/>
        </p:nvCxnSpPr>
        <p:spPr>
          <a:xfrm>
            <a:off x="9159206" y="6155622"/>
            <a:ext cx="0" cy="15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DE790FE-B517-724C-AD88-94F4C095A00D}"/>
              </a:ext>
            </a:extLst>
          </p:cNvPr>
          <p:cNvCxnSpPr>
            <a:cxnSpLocks/>
            <a:stCxn id="26" idx="2"/>
            <a:endCxn id="32" idx="0"/>
          </p:cNvCxnSpPr>
          <p:nvPr/>
        </p:nvCxnSpPr>
        <p:spPr>
          <a:xfrm flipH="1">
            <a:off x="9159206" y="4723805"/>
            <a:ext cx="2" cy="301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BC787D8-4299-F241-B2DD-40C39AFFF895}"/>
              </a:ext>
            </a:extLst>
          </p:cNvPr>
          <p:cNvCxnSpPr>
            <a:cxnSpLocks/>
            <a:stCxn id="32" idx="2"/>
            <a:endCxn id="33" idx="0"/>
          </p:cNvCxnSpPr>
          <p:nvPr/>
        </p:nvCxnSpPr>
        <p:spPr>
          <a:xfrm>
            <a:off x="9159206" y="5477677"/>
            <a:ext cx="0" cy="225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4A8EFC9-33A8-F34B-99ED-A224750D1555}"/>
              </a:ext>
            </a:extLst>
          </p:cNvPr>
          <p:cNvCxnSpPr>
            <a:cxnSpLocks/>
            <a:stCxn id="32" idx="2"/>
            <a:endCxn id="39" idx="0"/>
          </p:cNvCxnSpPr>
          <p:nvPr/>
        </p:nvCxnSpPr>
        <p:spPr>
          <a:xfrm flipH="1">
            <a:off x="7149434" y="5477677"/>
            <a:ext cx="2009772" cy="225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A9C78ED-A26C-9249-BB6A-D05D84852F53}"/>
              </a:ext>
            </a:extLst>
          </p:cNvPr>
          <p:cNvCxnSpPr>
            <a:cxnSpLocks/>
            <a:stCxn id="32" idx="2"/>
            <a:endCxn id="35" idx="0"/>
          </p:cNvCxnSpPr>
          <p:nvPr/>
        </p:nvCxnSpPr>
        <p:spPr>
          <a:xfrm>
            <a:off x="9159206" y="5477677"/>
            <a:ext cx="1908775" cy="225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56" name="Graphic 55" descr="Cursor with solid fill">
            <a:extLst>
              <a:ext uri="{FF2B5EF4-FFF2-40B4-BE49-F238E27FC236}">
                <a16:creationId xmlns:a16="http://schemas.microsoft.com/office/drawing/2014/main" id="{BBF7B2EC-8D05-C048-B17F-75F073918C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123154">
            <a:off x="4912159" y="3401106"/>
            <a:ext cx="914400" cy="914400"/>
          </a:xfrm>
          <a:prstGeom prst="rect">
            <a:avLst/>
          </a:prstGeom>
        </p:spPr>
      </p:pic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65D6E243-3B2C-7C44-96BB-E1CF73254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50558"/>
            <a:ext cx="11512815" cy="478242"/>
          </a:xfrm>
        </p:spPr>
        <p:txBody>
          <a:bodyPr>
            <a:normAutofit/>
          </a:bodyPr>
          <a:lstStyle/>
          <a:p>
            <a:r>
              <a:rPr lang="en-US" dirty="0"/>
              <a:t>The UI should look like the same as before, but we have a new widget tree</a:t>
            </a:r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DC25FFB-A99B-B240-812B-8F3F42573A1D}"/>
              </a:ext>
            </a:extLst>
          </p:cNvPr>
          <p:cNvSpPr/>
          <p:nvPr/>
        </p:nvSpPr>
        <p:spPr>
          <a:xfrm>
            <a:off x="2946994" y="430938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Column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A821E8D-885C-E240-A97D-FDB706DC6B3A}"/>
              </a:ext>
            </a:extLst>
          </p:cNvPr>
          <p:cNvSpPr/>
          <p:nvPr/>
        </p:nvSpPr>
        <p:spPr>
          <a:xfrm>
            <a:off x="2946994" y="4987334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1100" dirty="0">
                <a:latin typeface="Courier" pitchFamily="2" charset="0"/>
              </a:rPr>
              <a:t>ElevatedButton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7A504BD-3AD1-B149-959A-8421A5321612}"/>
              </a:ext>
            </a:extLst>
          </p:cNvPr>
          <p:cNvSpPr/>
          <p:nvPr/>
        </p:nvSpPr>
        <p:spPr>
          <a:xfrm>
            <a:off x="4855769" y="4987333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32C0C23-B1F9-5D4B-A36A-05B223EA3449}"/>
              </a:ext>
            </a:extLst>
          </p:cNvPr>
          <p:cNvSpPr/>
          <p:nvPr/>
        </p:nvSpPr>
        <p:spPr>
          <a:xfrm>
            <a:off x="2946994" y="5596639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dirty="0">
                <a:latin typeface="Courier" pitchFamily="2" charset="0"/>
              </a:rPr>
              <a:t>Text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3150DFB-A286-BE4B-A2EE-FD01719C37EC}"/>
              </a:ext>
            </a:extLst>
          </p:cNvPr>
          <p:cNvSpPr/>
          <p:nvPr/>
        </p:nvSpPr>
        <p:spPr>
          <a:xfrm>
            <a:off x="937222" y="4987332"/>
            <a:ext cx="1457011" cy="452175"/>
          </a:xfrm>
          <a:prstGeom prst="rect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T" sz="900" dirty="0">
                <a:latin typeface="Courier" pitchFamily="2" charset="0"/>
              </a:rPr>
              <a:t>MainAxisAlignment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0ABE12E-2F2C-6644-9DBD-282F100E7237}"/>
              </a:ext>
            </a:extLst>
          </p:cNvPr>
          <p:cNvCxnSpPr>
            <a:cxnSpLocks/>
            <a:stCxn id="67" idx="2"/>
            <a:endCxn id="69" idx="0"/>
          </p:cNvCxnSpPr>
          <p:nvPr/>
        </p:nvCxnSpPr>
        <p:spPr>
          <a:xfrm>
            <a:off x="3675500" y="5439509"/>
            <a:ext cx="0" cy="15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05A530B-8EDC-8643-AEEA-1331A85B6CAB}"/>
              </a:ext>
            </a:extLst>
          </p:cNvPr>
          <p:cNvCxnSpPr>
            <a:cxnSpLocks/>
            <a:stCxn id="66" idx="2"/>
            <a:endCxn id="67" idx="0"/>
          </p:cNvCxnSpPr>
          <p:nvPr/>
        </p:nvCxnSpPr>
        <p:spPr>
          <a:xfrm>
            <a:off x="3675500" y="4761564"/>
            <a:ext cx="0" cy="225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2D79201-F640-C141-BB4D-EE97B27DA4C6}"/>
              </a:ext>
            </a:extLst>
          </p:cNvPr>
          <p:cNvCxnSpPr>
            <a:cxnSpLocks/>
            <a:stCxn id="66" idx="2"/>
            <a:endCxn id="70" idx="0"/>
          </p:cNvCxnSpPr>
          <p:nvPr/>
        </p:nvCxnSpPr>
        <p:spPr>
          <a:xfrm flipH="1">
            <a:off x="1665728" y="4761564"/>
            <a:ext cx="2009772" cy="225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85E3D90-D3D2-AB40-8CC1-A878A7FCC399}"/>
              </a:ext>
            </a:extLst>
          </p:cNvPr>
          <p:cNvCxnSpPr>
            <a:cxnSpLocks/>
            <a:stCxn id="66" idx="2"/>
            <a:endCxn id="68" idx="0"/>
          </p:cNvCxnSpPr>
          <p:nvPr/>
        </p:nvCxnSpPr>
        <p:spPr>
          <a:xfrm>
            <a:off x="3675500" y="4761564"/>
            <a:ext cx="1908775" cy="2257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BD4F05-2189-AD42-AE91-4901D7296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3616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void initState(){}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350558"/>
            <a:ext cx="10705992" cy="5331508"/>
          </a:xfrm>
        </p:spPr>
        <p:txBody>
          <a:bodyPr>
            <a:normAutofit/>
          </a:bodyPr>
          <a:lstStyle/>
          <a:p>
            <a:r>
              <a:rPr lang="en-US" dirty="0"/>
              <a:t>Let’s do some changes to </a:t>
            </a:r>
            <a:r>
              <a:rPr lang="en-US" dirty="0" err="1"/>
              <a:t>RandomHello</a:t>
            </a:r>
            <a:r>
              <a:rPr lang="en-US" dirty="0"/>
              <a:t> to make it more </a:t>
            </a:r>
            <a:r>
              <a:rPr lang="en-US" b="1" dirty="0"/>
              <a:t>stateful</a:t>
            </a:r>
            <a:endParaRPr lang="en-US" b="1" dirty="0">
              <a:latin typeface="Courier" pitchFamily="2" charset="0"/>
            </a:endParaRPr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07294F-9461-D747-B7CD-166D3E548E2D}"/>
              </a:ext>
            </a:extLst>
          </p:cNvPr>
          <p:cNvSpPr/>
          <p:nvPr/>
        </p:nvSpPr>
        <p:spPr>
          <a:xfrm>
            <a:off x="291352" y="2401251"/>
            <a:ext cx="9390529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Courier" pitchFamily="2" charset="0"/>
              </a:rPr>
              <a:t>class _</a:t>
            </a:r>
            <a:r>
              <a:rPr lang="en-GB" sz="2000" dirty="0" err="1">
                <a:latin typeface="Courier" pitchFamily="2" charset="0"/>
              </a:rPr>
              <a:t>RandomHelloState</a:t>
            </a:r>
            <a:r>
              <a:rPr lang="en-GB" sz="2000" dirty="0">
                <a:latin typeface="Courier" pitchFamily="2" charset="0"/>
              </a:rPr>
              <a:t> extends State&lt;</a:t>
            </a:r>
            <a:r>
              <a:rPr lang="en-GB" sz="2000" dirty="0" err="1">
                <a:latin typeface="Courier" pitchFamily="2" charset="0"/>
              </a:rPr>
              <a:t>RandomHello</a:t>
            </a:r>
            <a:r>
              <a:rPr lang="en-GB" sz="2000" dirty="0">
                <a:latin typeface="Courier" pitchFamily="2" charset="0"/>
              </a:rPr>
              <a:t>&gt;{</a:t>
            </a:r>
          </a:p>
          <a:p>
            <a:br>
              <a:rPr lang="en-GB" sz="2000" dirty="0">
                <a:latin typeface="Courier" pitchFamily="2" charset="0"/>
              </a:rPr>
            </a:br>
            <a:r>
              <a:rPr lang="en-GB" sz="2000" dirty="0">
                <a:latin typeface="Courier" pitchFamily="2" charset="0"/>
              </a:rPr>
              <a:t>  </a:t>
            </a:r>
            <a:r>
              <a:rPr lang="en-GB" sz="2000" b="1" dirty="0">
                <a:latin typeface="Courier" pitchFamily="2" charset="0"/>
              </a:rPr>
              <a:t>String? _word;</a:t>
            </a:r>
          </a:p>
          <a:p>
            <a:br>
              <a:rPr lang="en-GB" sz="2000" b="1" dirty="0">
                <a:latin typeface="Courier" pitchFamily="2" charset="0"/>
              </a:rPr>
            </a:br>
            <a:r>
              <a:rPr lang="en-GB" sz="2000" b="1" dirty="0">
                <a:latin typeface="Courier" pitchFamily="2" charset="0"/>
              </a:rPr>
              <a:t>  @override</a:t>
            </a:r>
          </a:p>
          <a:p>
            <a:r>
              <a:rPr lang="en-GB" sz="2000" dirty="0">
                <a:latin typeface="Courier" pitchFamily="2" charset="0"/>
              </a:rPr>
              <a:t>  </a:t>
            </a:r>
            <a:r>
              <a:rPr lang="en-GB" sz="2000" b="1" dirty="0">
                <a:latin typeface="Courier" pitchFamily="2" charset="0"/>
              </a:rPr>
              <a:t>void </a:t>
            </a:r>
            <a:r>
              <a:rPr lang="en-GB" sz="2000" b="1" dirty="0" err="1">
                <a:latin typeface="Courier" pitchFamily="2" charset="0"/>
              </a:rPr>
              <a:t>initState</a:t>
            </a:r>
            <a:r>
              <a:rPr lang="en-GB" sz="2000" b="1" dirty="0">
                <a:latin typeface="Courier" pitchFamily="2" charset="0"/>
              </a:rPr>
              <a:t>() {</a:t>
            </a:r>
          </a:p>
          <a:p>
            <a:r>
              <a:rPr lang="en-GB" sz="2000" b="1" dirty="0">
                <a:latin typeface="Courier" pitchFamily="2" charset="0"/>
              </a:rPr>
              <a:t>    _word = </a:t>
            </a:r>
            <a:r>
              <a:rPr lang="en-GB" sz="2000" b="1" dirty="0" err="1">
                <a:latin typeface="Courier" pitchFamily="2" charset="0"/>
              </a:rPr>
              <a:t>WordPair.random</a:t>
            </a:r>
            <a:r>
              <a:rPr lang="en-GB" sz="2000" b="1" dirty="0">
                <a:latin typeface="Courier" pitchFamily="2" charset="0"/>
              </a:rPr>
              <a:t>().first;</a:t>
            </a:r>
          </a:p>
          <a:p>
            <a:r>
              <a:rPr lang="en-GB" sz="2000" b="1" dirty="0">
                <a:latin typeface="Courier" pitchFamily="2" charset="0"/>
              </a:rPr>
              <a:t>    </a:t>
            </a:r>
            <a:r>
              <a:rPr lang="en-GB" sz="2000" b="1" dirty="0" err="1">
                <a:latin typeface="Courier" pitchFamily="2" charset="0"/>
              </a:rPr>
              <a:t>super.initState</a:t>
            </a:r>
            <a:r>
              <a:rPr lang="en-GB" sz="2000" b="1" dirty="0">
                <a:latin typeface="Courier" pitchFamily="2" charset="0"/>
              </a:rPr>
              <a:t>();</a:t>
            </a:r>
          </a:p>
          <a:p>
            <a:r>
              <a:rPr lang="en-GB" sz="2000" b="1" dirty="0">
                <a:latin typeface="Courier" pitchFamily="2" charset="0"/>
              </a:rPr>
              <a:t>  }//</a:t>
            </a:r>
            <a:r>
              <a:rPr lang="en-GB" sz="2000" b="1" dirty="0" err="1">
                <a:latin typeface="Courier" pitchFamily="2" charset="0"/>
              </a:rPr>
              <a:t>initState</a:t>
            </a:r>
            <a:endParaRPr lang="en-GB" sz="2000" b="1" dirty="0">
              <a:latin typeface="Courier" pitchFamily="2" charset="0"/>
            </a:endParaRPr>
          </a:p>
          <a:p>
            <a:endParaRPr lang="en-GB" sz="2000" b="0" dirty="0">
              <a:effectLst/>
              <a:latin typeface="Courier" pitchFamily="2" charset="0"/>
            </a:endParaRPr>
          </a:p>
          <a:p>
            <a:r>
              <a:rPr lang="en-GB" sz="2000" dirty="0">
                <a:latin typeface="Courier" pitchFamily="2" charset="0"/>
              </a:rPr>
              <a:t>...</a:t>
            </a:r>
            <a:endParaRPr lang="en-GB" sz="2000" b="0" dirty="0">
              <a:effectLst/>
              <a:latin typeface="Courier" pitchFamily="2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B234AF-F4D3-D146-8EFD-E4183EBC4737}"/>
              </a:ext>
            </a:extLst>
          </p:cNvPr>
          <p:cNvCxnSpPr>
            <a:cxnSpLocks/>
          </p:cNvCxnSpPr>
          <p:nvPr/>
        </p:nvCxnSpPr>
        <p:spPr>
          <a:xfrm flipH="1">
            <a:off x="3455896" y="4128247"/>
            <a:ext cx="467957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0889482-C451-7A49-B11C-6851F706FB81}"/>
              </a:ext>
            </a:extLst>
          </p:cNvPr>
          <p:cNvSpPr/>
          <p:nvPr/>
        </p:nvSpPr>
        <p:spPr>
          <a:xfrm>
            <a:off x="8231410" y="3943581"/>
            <a:ext cx="39624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 err="1">
                <a:latin typeface="Courier" pitchFamily="2" charset="0"/>
              </a:rPr>
              <a:t>initState</a:t>
            </a:r>
            <a:r>
              <a:rPr lang="en-GB" sz="2000" dirty="0">
                <a:latin typeface="Palatino Linotype" panose="02040502050505030304" pitchFamily="18" charset="0"/>
              </a:rPr>
              <a:t> </a:t>
            </a:r>
            <a:r>
              <a:rPr lang="en-GB" sz="2000" dirty="0">
                <a:latin typeface="Aptos" panose="020B0004020202020204" pitchFamily="34" charset="0"/>
              </a:rPr>
              <a:t>is a special method that is called the first time the Widget is created. It is used (as its name suggest) to initialize the state of the Widget itself.</a:t>
            </a:r>
            <a:endParaRPr lang="en-IT" sz="2000" dirty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126CF6-1176-E245-9875-7E7C8985FC45}"/>
              </a:ext>
            </a:extLst>
          </p:cNvPr>
          <p:cNvSpPr/>
          <p:nvPr/>
        </p:nvSpPr>
        <p:spPr>
          <a:xfrm>
            <a:off x="8231410" y="3057086"/>
            <a:ext cx="36692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>
                <a:latin typeface="Courier" pitchFamily="2" charset="0"/>
              </a:rPr>
              <a:t>_word </a:t>
            </a:r>
            <a:r>
              <a:rPr lang="en-GB" sz="2000" dirty="0">
                <a:latin typeface="Aptos" panose="020B0004020202020204" pitchFamily="34" charset="0"/>
              </a:rPr>
              <a:t>will represent the state of the Widget</a:t>
            </a:r>
            <a:endParaRPr lang="en-IT" sz="2000" dirty="0">
              <a:latin typeface="Aptos" panose="020B0004020202020204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487A1B-624D-274A-9363-B0C974790162}"/>
              </a:ext>
            </a:extLst>
          </p:cNvPr>
          <p:cNvCxnSpPr>
            <a:cxnSpLocks/>
          </p:cNvCxnSpPr>
          <p:nvPr/>
        </p:nvCxnSpPr>
        <p:spPr>
          <a:xfrm flipH="1">
            <a:off x="2891118" y="3254188"/>
            <a:ext cx="524435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A0CD4-788E-7046-81DA-0F927C27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1221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setState((){})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3" y="1350558"/>
            <a:ext cx="10705992" cy="5331508"/>
          </a:xfrm>
        </p:spPr>
        <p:txBody>
          <a:bodyPr>
            <a:normAutofit/>
          </a:bodyPr>
          <a:lstStyle/>
          <a:p>
            <a:r>
              <a:rPr lang="en-US" dirty="0"/>
              <a:t>We are ready to implement the function to provide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onPressed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1" indent="0">
              <a:buNone/>
            </a:pPr>
            <a:endParaRPr lang="en-US" dirty="0"/>
          </a:p>
          <a:p>
            <a:pPr marL="800100" lvl="1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07294F-9461-D747-B7CD-166D3E548E2D}"/>
              </a:ext>
            </a:extLst>
          </p:cNvPr>
          <p:cNvSpPr/>
          <p:nvPr/>
        </p:nvSpPr>
        <p:spPr>
          <a:xfrm>
            <a:off x="560293" y="1513746"/>
            <a:ext cx="994952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ourier" pitchFamily="2" charset="0"/>
              </a:rPr>
              <a:t>...</a:t>
            </a:r>
          </a:p>
          <a:p>
            <a:r>
              <a:rPr lang="en-GB" dirty="0">
                <a:latin typeface="Courier" pitchFamily="2" charset="0"/>
              </a:rPr>
              <a:t>@override</a:t>
            </a:r>
          </a:p>
          <a:p>
            <a:r>
              <a:rPr lang="en-GB" dirty="0">
                <a:latin typeface="Courier" pitchFamily="2" charset="0"/>
              </a:rPr>
              <a:t>Widget build(</a:t>
            </a:r>
            <a:r>
              <a:rPr lang="en-GB" dirty="0" err="1">
                <a:latin typeface="Courier" pitchFamily="2" charset="0"/>
              </a:rPr>
              <a:t>BuildContext</a:t>
            </a:r>
            <a:r>
              <a:rPr lang="en-GB" dirty="0">
                <a:latin typeface="Courier" pitchFamily="2" charset="0"/>
              </a:rPr>
              <a:t> </a:t>
            </a:r>
            <a:r>
              <a:rPr lang="en-GB" dirty="0" err="1">
                <a:latin typeface="Courier" pitchFamily="2" charset="0"/>
              </a:rPr>
              <a:t>buildContext</a:t>
            </a:r>
            <a:r>
              <a:rPr lang="en-GB" dirty="0">
                <a:latin typeface="Courier" pitchFamily="2" charset="0"/>
              </a:rPr>
              <a:t>){</a:t>
            </a:r>
          </a:p>
          <a:p>
            <a:r>
              <a:rPr lang="en-GB" dirty="0">
                <a:latin typeface="Courier" pitchFamily="2" charset="0"/>
              </a:rPr>
              <a:t>  return Column(</a:t>
            </a:r>
          </a:p>
          <a:p>
            <a:r>
              <a:rPr lang="en-GB" dirty="0">
                <a:latin typeface="Courier" pitchFamily="2" charset="0"/>
              </a:rPr>
              <a:t>    </a:t>
            </a:r>
            <a:r>
              <a:rPr lang="en-GB" dirty="0" err="1">
                <a:latin typeface="Courier" pitchFamily="2" charset="0"/>
              </a:rPr>
              <a:t>mainAxisAlignment</a:t>
            </a:r>
            <a:r>
              <a:rPr lang="en-GB" dirty="0">
                <a:latin typeface="Courier" pitchFamily="2" charset="0"/>
              </a:rPr>
              <a:t>: </a:t>
            </a:r>
            <a:r>
              <a:rPr lang="en-GB" dirty="0" err="1">
                <a:latin typeface="Courier" pitchFamily="2" charset="0"/>
              </a:rPr>
              <a:t>MainAxisAlignment.center</a:t>
            </a:r>
            <a:r>
              <a:rPr lang="en-GB" dirty="0">
                <a:latin typeface="Courier" pitchFamily="2" charset="0"/>
              </a:rPr>
              <a:t>,</a:t>
            </a:r>
          </a:p>
          <a:p>
            <a:r>
              <a:rPr lang="en-GB" dirty="0">
                <a:latin typeface="Courier" pitchFamily="2" charset="0"/>
              </a:rPr>
              <a:t>      children: [</a:t>
            </a:r>
          </a:p>
          <a:p>
            <a:r>
              <a:rPr lang="en-GB" dirty="0">
                <a:latin typeface="Courier" pitchFamily="2" charset="0"/>
              </a:rPr>
              <a:t>        Text('Hello, $_word!’),</a:t>
            </a:r>
          </a:p>
          <a:p>
            <a:r>
              <a:rPr lang="en-GB" dirty="0">
                <a:latin typeface="Courier" pitchFamily="2" charset="0"/>
              </a:rPr>
              <a:t>        </a:t>
            </a:r>
            <a:r>
              <a:rPr lang="en-GB" dirty="0" err="1">
                <a:latin typeface="Courier" pitchFamily="2" charset="0"/>
              </a:rPr>
              <a:t>ElevatedButton</a:t>
            </a:r>
            <a:r>
              <a:rPr lang="en-GB" dirty="0">
                <a:latin typeface="Courier" pitchFamily="2" charset="0"/>
              </a:rPr>
              <a:t>(</a:t>
            </a:r>
            <a:r>
              <a:rPr lang="en-GB" dirty="0" err="1">
                <a:latin typeface="Courier" pitchFamily="2" charset="0"/>
              </a:rPr>
              <a:t>onPressed</a:t>
            </a:r>
            <a:r>
              <a:rPr lang="en-GB" dirty="0">
                <a:latin typeface="Courier" pitchFamily="2" charset="0"/>
              </a:rPr>
              <a:t>: _</a:t>
            </a:r>
            <a:r>
              <a:rPr lang="en-GB" dirty="0" err="1">
                <a:latin typeface="Courier" pitchFamily="2" charset="0"/>
              </a:rPr>
              <a:t>changeRandomWord</a:t>
            </a:r>
            <a:r>
              <a:rPr lang="en-GB" dirty="0">
                <a:latin typeface="Courier" pitchFamily="2" charset="0"/>
              </a:rPr>
              <a:t>, child: Text('Press me')),</a:t>
            </a:r>
          </a:p>
          <a:p>
            <a:r>
              <a:rPr lang="en-GB" dirty="0">
                <a:latin typeface="Courier" pitchFamily="2" charset="0"/>
              </a:rPr>
              <a:t>      ],);</a:t>
            </a:r>
          </a:p>
          <a:p>
            <a:r>
              <a:rPr lang="en-GB" dirty="0">
                <a:latin typeface="Courier" pitchFamily="2" charset="0"/>
              </a:rPr>
              <a:t>}//build </a:t>
            </a:r>
          </a:p>
          <a:p>
            <a:br>
              <a:rPr lang="en-GB" dirty="0">
                <a:latin typeface="Courier" pitchFamily="2" charset="0"/>
              </a:rPr>
            </a:br>
            <a:r>
              <a:rPr lang="en-GB" b="1" dirty="0">
                <a:latin typeface="Courier" pitchFamily="2" charset="0"/>
              </a:rPr>
              <a:t>void _</a:t>
            </a:r>
            <a:r>
              <a:rPr lang="en-GB" b="1" dirty="0" err="1">
                <a:latin typeface="Courier" pitchFamily="2" charset="0"/>
              </a:rPr>
              <a:t>changeRandomWord</a:t>
            </a:r>
            <a:r>
              <a:rPr lang="en-GB" b="1" dirty="0">
                <a:latin typeface="Courier" pitchFamily="2" charset="0"/>
              </a:rPr>
              <a:t>(){</a:t>
            </a:r>
          </a:p>
          <a:p>
            <a:r>
              <a:rPr lang="en-GB" b="1" dirty="0">
                <a:latin typeface="Courier" pitchFamily="2" charset="0"/>
              </a:rPr>
              <a:t>  </a:t>
            </a:r>
            <a:r>
              <a:rPr lang="en-GB" b="1" dirty="0" err="1">
                <a:latin typeface="Courier" pitchFamily="2" charset="0"/>
              </a:rPr>
              <a:t>setState</a:t>
            </a:r>
            <a:r>
              <a:rPr lang="en-GB" b="1" dirty="0">
                <a:latin typeface="Courier" pitchFamily="2" charset="0"/>
              </a:rPr>
              <a:t>(() {</a:t>
            </a:r>
          </a:p>
          <a:p>
            <a:r>
              <a:rPr lang="en-GB" b="1" dirty="0">
                <a:latin typeface="Courier" pitchFamily="2" charset="0"/>
              </a:rPr>
              <a:t>    _word = </a:t>
            </a:r>
            <a:r>
              <a:rPr lang="en-GB" b="1" dirty="0" err="1">
                <a:latin typeface="Courier" pitchFamily="2" charset="0"/>
              </a:rPr>
              <a:t>WordPair.random</a:t>
            </a:r>
            <a:r>
              <a:rPr lang="en-GB" b="1" dirty="0">
                <a:latin typeface="Courier" pitchFamily="2" charset="0"/>
              </a:rPr>
              <a:t>().first;</a:t>
            </a:r>
          </a:p>
          <a:p>
            <a:r>
              <a:rPr lang="en-GB" b="1" dirty="0">
                <a:latin typeface="Courier" pitchFamily="2" charset="0"/>
              </a:rPr>
              <a:t>  });</a:t>
            </a:r>
          </a:p>
          <a:p>
            <a:r>
              <a:rPr lang="en-GB" b="1" dirty="0">
                <a:latin typeface="Courier" pitchFamily="2" charset="0"/>
              </a:rPr>
              <a:t>}//_</a:t>
            </a:r>
            <a:r>
              <a:rPr lang="en-GB" b="1" dirty="0" err="1">
                <a:latin typeface="Courier" pitchFamily="2" charset="0"/>
              </a:rPr>
              <a:t>changeRandomWord</a:t>
            </a:r>
            <a:endParaRPr lang="en-GB" b="0" dirty="0">
              <a:effectLst/>
              <a:latin typeface="Courier" pitchFamily="2" charset="0"/>
            </a:endParaRPr>
          </a:p>
          <a:p>
            <a:r>
              <a:rPr lang="en-GB" dirty="0">
                <a:latin typeface="Courier" pitchFamily="2" charset="0"/>
              </a:rPr>
              <a:t>...</a:t>
            </a:r>
            <a:endParaRPr lang="en-GB" b="0" dirty="0">
              <a:effectLst/>
              <a:latin typeface="Courier" pitchFamily="2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B234AF-F4D3-D146-8EFD-E4183EBC4737}"/>
              </a:ext>
            </a:extLst>
          </p:cNvPr>
          <p:cNvCxnSpPr>
            <a:cxnSpLocks/>
          </p:cNvCxnSpPr>
          <p:nvPr/>
        </p:nvCxnSpPr>
        <p:spPr>
          <a:xfrm flipH="1">
            <a:off x="2756647" y="4954290"/>
            <a:ext cx="5378826" cy="309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0889482-C451-7A49-B11C-6851F706FB81}"/>
              </a:ext>
            </a:extLst>
          </p:cNvPr>
          <p:cNvSpPr/>
          <p:nvPr/>
        </p:nvSpPr>
        <p:spPr>
          <a:xfrm>
            <a:off x="8135471" y="4345290"/>
            <a:ext cx="3962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 err="1">
                <a:latin typeface="Courier" pitchFamily="2" charset="0"/>
              </a:rPr>
              <a:t>setState</a:t>
            </a:r>
            <a:r>
              <a:rPr lang="en-GB" sz="2000" dirty="0">
                <a:latin typeface="Palatino Linotype" panose="02040502050505030304" pitchFamily="18" charset="0"/>
              </a:rPr>
              <a:t> </a:t>
            </a:r>
            <a:r>
              <a:rPr lang="en-GB" sz="2000" dirty="0">
                <a:latin typeface="Aptos" panose="020B0004020202020204" pitchFamily="34" charset="0"/>
              </a:rPr>
              <a:t>is a special method that requires a </a:t>
            </a:r>
            <a:r>
              <a:rPr lang="en-GB" sz="2000" dirty="0" err="1">
                <a:latin typeface="Aptos" panose="020B0004020202020204" pitchFamily="34" charset="0"/>
              </a:rPr>
              <a:t>callback</a:t>
            </a:r>
            <a:r>
              <a:rPr lang="en-GB" sz="2000" dirty="0">
                <a:latin typeface="Aptos" panose="020B0004020202020204" pitchFamily="34" charset="0"/>
              </a:rPr>
              <a:t> function as input. </a:t>
            </a:r>
            <a:r>
              <a:rPr lang="en-GB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setState</a:t>
            </a:r>
            <a:r>
              <a:rPr lang="en-GB" sz="2000" dirty="0">
                <a:latin typeface="Aptos" panose="020B0004020202020204" pitchFamily="34" charset="0"/>
              </a:rPr>
              <a:t> notifies the Flutter framework that the state might be changed causing to delete and rebuild the widget itself.</a:t>
            </a:r>
            <a:endParaRPr lang="en-IT" sz="2000" dirty="0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F1F003-AFB6-5144-AD26-9E170FEBA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9986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My first app with steroids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8019793" cy="5334907"/>
          </a:xfrm>
        </p:spPr>
        <p:txBody>
          <a:bodyPr>
            <a:normAutofit/>
          </a:bodyPr>
          <a:lstStyle/>
          <a:p>
            <a:r>
              <a:rPr lang="en-US" dirty="0"/>
              <a:t>Roadmap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Understand what to use to generate a random word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Generate a random word and check that everything is working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Display the word in the “Hello” message 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Modify the UI to generate a new message each time a button is tapped</a:t>
            </a:r>
          </a:p>
        </p:txBody>
      </p:sp>
      <p:pic>
        <p:nvPicPr>
          <p:cNvPr id="5" name="Graphic 4" descr="Badge Tick1 outline">
            <a:extLst>
              <a:ext uri="{FF2B5EF4-FFF2-40B4-BE49-F238E27FC236}">
                <a16:creationId xmlns:a16="http://schemas.microsoft.com/office/drawing/2014/main" id="{3C654B55-1AAB-4342-A53F-FA092921A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2684" y="1733843"/>
            <a:ext cx="914400" cy="914400"/>
          </a:xfrm>
          <a:prstGeom prst="rect">
            <a:avLst/>
          </a:prstGeom>
        </p:spPr>
      </p:pic>
      <p:pic>
        <p:nvPicPr>
          <p:cNvPr id="6" name="Graphic 5" descr="Badge Tick1 outline">
            <a:extLst>
              <a:ext uri="{FF2B5EF4-FFF2-40B4-BE49-F238E27FC236}">
                <a16:creationId xmlns:a16="http://schemas.microsoft.com/office/drawing/2014/main" id="{BF571C68-5305-5C40-B93A-9260CBDF2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2684" y="2514600"/>
            <a:ext cx="914400" cy="914400"/>
          </a:xfrm>
          <a:prstGeom prst="rect">
            <a:avLst/>
          </a:prstGeom>
        </p:spPr>
      </p:pic>
      <p:pic>
        <p:nvPicPr>
          <p:cNvPr id="7" name="Graphic 6" descr="Badge Tick1 outline">
            <a:extLst>
              <a:ext uri="{FF2B5EF4-FFF2-40B4-BE49-F238E27FC236}">
                <a16:creationId xmlns:a16="http://schemas.microsoft.com/office/drawing/2014/main" id="{CBBE2052-621C-9941-8BE3-77BB7FA31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79111" y="3429000"/>
            <a:ext cx="914400" cy="914400"/>
          </a:xfrm>
          <a:prstGeom prst="rect">
            <a:avLst/>
          </a:prstGeom>
        </p:spPr>
      </p:pic>
      <p:pic>
        <p:nvPicPr>
          <p:cNvPr id="8" name="Graphic 7" descr="Badge Tick1 outline">
            <a:extLst>
              <a:ext uri="{FF2B5EF4-FFF2-40B4-BE49-F238E27FC236}">
                <a16:creationId xmlns:a16="http://schemas.microsoft.com/office/drawing/2014/main" id="{0EF07257-4C1B-774C-9ED7-67ED33F8E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92684" y="4343400"/>
            <a:ext cx="914400" cy="91440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86F44EF-464E-3F4B-AE73-B17436BE445A}"/>
              </a:ext>
            </a:extLst>
          </p:cNvPr>
          <p:cNvSpPr txBox="1">
            <a:spLocks/>
          </p:cNvSpPr>
          <p:nvPr/>
        </p:nvSpPr>
        <p:spPr>
          <a:xfrm>
            <a:off x="0" y="6548909"/>
            <a:ext cx="12192000" cy="3554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T" sz="1600" dirty="0">
                <a:latin typeface="Aptos" panose="020B0004020202020204" pitchFamily="34" charset="0"/>
                <a:ea typeface="Palatino" pitchFamily="2" charset="77"/>
              </a:rPr>
              <a:t>Full example in lab_04-hello_flutter/my_first_app_with_steroids/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BC04F-8C3C-9A44-A4D8-173F19F0F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84194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Flutter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Creating a new project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App dissection</a:t>
            </a:r>
          </a:p>
          <a:p>
            <a:r>
              <a:rPr lang="en-IT" dirty="0">
                <a:solidFill>
                  <a:schemeClr val="bg1">
                    <a:lumMod val="75000"/>
                  </a:schemeClr>
                </a:solidFill>
              </a:rPr>
              <a:t>Expanding our first app</a:t>
            </a:r>
          </a:p>
          <a:p>
            <a:pPr marL="0" indent="0">
              <a:buNone/>
            </a:pPr>
            <a:endParaRPr lang="en-IT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IT" b="1" dirty="0"/>
              <a:t>Homework </a:t>
            </a:r>
            <a:r>
              <a:rPr lang="en-IT" b="1"/>
              <a:t>&amp; Resources</a:t>
            </a:r>
            <a:endParaRPr lang="en-IT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44751-EEE6-C14A-807C-B09D1831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41097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Homework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2" y="1361167"/>
            <a:ext cx="11213368" cy="5334907"/>
          </a:xfrm>
        </p:spPr>
        <p:txBody>
          <a:bodyPr>
            <a:normAutofit/>
          </a:bodyPr>
          <a:lstStyle/>
          <a:p>
            <a:r>
              <a:rPr lang="en-GB" dirty="0"/>
              <a:t>Play with our first example</a:t>
            </a:r>
          </a:p>
          <a:p>
            <a:endParaRPr lang="en-GB" dirty="0"/>
          </a:p>
          <a:p>
            <a:r>
              <a:rPr lang="en-GB" dirty="0"/>
              <a:t>Get familiar with the structure of a Flutter project and how to install new packages using </a:t>
            </a:r>
            <a:r>
              <a:rPr lang="en-GB" dirty="0" err="1"/>
              <a:t>pubspec.yaml</a:t>
            </a:r>
            <a:endParaRPr lang="en-GB" dirty="0"/>
          </a:p>
          <a:p>
            <a:endParaRPr lang="en-GB" dirty="0"/>
          </a:p>
          <a:p>
            <a:r>
              <a:rPr lang="en-GB" dirty="0"/>
              <a:t>Get familiar with the concept of Widget</a:t>
            </a:r>
          </a:p>
          <a:p>
            <a:endParaRPr lang="en-GB" dirty="0"/>
          </a:p>
          <a:p>
            <a:r>
              <a:rPr lang="en-GB" dirty="0"/>
              <a:t>To know what to do to create a </a:t>
            </a:r>
            <a:r>
              <a:rPr lang="en-GB" dirty="0" err="1"/>
              <a:t>StatelessWidget</a:t>
            </a:r>
            <a:r>
              <a:rPr lang="en-GB" dirty="0"/>
              <a:t> and a </a:t>
            </a:r>
            <a:r>
              <a:rPr lang="en-GB" dirty="0" err="1"/>
              <a:t>StatefulWidget</a:t>
            </a:r>
            <a:endParaRPr lang="en-GB" dirty="0"/>
          </a:p>
          <a:p>
            <a:endParaRPr lang="en-GB" dirty="0"/>
          </a:p>
          <a:p>
            <a:r>
              <a:rPr lang="en-GB" dirty="0"/>
              <a:t>Understanding the Flutter flow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7B916-209C-5F4F-B5A8-7C2554990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9206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1E14-0610-FB4E-BCD3-3BA8CADF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2CCAC-9D70-C543-BBE0-822B6CB5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171" y="1361167"/>
            <a:ext cx="10913119" cy="5334907"/>
          </a:xfrm>
        </p:spPr>
        <p:txBody>
          <a:bodyPr>
            <a:normAutofit/>
          </a:bodyPr>
          <a:lstStyle/>
          <a:p>
            <a:r>
              <a:rPr lang="en-GB" dirty="0"/>
              <a:t>Code repository of today’s lesson and exercises solution</a:t>
            </a:r>
          </a:p>
          <a:p>
            <a:pPr lvl="1"/>
            <a:r>
              <a:rPr lang="en-GB" dirty="0">
                <a:hlinkClick r:id="rId2"/>
              </a:rPr>
              <a:t>https://github.com/gcappon/bwthw/tree/master/lab_04-hello_flutter</a:t>
            </a:r>
            <a:r>
              <a:rPr lang="en-GB" dirty="0"/>
              <a:t> </a:t>
            </a:r>
          </a:p>
          <a:p>
            <a:pPr lvl="1"/>
            <a:endParaRPr lang="en-US" dirty="0"/>
          </a:p>
          <a:p>
            <a:r>
              <a:rPr lang="en-IT"/>
              <a:t>Introduction </a:t>
            </a:r>
            <a:r>
              <a:rPr lang="en-IT" dirty="0"/>
              <a:t>to Widgets</a:t>
            </a:r>
          </a:p>
          <a:p>
            <a:pPr lvl="1"/>
            <a:r>
              <a:rPr lang="en-GB" dirty="0">
                <a:hlinkClick r:id="rId3"/>
              </a:rPr>
              <a:t>https://docs.flutter.dev/development/ui/widgets-intro</a:t>
            </a:r>
            <a:r>
              <a:rPr lang="en-GB" dirty="0"/>
              <a:t> </a:t>
            </a:r>
          </a:p>
          <a:p>
            <a:pPr marL="0" indent="0">
              <a:buNone/>
            </a:pPr>
            <a:endParaRPr lang="en-IT" dirty="0"/>
          </a:p>
          <a:p>
            <a:r>
              <a:rPr lang="en-IT" dirty="0"/>
              <a:t>Write your first Flutter app, part 1 codelab</a:t>
            </a:r>
          </a:p>
          <a:p>
            <a:pPr lvl="1"/>
            <a:r>
              <a:rPr lang="en-GB" dirty="0">
                <a:hlinkClick r:id="rId4"/>
              </a:rPr>
              <a:t>https://docs.flutter.dev/get-started/codelab</a:t>
            </a:r>
            <a:r>
              <a:rPr lang="en-GB" dirty="0"/>
              <a:t> </a:t>
            </a:r>
          </a:p>
          <a:p>
            <a:pPr lvl="1"/>
            <a:endParaRPr lang="en-GB" dirty="0"/>
          </a:p>
          <a:p>
            <a:r>
              <a:rPr lang="en-GB" dirty="0" err="1"/>
              <a:t>DevTools</a:t>
            </a:r>
            <a:endParaRPr lang="en-GB" dirty="0"/>
          </a:p>
          <a:p>
            <a:pPr lvl="1"/>
            <a:r>
              <a:rPr lang="en-GB" dirty="0">
                <a:hlinkClick r:id="rId5"/>
              </a:rPr>
              <a:t>https://docs.flutter.dev/development/tools/devtools/overview</a:t>
            </a:r>
            <a:endParaRPr lang="en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B613E-6C5B-2547-8369-6F6CEC169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7718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15861</TotalTime>
  <Words>3396</Words>
  <Application>Microsoft Macintosh PowerPoint</Application>
  <PresentationFormat>Widescreen</PresentationFormat>
  <Paragraphs>664</Paragraphs>
  <Slides>49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8" baseType="lpstr">
      <vt:lpstr>Aptos</vt:lpstr>
      <vt:lpstr>Arial</vt:lpstr>
      <vt:lpstr>Calibri</vt:lpstr>
      <vt:lpstr>Courier</vt:lpstr>
      <vt:lpstr>Courier New</vt:lpstr>
      <vt:lpstr>Palatino Linotype</vt:lpstr>
      <vt:lpstr>Times New Roman</vt:lpstr>
      <vt:lpstr>Wingdings</vt:lpstr>
      <vt:lpstr>Tema di Office</vt:lpstr>
      <vt:lpstr>Giacomo Cappon</vt:lpstr>
      <vt:lpstr>Outline</vt:lpstr>
      <vt:lpstr>Flutter</vt:lpstr>
      <vt:lpstr>Before starting…</vt:lpstr>
      <vt:lpstr>Outline</vt:lpstr>
      <vt:lpstr>Hello, Flutter!</vt:lpstr>
      <vt:lpstr>Hello, Flutter!</vt:lpstr>
      <vt:lpstr>Hello, Flutter!</vt:lpstr>
      <vt:lpstr>A great feature: Hot reload</vt:lpstr>
      <vt:lpstr>Outline</vt:lpstr>
      <vt:lpstr>Let’s dissect the app</vt:lpstr>
      <vt:lpstr>Let’s dissect the app – Project folder</vt:lpstr>
      <vt:lpstr>Let’s dissect the app – main.dart</vt:lpstr>
      <vt:lpstr>Everything is a Widget</vt:lpstr>
      <vt:lpstr>Let’s dissect the app – main.dart</vt:lpstr>
      <vt:lpstr>The Widget Tree</vt:lpstr>
      <vt:lpstr>State and widgets</vt:lpstr>
      <vt:lpstr>Stateless vs. Stateful widgets</vt:lpstr>
      <vt:lpstr>Let’s dissect the app – pubspec.yaml</vt:lpstr>
      <vt:lpstr>Outline</vt:lpstr>
      <vt:lpstr>My first app with steroids</vt:lpstr>
      <vt:lpstr>My first app with steroids</vt:lpstr>
      <vt:lpstr>My first app with steroids</vt:lpstr>
      <vt:lpstr>Solving point 1</vt:lpstr>
      <vt:lpstr>This is the package I was looking for</vt:lpstr>
      <vt:lpstr>Including english_words in the app</vt:lpstr>
      <vt:lpstr>My first app with steroids</vt:lpstr>
      <vt:lpstr>Generating a random word</vt:lpstr>
      <vt:lpstr>Logging things</vt:lpstr>
      <vt:lpstr>Logging things</vt:lpstr>
      <vt:lpstr>My first app with steroids</vt:lpstr>
      <vt:lpstr>Change the Hello message</vt:lpstr>
      <vt:lpstr>My first app with steroids</vt:lpstr>
      <vt:lpstr>Changing the UI</vt:lpstr>
      <vt:lpstr>The Column Widget</vt:lpstr>
      <vt:lpstr>Implement the new UI</vt:lpstr>
      <vt:lpstr>Different UI, different tree</vt:lpstr>
      <vt:lpstr>Changing the UI</vt:lpstr>
      <vt:lpstr>StatefulWidget</vt:lpstr>
      <vt:lpstr>The boilerplate code of a StatefulWidget</vt:lpstr>
      <vt:lpstr>Refactoring the UI - RandomHello</vt:lpstr>
      <vt:lpstr>Refactoring the UI - MyApp</vt:lpstr>
      <vt:lpstr>Same UI, different tree</vt:lpstr>
      <vt:lpstr>void initState(){}</vt:lpstr>
      <vt:lpstr>setState((){})</vt:lpstr>
      <vt:lpstr>My first app with steroids</vt:lpstr>
      <vt:lpstr>Outline</vt:lpstr>
      <vt:lpstr>Homework 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133</cp:revision>
  <dcterms:created xsi:type="dcterms:W3CDTF">2021-07-19T09:08:13Z</dcterms:created>
  <dcterms:modified xsi:type="dcterms:W3CDTF">2025-03-10T14:17:41Z</dcterms:modified>
</cp:coreProperties>
</file>