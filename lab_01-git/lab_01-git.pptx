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9" r:id="rId2"/>
    <p:sldId id="381" r:id="rId3"/>
    <p:sldId id="274" r:id="rId4"/>
    <p:sldId id="275" r:id="rId5"/>
    <p:sldId id="258" r:id="rId6"/>
    <p:sldId id="272" r:id="rId7"/>
    <p:sldId id="261" r:id="rId8"/>
    <p:sldId id="315" r:id="rId9"/>
    <p:sldId id="314" r:id="rId10"/>
    <p:sldId id="289" r:id="rId11"/>
    <p:sldId id="290" r:id="rId12"/>
    <p:sldId id="291" r:id="rId13"/>
    <p:sldId id="383" r:id="rId14"/>
    <p:sldId id="263" r:id="rId15"/>
    <p:sldId id="293" r:id="rId16"/>
    <p:sldId id="292" r:id="rId17"/>
    <p:sldId id="294" r:id="rId18"/>
    <p:sldId id="264" r:id="rId19"/>
    <p:sldId id="295" r:id="rId20"/>
    <p:sldId id="265" r:id="rId21"/>
    <p:sldId id="266" r:id="rId22"/>
    <p:sldId id="384" r:id="rId23"/>
    <p:sldId id="301" r:id="rId24"/>
    <p:sldId id="267" r:id="rId25"/>
    <p:sldId id="269" r:id="rId26"/>
    <p:sldId id="299" r:id="rId27"/>
    <p:sldId id="302" r:id="rId28"/>
    <p:sldId id="303" r:id="rId29"/>
    <p:sldId id="300" r:id="rId30"/>
    <p:sldId id="304" r:id="rId31"/>
    <p:sldId id="390" r:id="rId32"/>
    <p:sldId id="305" r:id="rId33"/>
    <p:sldId id="306" r:id="rId34"/>
    <p:sldId id="307" r:id="rId35"/>
    <p:sldId id="391" r:id="rId36"/>
    <p:sldId id="385" r:id="rId37"/>
    <p:sldId id="270" r:id="rId38"/>
    <p:sldId id="310" r:id="rId39"/>
    <p:sldId id="312" r:id="rId40"/>
    <p:sldId id="309" r:id="rId41"/>
    <p:sldId id="311" r:id="rId42"/>
    <p:sldId id="268" r:id="rId43"/>
    <p:sldId id="313" r:id="rId44"/>
    <p:sldId id="386" r:id="rId45"/>
    <p:sldId id="387" r:id="rId46"/>
    <p:sldId id="388" r:id="rId47"/>
    <p:sldId id="277"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31" autoAdjust="0"/>
    <p:restoredTop sz="86667"/>
  </p:normalViewPr>
  <p:slideViewPr>
    <p:cSldViewPr snapToGrid="0">
      <p:cViewPr varScale="1">
        <p:scale>
          <a:sx n="110" d="100"/>
          <a:sy n="110" d="100"/>
        </p:scale>
        <p:origin x="1800" y="17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171" d="100"/>
          <a:sy n="171" d="100"/>
        </p:scale>
        <p:origin x="6552"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C4B3FE-0320-8142-8396-5C3025C019EC}" type="datetimeFigureOut">
              <a:rPr lang="en-IT" smtClean="0"/>
              <a:t>2/4/26</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0F43FB-3F33-3F4B-9768-2FBED988F992}" type="slidenum">
              <a:rPr lang="en-IT" smtClean="0"/>
              <a:t>‹#›</a:t>
            </a:fld>
            <a:endParaRPr lang="en-IT"/>
          </a:p>
        </p:txBody>
      </p:sp>
    </p:spTree>
    <p:extLst>
      <p:ext uri="{BB962C8B-B14F-4D97-AF65-F5344CB8AC3E}">
        <p14:creationId xmlns:p14="http://schemas.microsoft.com/office/powerpoint/2010/main" val="929496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CC0F43FB-3F33-3F4B-9768-2FBED988F992}" type="slidenum">
              <a:rPr lang="en-IT" smtClean="0"/>
              <a:t>1</a:t>
            </a:fld>
            <a:endParaRPr lang="en-IT"/>
          </a:p>
        </p:txBody>
      </p:sp>
    </p:spTree>
    <p:extLst>
      <p:ext uri="{BB962C8B-B14F-4D97-AF65-F5344CB8AC3E}">
        <p14:creationId xmlns:p14="http://schemas.microsoft.com/office/powerpoint/2010/main" val="30105816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a:t>
            </a:fld>
            <a:endParaRPr lang="en-IT"/>
          </a:p>
        </p:txBody>
      </p:sp>
    </p:spTree>
    <p:extLst>
      <p:ext uri="{BB962C8B-B14F-4D97-AF65-F5344CB8AC3E}">
        <p14:creationId xmlns:p14="http://schemas.microsoft.com/office/powerpoint/2010/main" val="1929452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4</a:t>
            </a:fld>
            <a:endParaRPr lang="en-IT"/>
          </a:p>
        </p:txBody>
      </p:sp>
    </p:spTree>
    <p:extLst>
      <p:ext uri="{BB962C8B-B14F-4D97-AF65-F5344CB8AC3E}">
        <p14:creationId xmlns:p14="http://schemas.microsoft.com/office/powerpoint/2010/main" val="1939014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5</a:t>
            </a:fld>
            <a:endParaRPr lang="en-IT"/>
          </a:p>
        </p:txBody>
      </p:sp>
    </p:spTree>
    <p:extLst>
      <p:ext uri="{BB962C8B-B14F-4D97-AF65-F5344CB8AC3E}">
        <p14:creationId xmlns:p14="http://schemas.microsoft.com/office/powerpoint/2010/main" val="18666367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6</a:t>
            </a:fld>
            <a:endParaRPr lang="en-IT"/>
          </a:p>
        </p:txBody>
      </p:sp>
    </p:spTree>
    <p:extLst>
      <p:ext uri="{BB962C8B-B14F-4D97-AF65-F5344CB8AC3E}">
        <p14:creationId xmlns:p14="http://schemas.microsoft.com/office/powerpoint/2010/main" val="30568751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7</a:t>
            </a:fld>
            <a:endParaRPr lang="en-IT"/>
          </a:p>
        </p:txBody>
      </p:sp>
    </p:spTree>
    <p:extLst>
      <p:ext uri="{BB962C8B-B14F-4D97-AF65-F5344CB8AC3E}">
        <p14:creationId xmlns:p14="http://schemas.microsoft.com/office/powerpoint/2010/main" val="1767761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8</a:t>
            </a:fld>
            <a:endParaRPr lang="en-IT"/>
          </a:p>
        </p:txBody>
      </p:sp>
    </p:spTree>
    <p:extLst>
      <p:ext uri="{BB962C8B-B14F-4D97-AF65-F5344CB8AC3E}">
        <p14:creationId xmlns:p14="http://schemas.microsoft.com/office/powerpoint/2010/main" val="4046032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9</a:t>
            </a:fld>
            <a:endParaRPr lang="en-IT"/>
          </a:p>
        </p:txBody>
      </p:sp>
    </p:spTree>
    <p:extLst>
      <p:ext uri="{BB962C8B-B14F-4D97-AF65-F5344CB8AC3E}">
        <p14:creationId xmlns:p14="http://schemas.microsoft.com/office/powerpoint/2010/main" val="31260384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10</a:t>
            </a:fld>
            <a:endParaRPr lang="en-IT"/>
          </a:p>
        </p:txBody>
      </p:sp>
    </p:spTree>
    <p:extLst>
      <p:ext uri="{BB962C8B-B14F-4D97-AF65-F5344CB8AC3E}">
        <p14:creationId xmlns:p14="http://schemas.microsoft.com/office/powerpoint/2010/main" val="12551735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11</a:t>
            </a:fld>
            <a:endParaRPr lang="en-IT"/>
          </a:p>
        </p:txBody>
      </p:sp>
    </p:spTree>
    <p:extLst>
      <p:ext uri="{BB962C8B-B14F-4D97-AF65-F5344CB8AC3E}">
        <p14:creationId xmlns:p14="http://schemas.microsoft.com/office/powerpoint/2010/main" val="15872741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12</a:t>
            </a:fld>
            <a:endParaRPr lang="en-IT"/>
          </a:p>
        </p:txBody>
      </p:sp>
    </p:spTree>
    <p:extLst>
      <p:ext uri="{BB962C8B-B14F-4D97-AF65-F5344CB8AC3E}">
        <p14:creationId xmlns:p14="http://schemas.microsoft.com/office/powerpoint/2010/main" val="13593914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CC0F43FB-3F33-3F4B-9768-2FBED988F992}" type="slidenum">
              <a:rPr lang="en-IT" smtClean="0"/>
              <a:t>14</a:t>
            </a:fld>
            <a:endParaRPr lang="en-IT"/>
          </a:p>
        </p:txBody>
      </p:sp>
    </p:spTree>
    <p:extLst>
      <p:ext uri="{BB962C8B-B14F-4D97-AF65-F5344CB8AC3E}">
        <p14:creationId xmlns:p14="http://schemas.microsoft.com/office/powerpoint/2010/main" val="23725347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CC0F43FB-3F33-3F4B-9768-2FBED988F992}" type="slidenum">
              <a:rPr lang="en-IT" smtClean="0"/>
              <a:t>15</a:t>
            </a:fld>
            <a:endParaRPr lang="en-IT"/>
          </a:p>
        </p:txBody>
      </p:sp>
    </p:spTree>
    <p:extLst>
      <p:ext uri="{BB962C8B-B14F-4D97-AF65-F5344CB8AC3E}">
        <p14:creationId xmlns:p14="http://schemas.microsoft.com/office/powerpoint/2010/main" val="2627439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CC0F43FB-3F33-3F4B-9768-2FBED988F992}" type="slidenum">
              <a:rPr lang="en-IT" smtClean="0"/>
              <a:t>16</a:t>
            </a:fld>
            <a:endParaRPr lang="en-IT"/>
          </a:p>
        </p:txBody>
      </p:sp>
    </p:spTree>
    <p:extLst>
      <p:ext uri="{BB962C8B-B14F-4D97-AF65-F5344CB8AC3E}">
        <p14:creationId xmlns:p14="http://schemas.microsoft.com/office/powerpoint/2010/main" val="32022395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CC0F43FB-3F33-3F4B-9768-2FBED988F992}" type="slidenum">
              <a:rPr lang="en-IT" smtClean="0"/>
              <a:t>17</a:t>
            </a:fld>
            <a:endParaRPr lang="en-IT"/>
          </a:p>
        </p:txBody>
      </p:sp>
    </p:spTree>
    <p:extLst>
      <p:ext uri="{BB962C8B-B14F-4D97-AF65-F5344CB8AC3E}">
        <p14:creationId xmlns:p14="http://schemas.microsoft.com/office/powerpoint/2010/main" val="21586947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CC0F43FB-3F33-3F4B-9768-2FBED988F992}" type="slidenum">
              <a:rPr lang="en-IT" smtClean="0"/>
              <a:t>18</a:t>
            </a:fld>
            <a:endParaRPr lang="en-IT"/>
          </a:p>
        </p:txBody>
      </p:sp>
    </p:spTree>
    <p:extLst>
      <p:ext uri="{BB962C8B-B14F-4D97-AF65-F5344CB8AC3E}">
        <p14:creationId xmlns:p14="http://schemas.microsoft.com/office/powerpoint/2010/main" val="21600092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CC0F43FB-3F33-3F4B-9768-2FBED988F992}" type="slidenum">
              <a:rPr lang="en-IT" smtClean="0"/>
              <a:t>19</a:t>
            </a:fld>
            <a:endParaRPr lang="en-IT"/>
          </a:p>
        </p:txBody>
      </p:sp>
    </p:spTree>
    <p:extLst>
      <p:ext uri="{BB962C8B-B14F-4D97-AF65-F5344CB8AC3E}">
        <p14:creationId xmlns:p14="http://schemas.microsoft.com/office/powerpoint/2010/main" val="30399633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CC0F43FB-3F33-3F4B-9768-2FBED988F992}" type="slidenum">
              <a:rPr lang="en-IT" smtClean="0"/>
              <a:t>20</a:t>
            </a:fld>
            <a:endParaRPr lang="en-IT"/>
          </a:p>
        </p:txBody>
      </p:sp>
    </p:spTree>
    <p:extLst>
      <p:ext uri="{BB962C8B-B14F-4D97-AF65-F5344CB8AC3E}">
        <p14:creationId xmlns:p14="http://schemas.microsoft.com/office/powerpoint/2010/main" val="4333971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CC0F43FB-3F33-3F4B-9768-2FBED988F992}" type="slidenum">
              <a:rPr lang="en-IT" smtClean="0"/>
              <a:t>21</a:t>
            </a:fld>
            <a:endParaRPr lang="en-IT"/>
          </a:p>
        </p:txBody>
      </p:sp>
    </p:spTree>
    <p:extLst>
      <p:ext uri="{BB962C8B-B14F-4D97-AF65-F5344CB8AC3E}">
        <p14:creationId xmlns:p14="http://schemas.microsoft.com/office/powerpoint/2010/main" val="25137290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23</a:t>
            </a:fld>
            <a:endParaRPr lang="en-IT"/>
          </a:p>
        </p:txBody>
      </p:sp>
    </p:spTree>
    <p:extLst>
      <p:ext uri="{BB962C8B-B14F-4D97-AF65-F5344CB8AC3E}">
        <p14:creationId xmlns:p14="http://schemas.microsoft.com/office/powerpoint/2010/main" val="23712554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24</a:t>
            </a:fld>
            <a:endParaRPr lang="en-IT"/>
          </a:p>
        </p:txBody>
      </p:sp>
    </p:spTree>
    <p:extLst>
      <p:ext uri="{BB962C8B-B14F-4D97-AF65-F5344CB8AC3E}">
        <p14:creationId xmlns:p14="http://schemas.microsoft.com/office/powerpoint/2010/main" val="1846323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25</a:t>
            </a:fld>
            <a:endParaRPr lang="en-IT"/>
          </a:p>
        </p:txBody>
      </p:sp>
    </p:spTree>
    <p:extLst>
      <p:ext uri="{BB962C8B-B14F-4D97-AF65-F5344CB8AC3E}">
        <p14:creationId xmlns:p14="http://schemas.microsoft.com/office/powerpoint/2010/main" val="4693148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26</a:t>
            </a:fld>
            <a:endParaRPr lang="en-IT"/>
          </a:p>
        </p:txBody>
      </p:sp>
    </p:spTree>
    <p:extLst>
      <p:ext uri="{BB962C8B-B14F-4D97-AF65-F5344CB8AC3E}">
        <p14:creationId xmlns:p14="http://schemas.microsoft.com/office/powerpoint/2010/main" val="8843185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27</a:t>
            </a:fld>
            <a:endParaRPr lang="en-IT"/>
          </a:p>
        </p:txBody>
      </p:sp>
    </p:spTree>
    <p:extLst>
      <p:ext uri="{BB962C8B-B14F-4D97-AF65-F5344CB8AC3E}">
        <p14:creationId xmlns:p14="http://schemas.microsoft.com/office/powerpoint/2010/main" val="7695017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28</a:t>
            </a:fld>
            <a:endParaRPr lang="en-IT"/>
          </a:p>
        </p:txBody>
      </p:sp>
    </p:spTree>
    <p:extLst>
      <p:ext uri="{BB962C8B-B14F-4D97-AF65-F5344CB8AC3E}">
        <p14:creationId xmlns:p14="http://schemas.microsoft.com/office/powerpoint/2010/main" val="33427718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CC0F43FB-3F33-3F4B-9768-2FBED988F992}" type="slidenum">
              <a:rPr lang="en-IT" smtClean="0"/>
              <a:t>29</a:t>
            </a:fld>
            <a:endParaRPr lang="en-IT"/>
          </a:p>
        </p:txBody>
      </p:sp>
    </p:spTree>
    <p:extLst>
      <p:ext uri="{BB962C8B-B14F-4D97-AF65-F5344CB8AC3E}">
        <p14:creationId xmlns:p14="http://schemas.microsoft.com/office/powerpoint/2010/main" val="26496231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CC0F43FB-3F33-3F4B-9768-2FBED988F992}" type="slidenum">
              <a:rPr lang="en-IT" smtClean="0"/>
              <a:t>30</a:t>
            </a:fld>
            <a:endParaRPr lang="en-IT"/>
          </a:p>
        </p:txBody>
      </p:sp>
    </p:spTree>
    <p:extLst>
      <p:ext uri="{BB962C8B-B14F-4D97-AF65-F5344CB8AC3E}">
        <p14:creationId xmlns:p14="http://schemas.microsoft.com/office/powerpoint/2010/main" val="12863041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31</a:t>
            </a:fld>
            <a:endParaRPr lang="en-IT"/>
          </a:p>
        </p:txBody>
      </p:sp>
    </p:spTree>
    <p:extLst>
      <p:ext uri="{BB962C8B-B14F-4D97-AF65-F5344CB8AC3E}">
        <p14:creationId xmlns:p14="http://schemas.microsoft.com/office/powerpoint/2010/main" val="26613816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32</a:t>
            </a:fld>
            <a:endParaRPr lang="en-IT"/>
          </a:p>
        </p:txBody>
      </p:sp>
    </p:spTree>
    <p:extLst>
      <p:ext uri="{BB962C8B-B14F-4D97-AF65-F5344CB8AC3E}">
        <p14:creationId xmlns:p14="http://schemas.microsoft.com/office/powerpoint/2010/main" val="12140569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33</a:t>
            </a:fld>
            <a:endParaRPr lang="en-IT"/>
          </a:p>
        </p:txBody>
      </p:sp>
    </p:spTree>
    <p:extLst>
      <p:ext uri="{BB962C8B-B14F-4D97-AF65-F5344CB8AC3E}">
        <p14:creationId xmlns:p14="http://schemas.microsoft.com/office/powerpoint/2010/main" val="31408903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34</a:t>
            </a:fld>
            <a:endParaRPr lang="en-IT"/>
          </a:p>
        </p:txBody>
      </p:sp>
    </p:spTree>
    <p:extLst>
      <p:ext uri="{BB962C8B-B14F-4D97-AF65-F5344CB8AC3E}">
        <p14:creationId xmlns:p14="http://schemas.microsoft.com/office/powerpoint/2010/main" val="18201200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35</a:t>
            </a:fld>
            <a:endParaRPr lang="en-IT"/>
          </a:p>
        </p:txBody>
      </p:sp>
    </p:spTree>
    <p:extLst>
      <p:ext uri="{BB962C8B-B14F-4D97-AF65-F5344CB8AC3E}">
        <p14:creationId xmlns:p14="http://schemas.microsoft.com/office/powerpoint/2010/main" val="31445100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37</a:t>
            </a:fld>
            <a:endParaRPr lang="en-IT"/>
          </a:p>
        </p:txBody>
      </p:sp>
    </p:spTree>
    <p:extLst>
      <p:ext uri="{BB962C8B-B14F-4D97-AF65-F5344CB8AC3E}">
        <p14:creationId xmlns:p14="http://schemas.microsoft.com/office/powerpoint/2010/main" val="22928124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38</a:t>
            </a:fld>
            <a:endParaRPr lang="en-IT"/>
          </a:p>
        </p:txBody>
      </p:sp>
    </p:spTree>
    <p:extLst>
      <p:ext uri="{BB962C8B-B14F-4D97-AF65-F5344CB8AC3E}">
        <p14:creationId xmlns:p14="http://schemas.microsoft.com/office/powerpoint/2010/main" val="33513350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39</a:t>
            </a:fld>
            <a:endParaRPr lang="en-IT"/>
          </a:p>
        </p:txBody>
      </p:sp>
    </p:spTree>
    <p:extLst>
      <p:ext uri="{BB962C8B-B14F-4D97-AF65-F5344CB8AC3E}">
        <p14:creationId xmlns:p14="http://schemas.microsoft.com/office/powerpoint/2010/main" val="6927124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40</a:t>
            </a:fld>
            <a:endParaRPr lang="en-IT"/>
          </a:p>
        </p:txBody>
      </p:sp>
    </p:spTree>
    <p:extLst>
      <p:ext uri="{BB962C8B-B14F-4D97-AF65-F5344CB8AC3E}">
        <p14:creationId xmlns:p14="http://schemas.microsoft.com/office/powerpoint/2010/main" val="27972792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41</a:t>
            </a:fld>
            <a:endParaRPr lang="en-IT"/>
          </a:p>
        </p:txBody>
      </p:sp>
    </p:spTree>
    <p:extLst>
      <p:ext uri="{BB962C8B-B14F-4D97-AF65-F5344CB8AC3E}">
        <p14:creationId xmlns:p14="http://schemas.microsoft.com/office/powerpoint/2010/main" val="30459180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CC0F43FB-3F33-3F4B-9768-2FBED988F992}" type="slidenum">
              <a:rPr lang="en-IT" smtClean="0"/>
              <a:t>42</a:t>
            </a:fld>
            <a:endParaRPr lang="en-IT"/>
          </a:p>
        </p:txBody>
      </p:sp>
    </p:spTree>
    <p:extLst>
      <p:ext uri="{BB962C8B-B14F-4D97-AF65-F5344CB8AC3E}">
        <p14:creationId xmlns:p14="http://schemas.microsoft.com/office/powerpoint/2010/main" val="14302345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CC0F43FB-3F33-3F4B-9768-2FBED988F992}" type="slidenum">
              <a:rPr lang="en-IT" smtClean="0"/>
              <a:t>43</a:t>
            </a:fld>
            <a:endParaRPr lang="en-IT"/>
          </a:p>
        </p:txBody>
      </p:sp>
    </p:spTree>
    <p:extLst>
      <p:ext uri="{BB962C8B-B14F-4D97-AF65-F5344CB8AC3E}">
        <p14:creationId xmlns:p14="http://schemas.microsoft.com/office/powerpoint/2010/main" val="19913886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a:p>
        </p:txBody>
      </p:sp>
      <p:sp>
        <p:nvSpPr>
          <p:cNvPr id="4" name="Slide Number Placeholder 3"/>
          <p:cNvSpPr>
            <a:spLocks noGrp="1"/>
          </p:cNvSpPr>
          <p:nvPr>
            <p:ph type="sldNum" sz="quarter" idx="5"/>
          </p:nvPr>
        </p:nvSpPr>
        <p:spPr/>
        <p:txBody>
          <a:bodyPr/>
          <a:lstStyle/>
          <a:p>
            <a:fld id="{CC0F43FB-3F33-3F4B-9768-2FBED988F992}" type="slidenum">
              <a:rPr lang="en-IT" smtClean="0"/>
              <a:t>47</a:t>
            </a:fld>
            <a:endParaRPr lang="en-IT"/>
          </a:p>
        </p:txBody>
      </p:sp>
    </p:spTree>
    <p:extLst>
      <p:ext uri="{BB962C8B-B14F-4D97-AF65-F5344CB8AC3E}">
        <p14:creationId xmlns:p14="http://schemas.microsoft.com/office/powerpoint/2010/main" val="518184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lvl1pPr>
              <a:defRPr>
                <a:latin typeface="Aptos" panose="020B0004020202020204" pitchFamily="34" charset="0"/>
              </a:defRPr>
            </a:lvl1p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idx="1"/>
          </p:nvPr>
        </p:nvSpPr>
        <p:spPr>
          <a:xfrm>
            <a:off x="428172" y="1361167"/>
            <a:ext cx="11368314" cy="4858203"/>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a:p>
            <a:pPr lvl="4"/>
            <a:endParaRPr lang="en-GB" noProof="0" dirty="0"/>
          </a:p>
        </p:txBody>
      </p:sp>
      <p:sp>
        <p:nvSpPr>
          <p:cNvPr id="6" name="Segnaposto numero diapositiva 5"/>
          <p:cNvSpPr>
            <a:spLocks noGrp="1"/>
          </p:cNvSpPr>
          <p:nvPr>
            <p:ph type="sldNum" sz="quarter" idx="12"/>
          </p:nvPr>
        </p:nvSpPr>
        <p:spPr/>
        <p:txBody>
          <a:bodyPr/>
          <a:lstStyle>
            <a:lvl1pPr>
              <a:defRPr>
                <a:latin typeface="Aptos" panose="020B0004020202020204" pitchFamily="34" charset="0"/>
              </a:defRPr>
            </a:lvl1pPr>
          </a:lstStyle>
          <a:p>
            <a:fld id="{31DE2C5B-556E-47B8-A792-024C2FCA4ACC}" type="slidenum">
              <a:rPr lang="en-GB" smtClean="0"/>
              <a:pPr/>
              <a:t>‹#›</a:t>
            </a:fld>
            <a:endParaRPr lang="en-GB" dirty="0"/>
          </a:p>
        </p:txBody>
      </p:sp>
      <p:sp>
        <p:nvSpPr>
          <p:cNvPr id="7" name="Rettangolo arrotondato 6"/>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Tree>
    <p:extLst>
      <p:ext uri="{BB962C8B-B14F-4D97-AF65-F5344CB8AC3E}">
        <p14:creationId xmlns:p14="http://schemas.microsoft.com/office/powerpoint/2010/main" val="4038387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lvl1pPr>
              <a:defRPr>
                <a:latin typeface="Aptos" panose="020B0004020202020204" pitchFamily="34" charset="0"/>
              </a:defRPr>
            </a:lvl1p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sz="half" idx="1"/>
          </p:nvPr>
        </p:nvSpPr>
        <p:spPr>
          <a:xfrm>
            <a:off x="428172" y="1364343"/>
            <a:ext cx="5591628" cy="4812620"/>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4" name="Segnaposto contenuto 3"/>
          <p:cNvSpPr>
            <a:spLocks noGrp="1"/>
          </p:cNvSpPr>
          <p:nvPr>
            <p:ph sz="half" idx="2"/>
          </p:nvPr>
        </p:nvSpPr>
        <p:spPr>
          <a:xfrm>
            <a:off x="6172200" y="1364343"/>
            <a:ext cx="5624286" cy="4812620"/>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7" name="Segnaposto numero diapositiva 6"/>
          <p:cNvSpPr>
            <a:spLocks noGrp="1"/>
          </p:cNvSpPr>
          <p:nvPr>
            <p:ph type="sldNum" sz="quarter" idx="12"/>
          </p:nvPr>
        </p:nvSpPr>
        <p:spPr/>
        <p:txBody>
          <a:bodyPr/>
          <a:lstStyle>
            <a:lvl1pPr>
              <a:defRPr>
                <a:latin typeface="Aptos" panose="020B0004020202020204" pitchFamily="34" charset="0"/>
              </a:defRPr>
            </a:lvl1pPr>
          </a:lstStyle>
          <a:p>
            <a:fld id="{31DE2C5B-556E-47B8-A792-024C2FCA4ACC}" type="slidenum">
              <a:rPr lang="en-GB" smtClean="0"/>
              <a:pPr/>
              <a:t>‹#›</a:t>
            </a:fld>
            <a:endParaRPr lang="en-GB"/>
          </a:p>
        </p:txBody>
      </p:sp>
      <p:sp>
        <p:nvSpPr>
          <p:cNvPr id="8" name="Rettangolo arrotondato 7"/>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Tree>
    <p:extLst>
      <p:ext uri="{BB962C8B-B14F-4D97-AF65-F5344CB8AC3E}">
        <p14:creationId xmlns:p14="http://schemas.microsoft.com/office/powerpoint/2010/main" val="575948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3" name="Sottotitolo 2"/>
          <p:cNvSpPr>
            <a:spLocks noGrp="1"/>
          </p:cNvSpPr>
          <p:nvPr>
            <p:ph type="subTitle" idx="1"/>
          </p:nvPr>
        </p:nvSpPr>
        <p:spPr>
          <a:xfrm>
            <a:off x="1426028" y="2355399"/>
            <a:ext cx="9456058" cy="1570716"/>
          </a:xfrm>
        </p:spPr>
        <p:txBody>
          <a:bodyPr anchor="ctr">
            <a:noAutofit/>
          </a:bodyPr>
          <a:lstStyle>
            <a:lvl1pPr marL="0" indent="0" algn="ctr">
              <a:buNone/>
              <a:defRPr sz="4800" b="1">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it-IT" dirty="0"/>
          </a:p>
        </p:txBody>
      </p:sp>
      <p:sp>
        <p:nvSpPr>
          <p:cNvPr id="7" name="Rettangolo arrotondato 6"/>
          <p:cNvSpPr/>
          <p:nvPr userDrawn="1"/>
        </p:nvSpPr>
        <p:spPr>
          <a:xfrm>
            <a:off x="2997200" y="855254"/>
            <a:ext cx="6125029"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8" name="Rettangolo arrotondato 7"/>
          <p:cNvSpPr/>
          <p:nvPr userDrawn="1"/>
        </p:nvSpPr>
        <p:spPr>
          <a:xfrm>
            <a:off x="1426028" y="4152532"/>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9" name="Titolo 1"/>
          <p:cNvSpPr txBox="1">
            <a:spLocks/>
          </p:cNvSpPr>
          <p:nvPr userDrawn="1"/>
        </p:nvSpPr>
        <p:spPr>
          <a:xfrm>
            <a:off x="460370" y="1155224"/>
            <a:ext cx="10926088" cy="94592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r>
              <a:rPr lang="it-IT" sz="2800" b="0" dirty="0" err="1">
                <a:latin typeface="Aptos" panose="020B0004020202020204" pitchFamily="34" charset="0"/>
              </a:rPr>
              <a:t>Biomedical</a:t>
            </a:r>
            <a:r>
              <a:rPr lang="it-IT" sz="2800" b="0" dirty="0">
                <a:latin typeface="Aptos" panose="020B0004020202020204" pitchFamily="34" charset="0"/>
              </a:rPr>
              <a:t> </a:t>
            </a:r>
            <a:r>
              <a:rPr lang="it-IT" sz="2800" b="0" dirty="0" err="1">
                <a:latin typeface="Aptos" panose="020B0004020202020204" pitchFamily="34" charset="0"/>
              </a:rPr>
              <a:t>Wearable</a:t>
            </a:r>
            <a:r>
              <a:rPr lang="it-IT" sz="2800" b="0" dirty="0">
                <a:latin typeface="Aptos" panose="020B0004020202020204" pitchFamily="34" charset="0"/>
              </a:rPr>
              <a:t> Technologies </a:t>
            </a:r>
          </a:p>
          <a:p>
            <a:r>
              <a:rPr lang="it-IT" sz="2800" b="0" dirty="0">
                <a:latin typeface="Aptos" panose="020B0004020202020204" pitchFamily="34" charset="0"/>
              </a:rPr>
              <a:t>for Healthcare and </a:t>
            </a:r>
            <a:r>
              <a:rPr lang="it-IT" sz="2800" b="0" dirty="0" err="1">
                <a:latin typeface="Aptos" panose="020B0004020202020204" pitchFamily="34" charset="0"/>
              </a:rPr>
              <a:t>Wellbeing</a:t>
            </a:r>
            <a:r>
              <a:rPr lang="it-IT" sz="2800" b="0" dirty="0">
                <a:latin typeface="Aptos" panose="020B0004020202020204" pitchFamily="34" charset="0"/>
              </a:rPr>
              <a:t>  </a:t>
            </a:r>
            <a:endParaRPr lang="en-GB" sz="2800" b="0" dirty="0">
              <a:latin typeface="Aptos" panose="020B0004020202020204" pitchFamily="34" charset="0"/>
            </a:endParaRPr>
          </a:p>
        </p:txBody>
      </p:sp>
      <p:sp>
        <p:nvSpPr>
          <p:cNvPr id="10" name="Titolo 1"/>
          <p:cNvSpPr txBox="1">
            <a:spLocks/>
          </p:cNvSpPr>
          <p:nvPr userDrawn="1"/>
        </p:nvSpPr>
        <p:spPr>
          <a:xfrm>
            <a:off x="1426028" y="4424669"/>
            <a:ext cx="9456058" cy="62399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pPr>
              <a:spcAft>
                <a:spcPts val="600"/>
              </a:spcAft>
            </a:pPr>
            <a:r>
              <a:rPr lang="it-IT" sz="2800" dirty="0">
                <a:latin typeface="Aptos" panose="020B0004020202020204" pitchFamily="34" charset="0"/>
              </a:rPr>
              <a:t>A.Y. 2025-2026</a:t>
            </a:r>
          </a:p>
        </p:txBody>
      </p:sp>
      <p:sp>
        <p:nvSpPr>
          <p:cNvPr id="14" name="CasellaDiTesto 13"/>
          <p:cNvSpPr txBox="1"/>
          <p:nvPr userDrawn="1"/>
        </p:nvSpPr>
        <p:spPr>
          <a:xfrm>
            <a:off x="2997200" y="133745"/>
            <a:ext cx="6125030" cy="707886"/>
          </a:xfrm>
          <a:prstGeom prst="rect">
            <a:avLst/>
          </a:prstGeom>
          <a:noFill/>
        </p:spPr>
        <p:txBody>
          <a:bodyPr wrap="square" rtlCol="0">
            <a:spAutoFit/>
          </a:bodyPr>
          <a:lstStyle/>
          <a:p>
            <a:pPr algn="ct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University</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Padova</a:t>
            </a:r>
            <a:b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b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Department</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Information </a:t>
            </a: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Engineering</a:t>
            </a:r>
            <a:endParaRPr lang="en-GB" sz="1100" cap="small" baseline="0" dirty="0">
              <a:latin typeface="Aptos" panose="020B0004020202020204" pitchFamily="34" charset="0"/>
            </a:endParaRPr>
          </a:p>
        </p:txBody>
      </p:sp>
      <p:pic>
        <p:nvPicPr>
          <p:cNvPr id="15" name="Immagine 14"/>
          <p:cNvPicPr>
            <a:picLocks noChangeAspect="1"/>
          </p:cNvPicPr>
          <p:nvPr userDrawn="1"/>
        </p:nvPicPr>
        <p:blipFill>
          <a:blip r:embed="rId2" cstate="print">
            <a:extLst>
              <a:ext uri="{BEBA8EAE-BF5A-486C-A8C5-ECC9F3942E4B}">
                <a14:imgProps xmlns:a14="http://schemas.microsoft.com/office/drawing/2010/main">
                  <a14:imgLayer r:embed="rId3">
                    <a14:imgEffect>
                      <a14:artisticChalkSketch/>
                    </a14:imgEffect>
                  </a14:imgLayer>
                </a14:imgProps>
              </a:ext>
              <a:ext uri="{28A0092B-C50C-407E-A947-70E740481C1C}">
                <a14:useLocalDpi xmlns:a14="http://schemas.microsoft.com/office/drawing/2010/main" val="0"/>
              </a:ext>
            </a:extLst>
          </a:blip>
          <a:stretch>
            <a:fillRect/>
          </a:stretch>
        </p:blipFill>
        <p:spPr>
          <a:xfrm>
            <a:off x="460370" y="5094383"/>
            <a:ext cx="1648258" cy="1648258"/>
          </a:xfrm>
          <a:prstGeom prst="rect">
            <a:avLst/>
          </a:prstGeom>
        </p:spPr>
      </p:pic>
      <p:pic>
        <p:nvPicPr>
          <p:cNvPr id="16" name="Immagine 15"/>
          <p:cNvPicPr>
            <a:picLocks noChangeAspect="1"/>
          </p:cNvPicPr>
          <p:nvPr userDrawn="1"/>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9735946" y="5094383"/>
            <a:ext cx="2153135" cy="1399538"/>
          </a:xfrm>
          <a:prstGeom prst="rect">
            <a:avLst/>
          </a:prstGeom>
        </p:spPr>
      </p:pic>
      <p:sp>
        <p:nvSpPr>
          <p:cNvPr id="2" name="Title 1">
            <a:extLst>
              <a:ext uri="{FF2B5EF4-FFF2-40B4-BE49-F238E27FC236}">
                <a16:creationId xmlns:a16="http://schemas.microsoft.com/office/drawing/2014/main" id="{E296487F-10E0-114E-8185-2B9A87D777D9}"/>
              </a:ext>
            </a:extLst>
          </p:cNvPr>
          <p:cNvSpPr>
            <a:spLocks noGrp="1"/>
          </p:cNvSpPr>
          <p:nvPr>
            <p:ph type="title" hasCustomPrompt="1"/>
          </p:nvPr>
        </p:nvSpPr>
        <p:spPr>
          <a:xfrm>
            <a:off x="3957534" y="4986716"/>
            <a:ext cx="4393045" cy="919388"/>
          </a:xfrm>
        </p:spPr>
        <p:txBody>
          <a:bodyPr>
            <a:normAutofit/>
          </a:bodyPr>
          <a:lstStyle>
            <a:lvl1pPr>
              <a:defRPr sz="3200">
                <a:latin typeface="Aptos" panose="020B0004020202020204" pitchFamily="34" charset="0"/>
              </a:defRPr>
            </a:lvl1pPr>
          </a:lstStyle>
          <a:p>
            <a:r>
              <a:rPr lang="en-IT" dirty="0"/>
              <a:t>Name Surname</a:t>
            </a:r>
          </a:p>
        </p:txBody>
      </p:sp>
      <p:sp>
        <p:nvSpPr>
          <p:cNvPr id="4" name="Slide Number Placeholder 3">
            <a:extLst>
              <a:ext uri="{FF2B5EF4-FFF2-40B4-BE49-F238E27FC236}">
                <a16:creationId xmlns:a16="http://schemas.microsoft.com/office/drawing/2014/main" id="{4401F560-C5B8-914E-9E65-FF77701773EB}"/>
              </a:ext>
            </a:extLst>
          </p:cNvPr>
          <p:cNvSpPr>
            <a:spLocks noGrp="1"/>
          </p:cNvSpPr>
          <p:nvPr>
            <p:ph type="sldNum" sz="quarter" idx="10"/>
          </p:nvPr>
        </p:nvSpPr>
        <p:spPr/>
        <p:txBody>
          <a:bodyPr/>
          <a:lstStyle>
            <a:lvl1pPr>
              <a:defRPr>
                <a:latin typeface="Aptos" panose="020B0004020202020204" pitchFamily="34" charset="0"/>
              </a:defRPr>
            </a:lvl1pPr>
          </a:lstStyle>
          <a:p>
            <a:fld id="{31DE2C5B-556E-47B8-A792-024C2FCA4ACC}" type="slidenum">
              <a:rPr lang="en-GB" smtClean="0"/>
              <a:pPr/>
              <a:t>‹#›</a:t>
            </a:fld>
            <a:endParaRPr lang="en-GB"/>
          </a:p>
        </p:txBody>
      </p:sp>
    </p:spTree>
    <p:extLst>
      <p:ext uri="{BB962C8B-B14F-4D97-AF65-F5344CB8AC3E}">
        <p14:creationId xmlns:p14="http://schemas.microsoft.com/office/powerpoint/2010/main" val="255139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905962"/>
          </a:xfrm>
        </p:spPr>
        <p:txBody>
          <a:bodyPr/>
          <a:lstStyle>
            <a:lvl1pPr>
              <a:defRPr>
                <a:latin typeface="Aptos" panose="020B0004020202020204" pitchFamily="34" charset="0"/>
              </a:defRPr>
            </a:lvl1p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5" name="Segnaposto numero diapositiva 4"/>
          <p:cNvSpPr>
            <a:spLocks noGrp="1"/>
          </p:cNvSpPr>
          <p:nvPr>
            <p:ph type="sldNum" sz="quarter" idx="12"/>
          </p:nvPr>
        </p:nvSpPr>
        <p:spPr/>
        <p:txBody>
          <a:bodyPr/>
          <a:lstStyle>
            <a:lvl1pPr>
              <a:defRPr>
                <a:latin typeface="Aptos" panose="020B0004020202020204" pitchFamily="34" charset="0"/>
              </a:defRPr>
            </a:lvl1pPr>
          </a:lstStyle>
          <a:p>
            <a:fld id="{31DE2C5B-556E-47B8-A792-024C2FCA4ACC}" type="slidenum">
              <a:rPr lang="en-GB" smtClean="0"/>
              <a:pPr/>
              <a:t>‹#›</a:t>
            </a:fld>
            <a:endParaRPr lang="en-GB"/>
          </a:p>
        </p:txBody>
      </p:sp>
      <p:sp>
        <p:nvSpPr>
          <p:cNvPr id="6" name="Rettangolo arrotondato 5"/>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Tree>
    <p:extLst>
      <p:ext uri="{BB962C8B-B14F-4D97-AF65-F5344CB8AC3E}">
        <p14:creationId xmlns:p14="http://schemas.microsoft.com/office/powerpoint/2010/main" val="22006527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28172" y="161926"/>
            <a:ext cx="11368314" cy="919388"/>
          </a:xfrm>
          <a:prstGeom prst="rect">
            <a:avLst/>
          </a:prstGeom>
        </p:spPr>
        <p:txBody>
          <a:bodyPr vert="horz" lIns="91440" tIns="45720" rIns="91440" bIns="45720" rtlCol="0" anchor="ctr">
            <a:normAutofit/>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testo 2"/>
          <p:cNvSpPr>
            <a:spLocks noGrp="1"/>
          </p:cNvSpPr>
          <p:nvPr>
            <p:ph type="body" idx="1"/>
          </p:nvPr>
        </p:nvSpPr>
        <p:spPr>
          <a:xfrm>
            <a:off x="428172" y="1375682"/>
            <a:ext cx="11368314" cy="4821918"/>
          </a:xfrm>
          <a:prstGeom prst="rect">
            <a:avLst/>
          </a:prstGeom>
        </p:spPr>
        <p:txBody>
          <a:bodyPr vert="horz" lIns="91440" tIns="45720" rIns="91440" bIns="45720" rtlCol="0">
            <a:normAutofit/>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6" name="Segnaposto numero diapositiva 5"/>
          <p:cNvSpPr>
            <a:spLocks noGrp="1"/>
          </p:cNvSpPr>
          <p:nvPr>
            <p:ph type="sldNum" sz="quarter" idx="4"/>
          </p:nvPr>
        </p:nvSpPr>
        <p:spPr>
          <a:xfrm>
            <a:off x="8610600" y="6356350"/>
            <a:ext cx="3185886" cy="365125"/>
          </a:xfrm>
          <a:prstGeom prst="rect">
            <a:avLst/>
          </a:prstGeom>
        </p:spPr>
        <p:txBody>
          <a:bodyPr vert="horz" lIns="91440" tIns="45720" rIns="91440" bIns="45720" rtlCol="0" anchor="ctr"/>
          <a:lstStyle>
            <a:lvl1pPr algn="r">
              <a:defRPr sz="1200">
                <a:solidFill>
                  <a:schemeClr val="tx1">
                    <a:tint val="75000"/>
                  </a:schemeClr>
                </a:solidFill>
                <a:latin typeface="Aptos" panose="020B0004020202020204" pitchFamily="34" charset="0"/>
              </a:defRPr>
            </a:lvl1pPr>
          </a:lstStyle>
          <a:p>
            <a:fld id="{31DE2C5B-556E-47B8-A792-024C2FCA4ACC}" type="slidenum">
              <a:rPr lang="en-GB" smtClean="0"/>
              <a:pPr/>
              <a:t>‹#›</a:t>
            </a:fld>
            <a:endParaRPr lang="en-GB"/>
          </a:p>
        </p:txBody>
      </p:sp>
    </p:spTree>
    <p:extLst>
      <p:ext uri="{BB962C8B-B14F-4D97-AF65-F5344CB8AC3E}">
        <p14:creationId xmlns:p14="http://schemas.microsoft.com/office/powerpoint/2010/main" val="892879000"/>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49" r:id="rId3"/>
    <p:sldLayoutId id="2147483654" r:id="rId4"/>
  </p:sldLayoutIdLst>
  <p:hf hdr="0" ftr="0" dt="0"/>
  <p:txStyles>
    <p:titleStyle>
      <a:lvl1pPr algn="ctr" defTabSz="914400" rtl="0" eaLnBrk="1" latinLnBrk="0" hangingPunct="1">
        <a:lnSpc>
          <a:spcPct val="90000"/>
        </a:lnSpc>
        <a:spcBef>
          <a:spcPct val="0"/>
        </a:spcBef>
        <a:buNone/>
        <a:defRPr sz="3600" kern="1200">
          <a:solidFill>
            <a:schemeClr val="tx1"/>
          </a:solidFill>
          <a:latin typeface="Aptos" panose="020B0004020202020204" pitchFamily="34" charset="0"/>
          <a:ea typeface="+mj-ea"/>
          <a:cs typeface="+mj-cs"/>
        </a:defRPr>
      </a:lvl1pPr>
    </p:titleStyle>
    <p:body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0.svg"/></Relationships>
</file>

<file path=ppt/slides/_rels/slide9.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0.svg"/></Relationships>
</file>

<file path=ppt/slides/_rels/slide1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0.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git-scm.com/docs/git-stash"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hyperlink" Target="https://git-scm.com/docs/git-reset"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hyperlink" Target="https://github.com/gcappon/bwthw/blob/master/lab_01-git/material/git-cheat-sheet-education.pdf" TargetMode="External"/><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hyperlink" Target="https://ohshitgit.com/" TargetMode="External"/><Relationship Id="rId5" Type="http://schemas.openxmlformats.org/officeDocument/2006/relationships/hyperlink" Target="https://www.youtube.com/watch?v=8JJ101D3knE&amp;ab_channel=ProgrammingwithMosh" TargetMode="External"/><Relationship Id="rId4" Type="http://schemas.openxmlformats.org/officeDocument/2006/relationships/hyperlink" Target="https://git-scm.com/book/en/v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17E0323C-B2D5-E147-A405-326B19A39E7A}"/>
              </a:ext>
            </a:extLst>
          </p:cNvPr>
          <p:cNvSpPr>
            <a:spLocks noGrp="1"/>
          </p:cNvSpPr>
          <p:nvPr>
            <p:ph type="subTitle" idx="1"/>
          </p:nvPr>
        </p:nvSpPr>
        <p:spPr/>
        <p:txBody>
          <a:bodyPr/>
          <a:lstStyle/>
          <a:p>
            <a:r>
              <a:rPr lang="en-IT" dirty="0"/>
              <a:t>Git</a:t>
            </a:r>
          </a:p>
        </p:txBody>
      </p:sp>
      <p:sp>
        <p:nvSpPr>
          <p:cNvPr id="3" name="Title 2">
            <a:extLst>
              <a:ext uri="{FF2B5EF4-FFF2-40B4-BE49-F238E27FC236}">
                <a16:creationId xmlns:a16="http://schemas.microsoft.com/office/drawing/2014/main" id="{7EB437F2-B298-5D42-A17B-E5DDC218403A}"/>
              </a:ext>
            </a:extLst>
          </p:cNvPr>
          <p:cNvSpPr>
            <a:spLocks noGrp="1"/>
          </p:cNvSpPr>
          <p:nvPr>
            <p:ph type="title"/>
          </p:nvPr>
        </p:nvSpPr>
        <p:spPr/>
        <p:txBody>
          <a:bodyPr/>
          <a:lstStyle/>
          <a:p>
            <a:r>
              <a:rPr lang="en-IT" dirty="0"/>
              <a:t>Giacomo Cappon</a:t>
            </a:r>
          </a:p>
        </p:txBody>
      </p:sp>
      <p:sp>
        <p:nvSpPr>
          <p:cNvPr id="4" name="Slide Number Placeholder 3">
            <a:extLst>
              <a:ext uri="{FF2B5EF4-FFF2-40B4-BE49-F238E27FC236}">
                <a16:creationId xmlns:a16="http://schemas.microsoft.com/office/drawing/2014/main" id="{55D5F0B2-01C7-8246-A921-99A6D8253CAF}"/>
              </a:ext>
            </a:extLst>
          </p:cNvPr>
          <p:cNvSpPr>
            <a:spLocks noGrp="1"/>
          </p:cNvSpPr>
          <p:nvPr>
            <p:ph type="sldNum" sz="quarter" idx="10"/>
          </p:nvPr>
        </p:nvSpPr>
        <p:spPr/>
        <p:txBody>
          <a:bodyPr/>
          <a:lstStyle/>
          <a:p>
            <a:fld id="{31DE2C5B-556E-47B8-A792-024C2FCA4ACC}" type="slidenum">
              <a:rPr lang="en-GB" smtClean="0"/>
              <a:t>1</a:t>
            </a:fld>
            <a:endParaRPr lang="en-GB"/>
          </a:p>
        </p:txBody>
      </p:sp>
    </p:spTree>
    <p:extLst>
      <p:ext uri="{BB962C8B-B14F-4D97-AF65-F5344CB8AC3E}">
        <p14:creationId xmlns:p14="http://schemas.microsoft.com/office/powerpoint/2010/main" val="1184054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p:txBody>
          <a:bodyPr>
            <a:normAutofit/>
          </a:bodyPr>
          <a:lstStyle/>
          <a:p>
            <a:r>
              <a:rPr lang="en-GB" b="1" dirty="0"/>
              <a:t>Version Control Systems &amp; GIT</a:t>
            </a:r>
            <a:endParaRPr lang="en-IT" b="1" dirty="0"/>
          </a:p>
          <a:p>
            <a:r>
              <a:rPr lang="en-IT" dirty="0">
                <a:solidFill>
                  <a:schemeClr val="bg1">
                    <a:lumMod val="75000"/>
                  </a:schemeClr>
                </a:solidFill>
              </a:rPr>
              <a:t>Playing with GIT</a:t>
            </a:r>
          </a:p>
          <a:p>
            <a:r>
              <a:rPr lang="en-IT" dirty="0">
                <a:solidFill>
                  <a:schemeClr val="bg1">
                    <a:lumMod val="75000"/>
                  </a:schemeClr>
                </a:solidFill>
              </a:rPr>
              <a:t>The working tree</a:t>
            </a:r>
          </a:p>
          <a:p>
            <a:r>
              <a:rPr lang="en-IT" dirty="0">
                <a:solidFill>
                  <a:schemeClr val="bg1">
                    <a:lumMod val="75000"/>
                  </a:schemeClr>
                </a:solidFill>
              </a:rPr>
              <a:t>Remote repositories and best practices</a:t>
            </a:r>
          </a:p>
          <a:p>
            <a:pPr marL="0" indent="0">
              <a:buNone/>
            </a:pPr>
            <a:endParaRPr lang="en-IT" dirty="0">
              <a:solidFill>
                <a:schemeClr val="bg1">
                  <a:lumMod val="75000"/>
                </a:schemeClr>
              </a:solidFill>
            </a:endParaRPr>
          </a:p>
          <a:p>
            <a:r>
              <a:rPr lang="en-IT" dirty="0">
                <a:solidFill>
                  <a:schemeClr val="bg1">
                    <a:lumMod val="75000"/>
                  </a:schemeClr>
                </a:solidFill>
              </a:rPr>
              <a:t>Homework</a:t>
            </a:r>
          </a:p>
          <a:p>
            <a:r>
              <a:rPr lang="en-IT" dirty="0">
                <a:solidFill>
                  <a:schemeClr val="bg1">
                    <a:lumMod val="75000"/>
                  </a:schemeClr>
                </a:solidFill>
              </a:rPr>
              <a:t>Resources</a:t>
            </a:r>
          </a:p>
          <a:p>
            <a:pPr marL="0" indent="0">
              <a:buNone/>
            </a:pPr>
            <a:endParaRPr lang="en-IT" dirty="0">
              <a:solidFill>
                <a:schemeClr val="bg1">
                  <a:lumMod val="75000"/>
                </a:schemeClr>
              </a:solidFill>
            </a:endParaRPr>
          </a:p>
        </p:txBody>
      </p:sp>
      <p:sp>
        <p:nvSpPr>
          <p:cNvPr id="4" name="Slide Number Placeholder 3">
            <a:extLst>
              <a:ext uri="{FF2B5EF4-FFF2-40B4-BE49-F238E27FC236}">
                <a16:creationId xmlns:a16="http://schemas.microsoft.com/office/drawing/2014/main" id="{56D05648-6453-704E-80AA-5C6D01A8CCE3}"/>
              </a:ext>
            </a:extLst>
          </p:cNvPr>
          <p:cNvSpPr>
            <a:spLocks noGrp="1"/>
          </p:cNvSpPr>
          <p:nvPr>
            <p:ph type="sldNum" sz="quarter" idx="12"/>
          </p:nvPr>
        </p:nvSpPr>
        <p:spPr/>
        <p:txBody>
          <a:bodyPr/>
          <a:lstStyle/>
          <a:p>
            <a:fld id="{31DE2C5B-556E-47B8-A792-024C2FCA4ACC}" type="slidenum">
              <a:rPr lang="en-GB" smtClean="0"/>
              <a:t>2</a:t>
            </a:fld>
            <a:endParaRPr lang="en-GB" dirty="0"/>
          </a:p>
        </p:txBody>
      </p:sp>
    </p:spTree>
    <p:extLst>
      <p:ext uri="{BB962C8B-B14F-4D97-AF65-F5344CB8AC3E}">
        <p14:creationId xmlns:p14="http://schemas.microsoft.com/office/powerpoint/2010/main" val="3838072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New features means new code</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0773228" cy="4026263"/>
          </a:xfrm>
        </p:spPr>
        <p:txBody>
          <a:bodyPr>
            <a:normAutofit/>
          </a:bodyPr>
          <a:lstStyle/>
          <a:p>
            <a:r>
              <a:rPr lang="en-IT" dirty="0"/>
              <a:t>When you are developing/maintaining a software, sometime new features need to be added</a:t>
            </a:r>
          </a:p>
          <a:p>
            <a:endParaRPr lang="en-IT" dirty="0"/>
          </a:p>
          <a:p>
            <a:endParaRPr lang="en-IT" dirty="0"/>
          </a:p>
          <a:p>
            <a:endParaRPr lang="en-IT" dirty="0"/>
          </a:p>
          <a:p>
            <a:endParaRPr lang="en-IT" dirty="0"/>
          </a:p>
          <a:p>
            <a:r>
              <a:rPr lang="en-IT" dirty="0"/>
              <a:t>This translates in multiple software (AKA code) versions</a:t>
            </a:r>
          </a:p>
        </p:txBody>
      </p:sp>
      <p:sp>
        <p:nvSpPr>
          <p:cNvPr id="6" name="Content Placeholder 2">
            <a:extLst>
              <a:ext uri="{FF2B5EF4-FFF2-40B4-BE49-F238E27FC236}">
                <a16:creationId xmlns:a16="http://schemas.microsoft.com/office/drawing/2014/main" id="{7EE4E817-7348-6341-A9BB-74F171096B2C}"/>
              </a:ext>
            </a:extLst>
          </p:cNvPr>
          <p:cNvSpPr txBox="1">
            <a:spLocks/>
          </p:cNvSpPr>
          <p:nvPr/>
        </p:nvSpPr>
        <p:spPr>
          <a:xfrm>
            <a:off x="2348275" y="6111148"/>
            <a:ext cx="751749" cy="445770"/>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dirty="0">
                <a:latin typeface="Aptos" panose="020B0004020202020204" pitchFamily="34" charset="0"/>
              </a:rPr>
              <a:t>v1.0</a:t>
            </a:r>
            <a:endParaRPr lang="en-IT" dirty="0">
              <a:latin typeface="Aptos" panose="020B0004020202020204" pitchFamily="34" charset="0"/>
            </a:endParaRPr>
          </a:p>
        </p:txBody>
      </p:sp>
      <p:sp>
        <p:nvSpPr>
          <p:cNvPr id="9" name="Content Placeholder 2">
            <a:extLst>
              <a:ext uri="{FF2B5EF4-FFF2-40B4-BE49-F238E27FC236}">
                <a16:creationId xmlns:a16="http://schemas.microsoft.com/office/drawing/2014/main" id="{F401C4EE-5BAA-D641-91AD-19C3CD94FB9C}"/>
              </a:ext>
            </a:extLst>
          </p:cNvPr>
          <p:cNvSpPr txBox="1">
            <a:spLocks/>
          </p:cNvSpPr>
          <p:nvPr/>
        </p:nvSpPr>
        <p:spPr>
          <a:xfrm>
            <a:off x="3917995" y="6111148"/>
            <a:ext cx="751749" cy="445770"/>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dirty="0">
                <a:latin typeface="Aptos" panose="020B0004020202020204" pitchFamily="34" charset="0"/>
              </a:rPr>
              <a:t>v1.1</a:t>
            </a:r>
            <a:endParaRPr lang="en-IT" dirty="0">
              <a:latin typeface="Aptos" panose="020B0004020202020204" pitchFamily="34" charset="0"/>
            </a:endParaRPr>
          </a:p>
        </p:txBody>
      </p:sp>
      <p:sp>
        <p:nvSpPr>
          <p:cNvPr id="11" name="Content Placeholder 2">
            <a:extLst>
              <a:ext uri="{FF2B5EF4-FFF2-40B4-BE49-F238E27FC236}">
                <a16:creationId xmlns:a16="http://schemas.microsoft.com/office/drawing/2014/main" id="{62911EF0-C37F-2343-AE9F-472B2EC142AF}"/>
              </a:ext>
            </a:extLst>
          </p:cNvPr>
          <p:cNvSpPr txBox="1">
            <a:spLocks/>
          </p:cNvSpPr>
          <p:nvPr/>
        </p:nvSpPr>
        <p:spPr>
          <a:xfrm>
            <a:off x="5425802" y="6111148"/>
            <a:ext cx="751749" cy="445770"/>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dirty="0">
                <a:latin typeface="Aptos" panose="020B0004020202020204" pitchFamily="34" charset="0"/>
              </a:rPr>
              <a:t>v2.0</a:t>
            </a:r>
            <a:endParaRPr lang="en-IT" dirty="0">
              <a:latin typeface="Aptos" panose="020B0004020202020204" pitchFamily="34" charset="0"/>
            </a:endParaRPr>
          </a:p>
        </p:txBody>
      </p:sp>
      <p:sp>
        <p:nvSpPr>
          <p:cNvPr id="13" name="Content Placeholder 2">
            <a:extLst>
              <a:ext uri="{FF2B5EF4-FFF2-40B4-BE49-F238E27FC236}">
                <a16:creationId xmlns:a16="http://schemas.microsoft.com/office/drawing/2014/main" id="{4F8A79A7-F16B-634B-86DA-9E1921967412}"/>
              </a:ext>
            </a:extLst>
          </p:cNvPr>
          <p:cNvSpPr txBox="1">
            <a:spLocks/>
          </p:cNvSpPr>
          <p:nvPr/>
        </p:nvSpPr>
        <p:spPr>
          <a:xfrm>
            <a:off x="9409385" y="6111148"/>
            <a:ext cx="914400" cy="445770"/>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dirty="0">
                <a:latin typeface="Aptos" panose="020B0004020202020204" pitchFamily="34" charset="0"/>
              </a:rPr>
              <a:t>v2.6</a:t>
            </a:r>
            <a:endParaRPr lang="en-IT" dirty="0">
              <a:latin typeface="Aptos" panose="020B0004020202020204" pitchFamily="34" charset="0"/>
            </a:endParaRPr>
          </a:p>
        </p:txBody>
      </p:sp>
      <p:cxnSp>
        <p:nvCxnSpPr>
          <p:cNvPr id="15" name="Straight Arrow Connector 14">
            <a:extLst>
              <a:ext uri="{FF2B5EF4-FFF2-40B4-BE49-F238E27FC236}">
                <a16:creationId xmlns:a16="http://schemas.microsoft.com/office/drawing/2014/main" id="{DDAFACC4-41CA-1449-9F1B-07A9B0A7E5F6}"/>
              </a:ext>
            </a:extLst>
          </p:cNvPr>
          <p:cNvCxnSpPr>
            <a:cxnSpLocks/>
          </p:cNvCxnSpPr>
          <p:nvPr/>
        </p:nvCxnSpPr>
        <p:spPr>
          <a:xfrm>
            <a:off x="3181350" y="5749290"/>
            <a:ext cx="6553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BED4C3BC-37EB-B446-A543-18B019EE83FA}"/>
              </a:ext>
            </a:extLst>
          </p:cNvPr>
          <p:cNvCxnSpPr>
            <a:cxnSpLocks/>
          </p:cNvCxnSpPr>
          <p:nvPr/>
        </p:nvCxnSpPr>
        <p:spPr>
          <a:xfrm>
            <a:off x="4751070" y="5749290"/>
            <a:ext cx="5934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77D47AF1-6A2A-F34C-80B8-FB5B96559F6E}"/>
              </a:ext>
            </a:extLst>
          </p:cNvPr>
          <p:cNvCxnSpPr>
            <a:cxnSpLocks/>
          </p:cNvCxnSpPr>
          <p:nvPr/>
        </p:nvCxnSpPr>
        <p:spPr>
          <a:xfrm>
            <a:off x="6258877" y="5749290"/>
            <a:ext cx="31505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Content Placeholder 2">
            <a:extLst>
              <a:ext uri="{FF2B5EF4-FFF2-40B4-BE49-F238E27FC236}">
                <a16:creationId xmlns:a16="http://schemas.microsoft.com/office/drawing/2014/main" id="{D6F21330-A3ED-C341-BD83-A92F692B2B0B}"/>
              </a:ext>
            </a:extLst>
          </p:cNvPr>
          <p:cNvSpPr txBox="1">
            <a:spLocks/>
          </p:cNvSpPr>
          <p:nvPr/>
        </p:nvSpPr>
        <p:spPr>
          <a:xfrm>
            <a:off x="7417593" y="6111148"/>
            <a:ext cx="751749" cy="445770"/>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dirty="0">
                <a:latin typeface="Aptos" panose="020B0004020202020204" pitchFamily="34" charset="0"/>
              </a:rPr>
              <a:t>…</a:t>
            </a:r>
            <a:endParaRPr lang="en-IT" dirty="0">
              <a:latin typeface="Aptos" panose="020B0004020202020204" pitchFamily="34" charset="0"/>
            </a:endParaRPr>
          </a:p>
        </p:txBody>
      </p:sp>
      <p:pic>
        <p:nvPicPr>
          <p:cNvPr id="7" name="Graphic 6" descr="Selfie outline">
            <a:extLst>
              <a:ext uri="{FF2B5EF4-FFF2-40B4-BE49-F238E27FC236}">
                <a16:creationId xmlns:a16="http://schemas.microsoft.com/office/drawing/2014/main" id="{5F6AFD6C-22DF-3B4C-9521-481001954A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41970" y="5162458"/>
            <a:ext cx="914400" cy="914400"/>
          </a:xfrm>
          <a:prstGeom prst="rect">
            <a:avLst/>
          </a:prstGeom>
        </p:spPr>
      </p:pic>
      <p:pic>
        <p:nvPicPr>
          <p:cNvPr id="18" name="Graphic 17" descr="Selfie outline">
            <a:extLst>
              <a:ext uri="{FF2B5EF4-FFF2-40B4-BE49-F238E27FC236}">
                <a16:creationId xmlns:a16="http://schemas.microsoft.com/office/drawing/2014/main" id="{98B51AEF-C696-EA4C-AD48-B89B6EBDF9D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73454" y="5162458"/>
            <a:ext cx="914400" cy="914400"/>
          </a:xfrm>
          <a:prstGeom prst="rect">
            <a:avLst/>
          </a:prstGeom>
        </p:spPr>
      </p:pic>
      <p:pic>
        <p:nvPicPr>
          <p:cNvPr id="19" name="Graphic 18" descr="Selfie outline">
            <a:extLst>
              <a:ext uri="{FF2B5EF4-FFF2-40B4-BE49-F238E27FC236}">
                <a16:creationId xmlns:a16="http://schemas.microsoft.com/office/drawing/2014/main" id="{47E4EFD9-88C3-D741-82C9-C0EA9537B92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40305" y="5162458"/>
            <a:ext cx="914400" cy="914400"/>
          </a:xfrm>
          <a:prstGeom prst="rect">
            <a:avLst/>
          </a:prstGeom>
        </p:spPr>
      </p:pic>
      <p:pic>
        <p:nvPicPr>
          <p:cNvPr id="21" name="Graphic 20" descr="Selfie outline">
            <a:extLst>
              <a:ext uri="{FF2B5EF4-FFF2-40B4-BE49-F238E27FC236}">
                <a16:creationId xmlns:a16="http://schemas.microsoft.com/office/drawing/2014/main" id="{375084FA-5437-FC42-8F87-1F1F527ACB1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92830" y="5151028"/>
            <a:ext cx="914400" cy="914400"/>
          </a:xfrm>
          <a:prstGeom prst="rect">
            <a:avLst/>
          </a:prstGeom>
        </p:spPr>
      </p:pic>
      <p:pic>
        <p:nvPicPr>
          <p:cNvPr id="22" name="Graphic 21" descr="Selfie outline">
            <a:extLst>
              <a:ext uri="{FF2B5EF4-FFF2-40B4-BE49-F238E27FC236}">
                <a16:creationId xmlns:a16="http://schemas.microsoft.com/office/drawing/2014/main" id="{3B51B391-F441-B14A-9495-A20E33B5468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60795" y="2459898"/>
            <a:ext cx="914400" cy="914400"/>
          </a:xfrm>
          <a:prstGeom prst="rect">
            <a:avLst/>
          </a:prstGeom>
        </p:spPr>
      </p:pic>
      <p:cxnSp>
        <p:nvCxnSpPr>
          <p:cNvPr id="24" name="Straight Arrow Connector 23">
            <a:extLst>
              <a:ext uri="{FF2B5EF4-FFF2-40B4-BE49-F238E27FC236}">
                <a16:creationId xmlns:a16="http://schemas.microsoft.com/office/drawing/2014/main" id="{DAF5E491-0A8A-9D48-BF34-55B605A56486}"/>
              </a:ext>
            </a:extLst>
          </p:cNvPr>
          <p:cNvCxnSpPr>
            <a:cxnSpLocks/>
          </p:cNvCxnSpPr>
          <p:nvPr/>
        </p:nvCxnSpPr>
        <p:spPr>
          <a:xfrm>
            <a:off x="4423410" y="2917098"/>
            <a:ext cx="20574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5" name="Graphic 24" descr="Selfie outline">
            <a:extLst>
              <a:ext uri="{FF2B5EF4-FFF2-40B4-BE49-F238E27FC236}">
                <a16:creationId xmlns:a16="http://schemas.microsoft.com/office/drawing/2014/main" id="{EA6E18FD-CC5A-FF4E-A2EA-C3B96F29F47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70934" y="2459898"/>
            <a:ext cx="914400" cy="914400"/>
          </a:xfrm>
          <a:prstGeom prst="rect">
            <a:avLst/>
          </a:prstGeom>
        </p:spPr>
      </p:pic>
      <p:pic>
        <p:nvPicPr>
          <p:cNvPr id="16" name="Graphic 15" descr="Badge Follow outline">
            <a:extLst>
              <a:ext uri="{FF2B5EF4-FFF2-40B4-BE49-F238E27FC236}">
                <a16:creationId xmlns:a16="http://schemas.microsoft.com/office/drawing/2014/main" id="{76A224E0-D108-6243-9A34-BE1CFEAFAAF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256734" y="2231298"/>
            <a:ext cx="457200" cy="457200"/>
          </a:xfrm>
          <a:prstGeom prst="rect">
            <a:avLst/>
          </a:prstGeom>
        </p:spPr>
      </p:pic>
      <p:sp>
        <p:nvSpPr>
          <p:cNvPr id="4" name="Slide Number Placeholder 3">
            <a:extLst>
              <a:ext uri="{FF2B5EF4-FFF2-40B4-BE49-F238E27FC236}">
                <a16:creationId xmlns:a16="http://schemas.microsoft.com/office/drawing/2014/main" id="{A354C3EC-E479-0948-B392-9DC9F578EFAE}"/>
              </a:ext>
            </a:extLst>
          </p:cNvPr>
          <p:cNvSpPr>
            <a:spLocks noGrp="1"/>
          </p:cNvSpPr>
          <p:nvPr>
            <p:ph type="sldNum" sz="quarter" idx="12"/>
          </p:nvPr>
        </p:nvSpPr>
        <p:spPr/>
        <p:txBody>
          <a:bodyPr/>
          <a:lstStyle/>
          <a:p>
            <a:fld id="{31DE2C5B-556E-47B8-A792-024C2FCA4ACC}" type="slidenum">
              <a:rPr lang="en-GB" smtClean="0"/>
              <a:t>3</a:t>
            </a:fld>
            <a:endParaRPr lang="en-GB" dirty="0"/>
          </a:p>
        </p:txBody>
      </p:sp>
    </p:spTree>
    <p:extLst>
      <p:ext uri="{BB962C8B-B14F-4D97-AF65-F5344CB8AC3E}">
        <p14:creationId xmlns:p14="http://schemas.microsoft.com/office/powerpoint/2010/main" val="592017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Dealing with code versions: The na</a:t>
            </a:r>
            <a:r>
              <a:rPr lang="en-GB" dirty="0" err="1"/>
              <a:t>ï</a:t>
            </a:r>
            <a:r>
              <a:rPr lang="en-IT" dirty="0"/>
              <a:t>ve solution</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0773228" cy="5211083"/>
          </a:xfrm>
        </p:spPr>
        <p:txBody>
          <a:bodyPr>
            <a:normAutofit/>
          </a:bodyPr>
          <a:lstStyle/>
          <a:p>
            <a:r>
              <a:rPr lang="en-IT" dirty="0"/>
              <a:t>How to deal with multiple code versions?</a:t>
            </a:r>
          </a:p>
          <a:p>
            <a:pPr marL="0" indent="0">
              <a:buNone/>
            </a:pPr>
            <a:endParaRPr lang="en-IT" dirty="0"/>
          </a:p>
          <a:p>
            <a:r>
              <a:rPr lang="en-IT" dirty="0"/>
              <a:t>The simple (na</a:t>
            </a:r>
            <a:r>
              <a:rPr lang="en-GB" dirty="0" err="1"/>
              <a:t>ï</a:t>
            </a:r>
            <a:r>
              <a:rPr lang="en-IT" dirty="0"/>
              <a:t>ve) solution is to “make a folder for each code version”</a:t>
            </a:r>
          </a:p>
          <a:p>
            <a:endParaRPr lang="en-IT" dirty="0"/>
          </a:p>
          <a:p>
            <a:endParaRPr lang="en-IT" dirty="0"/>
          </a:p>
          <a:p>
            <a:endParaRPr lang="en-IT" dirty="0"/>
          </a:p>
          <a:p>
            <a:endParaRPr lang="en-IT" dirty="0"/>
          </a:p>
          <a:p>
            <a:endParaRPr lang="en-IT" dirty="0"/>
          </a:p>
          <a:p>
            <a:endParaRPr lang="en-IT" dirty="0"/>
          </a:p>
          <a:p>
            <a:endParaRPr lang="en-IT" dirty="0"/>
          </a:p>
          <a:p>
            <a:r>
              <a:rPr lang="en-IT" b="1" dirty="0"/>
              <a:t>Question: </a:t>
            </a:r>
            <a:r>
              <a:rPr lang="en-IT" dirty="0"/>
              <a:t>What are the problems here?</a:t>
            </a:r>
          </a:p>
        </p:txBody>
      </p:sp>
      <p:cxnSp>
        <p:nvCxnSpPr>
          <p:cNvPr id="15" name="Straight Arrow Connector 14">
            <a:extLst>
              <a:ext uri="{FF2B5EF4-FFF2-40B4-BE49-F238E27FC236}">
                <a16:creationId xmlns:a16="http://schemas.microsoft.com/office/drawing/2014/main" id="{DDAFACC4-41CA-1449-9F1B-07A9B0A7E5F6}"/>
              </a:ext>
            </a:extLst>
          </p:cNvPr>
          <p:cNvCxnSpPr>
            <a:cxnSpLocks/>
            <a:stCxn id="7" idx="2"/>
            <a:endCxn id="26" idx="0"/>
          </p:cNvCxnSpPr>
          <p:nvPr/>
        </p:nvCxnSpPr>
        <p:spPr>
          <a:xfrm flipH="1">
            <a:off x="2120990" y="3831275"/>
            <a:ext cx="1315" cy="2913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77D47AF1-6A2A-F34C-80B8-FB5B96559F6E}"/>
              </a:ext>
            </a:extLst>
          </p:cNvPr>
          <p:cNvCxnSpPr>
            <a:cxnSpLocks/>
            <a:stCxn id="21" idx="2"/>
            <a:endCxn id="32" idx="0"/>
          </p:cNvCxnSpPr>
          <p:nvPr/>
        </p:nvCxnSpPr>
        <p:spPr>
          <a:xfrm>
            <a:off x="9263425" y="3831275"/>
            <a:ext cx="0" cy="2913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7" name="Graphic 6" descr="Selfie outline">
            <a:extLst>
              <a:ext uri="{FF2B5EF4-FFF2-40B4-BE49-F238E27FC236}">
                <a16:creationId xmlns:a16="http://schemas.microsoft.com/office/drawing/2014/main" id="{5F6AFD6C-22DF-3B4C-9521-481001954A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65105" y="2916875"/>
            <a:ext cx="914400" cy="914400"/>
          </a:xfrm>
          <a:prstGeom prst="rect">
            <a:avLst/>
          </a:prstGeom>
        </p:spPr>
      </p:pic>
      <p:pic>
        <p:nvPicPr>
          <p:cNvPr id="18" name="Graphic 17" descr="Selfie outline">
            <a:extLst>
              <a:ext uri="{FF2B5EF4-FFF2-40B4-BE49-F238E27FC236}">
                <a16:creationId xmlns:a16="http://schemas.microsoft.com/office/drawing/2014/main" id="{98B51AEF-C696-EA4C-AD48-B89B6EBDF9D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33509" y="2884806"/>
            <a:ext cx="914400" cy="914400"/>
          </a:xfrm>
          <a:prstGeom prst="rect">
            <a:avLst/>
          </a:prstGeom>
        </p:spPr>
      </p:pic>
      <p:pic>
        <p:nvPicPr>
          <p:cNvPr id="19" name="Graphic 18" descr="Selfie outline">
            <a:extLst>
              <a:ext uri="{FF2B5EF4-FFF2-40B4-BE49-F238E27FC236}">
                <a16:creationId xmlns:a16="http://schemas.microsoft.com/office/drawing/2014/main" id="{47E4EFD9-88C3-D741-82C9-C0EA9537B92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42269" y="2846344"/>
            <a:ext cx="914400" cy="914400"/>
          </a:xfrm>
          <a:prstGeom prst="rect">
            <a:avLst/>
          </a:prstGeom>
        </p:spPr>
      </p:pic>
      <p:pic>
        <p:nvPicPr>
          <p:cNvPr id="21" name="Graphic 20" descr="Selfie outline">
            <a:extLst>
              <a:ext uri="{FF2B5EF4-FFF2-40B4-BE49-F238E27FC236}">
                <a16:creationId xmlns:a16="http://schemas.microsoft.com/office/drawing/2014/main" id="{375084FA-5437-FC42-8F87-1F1F527ACB1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06225" y="2916875"/>
            <a:ext cx="914400" cy="914400"/>
          </a:xfrm>
          <a:prstGeom prst="rect">
            <a:avLst/>
          </a:prstGeom>
        </p:spPr>
      </p:pic>
      <p:pic>
        <p:nvPicPr>
          <p:cNvPr id="26" name="Graphic 25" descr="Open folder outline">
            <a:extLst>
              <a:ext uri="{FF2B5EF4-FFF2-40B4-BE49-F238E27FC236}">
                <a16:creationId xmlns:a16="http://schemas.microsoft.com/office/drawing/2014/main" id="{9FA32F1A-EF44-4045-8408-54FE4717258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663790" y="4122602"/>
            <a:ext cx="914400" cy="914400"/>
          </a:xfrm>
          <a:prstGeom prst="rect">
            <a:avLst/>
          </a:prstGeom>
        </p:spPr>
      </p:pic>
      <p:sp>
        <p:nvSpPr>
          <p:cNvPr id="27" name="Content Placeholder 2">
            <a:extLst>
              <a:ext uri="{FF2B5EF4-FFF2-40B4-BE49-F238E27FC236}">
                <a16:creationId xmlns:a16="http://schemas.microsoft.com/office/drawing/2014/main" id="{7A905CE1-39A6-5E4B-99FB-7E2F4C19E4C7}"/>
              </a:ext>
            </a:extLst>
          </p:cNvPr>
          <p:cNvSpPr txBox="1">
            <a:spLocks/>
          </p:cNvSpPr>
          <p:nvPr/>
        </p:nvSpPr>
        <p:spPr>
          <a:xfrm>
            <a:off x="1745115" y="4941660"/>
            <a:ext cx="751749" cy="445770"/>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dirty="0">
                <a:latin typeface="Aptos" panose="020B0004020202020204" pitchFamily="34" charset="0"/>
              </a:rPr>
              <a:t>v1.0</a:t>
            </a:r>
            <a:endParaRPr lang="en-IT" dirty="0">
              <a:latin typeface="Aptos" panose="020B0004020202020204" pitchFamily="34" charset="0"/>
            </a:endParaRPr>
          </a:p>
        </p:txBody>
      </p:sp>
      <p:pic>
        <p:nvPicPr>
          <p:cNvPr id="28" name="Graphic 27" descr="Open folder outline">
            <a:extLst>
              <a:ext uri="{FF2B5EF4-FFF2-40B4-BE49-F238E27FC236}">
                <a16:creationId xmlns:a16="http://schemas.microsoft.com/office/drawing/2014/main" id="{AE8782E3-C359-9444-BA64-E08F6C2BFB4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33510" y="4122602"/>
            <a:ext cx="914400" cy="914400"/>
          </a:xfrm>
          <a:prstGeom prst="rect">
            <a:avLst/>
          </a:prstGeom>
        </p:spPr>
      </p:pic>
      <p:sp>
        <p:nvSpPr>
          <p:cNvPr id="29" name="Content Placeholder 2">
            <a:extLst>
              <a:ext uri="{FF2B5EF4-FFF2-40B4-BE49-F238E27FC236}">
                <a16:creationId xmlns:a16="http://schemas.microsoft.com/office/drawing/2014/main" id="{55AED40F-59F2-F74E-B263-E970473B1D4E}"/>
              </a:ext>
            </a:extLst>
          </p:cNvPr>
          <p:cNvSpPr txBox="1">
            <a:spLocks/>
          </p:cNvSpPr>
          <p:nvPr/>
        </p:nvSpPr>
        <p:spPr>
          <a:xfrm>
            <a:off x="3314835" y="4941660"/>
            <a:ext cx="751749" cy="445770"/>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dirty="0">
                <a:latin typeface="Aptos" panose="020B0004020202020204" pitchFamily="34" charset="0"/>
              </a:rPr>
              <a:t>v1.1</a:t>
            </a:r>
            <a:endParaRPr lang="en-IT" dirty="0">
              <a:latin typeface="Aptos" panose="020B0004020202020204" pitchFamily="34" charset="0"/>
            </a:endParaRPr>
          </a:p>
        </p:txBody>
      </p:sp>
      <p:pic>
        <p:nvPicPr>
          <p:cNvPr id="30" name="Graphic 29" descr="Open folder outline">
            <a:extLst>
              <a:ext uri="{FF2B5EF4-FFF2-40B4-BE49-F238E27FC236}">
                <a16:creationId xmlns:a16="http://schemas.microsoft.com/office/drawing/2014/main" id="{FD6F73AE-6EA9-BD4F-B934-E3576F3C345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41317" y="4122602"/>
            <a:ext cx="914400" cy="914400"/>
          </a:xfrm>
          <a:prstGeom prst="rect">
            <a:avLst/>
          </a:prstGeom>
        </p:spPr>
      </p:pic>
      <p:sp>
        <p:nvSpPr>
          <p:cNvPr id="31" name="Content Placeholder 2">
            <a:extLst>
              <a:ext uri="{FF2B5EF4-FFF2-40B4-BE49-F238E27FC236}">
                <a16:creationId xmlns:a16="http://schemas.microsoft.com/office/drawing/2014/main" id="{0DF909AA-59CE-344B-8BBC-73F9C821DFC3}"/>
              </a:ext>
            </a:extLst>
          </p:cNvPr>
          <p:cNvSpPr txBox="1">
            <a:spLocks/>
          </p:cNvSpPr>
          <p:nvPr/>
        </p:nvSpPr>
        <p:spPr>
          <a:xfrm>
            <a:off x="4822642" y="4941660"/>
            <a:ext cx="751749" cy="445770"/>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dirty="0">
                <a:latin typeface="Aptos" panose="020B0004020202020204" pitchFamily="34" charset="0"/>
              </a:rPr>
              <a:t>v2.0</a:t>
            </a:r>
            <a:endParaRPr lang="en-IT" dirty="0">
              <a:latin typeface="Aptos" panose="020B0004020202020204" pitchFamily="34" charset="0"/>
            </a:endParaRPr>
          </a:p>
        </p:txBody>
      </p:sp>
      <p:pic>
        <p:nvPicPr>
          <p:cNvPr id="32" name="Graphic 31" descr="Open folder outline">
            <a:extLst>
              <a:ext uri="{FF2B5EF4-FFF2-40B4-BE49-F238E27FC236}">
                <a16:creationId xmlns:a16="http://schemas.microsoft.com/office/drawing/2014/main" id="{CE9F26A0-BC8E-F546-AF78-00B88B3C91D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06225" y="4122602"/>
            <a:ext cx="914400" cy="914400"/>
          </a:xfrm>
          <a:prstGeom prst="rect">
            <a:avLst/>
          </a:prstGeom>
        </p:spPr>
      </p:pic>
      <p:sp>
        <p:nvSpPr>
          <p:cNvPr id="33" name="Content Placeholder 2">
            <a:extLst>
              <a:ext uri="{FF2B5EF4-FFF2-40B4-BE49-F238E27FC236}">
                <a16:creationId xmlns:a16="http://schemas.microsoft.com/office/drawing/2014/main" id="{54FEE9D0-E911-E249-94D4-39760558C950}"/>
              </a:ext>
            </a:extLst>
          </p:cNvPr>
          <p:cNvSpPr txBox="1">
            <a:spLocks/>
          </p:cNvSpPr>
          <p:nvPr/>
        </p:nvSpPr>
        <p:spPr>
          <a:xfrm>
            <a:off x="8806225" y="4941660"/>
            <a:ext cx="914400" cy="445770"/>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dirty="0">
                <a:latin typeface="Aptos" panose="020B0004020202020204" pitchFamily="34" charset="0"/>
              </a:rPr>
              <a:t>v2.6</a:t>
            </a:r>
            <a:endParaRPr lang="en-IT" dirty="0">
              <a:latin typeface="Aptos" panose="020B0004020202020204" pitchFamily="34" charset="0"/>
            </a:endParaRPr>
          </a:p>
        </p:txBody>
      </p:sp>
      <p:cxnSp>
        <p:nvCxnSpPr>
          <p:cNvPr id="34" name="Straight Arrow Connector 33">
            <a:extLst>
              <a:ext uri="{FF2B5EF4-FFF2-40B4-BE49-F238E27FC236}">
                <a16:creationId xmlns:a16="http://schemas.microsoft.com/office/drawing/2014/main" id="{DA5A60D3-AFDE-6B4B-9322-FD74E2EC7C1E}"/>
              </a:ext>
            </a:extLst>
          </p:cNvPr>
          <p:cNvCxnSpPr>
            <a:cxnSpLocks/>
            <a:stCxn id="26" idx="3"/>
            <a:endCxn id="28" idx="1"/>
          </p:cNvCxnSpPr>
          <p:nvPr/>
        </p:nvCxnSpPr>
        <p:spPr>
          <a:xfrm>
            <a:off x="2578190" y="4579802"/>
            <a:ext cx="6553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AACB0875-F621-704A-86B1-456C5D6E15D7}"/>
              </a:ext>
            </a:extLst>
          </p:cNvPr>
          <p:cNvCxnSpPr>
            <a:cxnSpLocks/>
            <a:stCxn id="28" idx="3"/>
            <a:endCxn id="30" idx="1"/>
          </p:cNvCxnSpPr>
          <p:nvPr/>
        </p:nvCxnSpPr>
        <p:spPr>
          <a:xfrm>
            <a:off x="4147910" y="4579802"/>
            <a:ext cx="5934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BE19C7B1-0F5B-BC49-892A-7BA84D9B18B3}"/>
              </a:ext>
            </a:extLst>
          </p:cNvPr>
          <p:cNvCxnSpPr>
            <a:cxnSpLocks/>
            <a:stCxn id="30" idx="3"/>
            <a:endCxn id="32" idx="1"/>
          </p:cNvCxnSpPr>
          <p:nvPr/>
        </p:nvCxnSpPr>
        <p:spPr>
          <a:xfrm>
            <a:off x="5655717" y="4579802"/>
            <a:ext cx="31505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Content Placeholder 2">
            <a:extLst>
              <a:ext uri="{FF2B5EF4-FFF2-40B4-BE49-F238E27FC236}">
                <a16:creationId xmlns:a16="http://schemas.microsoft.com/office/drawing/2014/main" id="{515F9F6D-51BA-BD49-97F2-10B63FB7A9F4}"/>
              </a:ext>
            </a:extLst>
          </p:cNvPr>
          <p:cNvSpPr txBox="1">
            <a:spLocks/>
          </p:cNvSpPr>
          <p:nvPr/>
        </p:nvSpPr>
        <p:spPr>
          <a:xfrm>
            <a:off x="6814433" y="4941660"/>
            <a:ext cx="751749" cy="445770"/>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Palatino Linotype" panose="02040502050505030304" pitchFamily="18"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dirty="0">
                <a:latin typeface="Aptos" panose="020B0004020202020204" pitchFamily="34" charset="0"/>
              </a:rPr>
              <a:t>…</a:t>
            </a:r>
            <a:endParaRPr lang="en-IT" dirty="0">
              <a:latin typeface="Aptos" panose="020B0004020202020204" pitchFamily="34" charset="0"/>
            </a:endParaRPr>
          </a:p>
        </p:txBody>
      </p:sp>
      <p:cxnSp>
        <p:nvCxnSpPr>
          <p:cNvPr id="38" name="Straight Arrow Connector 37">
            <a:extLst>
              <a:ext uri="{FF2B5EF4-FFF2-40B4-BE49-F238E27FC236}">
                <a16:creationId xmlns:a16="http://schemas.microsoft.com/office/drawing/2014/main" id="{00CFA0E6-60E2-A746-B0EE-F3BE0F03F4B1}"/>
              </a:ext>
            </a:extLst>
          </p:cNvPr>
          <p:cNvCxnSpPr>
            <a:cxnSpLocks/>
            <a:stCxn id="19" idx="2"/>
            <a:endCxn id="30" idx="0"/>
          </p:cNvCxnSpPr>
          <p:nvPr/>
        </p:nvCxnSpPr>
        <p:spPr>
          <a:xfrm flipH="1">
            <a:off x="5198517" y="3760744"/>
            <a:ext cx="952" cy="3618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BA45845-B270-124E-A2DA-B680733E5712}"/>
              </a:ext>
            </a:extLst>
          </p:cNvPr>
          <p:cNvCxnSpPr>
            <a:cxnSpLocks/>
            <a:stCxn id="18" idx="2"/>
            <a:endCxn id="28" idx="0"/>
          </p:cNvCxnSpPr>
          <p:nvPr/>
        </p:nvCxnSpPr>
        <p:spPr>
          <a:xfrm>
            <a:off x="3690709" y="3799206"/>
            <a:ext cx="1" cy="3233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91EBF62B-6B33-E341-8043-CC34C7FD88A7}"/>
              </a:ext>
            </a:extLst>
          </p:cNvPr>
          <p:cNvSpPr>
            <a:spLocks noGrp="1"/>
          </p:cNvSpPr>
          <p:nvPr>
            <p:ph type="sldNum" sz="quarter" idx="12"/>
          </p:nvPr>
        </p:nvSpPr>
        <p:spPr/>
        <p:txBody>
          <a:bodyPr/>
          <a:lstStyle/>
          <a:p>
            <a:fld id="{31DE2C5B-556E-47B8-A792-024C2FCA4ACC}" type="slidenum">
              <a:rPr lang="en-GB" smtClean="0"/>
              <a:t>4</a:t>
            </a:fld>
            <a:endParaRPr lang="en-GB" dirty="0"/>
          </a:p>
        </p:txBody>
      </p:sp>
    </p:spTree>
    <p:extLst>
      <p:ext uri="{BB962C8B-B14F-4D97-AF65-F5344CB8AC3E}">
        <p14:creationId xmlns:p14="http://schemas.microsoft.com/office/powerpoint/2010/main" val="3296173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Problems of the “multiple folders” approach</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0773228" cy="5005343"/>
          </a:xfrm>
        </p:spPr>
        <p:txBody>
          <a:bodyPr>
            <a:normAutofit/>
          </a:bodyPr>
          <a:lstStyle/>
          <a:p>
            <a:r>
              <a:rPr lang="en-IT" dirty="0"/>
              <a:t>Very error prone approach</a:t>
            </a:r>
          </a:p>
          <a:p>
            <a:endParaRPr lang="en-IT" dirty="0"/>
          </a:p>
          <a:p>
            <a:r>
              <a:rPr lang="en-IT" dirty="0"/>
              <a:t>Teams are not able to collaborate (have to manually send the code, who to blame for bug introduction? </a:t>
            </a:r>
            <a:r>
              <a:rPr lang="en-GB" dirty="0"/>
              <a:t>H</a:t>
            </a:r>
            <a:r>
              <a:rPr lang="en-IT" dirty="0"/>
              <a:t>ow to merge changes?)</a:t>
            </a:r>
          </a:p>
          <a:p>
            <a:endParaRPr lang="en-IT" dirty="0"/>
          </a:p>
          <a:p>
            <a:r>
              <a:rPr lang="en-IT" dirty="0"/>
              <a:t>Lot of disk space required</a:t>
            </a:r>
          </a:p>
          <a:p>
            <a:endParaRPr lang="en-IT" dirty="0"/>
          </a:p>
          <a:p>
            <a:r>
              <a:rPr lang="en-IT" dirty="0"/>
              <a:t>“Where is my code? Which is which?” situations</a:t>
            </a:r>
          </a:p>
          <a:p>
            <a:endParaRPr lang="en-IT" dirty="0"/>
          </a:p>
          <a:p>
            <a:r>
              <a:rPr lang="en-IT" dirty="0"/>
              <a:t>…</a:t>
            </a:r>
          </a:p>
        </p:txBody>
      </p:sp>
      <p:sp>
        <p:nvSpPr>
          <p:cNvPr id="4" name="Slide Number Placeholder 3">
            <a:extLst>
              <a:ext uri="{FF2B5EF4-FFF2-40B4-BE49-F238E27FC236}">
                <a16:creationId xmlns:a16="http://schemas.microsoft.com/office/drawing/2014/main" id="{9198DF66-6F09-9F4B-8BB9-B2CE5825BCE2}"/>
              </a:ext>
            </a:extLst>
          </p:cNvPr>
          <p:cNvSpPr>
            <a:spLocks noGrp="1"/>
          </p:cNvSpPr>
          <p:nvPr>
            <p:ph type="sldNum" sz="quarter" idx="12"/>
          </p:nvPr>
        </p:nvSpPr>
        <p:spPr/>
        <p:txBody>
          <a:bodyPr/>
          <a:lstStyle/>
          <a:p>
            <a:fld id="{31DE2C5B-556E-47B8-A792-024C2FCA4ACC}" type="slidenum">
              <a:rPr lang="en-GB" smtClean="0"/>
              <a:t>5</a:t>
            </a:fld>
            <a:endParaRPr lang="en-GB" dirty="0"/>
          </a:p>
        </p:txBody>
      </p:sp>
    </p:spTree>
    <p:extLst>
      <p:ext uri="{BB962C8B-B14F-4D97-AF65-F5344CB8AC3E}">
        <p14:creationId xmlns:p14="http://schemas.microsoft.com/office/powerpoint/2010/main" val="413832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The gold standard: Version control systems</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1368314" cy="5237341"/>
          </a:xfrm>
        </p:spPr>
        <p:txBody>
          <a:bodyPr>
            <a:normAutofit lnSpcReduction="10000"/>
          </a:bodyPr>
          <a:lstStyle/>
          <a:p>
            <a:r>
              <a:rPr lang="en-IT" dirty="0"/>
              <a:t>The gold standard to deal with this issue is to use a version control system (VCS)</a:t>
            </a:r>
          </a:p>
          <a:p>
            <a:endParaRPr lang="en-IT" dirty="0"/>
          </a:p>
          <a:p>
            <a:r>
              <a:rPr lang="en-IT" dirty="0"/>
              <a:t>VCS are softwares that allow to </a:t>
            </a:r>
          </a:p>
          <a:p>
            <a:pPr lvl="1"/>
            <a:r>
              <a:rPr lang="en-IT" dirty="0"/>
              <a:t>track the code “history”</a:t>
            </a:r>
          </a:p>
          <a:p>
            <a:pPr lvl="1"/>
            <a:r>
              <a:rPr lang="en-GB" dirty="0"/>
              <a:t>w</a:t>
            </a:r>
            <a:r>
              <a:rPr lang="en-IT" dirty="0"/>
              <a:t>ork together on the same code</a:t>
            </a:r>
          </a:p>
          <a:p>
            <a:pPr lvl="1"/>
            <a:r>
              <a:rPr lang="en-GB" dirty="0"/>
              <a:t>j</a:t>
            </a:r>
            <a:r>
              <a:rPr lang="en-IT" dirty="0"/>
              <a:t>ump between code versions </a:t>
            </a:r>
          </a:p>
          <a:p>
            <a:pPr lvl="1"/>
            <a:r>
              <a:rPr lang="en-GB" dirty="0"/>
              <a:t>fix bugs efficiently </a:t>
            </a:r>
          </a:p>
          <a:p>
            <a:pPr lvl="1"/>
            <a:r>
              <a:rPr lang="en-GB" dirty="0"/>
              <a:t>…</a:t>
            </a:r>
          </a:p>
          <a:p>
            <a:pPr lvl="1"/>
            <a:endParaRPr lang="en-GB" dirty="0"/>
          </a:p>
          <a:p>
            <a:r>
              <a:rPr lang="en-GB" dirty="0"/>
              <a:t>Everything (code changes, contributors, deltas,…) is stored in a dedicated repository</a:t>
            </a:r>
          </a:p>
          <a:p>
            <a:endParaRPr lang="en-GB" dirty="0"/>
          </a:p>
          <a:p>
            <a:r>
              <a:rPr lang="en-GB" dirty="0"/>
              <a:t>A repository can be stored locally or remotely (in remote repository databases) and connected to the code contributor machine</a:t>
            </a:r>
          </a:p>
        </p:txBody>
      </p:sp>
      <p:pic>
        <p:nvPicPr>
          <p:cNvPr id="5" name="Graphic 4" descr="Database outline">
            <a:extLst>
              <a:ext uri="{FF2B5EF4-FFF2-40B4-BE49-F238E27FC236}">
                <a16:creationId xmlns:a16="http://schemas.microsoft.com/office/drawing/2014/main" id="{F477704F-4525-3B47-8262-A09C7A7019D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49639" y="2122758"/>
            <a:ext cx="1559010" cy="1559010"/>
          </a:xfrm>
          <a:prstGeom prst="rect">
            <a:avLst/>
          </a:prstGeom>
        </p:spPr>
      </p:pic>
      <p:sp>
        <p:nvSpPr>
          <p:cNvPr id="6" name="Rectangle 5">
            <a:extLst>
              <a:ext uri="{FF2B5EF4-FFF2-40B4-BE49-F238E27FC236}">
                <a16:creationId xmlns:a16="http://schemas.microsoft.com/office/drawing/2014/main" id="{E19AC1E0-99BD-5741-8FB1-AA29041B4370}"/>
              </a:ext>
            </a:extLst>
          </p:cNvPr>
          <p:cNvSpPr/>
          <p:nvPr/>
        </p:nvSpPr>
        <p:spPr>
          <a:xfrm>
            <a:off x="9578164" y="3605602"/>
            <a:ext cx="1337226" cy="369332"/>
          </a:xfrm>
          <a:prstGeom prst="rect">
            <a:avLst/>
          </a:prstGeom>
        </p:spPr>
        <p:txBody>
          <a:bodyPr wrap="none">
            <a:spAutoFit/>
          </a:bodyPr>
          <a:lstStyle/>
          <a:p>
            <a:r>
              <a:rPr lang="en-GB" b="1" dirty="0">
                <a:latin typeface="Aptos" panose="020B0004020202020204" pitchFamily="34" charset="0"/>
              </a:rPr>
              <a:t>Repository</a:t>
            </a:r>
            <a:endParaRPr lang="en-IT" b="1" dirty="0">
              <a:latin typeface="Aptos" panose="020B0004020202020204" pitchFamily="34" charset="0"/>
            </a:endParaRPr>
          </a:p>
        </p:txBody>
      </p:sp>
      <p:sp>
        <p:nvSpPr>
          <p:cNvPr id="4" name="Slide Number Placeholder 3">
            <a:extLst>
              <a:ext uri="{FF2B5EF4-FFF2-40B4-BE49-F238E27FC236}">
                <a16:creationId xmlns:a16="http://schemas.microsoft.com/office/drawing/2014/main" id="{8B022FA7-0A92-F147-A98F-5DC0FA62BA4A}"/>
              </a:ext>
            </a:extLst>
          </p:cNvPr>
          <p:cNvSpPr>
            <a:spLocks noGrp="1"/>
          </p:cNvSpPr>
          <p:nvPr>
            <p:ph type="sldNum" sz="quarter" idx="12"/>
          </p:nvPr>
        </p:nvSpPr>
        <p:spPr/>
        <p:txBody>
          <a:bodyPr/>
          <a:lstStyle/>
          <a:p>
            <a:fld id="{31DE2C5B-556E-47B8-A792-024C2FCA4ACC}" type="slidenum">
              <a:rPr lang="en-GB" smtClean="0"/>
              <a:t>6</a:t>
            </a:fld>
            <a:endParaRPr lang="en-GB" dirty="0"/>
          </a:p>
        </p:txBody>
      </p:sp>
    </p:spTree>
    <p:extLst>
      <p:ext uri="{BB962C8B-B14F-4D97-AF65-F5344CB8AC3E}">
        <p14:creationId xmlns:p14="http://schemas.microsoft.com/office/powerpoint/2010/main" val="942043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1368314" cy="5334907"/>
          </a:xfrm>
        </p:spPr>
        <p:txBody>
          <a:bodyPr>
            <a:normAutofit fontScale="85000" lnSpcReduction="20000"/>
          </a:bodyPr>
          <a:lstStyle/>
          <a:p>
            <a:pPr lvl="1"/>
            <a:endParaRPr lang="en-GB" dirty="0"/>
          </a:p>
          <a:p>
            <a:r>
              <a:rPr lang="en-GB" dirty="0"/>
              <a:t>The most popular VCS is GIT. Created by Linus Torvalds in 2005, it is a free, open source, fast, and scalable solution.</a:t>
            </a:r>
          </a:p>
          <a:p>
            <a:pPr lvl="1"/>
            <a:r>
              <a:rPr lang="en-GB" dirty="0"/>
              <a:t>We will use GIT in this course</a:t>
            </a:r>
          </a:p>
          <a:p>
            <a:pPr lvl="1"/>
            <a:endParaRPr lang="en-IT" dirty="0"/>
          </a:p>
          <a:p>
            <a:r>
              <a:rPr lang="en-IT" dirty="0"/>
              <a:t>GIT can be used via</a:t>
            </a:r>
          </a:p>
          <a:p>
            <a:pPr lvl="1"/>
            <a:r>
              <a:rPr lang="en-IT" dirty="0"/>
              <a:t>Fancy Graphical User Interface (GUI)</a:t>
            </a:r>
          </a:p>
          <a:p>
            <a:pPr lvl="1"/>
            <a:r>
              <a:rPr lang="en-IT" dirty="0"/>
              <a:t>Old-school terminal command line</a:t>
            </a:r>
          </a:p>
          <a:p>
            <a:pPr lvl="1"/>
            <a:endParaRPr lang="en-IT" dirty="0"/>
          </a:p>
          <a:p>
            <a:pPr lvl="1"/>
            <a:endParaRPr lang="en-IT" dirty="0"/>
          </a:p>
          <a:p>
            <a:pPr lvl="1"/>
            <a:endParaRPr lang="en-IT" dirty="0"/>
          </a:p>
          <a:p>
            <a:pPr lvl="1"/>
            <a:endParaRPr lang="en-IT" dirty="0"/>
          </a:p>
          <a:p>
            <a:pPr lvl="1"/>
            <a:endParaRPr lang="en-IT" dirty="0"/>
          </a:p>
          <a:p>
            <a:pPr lvl="1"/>
            <a:endParaRPr lang="en-IT" dirty="0"/>
          </a:p>
          <a:p>
            <a:pPr lvl="1"/>
            <a:endParaRPr lang="en-IT" dirty="0"/>
          </a:p>
          <a:p>
            <a:pPr lvl="1"/>
            <a:endParaRPr lang="en-IT" dirty="0"/>
          </a:p>
          <a:p>
            <a:pPr lvl="1"/>
            <a:endParaRPr lang="en-IT" dirty="0"/>
          </a:p>
          <a:p>
            <a:r>
              <a:rPr lang="en-IT" dirty="0"/>
              <a:t>In this course we will use the command line. Why?</a:t>
            </a:r>
          </a:p>
          <a:p>
            <a:pPr lvl="1"/>
            <a:r>
              <a:rPr lang="en-IT" dirty="0"/>
              <a:t>GUI have limitations </a:t>
            </a:r>
          </a:p>
          <a:p>
            <a:pPr lvl="1"/>
            <a:r>
              <a:rPr lang="en-IT" dirty="0"/>
              <a:t>GUI tools are not always available (e.g., remote servers)</a:t>
            </a:r>
          </a:p>
        </p:txBody>
      </p:sp>
      <p:pic>
        <p:nvPicPr>
          <p:cNvPr id="5" name="Picture 4">
            <a:extLst>
              <a:ext uri="{FF2B5EF4-FFF2-40B4-BE49-F238E27FC236}">
                <a16:creationId xmlns:a16="http://schemas.microsoft.com/office/drawing/2014/main" id="{62299DFF-27F7-F341-BCD5-E7D2FABB29D4}"/>
              </a:ext>
            </a:extLst>
          </p:cNvPr>
          <p:cNvPicPr>
            <a:picLocks noChangeAspect="1"/>
          </p:cNvPicPr>
          <p:nvPr/>
        </p:nvPicPr>
        <p:blipFill>
          <a:blip r:embed="rId3"/>
          <a:stretch>
            <a:fillRect/>
          </a:stretch>
        </p:blipFill>
        <p:spPr>
          <a:xfrm>
            <a:off x="6528487" y="2509383"/>
            <a:ext cx="4502222" cy="2743200"/>
          </a:xfrm>
          <a:prstGeom prst="rect">
            <a:avLst/>
          </a:prstGeom>
        </p:spPr>
      </p:pic>
      <p:cxnSp>
        <p:nvCxnSpPr>
          <p:cNvPr id="7" name="Straight Arrow Connector 6">
            <a:extLst>
              <a:ext uri="{FF2B5EF4-FFF2-40B4-BE49-F238E27FC236}">
                <a16:creationId xmlns:a16="http://schemas.microsoft.com/office/drawing/2014/main" id="{7E5F4C34-70FB-3A4E-9C6B-4B072D0F3FE7}"/>
              </a:ext>
            </a:extLst>
          </p:cNvPr>
          <p:cNvCxnSpPr>
            <a:cxnSpLocks/>
          </p:cNvCxnSpPr>
          <p:nvPr/>
        </p:nvCxnSpPr>
        <p:spPr>
          <a:xfrm>
            <a:off x="4880919" y="3101546"/>
            <a:ext cx="123141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9" name="Picture 8">
            <a:extLst>
              <a:ext uri="{FF2B5EF4-FFF2-40B4-BE49-F238E27FC236}">
                <a16:creationId xmlns:a16="http://schemas.microsoft.com/office/drawing/2014/main" id="{41AEA88F-BB46-8349-A979-5DD49C1F38B3}"/>
              </a:ext>
            </a:extLst>
          </p:cNvPr>
          <p:cNvPicPr>
            <a:picLocks noChangeAspect="1"/>
          </p:cNvPicPr>
          <p:nvPr/>
        </p:nvPicPr>
        <p:blipFill>
          <a:blip r:embed="rId4"/>
          <a:stretch>
            <a:fillRect/>
          </a:stretch>
        </p:blipFill>
        <p:spPr>
          <a:xfrm>
            <a:off x="1868458" y="3632886"/>
            <a:ext cx="3012461" cy="1708409"/>
          </a:xfrm>
          <a:prstGeom prst="rect">
            <a:avLst/>
          </a:prstGeom>
        </p:spPr>
      </p:pic>
      <p:cxnSp>
        <p:nvCxnSpPr>
          <p:cNvPr id="10" name="Straight Arrow Connector 9">
            <a:extLst>
              <a:ext uri="{FF2B5EF4-FFF2-40B4-BE49-F238E27FC236}">
                <a16:creationId xmlns:a16="http://schemas.microsoft.com/office/drawing/2014/main" id="{3B669598-026D-1144-BD88-CA09223289B1}"/>
              </a:ext>
            </a:extLst>
          </p:cNvPr>
          <p:cNvCxnSpPr>
            <a:cxnSpLocks/>
          </p:cNvCxnSpPr>
          <p:nvPr/>
        </p:nvCxnSpPr>
        <p:spPr>
          <a:xfrm>
            <a:off x="1450314" y="3558101"/>
            <a:ext cx="210065" cy="4467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5" name="Picture 2">
            <a:extLst>
              <a:ext uri="{FF2B5EF4-FFF2-40B4-BE49-F238E27FC236}">
                <a16:creationId xmlns:a16="http://schemas.microsoft.com/office/drawing/2014/main" id="{2C42F09F-58BB-3244-AAF9-B3E813E874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53564" y="209198"/>
            <a:ext cx="1484871" cy="62063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32390E86-D28C-A54E-8D16-6615623414D9}"/>
              </a:ext>
            </a:extLst>
          </p:cNvPr>
          <p:cNvSpPr>
            <a:spLocks noGrp="1"/>
          </p:cNvSpPr>
          <p:nvPr>
            <p:ph type="sldNum" sz="quarter" idx="12"/>
          </p:nvPr>
        </p:nvSpPr>
        <p:spPr/>
        <p:txBody>
          <a:bodyPr/>
          <a:lstStyle/>
          <a:p>
            <a:fld id="{31DE2C5B-556E-47B8-A792-024C2FCA4ACC}" type="slidenum">
              <a:rPr lang="en-GB" smtClean="0"/>
              <a:t>7</a:t>
            </a:fld>
            <a:endParaRPr lang="en-GB" dirty="0"/>
          </a:p>
        </p:txBody>
      </p:sp>
    </p:spTree>
    <p:extLst>
      <p:ext uri="{BB962C8B-B14F-4D97-AF65-F5344CB8AC3E}">
        <p14:creationId xmlns:p14="http://schemas.microsoft.com/office/powerpoint/2010/main" val="857742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GIT workflow</a:t>
            </a:r>
          </a:p>
        </p:txBody>
      </p:sp>
      <p:sp>
        <p:nvSpPr>
          <p:cNvPr id="13" name="Content Placeholder 2">
            <a:extLst>
              <a:ext uri="{FF2B5EF4-FFF2-40B4-BE49-F238E27FC236}">
                <a16:creationId xmlns:a16="http://schemas.microsoft.com/office/drawing/2014/main" id="{CED29646-D049-0846-8E9D-FDBF67D75579}"/>
              </a:ext>
            </a:extLst>
          </p:cNvPr>
          <p:cNvSpPr>
            <a:spLocks noGrp="1"/>
          </p:cNvSpPr>
          <p:nvPr>
            <p:ph idx="1"/>
          </p:nvPr>
        </p:nvSpPr>
        <p:spPr>
          <a:xfrm>
            <a:off x="267534" y="5585890"/>
            <a:ext cx="11368314" cy="1110184"/>
          </a:xfrm>
        </p:spPr>
        <p:txBody>
          <a:bodyPr>
            <a:normAutofit lnSpcReduction="10000"/>
          </a:bodyPr>
          <a:lstStyle/>
          <a:p>
            <a:r>
              <a:rPr lang="en-IT" b="1" dirty="0"/>
              <a:t>Working directory</a:t>
            </a:r>
            <a:r>
              <a:rPr lang="en-IT" dirty="0"/>
              <a:t>: where the code is.</a:t>
            </a:r>
          </a:p>
          <a:p>
            <a:r>
              <a:rPr lang="en-IT" b="1" dirty="0"/>
              <a:t>Staging area</a:t>
            </a:r>
            <a:r>
              <a:rPr lang="en-IT" dirty="0"/>
              <a:t>: where you put the “new code” that you want to become the next code version. </a:t>
            </a:r>
          </a:p>
        </p:txBody>
      </p:sp>
      <p:pic>
        <p:nvPicPr>
          <p:cNvPr id="8" name="Graphic 7" descr="Database outline">
            <a:extLst>
              <a:ext uri="{FF2B5EF4-FFF2-40B4-BE49-F238E27FC236}">
                <a16:creationId xmlns:a16="http://schemas.microsoft.com/office/drawing/2014/main" id="{637E40E8-44D7-5640-B7DD-53D1C2CD9E5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14044" y="2133895"/>
            <a:ext cx="1559010" cy="1559010"/>
          </a:xfrm>
          <a:prstGeom prst="rect">
            <a:avLst/>
          </a:prstGeom>
        </p:spPr>
      </p:pic>
      <p:sp>
        <p:nvSpPr>
          <p:cNvPr id="11" name="Rectangle 10">
            <a:extLst>
              <a:ext uri="{FF2B5EF4-FFF2-40B4-BE49-F238E27FC236}">
                <a16:creationId xmlns:a16="http://schemas.microsoft.com/office/drawing/2014/main" id="{5A858635-E6DD-DE4C-84DA-96E7948E3D68}"/>
              </a:ext>
            </a:extLst>
          </p:cNvPr>
          <p:cNvSpPr/>
          <p:nvPr/>
        </p:nvSpPr>
        <p:spPr>
          <a:xfrm>
            <a:off x="8924936" y="3780097"/>
            <a:ext cx="1337226" cy="369332"/>
          </a:xfrm>
          <a:prstGeom prst="rect">
            <a:avLst/>
          </a:prstGeom>
        </p:spPr>
        <p:txBody>
          <a:bodyPr wrap="none">
            <a:spAutoFit/>
          </a:bodyPr>
          <a:lstStyle/>
          <a:p>
            <a:r>
              <a:rPr lang="en-GB" b="1" dirty="0">
                <a:latin typeface="Aptos" panose="020B0004020202020204" pitchFamily="34" charset="0"/>
              </a:rPr>
              <a:t>Repository</a:t>
            </a:r>
            <a:endParaRPr lang="en-IT" b="1" dirty="0">
              <a:latin typeface="Aptos" panose="020B0004020202020204" pitchFamily="34" charset="0"/>
            </a:endParaRPr>
          </a:p>
        </p:txBody>
      </p:sp>
      <p:pic>
        <p:nvPicPr>
          <p:cNvPr id="12" name="Graphic 11" descr="Open folder outline">
            <a:extLst>
              <a:ext uri="{FF2B5EF4-FFF2-40B4-BE49-F238E27FC236}">
                <a16:creationId xmlns:a16="http://schemas.microsoft.com/office/drawing/2014/main" id="{CB721FE9-4969-394C-A234-730CEE55FAF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67241" y="2210256"/>
            <a:ext cx="1406288" cy="1406288"/>
          </a:xfrm>
          <a:prstGeom prst="rect">
            <a:avLst/>
          </a:prstGeom>
        </p:spPr>
      </p:pic>
      <p:sp>
        <p:nvSpPr>
          <p:cNvPr id="14" name="Rectangle 13">
            <a:extLst>
              <a:ext uri="{FF2B5EF4-FFF2-40B4-BE49-F238E27FC236}">
                <a16:creationId xmlns:a16="http://schemas.microsoft.com/office/drawing/2014/main" id="{A2EEB155-13A6-F142-8D4B-1BDFCDAD168E}"/>
              </a:ext>
            </a:extLst>
          </p:cNvPr>
          <p:cNvSpPr/>
          <p:nvPr/>
        </p:nvSpPr>
        <p:spPr>
          <a:xfrm>
            <a:off x="1410628" y="3780097"/>
            <a:ext cx="2110386" cy="369332"/>
          </a:xfrm>
          <a:prstGeom prst="rect">
            <a:avLst/>
          </a:prstGeom>
        </p:spPr>
        <p:txBody>
          <a:bodyPr wrap="none">
            <a:spAutoFit/>
          </a:bodyPr>
          <a:lstStyle/>
          <a:p>
            <a:pPr algn="ctr"/>
            <a:r>
              <a:rPr lang="en-GB" b="1" dirty="0">
                <a:latin typeface="Aptos" panose="020B0004020202020204" pitchFamily="34" charset="0"/>
              </a:rPr>
              <a:t>Working directory</a:t>
            </a:r>
          </a:p>
        </p:txBody>
      </p:sp>
      <p:sp>
        <p:nvSpPr>
          <p:cNvPr id="15" name="Oval 14">
            <a:extLst>
              <a:ext uri="{FF2B5EF4-FFF2-40B4-BE49-F238E27FC236}">
                <a16:creationId xmlns:a16="http://schemas.microsoft.com/office/drawing/2014/main" id="{A74667ED-8F6A-A047-9D1A-752F62B9E51C}"/>
              </a:ext>
            </a:extLst>
          </p:cNvPr>
          <p:cNvSpPr/>
          <p:nvPr/>
        </p:nvSpPr>
        <p:spPr>
          <a:xfrm>
            <a:off x="4427186" y="1397989"/>
            <a:ext cx="3337628" cy="32052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latin typeface="Aptos" panose="020B0004020202020204" pitchFamily="34" charset="0"/>
            </a:endParaRPr>
          </a:p>
        </p:txBody>
      </p:sp>
      <p:sp>
        <p:nvSpPr>
          <p:cNvPr id="16" name="Rectangle 15">
            <a:extLst>
              <a:ext uri="{FF2B5EF4-FFF2-40B4-BE49-F238E27FC236}">
                <a16:creationId xmlns:a16="http://schemas.microsoft.com/office/drawing/2014/main" id="{049BFD17-28FA-B849-A65A-CB0EC248021D}"/>
              </a:ext>
            </a:extLst>
          </p:cNvPr>
          <p:cNvSpPr/>
          <p:nvPr/>
        </p:nvSpPr>
        <p:spPr>
          <a:xfrm>
            <a:off x="5369179" y="4794430"/>
            <a:ext cx="1486304" cy="369332"/>
          </a:xfrm>
          <a:prstGeom prst="rect">
            <a:avLst/>
          </a:prstGeom>
        </p:spPr>
        <p:txBody>
          <a:bodyPr wrap="none">
            <a:spAutoFit/>
          </a:bodyPr>
          <a:lstStyle/>
          <a:p>
            <a:pPr algn="ctr"/>
            <a:r>
              <a:rPr lang="en-GB" b="1" dirty="0">
                <a:latin typeface="Aptos" panose="020B0004020202020204" pitchFamily="34" charset="0"/>
              </a:rPr>
              <a:t>Staging area</a:t>
            </a:r>
          </a:p>
        </p:txBody>
      </p:sp>
      <p:sp>
        <p:nvSpPr>
          <p:cNvPr id="3" name="Slide Number Placeholder 2">
            <a:extLst>
              <a:ext uri="{FF2B5EF4-FFF2-40B4-BE49-F238E27FC236}">
                <a16:creationId xmlns:a16="http://schemas.microsoft.com/office/drawing/2014/main" id="{3A9AF5B1-FAFB-824D-A33C-9A829233B204}"/>
              </a:ext>
            </a:extLst>
          </p:cNvPr>
          <p:cNvSpPr>
            <a:spLocks noGrp="1"/>
          </p:cNvSpPr>
          <p:nvPr>
            <p:ph type="sldNum" sz="quarter" idx="12"/>
          </p:nvPr>
        </p:nvSpPr>
        <p:spPr/>
        <p:txBody>
          <a:bodyPr/>
          <a:lstStyle/>
          <a:p>
            <a:fld id="{31DE2C5B-556E-47B8-A792-024C2FCA4ACC}" type="slidenum">
              <a:rPr lang="en-GB" smtClean="0"/>
              <a:t>8</a:t>
            </a:fld>
            <a:endParaRPr lang="en-GB" dirty="0"/>
          </a:p>
        </p:txBody>
      </p:sp>
    </p:spTree>
    <p:extLst>
      <p:ext uri="{BB962C8B-B14F-4D97-AF65-F5344CB8AC3E}">
        <p14:creationId xmlns:p14="http://schemas.microsoft.com/office/powerpoint/2010/main" val="3856002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GIT workflow</a:t>
            </a:r>
          </a:p>
        </p:txBody>
      </p:sp>
      <p:pic>
        <p:nvPicPr>
          <p:cNvPr id="5" name="Graphic 4" descr="Database outline">
            <a:extLst>
              <a:ext uri="{FF2B5EF4-FFF2-40B4-BE49-F238E27FC236}">
                <a16:creationId xmlns:a16="http://schemas.microsoft.com/office/drawing/2014/main" id="{F477704F-4525-3B47-8262-A09C7A7019D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14044" y="2133895"/>
            <a:ext cx="1559010" cy="1559010"/>
          </a:xfrm>
          <a:prstGeom prst="rect">
            <a:avLst/>
          </a:prstGeom>
        </p:spPr>
      </p:pic>
      <p:sp>
        <p:nvSpPr>
          <p:cNvPr id="6" name="Rectangle 5">
            <a:extLst>
              <a:ext uri="{FF2B5EF4-FFF2-40B4-BE49-F238E27FC236}">
                <a16:creationId xmlns:a16="http://schemas.microsoft.com/office/drawing/2014/main" id="{E19AC1E0-99BD-5741-8FB1-AA29041B4370}"/>
              </a:ext>
            </a:extLst>
          </p:cNvPr>
          <p:cNvSpPr/>
          <p:nvPr/>
        </p:nvSpPr>
        <p:spPr>
          <a:xfrm>
            <a:off x="8924936" y="3780097"/>
            <a:ext cx="1337226" cy="369332"/>
          </a:xfrm>
          <a:prstGeom prst="rect">
            <a:avLst/>
          </a:prstGeom>
        </p:spPr>
        <p:txBody>
          <a:bodyPr wrap="none">
            <a:spAutoFit/>
          </a:bodyPr>
          <a:lstStyle/>
          <a:p>
            <a:r>
              <a:rPr lang="en-GB" b="1" dirty="0">
                <a:latin typeface="Aptos" panose="020B0004020202020204" pitchFamily="34" charset="0"/>
              </a:rPr>
              <a:t>Repository</a:t>
            </a:r>
            <a:endParaRPr lang="en-IT" b="1" dirty="0">
              <a:latin typeface="Aptos" panose="020B0004020202020204" pitchFamily="34" charset="0"/>
            </a:endParaRPr>
          </a:p>
        </p:txBody>
      </p:sp>
      <p:pic>
        <p:nvPicPr>
          <p:cNvPr id="9" name="Graphic 8" descr="Open folder outline">
            <a:extLst>
              <a:ext uri="{FF2B5EF4-FFF2-40B4-BE49-F238E27FC236}">
                <a16:creationId xmlns:a16="http://schemas.microsoft.com/office/drawing/2014/main" id="{C2354529-AC79-8F49-A2B7-E3876AFB904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67241" y="2210256"/>
            <a:ext cx="1406288" cy="1406288"/>
          </a:xfrm>
          <a:prstGeom prst="rect">
            <a:avLst/>
          </a:prstGeom>
        </p:spPr>
      </p:pic>
      <p:sp>
        <p:nvSpPr>
          <p:cNvPr id="10" name="Rectangle 9">
            <a:extLst>
              <a:ext uri="{FF2B5EF4-FFF2-40B4-BE49-F238E27FC236}">
                <a16:creationId xmlns:a16="http://schemas.microsoft.com/office/drawing/2014/main" id="{3D8B447F-8B3F-7D4E-B7D2-53D326F604D6}"/>
              </a:ext>
            </a:extLst>
          </p:cNvPr>
          <p:cNvSpPr/>
          <p:nvPr/>
        </p:nvSpPr>
        <p:spPr>
          <a:xfrm>
            <a:off x="1033378" y="3780097"/>
            <a:ext cx="2864887" cy="646331"/>
          </a:xfrm>
          <a:prstGeom prst="rect">
            <a:avLst/>
          </a:prstGeom>
        </p:spPr>
        <p:txBody>
          <a:bodyPr wrap="none">
            <a:spAutoFit/>
          </a:bodyPr>
          <a:lstStyle/>
          <a:p>
            <a:pPr algn="ctr"/>
            <a:r>
              <a:rPr lang="en-GB" b="1" dirty="0">
                <a:latin typeface="Aptos" panose="020B0004020202020204" pitchFamily="34" charset="0"/>
              </a:rPr>
              <a:t>Working directory</a:t>
            </a:r>
          </a:p>
          <a:p>
            <a:pPr algn="ctr"/>
            <a:r>
              <a:rPr lang="en-GB" dirty="0">
                <a:latin typeface="Aptos" panose="020B0004020202020204" pitchFamily="34" charset="0"/>
              </a:rPr>
              <a:t>(with some modifications)</a:t>
            </a:r>
            <a:endParaRPr lang="en-IT" dirty="0">
              <a:latin typeface="Aptos" panose="020B0004020202020204" pitchFamily="34" charset="0"/>
            </a:endParaRPr>
          </a:p>
        </p:txBody>
      </p:sp>
      <p:sp>
        <p:nvSpPr>
          <p:cNvPr id="7" name="Content Placeholder 2">
            <a:extLst>
              <a:ext uri="{FF2B5EF4-FFF2-40B4-BE49-F238E27FC236}">
                <a16:creationId xmlns:a16="http://schemas.microsoft.com/office/drawing/2014/main" id="{98ACCC5A-053D-AE43-93C2-08C4A35F1392}"/>
              </a:ext>
            </a:extLst>
          </p:cNvPr>
          <p:cNvSpPr>
            <a:spLocks noGrp="1"/>
          </p:cNvSpPr>
          <p:nvPr>
            <p:ph idx="1"/>
          </p:nvPr>
        </p:nvSpPr>
        <p:spPr>
          <a:xfrm>
            <a:off x="267534" y="5585890"/>
            <a:ext cx="11368314" cy="1110184"/>
          </a:xfrm>
        </p:spPr>
        <p:txBody>
          <a:bodyPr>
            <a:normAutofit/>
          </a:bodyPr>
          <a:lstStyle/>
          <a:p>
            <a:r>
              <a:rPr lang="en-IT" dirty="0"/>
              <a:t>While you are working, you may decide that the code reached a state that you want to record (might be a new feature, a new release of the code, a bug fix, …)</a:t>
            </a:r>
          </a:p>
        </p:txBody>
      </p:sp>
      <p:sp>
        <p:nvSpPr>
          <p:cNvPr id="3" name="Oval 2">
            <a:extLst>
              <a:ext uri="{FF2B5EF4-FFF2-40B4-BE49-F238E27FC236}">
                <a16:creationId xmlns:a16="http://schemas.microsoft.com/office/drawing/2014/main" id="{826625DA-769A-C44A-AA99-85DB3CD5D849}"/>
              </a:ext>
            </a:extLst>
          </p:cNvPr>
          <p:cNvSpPr/>
          <p:nvPr/>
        </p:nvSpPr>
        <p:spPr>
          <a:xfrm>
            <a:off x="4427186" y="1397989"/>
            <a:ext cx="3337628" cy="32052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14" name="Rectangle 13">
            <a:extLst>
              <a:ext uri="{FF2B5EF4-FFF2-40B4-BE49-F238E27FC236}">
                <a16:creationId xmlns:a16="http://schemas.microsoft.com/office/drawing/2014/main" id="{F5D3B664-9545-8D43-BF70-B33F0BAC0170}"/>
              </a:ext>
            </a:extLst>
          </p:cNvPr>
          <p:cNvSpPr/>
          <p:nvPr/>
        </p:nvSpPr>
        <p:spPr>
          <a:xfrm>
            <a:off x="5369179" y="4794430"/>
            <a:ext cx="1486304" cy="369332"/>
          </a:xfrm>
          <a:prstGeom prst="rect">
            <a:avLst/>
          </a:prstGeom>
        </p:spPr>
        <p:txBody>
          <a:bodyPr wrap="none">
            <a:spAutoFit/>
          </a:bodyPr>
          <a:lstStyle/>
          <a:p>
            <a:pPr algn="ctr"/>
            <a:r>
              <a:rPr lang="en-GB" b="1" dirty="0">
                <a:latin typeface="Aptos" panose="020B0004020202020204" pitchFamily="34" charset="0"/>
              </a:rPr>
              <a:t>Staging area</a:t>
            </a:r>
          </a:p>
        </p:txBody>
      </p:sp>
      <p:pic>
        <p:nvPicPr>
          <p:cNvPr id="17" name="Graphic 16" descr="Badge Follow outline">
            <a:extLst>
              <a:ext uri="{FF2B5EF4-FFF2-40B4-BE49-F238E27FC236}">
                <a16:creationId xmlns:a16="http://schemas.microsoft.com/office/drawing/2014/main" id="{6B902D7D-0DFC-1044-865F-7F8F6368EAE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920757" y="2230030"/>
            <a:ext cx="457200" cy="457200"/>
          </a:xfrm>
          <a:prstGeom prst="rect">
            <a:avLst/>
          </a:prstGeom>
        </p:spPr>
      </p:pic>
      <p:sp>
        <p:nvSpPr>
          <p:cNvPr id="4" name="Slide Number Placeholder 3">
            <a:extLst>
              <a:ext uri="{FF2B5EF4-FFF2-40B4-BE49-F238E27FC236}">
                <a16:creationId xmlns:a16="http://schemas.microsoft.com/office/drawing/2014/main" id="{C79FC9A0-1859-D543-9AF8-94D9C1D2623B}"/>
              </a:ext>
            </a:extLst>
          </p:cNvPr>
          <p:cNvSpPr>
            <a:spLocks noGrp="1"/>
          </p:cNvSpPr>
          <p:nvPr>
            <p:ph type="sldNum" sz="quarter" idx="12"/>
          </p:nvPr>
        </p:nvSpPr>
        <p:spPr/>
        <p:txBody>
          <a:bodyPr/>
          <a:lstStyle/>
          <a:p>
            <a:fld id="{31DE2C5B-556E-47B8-A792-024C2FCA4ACC}" type="slidenum">
              <a:rPr lang="en-GB" smtClean="0"/>
              <a:t>9</a:t>
            </a:fld>
            <a:endParaRPr lang="en-GB" dirty="0"/>
          </a:p>
        </p:txBody>
      </p:sp>
    </p:spTree>
    <p:extLst>
      <p:ext uri="{BB962C8B-B14F-4D97-AF65-F5344CB8AC3E}">
        <p14:creationId xmlns:p14="http://schemas.microsoft.com/office/powerpoint/2010/main" val="2175941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GIT workflow</a:t>
            </a:r>
          </a:p>
        </p:txBody>
      </p:sp>
      <p:pic>
        <p:nvPicPr>
          <p:cNvPr id="5" name="Graphic 4" descr="Database outline">
            <a:extLst>
              <a:ext uri="{FF2B5EF4-FFF2-40B4-BE49-F238E27FC236}">
                <a16:creationId xmlns:a16="http://schemas.microsoft.com/office/drawing/2014/main" id="{F477704F-4525-3B47-8262-A09C7A7019D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14044" y="2133895"/>
            <a:ext cx="1559010" cy="1559010"/>
          </a:xfrm>
          <a:prstGeom prst="rect">
            <a:avLst/>
          </a:prstGeom>
        </p:spPr>
      </p:pic>
      <p:sp>
        <p:nvSpPr>
          <p:cNvPr id="6" name="Rectangle 5">
            <a:extLst>
              <a:ext uri="{FF2B5EF4-FFF2-40B4-BE49-F238E27FC236}">
                <a16:creationId xmlns:a16="http://schemas.microsoft.com/office/drawing/2014/main" id="{E19AC1E0-99BD-5741-8FB1-AA29041B4370}"/>
              </a:ext>
            </a:extLst>
          </p:cNvPr>
          <p:cNvSpPr/>
          <p:nvPr/>
        </p:nvSpPr>
        <p:spPr>
          <a:xfrm>
            <a:off x="8924936" y="3780097"/>
            <a:ext cx="1337226" cy="369332"/>
          </a:xfrm>
          <a:prstGeom prst="rect">
            <a:avLst/>
          </a:prstGeom>
        </p:spPr>
        <p:txBody>
          <a:bodyPr wrap="none">
            <a:spAutoFit/>
          </a:bodyPr>
          <a:lstStyle/>
          <a:p>
            <a:r>
              <a:rPr lang="en-GB" b="1" dirty="0">
                <a:latin typeface="Aptos" panose="020B0004020202020204" pitchFamily="34" charset="0"/>
              </a:rPr>
              <a:t>Repository</a:t>
            </a:r>
            <a:endParaRPr lang="en-IT" b="1" dirty="0">
              <a:latin typeface="Aptos" panose="020B0004020202020204" pitchFamily="34" charset="0"/>
            </a:endParaRPr>
          </a:p>
        </p:txBody>
      </p:sp>
      <p:pic>
        <p:nvPicPr>
          <p:cNvPr id="9" name="Graphic 8" descr="Open folder outline">
            <a:extLst>
              <a:ext uri="{FF2B5EF4-FFF2-40B4-BE49-F238E27FC236}">
                <a16:creationId xmlns:a16="http://schemas.microsoft.com/office/drawing/2014/main" id="{C2354529-AC79-8F49-A2B7-E3876AFB904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67241" y="2210256"/>
            <a:ext cx="1406288" cy="1406288"/>
          </a:xfrm>
          <a:prstGeom prst="rect">
            <a:avLst/>
          </a:prstGeom>
        </p:spPr>
      </p:pic>
      <p:sp>
        <p:nvSpPr>
          <p:cNvPr id="10" name="Rectangle 9">
            <a:extLst>
              <a:ext uri="{FF2B5EF4-FFF2-40B4-BE49-F238E27FC236}">
                <a16:creationId xmlns:a16="http://schemas.microsoft.com/office/drawing/2014/main" id="{3D8B447F-8B3F-7D4E-B7D2-53D326F604D6}"/>
              </a:ext>
            </a:extLst>
          </p:cNvPr>
          <p:cNvSpPr/>
          <p:nvPr/>
        </p:nvSpPr>
        <p:spPr>
          <a:xfrm>
            <a:off x="1033378" y="3780097"/>
            <a:ext cx="2864887" cy="646331"/>
          </a:xfrm>
          <a:prstGeom prst="rect">
            <a:avLst/>
          </a:prstGeom>
        </p:spPr>
        <p:txBody>
          <a:bodyPr wrap="none">
            <a:spAutoFit/>
          </a:bodyPr>
          <a:lstStyle/>
          <a:p>
            <a:pPr algn="ctr"/>
            <a:r>
              <a:rPr lang="en-GB" b="1" dirty="0">
                <a:latin typeface="Aptos" panose="020B0004020202020204" pitchFamily="34" charset="0"/>
              </a:rPr>
              <a:t>Working directory</a:t>
            </a:r>
          </a:p>
          <a:p>
            <a:pPr algn="ctr"/>
            <a:r>
              <a:rPr lang="en-GB" dirty="0">
                <a:latin typeface="Aptos" panose="020B0004020202020204" pitchFamily="34" charset="0"/>
              </a:rPr>
              <a:t>(with some modifications)</a:t>
            </a:r>
            <a:endParaRPr lang="en-IT" dirty="0">
              <a:latin typeface="Aptos" panose="020B0004020202020204" pitchFamily="34" charset="0"/>
            </a:endParaRPr>
          </a:p>
        </p:txBody>
      </p:sp>
      <p:sp>
        <p:nvSpPr>
          <p:cNvPr id="7" name="Content Placeholder 2">
            <a:extLst>
              <a:ext uri="{FF2B5EF4-FFF2-40B4-BE49-F238E27FC236}">
                <a16:creationId xmlns:a16="http://schemas.microsoft.com/office/drawing/2014/main" id="{98ACCC5A-053D-AE43-93C2-08C4A35F1392}"/>
              </a:ext>
            </a:extLst>
          </p:cNvPr>
          <p:cNvSpPr>
            <a:spLocks noGrp="1"/>
          </p:cNvSpPr>
          <p:nvPr>
            <p:ph idx="1"/>
          </p:nvPr>
        </p:nvSpPr>
        <p:spPr>
          <a:xfrm>
            <a:off x="267534" y="5585890"/>
            <a:ext cx="11368314" cy="1110184"/>
          </a:xfrm>
        </p:spPr>
        <p:txBody>
          <a:bodyPr>
            <a:normAutofit/>
          </a:bodyPr>
          <a:lstStyle/>
          <a:p>
            <a:r>
              <a:rPr lang="en-IT" b="1" dirty="0"/>
              <a:t>Step 1</a:t>
            </a:r>
            <a:r>
              <a:rPr lang="en-IT" dirty="0"/>
              <a:t>: stage that code!</a:t>
            </a:r>
          </a:p>
        </p:txBody>
      </p:sp>
      <p:pic>
        <p:nvPicPr>
          <p:cNvPr id="8" name="Graphic 7" descr="Badge Follow outline">
            <a:extLst>
              <a:ext uri="{FF2B5EF4-FFF2-40B4-BE49-F238E27FC236}">
                <a16:creationId xmlns:a16="http://schemas.microsoft.com/office/drawing/2014/main" id="{611C4AB8-2E4F-8E4B-B272-FE7CCAC82F3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883728" y="2846829"/>
            <a:ext cx="457200" cy="457200"/>
          </a:xfrm>
          <a:prstGeom prst="rect">
            <a:avLst/>
          </a:prstGeom>
        </p:spPr>
      </p:pic>
      <p:sp>
        <p:nvSpPr>
          <p:cNvPr id="3" name="Oval 2">
            <a:extLst>
              <a:ext uri="{FF2B5EF4-FFF2-40B4-BE49-F238E27FC236}">
                <a16:creationId xmlns:a16="http://schemas.microsoft.com/office/drawing/2014/main" id="{826625DA-769A-C44A-AA99-85DB3CD5D849}"/>
              </a:ext>
            </a:extLst>
          </p:cNvPr>
          <p:cNvSpPr/>
          <p:nvPr/>
        </p:nvSpPr>
        <p:spPr>
          <a:xfrm>
            <a:off x="4427186" y="1397989"/>
            <a:ext cx="3337628" cy="32052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14" name="Rectangle 13">
            <a:extLst>
              <a:ext uri="{FF2B5EF4-FFF2-40B4-BE49-F238E27FC236}">
                <a16:creationId xmlns:a16="http://schemas.microsoft.com/office/drawing/2014/main" id="{F5D3B664-9545-8D43-BF70-B33F0BAC0170}"/>
              </a:ext>
            </a:extLst>
          </p:cNvPr>
          <p:cNvSpPr/>
          <p:nvPr/>
        </p:nvSpPr>
        <p:spPr>
          <a:xfrm>
            <a:off x="5369179" y="4794430"/>
            <a:ext cx="1486304" cy="369332"/>
          </a:xfrm>
          <a:prstGeom prst="rect">
            <a:avLst/>
          </a:prstGeom>
        </p:spPr>
        <p:txBody>
          <a:bodyPr wrap="none">
            <a:spAutoFit/>
          </a:bodyPr>
          <a:lstStyle/>
          <a:p>
            <a:pPr algn="ctr"/>
            <a:r>
              <a:rPr lang="en-GB" b="1" dirty="0">
                <a:latin typeface="Aptos" panose="020B0004020202020204" pitchFamily="34" charset="0"/>
              </a:rPr>
              <a:t>Staging area</a:t>
            </a:r>
          </a:p>
        </p:txBody>
      </p:sp>
      <p:pic>
        <p:nvPicPr>
          <p:cNvPr id="12" name="Graphic 11" descr="Badge Follow outline">
            <a:extLst>
              <a:ext uri="{FF2B5EF4-FFF2-40B4-BE49-F238E27FC236}">
                <a16:creationId xmlns:a16="http://schemas.microsoft.com/office/drawing/2014/main" id="{EE618C48-A1BB-F644-BA1C-37074C1395C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920757" y="2230030"/>
            <a:ext cx="457200" cy="457200"/>
          </a:xfrm>
          <a:prstGeom prst="rect">
            <a:avLst/>
          </a:prstGeom>
        </p:spPr>
      </p:pic>
      <p:sp>
        <p:nvSpPr>
          <p:cNvPr id="4" name="Slide Number Placeholder 3">
            <a:extLst>
              <a:ext uri="{FF2B5EF4-FFF2-40B4-BE49-F238E27FC236}">
                <a16:creationId xmlns:a16="http://schemas.microsoft.com/office/drawing/2014/main" id="{F290263D-32F4-1945-A486-0DFD805E2204}"/>
              </a:ext>
            </a:extLst>
          </p:cNvPr>
          <p:cNvSpPr>
            <a:spLocks noGrp="1"/>
          </p:cNvSpPr>
          <p:nvPr>
            <p:ph type="sldNum" sz="quarter" idx="12"/>
          </p:nvPr>
        </p:nvSpPr>
        <p:spPr/>
        <p:txBody>
          <a:bodyPr/>
          <a:lstStyle/>
          <a:p>
            <a:fld id="{31DE2C5B-556E-47B8-A792-024C2FCA4ACC}" type="slidenum">
              <a:rPr lang="en-GB" smtClean="0"/>
              <a:t>10</a:t>
            </a:fld>
            <a:endParaRPr lang="en-GB" dirty="0"/>
          </a:p>
        </p:txBody>
      </p:sp>
    </p:spTree>
    <p:extLst>
      <p:ext uri="{BB962C8B-B14F-4D97-AF65-F5344CB8AC3E}">
        <p14:creationId xmlns:p14="http://schemas.microsoft.com/office/powerpoint/2010/main" val="2200297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GIT workflow</a:t>
            </a:r>
          </a:p>
        </p:txBody>
      </p:sp>
      <p:pic>
        <p:nvPicPr>
          <p:cNvPr id="5" name="Graphic 4" descr="Database outline">
            <a:extLst>
              <a:ext uri="{FF2B5EF4-FFF2-40B4-BE49-F238E27FC236}">
                <a16:creationId xmlns:a16="http://schemas.microsoft.com/office/drawing/2014/main" id="{F477704F-4525-3B47-8262-A09C7A7019D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14044" y="2133895"/>
            <a:ext cx="1559010" cy="1559010"/>
          </a:xfrm>
          <a:prstGeom prst="rect">
            <a:avLst/>
          </a:prstGeom>
        </p:spPr>
      </p:pic>
      <p:sp>
        <p:nvSpPr>
          <p:cNvPr id="6" name="Rectangle 5">
            <a:extLst>
              <a:ext uri="{FF2B5EF4-FFF2-40B4-BE49-F238E27FC236}">
                <a16:creationId xmlns:a16="http://schemas.microsoft.com/office/drawing/2014/main" id="{E19AC1E0-99BD-5741-8FB1-AA29041B4370}"/>
              </a:ext>
            </a:extLst>
          </p:cNvPr>
          <p:cNvSpPr/>
          <p:nvPr/>
        </p:nvSpPr>
        <p:spPr>
          <a:xfrm>
            <a:off x="8924936" y="3780097"/>
            <a:ext cx="1337226" cy="369332"/>
          </a:xfrm>
          <a:prstGeom prst="rect">
            <a:avLst/>
          </a:prstGeom>
        </p:spPr>
        <p:txBody>
          <a:bodyPr wrap="none">
            <a:spAutoFit/>
          </a:bodyPr>
          <a:lstStyle/>
          <a:p>
            <a:r>
              <a:rPr lang="en-GB" b="1" dirty="0">
                <a:latin typeface="Aptos" panose="020B0004020202020204" pitchFamily="34" charset="0"/>
              </a:rPr>
              <a:t>Repository</a:t>
            </a:r>
            <a:endParaRPr lang="en-IT" b="1" dirty="0">
              <a:latin typeface="Aptos" panose="020B0004020202020204" pitchFamily="34" charset="0"/>
            </a:endParaRPr>
          </a:p>
        </p:txBody>
      </p:sp>
      <p:pic>
        <p:nvPicPr>
          <p:cNvPr id="9" name="Graphic 8" descr="Open folder outline">
            <a:extLst>
              <a:ext uri="{FF2B5EF4-FFF2-40B4-BE49-F238E27FC236}">
                <a16:creationId xmlns:a16="http://schemas.microsoft.com/office/drawing/2014/main" id="{C2354529-AC79-8F49-A2B7-E3876AFB904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67241" y="2210256"/>
            <a:ext cx="1406288" cy="1406288"/>
          </a:xfrm>
          <a:prstGeom prst="rect">
            <a:avLst/>
          </a:prstGeom>
        </p:spPr>
      </p:pic>
      <p:sp>
        <p:nvSpPr>
          <p:cNvPr id="10" name="Rectangle 9">
            <a:extLst>
              <a:ext uri="{FF2B5EF4-FFF2-40B4-BE49-F238E27FC236}">
                <a16:creationId xmlns:a16="http://schemas.microsoft.com/office/drawing/2014/main" id="{3D8B447F-8B3F-7D4E-B7D2-53D326F604D6}"/>
              </a:ext>
            </a:extLst>
          </p:cNvPr>
          <p:cNvSpPr/>
          <p:nvPr/>
        </p:nvSpPr>
        <p:spPr>
          <a:xfrm>
            <a:off x="1410626" y="3780097"/>
            <a:ext cx="2110386" cy="646331"/>
          </a:xfrm>
          <a:prstGeom prst="rect">
            <a:avLst/>
          </a:prstGeom>
        </p:spPr>
        <p:txBody>
          <a:bodyPr wrap="none">
            <a:spAutoFit/>
          </a:bodyPr>
          <a:lstStyle/>
          <a:p>
            <a:pPr algn="ctr"/>
            <a:r>
              <a:rPr lang="en-GB" b="1" dirty="0">
                <a:latin typeface="Aptos" panose="020B0004020202020204" pitchFamily="34" charset="0"/>
              </a:rPr>
              <a:t>Working directory</a:t>
            </a:r>
          </a:p>
          <a:p>
            <a:pPr algn="ctr"/>
            <a:r>
              <a:rPr lang="en-GB" dirty="0">
                <a:latin typeface="Aptos" panose="020B0004020202020204" pitchFamily="34" charset="0"/>
              </a:rPr>
              <a:t>(new version)</a:t>
            </a:r>
            <a:endParaRPr lang="en-IT" dirty="0">
              <a:latin typeface="Aptos" panose="020B0004020202020204" pitchFamily="34" charset="0"/>
            </a:endParaRPr>
          </a:p>
        </p:txBody>
      </p:sp>
      <p:sp>
        <p:nvSpPr>
          <p:cNvPr id="7" name="Content Placeholder 2">
            <a:extLst>
              <a:ext uri="{FF2B5EF4-FFF2-40B4-BE49-F238E27FC236}">
                <a16:creationId xmlns:a16="http://schemas.microsoft.com/office/drawing/2014/main" id="{98ACCC5A-053D-AE43-93C2-08C4A35F1392}"/>
              </a:ext>
            </a:extLst>
          </p:cNvPr>
          <p:cNvSpPr>
            <a:spLocks noGrp="1"/>
          </p:cNvSpPr>
          <p:nvPr>
            <p:ph idx="1"/>
          </p:nvPr>
        </p:nvSpPr>
        <p:spPr>
          <a:xfrm>
            <a:off x="267534" y="5585890"/>
            <a:ext cx="11368314" cy="1110184"/>
          </a:xfrm>
        </p:spPr>
        <p:txBody>
          <a:bodyPr>
            <a:normAutofit/>
          </a:bodyPr>
          <a:lstStyle/>
          <a:p>
            <a:r>
              <a:rPr lang="en-IT" b="1" dirty="0"/>
              <a:t>Step 2</a:t>
            </a:r>
            <a:r>
              <a:rPr lang="en-IT" dirty="0"/>
              <a:t>: make a commit! Making a commit is like taking a snapshot of the code as it is now. </a:t>
            </a:r>
          </a:p>
        </p:txBody>
      </p:sp>
      <p:pic>
        <p:nvPicPr>
          <p:cNvPr id="8" name="Graphic 7" descr="Badge Follow outline">
            <a:extLst>
              <a:ext uri="{FF2B5EF4-FFF2-40B4-BE49-F238E27FC236}">
                <a16:creationId xmlns:a16="http://schemas.microsoft.com/office/drawing/2014/main" id="{611C4AB8-2E4F-8E4B-B272-FE7CCAC82F3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185776" y="3206577"/>
            <a:ext cx="317290" cy="317290"/>
          </a:xfrm>
          <a:prstGeom prst="rect">
            <a:avLst/>
          </a:prstGeom>
        </p:spPr>
      </p:pic>
      <p:sp>
        <p:nvSpPr>
          <p:cNvPr id="3" name="Oval 2">
            <a:extLst>
              <a:ext uri="{FF2B5EF4-FFF2-40B4-BE49-F238E27FC236}">
                <a16:creationId xmlns:a16="http://schemas.microsoft.com/office/drawing/2014/main" id="{826625DA-769A-C44A-AA99-85DB3CD5D849}"/>
              </a:ext>
            </a:extLst>
          </p:cNvPr>
          <p:cNvSpPr/>
          <p:nvPr/>
        </p:nvSpPr>
        <p:spPr>
          <a:xfrm>
            <a:off x="4427186" y="1397989"/>
            <a:ext cx="3337628" cy="32052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p>
        </p:txBody>
      </p:sp>
      <p:sp>
        <p:nvSpPr>
          <p:cNvPr id="14" name="Rectangle 13">
            <a:extLst>
              <a:ext uri="{FF2B5EF4-FFF2-40B4-BE49-F238E27FC236}">
                <a16:creationId xmlns:a16="http://schemas.microsoft.com/office/drawing/2014/main" id="{F5D3B664-9545-8D43-BF70-B33F0BAC0170}"/>
              </a:ext>
            </a:extLst>
          </p:cNvPr>
          <p:cNvSpPr/>
          <p:nvPr/>
        </p:nvSpPr>
        <p:spPr>
          <a:xfrm>
            <a:off x="5369179" y="4794430"/>
            <a:ext cx="1486304" cy="369332"/>
          </a:xfrm>
          <a:prstGeom prst="rect">
            <a:avLst/>
          </a:prstGeom>
        </p:spPr>
        <p:txBody>
          <a:bodyPr wrap="none">
            <a:spAutoFit/>
          </a:bodyPr>
          <a:lstStyle/>
          <a:p>
            <a:pPr algn="ctr"/>
            <a:r>
              <a:rPr lang="en-GB" b="1" dirty="0">
                <a:latin typeface="Aptos" panose="020B0004020202020204" pitchFamily="34" charset="0"/>
              </a:rPr>
              <a:t>Staging area</a:t>
            </a:r>
          </a:p>
        </p:txBody>
      </p:sp>
      <p:cxnSp>
        <p:nvCxnSpPr>
          <p:cNvPr id="11" name="Straight Arrow Connector 10">
            <a:extLst>
              <a:ext uri="{FF2B5EF4-FFF2-40B4-BE49-F238E27FC236}">
                <a16:creationId xmlns:a16="http://schemas.microsoft.com/office/drawing/2014/main" id="{26710B5F-0159-FC40-8122-13A1BE3758A7}"/>
              </a:ext>
            </a:extLst>
          </p:cNvPr>
          <p:cNvCxnSpPr>
            <a:cxnSpLocks/>
            <a:stCxn id="3" idx="6"/>
          </p:cNvCxnSpPr>
          <p:nvPr/>
        </p:nvCxnSpPr>
        <p:spPr>
          <a:xfrm>
            <a:off x="7764814" y="3000633"/>
            <a:ext cx="1253659" cy="2862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C1947D56-42E9-C942-8C8E-84EA6C162AFB}"/>
              </a:ext>
            </a:extLst>
          </p:cNvPr>
          <p:cNvSpPr/>
          <p:nvPr/>
        </p:nvSpPr>
        <p:spPr>
          <a:xfrm>
            <a:off x="7730297" y="3337408"/>
            <a:ext cx="1229157" cy="369332"/>
          </a:xfrm>
          <a:prstGeom prst="rect">
            <a:avLst/>
          </a:prstGeom>
        </p:spPr>
        <p:txBody>
          <a:bodyPr wrap="square">
            <a:spAutoFit/>
          </a:bodyPr>
          <a:lstStyle/>
          <a:p>
            <a:pPr algn="ctr"/>
            <a:r>
              <a:rPr lang="en-GB" b="1" dirty="0">
                <a:latin typeface="Aptos" panose="020B0004020202020204" pitchFamily="34" charset="0"/>
              </a:rPr>
              <a:t>Commit </a:t>
            </a:r>
          </a:p>
        </p:txBody>
      </p:sp>
      <p:pic>
        <p:nvPicPr>
          <p:cNvPr id="15" name="Graphic 14" descr="Badge Follow outline">
            <a:extLst>
              <a:ext uri="{FF2B5EF4-FFF2-40B4-BE49-F238E27FC236}">
                <a16:creationId xmlns:a16="http://schemas.microsoft.com/office/drawing/2014/main" id="{A78AD276-BEE7-124F-86BD-818C38B8B4D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307174" y="2883076"/>
            <a:ext cx="317290" cy="317290"/>
          </a:xfrm>
          <a:prstGeom prst="rect">
            <a:avLst/>
          </a:prstGeom>
        </p:spPr>
      </p:pic>
      <p:sp>
        <p:nvSpPr>
          <p:cNvPr id="4" name="Slide Number Placeholder 3">
            <a:extLst>
              <a:ext uri="{FF2B5EF4-FFF2-40B4-BE49-F238E27FC236}">
                <a16:creationId xmlns:a16="http://schemas.microsoft.com/office/drawing/2014/main" id="{014A9486-2D00-8044-A283-147F7263E73E}"/>
              </a:ext>
            </a:extLst>
          </p:cNvPr>
          <p:cNvSpPr>
            <a:spLocks noGrp="1"/>
          </p:cNvSpPr>
          <p:nvPr>
            <p:ph type="sldNum" sz="quarter" idx="12"/>
          </p:nvPr>
        </p:nvSpPr>
        <p:spPr/>
        <p:txBody>
          <a:bodyPr/>
          <a:lstStyle/>
          <a:p>
            <a:fld id="{31DE2C5B-556E-47B8-A792-024C2FCA4ACC}" type="slidenum">
              <a:rPr lang="en-GB" smtClean="0"/>
              <a:t>11</a:t>
            </a:fld>
            <a:endParaRPr lang="en-GB" dirty="0"/>
          </a:p>
        </p:txBody>
      </p:sp>
    </p:spTree>
    <p:extLst>
      <p:ext uri="{BB962C8B-B14F-4D97-AF65-F5344CB8AC3E}">
        <p14:creationId xmlns:p14="http://schemas.microsoft.com/office/powerpoint/2010/main" val="3039793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GIT workflow</a:t>
            </a:r>
          </a:p>
        </p:txBody>
      </p:sp>
      <p:pic>
        <p:nvPicPr>
          <p:cNvPr id="5" name="Graphic 4" descr="Database outline">
            <a:extLst>
              <a:ext uri="{FF2B5EF4-FFF2-40B4-BE49-F238E27FC236}">
                <a16:creationId xmlns:a16="http://schemas.microsoft.com/office/drawing/2014/main" id="{F477704F-4525-3B47-8262-A09C7A7019D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14044" y="2133895"/>
            <a:ext cx="1559010" cy="1559010"/>
          </a:xfrm>
          <a:prstGeom prst="rect">
            <a:avLst/>
          </a:prstGeom>
        </p:spPr>
      </p:pic>
      <p:sp>
        <p:nvSpPr>
          <p:cNvPr id="6" name="Rectangle 5">
            <a:extLst>
              <a:ext uri="{FF2B5EF4-FFF2-40B4-BE49-F238E27FC236}">
                <a16:creationId xmlns:a16="http://schemas.microsoft.com/office/drawing/2014/main" id="{E19AC1E0-99BD-5741-8FB1-AA29041B4370}"/>
              </a:ext>
            </a:extLst>
          </p:cNvPr>
          <p:cNvSpPr/>
          <p:nvPr/>
        </p:nvSpPr>
        <p:spPr>
          <a:xfrm>
            <a:off x="8924936" y="3780097"/>
            <a:ext cx="1337226" cy="369332"/>
          </a:xfrm>
          <a:prstGeom prst="rect">
            <a:avLst/>
          </a:prstGeom>
        </p:spPr>
        <p:txBody>
          <a:bodyPr wrap="none">
            <a:spAutoFit/>
          </a:bodyPr>
          <a:lstStyle/>
          <a:p>
            <a:r>
              <a:rPr lang="en-GB" b="1" dirty="0">
                <a:latin typeface="Aptos" panose="020B0004020202020204" pitchFamily="34" charset="0"/>
              </a:rPr>
              <a:t>Repository</a:t>
            </a:r>
            <a:endParaRPr lang="en-IT" b="1" dirty="0">
              <a:latin typeface="Aptos" panose="020B0004020202020204" pitchFamily="34" charset="0"/>
            </a:endParaRPr>
          </a:p>
        </p:txBody>
      </p:sp>
      <p:pic>
        <p:nvPicPr>
          <p:cNvPr id="9" name="Graphic 8" descr="Open folder outline">
            <a:extLst>
              <a:ext uri="{FF2B5EF4-FFF2-40B4-BE49-F238E27FC236}">
                <a16:creationId xmlns:a16="http://schemas.microsoft.com/office/drawing/2014/main" id="{C2354529-AC79-8F49-A2B7-E3876AFB904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67241" y="2210256"/>
            <a:ext cx="1406288" cy="1406288"/>
          </a:xfrm>
          <a:prstGeom prst="rect">
            <a:avLst/>
          </a:prstGeom>
        </p:spPr>
      </p:pic>
      <p:sp>
        <p:nvSpPr>
          <p:cNvPr id="10" name="Rectangle 9">
            <a:extLst>
              <a:ext uri="{FF2B5EF4-FFF2-40B4-BE49-F238E27FC236}">
                <a16:creationId xmlns:a16="http://schemas.microsoft.com/office/drawing/2014/main" id="{3D8B447F-8B3F-7D4E-B7D2-53D326F604D6}"/>
              </a:ext>
            </a:extLst>
          </p:cNvPr>
          <p:cNvSpPr/>
          <p:nvPr/>
        </p:nvSpPr>
        <p:spPr>
          <a:xfrm>
            <a:off x="1410626" y="3780097"/>
            <a:ext cx="2110386" cy="646331"/>
          </a:xfrm>
          <a:prstGeom prst="rect">
            <a:avLst/>
          </a:prstGeom>
        </p:spPr>
        <p:txBody>
          <a:bodyPr wrap="none">
            <a:spAutoFit/>
          </a:bodyPr>
          <a:lstStyle/>
          <a:p>
            <a:pPr algn="ctr"/>
            <a:r>
              <a:rPr lang="en-GB" b="1" dirty="0">
                <a:latin typeface="Aptos" panose="020B0004020202020204" pitchFamily="34" charset="0"/>
              </a:rPr>
              <a:t>Working directory</a:t>
            </a:r>
          </a:p>
          <a:p>
            <a:pPr algn="ctr"/>
            <a:r>
              <a:rPr lang="en-GB" dirty="0">
                <a:latin typeface="Aptos" panose="020B0004020202020204" pitchFamily="34" charset="0"/>
              </a:rPr>
              <a:t>(new version)</a:t>
            </a:r>
            <a:endParaRPr lang="en-IT" dirty="0">
              <a:latin typeface="Aptos" panose="020B0004020202020204" pitchFamily="34" charset="0"/>
            </a:endParaRPr>
          </a:p>
        </p:txBody>
      </p:sp>
      <p:sp>
        <p:nvSpPr>
          <p:cNvPr id="7" name="Content Placeholder 2">
            <a:extLst>
              <a:ext uri="{FF2B5EF4-FFF2-40B4-BE49-F238E27FC236}">
                <a16:creationId xmlns:a16="http://schemas.microsoft.com/office/drawing/2014/main" id="{98ACCC5A-053D-AE43-93C2-08C4A35F1392}"/>
              </a:ext>
            </a:extLst>
          </p:cNvPr>
          <p:cNvSpPr>
            <a:spLocks noGrp="1"/>
          </p:cNvSpPr>
          <p:nvPr>
            <p:ph idx="1"/>
          </p:nvPr>
        </p:nvSpPr>
        <p:spPr>
          <a:xfrm>
            <a:off x="267534" y="5585890"/>
            <a:ext cx="11368314" cy="1110184"/>
          </a:xfrm>
        </p:spPr>
        <p:txBody>
          <a:bodyPr>
            <a:normAutofit/>
          </a:bodyPr>
          <a:lstStyle/>
          <a:p>
            <a:r>
              <a:rPr lang="en-IT" dirty="0"/>
              <a:t>This frees the staging area and creates a new code version, which now </a:t>
            </a:r>
            <a:br>
              <a:rPr lang="en-IT" dirty="0"/>
            </a:br>
            <a:r>
              <a:rPr lang="en-IT" dirty="0"/>
              <a:t>includes     .</a:t>
            </a:r>
          </a:p>
        </p:txBody>
      </p:sp>
      <p:pic>
        <p:nvPicPr>
          <p:cNvPr id="8" name="Graphic 7" descr="Badge Follow outline">
            <a:extLst>
              <a:ext uri="{FF2B5EF4-FFF2-40B4-BE49-F238E27FC236}">
                <a16:creationId xmlns:a16="http://schemas.microsoft.com/office/drawing/2014/main" id="{611C4AB8-2E4F-8E4B-B272-FE7CCAC82F3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185776" y="3206577"/>
            <a:ext cx="317290" cy="317290"/>
          </a:xfrm>
          <a:prstGeom prst="rect">
            <a:avLst/>
          </a:prstGeom>
        </p:spPr>
      </p:pic>
      <p:sp>
        <p:nvSpPr>
          <p:cNvPr id="3" name="Oval 2">
            <a:extLst>
              <a:ext uri="{FF2B5EF4-FFF2-40B4-BE49-F238E27FC236}">
                <a16:creationId xmlns:a16="http://schemas.microsoft.com/office/drawing/2014/main" id="{826625DA-769A-C44A-AA99-85DB3CD5D849}"/>
              </a:ext>
            </a:extLst>
          </p:cNvPr>
          <p:cNvSpPr/>
          <p:nvPr/>
        </p:nvSpPr>
        <p:spPr>
          <a:xfrm>
            <a:off x="4427186" y="1397989"/>
            <a:ext cx="3337628" cy="320528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T">
              <a:latin typeface="Aptos" panose="020B0004020202020204" pitchFamily="34" charset="0"/>
            </a:endParaRPr>
          </a:p>
        </p:txBody>
      </p:sp>
      <p:sp>
        <p:nvSpPr>
          <p:cNvPr id="14" name="Rectangle 13">
            <a:extLst>
              <a:ext uri="{FF2B5EF4-FFF2-40B4-BE49-F238E27FC236}">
                <a16:creationId xmlns:a16="http://schemas.microsoft.com/office/drawing/2014/main" id="{F5D3B664-9545-8D43-BF70-B33F0BAC0170}"/>
              </a:ext>
            </a:extLst>
          </p:cNvPr>
          <p:cNvSpPr/>
          <p:nvPr/>
        </p:nvSpPr>
        <p:spPr>
          <a:xfrm>
            <a:off x="5369179" y="4794430"/>
            <a:ext cx="1486304" cy="369332"/>
          </a:xfrm>
          <a:prstGeom prst="rect">
            <a:avLst/>
          </a:prstGeom>
        </p:spPr>
        <p:txBody>
          <a:bodyPr wrap="none">
            <a:spAutoFit/>
          </a:bodyPr>
          <a:lstStyle/>
          <a:p>
            <a:pPr algn="ctr"/>
            <a:r>
              <a:rPr lang="en-GB" b="1" dirty="0">
                <a:latin typeface="Aptos" panose="020B0004020202020204" pitchFamily="34" charset="0"/>
              </a:rPr>
              <a:t>Staging area</a:t>
            </a:r>
          </a:p>
        </p:txBody>
      </p:sp>
      <p:pic>
        <p:nvPicPr>
          <p:cNvPr id="15" name="Graphic 14" descr="Badge Follow outline">
            <a:extLst>
              <a:ext uri="{FF2B5EF4-FFF2-40B4-BE49-F238E27FC236}">
                <a16:creationId xmlns:a16="http://schemas.microsoft.com/office/drawing/2014/main" id="{3FBB0FA0-CD76-F94A-A1DA-418BD6EC30D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02710" y="5982337"/>
            <a:ext cx="317290" cy="317290"/>
          </a:xfrm>
          <a:prstGeom prst="rect">
            <a:avLst/>
          </a:prstGeom>
        </p:spPr>
      </p:pic>
      <p:pic>
        <p:nvPicPr>
          <p:cNvPr id="12" name="Graphic 11" descr="Badge Follow outline">
            <a:extLst>
              <a:ext uri="{FF2B5EF4-FFF2-40B4-BE49-F238E27FC236}">
                <a16:creationId xmlns:a16="http://schemas.microsoft.com/office/drawing/2014/main" id="{AA81D9DF-9959-BA44-9991-14F115D69ED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307174" y="2879870"/>
            <a:ext cx="317290" cy="317290"/>
          </a:xfrm>
          <a:prstGeom prst="rect">
            <a:avLst/>
          </a:prstGeom>
        </p:spPr>
      </p:pic>
      <p:sp>
        <p:nvSpPr>
          <p:cNvPr id="4" name="Slide Number Placeholder 3">
            <a:extLst>
              <a:ext uri="{FF2B5EF4-FFF2-40B4-BE49-F238E27FC236}">
                <a16:creationId xmlns:a16="http://schemas.microsoft.com/office/drawing/2014/main" id="{27F28E2F-B71E-3E45-B951-9596BBD92317}"/>
              </a:ext>
            </a:extLst>
          </p:cNvPr>
          <p:cNvSpPr>
            <a:spLocks noGrp="1"/>
          </p:cNvSpPr>
          <p:nvPr>
            <p:ph type="sldNum" sz="quarter" idx="12"/>
          </p:nvPr>
        </p:nvSpPr>
        <p:spPr/>
        <p:txBody>
          <a:bodyPr/>
          <a:lstStyle/>
          <a:p>
            <a:fld id="{31DE2C5B-556E-47B8-A792-024C2FCA4ACC}" type="slidenum">
              <a:rPr lang="en-GB" smtClean="0"/>
              <a:t>12</a:t>
            </a:fld>
            <a:endParaRPr lang="en-GB" dirty="0"/>
          </a:p>
        </p:txBody>
      </p:sp>
    </p:spTree>
    <p:extLst>
      <p:ext uri="{BB962C8B-B14F-4D97-AF65-F5344CB8AC3E}">
        <p14:creationId xmlns:p14="http://schemas.microsoft.com/office/powerpoint/2010/main" val="4138205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p:txBody>
          <a:bodyPr>
            <a:normAutofit/>
          </a:bodyPr>
          <a:lstStyle/>
          <a:p>
            <a:r>
              <a:rPr lang="en-GB" dirty="0">
                <a:solidFill>
                  <a:schemeClr val="bg1">
                    <a:lumMod val="75000"/>
                  </a:schemeClr>
                </a:solidFill>
              </a:rPr>
              <a:t>Version Control Systems &amp; GIT</a:t>
            </a:r>
            <a:endParaRPr lang="en-IT" dirty="0">
              <a:solidFill>
                <a:schemeClr val="bg1">
                  <a:lumMod val="75000"/>
                </a:schemeClr>
              </a:solidFill>
            </a:endParaRPr>
          </a:p>
          <a:p>
            <a:r>
              <a:rPr lang="en-IT" b="1" dirty="0"/>
              <a:t>Playing with GIT</a:t>
            </a:r>
          </a:p>
          <a:p>
            <a:r>
              <a:rPr lang="en-IT" dirty="0">
                <a:solidFill>
                  <a:schemeClr val="bg1">
                    <a:lumMod val="75000"/>
                  </a:schemeClr>
                </a:solidFill>
              </a:rPr>
              <a:t>The working tree</a:t>
            </a:r>
          </a:p>
          <a:p>
            <a:r>
              <a:rPr lang="en-IT" dirty="0">
                <a:solidFill>
                  <a:schemeClr val="bg1">
                    <a:lumMod val="75000"/>
                  </a:schemeClr>
                </a:solidFill>
              </a:rPr>
              <a:t>Remote repositories and best practices</a:t>
            </a:r>
          </a:p>
          <a:p>
            <a:pPr marL="0" indent="0">
              <a:buNone/>
            </a:pPr>
            <a:endParaRPr lang="en-IT" dirty="0">
              <a:solidFill>
                <a:schemeClr val="bg1">
                  <a:lumMod val="75000"/>
                </a:schemeClr>
              </a:solidFill>
            </a:endParaRPr>
          </a:p>
          <a:p>
            <a:r>
              <a:rPr lang="en-IT" dirty="0">
                <a:solidFill>
                  <a:schemeClr val="bg1">
                    <a:lumMod val="75000"/>
                  </a:schemeClr>
                </a:solidFill>
              </a:rPr>
              <a:t>Homework</a:t>
            </a:r>
          </a:p>
          <a:p>
            <a:r>
              <a:rPr lang="en-IT" dirty="0">
                <a:solidFill>
                  <a:schemeClr val="bg1">
                    <a:lumMod val="75000"/>
                  </a:schemeClr>
                </a:solidFill>
              </a:rPr>
              <a:t>Resources</a:t>
            </a:r>
          </a:p>
          <a:p>
            <a:pPr marL="0" indent="0">
              <a:buNone/>
            </a:pPr>
            <a:endParaRPr lang="en-IT" dirty="0">
              <a:solidFill>
                <a:schemeClr val="bg1">
                  <a:lumMod val="75000"/>
                </a:schemeClr>
              </a:solidFill>
            </a:endParaRPr>
          </a:p>
        </p:txBody>
      </p:sp>
      <p:sp>
        <p:nvSpPr>
          <p:cNvPr id="4" name="Slide Number Placeholder 3">
            <a:extLst>
              <a:ext uri="{FF2B5EF4-FFF2-40B4-BE49-F238E27FC236}">
                <a16:creationId xmlns:a16="http://schemas.microsoft.com/office/drawing/2014/main" id="{D5ABCD62-9F8C-6D43-BF24-0CA1C53F044D}"/>
              </a:ext>
            </a:extLst>
          </p:cNvPr>
          <p:cNvSpPr>
            <a:spLocks noGrp="1"/>
          </p:cNvSpPr>
          <p:nvPr>
            <p:ph type="sldNum" sz="quarter" idx="12"/>
          </p:nvPr>
        </p:nvSpPr>
        <p:spPr/>
        <p:txBody>
          <a:bodyPr/>
          <a:lstStyle/>
          <a:p>
            <a:fld id="{31DE2C5B-556E-47B8-A792-024C2FCA4ACC}" type="slidenum">
              <a:rPr lang="en-GB" smtClean="0"/>
              <a:t>13</a:t>
            </a:fld>
            <a:endParaRPr lang="en-GB" dirty="0"/>
          </a:p>
        </p:txBody>
      </p:sp>
    </p:spTree>
    <p:extLst>
      <p:ext uri="{BB962C8B-B14F-4D97-AF65-F5344CB8AC3E}">
        <p14:creationId xmlns:p14="http://schemas.microsoft.com/office/powerpoint/2010/main" val="2307854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Getting started – Our case of study</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1368314" cy="5334907"/>
          </a:xfrm>
        </p:spPr>
        <p:txBody>
          <a:bodyPr>
            <a:normAutofit/>
          </a:bodyPr>
          <a:lstStyle/>
          <a:p>
            <a:r>
              <a:rPr lang="en-IT" dirty="0"/>
              <a:t>To get familiar with GIT and learn its functionalities we will start with a simple case of study consisting of several steps:</a:t>
            </a:r>
          </a:p>
          <a:p>
            <a:endParaRPr lang="en-IT" dirty="0"/>
          </a:p>
          <a:p>
            <a:pPr marL="914400" lvl="1" indent="-457200">
              <a:buFont typeface="+mj-lt"/>
              <a:buAutoNum type="arabicPeriod"/>
            </a:pPr>
            <a:r>
              <a:rPr lang="en-IT" dirty="0"/>
              <a:t>Create a new project folder with a .txt file inside</a:t>
            </a:r>
          </a:p>
          <a:p>
            <a:pPr marL="914400" lvl="1" indent="-457200">
              <a:buFont typeface="+mj-lt"/>
              <a:buAutoNum type="arabicPeriod"/>
            </a:pPr>
            <a:endParaRPr lang="en-IT" dirty="0"/>
          </a:p>
          <a:p>
            <a:pPr marL="914400" lvl="1" indent="-457200">
              <a:buFont typeface="+mj-lt"/>
              <a:buAutoNum type="arabicPeriod"/>
            </a:pPr>
            <a:r>
              <a:rPr lang="en-IT" dirty="0"/>
              <a:t>Create a new repository</a:t>
            </a:r>
          </a:p>
          <a:p>
            <a:pPr marL="914400" lvl="1" indent="-457200">
              <a:buFont typeface="+mj-lt"/>
              <a:buAutoNum type="arabicPeriod"/>
            </a:pPr>
            <a:endParaRPr lang="en-IT" dirty="0"/>
          </a:p>
          <a:p>
            <a:pPr marL="914400" lvl="1" indent="-457200">
              <a:buFont typeface="+mj-lt"/>
              <a:buAutoNum type="arabicPeriod"/>
            </a:pPr>
            <a:r>
              <a:rPr lang="en-IT" dirty="0"/>
              <a:t>Track file history</a:t>
            </a:r>
          </a:p>
          <a:p>
            <a:pPr marL="914400" lvl="1" indent="-457200">
              <a:buFont typeface="+mj-lt"/>
              <a:buAutoNum type="arabicPeriod"/>
            </a:pPr>
            <a:endParaRPr lang="en-IT" dirty="0"/>
          </a:p>
          <a:p>
            <a:pPr marL="914400" lvl="1" indent="-457200">
              <a:buFont typeface="+mj-lt"/>
              <a:buAutoNum type="arabicPeriod"/>
            </a:pPr>
            <a:r>
              <a:rPr lang="en-IT" dirty="0"/>
              <a:t>Commit file in the repository</a:t>
            </a:r>
          </a:p>
          <a:p>
            <a:pPr marL="914400" lvl="1" indent="-457200">
              <a:buFont typeface="+mj-lt"/>
              <a:buAutoNum type="arabicPeriod"/>
            </a:pPr>
            <a:endParaRPr lang="en-IT" dirty="0"/>
          </a:p>
          <a:p>
            <a:pPr marL="914400" lvl="1" indent="-457200">
              <a:buFont typeface="+mj-lt"/>
              <a:buAutoNum type="arabicPeriod"/>
            </a:pPr>
            <a:r>
              <a:rPr lang="en-IT" dirty="0"/>
              <a:t>Check the (new) repository history</a:t>
            </a:r>
          </a:p>
          <a:p>
            <a:pPr marL="914400" lvl="1" indent="-457200">
              <a:buFont typeface="+mj-lt"/>
              <a:buAutoNum type="arabicPeriod"/>
            </a:pPr>
            <a:endParaRPr lang="en-IT" dirty="0"/>
          </a:p>
          <a:p>
            <a:pPr marL="914400" lvl="1" indent="-457200">
              <a:buFont typeface="+mj-lt"/>
              <a:buAutoNum type="arabicPeriod"/>
            </a:pPr>
            <a:r>
              <a:rPr lang="en-IT" dirty="0"/>
              <a:t>Make, check, and commit modifications</a:t>
            </a:r>
          </a:p>
          <a:p>
            <a:endParaRPr lang="en-IT" dirty="0"/>
          </a:p>
          <a:p>
            <a:endParaRPr lang="en-IT" dirty="0"/>
          </a:p>
        </p:txBody>
      </p:sp>
      <p:sp>
        <p:nvSpPr>
          <p:cNvPr id="4" name="Slide Number Placeholder 3">
            <a:extLst>
              <a:ext uri="{FF2B5EF4-FFF2-40B4-BE49-F238E27FC236}">
                <a16:creationId xmlns:a16="http://schemas.microsoft.com/office/drawing/2014/main" id="{886242CA-A024-8247-91B5-68FF0F671958}"/>
              </a:ext>
            </a:extLst>
          </p:cNvPr>
          <p:cNvSpPr>
            <a:spLocks noGrp="1"/>
          </p:cNvSpPr>
          <p:nvPr>
            <p:ph type="sldNum" sz="quarter" idx="12"/>
          </p:nvPr>
        </p:nvSpPr>
        <p:spPr/>
        <p:txBody>
          <a:bodyPr/>
          <a:lstStyle/>
          <a:p>
            <a:fld id="{31DE2C5B-556E-47B8-A792-024C2FCA4ACC}" type="slidenum">
              <a:rPr lang="en-GB" smtClean="0"/>
              <a:t>14</a:t>
            </a:fld>
            <a:endParaRPr lang="en-GB" dirty="0"/>
          </a:p>
        </p:txBody>
      </p:sp>
    </p:spTree>
    <p:extLst>
      <p:ext uri="{BB962C8B-B14F-4D97-AF65-F5344CB8AC3E}">
        <p14:creationId xmlns:p14="http://schemas.microsoft.com/office/powerpoint/2010/main" val="5853920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Step 1: Create folder and file </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p:txBody>
          <a:bodyPr/>
          <a:lstStyle/>
          <a:p>
            <a:r>
              <a:rPr lang="en-IT" dirty="0"/>
              <a:t>Open the terminal</a:t>
            </a:r>
          </a:p>
          <a:p>
            <a:endParaRPr lang="en-IT" dirty="0"/>
          </a:p>
          <a:p>
            <a:r>
              <a:rPr lang="en-IT" dirty="0"/>
              <a:t>Create a directory wherever you want named “</a:t>
            </a:r>
            <a:r>
              <a:rPr lang="en-IT" dirty="0">
                <a:latin typeface="Courier" pitchFamily="2" charset="0"/>
              </a:rPr>
              <a:t>git-test</a:t>
            </a:r>
            <a:r>
              <a:rPr lang="en-IT" dirty="0"/>
              <a:t>” and move inside it</a:t>
            </a:r>
          </a:p>
          <a:p>
            <a:endParaRPr lang="en-IT" dirty="0"/>
          </a:p>
          <a:p>
            <a:pPr marL="457200" lvl="1" indent="0">
              <a:buNone/>
            </a:pPr>
            <a:r>
              <a:rPr lang="en-IT" dirty="0">
                <a:latin typeface="Courier" pitchFamily="2" charset="0"/>
              </a:rPr>
              <a:t>&gt;&gt; </a:t>
            </a:r>
            <a:r>
              <a:rPr lang="en-GB" dirty="0">
                <a:latin typeface="Courier" pitchFamily="2" charset="0"/>
              </a:rPr>
              <a:t>mkdir git-test &amp;&amp; cd git-test</a:t>
            </a:r>
          </a:p>
          <a:p>
            <a:pPr marL="457200" lvl="1" indent="0">
              <a:buNone/>
            </a:pPr>
            <a:endParaRPr lang="en-IT" dirty="0"/>
          </a:p>
          <a:p>
            <a:r>
              <a:rPr lang="en-IT" dirty="0"/>
              <a:t>Open some text editor and create a file named “</a:t>
            </a:r>
            <a:r>
              <a:rPr lang="en-IT" dirty="0">
                <a:latin typeface="Courier" pitchFamily="2" charset="0"/>
              </a:rPr>
              <a:t>text.txt</a:t>
            </a:r>
            <a:r>
              <a:rPr lang="en-IT" dirty="0"/>
              <a:t>” containing the following text</a:t>
            </a:r>
            <a:br>
              <a:rPr lang="en-IT" dirty="0"/>
            </a:br>
            <a:br>
              <a:rPr lang="en-IT" dirty="0"/>
            </a:br>
            <a:r>
              <a:rPr lang="en-IT" dirty="0">
                <a:latin typeface="Courier" pitchFamily="2" charset="0"/>
              </a:rPr>
              <a:t>hello world</a:t>
            </a:r>
          </a:p>
          <a:p>
            <a:endParaRPr lang="en-IT" dirty="0"/>
          </a:p>
          <a:p>
            <a:r>
              <a:rPr lang="en-IT" dirty="0"/>
              <a:t>Save </a:t>
            </a:r>
            <a:r>
              <a:rPr lang="en-IT" dirty="0">
                <a:latin typeface="Courier" pitchFamily="2" charset="0"/>
              </a:rPr>
              <a:t>text.txt</a:t>
            </a:r>
            <a:r>
              <a:rPr lang="en-IT" dirty="0"/>
              <a:t>. Now we are ready to play with GIT.</a:t>
            </a:r>
          </a:p>
        </p:txBody>
      </p:sp>
      <p:sp>
        <p:nvSpPr>
          <p:cNvPr id="4" name="Slide Number Placeholder 3">
            <a:extLst>
              <a:ext uri="{FF2B5EF4-FFF2-40B4-BE49-F238E27FC236}">
                <a16:creationId xmlns:a16="http://schemas.microsoft.com/office/drawing/2014/main" id="{D95DC371-39A0-1C49-AB41-E6D1A4890518}"/>
              </a:ext>
            </a:extLst>
          </p:cNvPr>
          <p:cNvSpPr>
            <a:spLocks noGrp="1"/>
          </p:cNvSpPr>
          <p:nvPr>
            <p:ph type="sldNum" sz="quarter" idx="12"/>
          </p:nvPr>
        </p:nvSpPr>
        <p:spPr/>
        <p:txBody>
          <a:bodyPr/>
          <a:lstStyle/>
          <a:p>
            <a:fld id="{31DE2C5B-556E-47B8-A792-024C2FCA4ACC}" type="slidenum">
              <a:rPr lang="en-GB" smtClean="0"/>
              <a:t>15</a:t>
            </a:fld>
            <a:endParaRPr lang="en-GB" dirty="0"/>
          </a:p>
        </p:txBody>
      </p:sp>
    </p:spTree>
    <p:extLst>
      <p:ext uri="{BB962C8B-B14F-4D97-AF65-F5344CB8AC3E}">
        <p14:creationId xmlns:p14="http://schemas.microsoft.com/office/powerpoint/2010/main" val="3503565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Step 2: Create a new repository</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p:txBody>
          <a:bodyPr/>
          <a:lstStyle/>
          <a:p>
            <a:r>
              <a:rPr lang="en-US" dirty="0"/>
              <a:t>To create a repository of our project folder, simply write (be sure to be inside “</a:t>
            </a:r>
            <a:r>
              <a:rPr lang="en-US" dirty="0">
                <a:latin typeface="Courier" pitchFamily="2" charset="0"/>
              </a:rPr>
              <a:t>git-test</a:t>
            </a:r>
            <a:r>
              <a:rPr lang="en-US" dirty="0"/>
              <a:t>”:</a:t>
            </a:r>
            <a:br>
              <a:rPr lang="en-US" dirty="0"/>
            </a:br>
            <a:br>
              <a:rPr lang="en-US" dirty="0"/>
            </a:br>
            <a:r>
              <a:rPr lang="en-IT" dirty="0">
                <a:latin typeface="Courier" pitchFamily="2" charset="0"/>
              </a:rPr>
              <a:t>&gt;&gt; </a:t>
            </a:r>
            <a:r>
              <a:rPr lang="en-US" dirty="0">
                <a:latin typeface="Courier" pitchFamily="2" charset="0"/>
              </a:rPr>
              <a:t>git </a:t>
            </a:r>
            <a:r>
              <a:rPr lang="en-US" dirty="0" err="1">
                <a:latin typeface="Courier" pitchFamily="2" charset="0"/>
              </a:rPr>
              <a:t>init</a:t>
            </a:r>
            <a:endParaRPr lang="en-US" dirty="0">
              <a:latin typeface="Courier" pitchFamily="2" charset="0"/>
            </a:endParaRPr>
          </a:p>
          <a:p>
            <a:endParaRPr lang="en-IT" dirty="0"/>
          </a:p>
          <a:p>
            <a:r>
              <a:rPr lang="en-IT" dirty="0"/>
              <a:t>A new hidden folder called “</a:t>
            </a:r>
            <a:r>
              <a:rPr lang="en-IT" dirty="0">
                <a:latin typeface="Courier" pitchFamily="2" charset="0"/>
              </a:rPr>
              <a:t>.git</a:t>
            </a:r>
            <a:r>
              <a:rPr lang="en-IT" dirty="0"/>
              <a:t>”, will be created</a:t>
            </a:r>
          </a:p>
          <a:p>
            <a:r>
              <a:rPr lang="en-IT" dirty="0"/>
              <a:t>Now let’s check what we have done using the “</a:t>
            </a:r>
            <a:r>
              <a:rPr lang="en-IT" dirty="0">
                <a:latin typeface="Courier" pitchFamily="2" charset="0"/>
              </a:rPr>
              <a:t>git status</a:t>
            </a:r>
            <a:r>
              <a:rPr lang="en-IT" dirty="0"/>
              <a:t>” command</a:t>
            </a:r>
          </a:p>
          <a:p>
            <a:endParaRPr lang="en-IT" dirty="0"/>
          </a:p>
        </p:txBody>
      </p:sp>
      <p:pic>
        <p:nvPicPr>
          <p:cNvPr id="5" name="Picture 4" descr="A screenshot of a computer&#10;&#10;Description automatically generated with medium confidence">
            <a:extLst>
              <a:ext uri="{FF2B5EF4-FFF2-40B4-BE49-F238E27FC236}">
                <a16:creationId xmlns:a16="http://schemas.microsoft.com/office/drawing/2014/main" id="{B243C32D-702C-8849-A9B0-C62051E1B9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9823" y="4305143"/>
            <a:ext cx="6945012" cy="2383380"/>
          </a:xfrm>
          <a:prstGeom prst="rect">
            <a:avLst/>
          </a:prstGeom>
        </p:spPr>
      </p:pic>
      <p:sp>
        <p:nvSpPr>
          <p:cNvPr id="4" name="Slide Number Placeholder 3">
            <a:extLst>
              <a:ext uri="{FF2B5EF4-FFF2-40B4-BE49-F238E27FC236}">
                <a16:creationId xmlns:a16="http://schemas.microsoft.com/office/drawing/2014/main" id="{E6817BDA-15C4-4B40-88F5-C72704629FC1}"/>
              </a:ext>
            </a:extLst>
          </p:cNvPr>
          <p:cNvSpPr>
            <a:spLocks noGrp="1"/>
          </p:cNvSpPr>
          <p:nvPr>
            <p:ph type="sldNum" sz="quarter" idx="12"/>
          </p:nvPr>
        </p:nvSpPr>
        <p:spPr/>
        <p:txBody>
          <a:bodyPr/>
          <a:lstStyle/>
          <a:p>
            <a:fld id="{31DE2C5B-556E-47B8-A792-024C2FCA4ACC}" type="slidenum">
              <a:rPr lang="en-GB" smtClean="0"/>
              <a:t>16</a:t>
            </a:fld>
            <a:endParaRPr lang="en-GB" dirty="0"/>
          </a:p>
        </p:txBody>
      </p:sp>
    </p:spTree>
    <p:extLst>
      <p:ext uri="{BB962C8B-B14F-4D97-AF65-F5344CB8AC3E}">
        <p14:creationId xmlns:p14="http://schemas.microsoft.com/office/powerpoint/2010/main" val="556618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Step 3: Track the file history</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1368314" cy="5334907"/>
          </a:xfrm>
        </p:spPr>
        <p:txBody>
          <a:bodyPr>
            <a:normAutofit/>
          </a:bodyPr>
          <a:lstStyle/>
          <a:p>
            <a:r>
              <a:rPr lang="en-IT" dirty="0"/>
              <a:t>To track and stage “</a:t>
            </a:r>
            <a:r>
              <a:rPr lang="en-IT" dirty="0">
                <a:latin typeface="Courier" pitchFamily="2" charset="0"/>
              </a:rPr>
              <a:t>text.txt</a:t>
            </a:r>
            <a:r>
              <a:rPr lang="en-IT" dirty="0"/>
              <a:t>” use the “</a:t>
            </a:r>
            <a:r>
              <a:rPr lang="en-IT" dirty="0">
                <a:latin typeface="Courier" pitchFamily="2" charset="0"/>
              </a:rPr>
              <a:t>git add</a:t>
            </a:r>
            <a:r>
              <a:rPr lang="en-IT" dirty="0"/>
              <a:t>” command</a:t>
            </a:r>
            <a:br>
              <a:rPr lang="en-IT" dirty="0"/>
            </a:br>
            <a:br>
              <a:rPr lang="en-IT" dirty="0"/>
            </a:br>
            <a:r>
              <a:rPr lang="en-IT" dirty="0">
                <a:latin typeface="Courier" pitchFamily="2" charset="0"/>
              </a:rPr>
              <a:t>&gt;&gt; git add text.txt</a:t>
            </a:r>
          </a:p>
          <a:p>
            <a:endParaRPr lang="en-IT" dirty="0"/>
          </a:p>
          <a:p>
            <a:r>
              <a:rPr lang="en-IT" dirty="0"/>
              <a:t>Alternatively, you can use ”</a:t>
            </a:r>
            <a:r>
              <a:rPr lang="en-IT" dirty="0">
                <a:latin typeface="Courier" pitchFamily="2" charset="0"/>
              </a:rPr>
              <a:t>git add *</a:t>
            </a:r>
            <a:r>
              <a:rPr lang="en-IT" dirty="0"/>
              <a:t>” to add all files in the project folders</a:t>
            </a:r>
          </a:p>
          <a:p>
            <a:endParaRPr lang="en-IT" dirty="0"/>
          </a:p>
          <a:p>
            <a:r>
              <a:rPr lang="en-IT" dirty="0"/>
              <a:t>Check the status of the repository</a:t>
            </a:r>
          </a:p>
          <a:p>
            <a:endParaRPr lang="en-IT" dirty="0"/>
          </a:p>
          <a:p>
            <a:endParaRPr lang="en-IT" dirty="0"/>
          </a:p>
          <a:p>
            <a:endParaRPr lang="en-IT" dirty="0"/>
          </a:p>
          <a:p>
            <a:endParaRPr lang="en-IT" dirty="0"/>
          </a:p>
          <a:p>
            <a:endParaRPr lang="en-IT" dirty="0"/>
          </a:p>
          <a:p>
            <a:endParaRPr lang="en-IT" dirty="0"/>
          </a:p>
        </p:txBody>
      </p:sp>
      <p:pic>
        <p:nvPicPr>
          <p:cNvPr id="5" name="Picture 4" descr="A screenshot of a computer&#10;&#10;Description automatically generated">
            <a:extLst>
              <a:ext uri="{FF2B5EF4-FFF2-40B4-BE49-F238E27FC236}">
                <a16:creationId xmlns:a16="http://schemas.microsoft.com/office/drawing/2014/main" id="{303414F4-7066-F54B-8996-6CF7D014BD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6963" y="4403119"/>
            <a:ext cx="6898074" cy="2187428"/>
          </a:xfrm>
          <a:prstGeom prst="rect">
            <a:avLst/>
          </a:prstGeom>
        </p:spPr>
      </p:pic>
      <p:sp>
        <p:nvSpPr>
          <p:cNvPr id="4" name="Slide Number Placeholder 3">
            <a:extLst>
              <a:ext uri="{FF2B5EF4-FFF2-40B4-BE49-F238E27FC236}">
                <a16:creationId xmlns:a16="http://schemas.microsoft.com/office/drawing/2014/main" id="{B0623F9C-51E8-7748-A96E-F463830E42CC}"/>
              </a:ext>
            </a:extLst>
          </p:cNvPr>
          <p:cNvSpPr>
            <a:spLocks noGrp="1"/>
          </p:cNvSpPr>
          <p:nvPr>
            <p:ph type="sldNum" sz="quarter" idx="12"/>
          </p:nvPr>
        </p:nvSpPr>
        <p:spPr/>
        <p:txBody>
          <a:bodyPr/>
          <a:lstStyle/>
          <a:p>
            <a:fld id="{31DE2C5B-556E-47B8-A792-024C2FCA4ACC}" type="slidenum">
              <a:rPr lang="en-GB" smtClean="0"/>
              <a:t>17</a:t>
            </a:fld>
            <a:endParaRPr lang="en-GB" dirty="0"/>
          </a:p>
        </p:txBody>
      </p:sp>
    </p:spTree>
    <p:extLst>
      <p:ext uri="{BB962C8B-B14F-4D97-AF65-F5344CB8AC3E}">
        <p14:creationId xmlns:p14="http://schemas.microsoft.com/office/powerpoint/2010/main" val="3222116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Step 4: C</a:t>
            </a:r>
            <a:r>
              <a:rPr lang="en-GB" dirty="0"/>
              <a:t>o</a:t>
            </a:r>
            <a:r>
              <a:rPr lang="en-IT" dirty="0"/>
              <a:t>mmit the file</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1368314" cy="5334907"/>
          </a:xfrm>
        </p:spPr>
        <p:txBody>
          <a:bodyPr>
            <a:normAutofit/>
          </a:bodyPr>
          <a:lstStyle/>
          <a:p>
            <a:r>
              <a:rPr lang="en-IT" dirty="0"/>
              <a:t>To commit the file </a:t>
            </a:r>
            <a:br>
              <a:rPr lang="en-IT" dirty="0"/>
            </a:br>
            <a:br>
              <a:rPr lang="en-IT" dirty="0"/>
            </a:br>
            <a:r>
              <a:rPr lang="en-IT" dirty="0">
                <a:latin typeface="Courier" pitchFamily="2" charset="0"/>
              </a:rPr>
              <a:t>&gt;&gt; git commit –m “new file text.txt”</a:t>
            </a:r>
            <a:endParaRPr lang="en-IT" dirty="0"/>
          </a:p>
          <a:p>
            <a:endParaRPr lang="en-IT" dirty="0"/>
          </a:p>
          <a:p>
            <a:endParaRPr lang="en-IT" dirty="0"/>
          </a:p>
          <a:p>
            <a:endParaRPr lang="en-IT" dirty="0"/>
          </a:p>
          <a:p>
            <a:endParaRPr lang="en-IT" dirty="0"/>
          </a:p>
          <a:p>
            <a:endParaRPr lang="en-IT" dirty="0"/>
          </a:p>
          <a:p>
            <a:r>
              <a:rPr lang="en-IT" dirty="0"/>
              <a:t>Note that we added a message! This should be meaningful.</a:t>
            </a:r>
          </a:p>
        </p:txBody>
      </p:sp>
      <p:pic>
        <p:nvPicPr>
          <p:cNvPr id="9" name="Picture 8" descr="A screenshot of a computer&#10;&#10;Description automatically generated with medium confidence">
            <a:extLst>
              <a:ext uri="{FF2B5EF4-FFF2-40B4-BE49-F238E27FC236}">
                <a16:creationId xmlns:a16="http://schemas.microsoft.com/office/drawing/2014/main" id="{2F059DAE-4835-E948-BF8F-5FDA8664C8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1928" y="2794926"/>
            <a:ext cx="6960801" cy="1542613"/>
          </a:xfrm>
          <a:prstGeom prst="rect">
            <a:avLst/>
          </a:prstGeom>
        </p:spPr>
      </p:pic>
      <p:sp>
        <p:nvSpPr>
          <p:cNvPr id="4" name="Slide Number Placeholder 3">
            <a:extLst>
              <a:ext uri="{FF2B5EF4-FFF2-40B4-BE49-F238E27FC236}">
                <a16:creationId xmlns:a16="http://schemas.microsoft.com/office/drawing/2014/main" id="{607F5565-ED15-544C-ACCA-A3635AA79437}"/>
              </a:ext>
            </a:extLst>
          </p:cNvPr>
          <p:cNvSpPr>
            <a:spLocks noGrp="1"/>
          </p:cNvSpPr>
          <p:nvPr>
            <p:ph type="sldNum" sz="quarter" idx="12"/>
          </p:nvPr>
        </p:nvSpPr>
        <p:spPr/>
        <p:txBody>
          <a:bodyPr/>
          <a:lstStyle/>
          <a:p>
            <a:fld id="{31DE2C5B-556E-47B8-A792-024C2FCA4ACC}" type="slidenum">
              <a:rPr lang="en-GB" smtClean="0"/>
              <a:t>18</a:t>
            </a:fld>
            <a:endParaRPr lang="en-GB" dirty="0"/>
          </a:p>
        </p:txBody>
      </p:sp>
    </p:spTree>
    <p:extLst>
      <p:ext uri="{BB962C8B-B14F-4D97-AF65-F5344CB8AC3E}">
        <p14:creationId xmlns:p14="http://schemas.microsoft.com/office/powerpoint/2010/main" val="35238062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Step 5: </a:t>
            </a:r>
            <a:r>
              <a:rPr lang="en-US" dirty="0"/>
              <a:t>Check the new history</a:t>
            </a:r>
            <a:endParaRPr lang="en-IT" dirty="0"/>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1368314" cy="5334907"/>
          </a:xfrm>
        </p:spPr>
        <p:txBody>
          <a:bodyPr>
            <a:normAutofit/>
          </a:bodyPr>
          <a:lstStyle/>
          <a:p>
            <a:r>
              <a:rPr lang="en-IT" dirty="0"/>
              <a:t>Check what we have done using the “</a:t>
            </a:r>
            <a:r>
              <a:rPr lang="en-IT" dirty="0">
                <a:latin typeface="Courier" pitchFamily="2" charset="0"/>
              </a:rPr>
              <a:t>git status</a:t>
            </a:r>
            <a:r>
              <a:rPr lang="en-IT" dirty="0"/>
              <a:t>” command</a:t>
            </a:r>
          </a:p>
          <a:p>
            <a:endParaRPr lang="en-IT" dirty="0"/>
          </a:p>
          <a:p>
            <a:endParaRPr lang="en-IT" dirty="0"/>
          </a:p>
          <a:p>
            <a:endParaRPr lang="en-IT" dirty="0"/>
          </a:p>
          <a:p>
            <a:endParaRPr lang="en-IT" dirty="0"/>
          </a:p>
          <a:p>
            <a:endParaRPr lang="en-IT" dirty="0"/>
          </a:p>
          <a:p>
            <a:r>
              <a:rPr lang="en-IT" dirty="0"/>
              <a:t>Even more things with “</a:t>
            </a:r>
            <a:r>
              <a:rPr lang="en-IT" dirty="0">
                <a:latin typeface="Courier" pitchFamily="2" charset="0"/>
              </a:rPr>
              <a:t>git log</a:t>
            </a:r>
            <a:r>
              <a:rPr lang="en-IT" dirty="0"/>
              <a:t>”</a:t>
            </a:r>
          </a:p>
        </p:txBody>
      </p:sp>
      <p:pic>
        <p:nvPicPr>
          <p:cNvPr id="5" name="Picture 4" descr="A screenshot of a computer&#10;&#10;Description automatically generated with medium confidence">
            <a:extLst>
              <a:ext uri="{FF2B5EF4-FFF2-40B4-BE49-F238E27FC236}">
                <a16:creationId xmlns:a16="http://schemas.microsoft.com/office/drawing/2014/main" id="{7E7F0BB2-FDEE-BF4E-AA9E-12A48C597C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3185" y="1936235"/>
            <a:ext cx="8802988" cy="1552766"/>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A3F04431-D467-184C-8646-20B90EE531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11640" y="4649916"/>
            <a:ext cx="7768720" cy="1994807"/>
          </a:xfrm>
          <a:prstGeom prst="rect">
            <a:avLst/>
          </a:prstGeom>
        </p:spPr>
      </p:pic>
      <p:sp>
        <p:nvSpPr>
          <p:cNvPr id="4" name="Slide Number Placeholder 3">
            <a:extLst>
              <a:ext uri="{FF2B5EF4-FFF2-40B4-BE49-F238E27FC236}">
                <a16:creationId xmlns:a16="http://schemas.microsoft.com/office/drawing/2014/main" id="{7B871861-A8C7-794B-994E-E482C90B8DE6}"/>
              </a:ext>
            </a:extLst>
          </p:cNvPr>
          <p:cNvSpPr>
            <a:spLocks noGrp="1"/>
          </p:cNvSpPr>
          <p:nvPr>
            <p:ph type="sldNum" sz="quarter" idx="12"/>
          </p:nvPr>
        </p:nvSpPr>
        <p:spPr/>
        <p:txBody>
          <a:bodyPr/>
          <a:lstStyle/>
          <a:p>
            <a:fld id="{31DE2C5B-556E-47B8-A792-024C2FCA4ACC}" type="slidenum">
              <a:rPr lang="en-GB" smtClean="0"/>
              <a:t>19</a:t>
            </a:fld>
            <a:endParaRPr lang="en-GB" dirty="0"/>
          </a:p>
        </p:txBody>
      </p:sp>
    </p:spTree>
    <p:extLst>
      <p:ext uri="{BB962C8B-B14F-4D97-AF65-F5344CB8AC3E}">
        <p14:creationId xmlns:p14="http://schemas.microsoft.com/office/powerpoint/2010/main" val="107024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Step 6: </a:t>
            </a:r>
            <a:r>
              <a:rPr lang="en-US" dirty="0"/>
              <a:t>Make, check and commit </a:t>
            </a:r>
            <a:r>
              <a:rPr lang="en-IT" dirty="0"/>
              <a:t>modifications </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1368314" cy="5334907"/>
          </a:xfrm>
        </p:spPr>
        <p:txBody>
          <a:bodyPr>
            <a:normAutofit/>
          </a:bodyPr>
          <a:lstStyle/>
          <a:p>
            <a:r>
              <a:rPr lang="en-IT" dirty="0"/>
              <a:t>Now let’s modify </a:t>
            </a:r>
            <a:r>
              <a:rPr lang="en-IT" dirty="0">
                <a:latin typeface="Courier" pitchFamily="2" charset="0"/>
              </a:rPr>
              <a:t>text.txt </a:t>
            </a:r>
            <a:r>
              <a:rPr lang="en-IT" dirty="0"/>
              <a:t>as</a:t>
            </a:r>
            <a:br>
              <a:rPr lang="en-IT" dirty="0"/>
            </a:br>
            <a:br>
              <a:rPr lang="en-IT" dirty="0"/>
            </a:br>
            <a:r>
              <a:rPr lang="en-IT" dirty="0">
                <a:latin typeface="Courier" pitchFamily="2" charset="0"/>
              </a:rPr>
              <a:t>Hello, world!</a:t>
            </a:r>
          </a:p>
          <a:p>
            <a:endParaRPr lang="en-IT" dirty="0"/>
          </a:p>
          <a:p>
            <a:r>
              <a:rPr lang="en-IT" dirty="0"/>
              <a:t>And try to do the following operations</a:t>
            </a:r>
          </a:p>
          <a:p>
            <a:pPr lvl="1"/>
            <a:r>
              <a:rPr lang="en-IT" dirty="0"/>
              <a:t>Check the status (</a:t>
            </a:r>
            <a:r>
              <a:rPr lang="en-IT" dirty="0">
                <a:latin typeface="Courier" pitchFamily="2" charset="0"/>
              </a:rPr>
              <a:t>git status </a:t>
            </a:r>
            <a:r>
              <a:rPr lang="en-IT" dirty="0"/>
              <a:t>command)</a:t>
            </a:r>
          </a:p>
          <a:p>
            <a:pPr lvl="1"/>
            <a:endParaRPr lang="en-IT" dirty="0"/>
          </a:p>
          <a:p>
            <a:pPr lvl="1"/>
            <a:r>
              <a:rPr lang="en-IT" dirty="0"/>
              <a:t>Stage the modifications (</a:t>
            </a:r>
            <a:r>
              <a:rPr lang="en-IT" dirty="0">
                <a:latin typeface="Courier" pitchFamily="2" charset="0"/>
              </a:rPr>
              <a:t>git add </a:t>
            </a:r>
            <a:r>
              <a:rPr lang="en-IT" dirty="0"/>
              <a:t>command)</a:t>
            </a:r>
          </a:p>
          <a:p>
            <a:pPr lvl="1"/>
            <a:endParaRPr lang="en-IT" dirty="0"/>
          </a:p>
          <a:p>
            <a:pPr lvl="1"/>
            <a:r>
              <a:rPr lang="en-IT" dirty="0"/>
              <a:t>Commit the new modifications (</a:t>
            </a:r>
            <a:r>
              <a:rPr lang="en-IT" dirty="0">
                <a:latin typeface="Courier" pitchFamily="2" charset="0"/>
              </a:rPr>
              <a:t>git commit </a:t>
            </a:r>
            <a:r>
              <a:rPr lang="en-IT" dirty="0"/>
              <a:t>command)</a:t>
            </a:r>
          </a:p>
          <a:p>
            <a:pPr lvl="1"/>
            <a:endParaRPr lang="en-IT" dirty="0"/>
          </a:p>
          <a:p>
            <a:r>
              <a:rPr lang="en-IT" dirty="0"/>
              <a:t>I’ll give you 10 minutes to do that</a:t>
            </a:r>
          </a:p>
        </p:txBody>
      </p:sp>
      <p:sp>
        <p:nvSpPr>
          <p:cNvPr id="4" name="Slide Number Placeholder 3">
            <a:extLst>
              <a:ext uri="{FF2B5EF4-FFF2-40B4-BE49-F238E27FC236}">
                <a16:creationId xmlns:a16="http://schemas.microsoft.com/office/drawing/2014/main" id="{ACE5554B-3ED6-CD48-B330-401E1E142C8F}"/>
              </a:ext>
            </a:extLst>
          </p:cNvPr>
          <p:cNvSpPr>
            <a:spLocks noGrp="1"/>
          </p:cNvSpPr>
          <p:nvPr>
            <p:ph type="sldNum" sz="quarter" idx="12"/>
          </p:nvPr>
        </p:nvSpPr>
        <p:spPr/>
        <p:txBody>
          <a:bodyPr/>
          <a:lstStyle/>
          <a:p>
            <a:fld id="{31DE2C5B-556E-47B8-A792-024C2FCA4ACC}" type="slidenum">
              <a:rPr lang="en-GB" smtClean="0"/>
              <a:t>20</a:t>
            </a:fld>
            <a:endParaRPr lang="en-GB" dirty="0"/>
          </a:p>
        </p:txBody>
      </p:sp>
    </p:spTree>
    <p:extLst>
      <p:ext uri="{BB962C8B-B14F-4D97-AF65-F5344CB8AC3E}">
        <p14:creationId xmlns:p14="http://schemas.microsoft.com/office/powerpoint/2010/main" val="3280604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More features: stash and reset</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p:txBody>
          <a:bodyPr/>
          <a:lstStyle/>
          <a:p>
            <a:r>
              <a:rPr lang="en-IT" dirty="0"/>
              <a:t>A useful command is “</a:t>
            </a:r>
            <a:r>
              <a:rPr lang="en-IT" dirty="0">
                <a:latin typeface="Courier" pitchFamily="2" charset="0"/>
              </a:rPr>
              <a:t>git stash</a:t>
            </a:r>
            <a:r>
              <a:rPr lang="en-IT" dirty="0"/>
              <a:t>” which stores the current code changes in a stacked temporary working directory and restores the code to the previous valid status. </a:t>
            </a:r>
          </a:p>
          <a:p>
            <a:pPr lvl="1"/>
            <a:r>
              <a:rPr lang="en-IT" dirty="0"/>
              <a:t>Try the basics (</a:t>
            </a:r>
            <a:r>
              <a:rPr lang="en-IT" dirty="0">
                <a:latin typeface="Courier" pitchFamily="2" charset="0"/>
              </a:rPr>
              <a:t>git stash push</a:t>
            </a:r>
            <a:r>
              <a:rPr lang="en-IT" dirty="0"/>
              <a:t>, </a:t>
            </a:r>
            <a:r>
              <a:rPr lang="en-IT" dirty="0">
                <a:latin typeface="Courier" pitchFamily="2" charset="0"/>
              </a:rPr>
              <a:t>git stash pop</a:t>
            </a:r>
            <a:r>
              <a:rPr lang="en-IT" dirty="0"/>
              <a:t>)</a:t>
            </a:r>
          </a:p>
          <a:p>
            <a:pPr lvl="1"/>
            <a:r>
              <a:rPr lang="en-IT" dirty="0"/>
              <a:t>More functionalities in </a:t>
            </a:r>
            <a:r>
              <a:rPr lang="en-GB" dirty="0">
                <a:hlinkClick r:id="rId3"/>
              </a:rPr>
              <a:t>https://git-scm.com/docs/git-stash</a:t>
            </a:r>
            <a:r>
              <a:rPr lang="en-GB" dirty="0"/>
              <a:t> </a:t>
            </a:r>
            <a:endParaRPr lang="en-IT" dirty="0"/>
          </a:p>
          <a:p>
            <a:pPr marL="457200" lvl="1" indent="0">
              <a:buNone/>
            </a:pPr>
            <a:endParaRPr lang="en-IT" dirty="0"/>
          </a:p>
          <a:p>
            <a:r>
              <a:rPr lang="en-IT" dirty="0"/>
              <a:t>Another useful command is “</a:t>
            </a:r>
            <a:r>
              <a:rPr lang="en-IT" dirty="0">
                <a:latin typeface="Courier" pitchFamily="2" charset="0"/>
              </a:rPr>
              <a:t>git reset</a:t>
            </a:r>
            <a:r>
              <a:rPr lang="en-IT" dirty="0"/>
              <a:t>” which clears the staging area.</a:t>
            </a:r>
          </a:p>
          <a:p>
            <a:pPr lvl="1"/>
            <a:r>
              <a:rPr lang="en-IT" dirty="0"/>
              <a:t>Try the basics (</a:t>
            </a:r>
            <a:r>
              <a:rPr lang="en-IT" dirty="0">
                <a:latin typeface="Courier" pitchFamily="2" charset="0"/>
              </a:rPr>
              <a:t>git reset --hard</a:t>
            </a:r>
            <a:r>
              <a:rPr lang="en-IT" dirty="0"/>
              <a:t>)</a:t>
            </a:r>
          </a:p>
          <a:p>
            <a:pPr lvl="1"/>
            <a:r>
              <a:rPr lang="en-IT" dirty="0"/>
              <a:t>More functionalities in </a:t>
            </a:r>
            <a:r>
              <a:rPr lang="en-GB" dirty="0">
                <a:hlinkClick r:id="rId4"/>
              </a:rPr>
              <a:t>https://git-scm.com/docs/git-reset</a:t>
            </a:r>
            <a:r>
              <a:rPr lang="en-GB" dirty="0"/>
              <a:t> </a:t>
            </a:r>
            <a:endParaRPr lang="en-IT" dirty="0"/>
          </a:p>
        </p:txBody>
      </p:sp>
      <p:sp>
        <p:nvSpPr>
          <p:cNvPr id="4" name="TextBox 3">
            <a:extLst>
              <a:ext uri="{FF2B5EF4-FFF2-40B4-BE49-F238E27FC236}">
                <a16:creationId xmlns:a16="http://schemas.microsoft.com/office/drawing/2014/main" id="{E84963E0-97AE-7444-A9A9-8D0C12A84057}"/>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
        <p:nvSpPr>
          <p:cNvPr id="5" name="Slide Number Placeholder 4">
            <a:extLst>
              <a:ext uri="{FF2B5EF4-FFF2-40B4-BE49-F238E27FC236}">
                <a16:creationId xmlns:a16="http://schemas.microsoft.com/office/drawing/2014/main" id="{CC1F3486-E584-7947-9447-700012DF8996}"/>
              </a:ext>
            </a:extLst>
          </p:cNvPr>
          <p:cNvSpPr>
            <a:spLocks noGrp="1"/>
          </p:cNvSpPr>
          <p:nvPr>
            <p:ph type="sldNum" sz="quarter" idx="12"/>
          </p:nvPr>
        </p:nvSpPr>
        <p:spPr/>
        <p:txBody>
          <a:bodyPr/>
          <a:lstStyle/>
          <a:p>
            <a:fld id="{31DE2C5B-556E-47B8-A792-024C2FCA4ACC}" type="slidenum">
              <a:rPr lang="en-GB" smtClean="0"/>
              <a:t>21</a:t>
            </a:fld>
            <a:endParaRPr lang="en-GB" dirty="0"/>
          </a:p>
        </p:txBody>
      </p:sp>
    </p:spTree>
    <p:extLst>
      <p:ext uri="{BB962C8B-B14F-4D97-AF65-F5344CB8AC3E}">
        <p14:creationId xmlns:p14="http://schemas.microsoft.com/office/powerpoint/2010/main" val="19190242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p:txBody>
          <a:bodyPr>
            <a:normAutofit/>
          </a:bodyPr>
          <a:lstStyle/>
          <a:p>
            <a:r>
              <a:rPr lang="en-GB" dirty="0">
                <a:solidFill>
                  <a:schemeClr val="bg1">
                    <a:lumMod val="75000"/>
                  </a:schemeClr>
                </a:solidFill>
              </a:rPr>
              <a:t>Version Control Systems &amp; GIT</a:t>
            </a:r>
            <a:endParaRPr lang="en-IT" dirty="0">
              <a:solidFill>
                <a:schemeClr val="bg1">
                  <a:lumMod val="75000"/>
                </a:schemeClr>
              </a:solidFill>
            </a:endParaRPr>
          </a:p>
          <a:p>
            <a:r>
              <a:rPr lang="en-IT" dirty="0">
                <a:solidFill>
                  <a:schemeClr val="bg1">
                    <a:lumMod val="75000"/>
                  </a:schemeClr>
                </a:solidFill>
              </a:rPr>
              <a:t>Playing with GIT</a:t>
            </a:r>
          </a:p>
          <a:p>
            <a:r>
              <a:rPr lang="en-IT" b="1" dirty="0"/>
              <a:t>The working tree</a:t>
            </a:r>
          </a:p>
          <a:p>
            <a:r>
              <a:rPr lang="en-IT" dirty="0">
                <a:solidFill>
                  <a:schemeClr val="bg1">
                    <a:lumMod val="75000"/>
                  </a:schemeClr>
                </a:solidFill>
              </a:rPr>
              <a:t>Remote repositories and best practices</a:t>
            </a:r>
          </a:p>
          <a:p>
            <a:pPr marL="0" indent="0">
              <a:buNone/>
            </a:pPr>
            <a:endParaRPr lang="en-IT" dirty="0">
              <a:solidFill>
                <a:schemeClr val="bg1">
                  <a:lumMod val="75000"/>
                </a:schemeClr>
              </a:solidFill>
            </a:endParaRPr>
          </a:p>
          <a:p>
            <a:r>
              <a:rPr lang="en-IT" dirty="0">
                <a:solidFill>
                  <a:schemeClr val="bg1">
                    <a:lumMod val="75000"/>
                  </a:schemeClr>
                </a:solidFill>
              </a:rPr>
              <a:t>Homework</a:t>
            </a:r>
          </a:p>
          <a:p>
            <a:r>
              <a:rPr lang="en-IT" dirty="0">
                <a:solidFill>
                  <a:schemeClr val="bg1">
                    <a:lumMod val="75000"/>
                  </a:schemeClr>
                </a:solidFill>
              </a:rPr>
              <a:t>Resources</a:t>
            </a:r>
          </a:p>
          <a:p>
            <a:pPr marL="0" indent="0">
              <a:buNone/>
            </a:pPr>
            <a:endParaRPr lang="en-IT" dirty="0">
              <a:solidFill>
                <a:schemeClr val="bg1">
                  <a:lumMod val="75000"/>
                </a:schemeClr>
              </a:solidFill>
            </a:endParaRPr>
          </a:p>
        </p:txBody>
      </p:sp>
      <p:sp>
        <p:nvSpPr>
          <p:cNvPr id="4" name="Slide Number Placeholder 3">
            <a:extLst>
              <a:ext uri="{FF2B5EF4-FFF2-40B4-BE49-F238E27FC236}">
                <a16:creationId xmlns:a16="http://schemas.microsoft.com/office/drawing/2014/main" id="{415938B6-1BB7-2143-94AA-7F629DCC1CDB}"/>
              </a:ext>
            </a:extLst>
          </p:cNvPr>
          <p:cNvSpPr>
            <a:spLocks noGrp="1"/>
          </p:cNvSpPr>
          <p:nvPr>
            <p:ph type="sldNum" sz="quarter" idx="12"/>
          </p:nvPr>
        </p:nvSpPr>
        <p:spPr/>
        <p:txBody>
          <a:bodyPr/>
          <a:lstStyle/>
          <a:p>
            <a:fld id="{31DE2C5B-556E-47B8-A792-024C2FCA4ACC}" type="slidenum">
              <a:rPr lang="en-GB" smtClean="0"/>
              <a:t>22</a:t>
            </a:fld>
            <a:endParaRPr lang="en-GB" dirty="0"/>
          </a:p>
        </p:txBody>
      </p:sp>
    </p:spTree>
    <p:extLst>
      <p:ext uri="{BB962C8B-B14F-4D97-AF65-F5344CB8AC3E}">
        <p14:creationId xmlns:p14="http://schemas.microsoft.com/office/powerpoint/2010/main" val="30626422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GIT core: The working tree</a:t>
            </a:r>
          </a:p>
        </p:txBody>
      </p:sp>
      <p:sp>
        <p:nvSpPr>
          <p:cNvPr id="7" name="Content Placeholder 6">
            <a:extLst>
              <a:ext uri="{FF2B5EF4-FFF2-40B4-BE49-F238E27FC236}">
                <a16:creationId xmlns:a16="http://schemas.microsoft.com/office/drawing/2014/main" id="{E0E6A6F8-231B-9A48-AAD1-9FF652071FC9}"/>
              </a:ext>
            </a:extLst>
          </p:cNvPr>
          <p:cNvSpPr>
            <a:spLocks noGrp="1"/>
          </p:cNvSpPr>
          <p:nvPr>
            <p:ph idx="1"/>
          </p:nvPr>
        </p:nvSpPr>
        <p:spPr>
          <a:xfrm>
            <a:off x="428171" y="1361167"/>
            <a:ext cx="6914737" cy="4858203"/>
          </a:xfrm>
        </p:spPr>
        <p:txBody>
          <a:bodyPr>
            <a:normAutofit/>
          </a:bodyPr>
          <a:lstStyle/>
          <a:p>
            <a:r>
              <a:rPr lang="en-IT" dirty="0"/>
              <a:t>Let’s zoom in. What we have actually done?</a:t>
            </a:r>
          </a:p>
          <a:p>
            <a:endParaRPr lang="en-IT" dirty="0"/>
          </a:p>
        </p:txBody>
      </p:sp>
      <p:pic>
        <p:nvPicPr>
          <p:cNvPr id="8" name="Content Placeholder 4" descr="A screenshot of a computer&#10;&#10;Description automatically generated">
            <a:extLst>
              <a:ext uri="{FF2B5EF4-FFF2-40B4-BE49-F238E27FC236}">
                <a16:creationId xmlns:a16="http://schemas.microsoft.com/office/drawing/2014/main" id="{7C1162C7-3D2E-3E43-8572-6AE22BB15171}"/>
              </a:ext>
            </a:extLst>
          </p:cNvPr>
          <p:cNvPicPr>
            <a:picLocks noChangeAspect="1"/>
          </p:cNvPicPr>
          <p:nvPr/>
        </p:nvPicPr>
        <p:blipFill rotWithShape="1">
          <a:blip r:embed="rId3">
            <a:extLst>
              <a:ext uri="{28A0092B-C50C-407E-A947-70E740481C1C}">
                <a14:useLocalDpi xmlns:a14="http://schemas.microsoft.com/office/drawing/2010/main" val="0"/>
              </a:ext>
            </a:extLst>
          </a:blip>
          <a:srcRect r="26375"/>
          <a:stretch/>
        </p:blipFill>
        <p:spPr>
          <a:xfrm>
            <a:off x="7472219" y="1115856"/>
            <a:ext cx="4516581" cy="1993934"/>
          </a:xfrm>
          <a:prstGeom prst="rect">
            <a:avLst/>
          </a:prstGeom>
        </p:spPr>
      </p:pic>
      <p:sp>
        <p:nvSpPr>
          <p:cNvPr id="3" name="Slide Number Placeholder 2">
            <a:extLst>
              <a:ext uri="{FF2B5EF4-FFF2-40B4-BE49-F238E27FC236}">
                <a16:creationId xmlns:a16="http://schemas.microsoft.com/office/drawing/2014/main" id="{44BFD578-A9CC-B94B-96DE-1888F24D1B2A}"/>
              </a:ext>
            </a:extLst>
          </p:cNvPr>
          <p:cNvSpPr>
            <a:spLocks noGrp="1"/>
          </p:cNvSpPr>
          <p:nvPr>
            <p:ph type="sldNum" sz="quarter" idx="12"/>
          </p:nvPr>
        </p:nvSpPr>
        <p:spPr/>
        <p:txBody>
          <a:bodyPr/>
          <a:lstStyle/>
          <a:p>
            <a:fld id="{31DE2C5B-556E-47B8-A792-024C2FCA4ACC}" type="slidenum">
              <a:rPr lang="en-GB" smtClean="0"/>
              <a:t>23</a:t>
            </a:fld>
            <a:endParaRPr lang="en-GB" dirty="0"/>
          </a:p>
        </p:txBody>
      </p:sp>
    </p:spTree>
    <p:extLst>
      <p:ext uri="{BB962C8B-B14F-4D97-AF65-F5344CB8AC3E}">
        <p14:creationId xmlns:p14="http://schemas.microsoft.com/office/powerpoint/2010/main" val="4924507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GIT core: The working tree</a:t>
            </a:r>
          </a:p>
        </p:txBody>
      </p:sp>
      <p:sp>
        <p:nvSpPr>
          <p:cNvPr id="7" name="Content Placeholder 6">
            <a:extLst>
              <a:ext uri="{FF2B5EF4-FFF2-40B4-BE49-F238E27FC236}">
                <a16:creationId xmlns:a16="http://schemas.microsoft.com/office/drawing/2014/main" id="{E0E6A6F8-231B-9A48-AAD1-9FF652071FC9}"/>
              </a:ext>
            </a:extLst>
          </p:cNvPr>
          <p:cNvSpPr>
            <a:spLocks noGrp="1"/>
          </p:cNvSpPr>
          <p:nvPr>
            <p:ph idx="1"/>
          </p:nvPr>
        </p:nvSpPr>
        <p:spPr>
          <a:xfrm>
            <a:off x="428171" y="1361167"/>
            <a:ext cx="6914737" cy="4858203"/>
          </a:xfrm>
        </p:spPr>
        <p:txBody>
          <a:bodyPr>
            <a:normAutofit/>
          </a:bodyPr>
          <a:lstStyle/>
          <a:p>
            <a:r>
              <a:rPr lang="en-IT" dirty="0"/>
              <a:t>T</a:t>
            </a:r>
            <a:r>
              <a:rPr lang="en-GB" dirty="0"/>
              <a:t>h</a:t>
            </a:r>
            <a:r>
              <a:rPr lang="en-IT" dirty="0"/>
              <a:t>e repository tracks the history thanks to a tree-based structure called </a:t>
            </a:r>
            <a:r>
              <a:rPr lang="en-IT" b="1" dirty="0"/>
              <a:t>working tree</a:t>
            </a:r>
            <a:r>
              <a:rPr lang="en-IT" dirty="0"/>
              <a:t> which memorizes the filesystem of all code versions. </a:t>
            </a:r>
          </a:p>
          <a:p>
            <a:endParaRPr lang="en-IT" dirty="0"/>
          </a:p>
          <a:p>
            <a:r>
              <a:rPr lang="en-IT" dirty="0"/>
              <a:t>The w</a:t>
            </a:r>
            <a:r>
              <a:rPr lang="en-GB" dirty="0"/>
              <a:t>or</a:t>
            </a:r>
            <a:r>
              <a:rPr lang="en-IT" dirty="0"/>
              <a:t>king tree has a main branch called </a:t>
            </a:r>
            <a:r>
              <a:rPr lang="en-IT" b="1" dirty="0"/>
              <a:t>master</a:t>
            </a:r>
            <a:r>
              <a:rPr lang="en-IT" dirty="0"/>
              <a:t>.</a:t>
            </a:r>
          </a:p>
          <a:p>
            <a:endParaRPr lang="en-IT" dirty="0"/>
          </a:p>
          <a:p>
            <a:r>
              <a:rPr lang="en-IT" dirty="0"/>
              <a:t>Every commit is associated to a unique hash code.</a:t>
            </a:r>
          </a:p>
          <a:p>
            <a:endParaRPr lang="en-IT" dirty="0"/>
          </a:p>
          <a:p>
            <a:r>
              <a:rPr lang="en-IT" dirty="0"/>
              <a:t>GIT moves through the working tree using the </a:t>
            </a:r>
            <a:r>
              <a:rPr lang="en-IT" b="1" dirty="0"/>
              <a:t>HEAD</a:t>
            </a:r>
            <a:r>
              <a:rPr lang="en-IT" dirty="0"/>
              <a:t> pointer. </a:t>
            </a:r>
          </a:p>
          <a:p>
            <a:endParaRPr lang="en-IT" dirty="0"/>
          </a:p>
        </p:txBody>
      </p:sp>
      <p:pic>
        <p:nvPicPr>
          <p:cNvPr id="8" name="Content Placeholder 4" descr="A screenshot of a computer&#10;&#10;Description automatically generated">
            <a:extLst>
              <a:ext uri="{FF2B5EF4-FFF2-40B4-BE49-F238E27FC236}">
                <a16:creationId xmlns:a16="http://schemas.microsoft.com/office/drawing/2014/main" id="{7C1162C7-3D2E-3E43-8572-6AE22BB15171}"/>
              </a:ext>
            </a:extLst>
          </p:cNvPr>
          <p:cNvPicPr>
            <a:picLocks noChangeAspect="1"/>
          </p:cNvPicPr>
          <p:nvPr/>
        </p:nvPicPr>
        <p:blipFill rotWithShape="1">
          <a:blip r:embed="rId3">
            <a:extLst>
              <a:ext uri="{28A0092B-C50C-407E-A947-70E740481C1C}">
                <a14:useLocalDpi xmlns:a14="http://schemas.microsoft.com/office/drawing/2010/main" val="0"/>
              </a:ext>
            </a:extLst>
          </a:blip>
          <a:srcRect r="26375"/>
          <a:stretch/>
        </p:blipFill>
        <p:spPr>
          <a:xfrm>
            <a:off x="7472219" y="1115856"/>
            <a:ext cx="4516581" cy="1993934"/>
          </a:xfrm>
          <a:prstGeom prst="rect">
            <a:avLst/>
          </a:prstGeom>
        </p:spPr>
      </p:pic>
      <p:sp>
        <p:nvSpPr>
          <p:cNvPr id="9" name="TextBox 8">
            <a:extLst>
              <a:ext uri="{FF2B5EF4-FFF2-40B4-BE49-F238E27FC236}">
                <a16:creationId xmlns:a16="http://schemas.microsoft.com/office/drawing/2014/main" id="{AEF21D3C-6493-A644-AD1C-8612C15414CD}"/>
              </a:ext>
            </a:extLst>
          </p:cNvPr>
          <p:cNvSpPr txBox="1"/>
          <p:nvPr/>
        </p:nvSpPr>
        <p:spPr>
          <a:xfrm>
            <a:off x="8211125" y="5292436"/>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0ab757…</a:t>
            </a:r>
          </a:p>
        </p:txBody>
      </p:sp>
      <p:sp>
        <p:nvSpPr>
          <p:cNvPr id="10" name="TextBox 9">
            <a:extLst>
              <a:ext uri="{FF2B5EF4-FFF2-40B4-BE49-F238E27FC236}">
                <a16:creationId xmlns:a16="http://schemas.microsoft.com/office/drawing/2014/main" id="{C5F27715-475A-F248-890B-14BF42C1E9E4}"/>
              </a:ext>
            </a:extLst>
          </p:cNvPr>
          <p:cNvSpPr txBox="1"/>
          <p:nvPr/>
        </p:nvSpPr>
        <p:spPr>
          <a:xfrm>
            <a:off x="9933707" y="5292436"/>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5a7bab…</a:t>
            </a:r>
          </a:p>
        </p:txBody>
      </p:sp>
      <p:cxnSp>
        <p:nvCxnSpPr>
          <p:cNvPr id="12" name="Straight Arrow Connector 11">
            <a:extLst>
              <a:ext uri="{FF2B5EF4-FFF2-40B4-BE49-F238E27FC236}">
                <a16:creationId xmlns:a16="http://schemas.microsoft.com/office/drawing/2014/main" id="{8984176A-0DAD-514E-9386-F7C9EEE8DB82}"/>
              </a:ext>
            </a:extLst>
          </p:cNvPr>
          <p:cNvCxnSpPr>
            <a:cxnSpLocks/>
            <a:stCxn id="10" idx="1"/>
          </p:cNvCxnSpPr>
          <p:nvPr/>
        </p:nvCxnSpPr>
        <p:spPr>
          <a:xfrm flipH="1">
            <a:off x="9476507" y="5477102"/>
            <a:ext cx="457200"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4" name="Straight Arrow Connector 13">
            <a:extLst>
              <a:ext uri="{FF2B5EF4-FFF2-40B4-BE49-F238E27FC236}">
                <a16:creationId xmlns:a16="http://schemas.microsoft.com/office/drawing/2014/main" id="{1443919E-C232-A841-B6AB-7E4DAD366F14}"/>
              </a:ext>
            </a:extLst>
          </p:cNvPr>
          <p:cNvCxnSpPr>
            <a:cxnSpLocks/>
            <a:endCxn id="10" idx="0"/>
          </p:cNvCxnSpPr>
          <p:nvPr/>
        </p:nvCxnSpPr>
        <p:spPr>
          <a:xfrm>
            <a:off x="10566398" y="5052290"/>
            <a:ext cx="0" cy="24014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Rectangle 18">
            <a:extLst>
              <a:ext uri="{FF2B5EF4-FFF2-40B4-BE49-F238E27FC236}">
                <a16:creationId xmlns:a16="http://schemas.microsoft.com/office/drawing/2014/main" id="{C52D840E-1EAE-2F42-868E-18A85D2F2EC4}"/>
              </a:ext>
            </a:extLst>
          </p:cNvPr>
          <p:cNvSpPr/>
          <p:nvPr/>
        </p:nvSpPr>
        <p:spPr>
          <a:xfrm>
            <a:off x="10122205" y="4682958"/>
            <a:ext cx="792205" cy="369332"/>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r>
              <a:rPr lang="en-IT" b="1" dirty="0">
                <a:latin typeface="Aptos" panose="020B0004020202020204" pitchFamily="34" charset="0"/>
              </a:rPr>
              <a:t>HEAD</a:t>
            </a:r>
            <a:endParaRPr lang="en-IT" dirty="0">
              <a:latin typeface="Aptos" panose="020B0004020202020204" pitchFamily="34" charset="0"/>
            </a:endParaRPr>
          </a:p>
        </p:txBody>
      </p:sp>
      <p:sp>
        <p:nvSpPr>
          <p:cNvPr id="20" name="Rectangle 19">
            <a:extLst>
              <a:ext uri="{FF2B5EF4-FFF2-40B4-BE49-F238E27FC236}">
                <a16:creationId xmlns:a16="http://schemas.microsoft.com/office/drawing/2014/main" id="{566A324A-055A-7946-A227-8F87DCABCFBA}"/>
              </a:ext>
            </a:extLst>
          </p:cNvPr>
          <p:cNvSpPr/>
          <p:nvPr/>
        </p:nvSpPr>
        <p:spPr>
          <a:xfrm>
            <a:off x="8091055" y="5172363"/>
            <a:ext cx="3278908" cy="64654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21" name="Rectangle 20">
            <a:extLst>
              <a:ext uri="{FF2B5EF4-FFF2-40B4-BE49-F238E27FC236}">
                <a16:creationId xmlns:a16="http://schemas.microsoft.com/office/drawing/2014/main" id="{A4A44E06-631C-5B46-B68E-D51468EE8398}"/>
              </a:ext>
            </a:extLst>
          </p:cNvPr>
          <p:cNvSpPr/>
          <p:nvPr/>
        </p:nvSpPr>
        <p:spPr>
          <a:xfrm>
            <a:off x="8053197" y="4867624"/>
            <a:ext cx="847155"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IT" sz="1600" b="1" dirty="0">
                <a:solidFill>
                  <a:schemeClr val="accent6"/>
                </a:solidFill>
                <a:latin typeface="Aptos" panose="020B0004020202020204" pitchFamily="34" charset="0"/>
              </a:rPr>
              <a:t>master</a:t>
            </a:r>
            <a:endParaRPr lang="en-IT" sz="1600" dirty="0">
              <a:solidFill>
                <a:schemeClr val="accent6"/>
              </a:solidFill>
              <a:latin typeface="Aptos" panose="020B0004020202020204" pitchFamily="34" charset="0"/>
            </a:endParaRPr>
          </a:p>
        </p:txBody>
      </p:sp>
      <p:sp>
        <p:nvSpPr>
          <p:cNvPr id="3" name="Slide Number Placeholder 2">
            <a:extLst>
              <a:ext uri="{FF2B5EF4-FFF2-40B4-BE49-F238E27FC236}">
                <a16:creationId xmlns:a16="http://schemas.microsoft.com/office/drawing/2014/main" id="{C860CFD3-FE1A-254A-87B8-D4D9F1638434}"/>
              </a:ext>
            </a:extLst>
          </p:cNvPr>
          <p:cNvSpPr>
            <a:spLocks noGrp="1"/>
          </p:cNvSpPr>
          <p:nvPr>
            <p:ph type="sldNum" sz="quarter" idx="12"/>
          </p:nvPr>
        </p:nvSpPr>
        <p:spPr/>
        <p:txBody>
          <a:bodyPr/>
          <a:lstStyle/>
          <a:p>
            <a:fld id="{31DE2C5B-556E-47B8-A792-024C2FCA4ACC}" type="slidenum">
              <a:rPr lang="en-GB" smtClean="0"/>
              <a:t>24</a:t>
            </a:fld>
            <a:endParaRPr lang="en-GB" dirty="0"/>
          </a:p>
        </p:txBody>
      </p:sp>
    </p:spTree>
    <p:extLst>
      <p:ext uri="{BB962C8B-B14F-4D97-AF65-F5344CB8AC3E}">
        <p14:creationId xmlns:p14="http://schemas.microsoft.com/office/powerpoint/2010/main" val="675342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Moving through the working tree</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p:txBody>
          <a:bodyPr>
            <a:normAutofit/>
          </a:bodyPr>
          <a:lstStyle/>
          <a:p>
            <a:r>
              <a:rPr lang="en-IT" dirty="0"/>
              <a:t>Move through the working tree using the “</a:t>
            </a:r>
            <a:r>
              <a:rPr lang="en-IT" dirty="0">
                <a:latin typeface="Courier" pitchFamily="2" charset="0"/>
              </a:rPr>
              <a:t>git checkout</a:t>
            </a:r>
            <a:r>
              <a:rPr lang="en-IT" dirty="0"/>
              <a:t>” command</a:t>
            </a:r>
          </a:p>
        </p:txBody>
      </p:sp>
      <p:sp>
        <p:nvSpPr>
          <p:cNvPr id="4" name="TextBox 3">
            <a:extLst>
              <a:ext uri="{FF2B5EF4-FFF2-40B4-BE49-F238E27FC236}">
                <a16:creationId xmlns:a16="http://schemas.microsoft.com/office/drawing/2014/main" id="{DCBB6A5C-F86F-524B-A47F-0C03BCE6B2A3}"/>
              </a:ext>
            </a:extLst>
          </p:cNvPr>
          <p:cNvSpPr txBox="1"/>
          <p:nvPr/>
        </p:nvSpPr>
        <p:spPr>
          <a:xfrm>
            <a:off x="8191740" y="4400306"/>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0ab757…</a:t>
            </a:r>
          </a:p>
        </p:txBody>
      </p:sp>
      <p:sp>
        <p:nvSpPr>
          <p:cNvPr id="5" name="TextBox 4">
            <a:extLst>
              <a:ext uri="{FF2B5EF4-FFF2-40B4-BE49-F238E27FC236}">
                <a16:creationId xmlns:a16="http://schemas.microsoft.com/office/drawing/2014/main" id="{83E283A6-F173-FC47-9626-053255297FFD}"/>
              </a:ext>
            </a:extLst>
          </p:cNvPr>
          <p:cNvSpPr txBox="1"/>
          <p:nvPr/>
        </p:nvSpPr>
        <p:spPr>
          <a:xfrm>
            <a:off x="9914322" y="4400306"/>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5a7bab…</a:t>
            </a:r>
          </a:p>
        </p:txBody>
      </p:sp>
      <p:cxnSp>
        <p:nvCxnSpPr>
          <p:cNvPr id="6" name="Straight Arrow Connector 5">
            <a:extLst>
              <a:ext uri="{FF2B5EF4-FFF2-40B4-BE49-F238E27FC236}">
                <a16:creationId xmlns:a16="http://schemas.microsoft.com/office/drawing/2014/main" id="{64246851-1323-DE4F-A437-022EEEFD4A3B}"/>
              </a:ext>
            </a:extLst>
          </p:cNvPr>
          <p:cNvCxnSpPr>
            <a:cxnSpLocks/>
            <a:stCxn id="5" idx="1"/>
          </p:cNvCxnSpPr>
          <p:nvPr/>
        </p:nvCxnSpPr>
        <p:spPr>
          <a:xfrm flipH="1">
            <a:off x="9457122" y="4584972"/>
            <a:ext cx="457200"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7" name="Straight Arrow Connector 6">
            <a:extLst>
              <a:ext uri="{FF2B5EF4-FFF2-40B4-BE49-F238E27FC236}">
                <a16:creationId xmlns:a16="http://schemas.microsoft.com/office/drawing/2014/main" id="{7B6677FE-8096-AC41-92AB-DF7F5D7C5DA1}"/>
              </a:ext>
            </a:extLst>
          </p:cNvPr>
          <p:cNvCxnSpPr>
            <a:cxnSpLocks/>
            <a:stCxn id="8" idx="2"/>
            <a:endCxn id="4" idx="0"/>
          </p:cNvCxnSpPr>
          <p:nvPr/>
        </p:nvCxnSpPr>
        <p:spPr>
          <a:xfrm>
            <a:off x="8776341" y="4021251"/>
            <a:ext cx="48090" cy="3790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 name="Rectangle 7">
            <a:extLst>
              <a:ext uri="{FF2B5EF4-FFF2-40B4-BE49-F238E27FC236}">
                <a16:creationId xmlns:a16="http://schemas.microsoft.com/office/drawing/2014/main" id="{9D127600-20D9-6D49-92B3-9BA8665E018D}"/>
              </a:ext>
            </a:extLst>
          </p:cNvPr>
          <p:cNvSpPr/>
          <p:nvPr/>
        </p:nvSpPr>
        <p:spPr>
          <a:xfrm>
            <a:off x="8380238" y="3651919"/>
            <a:ext cx="792205" cy="369332"/>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r>
              <a:rPr lang="en-IT" b="1" dirty="0">
                <a:latin typeface="Aptos" panose="020B0004020202020204" pitchFamily="34" charset="0"/>
              </a:rPr>
              <a:t>HEAD</a:t>
            </a:r>
            <a:endParaRPr lang="en-IT" dirty="0">
              <a:latin typeface="Aptos" panose="020B0004020202020204" pitchFamily="34" charset="0"/>
            </a:endParaRPr>
          </a:p>
        </p:txBody>
      </p:sp>
      <p:sp>
        <p:nvSpPr>
          <p:cNvPr id="9" name="Rectangle 8">
            <a:extLst>
              <a:ext uri="{FF2B5EF4-FFF2-40B4-BE49-F238E27FC236}">
                <a16:creationId xmlns:a16="http://schemas.microsoft.com/office/drawing/2014/main" id="{39D9E17F-C105-C94A-A38D-BB8DA9269536}"/>
              </a:ext>
            </a:extLst>
          </p:cNvPr>
          <p:cNvSpPr/>
          <p:nvPr/>
        </p:nvSpPr>
        <p:spPr>
          <a:xfrm>
            <a:off x="8071670" y="4280233"/>
            <a:ext cx="3278908" cy="64654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10" name="Rectangle 9">
            <a:extLst>
              <a:ext uri="{FF2B5EF4-FFF2-40B4-BE49-F238E27FC236}">
                <a16:creationId xmlns:a16="http://schemas.microsoft.com/office/drawing/2014/main" id="{11F64BC4-73F9-EF4C-85F1-70009BCB66E7}"/>
              </a:ext>
            </a:extLst>
          </p:cNvPr>
          <p:cNvSpPr/>
          <p:nvPr/>
        </p:nvSpPr>
        <p:spPr>
          <a:xfrm>
            <a:off x="8033812" y="3975494"/>
            <a:ext cx="847155"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IT" sz="1600" b="1" dirty="0">
                <a:solidFill>
                  <a:schemeClr val="accent6"/>
                </a:solidFill>
                <a:latin typeface="Aptos" panose="020B0004020202020204" pitchFamily="34" charset="0"/>
              </a:rPr>
              <a:t>master</a:t>
            </a:r>
            <a:endParaRPr lang="en-IT" sz="1600" dirty="0">
              <a:solidFill>
                <a:schemeClr val="accent6"/>
              </a:solidFill>
              <a:latin typeface="Aptos" panose="020B0004020202020204" pitchFamily="34" charset="0"/>
            </a:endParaRPr>
          </a:p>
        </p:txBody>
      </p:sp>
      <p:sp>
        <p:nvSpPr>
          <p:cNvPr id="14" name="TextBox 13">
            <a:extLst>
              <a:ext uri="{FF2B5EF4-FFF2-40B4-BE49-F238E27FC236}">
                <a16:creationId xmlns:a16="http://schemas.microsoft.com/office/drawing/2014/main" id="{CB19FE2C-A448-0F4D-9BF9-E11D4B2886B3}"/>
              </a:ext>
            </a:extLst>
          </p:cNvPr>
          <p:cNvSpPr txBox="1"/>
          <p:nvPr/>
        </p:nvSpPr>
        <p:spPr>
          <a:xfrm>
            <a:off x="8191740" y="2417082"/>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0ab757…</a:t>
            </a:r>
          </a:p>
        </p:txBody>
      </p:sp>
      <p:sp>
        <p:nvSpPr>
          <p:cNvPr id="15" name="TextBox 14">
            <a:extLst>
              <a:ext uri="{FF2B5EF4-FFF2-40B4-BE49-F238E27FC236}">
                <a16:creationId xmlns:a16="http://schemas.microsoft.com/office/drawing/2014/main" id="{915A620C-BC22-7E40-941F-AA81234A1075}"/>
              </a:ext>
            </a:extLst>
          </p:cNvPr>
          <p:cNvSpPr txBox="1"/>
          <p:nvPr/>
        </p:nvSpPr>
        <p:spPr>
          <a:xfrm>
            <a:off x="9914322" y="2417082"/>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5a7bab…</a:t>
            </a:r>
          </a:p>
        </p:txBody>
      </p:sp>
      <p:cxnSp>
        <p:nvCxnSpPr>
          <p:cNvPr id="16" name="Straight Arrow Connector 15">
            <a:extLst>
              <a:ext uri="{FF2B5EF4-FFF2-40B4-BE49-F238E27FC236}">
                <a16:creationId xmlns:a16="http://schemas.microsoft.com/office/drawing/2014/main" id="{7A18094A-B52F-8940-B1DF-67839DFFE32E}"/>
              </a:ext>
            </a:extLst>
          </p:cNvPr>
          <p:cNvCxnSpPr>
            <a:cxnSpLocks/>
            <a:stCxn id="15" idx="1"/>
          </p:cNvCxnSpPr>
          <p:nvPr/>
        </p:nvCxnSpPr>
        <p:spPr>
          <a:xfrm flipH="1">
            <a:off x="9457122" y="2601748"/>
            <a:ext cx="457200"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7" name="Straight Arrow Connector 16">
            <a:extLst>
              <a:ext uri="{FF2B5EF4-FFF2-40B4-BE49-F238E27FC236}">
                <a16:creationId xmlns:a16="http://schemas.microsoft.com/office/drawing/2014/main" id="{AA0E18D0-F7C9-B445-8DBC-F3D926903197}"/>
              </a:ext>
            </a:extLst>
          </p:cNvPr>
          <p:cNvCxnSpPr>
            <a:cxnSpLocks/>
            <a:endCxn id="15" idx="0"/>
          </p:cNvCxnSpPr>
          <p:nvPr/>
        </p:nvCxnSpPr>
        <p:spPr>
          <a:xfrm>
            <a:off x="10547013" y="2176936"/>
            <a:ext cx="0" cy="24014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Rectangle 17">
            <a:extLst>
              <a:ext uri="{FF2B5EF4-FFF2-40B4-BE49-F238E27FC236}">
                <a16:creationId xmlns:a16="http://schemas.microsoft.com/office/drawing/2014/main" id="{9485012E-F69B-814E-A3EB-E4F1E24500C1}"/>
              </a:ext>
            </a:extLst>
          </p:cNvPr>
          <p:cNvSpPr/>
          <p:nvPr/>
        </p:nvSpPr>
        <p:spPr>
          <a:xfrm>
            <a:off x="10102820" y="1807604"/>
            <a:ext cx="792205" cy="369332"/>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r>
              <a:rPr lang="en-IT" b="1" dirty="0">
                <a:latin typeface="Aptos" panose="020B0004020202020204" pitchFamily="34" charset="0"/>
              </a:rPr>
              <a:t>HEAD</a:t>
            </a:r>
            <a:endParaRPr lang="en-IT" dirty="0">
              <a:latin typeface="Aptos" panose="020B0004020202020204" pitchFamily="34" charset="0"/>
            </a:endParaRPr>
          </a:p>
        </p:txBody>
      </p:sp>
      <p:sp>
        <p:nvSpPr>
          <p:cNvPr id="19" name="Rectangle 18">
            <a:extLst>
              <a:ext uri="{FF2B5EF4-FFF2-40B4-BE49-F238E27FC236}">
                <a16:creationId xmlns:a16="http://schemas.microsoft.com/office/drawing/2014/main" id="{C58F693B-5EA7-C648-9E1D-FD36125D924F}"/>
              </a:ext>
            </a:extLst>
          </p:cNvPr>
          <p:cNvSpPr/>
          <p:nvPr/>
        </p:nvSpPr>
        <p:spPr>
          <a:xfrm>
            <a:off x="8071670" y="2297009"/>
            <a:ext cx="3278908" cy="64654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20" name="Rectangle 19">
            <a:extLst>
              <a:ext uri="{FF2B5EF4-FFF2-40B4-BE49-F238E27FC236}">
                <a16:creationId xmlns:a16="http://schemas.microsoft.com/office/drawing/2014/main" id="{650CCA1B-EAB6-4B4B-85F3-CECB6AA66831}"/>
              </a:ext>
            </a:extLst>
          </p:cNvPr>
          <p:cNvSpPr/>
          <p:nvPr/>
        </p:nvSpPr>
        <p:spPr>
          <a:xfrm>
            <a:off x="8033812" y="1992270"/>
            <a:ext cx="847155"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IT" sz="1600" b="1" dirty="0">
                <a:solidFill>
                  <a:schemeClr val="accent6"/>
                </a:solidFill>
                <a:latin typeface="Aptos" panose="020B0004020202020204" pitchFamily="34" charset="0"/>
              </a:rPr>
              <a:t>master</a:t>
            </a:r>
            <a:endParaRPr lang="en-IT" sz="1600" dirty="0">
              <a:solidFill>
                <a:schemeClr val="accent6"/>
              </a:solidFill>
              <a:latin typeface="Aptos" panose="020B0004020202020204" pitchFamily="34" charset="0"/>
            </a:endParaRPr>
          </a:p>
        </p:txBody>
      </p:sp>
      <p:cxnSp>
        <p:nvCxnSpPr>
          <p:cNvPr id="21" name="Straight Arrow Connector 20">
            <a:extLst>
              <a:ext uri="{FF2B5EF4-FFF2-40B4-BE49-F238E27FC236}">
                <a16:creationId xmlns:a16="http://schemas.microsoft.com/office/drawing/2014/main" id="{D7DDF60A-6B15-964D-840F-E306FB923633}"/>
              </a:ext>
            </a:extLst>
          </p:cNvPr>
          <p:cNvCxnSpPr>
            <a:cxnSpLocks/>
          </p:cNvCxnSpPr>
          <p:nvPr/>
        </p:nvCxnSpPr>
        <p:spPr>
          <a:xfrm>
            <a:off x="9670470" y="3049945"/>
            <a:ext cx="0" cy="8108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23" name="Picture 22">
            <a:extLst>
              <a:ext uri="{FF2B5EF4-FFF2-40B4-BE49-F238E27FC236}">
                <a16:creationId xmlns:a16="http://schemas.microsoft.com/office/drawing/2014/main" id="{A1DBCA33-412C-9745-BC37-3CFA7C9B17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7893" y="1763299"/>
            <a:ext cx="4980457" cy="5033867"/>
          </a:xfrm>
          <a:prstGeom prst="rect">
            <a:avLst/>
          </a:prstGeom>
        </p:spPr>
      </p:pic>
      <p:sp>
        <p:nvSpPr>
          <p:cNvPr id="24" name="Rectangle 23">
            <a:extLst>
              <a:ext uri="{FF2B5EF4-FFF2-40B4-BE49-F238E27FC236}">
                <a16:creationId xmlns:a16="http://schemas.microsoft.com/office/drawing/2014/main" id="{CD7CF8B1-5283-BF4D-98B7-E5EFBD95E18D}"/>
              </a:ext>
            </a:extLst>
          </p:cNvPr>
          <p:cNvSpPr/>
          <p:nvPr/>
        </p:nvSpPr>
        <p:spPr>
          <a:xfrm>
            <a:off x="6198715" y="3182057"/>
            <a:ext cx="3493997" cy="369332"/>
          </a:xfrm>
          <a:prstGeom prst="rect">
            <a:avLst/>
          </a:prstGeom>
        </p:spPr>
        <p:txBody>
          <a:bodyPr wrap="square">
            <a:spAutoFit/>
          </a:bodyPr>
          <a:lstStyle/>
          <a:p>
            <a:r>
              <a:rPr lang="en-IT" dirty="0">
                <a:latin typeface="Courier" pitchFamily="2" charset="0"/>
              </a:rPr>
              <a:t>&gt;&gt; git checkout 0ab757</a:t>
            </a:r>
            <a:endParaRPr lang="en-IT" dirty="0"/>
          </a:p>
        </p:txBody>
      </p:sp>
      <p:sp>
        <p:nvSpPr>
          <p:cNvPr id="27" name="TextBox 26">
            <a:extLst>
              <a:ext uri="{FF2B5EF4-FFF2-40B4-BE49-F238E27FC236}">
                <a16:creationId xmlns:a16="http://schemas.microsoft.com/office/drawing/2014/main" id="{53642309-0B5D-E949-B613-9CCCE37764C6}"/>
              </a:ext>
            </a:extLst>
          </p:cNvPr>
          <p:cNvSpPr txBox="1"/>
          <p:nvPr/>
        </p:nvSpPr>
        <p:spPr>
          <a:xfrm>
            <a:off x="8228683" y="6102428"/>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0ab757…</a:t>
            </a:r>
          </a:p>
        </p:txBody>
      </p:sp>
      <p:sp>
        <p:nvSpPr>
          <p:cNvPr id="28" name="TextBox 27">
            <a:extLst>
              <a:ext uri="{FF2B5EF4-FFF2-40B4-BE49-F238E27FC236}">
                <a16:creationId xmlns:a16="http://schemas.microsoft.com/office/drawing/2014/main" id="{46ED26E3-1202-0848-8397-1CBCA4869724}"/>
              </a:ext>
            </a:extLst>
          </p:cNvPr>
          <p:cNvSpPr txBox="1"/>
          <p:nvPr/>
        </p:nvSpPr>
        <p:spPr>
          <a:xfrm>
            <a:off x="9951265" y="6102428"/>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5a7bab…</a:t>
            </a:r>
          </a:p>
        </p:txBody>
      </p:sp>
      <p:cxnSp>
        <p:nvCxnSpPr>
          <p:cNvPr id="29" name="Straight Arrow Connector 28">
            <a:extLst>
              <a:ext uri="{FF2B5EF4-FFF2-40B4-BE49-F238E27FC236}">
                <a16:creationId xmlns:a16="http://schemas.microsoft.com/office/drawing/2014/main" id="{BF72791D-4BA4-8744-A7FF-A6F76083C105}"/>
              </a:ext>
            </a:extLst>
          </p:cNvPr>
          <p:cNvCxnSpPr>
            <a:cxnSpLocks/>
            <a:stCxn id="28" idx="1"/>
          </p:cNvCxnSpPr>
          <p:nvPr/>
        </p:nvCxnSpPr>
        <p:spPr>
          <a:xfrm flipH="1">
            <a:off x="9494065" y="6287094"/>
            <a:ext cx="457200"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0" name="Straight Arrow Connector 29">
            <a:extLst>
              <a:ext uri="{FF2B5EF4-FFF2-40B4-BE49-F238E27FC236}">
                <a16:creationId xmlns:a16="http://schemas.microsoft.com/office/drawing/2014/main" id="{DC049D08-8F69-7540-B56A-BDF00B68B416}"/>
              </a:ext>
            </a:extLst>
          </p:cNvPr>
          <p:cNvCxnSpPr>
            <a:cxnSpLocks/>
            <a:endCxn id="28" idx="0"/>
          </p:cNvCxnSpPr>
          <p:nvPr/>
        </p:nvCxnSpPr>
        <p:spPr>
          <a:xfrm>
            <a:off x="10583956" y="5862282"/>
            <a:ext cx="0" cy="24014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1" name="Rectangle 30">
            <a:extLst>
              <a:ext uri="{FF2B5EF4-FFF2-40B4-BE49-F238E27FC236}">
                <a16:creationId xmlns:a16="http://schemas.microsoft.com/office/drawing/2014/main" id="{0DC5716F-C93F-C34B-9E1C-F4E886A42143}"/>
              </a:ext>
            </a:extLst>
          </p:cNvPr>
          <p:cNvSpPr/>
          <p:nvPr/>
        </p:nvSpPr>
        <p:spPr>
          <a:xfrm>
            <a:off x="10139763" y="5492950"/>
            <a:ext cx="792205" cy="369332"/>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r>
              <a:rPr lang="en-IT" b="1" dirty="0">
                <a:latin typeface="Aptos" panose="020B0004020202020204" pitchFamily="34" charset="0"/>
              </a:rPr>
              <a:t>HEAD</a:t>
            </a:r>
            <a:endParaRPr lang="en-IT" dirty="0">
              <a:latin typeface="Aptos" panose="020B0004020202020204" pitchFamily="34" charset="0"/>
            </a:endParaRPr>
          </a:p>
        </p:txBody>
      </p:sp>
      <p:sp>
        <p:nvSpPr>
          <p:cNvPr id="32" name="Rectangle 31">
            <a:extLst>
              <a:ext uri="{FF2B5EF4-FFF2-40B4-BE49-F238E27FC236}">
                <a16:creationId xmlns:a16="http://schemas.microsoft.com/office/drawing/2014/main" id="{8B7C5319-6E29-F847-B786-D53BB87E4492}"/>
              </a:ext>
            </a:extLst>
          </p:cNvPr>
          <p:cNvSpPr/>
          <p:nvPr/>
        </p:nvSpPr>
        <p:spPr>
          <a:xfrm>
            <a:off x="8108613" y="5982355"/>
            <a:ext cx="3278908" cy="64654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33" name="Rectangle 32">
            <a:extLst>
              <a:ext uri="{FF2B5EF4-FFF2-40B4-BE49-F238E27FC236}">
                <a16:creationId xmlns:a16="http://schemas.microsoft.com/office/drawing/2014/main" id="{7232C514-64F2-5843-B511-700CA7265BEA}"/>
              </a:ext>
            </a:extLst>
          </p:cNvPr>
          <p:cNvSpPr/>
          <p:nvPr/>
        </p:nvSpPr>
        <p:spPr>
          <a:xfrm>
            <a:off x="8070755" y="5677616"/>
            <a:ext cx="847155"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IT" sz="1600" b="1" dirty="0">
                <a:solidFill>
                  <a:schemeClr val="accent6"/>
                </a:solidFill>
                <a:latin typeface="Aptos" panose="020B0004020202020204" pitchFamily="34" charset="0"/>
              </a:rPr>
              <a:t>master</a:t>
            </a:r>
            <a:endParaRPr lang="en-IT" sz="1600" dirty="0">
              <a:solidFill>
                <a:schemeClr val="accent6"/>
              </a:solidFill>
              <a:latin typeface="Aptos" panose="020B0004020202020204" pitchFamily="34" charset="0"/>
            </a:endParaRPr>
          </a:p>
        </p:txBody>
      </p:sp>
      <p:cxnSp>
        <p:nvCxnSpPr>
          <p:cNvPr id="34" name="Straight Arrow Connector 33">
            <a:extLst>
              <a:ext uri="{FF2B5EF4-FFF2-40B4-BE49-F238E27FC236}">
                <a16:creationId xmlns:a16="http://schemas.microsoft.com/office/drawing/2014/main" id="{BC597CB4-0632-964B-8934-87238A72C58F}"/>
              </a:ext>
            </a:extLst>
          </p:cNvPr>
          <p:cNvCxnSpPr>
            <a:cxnSpLocks/>
          </p:cNvCxnSpPr>
          <p:nvPr/>
        </p:nvCxnSpPr>
        <p:spPr>
          <a:xfrm>
            <a:off x="9692711" y="4996481"/>
            <a:ext cx="0" cy="8108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5" name="Rectangle 34">
            <a:extLst>
              <a:ext uri="{FF2B5EF4-FFF2-40B4-BE49-F238E27FC236}">
                <a16:creationId xmlns:a16="http://schemas.microsoft.com/office/drawing/2014/main" id="{196954E3-074C-3B4A-8717-BB05892E6693}"/>
              </a:ext>
            </a:extLst>
          </p:cNvPr>
          <p:cNvSpPr/>
          <p:nvPr/>
        </p:nvSpPr>
        <p:spPr>
          <a:xfrm>
            <a:off x="6198715" y="5230630"/>
            <a:ext cx="3313065" cy="369332"/>
          </a:xfrm>
          <a:prstGeom prst="rect">
            <a:avLst/>
          </a:prstGeom>
        </p:spPr>
        <p:txBody>
          <a:bodyPr wrap="square">
            <a:spAutoFit/>
          </a:bodyPr>
          <a:lstStyle/>
          <a:p>
            <a:r>
              <a:rPr lang="en-IT" dirty="0">
                <a:latin typeface="Courier" pitchFamily="2" charset="0"/>
              </a:rPr>
              <a:t>&gt;&gt; git checkout 5a7bab</a:t>
            </a:r>
            <a:endParaRPr lang="en-IT" dirty="0"/>
          </a:p>
        </p:txBody>
      </p:sp>
      <p:sp>
        <p:nvSpPr>
          <p:cNvPr id="11" name="Slide Number Placeholder 10">
            <a:extLst>
              <a:ext uri="{FF2B5EF4-FFF2-40B4-BE49-F238E27FC236}">
                <a16:creationId xmlns:a16="http://schemas.microsoft.com/office/drawing/2014/main" id="{B34F4D6B-7377-F44C-8295-EA471FF42367}"/>
              </a:ext>
            </a:extLst>
          </p:cNvPr>
          <p:cNvSpPr>
            <a:spLocks noGrp="1"/>
          </p:cNvSpPr>
          <p:nvPr>
            <p:ph type="sldNum" sz="quarter" idx="12"/>
          </p:nvPr>
        </p:nvSpPr>
        <p:spPr/>
        <p:txBody>
          <a:bodyPr/>
          <a:lstStyle/>
          <a:p>
            <a:fld id="{31DE2C5B-556E-47B8-A792-024C2FCA4ACC}" type="slidenum">
              <a:rPr lang="en-GB" smtClean="0"/>
              <a:t>25</a:t>
            </a:fld>
            <a:endParaRPr lang="en-GB" dirty="0"/>
          </a:p>
        </p:txBody>
      </p:sp>
    </p:spTree>
    <p:extLst>
      <p:ext uri="{BB962C8B-B14F-4D97-AF65-F5344CB8AC3E}">
        <p14:creationId xmlns:p14="http://schemas.microsoft.com/office/powerpoint/2010/main" val="6598361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Branching </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1368314" cy="5334907"/>
          </a:xfrm>
        </p:spPr>
        <p:txBody>
          <a:bodyPr>
            <a:normAutofit fontScale="85000" lnSpcReduction="20000"/>
          </a:bodyPr>
          <a:lstStyle/>
          <a:p>
            <a:r>
              <a:rPr lang="en-IT" dirty="0"/>
              <a:t>We have a tree -&gt; We have branches</a:t>
            </a:r>
          </a:p>
          <a:p>
            <a:endParaRPr lang="en-IT" dirty="0"/>
          </a:p>
          <a:p>
            <a:endParaRPr lang="en-IT" dirty="0"/>
          </a:p>
          <a:p>
            <a:endParaRPr lang="en-IT" dirty="0"/>
          </a:p>
          <a:p>
            <a:endParaRPr lang="en-IT" dirty="0"/>
          </a:p>
          <a:p>
            <a:endParaRPr lang="en-IT" dirty="0"/>
          </a:p>
          <a:p>
            <a:endParaRPr lang="en-IT" dirty="0"/>
          </a:p>
          <a:p>
            <a:endParaRPr lang="en-IT" dirty="0"/>
          </a:p>
          <a:p>
            <a:endParaRPr lang="en-IT" dirty="0"/>
          </a:p>
          <a:p>
            <a:r>
              <a:rPr lang="en-IT" dirty="0"/>
              <a:t>Branching is one the greatest features of GIT and allows to create parallel branches to master and start working from there without modifying the other branches (master included).</a:t>
            </a:r>
          </a:p>
          <a:p>
            <a:endParaRPr lang="en-IT" dirty="0"/>
          </a:p>
          <a:p>
            <a:r>
              <a:rPr lang="en-IT" dirty="0"/>
              <a:t>Why this is game changer? Because now you can </a:t>
            </a:r>
          </a:p>
          <a:p>
            <a:pPr lvl="1"/>
            <a:r>
              <a:rPr lang="en-IT" dirty="0"/>
              <a:t>Work together on parallel branches</a:t>
            </a:r>
          </a:p>
          <a:p>
            <a:pPr lvl="1"/>
            <a:r>
              <a:rPr lang="en-IT" dirty="0"/>
              <a:t>Test functionalities in dedicated branches without affecting the main code</a:t>
            </a:r>
          </a:p>
          <a:p>
            <a:pPr lvl="1"/>
            <a:r>
              <a:rPr lang="en-IT" dirty="0"/>
              <a:t>Fix bugs efficiently</a:t>
            </a:r>
          </a:p>
        </p:txBody>
      </p:sp>
      <p:sp>
        <p:nvSpPr>
          <p:cNvPr id="4" name="TextBox 3">
            <a:extLst>
              <a:ext uri="{FF2B5EF4-FFF2-40B4-BE49-F238E27FC236}">
                <a16:creationId xmlns:a16="http://schemas.microsoft.com/office/drawing/2014/main" id="{773C0F19-3CDC-A343-820A-B2B6E206AF47}"/>
              </a:ext>
            </a:extLst>
          </p:cNvPr>
          <p:cNvSpPr txBox="1"/>
          <p:nvPr/>
        </p:nvSpPr>
        <p:spPr>
          <a:xfrm>
            <a:off x="3315039" y="2826666"/>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sp>
        <p:nvSpPr>
          <p:cNvPr id="5" name="TextBox 4">
            <a:extLst>
              <a:ext uri="{FF2B5EF4-FFF2-40B4-BE49-F238E27FC236}">
                <a16:creationId xmlns:a16="http://schemas.microsoft.com/office/drawing/2014/main" id="{B7B4C1C7-F8C9-2E45-9125-5ADFF011DD20}"/>
              </a:ext>
            </a:extLst>
          </p:cNvPr>
          <p:cNvSpPr txBox="1"/>
          <p:nvPr/>
        </p:nvSpPr>
        <p:spPr>
          <a:xfrm>
            <a:off x="4263898" y="2826666"/>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cxnSp>
        <p:nvCxnSpPr>
          <p:cNvPr id="6" name="Straight Arrow Connector 5">
            <a:extLst>
              <a:ext uri="{FF2B5EF4-FFF2-40B4-BE49-F238E27FC236}">
                <a16:creationId xmlns:a16="http://schemas.microsoft.com/office/drawing/2014/main" id="{D78C1AFB-E099-8F42-84B3-40E3ADB1C165}"/>
              </a:ext>
            </a:extLst>
          </p:cNvPr>
          <p:cNvCxnSpPr>
            <a:cxnSpLocks/>
            <a:stCxn id="5" idx="1"/>
            <a:endCxn id="4" idx="3"/>
          </p:cNvCxnSpPr>
          <p:nvPr/>
        </p:nvCxnSpPr>
        <p:spPr>
          <a:xfrm flipH="1">
            <a:off x="3772239" y="3011332"/>
            <a:ext cx="491659"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7" name="Rectangle 6">
            <a:extLst>
              <a:ext uri="{FF2B5EF4-FFF2-40B4-BE49-F238E27FC236}">
                <a16:creationId xmlns:a16="http://schemas.microsoft.com/office/drawing/2014/main" id="{DA161DEB-DBA1-7642-8EF2-5EA183981196}"/>
              </a:ext>
            </a:extLst>
          </p:cNvPr>
          <p:cNvSpPr/>
          <p:nvPr/>
        </p:nvSpPr>
        <p:spPr>
          <a:xfrm>
            <a:off x="3194969" y="2706593"/>
            <a:ext cx="4150376" cy="64654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8" name="Rectangle 7">
            <a:extLst>
              <a:ext uri="{FF2B5EF4-FFF2-40B4-BE49-F238E27FC236}">
                <a16:creationId xmlns:a16="http://schemas.microsoft.com/office/drawing/2014/main" id="{49379E17-1D10-624B-B4D7-8A1E194EF020}"/>
              </a:ext>
            </a:extLst>
          </p:cNvPr>
          <p:cNvSpPr/>
          <p:nvPr/>
        </p:nvSpPr>
        <p:spPr>
          <a:xfrm>
            <a:off x="3157111" y="2401854"/>
            <a:ext cx="847155"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IT" sz="1600" b="1" dirty="0">
                <a:solidFill>
                  <a:schemeClr val="accent6"/>
                </a:solidFill>
                <a:latin typeface="Aptos" panose="020B0004020202020204" pitchFamily="34" charset="0"/>
              </a:rPr>
              <a:t>master</a:t>
            </a:r>
            <a:endParaRPr lang="en-IT" sz="1600" dirty="0">
              <a:solidFill>
                <a:schemeClr val="accent6"/>
              </a:solidFill>
              <a:latin typeface="Aptos" panose="020B0004020202020204" pitchFamily="34" charset="0"/>
            </a:endParaRPr>
          </a:p>
        </p:txBody>
      </p:sp>
      <p:sp>
        <p:nvSpPr>
          <p:cNvPr id="12" name="Rectangle 11">
            <a:extLst>
              <a:ext uri="{FF2B5EF4-FFF2-40B4-BE49-F238E27FC236}">
                <a16:creationId xmlns:a16="http://schemas.microsoft.com/office/drawing/2014/main" id="{E01DCC90-2755-CC46-A86B-2A9E3A5AB3B0}"/>
              </a:ext>
            </a:extLst>
          </p:cNvPr>
          <p:cNvSpPr/>
          <p:nvPr/>
        </p:nvSpPr>
        <p:spPr>
          <a:xfrm>
            <a:off x="4795289" y="1949182"/>
            <a:ext cx="1724920" cy="646545"/>
          </a:xfrm>
          <a:prstGeom prst="rect">
            <a:avLst/>
          </a:prstGeom>
          <a:noFill/>
          <a:ln>
            <a:solidFill>
              <a:srgbClr val="0070C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a:solidFill>
                <a:srgbClr val="0070C0"/>
              </a:solidFill>
              <a:latin typeface="Aptos" panose="020B0004020202020204" pitchFamily="34" charset="0"/>
            </a:endParaRPr>
          </a:p>
        </p:txBody>
      </p:sp>
      <p:sp>
        <p:nvSpPr>
          <p:cNvPr id="13" name="Rectangle 12">
            <a:extLst>
              <a:ext uri="{FF2B5EF4-FFF2-40B4-BE49-F238E27FC236}">
                <a16:creationId xmlns:a16="http://schemas.microsoft.com/office/drawing/2014/main" id="{5D95703C-D026-1742-965E-F2DA71861672}"/>
              </a:ext>
            </a:extLst>
          </p:cNvPr>
          <p:cNvSpPr/>
          <p:nvPr/>
        </p:nvSpPr>
        <p:spPr>
          <a:xfrm>
            <a:off x="6112329" y="3429279"/>
            <a:ext cx="2929071" cy="646545"/>
          </a:xfrm>
          <a:prstGeom prst="rect">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15" name="TextBox 14">
            <a:extLst>
              <a:ext uri="{FF2B5EF4-FFF2-40B4-BE49-F238E27FC236}">
                <a16:creationId xmlns:a16="http://schemas.microsoft.com/office/drawing/2014/main" id="{C4ACB00A-5A54-0945-99F3-C9D61A2FE2D1}"/>
              </a:ext>
            </a:extLst>
          </p:cNvPr>
          <p:cNvSpPr txBox="1"/>
          <p:nvPr/>
        </p:nvSpPr>
        <p:spPr>
          <a:xfrm>
            <a:off x="6539036" y="2826666"/>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sp>
        <p:nvSpPr>
          <p:cNvPr id="16" name="TextBox 15">
            <a:extLst>
              <a:ext uri="{FF2B5EF4-FFF2-40B4-BE49-F238E27FC236}">
                <a16:creationId xmlns:a16="http://schemas.microsoft.com/office/drawing/2014/main" id="{5CACF1EB-54E6-3441-8D4B-B52B4C6E8ABE}"/>
              </a:ext>
            </a:extLst>
          </p:cNvPr>
          <p:cNvSpPr txBox="1"/>
          <p:nvPr/>
        </p:nvSpPr>
        <p:spPr>
          <a:xfrm>
            <a:off x="5361577" y="2826666"/>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cxnSp>
        <p:nvCxnSpPr>
          <p:cNvPr id="17" name="Straight Arrow Connector 16">
            <a:extLst>
              <a:ext uri="{FF2B5EF4-FFF2-40B4-BE49-F238E27FC236}">
                <a16:creationId xmlns:a16="http://schemas.microsoft.com/office/drawing/2014/main" id="{077958DC-6673-9545-98B9-E80481B4AF25}"/>
              </a:ext>
            </a:extLst>
          </p:cNvPr>
          <p:cNvCxnSpPr>
            <a:cxnSpLocks/>
            <a:endCxn id="5" idx="3"/>
          </p:cNvCxnSpPr>
          <p:nvPr/>
        </p:nvCxnSpPr>
        <p:spPr>
          <a:xfrm flipH="1">
            <a:off x="4721098" y="3011332"/>
            <a:ext cx="640479"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0" name="Straight Arrow Connector 19">
            <a:extLst>
              <a:ext uri="{FF2B5EF4-FFF2-40B4-BE49-F238E27FC236}">
                <a16:creationId xmlns:a16="http://schemas.microsoft.com/office/drawing/2014/main" id="{A0D3EC27-2B20-0F4A-9099-03AF277D46F0}"/>
              </a:ext>
            </a:extLst>
          </p:cNvPr>
          <p:cNvCxnSpPr>
            <a:cxnSpLocks/>
            <a:stCxn id="15" idx="1"/>
            <a:endCxn id="16" idx="3"/>
          </p:cNvCxnSpPr>
          <p:nvPr/>
        </p:nvCxnSpPr>
        <p:spPr>
          <a:xfrm flipH="1">
            <a:off x="5818777" y="3011332"/>
            <a:ext cx="720259"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24" name="TextBox 23">
            <a:extLst>
              <a:ext uri="{FF2B5EF4-FFF2-40B4-BE49-F238E27FC236}">
                <a16:creationId xmlns:a16="http://schemas.microsoft.com/office/drawing/2014/main" id="{ABBEC290-D0A4-3F41-99DE-0BF2C098DBEA}"/>
              </a:ext>
            </a:extLst>
          </p:cNvPr>
          <p:cNvSpPr txBox="1"/>
          <p:nvPr/>
        </p:nvSpPr>
        <p:spPr>
          <a:xfrm>
            <a:off x="5821523" y="2081084"/>
            <a:ext cx="457200" cy="369332"/>
          </a:xfrm>
          <a:prstGeom prst="rect">
            <a:avLst/>
          </a:prstGeom>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wrap="square" rtlCol="0" anchor="ctr">
            <a:spAutoFit/>
          </a:bodyPr>
          <a:lstStyle/>
          <a:p>
            <a:pPr algn="ctr"/>
            <a:endParaRPr lang="en-IT" dirty="0">
              <a:solidFill>
                <a:srgbClr val="0070C0"/>
              </a:solidFill>
              <a:latin typeface="Aptos" panose="020B0004020202020204" pitchFamily="34" charset="0"/>
              <a:ea typeface="Palatino" pitchFamily="2" charset="77"/>
            </a:endParaRPr>
          </a:p>
        </p:txBody>
      </p:sp>
      <p:sp>
        <p:nvSpPr>
          <p:cNvPr id="25" name="TextBox 24">
            <a:extLst>
              <a:ext uri="{FF2B5EF4-FFF2-40B4-BE49-F238E27FC236}">
                <a16:creationId xmlns:a16="http://schemas.microsoft.com/office/drawing/2014/main" id="{267C4B73-ABC3-3640-9951-9470C5679192}"/>
              </a:ext>
            </a:extLst>
          </p:cNvPr>
          <p:cNvSpPr txBox="1"/>
          <p:nvPr/>
        </p:nvSpPr>
        <p:spPr>
          <a:xfrm>
            <a:off x="4968876" y="2081084"/>
            <a:ext cx="457200" cy="369332"/>
          </a:xfrm>
          <a:prstGeom prst="rect">
            <a:avLst/>
          </a:prstGeom>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wrap="square" rtlCol="0" anchor="ctr">
            <a:spAutoFit/>
          </a:bodyPr>
          <a:lstStyle/>
          <a:p>
            <a:pPr algn="ctr"/>
            <a:endParaRPr lang="en-IT" dirty="0">
              <a:solidFill>
                <a:srgbClr val="0070C0"/>
              </a:solidFill>
              <a:latin typeface="Aptos" panose="020B0004020202020204" pitchFamily="34" charset="0"/>
              <a:ea typeface="Palatino" pitchFamily="2" charset="77"/>
            </a:endParaRPr>
          </a:p>
        </p:txBody>
      </p:sp>
      <p:cxnSp>
        <p:nvCxnSpPr>
          <p:cNvPr id="26" name="Straight Arrow Connector 25">
            <a:extLst>
              <a:ext uri="{FF2B5EF4-FFF2-40B4-BE49-F238E27FC236}">
                <a16:creationId xmlns:a16="http://schemas.microsoft.com/office/drawing/2014/main" id="{F68366C6-9C52-A144-9DF8-B863396A503A}"/>
              </a:ext>
            </a:extLst>
          </p:cNvPr>
          <p:cNvCxnSpPr>
            <a:cxnSpLocks/>
            <a:stCxn id="24" idx="1"/>
            <a:endCxn id="25" idx="3"/>
          </p:cNvCxnSpPr>
          <p:nvPr/>
        </p:nvCxnSpPr>
        <p:spPr>
          <a:xfrm flipH="1">
            <a:off x="5426076" y="2265750"/>
            <a:ext cx="39544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84F42AD1-5C17-104E-9393-A267AEB701E3}"/>
              </a:ext>
            </a:extLst>
          </p:cNvPr>
          <p:cNvSpPr/>
          <p:nvPr/>
        </p:nvSpPr>
        <p:spPr>
          <a:xfrm>
            <a:off x="4779710" y="1669039"/>
            <a:ext cx="1039067"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GB" sz="1600" b="1" dirty="0">
                <a:solidFill>
                  <a:srgbClr val="0070C0"/>
                </a:solidFill>
                <a:latin typeface="Aptos" panose="020B0004020202020204" pitchFamily="34" charset="0"/>
              </a:rPr>
              <a:t>a b</a:t>
            </a:r>
            <a:r>
              <a:rPr lang="en-IT" sz="1600" b="1" dirty="0">
                <a:solidFill>
                  <a:srgbClr val="0070C0"/>
                </a:solidFill>
                <a:latin typeface="Aptos" panose="020B0004020202020204" pitchFamily="34" charset="0"/>
              </a:rPr>
              <a:t>ranch </a:t>
            </a:r>
            <a:endParaRPr lang="en-IT" sz="1600" dirty="0">
              <a:solidFill>
                <a:srgbClr val="0070C0"/>
              </a:solidFill>
              <a:latin typeface="Aptos" panose="020B0004020202020204" pitchFamily="34" charset="0"/>
            </a:endParaRPr>
          </a:p>
        </p:txBody>
      </p:sp>
      <p:sp>
        <p:nvSpPr>
          <p:cNvPr id="32" name="Rectangle 31">
            <a:extLst>
              <a:ext uri="{FF2B5EF4-FFF2-40B4-BE49-F238E27FC236}">
                <a16:creationId xmlns:a16="http://schemas.microsoft.com/office/drawing/2014/main" id="{F122F7C2-E6F4-5547-BDB9-0B45D32F972C}"/>
              </a:ext>
            </a:extLst>
          </p:cNvPr>
          <p:cNvSpPr/>
          <p:nvPr/>
        </p:nvSpPr>
        <p:spPr>
          <a:xfrm>
            <a:off x="7440332" y="3120837"/>
            <a:ext cx="1654620"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GB" sz="1600" b="1" dirty="0">
                <a:solidFill>
                  <a:srgbClr val="C00000"/>
                </a:solidFill>
                <a:latin typeface="Aptos" panose="020B0004020202020204" pitchFamily="34" charset="0"/>
              </a:rPr>
              <a:t>another b</a:t>
            </a:r>
            <a:r>
              <a:rPr lang="en-IT" sz="1600" b="1" dirty="0">
                <a:solidFill>
                  <a:srgbClr val="C00000"/>
                </a:solidFill>
                <a:latin typeface="Aptos" panose="020B0004020202020204" pitchFamily="34" charset="0"/>
              </a:rPr>
              <a:t>ranch </a:t>
            </a:r>
            <a:endParaRPr lang="en-IT" sz="1600" dirty="0">
              <a:solidFill>
                <a:srgbClr val="C00000"/>
              </a:solidFill>
              <a:latin typeface="Aptos" panose="020B0004020202020204" pitchFamily="34" charset="0"/>
            </a:endParaRPr>
          </a:p>
        </p:txBody>
      </p:sp>
      <p:sp>
        <p:nvSpPr>
          <p:cNvPr id="33" name="TextBox 32">
            <a:extLst>
              <a:ext uri="{FF2B5EF4-FFF2-40B4-BE49-F238E27FC236}">
                <a16:creationId xmlns:a16="http://schemas.microsoft.com/office/drawing/2014/main" id="{8C8DF1C1-9501-9F4A-A8F3-325B8ADA0272}"/>
              </a:ext>
            </a:extLst>
          </p:cNvPr>
          <p:cNvSpPr txBox="1"/>
          <p:nvPr/>
        </p:nvSpPr>
        <p:spPr>
          <a:xfrm>
            <a:off x="6332258" y="3546583"/>
            <a:ext cx="457200" cy="369332"/>
          </a:xfrm>
          <a:prstGeom prst="rect">
            <a:avLst/>
          </a:prstGeom>
          <a:solidFill>
            <a:srgbClr val="C0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sp>
        <p:nvSpPr>
          <p:cNvPr id="34" name="TextBox 33">
            <a:extLst>
              <a:ext uri="{FF2B5EF4-FFF2-40B4-BE49-F238E27FC236}">
                <a16:creationId xmlns:a16="http://schemas.microsoft.com/office/drawing/2014/main" id="{EA69CD4A-CBA0-6E47-9474-9FEF4C69A310}"/>
              </a:ext>
            </a:extLst>
          </p:cNvPr>
          <p:cNvSpPr txBox="1"/>
          <p:nvPr/>
        </p:nvSpPr>
        <p:spPr>
          <a:xfrm>
            <a:off x="7379262" y="3546583"/>
            <a:ext cx="457200" cy="369332"/>
          </a:xfrm>
          <a:prstGeom prst="rect">
            <a:avLst/>
          </a:prstGeom>
          <a:solidFill>
            <a:srgbClr val="C0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sp>
        <p:nvSpPr>
          <p:cNvPr id="35" name="TextBox 34">
            <a:extLst>
              <a:ext uri="{FF2B5EF4-FFF2-40B4-BE49-F238E27FC236}">
                <a16:creationId xmlns:a16="http://schemas.microsoft.com/office/drawing/2014/main" id="{2723E14B-B673-9940-897A-A7C4DB4F6C9C}"/>
              </a:ext>
            </a:extLst>
          </p:cNvPr>
          <p:cNvSpPr txBox="1"/>
          <p:nvPr/>
        </p:nvSpPr>
        <p:spPr>
          <a:xfrm>
            <a:off x="8333704" y="3546583"/>
            <a:ext cx="457200" cy="369332"/>
          </a:xfrm>
          <a:prstGeom prst="rect">
            <a:avLst/>
          </a:prstGeom>
          <a:solidFill>
            <a:srgbClr val="C0000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cxnSp>
        <p:nvCxnSpPr>
          <p:cNvPr id="36" name="Straight Arrow Connector 35">
            <a:extLst>
              <a:ext uri="{FF2B5EF4-FFF2-40B4-BE49-F238E27FC236}">
                <a16:creationId xmlns:a16="http://schemas.microsoft.com/office/drawing/2014/main" id="{4E573CA7-5A02-AB49-B44B-D184C4D0983C}"/>
              </a:ext>
            </a:extLst>
          </p:cNvPr>
          <p:cNvCxnSpPr>
            <a:cxnSpLocks/>
            <a:stCxn id="35" idx="1"/>
            <a:endCxn id="34" idx="3"/>
          </p:cNvCxnSpPr>
          <p:nvPr/>
        </p:nvCxnSpPr>
        <p:spPr>
          <a:xfrm flipH="1">
            <a:off x="7836462" y="3731249"/>
            <a:ext cx="497242" cy="0"/>
          </a:xfrm>
          <a:prstGeom prst="straightConnector1">
            <a:avLst/>
          </a:prstGeom>
          <a:ln>
            <a:solidFill>
              <a:srgbClr val="C00000"/>
            </a:solidFill>
            <a:tailEnd type="triangle"/>
          </a:ln>
        </p:spPr>
        <p:style>
          <a:lnRef idx="1">
            <a:schemeClr val="accent6"/>
          </a:lnRef>
          <a:fillRef idx="0">
            <a:schemeClr val="accent6"/>
          </a:fillRef>
          <a:effectRef idx="0">
            <a:schemeClr val="accent6"/>
          </a:effectRef>
          <a:fontRef idx="minor">
            <a:schemeClr val="tx1"/>
          </a:fontRef>
        </p:style>
      </p:cxnSp>
      <p:cxnSp>
        <p:nvCxnSpPr>
          <p:cNvPr id="39" name="Straight Arrow Connector 38">
            <a:extLst>
              <a:ext uri="{FF2B5EF4-FFF2-40B4-BE49-F238E27FC236}">
                <a16:creationId xmlns:a16="http://schemas.microsoft.com/office/drawing/2014/main" id="{B8FD8FAD-0193-5842-B962-4AFB3C12E5E6}"/>
              </a:ext>
            </a:extLst>
          </p:cNvPr>
          <p:cNvCxnSpPr>
            <a:cxnSpLocks/>
            <a:stCxn id="34" idx="1"/>
            <a:endCxn id="33" idx="3"/>
          </p:cNvCxnSpPr>
          <p:nvPr/>
        </p:nvCxnSpPr>
        <p:spPr>
          <a:xfrm flipH="1">
            <a:off x="6789458" y="3731249"/>
            <a:ext cx="589804" cy="0"/>
          </a:xfrm>
          <a:prstGeom prst="straightConnector1">
            <a:avLst/>
          </a:prstGeom>
          <a:ln>
            <a:solidFill>
              <a:srgbClr val="C00000"/>
            </a:solidFill>
            <a:tailEnd type="triangle"/>
          </a:ln>
        </p:spPr>
        <p:style>
          <a:lnRef idx="1">
            <a:schemeClr val="accent6"/>
          </a:lnRef>
          <a:fillRef idx="0">
            <a:schemeClr val="accent6"/>
          </a:fillRef>
          <a:effectRef idx="0">
            <a:schemeClr val="accent6"/>
          </a:effectRef>
          <a:fontRef idx="minor">
            <a:schemeClr val="tx1"/>
          </a:fontRef>
        </p:style>
      </p:cxnSp>
      <p:cxnSp>
        <p:nvCxnSpPr>
          <p:cNvPr id="45" name="Straight Arrow Connector 44">
            <a:extLst>
              <a:ext uri="{FF2B5EF4-FFF2-40B4-BE49-F238E27FC236}">
                <a16:creationId xmlns:a16="http://schemas.microsoft.com/office/drawing/2014/main" id="{0EDA313F-8ADD-8843-AE24-C82677FC6EDF}"/>
              </a:ext>
            </a:extLst>
          </p:cNvPr>
          <p:cNvCxnSpPr>
            <a:cxnSpLocks/>
            <a:stCxn id="33" idx="1"/>
            <a:endCxn id="16" idx="2"/>
          </p:cNvCxnSpPr>
          <p:nvPr/>
        </p:nvCxnSpPr>
        <p:spPr>
          <a:xfrm flipH="1" flipV="1">
            <a:off x="5590177" y="3195998"/>
            <a:ext cx="742081" cy="535251"/>
          </a:xfrm>
          <a:prstGeom prst="straightConnector1">
            <a:avLst/>
          </a:prstGeom>
          <a:ln>
            <a:solidFill>
              <a:srgbClr val="C00000"/>
            </a:solidFill>
            <a:tailEnd type="triangle"/>
          </a:ln>
        </p:spPr>
        <p:style>
          <a:lnRef idx="1">
            <a:schemeClr val="accent6"/>
          </a:lnRef>
          <a:fillRef idx="0">
            <a:schemeClr val="accent6"/>
          </a:fillRef>
          <a:effectRef idx="0">
            <a:schemeClr val="accent6"/>
          </a:effectRef>
          <a:fontRef idx="minor">
            <a:schemeClr val="tx1"/>
          </a:fontRef>
        </p:style>
      </p:cxnSp>
      <p:cxnSp>
        <p:nvCxnSpPr>
          <p:cNvPr id="48" name="Straight Arrow Connector 47">
            <a:extLst>
              <a:ext uri="{FF2B5EF4-FFF2-40B4-BE49-F238E27FC236}">
                <a16:creationId xmlns:a16="http://schemas.microsoft.com/office/drawing/2014/main" id="{A21AA4D5-61DB-F049-9A0D-D62968CB940A}"/>
              </a:ext>
            </a:extLst>
          </p:cNvPr>
          <p:cNvCxnSpPr>
            <a:cxnSpLocks/>
            <a:stCxn id="25" idx="1"/>
          </p:cNvCxnSpPr>
          <p:nvPr/>
        </p:nvCxnSpPr>
        <p:spPr>
          <a:xfrm flipH="1">
            <a:off x="4492498" y="2265750"/>
            <a:ext cx="476378" cy="5609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A8EF3380-10AB-A64D-ADE6-584330A17B8C}"/>
              </a:ext>
            </a:extLst>
          </p:cNvPr>
          <p:cNvCxnSpPr>
            <a:cxnSpLocks/>
            <a:stCxn id="15" idx="0"/>
            <a:endCxn id="24" idx="3"/>
          </p:cNvCxnSpPr>
          <p:nvPr/>
        </p:nvCxnSpPr>
        <p:spPr>
          <a:xfrm flipH="1" flipV="1">
            <a:off x="6278723" y="2265750"/>
            <a:ext cx="488913" cy="5609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Slide Number Placeholder 8">
            <a:extLst>
              <a:ext uri="{FF2B5EF4-FFF2-40B4-BE49-F238E27FC236}">
                <a16:creationId xmlns:a16="http://schemas.microsoft.com/office/drawing/2014/main" id="{7FFC356E-DE16-4B46-9BF6-66912F1FA61F}"/>
              </a:ext>
            </a:extLst>
          </p:cNvPr>
          <p:cNvSpPr>
            <a:spLocks noGrp="1"/>
          </p:cNvSpPr>
          <p:nvPr>
            <p:ph type="sldNum" sz="quarter" idx="12"/>
          </p:nvPr>
        </p:nvSpPr>
        <p:spPr/>
        <p:txBody>
          <a:bodyPr/>
          <a:lstStyle/>
          <a:p>
            <a:fld id="{31DE2C5B-556E-47B8-A792-024C2FCA4ACC}" type="slidenum">
              <a:rPr lang="en-GB" smtClean="0"/>
              <a:t>26</a:t>
            </a:fld>
            <a:endParaRPr lang="en-GB" dirty="0"/>
          </a:p>
        </p:txBody>
      </p:sp>
    </p:spTree>
    <p:extLst>
      <p:ext uri="{BB962C8B-B14F-4D97-AF65-F5344CB8AC3E}">
        <p14:creationId xmlns:p14="http://schemas.microsoft.com/office/powerpoint/2010/main" val="9220248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Create new branches </a:t>
            </a:r>
          </a:p>
        </p:txBody>
      </p:sp>
      <p:sp>
        <p:nvSpPr>
          <p:cNvPr id="37" name="Content Placeholder 2">
            <a:extLst>
              <a:ext uri="{FF2B5EF4-FFF2-40B4-BE49-F238E27FC236}">
                <a16:creationId xmlns:a16="http://schemas.microsoft.com/office/drawing/2014/main" id="{0FA79970-5EAD-B646-9C34-805E04C7BCE6}"/>
              </a:ext>
            </a:extLst>
          </p:cNvPr>
          <p:cNvSpPr>
            <a:spLocks noGrp="1"/>
          </p:cNvSpPr>
          <p:nvPr>
            <p:ph idx="1"/>
          </p:nvPr>
        </p:nvSpPr>
        <p:spPr>
          <a:xfrm>
            <a:off x="428172" y="1361167"/>
            <a:ext cx="11368314" cy="5334907"/>
          </a:xfrm>
        </p:spPr>
        <p:txBody>
          <a:bodyPr>
            <a:normAutofit/>
          </a:bodyPr>
          <a:lstStyle/>
          <a:p>
            <a:r>
              <a:rPr lang="en-IT" dirty="0"/>
              <a:t>To create a branch from the current commit you can use the “</a:t>
            </a:r>
            <a:r>
              <a:rPr lang="en-IT" dirty="0">
                <a:latin typeface="Courier" pitchFamily="2" charset="0"/>
              </a:rPr>
              <a:t>git branch</a:t>
            </a:r>
            <a:r>
              <a:rPr lang="en-IT" dirty="0"/>
              <a:t>” command</a:t>
            </a:r>
            <a:br>
              <a:rPr lang="en-IT" dirty="0"/>
            </a:br>
            <a:br>
              <a:rPr lang="en-IT" dirty="0"/>
            </a:br>
            <a:r>
              <a:rPr lang="en-IT" dirty="0">
                <a:latin typeface="Courier" pitchFamily="2" charset="0"/>
              </a:rPr>
              <a:t>&gt;&gt; git branch devel</a:t>
            </a:r>
          </a:p>
          <a:p>
            <a:endParaRPr lang="en-IT" dirty="0">
              <a:latin typeface="Courier" pitchFamily="2" charset="0"/>
            </a:endParaRPr>
          </a:p>
          <a:p>
            <a:r>
              <a:rPr lang="en-IT" dirty="0"/>
              <a:t>Now this is our working tree:</a:t>
            </a:r>
          </a:p>
          <a:p>
            <a:pPr lvl="1"/>
            <a:r>
              <a:rPr lang="en-IT" dirty="0"/>
              <a:t>We have a new branch called devel</a:t>
            </a:r>
          </a:p>
          <a:p>
            <a:pPr lvl="1"/>
            <a:r>
              <a:rPr lang="en-GB" dirty="0"/>
              <a:t>d</a:t>
            </a:r>
            <a:r>
              <a:rPr lang="en-IT" dirty="0"/>
              <a:t>evel is currently empty</a:t>
            </a:r>
          </a:p>
          <a:p>
            <a:pPr lvl="1"/>
            <a:r>
              <a:rPr lang="en-IT" dirty="0"/>
              <a:t>HEAD points to the latest commit</a:t>
            </a:r>
          </a:p>
          <a:p>
            <a:endParaRPr lang="en-IT" dirty="0"/>
          </a:p>
          <a:p>
            <a:r>
              <a:rPr lang="en-IT" dirty="0"/>
              <a:t>If a new commit occurs this will be our working tree: </a:t>
            </a:r>
          </a:p>
          <a:p>
            <a:endParaRPr lang="en-IT" dirty="0"/>
          </a:p>
          <a:p>
            <a:endParaRPr lang="en-IT" dirty="0"/>
          </a:p>
          <a:p>
            <a:endParaRPr lang="en-IT" dirty="0"/>
          </a:p>
          <a:p>
            <a:endParaRPr lang="en-IT" dirty="0"/>
          </a:p>
          <a:p>
            <a:endParaRPr lang="en-IT" dirty="0"/>
          </a:p>
          <a:p>
            <a:endParaRPr lang="en-IT" dirty="0"/>
          </a:p>
          <a:p>
            <a:endParaRPr lang="en-IT" dirty="0"/>
          </a:p>
        </p:txBody>
      </p:sp>
      <p:sp>
        <p:nvSpPr>
          <p:cNvPr id="38" name="TextBox 37">
            <a:extLst>
              <a:ext uri="{FF2B5EF4-FFF2-40B4-BE49-F238E27FC236}">
                <a16:creationId xmlns:a16="http://schemas.microsoft.com/office/drawing/2014/main" id="{27D3789E-2016-A344-8118-662A29517E29}"/>
              </a:ext>
            </a:extLst>
          </p:cNvPr>
          <p:cNvSpPr txBox="1"/>
          <p:nvPr/>
        </p:nvSpPr>
        <p:spPr>
          <a:xfrm>
            <a:off x="5351912" y="4289370"/>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0ab757…</a:t>
            </a:r>
          </a:p>
        </p:txBody>
      </p:sp>
      <p:sp>
        <p:nvSpPr>
          <p:cNvPr id="40" name="TextBox 39">
            <a:extLst>
              <a:ext uri="{FF2B5EF4-FFF2-40B4-BE49-F238E27FC236}">
                <a16:creationId xmlns:a16="http://schemas.microsoft.com/office/drawing/2014/main" id="{62E9192B-B0B0-8442-8B9D-56C9D6326840}"/>
              </a:ext>
            </a:extLst>
          </p:cNvPr>
          <p:cNvSpPr txBox="1"/>
          <p:nvPr/>
        </p:nvSpPr>
        <p:spPr>
          <a:xfrm>
            <a:off x="7074494" y="4289370"/>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5a7bab…</a:t>
            </a:r>
          </a:p>
        </p:txBody>
      </p:sp>
      <p:cxnSp>
        <p:nvCxnSpPr>
          <p:cNvPr id="41" name="Straight Arrow Connector 40">
            <a:extLst>
              <a:ext uri="{FF2B5EF4-FFF2-40B4-BE49-F238E27FC236}">
                <a16:creationId xmlns:a16="http://schemas.microsoft.com/office/drawing/2014/main" id="{9645A453-234E-DD43-AB0A-EA7F23F7419D}"/>
              </a:ext>
            </a:extLst>
          </p:cNvPr>
          <p:cNvCxnSpPr>
            <a:cxnSpLocks/>
            <a:stCxn id="40" idx="1"/>
          </p:cNvCxnSpPr>
          <p:nvPr/>
        </p:nvCxnSpPr>
        <p:spPr>
          <a:xfrm flipH="1">
            <a:off x="6617294" y="4474036"/>
            <a:ext cx="457200"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42" name="Straight Arrow Connector 41">
            <a:extLst>
              <a:ext uri="{FF2B5EF4-FFF2-40B4-BE49-F238E27FC236}">
                <a16:creationId xmlns:a16="http://schemas.microsoft.com/office/drawing/2014/main" id="{3A28CBB3-1F90-6944-8F9C-5A8C8E2BD65C}"/>
              </a:ext>
            </a:extLst>
          </p:cNvPr>
          <p:cNvCxnSpPr>
            <a:cxnSpLocks/>
            <a:stCxn id="43" idx="2"/>
            <a:endCxn id="40" idx="0"/>
          </p:cNvCxnSpPr>
          <p:nvPr/>
        </p:nvCxnSpPr>
        <p:spPr>
          <a:xfrm>
            <a:off x="7659095" y="3359027"/>
            <a:ext cx="48090" cy="93034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3" name="Rectangle 42">
            <a:extLst>
              <a:ext uri="{FF2B5EF4-FFF2-40B4-BE49-F238E27FC236}">
                <a16:creationId xmlns:a16="http://schemas.microsoft.com/office/drawing/2014/main" id="{18922C99-4AA9-DB4E-99D6-AD3E0FF4E432}"/>
              </a:ext>
            </a:extLst>
          </p:cNvPr>
          <p:cNvSpPr/>
          <p:nvPr/>
        </p:nvSpPr>
        <p:spPr>
          <a:xfrm>
            <a:off x="7262992" y="2989695"/>
            <a:ext cx="792205" cy="369332"/>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r>
              <a:rPr lang="en-IT" b="1" dirty="0">
                <a:latin typeface="Aptos" panose="020B0004020202020204" pitchFamily="34" charset="0"/>
              </a:rPr>
              <a:t>HEAD</a:t>
            </a:r>
            <a:endParaRPr lang="en-IT" dirty="0">
              <a:latin typeface="Aptos" panose="020B0004020202020204" pitchFamily="34" charset="0"/>
            </a:endParaRPr>
          </a:p>
        </p:txBody>
      </p:sp>
      <p:sp>
        <p:nvSpPr>
          <p:cNvPr id="44" name="Rectangle 43">
            <a:extLst>
              <a:ext uri="{FF2B5EF4-FFF2-40B4-BE49-F238E27FC236}">
                <a16:creationId xmlns:a16="http://schemas.microsoft.com/office/drawing/2014/main" id="{E6FA6B87-ABF2-7F43-B06E-38ABE3137AA8}"/>
              </a:ext>
            </a:extLst>
          </p:cNvPr>
          <p:cNvSpPr/>
          <p:nvPr/>
        </p:nvSpPr>
        <p:spPr>
          <a:xfrm>
            <a:off x="5231842" y="4169297"/>
            <a:ext cx="3278908" cy="64654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46" name="Rectangle 45">
            <a:extLst>
              <a:ext uri="{FF2B5EF4-FFF2-40B4-BE49-F238E27FC236}">
                <a16:creationId xmlns:a16="http://schemas.microsoft.com/office/drawing/2014/main" id="{9A174374-9791-AC4E-A964-1014099F68B9}"/>
              </a:ext>
            </a:extLst>
          </p:cNvPr>
          <p:cNvSpPr/>
          <p:nvPr/>
        </p:nvSpPr>
        <p:spPr>
          <a:xfrm>
            <a:off x="5193984" y="3864558"/>
            <a:ext cx="847155"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IT" sz="1600" b="1" dirty="0">
                <a:solidFill>
                  <a:schemeClr val="accent6"/>
                </a:solidFill>
                <a:latin typeface="Aptos" panose="020B0004020202020204" pitchFamily="34" charset="0"/>
              </a:rPr>
              <a:t>master</a:t>
            </a:r>
            <a:endParaRPr lang="en-IT" sz="1600" dirty="0">
              <a:solidFill>
                <a:schemeClr val="accent6"/>
              </a:solidFill>
              <a:latin typeface="Aptos" panose="020B0004020202020204" pitchFamily="34" charset="0"/>
            </a:endParaRPr>
          </a:p>
        </p:txBody>
      </p:sp>
      <p:sp>
        <p:nvSpPr>
          <p:cNvPr id="47" name="Rectangle 46">
            <a:extLst>
              <a:ext uri="{FF2B5EF4-FFF2-40B4-BE49-F238E27FC236}">
                <a16:creationId xmlns:a16="http://schemas.microsoft.com/office/drawing/2014/main" id="{ACC72BB2-2657-C046-9373-D1F2C46589CB}"/>
              </a:ext>
            </a:extLst>
          </p:cNvPr>
          <p:cNvSpPr/>
          <p:nvPr/>
        </p:nvSpPr>
        <p:spPr>
          <a:xfrm>
            <a:off x="7074494" y="3458159"/>
            <a:ext cx="3278908" cy="646545"/>
          </a:xfrm>
          <a:prstGeom prst="rect">
            <a:avLst/>
          </a:prstGeom>
          <a:noFill/>
          <a:ln>
            <a:solidFill>
              <a:srgbClr val="0070C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49" name="Rectangle 48">
            <a:extLst>
              <a:ext uri="{FF2B5EF4-FFF2-40B4-BE49-F238E27FC236}">
                <a16:creationId xmlns:a16="http://schemas.microsoft.com/office/drawing/2014/main" id="{78B5B163-42F1-EB43-BD09-8450D8D1F195}"/>
              </a:ext>
            </a:extLst>
          </p:cNvPr>
          <p:cNvSpPr/>
          <p:nvPr/>
        </p:nvSpPr>
        <p:spPr>
          <a:xfrm>
            <a:off x="9553980" y="3119161"/>
            <a:ext cx="697627"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IT" sz="1600" b="1" dirty="0">
                <a:solidFill>
                  <a:srgbClr val="0070C0"/>
                </a:solidFill>
                <a:latin typeface="Aptos" panose="020B0004020202020204" pitchFamily="34" charset="0"/>
              </a:rPr>
              <a:t>devel</a:t>
            </a:r>
            <a:endParaRPr lang="en-IT" sz="1600" dirty="0">
              <a:solidFill>
                <a:srgbClr val="0070C0"/>
              </a:solidFill>
              <a:latin typeface="Aptos" panose="020B0004020202020204" pitchFamily="34" charset="0"/>
            </a:endParaRPr>
          </a:p>
        </p:txBody>
      </p:sp>
      <p:sp>
        <p:nvSpPr>
          <p:cNvPr id="50" name="TextBox 49">
            <a:extLst>
              <a:ext uri="{FF2B5EF4-FFF2-40B4-BE49-F238E27FC236}">
                <a16:creationId xmlns:a16="http://schemas.microsoft.com/office/drawing/2014/main" id="{B25C936A-6F1A-2545-9804-C3284E304877}"/>
              </a:ext>
            </a:extLst>
          </p:cNvPr>
          <p:cNvSpPr txBox="1"/>
          <p:nvPr/>
        </p:nvSpPr>
        <p:spPr>
          <a:xfrm>
            <a:off x="5809112" y="611694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0ab757…</a:t>
            </a:r>
          </a:p>
        </p:txBody>
      </p:sp>
      <p:sp>
        <p:nvSpPr>
          <p:cNvPr id="52" name="TextBox 51">
            <a:extLst>
              <a:ext uri="{FF2B5EF4-FFF2-40B4-BE49-F238E27FC236}">
                <a16:creationId xmlns:a16="http://schemas.microsoft.com/office/drawing/2014/main" id="{487310D6-B587-AF46-8E37-75E7AC858D80}"/>
              </a:ext>
            </a:extLst>
          </p:cNvPr>
          <p:cNvSpPr txBox="1"/>
          <p:nvPr/>
        </p:nvSpPr>
        <p:spPr>
          <a:xfrm>
            <a:off x="7641240" y="6127395"/>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5a7bab…</a:t>
            </a:r>
          </a:p>
        </p:txBody>
      </p:sp>
      <p:cxnSp>
        <p:nvCxnSpPr>
          <p:cNvPr id="53" name="Straight Arrow Connector 52">
            <a:extLst>
              <a:ext uri="{FF2B5EF4-FFF2-40B4-BE49-F238E27FC236}">
                <a16:creationId xmlns:a16="http://schemas.microsoft.com/office/drawing/2014/main" id="{5919DFED-06DD-2149-A3D1-B6298A541A61}"/>
              </a:ext>
            </a:extLst>
          </p:cNvPr>
          <p:cNvCxnSpPr>
            <a:cxnSpLocks/>
            <a:stCxn id="52" idx="1"/>
            <a:endCxn id="50" idx="3"/>
          </p:cNvCxnSpPr>
          <p:nvPr/>
        </p:nvCxnSpPr>
        <p:spPr>
          <a:xfrm flipH="1" flipV="1">
            <a:off x="7074494" y="6301607"/>
            <a:ext cx="566746" cy="1045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54" name="Straight Arrow Connector 53">
            <a:extLst>
              <a:ext uri="{FF2B5EF4-FFF2-40B4-BE49-F238E27FC236}">
                <a16:creationId xmlns:a16="http://schemas.microsoft.com/office/drawing/2014/main" id="{2ACBD13F-9448-3146-B330-A9F29B393CD5}"/>
              </a:ext>
            </a:extLst>
          </p:cNvPr>
          <p:cNvCxnSpPr>
            <a:cxnSpLocks/>
            <a:stCxn id="55" idx="2"/>
            <a:endCxn id="60" idx="0"/>
          </p:cNvCxnSpPr>
          <p:nvPr/>
        </p:nvCxnSpPr>
        <p:spPr>
          <a:xfrm>
            <a:off x="9333087" y="5170892"/>
            <a:ext cx="48091" cy="26916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5" name="Rectangle 54">
            <a:extLst>
              <a:ext uri="{FF2B5EF4-FFF2-40B4-BE49-F238E27FC236}">
                <a16:creationId xmlns:a16="http://schemas.microsoft.com/office/drawing/2014/main" id="{100CE172-4F53-9741-AF8E-0FC81F79716C}"/>
              </a:ext>
            </a:extLst>
          </p:cNvPr>
          <p:cNvSpPr/>
          <p:nvPr/>
        </p:nvSpPr>
        <p:spPr>
          <a:xfrm>
            <a:off x="8936984" y="4801560"/>
            <a:ext cx="792205" cy="369332"/>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r>
              <a:rPr lang="en-IT" b="1" dirty="0">
                <a:latin typeface="Aptos" panose="020B0004020202020204" pitchFamily="34" charset="0"/>
              </a:rPr>
              <a:t>HEAD</a:t>
            </a:r>
            <a:endParaRPr lang="en-IT" dirty="0">
              <a:latin typeface="Aptos" panose="020B0004020202020204" pitchFamily="34" charset="0"/>
            </a:endParaRPr>
          </a:p>
        </p:txBody>
      </p:sp>
      <p:sp>
        <p:nvSpPr>
          <p:cNvPr id="56" name="Rectangle 55">
            <a:extLst>
              <a:ext uri="{FF2B5EF4-FFF2-40B4-BE49-F238E27FC236}">
                <a16:creationId xmlns:a16="http://schemas.microsoft.com/office/drawing/2014/main" id="{BD596D78-91DC-AF4A-8C04-6D4510EEF8BF}"/>
              </a:ext>
            </a:extLst>
          </p:cNvPr>
          <p:cNvSpPr/>
          <p:nvPr/>
        </p:nvSpPr>
        <p:spPr>
          <a:xfrm>
            <a:off x="5708357" y="5999258"/>
            <a:ext cx="3278908" cy="64654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57" name="Rectangle 56">
            <a:extLst>
              <a:ext uri="{FF2B5EF4-FFF2-40B4-BE49-F238E27FC236}">
                <a16:creationId xmlns:a16="http://schemas.microsoft.com/office/drawing/2014/main" id="{D02163C9-9A86-0F4B-9F1E-EB105BAB7A0D}"/>
              </a:ext>
            </a:extLst>
          </p:cNvPr>
          <p:cNvSpPr/>
          <p:nvPr/>
        </p:nvSpPr>
        <p:spPr>
          <a:xfrm>
            <a:off x="5822424" y="5681256"/>
            <a:ext cx="847155"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IT" sz="1600" b="1" dirty="0">
                <a:solidFill>
                  <a:schemeClr val="accent6"/>
                </a:solidFill>
                <a:latin typeface="Aptos" panose="020B0004020202020204" pitchFamily="34" charset="0"/>
              </a:rPr>
              <a:t>master</a:t>
            </a:r>
            <a:endParaRPr lang="en-IT" sz="1600" dirty="0">
              <a:solidFill>
                <a:schemeClr val="accent6"/>
              </a:solidFill>
              <a:latin typeface="Aptos" panose="020B0004020202020204" pitchFamily="34" charset="0"/>
            </a:endParaRPr>
          </a:p>
        </p:txBody>
      </p:sp>
      <p:sp>
        <p:nvSpPr>
          <p:cNvPr id="58" name="Rectangle 57">
            <a:extLst>
              <a:ext uri="{FF2B5EF4-FFF2-40B4-BE49-F238E27FC236}">
                <a16:creationId xmlns:a16="http://schemas.microsoft.com/office/drawing/2014/main" id="{372ACB03-5CFD-1841-8CB4-2CAAA3359A18}"/>
              </a:ext>
            </a:extLst>
          </p:cNvPr>
          <p:cNvSpPr/>
          <p:nvPr/>
        </p:nvSpPr>
        <p:spPr>
          <a:xfrm>
            <a:off x="8354575" y="5315217"/>
            <a:ext cx="3278908" cy="646545"/>
          </a:xfrm>
          <a:prstGeom prst="rect">
            <a:avLst/>
          </a:prstGeom>
          <a:noFill/>
          <a:ln>
            <a:solidFill>
              <a:srgbClr val="0070C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59" name="Rectangle 58">
            <a:extLst>
              <a:ext uri="{FF2B5EF4-FFF2-40B4-BE49-F238E27FC236}">
                <a16:creationId xmlns:a16="http://schemas.microsoft.com/office/drawing/2014/main" id="{65AA6607-EEA5-344E-AE4E-A288A9837FE4}"/>
              </a:ext>
            </a:extLst>
          </p:cNvPr>
          <p:cNvSpPr/>
          <p:nvPr/>
        </p:nvSpPr>
        <p:spPr>
          <a:xfrm>
            <a:off x="10834061" y="4976219"/>
            <a:ext cx="697627"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IT" sz="1600" b="1" dirty="0">
                <a:solidFill>
                  <a:srgbClr val="0070C0"/>
                </a:solidFill>
                <a:latin typeface="Aptos" panose="020B0004020202020204" pitchFamily="34" charset="0"/>
              </a:rPr>
              <a:t>devel</a:t>
            </a:r>
            <a:endParaRPr lang="en-IT" sz="1600" dirty="0">
              <a:solidFill>
                <a:srgbClr val="0070C0"/>
              </a:solidFill>
              <a:latin typeface="Aptos" panose="020B0004020202020204" pitchFamily="34" charset="0"/>
            </a:endParaRPr>
          </a:p>
        </p:txBody>
      </p:sp>
      <p:sp>
        <p:nvSpPr>
          <p:cNvPr id="60" name="TextBox 59">
            <a:extLst>
              <a:ext uri="{FF2B5EF4-FFF2-40B4-BE49-F238E27FC236}">
                <a16:creationId xmlns:a16="http://schemas.microsoft.com/office/drawing/2014/main" id="{98DD9ACE-ABDD-0D44-B6FF-7F01DA55A6BA}"/>
              </a:ext>
            </a:extLst>
          </p:cNvPr>
          <p:cNvSpPr txBox="1"/>
          <p:nvPr/>
        </p:nvSpPr>
        <p:spPr>
          <a:xfrm>
            <a:off x="8510749" y="5440061"/>
            <a:ext cx="1740857" cy="369332"/>
          </a:xfrm>
          <a:prstGeom prst="rect">
            <a:avLst/>
          </a:prstGeom>
          <a:solidFill>
            <a:srgbClr val="0070C0"/>
          </a:solidFill>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New commit</a:t>
            </a:r>
          </a:p>
        </p:txBody>
      </p:sp>
      <p:cxnSp>
        <p:nvCxnSpPr>
          <p:cNvPr id="61" name="Straight Arrow Connector 60">
            <a:extLst>
              <a:ext uri="{FF2B5EF4-FFF2-40B4-BE49-F238E27FC236}">
                <a16:creationId xmlns:a16="http://schemas.microsoft.com/office/drawing/2014/main" id="{7B74F1AE-F4EE-6C49-8262-2C8B065F3175}"/>
              </a:ext>
            </a:extLst>
          </p:cNvPr>
          <p:cNvCxnSpPr>
            <a:cxnSpLocks/>
            <a:stCxn id="60" idx="1"/>
            <a:endCxn id="52" idx="0"/>
          </p:cNvCxnSpPr>
          <p:nvPr/>
        </p:nvCxnSpPr>
        <p:spPr>
          <a:xfrm flipH="1">
            <a:off x="8273931" y="5624727"/>
            <a:ext cx="236818" cy="5026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Slide Number Placeholder 2">
            <a:extLst>
              <a:ext uri="{FF2B5EF4-FFF2-40B4-BE49-F238E27FC236}">
                <a16:creationId xmlns:a16="http://schemas.microsoft.com/office/drawing/2014/main" id="{E2EAECCE-C016-CA45-8963-EB775E339BE8}"/>
              </a:ext>
            </a:extLst>
          </p:cNvPr>
          <p:cNvSpPr>
            <a:spLocks noGrp="1"/>
          </p:cNvSpPr>
          <p:nvPr>
            <p:ph type="sldNum" sz="quarter" idx="12"/>
          </p:nvPr>
        </p:nvSpPr>
        <p:spPr/>
        <p:txBody>
          <a:bodyPr/>
          <a:lstStyle/>
          <a:p>
            <a:fld id="{31DE2C5B-556E-47B8-A792-024C2FCA4ACC}" type="slidenum">
              <a:rPr lang="en-GB" smtClean="0"/>
              <a:t>27</a:t>
            </a:fld>
            <a:endParaRPr lang="en-GB" dirty="0"/>
          </a:p>
        </p:txBody>
      </p:sp>
    </p:spTree>
    <p:extLst>
      <p:ext uri="{BB962C8B-B14F-4D97-AF65-F5344CB8AC3E}">
        <p14:creationId xmlns:p14="http://schemas.microsoft.com/office/powerpoint/2010/main" val="975409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Navigate between branches</a:t>
            </a:r>
          </a:p>
        </p:txBody>
      </p:sp>
      <p:sp>
        <p:nvSpPr>
          <p:cNvPr id="37" name="Content Placeholder 2">
            <a:extLst>
              <a:ext uri="{FF2B5EF4-FFF2-40B4-BE49-F238E27FC236}">
                <a16:creationId xmlns:a16="http://schemas.microsoft.com/office/drawing/2014/main" id="{0FA79970-5EAD-B646-9C34-805E04C7BCE6}"/>
              </a:ext>
            </a:extLst>
          </p:cNvPr>
          <p:cNvSpPr>
            <a:spLocks noGrp="1"/>
          </p:cNvSpPr>
          <p:nvPr>
            <p:ph idx="1"/>
          </p:nvPr>
        </p:nvSpPr>
        <p:spPr>
          <a:xfrm>
            <a:off x="428172" y="1361167"/>
            <a:ext cx="11368314" cy="5334907"/>
          </a:xfrm>
        </p:spPr>
        <p:txBody>
          <a:bodyPr>
            <a:normAutofit/>
          </a:bodyPr>
          <a:lstStyle/>
          <a:p>
            <a:r>
              <a:rPr lang="en-IT" dirty="0"/>
              <a:t>To navigate between </a:t>
            </a:r>
            <a:r>
              <a:rPr lang="en-GB" dirty="0"/>
              <a:t>branches,</a:t>
            </a:r>
            <a:r>
              <a:rPr lang="en-IT" dirty="0"/>
              <a:t> it is sufficient to use “</a:t>
            </a:r>
            <a:r>
              <a:rPr lang="en-IT" dirty="0">
                <a:latin typeface="Courier" pitchFamily="2" charset="0"/>
              </a:rPr>
              <a:t>git checkout &lt;branch&gt;</a:t>
            </a:r>
            <a:r>
              <a:rPr lang="en-IT" dirty="0"/>
              <a:t>”:</a:t>
            </a:r>
            <a:br>
              <a:rPr lang="en-IT" dirty="0"/>
            </a:br>
            <a:br>
              <a:rPr lang="en-IT" dirty="0"/>
            </a:br>
            <a:r>
              <a:rPr lang="en-IT" dirty="0">
                <a:latin typeface="Courier" pitchFamily="2" charset="0"/>
              </a:rPr>
              <a:t>&gt;&gt; git checkout master</a:t>
            </a:r>
            <a:br>
              <a:rPr lang="en-IT" dirty="0">
                <a:latin typeface="Courier" pitchFamily="2" charset="0"/>
              </a:rPr>
            </a:br>
            <a:r>
              <a:rPr lang="en-IT" dirty="0">
                <a:latin typeface="Courier" pitchFamily="2" charset="0"/>
              </a:rPr>
              <a:t>&gt;&gt; git checkout devel</a:t>
            </a:r>
          </a:p>
          <a:p>
            <a:endParaRPr lang="en-IT" dirty="0">
              <a:latin typeface="Courier" pitchFamily="2" charset="0"/>
            </a:endParaRPr>
          </a:p>
          <a:p>
            <a:endParaRPr lang="en-IT" dirty="0">
              <a:latin typeface="Courier" pitchFamily="2" charset="0"/>
            </a:endParaRPr>
          </a:p>
          <a:p>
            <a:endParaRPr lang="en-IT" dirty="0">
              <a:latin typeface="Courier" pitchFamily="2" charset="0"/>
            </a:endParaRPr>
          </a:p>
          <a:p>
            <a:r>
              <a:rPr lang="en-US" b="1" dirty="0"/>
              <a:t>IMPORTANT:</a:t>
            </a:r>
            <a:r>
              <a:rPr lang="en-US" dirty="0"/>
              <a:t> if you have made some modifications, before navigating to another branch, you have to stash or commit those changes </a:t>
            </a:r>
            <a:br>
              <a:rPr lang="en-US" dirty="0"/>
            </a:br>
            <a:r>
              <a:rPr lang="en-US" dirty="0"/>
              <a:t>first.</a:t>
            </a:r>
            <a:endParaRPr lang="en-IT" dirty="0"/>
          </a:p>
          <a:p>
            <a:endParaRPr lang="en-IT" dirty="0"/>
          </a:p>
          <a:p>
            <a:endParaRPr lang="en-IT" dirty="0"/>
          </a:p>
          <a:p>
            <a:endParaRPr lang="en-IT" dirty="0"/>
          </a:p>
          <a:p>
            <a:endParaRPr lang="en-IT" dirty="0"/>
          </a:p>
          <a:p>
            <a:endParaRPr lang="en-IT" dirty="0"/>
          </a:p>
          <a:p>
            <a:endParaRPr lang="en-IT" dirty="0"/>
          </a:p>
        </p:txBody>
      </p:sp>
      <p:sp>
        <p:nvSpPr>
          <p:cNvPr id="38" name="TextBox 37">
            <a:extLst>
              <a:ext uri="{FF2B5EF4-FFF2-40B4-BE49-F238E27FC236}">
                <a16:creationId xmlns:a16="http://schemas.microsoft.com/office/drawing/2014/main" id="{27D3789E-2016-A344-8118-662A29517E29}"/>
              </a:ext>
            </a:extLst>
          </p:cNvPr>
          <p:cNvSpPr txBox="1"/>
          <p:nvPr/>
        </p:nvSpPr>
        <p:spPr>
          <a:xfrm>
            <a:off x="6466558" y="3352008"/>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0ab757…</a:t>
            </a:r>
          </a:p>
        </p:txBody>
      </p:sp>
      <p:sp>
        <p:nvSpPr>
          <p:cNvPr id="40" name="TextBox 39">
            <a:extLst>
              <a:ext uri="{FF2B5EF4-FFF2-40B4-BE49-F238E27FC236}">
                <a16:creationId xmlns:a16="http://schemas.microsoft.com/office/drawing/2014/main" id="{62E9192B-B0B0-8442-8B9D-56C9D6326840}"/>
              </a:ext>
            </a:extLst>
          </p:cNvPr>
          <p:cNvSpPr txBox="1"/>
          <p:nvPr/>
        </p:nvSpPr>
        <p:spPr>
          <a:xfrm>
            <a:off x="8189140" y="3352008"/>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5a7bab…</a:t>
            </a:r>
          </a:p>
        </p:txBody>
      </p:sp>
      <p:cxnSp>
        <p:nvCxnSpPr>
          <p:cNvPr id="41" name="Straight Arrow Connector 40">
            <a:extLst>
              <a:ext uri="{FF2B5EF4-FFF2-40B4-BE49-F238E27FC236}">
                <a16:creationId xmlns:a16="http://schemas.microsoft.com/office/drawing/2014/main" id="{9645A453-234E-DD43-AB0A-EA7F23F7419D}"/>
              </a:ext>
            </a:extLst>
          </p:cNvPr>
          <p:cNvCxnSpPr>
            <a:cxnSpLocks/>
            <a:stCxn id="40" idx="1"/>
          </p:cNvCxnSpPr>
          <p:nvPr/>
        </p:nvCxnSpPr>
        <p:spPr>
          <a:xfrm flipH="1">
            <a:off x="7731940" y="3536674"/>
            <a:ext cx="457200"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42" name="Straight Arrow Connector 41">
            <a:extLst>
              <a:ext uri="{FF2B5EF4-FFF2-40B4-BE49-F238E27FC236}">
                <a16:creationId xmlns:a16="http://schemas.microsoft.com/office/drawing/2014/main" id="{3A28CBB3-1F90-6944-8F9C-5A8C8E2BD65C}"/>
              </a:ext>
            </a:extLst>
          </p:cNvPr>
          <p:cNvCxnSpPr>
            <a:cxnSpLocks/>
            <a:stCxn id="43" idx="2"/>
            <a:endCxn id="40" idx="0"/>
          </p:cNvCxnSpPr>
          <p:nvPr/>
        </p:nvCxnSpPr>
        <p:spPr>
          <a:xfrm>
            <a:off x="8773741" y="2421665"/>
            <a:ext cx="48090" cy="93034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3" name="Rectangle 42">
            <a:extLst>
              <a:ext uri="{FF2B5EF4-FFF2-40B4-BE49-F238E27FC236}">
                <a16:creationId xmlns:a16="http://schemas.microsoft.com/office/drawing/2014/main" id="{18922C99-4AA9-DB4E-99D6-AD3E0FF4E432}"/>
              </a:ext>
            </a:extLst>
          </p:cNvPr>
          <p:cNvSpPr/>
          <p:nvPr/>
        </p:nvSpPr>
        <p:spPr>
          <a:xfrm>
            <a:off x="8377638" y="2052333"/>
            <a:ext cx="792205" cy="369332"/>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r>
              <a:rPr lang="en-IT" b="1" dirty="0">
                <a:latin typeface="Aptos" panose="020B0004020202020204" pitchFamily="34" charset="0"/>
              </a:rPr>
              <a:t>HEAD</a:t>
            </a:r>
            <a:endParaRPr lang="en-IT" dirty="0">
              <a:latin typeface="Aptos" panose="020B0004020202020204" pitchFamily="34" charset="0"/>
            </a:endParaRPr>
          </a:p>
        </p:txBody>
      </p:sp>
      <p:sp>
        <p:nvSpPr>
          <p:cNvPr id="44" name="Rectangle 43">
            <a:extLst>
              <a:ext uri="{FF2B5EF4-FFF2-40B4-BE49-F238E27FC236}">
                <a16:creationId xmlns:a16="http://schemas.microsoft.com/office/drawing/2014/main" id="{E6FA6B87-ABF2-7F43-B06E-38ABE3137AA8}"/>
              </a:ext>
            </a:extLst>
          </p:cNvPr>
          <p:cNvSpPr/>
          <p:nvPr/>
        </p:nvSpPr>
        <p:spPr>
          <a:xfrm>
            <a:off x="6346488" y="3231935"/>
            <a:ext cx="3278908" cy="64654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46" name="Rectangle 45">
            <a:extLst>
              <a:ext uri="{FF2B5EF4-FFF2-40B4-BE49-F238E27FC236}">
                <a16:creationId xmlns:a16="http://schemas.microsoft.com/office/drawing/2014/main" id="{9A174374-9791-AC4E-A964-1014099F68B9}"/>
              </a:ext>
            </a:extLst>
          </p:cNvPr>
          <p:cNvSpPr/>
          <p:nvPr/>
        </p:nvSpPr>
        <p:spPr>
          <a:xfrm>
            <a:off x="6308630" y="2927196"/>
            <a:ext cx="847155"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IT" sz="1600" b="1" dirty="0">
                <a:solidFill>
                  <a:schemeClr val="accent6"/>
                </a:solidFill>
                <a:latin typeface="Aptos" panose="020B0004020202020204" pitchFamily="34" charset="0"/>
              </a:rPr>
              <a:t>master</a:t>
            </a:r>
            <a:endParaRPr lang="en-IT" sz="1600" dirty="0">
              <a:solidFill>
                <a:schemeClr val="accent6"/>
              </a:solidFill>
              <a:latin typeface="Aptos" panose="020B0004020202020204" pitchFamily="34" charset="0"/>
            </a:endParaRPr>
          </a:p>
        </p:txBody>
      </p:sp>
      <p:sp>
        <p:nvSpPr>
          <p:cNvPr id="47" name="Rectangle 46">
            <a:extLst>
              <a:ext uri="{FF2B5EF4-FFF2-40B4-BE49-F238E27FC236}">
                <a16:creationId xmlns:a16="http://schemas.microsoft.com/office/drawing/2014/main" id="{ACC72BB2-2657-C046-9373-D1F2C46589CB}"/>
              </a:ext>
            </a:extLst>
          </p:cNvPr>
          <p:cNvSpPr/>
          <p:nvPr/>
        </p:nvSpPr>
        <p:spPr>
          <a:xfrm>
            <a:off x="8189140" y="2520797"/>
            <a:ext cx="3278908" cy="646545"/>
          </a:xfrm>
          <a:prstGeom prst="rect">
            <a:avLst/>
          </a:prstGeom>
          <a:noFill/>
          <a:ln>
            <a:solidFill>
              <a:srgbClr val="0070C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49" name="Rectangle 48">
            <a:extLst>
              <a:ext uri="{FF2B5EF4-FFF2-40B4-BE49-F238E27FC236}">
                <a16:creationId xmlns:a16="http://schemas.microsoft.com/office/drawing/2014/main" id="{78B5B163-42F1-EB43-BD09-8450D8D1F195}"/>
              </a:ext>
            </a:extLst>
          </p:cNvPr>
          <p:cNvSpPr/>
          <p:nvPr/>
        </p:nvSpPr>
        <p:spPr>
          <a:xfrm>
            <a:off x="10668626" y="2181799"/>
            <a:ext cx="697627"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IT" sz="1600" b="1" dirty="0">
                <a:solidFill>
                  <a:srgbClr val="0070C0"/>
                </a:solidFill>
                <a:latin typeface="Aptos" panose="020B0004020202020204" pitchFamily="34" charset="0"/>
              </a:rPr>
              <a:t>devel</a:t>
            </a:r>
            <a:endParaRPr lang="en-IT" sz="1600" dirty="0">
              <a:solidFill>
                <a:srgbClr val="0070C0"/>
              </a:solidFill>
              <a:latin typeface="Aptos" panose="020B0004020202020204" pitchFamily="34" charset="0"/>
            </a:endParaRPr>
          </a:p>
        </p:txBody>
      </p:sp>
      <p:sp>
        <p:nvSpPr>
          <p:cNvPr id="3" name="Slide Number Placeholder 2">
            <a:extLst>
              <a:ext uri="{FF2B5EF4-FFF2-40B4-BE49-F238E27FC236}">
                <a16:creationId xmlns:a16="http://schemas.microsoft.com/office/drawing/2014/main" id="{54076BFE-9DF7-3343-9D4B-332BF9D8BB43}"/>
              </a:ext>
            </a:extLst>
          </p:cNvPr>
          <p:cNvSpPr>
            <a:spLocks noGrp="1"/>
          </p:cNvSpPr>
          <p:nvPr>
            <p:ph type="sldNum" sz="quarter" idx="12"/>
          </p:nvPr>
        </p:nvSpPr>
        <p:spPr/>
        <p:txBody>
          <a:bodyPr/>
          <a:lstStyle/>
          <a:p>
            <a:fld id="{31DE2C5B-556E-47B8-A792-024C2FCA4ACC}" type="slidenum">
              <a:rPr lang="en-GB" smtClean="0"/>
              <a:t>28</a:t>
            </a:fld>
            <a:endParaRPr lang="en-GB" dirty="0"/>
          </a:p>
        </p:txBody>
      </p:sp>
    </p:spTree>
    <p:extLst>
      <p:ext uri="{BB962C8B-B14F-4D97-AF65-F5344CB8AC3E}">
        <p14:creationId xmlns:p14="http://schemas.microsoft.com/office/powerpoint/2010/main" val="382163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Merging branches</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1" y="1361167"/>
            <a:ext cx="5389825" cy="4858203"/>
          </a:xfrm>
        </p:spPr>
        <p:txBody>
          <a:bodyPr/>
          <a:lstStyle/>
          <a:p>
            <a:r>
              <a:rPr lang="en-IT" dirty="0"/>
              <a:t>How to apply the changes I made in branch (e.g., devel) to another (e.g., master)?</a:t>
            </a:r>
          </a:p>
          <a:p>
            <a:endParaRPr lang="en-IT" dirty="0"/>
          </a:p>
          <a:p>
            <a:r>
              <a:rPr lang="en-IT" dirty="0"/>
              <a:t>You need to merge the first branch (devel) into the other (master) using the command “</a:t>
            </a:r>
            <a:r>
              <a:rPr lang="en-IT" dirty="0">
                <a:latin typeface="Courier" pitchFamily="2" charset="0"/>
              </a:rPr>
              <a:t>git merge &lt;branch&gt;</a:t>
            </a:r>
            <a:r>
              <a:rPr lang="en-IT" dirty="0"/>
              <a:t>” which allows to apply the &lt;</a:t>
            </a:r>
            <a:r>
              <a:rPr lang="en-IT" dirty="0">
                <a:latin typeface="Courier" pitchFamily="2" charset="0"/>
              </a:rPr>
              <a:t>branch</a:t>
            </a:r>
            <a:r>
              <a:rPr lang="en-IT" dirty="0"/>
              <a:t>&gt; history in the current one. </a:t>
            </a:r>
          </a:p>
          <a:p>
            <a:pPr marL="0" indent="0">
              <a:buNone/>
            </a:pPr>
            <a:endParaRPr lang="en-IT" dirty="0"/>
          </a:p>
        </p:txBody>
      </p:sp>
      <p:pic>
        <p:nvPicPr>
          <p:cNvPr id="5" name="Picture 4" descr="A screenshot of a computer&#10;&#10;Description automatically generated with medium confidence">
            <a:extLst>
              <a:ext uri="{FF2B5EF4-FFF2-40B4-BE49-F238E27FC236}">
                <a16:creationId xmlns:a16="http://schemas.microsoft.com/office/drawing/2014/main" id="{0C67A01C-33A4-E241-BADB-A1E8E56C1C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6888" y="1135464"/>
            <a:ext cx="5091086" cy="5691238"/>
          </a:xfrm>
          <a:prstGeom prst="rect">
            <a:avLst/>
          </a:prstGeom>
        </p:spPr>
      </p:pic>
      <p:sp>
        <p:nvSpPr>
          <p:cNvPr id="4" name="Slide Number Placeholder 3">
            <a:extLst>
              <a:ext uri="{FF2B5EF4-FFF2-40B4-BE49-F238E27FC236}">
                <a16:creationId xmlns:a16="http://schemas.microsoft.com/office/drawing/2014/main" id="{3777BE9A-7930-614C-9734-E1C2497AFAEF}"/>
              </a:ext>
            </a:extLst>
          </p:cNvPr>
          <p:cNvSpPr>
            <a:spLocks noGrp="1"/>
          </p:cNvSpPr>
          <p:nvPr>
            <p:ph type="sldNum" sz="quarter" idx="12"/>
          </p:nvPr>
        </p:nvSpPr>
        <p:spPr/>
        <p:txBody>
          <a:bodyPr/>
          <a:lstStyle/>
          <a:p>
            <a:fld id="{31DE2C5B-556E-47B8-A792-024C2FCA4ACC}" type="slidenum">
              <a:rPr lang="en-GB" smtClean="0"/>
              <a:t>29</a:t>
            </a:fld>
            <a:endParaRPr lang="en-GB" dirty="0"/>
          </a:p>
        </p:txBody>
      </p:sp>
    </p:spTree>
    <p:extLst>
      <p:ext uri="{BB962C8B-B14F-4D97-AF65-F5344CB8AC3E}">
        <p14:creationId xmlns:p14="http://schemas.microsoft.com/office/powerpoint/2010/main" val="33058345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Merging branches</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1" y="1361167"/>
            <a:ext cx="5389825" cy="4858203"/>
          </a:xfrm>
        </p:spPr>
        <p:txBody>
          <a:bodyPr/>
          <a:lstStyle/>
          <a:p>
            <a:r>
              <a:rPr lang="en-IT" dirty="0"/>
              <a:t>We have two scenarios:</a:t>
            </a:r>
          </a:p>
          <a:p>
            <a:pPr lvl="1"/>
            <a:r>
              <a:rPr lang="en-IT" dirty="0"/>
              <a:t>Scenario 1 (like in the example): </a:t>
            </a:r>
          </a:p>
          <a:p>
            <a:pPr lvl="1"/>
            <a:endParaRPr lang="en-IT" dirty="0"/>
          </a:p>
          <a:p>
            <a:pPr lvl="1"/>
            <a:endParaRPr lang="en-IT" dirty="0"/>
          </a:p>
          <a:p>
            <a:pPr lvl="1"/>
            <a:endParaRPr lang="en-IT" dirty="0"/>
          </a:p>
          <a:p>
            <a:pPr lvl="1"/>
            <a:endParaRPr lang="en-IT" dirty="0"/>
          </a:p>
          <a:p>
            <a:pPr lvl="1"/>
            <a:endParaRPr lang="en-IT" dirty="0"/>
          </a:p>
          <a:p>
            <a:pPr marL="457200" lvl="1" indent="0">
              <a:buNone/>
            </a:pPr>
            <a:endParaRPr lang="en-IT" dirty="0"/>
          </a:p>
          <a:p>
            <a:pPr lvl="1"/>
            <a:r>
              <a:rPr lang="en-IT" dirty="0"/>
              <a:t>Scenario 2 (someone altered the parent branch): </a:t>
            </a:r>
          </a:p>
        </p:txBody>
      </p:sp>
      <p:pic>
        <p:nvPicPr>
          <p:cNvPr id="5" name="Picture 4" descr="A screenshot of a computer&#10;&#10;Description automatically generated with medium confidence">
            <a:extLst>
              <a:ext uri="{FF2B5EF4-FFF2-40B4-BE49-F238E27FC236}">
                <a16:creationId xmlns:a16="http://schemas.microsoft.com/office/drawing/2014/main" id="{0C67A01C-33A4-E241-BADB-A1E8E56C1C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6888" y="1135464"/>
            <a:ext cx="5091086" cy="5691238"/>
          </a:xfrm>
          <a:prstGeom prst="rect">
            <a:avLst/>
          </a:prstGeom>
        </p:spPr>
      </p:pic>
      <p:sp>
        <p:nvSpPr>
          <p:cNvPr id="31" name="TextBox 30">
            <a:extLst>
              <a:ext uri="{FF2B5EF4-FFF2-40B4-BE49-F238E27FC236}">
                <a16:creationId xmlns:a16="http://schemas.microsoft.com/office/drawing/2014/main" id="{55C74176-BA99-B74E-A8CD-CC3AD064AD62}"/>
              </a:ext>
            </a:extLst>
          </p:cNvPr>
          <p:cNvSpPr txBox="1"/>
          <p:nvPr/>
        </p:nvSpPr>
        <p:spPr>
          <a:xfrm>
            <a:off x="2134870" y="3374997"/>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sp>
        <p:nvSpPr>
          <p:cNvPr id="32" name="TextBox 31">
            <a:extLst>
              <a:ext uri="{FF2B5EF4-FFF2-40B4-BE49-F238E27FC236}">
                <a16:creationId xmlns:a16="http://schemas.microsoft.com/office/drawing/2014/main" id="{1224990F-C578-874F-89DD-6609C906DA17}"/>
              </a:ext>
            </a:extLst>
          </p:cNvPr>
          <p:cNvSpPr txBox="1"/>
          <p:nvPr/>
        </p:nvSpPr>
        <p:spPr>
          <a:xfrm>
            <a:off x="3083729" y="3374997"/>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cxnSp>
        <p:nvCxnSpPr>
          <p:cNvPr id="33" name="Straight Arrow Connector 32">
            <a:extLst>
              <a:ext uri="{FF2B5EF4-FFF2-40B4-BE49-F238E27FC236}">
                <a16:creationId xmlns:a16="http://schemas.microsoft.com/office/drawing/2014/main" id="{DA41B625-4282-B544-8BAA-62B1871ECAAF}"/>
              </a:ext>
            </a:extLst>
          </p:cNvPr>
          <p:cNvCxnSpPr>
            <a:cxnSpLocks/>
            <a:stCxn id="32" idx="1"/>
            <a:endCxn id="31" idx="3"/>
          </p:cNvCxnSpPr>
          <p:nvPr/>
        </p:nvCxnSpPr>
        <p:spPr>
          <a:xfrm flipH="1">
            <a:off x="2592070" y="3559663"/>
            <a:ext cx="491659"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34" name="Rectangle 33">
            <a:extLst>
              <a:ext uri="{FF2B5EF4-FFF2-40B4-BE49-F238E27FC236}">
                <a16:creationId xmlns:a16="http://schemas.microsoft.com/office/drawing/2014/main" id="{D3BF88CF-9650-F449-87D6-C9243F5B5F38}"/>
              </a:ext>
            </a:extLst>
          </p:cNvPr>
          <p:cNvSpPr/>
          <p:nvPr/>
        </p:nvSpPr>
        <p:spPr>
          <a:xfrm>
            <a:off x="2014800" y="3254924"/>
            <a:ext cx="4150376" cy="64654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35" name="Rectangle 34">
            <a:extLst>
              <a:ext uri="{FF2B5EF4-FFF2-40B4-BE49-F238E27FC236}">
                <a16:creationId xmlns:a16="http://schemas.microsoft.com/office/drawing/2014/main" id="{9B65D5A9-F19F-7C48-ABDA-12481B37930E}"/>
              </a:ext>
            </a:extLst>
          </p:cNvPr>
          <p:cNvSpPr/>
          <p:nvPr/>
        </p:nvSpPr>
        <p:spPr>
          <a:xfrm>
            <a:off x="1976942" y="2950185"/>
            <a:ext cx="847155"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IT" sz="1600" b="1" dirty="0">
                <a:solidFill>
                  <a:schemeClr val="accent6"/>
                </a:solidFill>
                <a:latin typeface="Aptos" panose="020B0004020202020204" pitchFamily="34" charset="0"/>
              </a:rPr>
              <a:t>master</a:t>
            </a:r>
            <a:endParaRPr lang="en-IT" sz="1600" dirty="0">
              <a:solidFill>
                <a:schemeClr val="accent6"/>
              </a:solidFill>
              <a:latin typeface="Aptos" panose="020B0004020202020204" pitchFamily="34" charset="0"/>
            </a:endParaRPr>
          </a:p>
        </p:txBody>
      </p:sp>
      <p:sp>
        <p:nvSpPr>
          <p:cNvPr id="36" name="Rectangle 35">
            <a:extLst>
              <a:ext uri="{FF2B5EF4-FFF2-40B4-BE49-F238E27FC236}">
                <a16:creationId xmlns:a16="http://schemas.microsoft.com/office/drawing/2014/main" id="{6E6E1178-3506-E848-9A84-44D46C62B9B5}"/>
              </a:ext>
            </a:extLst>
          </p:cNvPr>
          <p:cNvSpPr/>
          <p:nvPr/>
        </p:nvSpPr>
        <p:spPr>
          <a:xfrm>
            <a:off x="3615120" y="2497513"/>
            <a:ext cx="723636" cy="646545"/>
          </a:xfrm>
          <a:prstGeom prst="rect">
            <a:avLst/>
          </a:prstGeom>
          <a:noFill/>
          <a:ln>
            <a:solidFill>
              <a:srgbClr val="0070C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a:solidFill>
                <a:srgbClr val="0070C0"/>
              </a:solidFill>
              <a:latin typeface="Aptos" panose="020B0004020202020204" pitchFamily="34" charset="0"/>
            </a:endParaRPr>
          </a:p>
        </p:txBody>
      </p:sp>
      <p:sp>
        <p:nvSpPr>
          <p:cNvPr id="37" name="TextBox 36">
            <a:extLst>
              <a:ext uri="{FF2B5EF4-FFF2-40B4-BE49-F238E27FC236}">
                <a16:creationId xmlns:a16="http://schemas.microsoft.com/office/drawing/2014/main" id="{DEBF6130-381B-704F-BD15-E7C7ECEAC29E}"/>
              </a:ext>
            </a:extLst>
          </p:cNvPr>
          <p:cNvSpPr txBox="1"/>
          <p:nvPr/>
        </p:nvSpPr>
        <p:spPr>
          <a:xfrm>
            <a:off x="5358867" y="3374997"/>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cxnSp>
        <p:nvCxnSpPr>
          <p:cNvPr id="39" name="Straight Arrow Connector 38">
            <a:extLst>
              <a:ext uri="{FF2B5EF4-FFF2-40B4-BE49-F238E27FC236}">
                <a16:creationId xmlns:a16="http://schemas.microsoft.com/office/drawing/2014/main" id="{CE4DD408-30DB-9842-BA0E-33A2292DB00B}"/>
              </a:ext>
            </a:extLst>
          </p:cNvPr>
          <p:cNvCxnSpPr>
            <a:cxnSpLocks/>
            <a:stCxn id="37" idx="1"/>
            <a:endCxn id="32" idx="3"/>
          </p:cNvCxnSpPr>
          <p:nvPr/>
        </p:nvCxnSpPr>
        <p:spPr>
          <a:xfrm flipH="1">
            <a:off x="3540929" y="3559663"/>
            <a:ext cx="1817938"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42" name="TextBox 41">
            <a:extLst>
              <a:ext uri="{FF2B5EF4-FFF2-40B4-BE49-F238E27FC236}">
                <a16:creationId xmlns:a16="http://schemas.microsoft.com/office/drawing/2014/main" id="{4D1C27EB-184C-2E45-BE8F-D1EAA6BCD698}"/>
              </a:ext>
            </a:extLst>
          </p:cNvPr>
          <p:cNvSpPr txBox="1"/>
          <p:nvPr/>
        </p:nvSpPr>
        <p:spPr>
          <a:xfrm>
            <a:off x="3788707" y="2629415"/>
            <a:ext cx="457200" cy="369332"/>
          </a:xfrm>
          <a:prstGeom prst="rect">
            <a:avLst/>
          </a:prstGeom>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wrap="square" rtlCol="0" anchor="ctr">
            <a:spAutoFit/>
          </a:bodyPr>
          <a:lstStyle/>
          <a:p>
            <a:pPr algn="ctr"/>
            <a:endParaRPr lang="en-IT" dirty="0">
              <a:solidFill>
                <a:srgbClr val="0070C0"/>
              </a:solidFill>
              <a:latin typeface="Aptos" panose="020B0004020202020204" pitchFamily="34" charset="0"/>
              <a:ea typeface="Palatino" pitchFamily="2" charset="77"/>
            </a:endParaRPr>
          </a:p>
        </p:txBody>
      </p:sp>
      <p:sp>
        <p:nvSpPr>
          <p:cNvPr id="44" name="Rectangle 43">
            <a:extLst>
              <a:ext uri="{FF2B5EF4-FFF2-40B4-BE49-F238E27FC236}">
                <a16:creationId xmlns:a16="http://schemas.microsoft.com/office/drawing/2014/main" id="{3AA3D047-21DF-0A4E-96AD-16741B1F3F8D}"/>
              </a:ext>
            </a:extLst>
          </p:cNvPr>
          <p:cNvSpPr/>
          <p:nvPr/>
        </p:nvSpPr>
        <p:spPr>
          <a:xfrm>
            <a:off x="3721211" y="2179857"/>
            <a:ext cx="697627"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US" sz="1600" b="1" dirty="0" err="1">
                <a:solidFill>
                  <a:srgbClr val="0070C0"/>
                </a:solidFill>
                <a:latin typeface="Aptos" panose="020B0004020202020204" pitchFamily="34" charset="0"/>
              </a:rPr>
              <a:t>devel</a:t>
            </a:r>
            <a:endParaRPr lang="en-IT" sz="1600" dirty="0">
              <a:solidFill>
                <a:srgbClr val="0070C0"/>
              </a:solidFill>
              <a:latin typeface="Aptos" panose="020B0004020202020204" pitchFamily="34" charset="0"/>
            </a:endParaRPr>
          </a:p>
        </p:txBody>
      </p:sp>
      <p:cxnSp>
        <p:nvCxnSpPr>
          <p:cNvPr id="45" name="Straight Arrow Connector 44">
            <a:extLst>
              <a:ext uri="{FF2B5EF4-FFF2-40B4-BE49-F238E27FC236}">
                <a16:creationId xmlns:a16="http://schemas.microsoft.com/office/drawing/2014/main" id="{9FEB9AE9-5866-6D46-A20F-8437E7BB9635}"/>
              </a:ext>
            </a:extLst>
          </p:cNvPr>
          <p:cNvCxnSpPr>
            <a:cxnSpLocks/>
            <a:stCxn id="42" idx="1"/>
          </p:cNvCxnSpPr>
          <p:nvPr/>
        </p:nvCxnSpPr>
        <p:spPr>
          <a:xfrm flipH="1">
            <a:off x="3312329" y="2814081"/>
            <a:ext cx="476378" cy="5609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DECF0863-EA40-054E-89BD-FD6FD5776AF1}"/>
              </a:ext>
            </a:extLst>
          </p:cNvPr>
          <p:cNvCxnSpPr>
            <a:cxnSpLocks/>
            <a:stCxn id="37" idx="0"/>
            <a:endCxn id="42" idx="3"/>
          </p:cNvCxnSpPr>
          <p:nvPr/>
        </p:nvCxnSpPr>
        <p:spPr>
          <a:xfrm flipH="1" flipV="1">
            <a:off x="4245907" y="2814081"/>
            <a:ext cx="1341560" cy="5609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C4E3FAB9-D006-C34D-B935-D12BA58B8951}"/>
              </a:ext>
            </a:extLst>
          </p:cNvPr>
          <p:cNvSpPr txBox="1"/>
          <p:nvPr/>
        </p:nvSpPr>
        <p:spPr>
          <a:xfrm>
            <a:off x="1976942" y="5764377"/>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sp>
        <p:nvSpPr>
          <p:cNvPr id="48" name="TextBox 47">
            <a:extLst>
              <a:ext uri="{FF2B5EF4-FFF2-40B4-BE49-F238E27FC236}">
                <a16:creationId xmlns:a16="http://schemas.microsoft.com/office/drawing/2014/main" id="{019C8129-C33B-F941-B98A-73E446A1A902}"/>
              </a:ext>
            </a:extLst>
          </p:cNvPr>
          <p:cNvSpPr txBox="1"/>
          <p:nvPr/>
        </p:nvSpPr>
        <p:spPr>
          <a:xfrm>
            <a:off x="2925801" y="5764377"/>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cxnSp>
        <p:nvCxnSpPr>
          <p:cNvPr id="49" name="Straight Arrow Connector 48">
            <a:extLst>
              <a:ext uri="{FF2B5EF4-FFF2-40B4-BE49-F238E27FC236}">
                <a16:creationId xmlns:a16="http://schemas.microsoft.com/office/drawing/2014/main" id="{CBBC9FFD-07F4-3E4D-BB63-E4DED0F60749}"/>
              </a:ext>
            </a:extLst>
          </p:cNvPr>
          <p:cNvCxnSpPr>
            <a:cxnSpLocks/>
            <a:stCxn id="48" idx="1"/>
            <a:endCxn id="47" idx="3"/>
          </p:cNvCxnSpPr>
          <p:nvPr/>
        </p:nvCxnSpPr>
        <p:spPr>
          <a:xfrm flipH="1">
            <a:off x="2434142" y="5949043"/>
            <a:ext cx="491659"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50" name="Rectangle 49">
            <a:extLst>
              <a:ext uri="{FF2B5EF4-FFF2-40B4-BE49-F238E27FC236}">
                <a16:creationId xmlns:a16="http://schemas.microsoft.com/office/drawing/2014/main" id="{3337F5F4-6A6F-6B43-9AEB-EAB859CE6BA1}"/>
              </a:ext>
            </a:extLst>
          </p:cNvPr>
          <p:cNvSpPr/>
          <p:nvPr/>
        </p:nvSpPr>
        <p:spPr>
          <a:xfrm>
            <a:off x="1856872" y="5644304"/>
            <a:ext cx="4150376" cy="64654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51" name="Rectangle 50">
            <a:extLst>
              <a:ext uri="{FF2B5EF4-FFF2-40B4-BE49-F238E27FC236}">
                <a16:creationId xmlns:a16="http://schemas.microsoft.com/office/drawing/2014/main" id="{3CD2A1D5-EF84-4041-AC53-D8C575F360F2}"/>
              </a:ext>
            </a:extLst>
          </p:cNvPr>
          <p:cNvSpPr/>
          <p:nvPr/>
        </p:nvSpPr>
        <p:spPr>
          <a:xfrm>
            <a:off x="1819014" y="5339565"/>
            <a:ext cx="847155"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IT" sz="1600" b="1" dirty="0">
                <a:solidFill>
                  <a:schemeClr val="accent6"/>
                </a:solidFill>
                <a:latin typeface="Aptos" panose="020B0004020202020204" pitchFamily="34" charset="0"/>
              </a:rPr>
              <a:t>master</a:t>
            </a:r>
            <a:endParaRPr lang="en-IT" sz="1600" dirty="0">
              <a:solidFill>
                <a:schemeClr val="accent6"/>
              </a:solidFill>
              <a:latin typeface="Aptos" panose="020B0004020202020204" pitchFamily="34" charset="0"/>
            </a:endParaRPr>
          </a:p>
        </p:txBody>
      </p:sp>
      <p:sp>
        <p:nvSpPr>
          <p:cNvPr id="52" name="Rectangle 51">
            <a:extLst>
              <a:ext uri="{FF2B5EF4-FFF2-40B4-BE49-F238E27FC236}">
                <a16:creationId xmlns:a16="http://schemas.microsoft.com/office/drawing/2014/main" id="{7F1A8017-836B-5741-A70B-1631EC3901B3}"/>
              </a:ext>
            </a:extLst>
          </p:cNvPr>
          <p:cNvSpPr/>
          <p:nvPr/>
        </p:nvSpPr>
        <p:spPr>
          <a:xfrm>
            <a:off x="3457192" y="4886893"/>
            <a:ext cx="788715" cy="646545"/>
          </a:xfrm>
          <a:prstGeom prst="rect">
            <a:avLst/>
          </a:prstGeom>
          <a:noFill/>
          <a:ln>
            <a:solidFill>
              <a:srgbClr val="0070C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a:solidFill>
                <a:srgbClr val="0070C0"/>
              </a:solidFill>
              <a:latin typeface="Aptos" panose="020B0004020202020204" pitchFamily="34" charset="0"/>
            </a:endParaRPr>
          </a:p>
        </p:txBody>
      </p:sp>
      <p:sp>
        <p:nvSpPr>
          <p:cNvPr id="53" name="TextBox 52">
            <a:extLst>
              <a:ext uri="{FF2B5EF4-FFF2-40B4-BE49-F238E27FC236}">
                <a16:creationId xmlns:a16="http://schemas.microsoft.com/office/drawing/2014/main" id="{5B66016A-467E-9E4E-B696-3277ECF9B037}"/>
              </a:ext>
            </a:extLst>
          </p:cNvPr>
          <p:cNvSpPr txBox="1"/>
          <p:nvPr/>
        </p:nvSpPr>
        <p:spPr>
          <a:xfrm>
            <a:off x="5200939" y="5764377"/>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sp>
        <p:nvSpPr>
          <p:cNvPr id="54" name="TextBox 53">
            <a:extLst>
              <a:ext uri="{FF2B5EF4-FFF2-40B4-BE49-F238E27FC236}">
                <a16:creationId xmlns:a16="http://schemas.microsoft.com/office/drawing/2014/main" id="{26E9A071-B7AB-094D-85F6-6A71EFD2183B}"/>
              </a:ext>
            </a:extLst>
          </p:cNvPr>
          <p:cNvSpPr txBox="1"/>
          <p:nvPr/>
        </p:nvSpPr>
        <p:spPr>
          <a:xfrm>
            <a:off x="4023480" y="5764377"/>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cxnSp>
        <p:nvCxnSpPr>
          <p:cNvPr id="55" name="Straight Arrow Connector 54">
            <a:extLst>
              <a:ext uri="{FF2B5EF4-FFF2-40B4-BE49-F238E27FC236}">
                <a16:creationId xmlns:a16="http://schemas.microsoft.com/office/drawing/2014/main" id="{F7CC939F-7A4D-2E4E-9C71-997E37ACA8BC}"/>
              </a:ext>
            </a:extLst>
          </p:cNvPr>
          <p:cNvCxnSpPr>
            <a:cxnSpLocks/>
            <a:endCxn id="48" idx="3"/>
          </p:cNvCxnSpPr>
          <p:nvPr/>
        </p:nvCxnSpPr>
        <p:spPr>
          <a:xfrm flipH="1">
            <a:off x="3383001" y="5949043"/>
            <a:ext cx="640479"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56" name="Straight Arrow Connector 55">
            <a:extLst>
              <a:ext uri="{FF2B5EF4-FFF2-40B4-BE49-F238E27FC236}">
                <a16:creationId xmlns:a16="http://schemas.microsoft.com/office/drawing/2014/main" id="{B493255E-4577-3E4C-ABA5-01DDB80C84FF}"/>
              </a:ext>
            </a:extLst>
          </p:cNvPr>
          <p:cNvCxnSpPr>
            <a:cxnSpLocks/>
            <a:stCxn id="53" idx="1"/>
            <a:endCxn id="54" idx="3"/>
          </p:cNvCxnSpPr>
          <p:nvPr/>
        </p:nvCxnSpPr>
        <p:spPr>
          <a:xfrm flipH="1">
            <a:off x="4480680" y="5949043"/>
            <a:ext cx="720259"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58" name="TextBox 57">
            <a:extLst>
              <a:ext uri="{FF2B5EF4-FFF2-40B4-BE49-F238E27FC236}">
                <a16:creationId xmlns:a16="http://schemas.microsoft.com/office/drawing/2014/main" id="{30EC4337-AA61-884F-94CF-810EA3B0B136}"/>
              </a:ext>
            </a:extLst>
          </p:cNvPr>
          <p:cNvSpPr txBox="1"/>
          <p:nvPr/>
        </p:nvSpPr>
        <p:spPr>
          <a:xfrm>
            <a:off x="3630779" y="5018795"/>
            <a:ext cx="457200" cy="369332"/>
          </a:xfrm>
          <a:prstGeom prst="rect">
            <a:avLst/>
          </a:prstGeom>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wrap="square" rtlCol="0" anchor="ctr">
            <a:spAutoFit/>
          </a:bodyPr>
          <a:lstStyle/>
          <a:p>
            <a:pPr algn="ctr"/>
            <a:endParaRPr lang="en-IT" dirty="0">
              <a:solidFill>
                <a:srgbClr val="0070C0"/>
              </a:solidFill>
              <a:latin typeface="Aptos" panose="020B0004020202020204" pitchFamily="34" charset="0"/>
              <a:ea typeface="Palatino" pitchFamily="2" charset="77"/>
            </a:endParaRPr>
          </a:p>
        </p:txBody>
      </p:sp>
      <p:cxnSp>
        <p:nvCxnSpPr>
          <p:cNvPr id="59" name="Straight Arrow Connector 58">
            <a:extLst>
              <a:ext uri="{FF2B5EF4-FFF2-40B4-BE49-F238E27FC236}">
                <a16:creationId xmlns:a16="http://schemas.microsoft.com/office/drawing/2014/main" id="{B25C4AB0-2C33-7241-9E3F-508740E7BE49}"/>
              </a:ext>
            </a:extLst>
          </p:cNvPr>
          <p:cNvCxnSpPr>
            <a:cxnSpLocks/>
            <a:stCxn id="53" idx="0"/>
            <a:endCxn id="58" idx="3"/>
          </p:cNvCxnSpPr>
          <p:nvPr/>
        </p:nvCxnSpPr>
        <p:spPr>
          <a:xfrm flipH="1" flipV="1">
            <a:off x="4087979" y="5203461"/>
            <a:ext cx="1341560" cy="5609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0" name="Rectangle 59">
            <a:extLst>
              <a:ext uri="{FF2B5EF4-FFF2-40B4-BE49-F238E27FC236}">
                <a16:creationId xmlns:a16="http://schemas.microsoft.com/office/drawing/2014/main" id="{69F913C2-AD12-B544-AACB-5BED7ADF760A}"/>
              </a:ext>
            </a:extLst>
          </p:cNvPr>
          <p:cNvSpPr/>
          <p:nvPr/>
        </p:nvSpPr>
        <p:spPr>
          <a:xfrm>
            <a:off x="3441613" y="4606750"/>
            <a:ext cx="697627"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US" sz="1600" b="1" dirty="0" err="1">
                <a:solidFill>
                  <a:srgbClr val="0070C0"/>
                </a:solidFill>
                <a:latin typeface="Aptos" panose="020B0004020202020204" pitchFamily="34" charset="0"/>
              </a:rPr>
              <a:t>devel</a:t>
            </a:r>
            <a:endParaRPr lang="en-IT" sz="1600" dirty="0">
              <a:solidFill>
                <a:srgbClr val="0070C0"/>
              </a:solidFill>
              <a:latin typeface="Aptos" panose="020B0004020202020204" pitchFamily="34" charset="0"/>
            </a:endParaRPr>
          </a:p>
        </p:txBody>
      </p:sp>
      <p:cxnSp>
        <p:nvCxnSpPr>
          <p:cNvPr id="61" name="Straight Arrow Connector 60">
            <a:extLst>
              <a:ext uri="{FF2B5EF4-FFF2-40B4-BE49-F238E27FC236}">
                <a16:creationId xmlns:a16="http://schemas.microsoft.com/office/drawing/2014/main" id="{04660A4A-9839-E54C-A905-DC749497E257}"/>
              </a:ext>
            </a:extLst>
          </p:cNvPr>
          <p:cNvCxnSpPr>
            <a:cxnSpLocks/>
            <a:stCxn id="58" idx="1"/>
          </p:cNvCxnSpPr>
          <p:nvPr/>
        </p:nvCxnSpPr>
        <p:spPr>
          <a:xfrm flipH="1">
            <a:off x="3154401" y="5203461"/>
            <a:ext cx="476378" cy="5609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B783DCDF-52E2-C047-B254-327630678313}"/>
              </a:ext>
            </a:extLst>
          </p:cNvPr>
          <p:cNvSpPr>
            <a:spLocks noGrp="1"/>
          </p:cNvSpPr>
          <p:nvPr>
            <p:ph type="sldNum" sz="quarter" idx="12"/>
          </p:nvPr>
        </p:nvSpPr>
        <p:spPr/>
        <p:txBody>
          <a:bodyPr/>
          <a:lstStyle/>
          <a:p>
            <a:fld id="{31DE2C5B-556E-47B8-A792-024C2FCA4ACC}" type="slidenum">
              <a:rPr lang="en-GB" smtClean="0"/>
              <a:t>30</a:t>
            </a:fld>
            <a:endParaRPr lang="en-GB" dirty="0"/>
          </a:p>
        </p:txBody>
      </p:sp>
    </p:spTree>
    <p:extLst>
      <p:ext uri="{BB962C8B-B14F-4D97-AF65-F5344CB8AC3E}">
        <p14:creationId xmlns:p14="http://schemas.microsoft.com/office/powerpoint/2010/main" val="19218280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Steps to reproduce Scenario 1</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1" y="1361167"/>
            <a:ext cx="10291710" cy="4858203"/>
          </a:xfrm>
        </p:spPr>
        <p:txBody>
          <a:bodyPr>
            <a:normAutofit/>
          </a:bodyPr>
          <a:lstStyle/>
          <a:p>
            <a:r>
              <a:rPr lang="en-US" dirty="0"/>
              <a:t>Starting from the master branch do the following</a:t>
            </a:r>
          </a:p>
          <a:p>
            <a:pPr lvl="1"/>
            <a:r>
              <a:rPr lang="en-US" dirty="0"/>
              <a:t>In the terminal</a:t>
            </a:r>
          </a:p>
          <a:p>
            <a:pPr lvl="2"/>
            <a:r>
              <a:rPr lang="en-US" dirty="0">
                <a:latin typeface="Courier" pitchFamily="2" charset="0"/>
              </a:rPr>
              <a:t>&gt;&gt; git checkout </a:t>
            </a:r>
            <a:r>
              <a:rPr lang="en-US" dirty="0" err="1">
                <a:latin typeface="Courier" pitchFamily="2" charset="0"/>
              </a:rPr>
              <a:t>devel</a:t>
            </a:r>
            <a:endParaRPr lang="en-US" dirty="0">
              <a:latin typeface="Courier" pitchFamily="2" charset="0"/>
            </a:endParaRPr>
          </a:p>
          <a:p>
            <a:pPr lvl="1"/>
            <a:endParaRPr lang="en-US" dirty="0"/>
          </a:p>
          <a:p>
            <a:pPr lvl="1"/>
            <a:r>
              <a:rPr lang="en-US" dirty="0"/>
              <a:t>In the text editor</a:t>
            </a:r>
          </a:p>
          <a:p>
            <a:pPr lvl="2"/>
            <a:r>
              <a:rPr lang="en-US" dirty="0"/>
              <a:t>modify </a:t>
            </a:r>
            <a:r>
              <a:rPr lang="en-US" dirty="0" err="1">
                <a:latin typeface="Courier" pitchFamily="2" charset="0"/>
              </a:rPr>
              <a:t>text.txt</a:t>
            </a:r>
            <a:r>
              <a:rPr lang="en-US" dirty="0">
                <a:latin typeface="Courier" pitchFamily="2" charset="0"/>
              </a:rPr>
              <a:t> </a:t>
            </a:r>
            <a:r>
              <a:rPr lang="en-US" dirty="0"/>
              <a:t>and save</a:t>
            </a:r>
          </a:p>
          <a:p>
            <a:pPr lvl="1"/>
            <a:endParaRPr lang="en-US" dirty="0"/>
          </a:p>
          <a:p>
            <a:pPr lvl="1"/>
            <a:r>
              <a:rPr lang="en-US" dirty="0"/>
              <a:t>In the terminal</a:t>
            </a:r>
          </a:p>
          <a:p>
            <a:pPr lvl="2"/>
            <a:r>
              <a:rPr lang="en-US" dirty="0">
                <a:latin typeface="Courier" pitchFamily="2" charset="0"/>
              </a:rPr>
              <a:t>&gt;&gt; git add *</a:t>
            </a:r>
          </a:p>
          <a:p>
            <a:pPr lvl="2"/>
            <a:r>
              <a:rPr lang="en-US" dirty="0">
                <a:latin typeface="Courier" pitchFamily="2" charset="0"/>
              </a:rPr>
              <a:t>&gt;&gt; git commit –m “[</a:t>
            </a:r>
            <a:r>
              <a:rPr lang="en-US" dirty="0" err="1">
                <a:latin typeface="Courier" pitchFamily="2" charset="0"/>
              </a:rPr>
              <a:t>devel</a:t>
            </a:r>
            <a:r>
              <a:rPr lang="en-US" dirty="0">
                <a:latin typeface="Courier" pitchFamily="2" charset="0"/>
              </a:rPr>
              <a:t>] another </a:t>
            </a:r>
            <a:r>
              <a:rPr lang="en-US" dirty="0" err="1">
                <a:latin typeface="Courier" pitchFamily="2" charset="0"/>
              </a:rPr>
              <a:t>text.txt</a:t>
            </a:r>
            <a:r>
              <a:rPr lang="en-US" dirty="0">
                <a:latin typeface="Courier" pitchFamily="2" charset="0"/>
              </a:rPr>
              <a:t> update”</a:t>
            </a:r>
          </a:p>
          <a:p>
            <a:pPr lvl="2"/>
            <a:r>
              <a:rPr lang="en-US" dirty="0">
                <a:latin typeface="Courier" pitchFamily="2" charset="0"/>
              </a:rPr>
              <a:t>&gt;&gt; git checkout master</a:t>
            </a:r>
          </a:p>
          <a:p>
            <a:pPr lvl="2"/>
            <a:r>
              <a:rPr lang="en-US" dirty="0">
                <a:latin typeface="Courier" pitchFamily="2" charset="0"/>
              </a:rPr>
              <a:t>&gt;&gt; git merge </a:t>
            </a:r>
            <a:r>
              <a:rPr lang="en-US" dirty="0" err="1">
                <a:latin typeface="Courier" pitchFamily="2" charset="0"/>
              </a:rPr>
              <a:t>devel</a:t>
            </a:r>
            <a:endParaRPr lang="en-US" dirty="0">
              <a:latin typeface="Courier" pitchFamily="2" charset="0"/>
            </a:endParaRPr>
          </a:p>
          <a:p>
            <a:pPr lvl="2"/>
            <a:r>
              <a:rPr lang="en-US" dirty="0">
                <a:latin typeface="Courier" pitchFamily="2" charset="0"/>
              </a:rPr>
              <a:t>&gt;&gt; git log</a:t>
            </a:r>
          </a:p>
        </p:txBody>
      </p:sp>
      <p:sp>
        <p:nvSpPr>
          <p:cNvPr id="4" name="Slide Number Placeholder 3">
            <a:extLst>
              <a:ext uri="{FF2B5EF4-FFF2-40B4-BE49-F238E27FC236}">
                <a16:creationId xmlns:a16="http://schemas.microsoft.com/office/drawing/2014/main" id="{C7469634-C885-8341-9608-D072C6D40C79}"/>
              </a:ext>
            </a:extLst>
          </p:cNvPr>
          <p:cNvSpPr>
            <a:spLocks noGrp="1"/>
          </p:cNvSpPr>
          <p:nvPr>
            <p:ph type="sldNum" sz="quarter" idx="12"/>
          </p:nvPr>
        </p:nvSpPr>
        <p:spPr/>
        <p:txBody>
          <a:bodyPr/>
          <a:lstStyle/>
          <a:p>
            <a:fld id="{31DE2C5B-556E-47B8-A792-024C2FCA4ACC}" type="slidenum">
              <a:rPr lang="en-GB" smtClean="0"/>
              <a:t>31</a:t>
            </a:fld>
            <a:endParaRPr lang="en-GB" dirty="0"/>
          </a:p>
        </p:txBody>
      </p:sp>
      <p:sp>
        <p:nvSpPr>
          <p:cNvPr id="10" name="TextBox 9">
            <a:extLst>
              <a:ext uri="{FF2B5EF4-FFF2-40B4-BE49-F238E27FC236}">
                <a16:creationId xmlns:a16="http://schemas.microsoft.com/office/drawing/2014/main" id="{BAE90C53-381C-F24F-B7DD-35D2A4DD60DD}"/>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
        <p:nvSpPr>
          <p:cNvPr id="13" name="TextBox 12">
            <a:extLst>
              <a:ext uri="{FF2B5EF4-FFF2-40B4-BE49-F238E27FC236}">
                <a16:creationId xmlns:a16="http://schemas.microsoft.com/office/drawing/2014/main" id="{97654C95-118A-D94C-BEBF-6869FAAD8336}"/>
              </a:ext>
            </a:extLst>
          </p:cNvPr>
          <p:cNvSpPr txBox="1"/>
          <p:nvPr/>
        </p:nvSpPr>
        <p:spPr>
          <a:xfrm>
            <a:off x="8961241" y="2354289"/>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sp>
        <p:nvSpPr>
          <p:cNvPr id="16" name="Rectangle 15">
            <a:extLst>
              <a:ext uri="{FF2B5EF4-FFF2-40B4-BE49-F238E27FC236}">
                <a16:creationId xmlns:a16="http://schemas.microsoft.com/office/drawing/2014/main" id="{1B8E3FE4-AC68-7A4F-B89C-3F601CF1C864}"/>
              </a:ext>
            </a:extLst>
          </p:cNvPr>
          <p:cNvSpPr/>
          <p:nvPr/>
        </p:nvSpPr>
        <p:spPr>
          <a:xfrm>
            <a:off x="8667496" y="2234216"/>
            <a:ext cx="3375191" cy="64654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17" name="Rectangle 16">
            <a:extLst>
              <a:ext uri="{FF2B5EF4-FFF2-40B4-BE49-F238E27FC236}">
                <a16:creationId xmlns:a16="http://schemas.microsoft.com/office/drawing/2014/main" id="{3424261B-4062-2F4C-BC41-51D042C25FDC}"/>
              </a:ext>
            </a:extLst>
          </p:cNvPr>
          <p:cNvSpPr/>
          <p:nvPr/>
        </p:nvSpPr>
        <p:spPr>
          <a:xfrm>
            <a:off x="8599507" y="1892411"/>
            <a:ext cx="847155"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IT" sz="1600" b="1" dirty="0">
                <a:solidFill>
                  <a:schemeClr val="accent6"/>
                </a:solidFill>
                <a:latin typeface="Aptos" panose="020B0004020202020204" pitchFamily="34" charset="0"/>
              </a:rPr>
              <a:t>master</a:t>
            </a:r>
            <a:endParaRPr lang="en-IT" sz="1600" dirty="0">
              <a:solidFill>
                <a:schemeClr val="accent6"/>
              </a:solidFill>
              <a:latin typeface="Aptos" panose="020B0004020202020204" pitchFamily="34" charset="0"/>
            </a:endParaRPr>
          </a:p>
        </p:txBody>
      </p:sp>
      <p:sp>
        <p:nvSpPr>
          <p:cNvPr id="19" name="Rectangle 18">
            <a:extLst>
              <a:ext uri="{FF2B5EF4-FFF2-40B4-BE49-F238E27FC236}">
                <a16:creationId xmlns:a16="http://schemas.microsoft.com/office/drawing/2014/main" id="{B8293298-B901-8F46-A42E-33E280BF89BA}"/>
              </a:ext>
            </a:extLst>
          </p:cNvPr>
          <p:cNvSpPr/>
          <p:nvPr/>
        </p:nvSpPr>
        <p:spPr>
          <a:xfrm>
            <a:off x="9492632" y="1476805"/>
            <a:ext cx="723636" cy="646545"/>
          </a:xfrm>
          <a:prstGeom prst="rect">
            <a:avLst/>
          </a:prstGeom>
          <a:noFill/>
          <a:ln>
            <a:solidFill>
              <a:srgbClr val="0070C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a:solidFill>
                <a:srgbClr val="0070C0"/>
              </a:solidFill>
              <a:latin typeface="Aptos" panose="020B0004020202020204" pitchFamily="34" charset="0"/>
            </a:endParaRPr>
          </a:p>
        </p:txBody>
      </p:sp>
      <p:sp>
        <p:nvSpPr>
          <p:cNvPr id="20" name="TextBox 19">
            <a:extLst>
              <a:ext uri="{FF2B5EF4-FFF2-40B4-BE49-F238E27FC236}">
                <a16:creationId xmlns:a16="http://schemas.microsoft.com/office/drawing/2014/main" id="{0DF1A768-C79F-F241-8CAC-24BA40DA9826}"/>
              </a:ext>
            </a:extLst>
          </p:cNvPr>
          <p:cNvSpPr txBox="1"/>
          <p:nvPr/>
        </p:nvSpPr>
        <p:spPr>
          <a:xfrm>
            <a:off x="11236379" y="2354289"/>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cxnSp>
        <p:nvCxnSpPr>
          <p:cNvPr id="21" name="Straight Arrow Connector 20">
            <a:extLst>
              <a:ext uri="{FF2B5EF4-FFF2-40B4-BE49-F238E27FC236}">
                <a16:creationId xmlns:a16="http://schemas.microsoft.com/office/drawing/2014/main" id="{AE1513CB-9D41-0B4D-88E0-64374EDE7555}"/>
              </a:ext>
            </a:extLst>
          </p:cNvPr>
          <p:cNvCxnSpPr>
            <a:cxnSpLocks/>
            <a:stCxn id="20" idx="1"/>
            <a:endCxn id="13" idx="3"/>
          </p:cNvCxnSpPr>
          <p:nvPr/>
        </p:nvCxnSpPr>
        <p:spPr>
          <a:xfrm flipH="1">
            <a:off x="9418441" y="2538955"/>
            <a:ext cx="1817938"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22" name="TextBox 21">
            <a:extLst>
              <a:ext uri="{FF2B5EF4-FFF2-40B4-BE49-F238E27FC236}">
                <a16:creationId xmlns:a16="http://schemas.microsoft.com/office/drawing/2014/main" id="{A9907D98-2437-2143-9F59-D68B82F4C8B1}"/>
              </a:ext>
            </a:extLst>
          </p:cNvPr>
          <p:cNvSpPr txBox="1"/>
          <p:nvPr/>
        </p:nvSpPr>
        <p:spPr>
          <a:xfrm>
            <a:off x="9666219" y="1608707"/>
            <a:ext cx="457200" cy="369332"/>
          </a:xfrm>
          <a:prstGeom prst="rect">
            <a:avLst/>
          </a:prstGeom>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wrap="square" rtlCol="0" anchor="ctr">
            <a:spAutoFit/>
          </a:bodyPr>
          <a:lstStyle/>
          <a:p>
            <a:pPr algn="ctr"/>
            <a:endParaRPr lang="en-IT" dirty="0">
              <a:solidFill>
                <a:srgbClr val="0070C0"/>
              </a:solidFill>
              <a:latin typeface="Aptos" panose="020B0004020202020204" pitchFamily="34" charset="0"/>
              <a:ea typeface="Palatino" pitchFamily="2" charset="77"/>
            </a:endParaRPr>
          </a:p>
        </p:txBody>
      </p:sp>
      <p:sp>
        <p:nvSpPr>
          <p:cNvPr id="23" name="Rectangle 22">
            <a:extLst>
              <a:ext uri="{FF2B5EF4-FFF2-40B4-BE49-F238E27FC236}">
                <a16:creationId xmlns:a16="http://schemas.microsoft.com/office/drawing/2014/main" id="{C2E026C0-ACA5-F246-B3D9-FC61BBB759CE}"/>
              </a:ext>
            </a:extLst>
          </p:cNvPr>
          <p:cNvSpPr/>
          <p:nvPr/>
        </p:nvSpPr>
        <p:spPr>
          <a:xfrm>
            <a:off x="9598723" y="1159149"/>
            <a:ext cx="697627"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US" sz="1600" b="1" dirty="0" err="1">
                <a:solidFill>
                  <a:srgbClr val="0070C0"/>
                </a:solidFill>
                <a:latin typeface="Aptos" panose="020B0004020202020204" pitchFamily="34" charset="0"/>
              </a:rPr>
              <a:t>devel</a:t>
            </a:r>
            <a:endParaRPr lang="en-IT" sz="1600" dirty="0">
              <a:solidFill>
                <a:srgbClr val="0070C0"/>
              </a:solidFill>
              <a:latin typeface="Aptos" panose="020B0004020202020204" pitchFamily="34" charset="0"/>
            </a:endParaRPr>
          </a:p>
        </p:txBody>
      </p:sp>
      <p:cxnSp>
        <p:nvCxnSpPr>
          <p:cNvPr id="24" name="Straight Arrow Connector 23">
            <a:extLst>
              <a:ext uri="{FF2B5EF4-FFF2-40B4-BE49-F238E27FC236}">
                <a16:creationId xmlns:a16="http://schemas.microsoft.com/office/drawing/2014/main" id="{27321748-5CE6-4748-AC3C-FC3209C64F0C}"/>
              </a:ext>
            </a:extLst>
          </p:cNvPr>
          <p:cNvCxnSpPr>
            <a:cxnSpLocks/>
            <a:stCxn id="22" idx="1"/>
          </p:cNvCxnSpPr>
          <p:nvPr/>
        </p:nvCxnSpPr>
        <p:spPr>
          <a:xfrm flipH="1">
            <a:off x="9189841" y="1793373"/>
            <a:ext cx="476378" cy="5609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9FCADC44-8757-3A42-80D7-B9CFCC6A1CB6}"/>
              </a:ext>
            </a:extLst>
          </p:cNvPr>
          <p:cNvCxnSpPr>
            <a:cxnSpLocks/>
            <a:stCxn id="20" idx="0"/>
            <a:endCxn id="22" idx="3"/>
          </p:cNvCxnSpPr>
          <p:nvPr/>
        </p:nvCxnSpPr>
        <p:spPr>
          <a:xfrm flipH="1" flipV="1">
            <a:off x="10123419" y="1793373"/>
            <a:ext cx="1341560" cy="5609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0844D2B8-70DD-D847-93E2-36D077A2814D}"/>
              </a:ext>
            </a:extLst>
          </p:cNvPr>
          <p:cNvCxnSpPr>
            <a:cxnSpLocks/>
          </p:cNvCxnSpPr>
          <p:nvPr/>
        </p:nvCxnSpPr>
        <p:spPr>
          <a:xfrm>
            <a:off x="4565515" y="2230965"/>
            <a:ext cx="4544244" cy="119803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7" name="Rectangle 26">
            <a:extLst>
              <a:ext uri="{FF2B5EF4-FFF2-40B4-BE49-F238E27FC236}">
                <a16:creationId xmlns:a16="http://schemas.microsoft.com/office/drawing/2014/main" id="{37A0B7DB-D47C-7542-8649-8CBF2A4F7A91}"/>
              </a:ext>
            </a:extLst>
          </p:cNvPr>
          <p:cNvSpPr/>
          <p:nvPr/>
        </p:nvSpPr>
        <p:spPr>
          <a:xfrm>
            <a:off x="9189841" y="3318959"/>
            <a:ext cx="2896999" cy="2893100"/>
          </a:xfrm>
          <a:prstGeom prst="rect">
            <a:avLst/>
          </a:prstGeom>
        </p:spPr>
        <p:txBody>
          <a:bodyPr wrap="square">
            <a:spAutoFit/>
          </a:bodyPr>
          <a:lstStyle/>
          <a:p>
            <a:r>
              <a:rPr lang="en-GB" sz="1400" dirty="0">
                <a:latin typeface="Aptos" panose="020B0004020202020204" pitchFamily="34" charset="0"/>
                <a:ea typeface="Palatino" pitchFamily="2" charset="77"/>
              </a:rPr>
              <a:t>This moves us to the </a:t>
            </a:r>
            <a:r>
              <a:rPr lang="en-GB" sz="1400" dirty="0" err="1">
                <a:latin typeface="Aptos" panose="020B0004020202020204" pitchFamily="34" charset="0"/>
                <a:ea typeface="Palatino" pitchFamily="2" charset="77"/>
              </a:rPr>
              <a:t>devel</a:t>
            </a:r>
            <a:r>
              <a:rPr lang="en-GB" sz="1400" dirty="0">
                <a:latin typeface="Aptos" panose="020B0004020202020204" pitchFamily="34" charset="0"/>
                <a:ea typeface="Palatino" pitchFamily="2" charset="77"/>
              </a:rPr>
              <a:t> branch</a:t>
            </a:r>
          </a:p>
          <a:p>
            <a:endParaRPr lang="en-GB" sz="1400" dirty="0">
              <a:latin typeface="Aptos" panose="020B0004020202020204" pitchFamily="34" charset="0"/>
              <a:ea typeface="Palatino" pitchFamily="2" charset="77"/>
            </a:endParaRPr>
          </a:p>
          <a:p>
            <a:r>
              <a:rPr lang="en-GB" sz="1400" dirty="0">
                <a:latin typeface="Aptos" panose="020B0004020202020204" pitchFamily="34" charset="0"/>
                <a:ea typeface="Palatino" pitchFamily="2" charset="77"/>
              </a:rPr>
              <a:t>This creates the update</a:t>
            </a:r>
          </a:p>
          <a:p>
            <a:endParaRPr lang="en-GB" sz="1400" dirty="0">
              <a:latin typeface="Aptos" panose="020B0004020202020204" pitchFamily="34" charset="0"/>
              <a:ea typeface="Palatino" pitchFamily="2" charset="77"/>
            </a:endParaRPr>
          </a:p>
          <a:p>
            <a:r>
              <a:rPr lang="en-GB" sz="1400" dirty="0">
                <a:latin typeface="Aptos" panose="020B0004020202020204" pitchFamily="34" charset="0"/>
                <a:ea typeface="Palatino" pitchFamily="2" charset="77"/>
              </a:rPr>
              <a:t>This creates the new commit in the </a:t>
            </a:r>
            <a:r>
              <a:rPr lang="en-GB" sz="1400" dirty="0" err="1">
                <a:latin typeface="Aptos" panose="020B0004020202020204" pitchFamily="34" charset="0"/>
                <a:ea typeface="Palatino" pitchFamily="2" charset="77"/>
              </a:rPr>
              <a:t>devel</a:t>
            </a:r>
            <a:r>
              <a:rPr lang="en-GB" sz="1400" dirty="0">
                <a:latin typeface="Aptos" panose="020B0004020202020204" pitchFamily="34" charset="0"/>
                <a:ea typeface="Palatino" pitchFamily="2" charset="77"/>
              </a:rPr>
              <a:t> branch</a:t>
            </a:r>
          </a:p>
          <a:p>
            <a:endParaRPr lang="en-GB" sz="1400" dirty="0">
              <a:latin typeface="Aptos" panose="020B0004020202020204" pitchFamily="34" charset="0"/>
              <a:ea typeface="Palatino" pitchFamily="2" charset="77"/>
            </a:endParaRPr>
          </a:p>
          <a:p>
            <a:r>
              <a:rPr lang="en-GB" sz="1400" dirty="0">
                <a:latin typeface="Aptos" panose="020B0004020202020204" pitchFamily="34" charset="0"/>
                <a:ea typeface="Palatino" pitchFamily="2" charset="77"/>
              </a:rPr>
              <a:t>This gets us back to the master branch</a:t>
            </a:r>
          </a:p>
          <a:p>
            <a:endParaRPr lang="en-GB" sz="1400" dirty="0">
              <a:latin typeface="Aptos" panose="020B0004020202020204" pitchFamily="34" charset="0"/>
              <a:ea typeface="Palatino" pitchFamily="2" charset="77"/>
            </a:endParaRPr>
          </a:p>
          <a:p>
            <a:r>
              <a:rPr lang="en-IT" sz="1400" dirty="0">
                <a:latin typeface="Aptos" panose="020B0004020202020204" pitchFamily="34" charset="0"/>
                <a:ea typeface="Palatino" pitchFamily="2" charset="77"/>
              </a:rPr>
              <a:t>This applies all the new commits in the devel branch to the master branch</a:t>
            </a:r>
          </a:p>
        </p:txBody>
      </p:sp>
      <p:cxnSp>
        <p:nvCxnSpPr>
          <p:cNvPr id="30" name="Straight Arrow Connector 29">
            <a:extLst>
              <a:ext uri="{FF2B5EF4-FFF2-40B4-BE49-F238E27FC236}">
                <a16:creationId xmlns:a16="http://schemas.microsoft.com/office/drawing/2014/main" id="{466E4E91-E8C6-894A-9E61-C89DF98B2DBD}"/>
              </a:ext>
            </a:extLst>
          </p:cNvPr>
          <p:cNvCxnSpPr>
            <a:cxnSpLocks/>
          </p:cNvCxnSpPr>
          <p:nvPr/>
        </p:nvCxnSpPr>
        <p:spPr>
          <a:xfrm>
            <a:off x="4662791" y="3318959"/>
            <a:ext cx="4446968" cy="75368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32990800-02FA-4C44-9B55-BE179C0B4CD5}"/>
              </a:ext>
            </a:extLst>
          </p:cNvPr>
          <p:cNvCxnSpPr>
            <a:cxnSpLocks/>
          </p:cNvCxnSpPr>
          <p:nvPr/>
        </p:nvCxnSpPr>
        <p:spPr>
          <a:xfrm>
            <a:off x="8521430" y="4526604"/>
            <a:ext cx="58832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A1246AFA-9065-AA46-B150-B3D1B7F4E64E}"/>
              </a:ext>
            </a:extLst>
          </p:cNvPr>
          <p:cNvCxnSpPr>
            <a:cxnSpLocks/>
          </p:cNvCxnSpPr>
          <p:nvPr/>
        </p:nvCxnSpPr>
        <p:spPr>
          <a:xfrm>
            <a:off x="4747098" y="4883285"/>
            <a:ext cx="4362661" cy="26588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9" name="Straight Arrow Connector 38">
            <a:extLst>
              <a:ext uri="{FF2B5EF4-FFF2-40B4-BE49-F238E27FC236}">
                <a16:creationId xmlns:a16="http://schemas.microsoft.com/office/drawing/2014/main" id="{6706FCB0-261E-9C44-95AD-0AD15235460A}"/>
              </a:ext>
            </a:extLst>
          </p:cNvPr>
          <p:cNvCxnSpPr>
            <a:cxnSpLocks/>
          </p:cNvCxnSpPr>
          <p:nvPr/>
        </p:nvCxnSpPr>
        <p:spPr>
          <a:xfrm>
            <a:off x="4189379" y="5149174"/>
            <a:ext cx="4920380" cy="68093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1847322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Managing scenario 2</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1" y="1361167"/>
            <a:ext cx="6975273" cy="4858203"/>
          </a:xfrm>
        </p:spPr>
        <p:txBody>
          <a:bodyPr/>
          <a:lstStyle/>
          <a:p>
            <a:r>
              <a:rPr lang="en-IT" dirty="0"/>
              <a:t>Scenario 2 is tricky (and the most common)</a:t>
            </a:r>
          </a:p>
          <a:p>
            <a:endParaRPr lang="en-IT" dirty="0"/>
          </a:p>
          <a:p>
            <a:r>
              <a:rPr lang="en-IT" dirty="0"/>
              <a:t>It can happen that someone changed the same lines of code!</a:t>
            </a:r>
          </a:p>
          <a:p>
            <a:endParaRPr lang="en-IT" dirty="0"/>
          </a:p>
          <a:p>
            <a:r>
              <a:rPr lang="en-IT" dirty="0"/>
              <a:t>In this case you need to solve the conflicts manually. Let’s see how in a representative example</a:t>
            </a:r>
          </a:p>
        </p:txBody>
      </p:sp>
      <p:sp>
        <p:nvSpPr>
          <p:cNvPr id="47" name="TextBox 46">
            <a:extLst>
              <a:ext uri="{FF2B5EF4-FFF2-40B4-BE49-F238E27FC236}">
                <a16:creationId xmlns:a16="http://schemas.microsoft.com/office/drawing/2014/main" id="{C4E3FAB9-D006-C34D-B935-D12BA58B8951}"/>
              </a:ext>
            </a:extLst>
          </p:cNvPr>
          <p:cNvSpPr txBox="1"/>
          <p:nvPr/>
        </p:nvSpPr>
        <p:spPr>
          <a:xfrm>
            <a:off x="7796145" y="2411425"/>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sp>
        <p:nvSpPr>
          <p:cNvPr id="48" name="TextBox 47">
            <a:extLst>
              <a:ext uri="{FF2B5EF4-FFF2-40B4-BE49-F238E27FC236}">
                <a16:creationId xmlns:a16="http://schemas.microsoft.com/office/drawing/2014/main" id="{019C8129-C33B-F941-B98A-73E446A1A902}"/>
              </a:ext>
            </a:extLst>
          </p:cNvPr>
          <p:cNvSpPr txBox="1"/>
          <p:nvPr/>
        </p:nvSpPr>
        <p:spPr>
          <a:xfrm>
            <a:off x="8745004" y="2411425"/>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cxnSp>
        <p:nvCxnSpPr>
          <p:cNvPr id="49" name="Straight Arrow Connector 48">
            <a:extLst>
              <a:ext uri="{FF2B5EF4-FFF2-40B4-BE49-F238E27FC236}">
                <a16:creationId xmlns:a16="http://schemas.microsoft.com/office/drawing/2014/main" id="{CBBC9FFD-07F4-3E4D-BB63-E4DED0F60749}"/>
              </a:ext>
            </a:extLst>
          </p:cNvPr>
          <p:cNvCxnSpPr>
            <a:cxnSpLocks/>
            <a:stCxn id="48" idx="1"/>
            <a:endCxn id="47" idx="3"/>
          </p:cNvCxnSpPr>
          <p:nvPr/>
        </p:nvCxnSpPr>
        <p:spPr>
          <a:xfrm flipH="1">
            <a:off x="8253345" y="2596091"/>
            <a:ext cx="491659"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50" name="Rectangle 49">
            <a:extLst>
              <a:ext uri="{FF2B5EF4-FFF2-40B4-BE49-F238E27FC236}">
                <a16:creationId xmlns:a16="http://schemas.microsoft.com/office/drawing/2014/main" id="{3337F5F4-6A6F-6B43-9AEB-EAB859CE6BA1}"/>
              </a:ext>
            </a:extLst>
          </p:cNvPr>
          <p:cNvSpPr/>
          <p:nvPr/>
        </p:nvSpPr>
        <p:spPr>
          <a:xfrm>
            <a:off x="7676075" y="2291352"/>
            <a:ext cx="4150376" cy="64654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51" name="Rectangle 50">
            <a:extLst>
              <a:ext uri="{FF2B5EF4-FFF2-40B4-BE49-F238E27FC236}">
                <a16:creationId xmlns:a16="http://schemas.microsoft.com/office/drawing/2014/main" id="{3CD2A1D5-EF84-4041-AC53-D8C575F360F2}"/>
              </a:ext>
            </a:extLst>
          </p:cNvPr>
          <p:cNvSpPr/>
          <p:nvPr/>
        </p:nvSpPr>
        <p:spPr>
          <a:xfrm>
            <a:off x="7638217" y="1986613"/>
            <a:ext cx="847155"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IT" sz="1600" b="1" dirty="0">
                <a:solidFill>
                  <a:schemeClr val="accent6"/>
                </a:solidFill>
                <a:latin typeface="Aptos" panose="020B0004020202020204" pitchFamily="34" charset="0"/>
              </a:rPr>
              <a:t>master</a:t>
            </a:r>
            <a:endParaRPr lang="en-IT" sz="1600" dirty="0">
              <a:solidFill>
                <a:schemeClr val="accent6"/>
              </a:solidFill>
              <a:latin typeface="Aptos" panose="020B0004020202020204" pitchFamily="34" charset="0"/>
            </a:endParaRPr>
          </a:p>
        </p:txBody>
      </p:sp>
      <p:sp>
        <p:nvSpPr>
          <p:cNvPr id="52" name="Rectangle 51">
            <a:extLst>
              <a:ext uri="{FF2B5EF4-FFF2-40B4-BE49-F238E27FC236}">
                <a16:creationId xmlns:a16="http://schemas.microsoft.com/office/drawing/2014/main" id="{7F1A8017-836B-5741-A70B-1631EC3901B3}"/>
              </a:ext>
            </a:extLst>
          </p:cNvPr>
          <p:cNvSpPr/>
          <p:nvPr/>
        </p:nvSpPr>
        <p:spPr>
          <a:xfrm>
            <a:off x="9276395" y="1533941"/>
            <a:ext cx="788715" cy="646545"/>
          </a:xfrm>
          <a:prstGeom prst="rect">
            <a:avLst/>
          </a:prstGeom>
          <a:noFill/>
          <a:ln>
            <a:solidFill>
              <a:srgbClr val="0070C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a:solidFill>
                <a:srgbClr val="0070C0"/>
              </a:solidFill>
              <a:latin typeface="Aptos" panose="020B0004020202020204" pitchFamily="34" charset="0"/>
            </a:endParaRPr>
          </a:p>
        </p:txBody>
      </p:sp>
      <p:sp>
        <p:nvSpPr>
          <p:cNvPr id="53" name="TextBox 52">
            <a:extLst>
              <a:ext uri="{FF2B5EF4-FFF2-40B4-BE49-F238E27FC236}">
                <a16:creationId xmlns:a16="http://schemas.microsoft.com/office/drawing/2014/main" id="{5B66016A-467E-9E4E-B696-3277ECF9B037}"/>
              </a:ext>
            </a:extLst>
          </p:cNvPr>
          <p:cNvSpPr txBox="1"/>
          <p:nvPr/>
        </p:nvSpPr>
        <p:spPr>
          <a:xfrm>
            <a:off x="11020142" y="2411425"/>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sp>
        <p:nvSpPr>
          <p:cNvPr id="54" name="TextBox 53">
            <a:extLst>
              <a:ext uri="{FF2B5EF4-FFF2-40B4-BE49-F238E27FC236}">
                <a16:creationId xmlns:a16="http://schemas.microsoft.com/office/drawing/2014/main" id="{26E9A071-B7AB-094D-85F6-6A71EFD2183B}"/>
              </a:ext>
            </a:extLst>
          </p:cNvPr>
          <p:cNvSpPr txBox="1"/>
          <p:nvPr/>
        </p:nvSpPr>
        <p:spPr>
          <a:xfrm>
            <a:off x="9842683" y="2411425"/>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cxnSp>
        <p:nvCxnSpPr>
          <p:cNvPr id="55" name="Straight Arrow Connector 54">
            <a:extLst>
              <a:ext uri="{FF2B5EF4-FFF2-40B4-BE49-F238E27FC236}">
                <a16:creationId xmlns:a16="http://schemas.microsoft.com/office/drawing/2014/main" id="{F7CC939F-7A4D-2E4E-9C71-997E37ACA8BC}"/>
              </a:ext>
            </a:extLst>
          </p:cNvPr>
          <p:cNvCxnSpPr>
            <a:cxnSpLocks/>
            <a:endCxn id="48" idx="3"/>
          </p:cNvCxnSpPr>
          <p:nvPr/>
        </p:nvCxnSpPr>
        <p:spPr>
          <a:xfrm flipH="1">
            <a:off x="9202204" y="2596091"/>
            <a:ext cx="640479"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56" name="Straight Arrow Connector 55">
            <a:extLst>
              <a:ext uri="{FF2B5EF4-FFF2-40B4-BE49-F238E27FC236}">
                <a16:creationId xmlns:a16="http://schemas.microsoft.com/office/drawing/2014/main" id="{B493255E-4577-3E4C-ABA5-01DDB80C84FF}"/>
              </a:ext>
            </a:extLst>
          </p:cNvPr>
          <p:cNvCxnSpPr>
            <a:cxnSpLocks/>
            <a:stCxn id="53" idx="1"/>
            <a:endCxn id="54" idx="3"/>
          </p:cNvCxnSpPr>
          <p:nvPr/>
        </p:nvCxnSpPr>
        <p:spPr>
          <a:xfrm flipH="1">
            <a:off x="10299883" y="2596091"/>
            <a:ext cx="720259"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58" name="TextBox 57">
            <a:extLst>
              <a:ext uri="{FF2B5EF4-FFF2-40B4-BE49-F238E27FC236}">
                <a16:creationId xmlns:a16="http://schemas.microsoft.com/office/drawing/2014/main" id="{30EC4337-AA61-884F-94CF-810EA3B0B136}"/>
              </a:ext>
            </a:extLst>
          </p:cNvPr>
          <p:cNvSpPr txBox="1"/>
          <p:nvPr/>
        </p:nvSpPr>
        <p:spPr>
          <a:xfrm>
            <a:off x="9449982" y="1665843"/>
            <a:ext cx="457200" cy="369332"/>
          </a:xfrm>
          <a:prstGeom prst="rect">
            <a:avLst/>
          </a:prstGeom>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wrap="square" rtlCol="0" anchor="ctr">
            <a:spAutoFit/>
          </a:bodyPr>
          <a:lstStyle/>
          <a:p>
            <a:pPr algn="ctr"/>
            <a:endParaRPr lang="en-IT" dirty="0">
              <a:solidFill>
                <a:srgbClr val="0070C0"/>
              </a:solidFill>
              <a:latin typeface="Aptos" panose="020B0004020202020204" pitchFamily="34" charset="0"/>
              <a:ea typeface="Palatino" pitchFamily="2" charset="77"/>
            </a:endParaRPr>
          </a:p>
        </p:txBody>
      </p:sp>
      <p:cxnSp>
        <p:nvCxnSpPr>
          <p:cNvPr id="59" name="Straight Arrow Connector 58">
            <a:extLst>
              <a:ext uri="{FF2B5EF4-FFF2-40B4-BE49-F238E27FC236}">
                <a16:creationId xmlns:a16="http://schemas.microsoft.com/office/drawing/2014/main" id="{B25C4AB0-2C33-7241-9E3F-508740E7BE49}"/>
              </a:ext>
            </a:extLst>
          </p:cNvPr>
          <p:cNvCxnSpPr>
            <a:cxnSpLocks/>
            <a:stCxn id="53" idx="0"/>
            <a:endCxn id="58" idx="3"/>
          </p:cNvCxnSpPr>
          <p:nvPr/>
        </p:nvCxnSpPr>
        <p:spPr>
          <a:xfrm flipH="1" flipV="1">
            <a:off x="9907182" y="1850509"/>
            <a:ext cx="1341560" cy="5609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0" name="Rectangle 59">
            <a:extLst>
              <a:ext uri="{FF2B5EF4-FFF2-40B4-BE49-F238E27FC236}">
                <a16:creationId xmlns:a16="http://schemas.microsoft.com/office/drawing/2014/main" id="{69F913C2-AD12-B544-AACB-5BED7ADF760A}"/>
              </a:ext>
            </a:extLst>
          </p:cNvPr>
          <p:cNvSpPr/>
          <p:nvPr/>
        </p:nvSpPr>
        <p:spPr>
          <a:xfrm>
            <a:off x="9260816" y="1253798"/>
            <a:ext cx="697627"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US" sz="1600" b="1" dirty="0" err="1">
                <a:solidFill>
                  <a:srgbClr val="0070C0"/>
                </a:solidFill>
                <a:latin typeface="Aptos" panose="020B0004020202020204" pitchFamily="34" charset="0"/>
              </a:rPr>
              <a:t>devel</a:t>
            </a:r>
            <a:endParaRPr lang="en-IT" sz="1600" dirty="0">
              <a:solidFill>
                <a:srgbClr val="0070C0"/>
              </a:solidFill>
              <a:latin typeface="Aptos" panose="020B0004020202020204" pitchFamily="34" charset="0"/>
            </a:endParaRPr>
          </a:p>
        </p:txBody>
      </p:sp>
      <p:cxnSp>
        <p:nvCxnSpPr>
          <p:cNvPr id="61" name="Straight Arrow Connector 60">
            <a:extLst>
              <a:ext uri="{FF2B5EF4-FFF2-40B4-BE49-F238E27FC236}">
                <a16:creationId xmlns:a16="http://schemas.microsoft.com/office/drawing/2014/main" id="{04660A4A-9839-E54C-A905-DC749497E257}"/>
              </a:ext>
            </a:extLst>
          </p:cNvPr>
          <p:cNvCxnSpPr>
            <a:cxnSpLocks/>
            <a:stCxn id="58" idx="1"/>
          </p:cNvCxnSpPr>
          <p:nvPr/>
        </p:nvCxnSpPr>
        <p:spPr>
          <a:xfrm flipH="1">
            <a:off x="8973604" y="1850509"/>
            <a:ext cx="476378" cy="5609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 name="Slide Number Placeholder 3">
            <a:extLst>
              <a:ext uri="{FF2B5EF4-FFF2-40B4-BE49-F238E27FC236}">
                <a16:creationId xmlns:a16="http://schemas.microsoft.com/office/drawing/2014/main" id="{55703644-D7E0-FE46-909F-AF8859B8B9B8}"/>
              </a:ext>
            </a:extLst>
          </p:cNvPr>
          <p:cNvSpPr>
            <a:spLocks noGrp="1"/>
          </p:cNvSpPr>
          <p:nvPr>
            <p:ph type="sldNum" sz="quarter" idx="12"/>
          </p:nvPr>
        </p:nvSpPr>
        <p:spPr/>
        <p:txBody>
          <a:bodyPr/>
          <a:lstStyle/>
          <a:p>
            <a:fld id="{31DE2C5B-556E-47B8-A792-024C2FCA4ACC}" type="slidenum">
              <a:rPr lang="en-GB" smtClean="0"/>
              <a:t>32</a:t>
            </a:fld>
            <a:endParaRPr lang="en-GB" dirty="0"/>
          </a:p>
        </p:txBody>
      </p:sp>
    </p:spTree>
    <p:extLst>
      <p:ext uri="{BB962C8B-B14F-4D97-AF65-F5344CB8AC3E}">
        <p14:creationId xmlns:p14="http://schemas.microsoft.com/office/powerpoint/2010/main" val="12608011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Managing scenario 2</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1" y="1361167"/>
            <a:ext cx="4726633" cy="4858203"/>
          </a:xfrm>
        </p:spPr>
        <p:txBody>
          <a:bodyPr>
            <a:normAutofit fontScale="92500" lnSpcReduction="10000"/>
          </a:bodyPr>
          <a:lstStyle/>
          <a:p>
            <a:r>
              <a:rPr lang="en-IT" dirty="0"/>
              <a:t>GIT asks us to fix the conflicts and then commit once solved. So let’s do it.</a:t>
            </a:r>
          </a:p>
          <a:p>
            <a:endParaRPr lang="en-IT" dirty="0"/>
          </a:p>
          <a:p>
            <a:r>
              <a:rPr lang="en-IT" dirty="0"/>
              <a:t>Visual Studio Code (IDE of our course, see later slides) will look like this.</a:t>
            </a:r>
          </a:p>
          <a:p>
            <a:endParaRPr lang="en-IT" dirty="0"/>
          </a:p>
          <a:p>
            <a:r>
              <a:rPr lang="en-IT" dirty="0"/>
              <a:t>T</a:t>
            </a:r>
            <a:r>
              <a:rPr lang="en-GB" dirty="0"/>
              <a:t>h</a:t>
            </a:r>
            <a:r>
              <a:rPr lang="en-IT" dirty="0"/>
              <a:t>e software is helping us in managing the conflicts. Simply chose between “Accept current change” if you want to leave text.txt as in master or “Accept incoming change” if you want to set that line as in devel</a:t>
            </a:r>
          </a:p>
        </p:txBody>
      </p:sp>
      <p:pic>
        <p:nvPicPr>
          <p:cNvPr id="5" name="Picture 4" descr="A screenshot of a computer&#10;&#10;Description automatically generated">
            <a:extLst>
              <a:ext uri="{FF2B5EF4-FFF2-40B4-BE49-F238E27FC236}">
                <a16:creationId xmlns:a16="http://schemas.microsoft.com/office/drawing/2014/main" id="{E1CFDED2-3073-3749-B0DE-590F57F0E2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6207" y="1319228"/>
            <a:ext cx="6484536" cy="1301173"/>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31BE4B22-FE0D-2B48-B4BD-FED3F20D27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46207" y="2831333"/>
            <a:ext cx="6484536" cy="2384484"/>
          </a:xfrm>
          <a:prstGeom prst="rect">
            <a:avLst/>
          </a:prstGeom>
        </p:spPr>
      </p:pic>
      <p:sp>
        <p:nvSpPr>
          <p:cNvPr id="4" name="Slide Number Placeholder 3">
            <a:extLst>
              <a:ext uri="{FF2B5EF4-FFF2-40B4-BE49-F238E27FC236}">
                <a16:creationId xmlns:a16="http://schemas.microsoft.com/office/drawing/2014/main" id="{4DB6A037-6BBC-5B4D-AA7D-E514C6421134}"/>
              </a:ext>
            </a:extLst>
          </p:cNvPr>
          <p:cNvSpPr>
            <a:spLocks noGrp="1"/>
          </p:cNvSpPr>
          <p:nvPr>
            <p:ph type="sldNum" sz="quarter" idx="12"/>
          </p:nvPr>
        </p:nvSpPr>
        <p:spPr/>
        <p:txBody>
          <a:bodyPr/>
          <a:lstStyle/>
          <a:p>
            <a:fld id="{31DE2C5B-556E-47B8-A792-024C2FCA4ACC}" type="slidenum">
              <a:rPr lang="en-GB" smtClean="0"/>
              <a:t>33</a:t>
            </a:fld>
            <a:endParaRPr lang="en-GB" dirty="0"/>
          </a:p>
        </p:txBody>
      </p:sp>
    </p:spTree>
    <p:extLst>
      <p:ext uri="{BB962C8B-B14F-4D97-AF65-F5344CB8AC3E}">
        <p14:creationId xmlns:p14="http://schemas.microsoft.com/office/powerpoint/2010/main" val="25137175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Managing scenario 2</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1" y="1361167"/>
            <a:ext cx="3410299" cy="4858203"/>
          </a:xfrm>
        </p:spPr>
        <p:txBody>
          <a:bodyPr>
            <a:normAutofit/>
          </a:bodyPr>
          <a:lstStyle/>
          <a:p>
            <a:r>
              <a:rPr lang="en-US" dirty="0"/>
              <a:t>Now that the conflict is solved, let’s commit</a:t>
            </a:r>
          </a:p>
          <a:p>
            <a:endParaRPr lang="en-US" dirty="0"/>
          </a:p>
          <a:p>
            <a:endParaRPr lang="en-US" dirty="0"/>
          </a:p>
          <a:p>
            <a:r>
              <a:rPr lang="en-US" b="1" dirty="0"/>
              <a:t>ERROR</a:t>
            </a:r>
            <a:r>
              <a:rPr lang="en-US" dirty="0"/>
              <a:t>: remember to stage first, then commit!</a:t>
            </a:r>
          </a:p>
          <a:p>
            <a:endParaRPr lang="en-US" dirty="0"/>
          </a:p>
          <a:p>
            <a:endParaRPr lang="en-US" dirty="0"/>
          </a:p>
          <a:p>
            <a:r>
              <a:rPr lang="en-IT" dirty="0"/>
              <a:t>And there we go.</a:t>
            </a:r>
            <a:endParaRPr lang="en-US" dirty="0"/>
          </a:p>
        </p:txBody>
      </p:sp>
      <p:pic>
        <p:nvPicPr>
          <p:cNvPr id="6" name="Picture 5" descr="Graphical user interface, text, chat or text message&#10;&#10;Description automatically generated">
            <a:extLst>
              <a:ext uri="{FF2B5EF4-FFF2-40B4-BE49-F238E27FC236}">
                <a16:creationId xmlns:a16="http://schemas.microsoft.com/office/drawing/2014/main" id="{8F716E9E-2476-9744-AE81-B855C51AF8B6}"/>
              </a:ext>
            </a:extLst>
          </p:cNvPr>
          <p:cNvPicPr>
            <a:picLocks noChangeAspect="1"/>
          </p:cNvPicPr>
          <p:nvPr/>
        </p:nvPicPr>
        <p:blipFill rotWithShape="1">
          <a:blip r:embed="rId3">
            <a:extLst>
              <a:ext uri="{28A0092B-C50C-407E-A947-70E740481C1C}">
                <a14:useLocalDpi xmlns:a14="http://schemas.microsoft.com/office/drawing/2010/main" val="0"/>
              </a:ext>
            </a:extLst>
          </a:blip>
          <a:srcRect r="14546"/>
          <a:stretch/>
        </p:blipFill>
        <p:spPr>
          <a:xfrm>
            <a:off x="3955762" y="1777722"/>
            <a:ext cx="7992441" cy="3698630"/>
          </a:xfrm>
          <a:prstGeom prst="rect">
            <a:avLst/>
          </a:prstGeom>
        </p:spPr>
      </p:pic>
      <p:cxnSp>
        <p:nvCxnSpPr>
          <p:cNvPr id="8" name="Straight Arrow Connector 7">
            <a:extLst>
              <a:ext uri="{FF2B5EF4-FFF2-40B4-BE49-F238E27FC236}">
                <a16:creationId xmlns:a16="http://schemas.microsoft.com/office/drawing/2014/main" id="{F10CAF94-0184-7F49-9407-7D34798D6EBA}"/>
              </a:ext>
            </a:extLst>
          </p:cNvPr>
          <p:cNvCxnSpPr>
            <a:cxnSpLocks/>
            <a:endCxn id="6" idx="1"/>
          </p:cNvCxnSpPr>
          <p:nvPr/>
        </p:nvCxnSpPr>
        <p:spPr>
          <a:xfrm>
            <a:off x="2572378" y="2140299"/>
            <a:ext cx="1383384" cy="148673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002D9724-974C-8340-B270-9E3B41616AA8}"/>
              </a:ext>
            </a:extLst>
          </p:cNvPr>
          <p:cNvCxnSpPr>
            <a:cxnSpLocks/>
          </p:cNvCxnSpPr>
          <p:nvPr/>
        </p:nvCxnSpPr>
        <p:spPr>
          <a:xfrm>
            <a:off x="2890637" y="4200211"/>
            <a:ext cx="73005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68506C29-DCA6-A84F-A7CB-E2C55B8079CA}"/>
              </a:ext>
            </a:extLst>
          </p:cNvPr>
          <p:cNvCxnSpPr>
            <a:cxnSpLocks/>
          </p:cNvCxnSpPr>
          <p:nvPr/>
        </p:nvCxnSpPr>
        <p:spPr>
          <a:xfrm flipV="1">
            <a:off x="3108412" y="5104564"/>
            <a:ext cx="730058" cy="39226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8" name="Left Brace 17">
            <a:extLst>
              <a:ext uri="{FF2B5EF4-FFF2-40B4-BE49-F238E27FC236}">
                <a16:creationId xmlns:a16="http://schemas.microsoft.com/office/drawing/2014/main" id="{52720634-4FBA-CE4D-8F41-8B72767CEC28}"/>
              </a:ext>
            </a:extLst>
          </p:cNvPr>
          <p:cNvSpPr/>
          <p:nvPr/>
        </p:nvSpPr>
        <p:spPr>
          <a:xfrm>
            <a:off x="3737987" y="3790268"/>
            <a:ext cx="217775" cy="831974"/>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IT"/>
          </a:p>
        </p:txBody>
      </p:sp>
      <p:sp>
        <p:nvSpPr>
          <p:cNvPr id="4" name="Slide Number Placeholder 3">
            <a:extLst>
              <a:ext uri="{FF2B5EF4-FFF2-40B4-BE49-F238E27FC236}">
                <a16:creationId xmlns:a16="http://schemas.microsoft.com/office/drawing/2014/main" id="{C7469634-C885-8341-9608-D072C6D40C79}"/>
              </a:ext>
            </a:extLst>
          </p:cNvPr>
          <p:cNvSpPr>
            <a:spLocks noGrp="1"/>
          </p:cNvSpPr>
          <p:nvPr>
            <p:ph type="sldNum" sz="quarter" idx="12"/>
          </p:nvPr>
        </p:nvSpPr>
        <p:spPr/>
        <p:txBody>
          <a:bodyPr/>
          <a:lstStyle/>
          <a:p>
            <a:fld id="{31DE2C5B-556E-47B8-A792-024C2FCA4ACC}" type="slidenum">
              <a:rPr lang="en-GB" smtClean="0"/>
              <a:t>34</a:t>
            </a:fld>
            <a:endParaRPr lang="en-GB" dirty="0"/>
          </a:p>
        </p:txBody>
      </p:sp>
    </p:spTree>
    <p:extLst>
      <p:ext uri="{BB962C8B-B14F-4D97-AF65-F5344CB8AC3E}">
        <p14:creationId xmlns:p14="http://schemas.microsoft.com/office/powerpoint/2010/main" val="16054602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Steps to reproduce Scenario 2</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1" y="1361167"/>
            <a:ext cx="10291710" cy="5334907"/>
          </a:xfrm>
        </p:spPr>
        <p:txBody>
          <a:bodyPr>
            <a:normAutofit fontScale="85000" lnSpcReduction="20000"/>
          </a:bodyPr>
          <a:lstStyle/>
          <a:p>
            <a:r>
              <a:rPr lang="en-US" dirty="0"/>
              <a:t>Starting from the master branch do the following</a:t>
            </a:r>
          </a:p>
          <a:p>
            <a:pPr lvl="1"/>
            <a:r>
              <a:rPr lang="en-US" dirty="0"/>
              <a:t>In the terminal </a:t>
            </a:r>
          </a:p>
          <a:p>
            <a:pPr lvl="2"/>
            <a:r>
              <a:rPr lang="en-US" dirty="0">
                <a:latin typeface="Courier" pitchFamily="2" charset="0"/>
              </a:rPr>
              <a:t>&gt;&gt; git checkout </a:t>
            </a:r>
            <a:r>
              <a:rPr lang="en-US" dirty="0" err="1">
                <a:latin typeface="Courier" pitchFamily="2" charset="0"/>
              </a:rPr>
              <a:t>devel</a:t>
            </a:r>
            <a:endParaRPr lang="en-US" dirty="0">
              <a:latin typeface="Courier" pitchFamily="2" charset="0"/>
            </a:endParaRPr>
          </a:p>
          <a:p>
            <a:pPr lvl="1"/>
            <a:r>
              <a:rPr lang="en-US" dirty="0"/>
              <a:t>In the text editor</a:t>
            </a:r>
          </a:p>
          <a:p>
            <a:pPr lvl="2"/>
            <a:r>
              <a:rPr lang="en-US" dirty="0"/>
              <a:t>modify </a:t>
            </a:r>
            <a:r>
              <a:rPr lang="en-US" dirty="0" err="1">
                <a:latin typeface="Courier" pitchFamily="2" charset="0"/>
              </a:rPr>
              <a:t>text.txt</a:t>
            </a:r>
            <a:r>
              <a:rPr lang="en-US" dirty="0">
                <a:latin typeface="Courier" pitchFamily="2" charset="0"/>
              </a:rPr>
              <a:t> </a:t>
            </a:r>
            <a:r>
              <a:rPr lang="en-US" dirty="0"/>
              <a:t>and save</a:t>
            </a:r>
          </a:p>
          <a:p>
            <a:pPr lvl="2"/>
            <a:endParaRPr lang="en-US" dirty="0"/>
          </a:p>
          <a:p>
            <a:pPr lvl="1"/>
            <a:r>
              <a:rPr lang="en-US" dirty="0"/>
              <a:t>In the terminal</a:t>
            </a:r>
          </a:p>
          <a:p>
            <a:pPr lvl="2"/>
            <a:r>
              <a:rPr lang="en-US" dirty="0">
                <a:latin typeface="Courier" pitchFamily="2" charset="0"/>
              </a:rPr>
              <a:t>&gt;&gt; git add *</a:t>
            </a:r>
          </a:p>
          <a:p>
            <a:pPr lvl="2"/>
            <a:r>
              <a:rPr lang="en-US" dirty="0">
                <a:latin typeface="Courier" pitchFamily="2" charset="0"/>
              </a:rPr>
              <a:t>&gt;&gt; git commit –m “[</a:t>
            </a:r>
            <a:r>
              <a:rPr lang="en-US" dirty="0" err="1">
                <a:latin typeface="Courier" pitchFamily="2" charset="0"/>
              </a:rPr>
              <a:t>devel</a:t>
            </a:r>
            <a:r>
              <a:rPr lang="en-US" dirty="0">
                <a:latin typeface="Courier" pitchFamily="2" charset="0"/>
              </a:rPr>
              <a:t>] another </a:t>
            </a:r>
            <a:r>
              <a:rPr lang="en-US" dirty="0" err="1">
                <a:latin typeface="Courier" pitchFamily="2" charset="0"/>
              </a:rPr>
              <a:t>text.txt</a:t>
            </a:r>
            <a:r>
              <a:rPr lang="en-US" dirty="0">
                <a:latin typeface="Courier" pitchFamily="2" charset="0"/>
              </a:rPr>
              <a:t> update”</a:t>
            </a:r>
          </a:p>
          <a:p>
            <a:pPr lvl="2"/>
            <a:r>
              <a:rPr lang="en-US" dirty="0">
                <a:latin typeface="Courier" pitchFamily="2" charset="0"/>
              </a:rPr>
              <a:t>&gt;&gt; git checkout master</a:t>
            </a:r>
          </a:p>
          <a:p>
            <a:pPr lvl="1"/>
            <a:r>
              <a:rPr lang="en-US" dirty="0"/>
              <a:t>In the text editor</a:t>
            </a:r>
          </a:p>
          <a:p>
            <a:pPr lvl="2"/>
            <a:r>
              <a:rPr lang="en-US" dirty="0"/>
              <a:t>modify </a:t>
            </a:r>
            <a:r>
              <a:rPr lang="en-US" dirty="0" err="1">
                <a:latin typeface="Courier" pitchFamily="2" charset="0"/>
              </a:rPr>
              <a:t>text.txt</a:t>
            </a:r>
            <a:r>
              <a:rPr lang="en-US" dirty="0">
                <a:latin typeface="Courier" pitchFamily="2" charset="0"/>
              </a:rPr>
              <a:t> </a:t>
            </a:r>
            <a:r>
              <a:rPr lang="en-US" dirty="0"/>
              <a:t>(the same line as above) and save</a:t>
            </a:r>
          </a:p>
          <a:p>
            <a:pPr lvl="1"/>
            <a:r>
              <a:rPr lang="en-US" dirty="0"/>
              <a:t>In the terminal</a:t>
            </a:r>
          </a:p>
          <a:p>
            <a:pPr lvl="2"/>
            <a:r>
              <a:rPr lang="en-US" dirty="0">
                <a:latin typeface="Courier" pitchFamily="2" charset="0"/>
              </a:rPr>
              <a:t>&gt;&gt; git add *</a:t>
            </a:r>
          </a:p>
          <a:p>
            <a:pPr lvl="2"/>
            <a:r>
              <a:rPr lang="en-US" dirty="0">
                <a:latin typeface="Courier" pitchFamily="2" charset="0"/>
              </a:rPr>
              <a:t>&gt;&gt; git commit –m “[master] updated </a:t>
            </a:r>
            <a:r>
              <a:rPr lang="en-US" dirty="0" err="1">
                <a:latin typeface="Courier" pitchFamily="2" charset="0"/>
              </a:rPr>
              <a:t>text.txt</a:t>
            </a:r>
            <a:r>
              <a:rPr lang="en-US" dirty="0">
                <a:latin typeface="Courier" pitchFamily="2" charset="0"/>
              </a:rPr>
              <a:t>”</a:t>
            </a:r>
          </a:p>
          <a:p>
            <a:pPr lvl="2"/>
            <a:r>
              <a:rPr lang="en-US" dirty="0">
                <a:latin typeface="Courier" pitchFamily="2" charset="0"/>
              </a:rPr>
              <a:t>&gt;&gt; git merge </a:t>
            </a:r>
            <a:r>
              <a:rPr lang="en-US" dirty="0" err="1">
                <a:latin typeface="Courier" pitchFamily="2" charset="0"/>
              </a:rPr>
              <a:t>devel</a:t>
            </a:r>
            <a:endParaRPr lang="en-US" dirty="0">
              <a:latin typeface="Courier" pitchFamily="2" charset="0"/>
            </a:endParaRPr>
          </a:p>
          <a:p>
            <a:pPr lvl="1"/>
            <a:r>
              <a:rPr lang="en-US" dirty="0"/>
              <a:t>In the text editor, solve the conflict</a:t>
            </a:r>
          </a:p>
          <a:p>
            <a:pPr lvl="1"/>
            <a:r>
              <a:rPr lang="en-US" dirty="0"/>
              <a:t>In the terminal</a:t>
            </a:r>
          </a:p>
          <a:p>
            <a:pPr lvl="2"/>
            <a:r>
              <a:rPr lang="en-US" dirty="0">
                <a:latin typeface="Courier" pitchFamily="2" charset="0"/>
              </a:rPr>
              <a:t>&gt;&gt; git add *</a:t>
            </a:r>
          </a:p>
          <a:p>
            <a:pPr lvl="2"/>
            <a:r>
              <a:rPr lang="en-US" dirty="0">
                <a:latin typeface="Courier" pitchFamily="2" charset="0"/>
              </a:rPr>
              <a:t>&gt;&gt; git commit –m “solved conflict and merged”</a:t>
            </a:r>
          </a:p>
          <a:p>
            <a:pPr lvl="2"/>
            <a:r>
              <a:rPr lang="en-US" dirty="0">
                <a:latin typeface="Courier" pitchFamily="2" charset="0"/>
              </a:rPr>
              <a:t>&gt;&gt; git log</a:t>
            </a:r>
          </a:p>
        </p:txBody>
      </p:sp>
      <p:sp>
        <p:nvSpPr>
          <p:cNvPr id="4" name="Slide Number Placeholder 3">
            <a:extLst>
              <a:ext uri="{FF2B5EF4-FFF2-40B4-BE49-F238E27FC236}">
                <a16:creationId xmlns:a16="http://schemas.microsoft.com/office/drawing/2014/main" id="{C7469634-C885-8341-9608-D072C6D40C79}"/>
              </a:ext>
            </a:extLst>
          </p:cNvPr>
          <p:cNvSpPr>
            <a:spLocks noGrp="1"/>
          </p:cNvSpPr>
          <p:nvPr>
            <p:ph type="sldNum" sz="quarter" idx="12"/>
          </p:nvPr>
        </p:nvSpPr>
        <p:spPr/>
        <p:txBody>
          <a:bodyPr/>
          <a:lstStyle/>
          <a:p>
            <a:fld id="{31DE2C5B-556E-47B8-A792-024C2FCA4ACC}" type="slidenum">
              <a:rPr lang="en-GB" smtClean="0"/>
              <a:t>35</a:t>
            </a:fld>
            <a:endParaRPr lang="en-GB" dirty="0"/>
          </a:p>
        </p:txBody>
      </p:sp>
      <p:sp>
        <p:nvSpPr>
          <p:cNvPr id="10" name="TextBox 9">
            <a:extLst>
              <a:ext uri="{FF2B5EF4-FFF2-40B4-BE49-F238E27FC236}">
                <a16:creationId xmlns:a16="http://schemas.microsoft.com/office/drawing/2014/main" id="{BAE90C53-381C-F24F-B7DD-35D2A4DD60DD}"/>
              </a:ext>
            </a:extLst>
          </p:cNvPr>
          <p:cNvSpPr txBox="1"/>
          <p:nvPr/>
        </p:nvSpPr>
        <p:spPr>
          <a:xfrm>
            <a:off x="10381670" y="407381"/>
            <a:ext cx="1265382"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BONUS</a:t>
            </a:r>
          </a:p>
        </p:txBody>
      </p:sp>
      <p:sp>
        <p:nvSpPr>
          <p:cNvPr id="7" name="TextBox 6">
            <a:extLst>
              <a:ext uri="{FF2B5EF4-FFF2-40B4-BE49-F238E27FC236}">
                <a16:creationId xmlns:a16="http://schemas.microsoft.com/office/drawing/2014/main" id="{DEB6CB18-D880-F048-BC96-B175849751B4}"/>
              </a:ext>
            </a:extLst>
          </p:cNvPr>
          <p:cNvSpPr txBox="1"/>
          <p:nvPr/>
        </p:nvSpPr>
        <p:spPr>
          <a:xfrm>
            <a:off x="8712362" y="2235548"/>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sp>
        <p:nvSpPr>
          <p:cNvPr id="9" name="Rectangle 8">
            <a:extLst>
              <a:ext uri="{FF2B5EF4-FFF2-40B4-BE49-F238E27FC236}">
                <a16:creationId xmlns:a16="http://schemas.microsoft.com/office/drawing/2014/main" id="{DA918416-CD00-7446-96D4-B38A5738E185}"/>
              </a:ext>
            </a:extLst>
          </p:cNvPr>
          <p:cNvSpPr/>
          <p:nvPr/>
        </p:nvSpPr>
        <p:spPr>
          <a:xfrm>
            <a:off x="8495488" y="2115475"/>
            <a:ext cx="3512545" cy="64654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11" name="Rectangle 10">
            <a:extLst>
              <a:ext uri="{FF2B5EF4-FFF2-40B4-BE49-F238E27FC236}">
                <a16:creationId xmlns:a16="http://schemas.microsoft.com/office/drawing/2014/main" id="{E231524E-3117-6E43-BDFD-0E42CE66EE2B}"/>
              </a:ext>
            </a:extLst>
          </p:cNvPr>
          <p:cNvSpPr/>
          <p:nvPr/>
        </p:nvSpPr>
        <p:spPr>
          <a:xfrm>
            <a:off x="8425821" y="1820050"/>
            <a:ext cx="847155"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IT" sz="1600" b="1" dirty="0">
                <a:solidFill>
                  <a:schemeClr val="accent6"/>
                </a:solidFill>
                <a:latin typeface="Aptos" panose="020B0004020202020204" pitchFamily="34" charset="0"/>
              </a:rPr>
              <a:t>master</a:t>
            </a:r>
            <a:endParaRPr lang="en-IT" sz="1600" dirty="0">
              <a:solidFill>
                <a:schemeClr val="accent6"/>
              </a:solidFill>
              <a:latin typeface="Aptos" panose="020B0004020202020204" pitchFamily="34" charset="0"/>
            </a:endParaRPr>
          </a:p>
        </p:txBody>
      </p:sp>
      <p:sp>
        <p:nvSpPr>
          <p:cNvPr id="12" name="Rectangle 11">
            <a:extLst>
              <a:ext uri="{FF2B5EF4-FFF2-40B4-BE49-F238E27FC236}">
                <a16:creationId xmlns:a16="http://schemas.microsoft.com/office/drawing/2014/main" id="{C9EC55A7-3E2C-6B42-9115-ECCDFFF55E18}"/>
              </a:ext>
            </a:extLst>
          </p:cNvPr>
          <p:cNvSpPr/>
          <p:nvPr/>
        </p:nvSpPr>
        <p:spPr>
          <a:xfrm>
            <a:off x="9457978" y="1358064"/>
            <a:ext cx="788715" cy="646545"/>
          </a:xfrm>
          <a:prstGeom prst="rect">
            <a:avLst/>
          </a:prstGeom>
          <a:noFill/>
          <a:ln>
            <a:solidFill>
              <a:srgbClr val="0070C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a:solidFill>
                <a:srgbClr val="0070C0"/>
              </a:solidFill>
              <a:latin typeface="Aptos" panose="020B0004020202020204" pitchFamily="34" charset="0"/>
            </a:endParaRPr>
          </a:p>
        </p:txBody>
      </p:sp>
      <p:sp>
        <p:nvSpPr>
          <p:cNvPr id="13" name="TextBox 12">
            <a:extLst>
              <a:ext uri="{FF2B5EF4-FFF2-40B4-BE49-F238E27FC236}">
                <a16:creationId xmlns:a16="http://schemas.microsoft.com/office/drawing/2014/main" id="{06A32973-90B0-734C-9F6E-A7E2D684C972}"/>
              </a:ext>
            </a:extLst>
          </p:cNvPr>
          <p:cNvSpPr txBox="1"/>
          <p:nvPr/>
        </p:nvSpPr>
        <p:spPr>
          <a:xfrm>
            <a:off x="11201725" y="2235548"/>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sp>
        <p:nvSpPr>
          <p:cNvPr id="14" name="TextBox 13">
            <a:extLst>
              <a:ext uri="{FF2B5EF4-FFF2-40B4-BE49-F238E27FC236}">
                <a16:creationId xmlns:a16="http://schemas.microsoft.com/office/drawing/2014/main" id="{592B2D6D-AD9F-594F-928E-F27B61B1B479}"/>
              </a:ext>
            </a:extLst>
          </p:cNvPr>
          <p:cNvSpPr txBox="1"/>
          <p:nvPr/>
        </p:nvSpPr>
        <p:spPr>
          <a:xfrm>
            <a:off x="10024266" y="2235548"/>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cxnSp>
        <p:nvCxnSpPr>
          <p:cNvPr id="15" name="Straight Arrow Connector 14">
            <a:extLst>
              <a:ext uri="{FF2B5EF4-FFF2-40B4-BE49-F238E27FC236}">
                <a16:creationId xmlns:a16="http://schemas.microsoft.com/office/drawing/2014/main" id="{71C81423-0A5F-D042-A09B-2A2EF19759F9}"/>
              </a:ext>
            </a:extLst>
          </p:cNvPr>
          <p:cNvCxnSpPr>
            <a:cxnSpLocks/>
            <a:stCxn id="14" idx="1"/>
            <a:endCxn id="7" idx="3"/>
          </p:cNvCxnSpPr>
          <p:nvPr/>
        </p:nvCxnSpPr>
        <p:spPr>
          <a:xfrm flipH="1">
            <a:off x="9169562" y="2420214"/>
            <a:ext cx="854704"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6" name="Straight Arrow Connector 15">
            <a:extLst>
              <a:ext uri="{FF2B5EF4-FFF2-40B4-BE49-F238E27FC236}">
                <a16:creationId xmlns:a16="http://schemas.microsoft.com/office/drawing/2014/main" id="{61A35C05-819B-8440-B64D-76998F75C192}"/>
              </a:ext>
            </a:extLst>
          </p:cNvPr>
          <p:cNvCxnSpPr>
            <a:cxnSpLocks/>
            <a:stCxn id="13" idx="1"/>
            <a:endCxn id="14" idx="3"/>
          </p:cNvCxnSpPr>
          <p:nvPr/>
        </p:nvCxnSpPr>
        <p:spPr>
          <a:xfrm flipH="1">
            <a:off x="10481466" y="2420214"/>
            <a:ext cx="720259"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7" name="TextBox 16">
            <a:extLst>
              <a:ext uri="{FF2B5EF4-FFF2-40B4-BE49-F238E27FC236}">
                <a16:creationId xmlns:a16="http://schemas.microsoft.com/office/drawing/2014/main" id="{BF7F8245-0473-A942-8B49-07696A2933F6}"/>
              </a:ext>
            </a:extLst>
          </p:cNvPr>
          <p:cNvSpPr txBox="1"/>
          <p:nvPr/>
        </p:nvSpPr>
        <p:spPr>
          <a:xfrm>
            <a:off x="9631565" y="1489966"/>
            <a:ext cx="457200" cy="369332"/>
          </a:xfrm>
          <a:prstGeom prst="rect">
            <a:avLst/>
          </a:prstGeom>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wrap="square" rtlCol="0" anchor="ctr">
            <a:spAutoFit/>
          </a:bodyPr>
          <a:lstStyle/>
          <a:p>
            <a:pPr algn="ctr"/>
            <a:endParaRPr lang="en-IT" dirty="0">
              <a:solidFill>
                <a:srgbClr val="0070C0"/>
              </a:solidFill>
              <a:latin typeface="Aptos" panose="020B0004020202020204" pitchFamily="34" charset="0"/>
              <a:ea typeface="Palatino" pitchFamily="2" charset="77"/>
            </a:endParaRPr>
          </a:p>
        </p:txBody>
      </p:sp>
      <p:cxnSp>
        <p:nvCxnSpPr>
          <p:cNvPr id="18" name="Straight Arrow Connector 17">
            <a:extLst>
              <a:ext uri="{FF2B5EF4-FFF2-40B4-BE49-F238E27FC236}">
                <a16:creationId xmlns:a16="http://schemas.microsoft.com/office/drawing/2014/main" id="{92CD4169-7F54-954E-8DAC-DBF21A30EABF}"/>
              </a:ext>
            </a:extLst>
          </p:cNvPr>
          <p:cNvCxnSpPr>
            <a:cxnSpLocks/>
            <a:stCxn id="13" idx="0"/>
            <a:endCxn id="17" idx="3"/>
          </p:cNvCxnSpPr>
          <p:nvPr/>
        </p:nvCxnSpPr>
        <p:spPr>
          <a:xfrm flipH="1" flipV="1">
            <a:off x="10088765" y="1674632"/>
            <a:ext cx="1341560" cy="5609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C7E91665-9CFB-5048-B4E4-5FC0F7A1FE40}"/>
              </a:ext>
            </a:extLst>
          </p:cNvPr>
          <p:cNvSpPr/>
          <p:nvPr/>
        </p:nvSpPr>
        <p:spPr>
          <a:xfrm>
            <a:off x="9442399" y="1077921"/>
            <a:ext cx="697627"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r>
              <a:rPr lang="en-US" sz="1600" b="1" dirty="0" err="1">
                <a:solidFill>
                  <a:srgbClr val="0070C0"/>
                </a:solidFill>
                <a:latin typeface="Aptos" panose="020B0004020202020204" pitchFamily="34" charset="0"/>
              </a:rPr>
              <a:t>devel</a:t>
            </a:r>
            <a:endParaRPr lang="en-IT" sz="1600" dirty="0">
              <a:solidFill>
                <a:srgbClr val="0070C0"/>
              </a:solidFill>
              <a:latin typeface="Aptos" panose="020B0004020202020204" pitchFamily="34" charset="0"/>
            </a:endParaRPr>
          </a:p>
        </p:txBody>
      </p:sp>
      <p:cxnSp>
        <p:nvCxnSpPr>
          <p:cNvPr id="20" name="Straight Arrow Connector 19">
            <a:extLst>
              <a:ext uri="{FF2B5EF4-FFF2-40B4-BE49-F238E27FC236}">
                <a16:creationId xmlns:a16="http://schemas.microsoft.com/office/drawing/2014/main" id="{4A2B1231-006F-DB4C-B746-83DAE27C5695}"/>
              </a:ext>
            </a:extLst>
          </p:cNvPr>
          <p:cNvCxnSpPr>
            <a:cxnSpLocks/>
            <a:stCxn id="17" idx="1"/>
            <a:endCxn id="7" idx="0"/>
          </p:cNvCxnSpPr>
          <p:nvPr/>
        </p:nvCxnSpPr>
        <p:spPr>
          <a:xfrm flipH="1">
            <a:off x="8940962" y="1674632"/>
            <a:ext cx="690603" cy="5609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0878DFE6-9354-0944-B75F-167C0F516C6E}"/>
              </a:ext>
            </a:extLst>
          </p:cNvPr>
          <p:cNvSpPr/>
          <p:nvPr/>
        </p:nvSpPr>
        <p:spPr>
          <a:xfrm>
            <a:off x="9239916" y="3144423"/>
            <a:ext cx="2872902" cy="3046988"/>
          </a:xfrm>
          <a:prstGeom prst="rect">
            <a:avLst/>
          </a:prstGeom>
        </p:spPr>
        <p:txBody>
          <a:bodyPr wrap="square">
            <a:spAutoFit/>
          </a:bodyPr>
          <a:lstStyle/>
          <a:p>
            <a:r>
              <a:rPr lang="en-GB" sz="1200" dirty="0">
                <a:latin typeface="Aptos" panose="020B0004020202020204" pitchFamily="34" charset="0"/>
                <a:ea typeface="Palatino" pitchFamily="2" charset="77"/>
              </a:rPr>
              <a:t>This moves us to the </a:t>
            </a:r>
            <a:r>
              <a:rPr lang="en-GB" sz="1200" dirty="0" err="1">
                <a:latin typeface="Aptos" panose="020B0004020202020204" pitchFamily="34" charset="0"/>
                <a:ea typeface="Palatino" pitchFamily="2" charset="77"/>
              </a:rPr>
              <a:t>devel</a:t>
            </a:r>
            <a:r>
              <a:rPr lang="en-GB" sz="1200" dirty="0">
                <a:latin typeface="Aptos" panose="020B0004020202020204" pitchFamily="34" charset="0"/>
                <a:ea typeface="Palatino" pitchFamily="2" charset="77"/>
              </a:rPr>
              <a:t> branch</a:t>
            </a:r>
          </a:p>
          <a:p>
            <a:endParaRPr lang="en-GB" sz="1200" dirty="0">
              <a:latin typeface="Aptos" panose="020B0004020202020204" pitchFamily="34" charset="0"/>
              <a:ea typeface="Palatino" pitchFamily="2" charset="77"/>
            </a:endParaRPr>
          </a:p>
          <a:p>
            <a:r>
              <a:rPr lang="en-GB" sz="1200" dirty="0">
                <a:latin typeface="Aptos" panose="020B0004020202020204" pitchFamily="34" charset="0"/>
                <a:ea typeface="Palatino" pitchFamily="2" charset="77"/>
              </a:rPr>
              <a:t>This creates the update</a:t>
            </a:r>
          </a:p>
          <a:p>
            <a:endParaRPr lang="en-GB" sz="1200" dirty="0">
              <a:latin typeface="Aptos" panose="020B0004020202020204" pitchFamily="34" charset="0"/>
              <a:ea typeface="Palatino" pitchFamily="2" charset="77"/>
            </a:endParaRPr>
          </a:p>
          <a:p>
            <a:r>
              <a:rPr lang="en-GB" sz="1200" dirty="0">
                <a:latin typeface="Aptos" panose="020B0004020202020204" pitchFamily="34" charset="0"/>
                <a:ea typeface="Palatino" pitchFamily="2" charset="77"/>
              </a:rPr>
              <a:t>This creates the new commit in the </a:t>
            </a:r>
            <a:r>
              <a:rPr lang="en-GB" sz="1200" dirty="0" err="1">
                <a:latin typeface="Aptos" panose="020B0004020202020204" pitchFamily="34" charset="0"/>
                <a:ea typeface="Palatino" pitchFamily="2" charset="77"/>
              </a:rPr>
              <a:t>devel</a:t>
            </a:r>
            <a:r>
              <a:rPr lang="en-GB" sz="1200" dirty="0">
                <a:latin typeface="Aptos" panose="020B0004020202020204" pitchFamily="34" charset="0"/>
                <a:ea typeface="Palatino" pitchFamily="2" charset="77"/>
              </a:rPr>
              <a:t> branch</a:t>
            </a:r>
          </a:p>
          <a:p>
            <a:endParaRPr lang="en-GB" sz="1200" dirty="0">
              <a:latin typeface="Aptos" panose="020B0004020202020204" pitchFamily="34" charset="0"/>
              <a:ea typeface="Palatino" pitchFamily="2" charset="77"/>
            </a:endParaRPr>
          </a:p>
          <a:p>
            <a:r>
              <a:rPr lang="en-GB" sz="1200" dirty="0">
                <a:latin typeface="Aptos" panose="020B0004020202020204" pitchFamily="34" charset="0"/>
                <a:ea typeface="Palatino" pitchFamily="2" charset="77"/>
              </a:rPr>
              <a:t>This gets us back to the master branch</a:t>
            </a:r>
          </a:p>
          <a:p>
            <a:endParaRPr lang="en-GB" sz="1200" dirty="0">
              <a:latin typeface="Aptos" panose="020B0004020202020204" pitchFamily="34" charset="0"/>
              <a:ea typeface="Palatino" pitchFamily="2" charset="77"/>
            </a:endParaRPr>
          </a:p>
          <a:p>
            <a:r>
              <a:rPr lang="en-GB" sz="1200" dirty="0">
                <a:latin typeface="Aptos" panose="020B0004020202020204" pitchFamily="34" charset="0"/>
                <a:ea typeface="Palatino" pitchFamily="2" charset="77"/>
              </a:rPr>
              <a:t>This creates the conflict</a:t>
            </a:r>
          </a:p>
          <a:p>
            <a:endParaRPr lang="en-GB" sz="1200" dirty="0">
              <a:latin typeface="Aptos" panose="020B0004020202020204" pitchFamily="34" charset="0"/>
              <a:ea typeface="Palatino" pitchFamily="2" charset="77"/>
            </a:endParaRPr>
          </a:p>
          <a:p>
            <a:r>
              <a:rPr lang="en-IT" sz="1200" dirty="0">
                <a:latin typeface="Aptos" panose="020B0004020202020204" pitchFamily="34" charset="0"/>
                <a:ea typeface="Palatino" pitchFamily="2" charset="77"/>
              </a:rPr>
              <a:t>This tries to apply all the new commits in the devel branch to the master branch but it encounters a conflict</a:t>
            </a:r>
          </a:p>
          <a:p>
            <a:endParaRPr lang="en-IT" sz="1200" dirty="0">
              <a:latin typeface="Aptos" panose="020B0004020202020204" pitchFamily="34" charset="0"/>
              <a:ea typeface="Palatino" pitchFamily="2" charset="77"/>
            </a:endParaRPr>
          </a:p>
          <a:p>
            <a:r>
              <a:rPr lang="en-IT" sz="1200" dirty="0">
                <a:latin typeface="Aptos" panose="020B0004020202020204" pitchFamily="34" charset="0"/>
                <a:ea typeface="Palatino" pitchFamily="2" charset="77"/>
              </a:rPr>
              <a:t>This actually applies the changes</a:t>
            </a:r>
          </a:p>
        </p:txBody>
      </p:sp>
      <p:cxnSp>
        <p:nvCxnSpPr>
          <p:cNvPr id="23" name="Straight Arrow Connector 22">
            <a:extLst>
              <a:ext uri="{FF2B5EF4-FFF2-40B4-BE49-F238E27FC236}">
                <a16:creationId xmlns:a16="http://schemas.microsoft.com/office/drawing/2014/main" id="{F4B8B6D9-6CDE-B64D-8EFB-A5759D27DBAF}"/>
              </a:ext>
            </a:extLst>
          </p:cNvPr>
          <p:cNvCxnSpPr>
            <a:cxnSpLocks/>
          </p:cNvCxnSpPr>
          <p:nvPr/>
        </p:nvCxnSpPr>
        <p:spPr>
          <a:xfrm>
            <a:off x="4157026" y="1984982"/>
            <a:ext cx="5072352" cy="127579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FDADD267-E5A9-094B-B777-A1B13530D8F7}"/>
              </a:ext>
            </a:extLst>
          </p:cNvPr>
          <p:cNvCxnSpPr>
            <a:cxnSpLocks/>
          </p:cNvCxnSpPr>
          <p:nvPr/>
        </p:nvCxnSpPr>
        <p:spPr>
          <a:xfrm>
            <a:off x="4169309" y="2463343"/>
            <a:ext cx="5064802" cy="11542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9F934E72-8242-9F4C-8A8C-5B1E1CAE365A}"/>
              </a:ext>
            </a:extLst>
          </p:cNvPr>
          <p:cNvCxnSpPr>
            <a:cxnSpLocks/>
          </p:cNvCxnSpPr>
          <p:nvPr/>
        </p:nvCxnSpPr>
        <p:spPr>
          <a:xfrm>
            <a:off x="7347626" y="3465193"/>
            <a:ext cx="1881752" cy="5264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1C0EC1FC-7679-0746-94C8-8E43062758A0}"/>
              </a:ext>
            </a:extLst>
          </p:cNvPr>
          <p:cNvCxnSpPr>
            <a:cxnSpLocks/>
            <a:endCxn id="22" idx="1"/>
          </p:cNvCxnSpPr>
          <p:nvPr/>
        </p:nvCxnSpPr>
        <p:spPr>
          <a:xfrm>
            <a:off x="4293140" y="3617593"/>
            <a:ext cx="4946776" cy="105032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1" name="Straight Arrow Connector 40">
            <a:extLst>
              <a:ext uri="{FF2B5EF4-FFF2-40B4-BE49-F238E27FC236}">
                <a16:creationId xmlns:a16="http://schemas.microsoft.com/office/drawing/2014/main" id="{F48FD1A0-8CF2-634E-9377-BDAD741FD2FD}"/>
              </a:ext>
            </a:extLst>
          </p:cNvPr>
          <p:cNvCxnSpPr>
            <a:cxnSpLocks/>
          </p:cNvCxnSpPr>
          <p:nvPr/>
        </p:nvCxnSpPr>
        <p:spPr>
          <a:xfrm>
            <a:off x="6789906" y="4786009"/>
            <a:ext cx="2439472" cy="13064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5CCF5ADA-F34B-4F42-9EF9-0C97BA9AEA6E}"/>
              </a:ext>
            </a:extLst>
          </p:cNvPr>
          <p:cNvCxnSpPr>
            <a:cxnSpLocks/>
          </p:cNvCxnSpPr>
          <p:nvPr/>
        </p:nvCxnSpPr>
        <p:spPr>
          <a:xfrm>
            <a:off x="3917004" y="5004403"/>
            <a:ext cx="5312374" cy="26306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7" name="Straight Arrow Connector 46">
            <a:extLst>
              <a:ext uri="{FF2B5EF4-FFF2-40B4-BE49-F238E27FC236}">
                <a16:creationId xmlns:a16="http://schemas.microsoft.com/office/drawing/2014/main" id="{D6AF97A4-2D83-2B4E-9A13-8ACFCFC876E5}"/>
              </a:ext>
            </a:extLst>
          </p:cNvPr>
          <p:cNvCxnSpPr>
            <a:cxnSpLocks/>
          </p:cNvCxnSpPr>
          <p:nvPr/>
        </p:nvCxnSpPr>
        <p:spPr>
          <a:xfrm>
            <a:off x="6854757" y="5943699"/>
            <a:ext cx="2384107" cy="8364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2810640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p:txBody>
          <a:bodyPr>
            <a:normAutofit/>
          </a:bodyPr>
          <a:lstStyle/>
          <a:p>
            <a:r>
              <a:rPr lang="en-GB" dirty="0">
                <a:solidFill>
                  <a:schemeClr val="bg1">
                    <a:lumMod val="75000"/>
                  </a:schemeClr>
                </a:solidFill>
              </a:rPr>
              <a:t>Version Control Systems &amp; GIT</a:t>
            </a:r>
            <a:endParaRPr lang="en-IT" dirty="0">
              <a:solidFill>
                <a:schemeClr val="bg1">
                  <a:lumMod val="75000"/>
                </a:schemeClr>
              </a:solidFill>
            </a:endParaRPr>
          </a:p>
          <a:p>
            <a:r>
              <a:rPr lang="en-IT" dirty="0">
                <a:solidFill>
                  <a:schemeClr val="bg1">
                    <a:lumMod val="75000"/>
                  </a:schemeClr>
                </a:solidFill>
              </a:rPr>
              <a:t>Playing with GIT</a:t>
            </a:r>
          </a:p>
          <a:p>
            <a:r>
              <a:rPr lang="en-IT" dirty="0">
                <a:solidFill>
                  <a:schemeClr val="bg1">
                    <a:lumMod val="75000"/>
                  </a:schemeClr>
                </a:solidFill>
              </a:rPr>
              <a:t>The working tree</a:t>
            </a:r>
          </a:p>
          <a:p>
            <a:r>
              <a:rPr lang="en-IT" b="1" dirty="0"/>
              <a:t>Remote repositories and best practices</a:t>
            </a:r>
          </a:p>
          <a:p>
            <a:pPr marL="0" indent="0">
              <a:buNone/>
            </a:pPr>
            <a:endParaRPr lang="en-IT" dirty="0">
              <a:solidFill>
                <a:schemeClr val="bg1">
                  <a:lumMod val="75000"/>
                </a:schemeClr>
              </a:solidFill>
            </a:endParaRPr>
          </a:p>
          <a:p>
            <a:r>
              <a:rPr lang="en-IT" dirty="0">
                <a:solidFill>
                  <a:schemeClr val="bg1">
                    <a:lumMod val="75000"/>
                  </a:schemeClr>
                </a:solidFill>
              </a:rPr>
              <a:t>Homework</a:t>
            </a:r>
          </a:p>
          <a:p>
            <a:r>
              <a:rPr lang="en-IT" dirty="0">
                <a:solidFill>
                  <a:schemeClr val="bg1">
                    <a:lumMod val="75000"/>
                  </a:schemeClr>
                </a:solidFill>
              </a:rPr>
              <a:t>Resources</a:t>
            </a:r>
          </a:p>
          <a:p>
            <a:pPr marL="0" indent="0">
              <a:buNone/>
            </a:pPr>
            <a:endParaRPr lang="en-IT" dirty="0">
              <a:solidFill>
                <a:schemeClr val="bg1">
                  <a:lumMod val="75000"/>
                </a:schemeClr>
              </a:solidFill>
            </a:endParaRPr>
          </a:p>
        </p:txBody>
      </p:sp>
      <p:sp>
        <p:nvSpPr>
          <p:cNvPr id="4" name="Slide Number Placeholder 3">
            <a:extLst>
              <a:ext uri="{FF2B5EF4-FFF2-40B4-BE49-F238E27FC236}">
                <a16:creationId xmlns:a16="http://schemas.microsoft.com/office/drawing/2014/main" id="{0035F9ED-D4AF-BE45-B66B-5E8076088156}"/>
              </a:ext>
            </a:extLst>
          </p:cNvPr>
          <p:cNvSpPr>
            <a:spLocks noGrp="1"/>
          </p:cNvSpPr>
          <p:nvPr>
            <p:ph type="sldNum" sz="quarter" idx="12"/>
          </p:nvPr>
        </p:nvSpPr>
        <p:spPr/>
        <p:txBody>
          <a:bodyPr/>
          <a:lstStyle/>
          <a:p>
            <a:fld id="{31DE2C5B-556E-47B8-A792-024C2FCA4ACC}" type="slidenum">
              <a:rPr lang="en-GB" smtClean="0"/>
              <a:t>36</a:t>
            </a:fld>
            <a:endParaRPr lang="en-GB" dirty="0"/>
          </a:p>
        </p:txBody>
      </p:sp>
    </p:spTree>
    <p:extLst>
      <p:ext uri="{BB962C8B-B14F-4D97-AF65-F5344CB8AC3E}">
        <p14:creationId xmlns:p14="http://schemas.microsoft.com/office/powerpoint/2010/main" val="35974122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Remote repositories</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0815933" cy="3441945"/>
          </a:xfrm>
        </p:spPr>
        <p:txBody>
          <a:bodyPr>
            <a:normAutofit lnSpcReduction="10000"/>
          </a:bodyPr>
          <a:lstStyle/>
          <a:p>
            <a:r>
              <a:rPr lang="en-IT" dirty="0"/>
              <a:t>Up to this point, we worked on a local repository. This means that collaborating is still a problem. </a:t>
            </a:r>
          </a:p>
          <a:p>
            <a:endParaRPr lang="en-IT" dirty="0"/>
          </a:p>
          <a:p>
            <a:r>
              <a:rPr lang="en-IT" dirty="0"/>
              <a:t>How to share code among collaborators? We have to go remote!</a:t>
            </a:r>
          </a:p>
          <a:p>
            <a:endParaRPr lang="en-IT" dirty="0"/>
          </a:p>
          <a:p>
            <a:r>
              <a:rPr lang="en-IT" dirty="0"/>
              <a:t>Simple procedure:</a:t>
            </a:r>
          </a:p>
          <a:p>
            <a:pPr lvl="1"/>
            <a:r>
              <a:rPr lang="en-IT" dirty="0"/>
              <a:t>Step 1: Setup a remote (online) repository hosted by a GIT provider (e.g., GitHub, GitLab, Bitbucket,…)</a:t>
            </a:r>
          </a:p>
          <a:p>
            <a:pPr lvl="1"/>
            <a:r>
              <a:rPr lang="en-IT" dirty="0"/>
              <a:t>Step 2: Connect your local repository to the remote repository</a:t>
            </a:r>
          </a:p>
          <a:p>
            <a:pPr lvl="1"/>
            <a:endParaRPr lang="en-IT" dirty="0"/>
          </a:p>
          <a:p>
            <a:endParaRPr lang="en-IT" dirty="0"/>
          </a:p>
        </p:txBody>
      </p:sp>
      <p:pic>
        <p:nvPicPr>
          <p:cNvPr id="4" name="Picture 3">
            <a:extLst>
              <a:ext uri="{FF2B5EF4-FFF2-40B4-BE49-F238E27FC236}">
                <a16:creationId xmlns:a16="http://schemas.microsoft.com/office/drawing/2014/main" id="{2B2080A5-3D0E-2549-8FFB-3702F9008F72}"/>
              </a:ext>
            </a:extLst>
          </p:cNvPr>
          <p:cNvPicPr>
            <a:picLocks noChangeAspect="1"/>
          </p:cNvPicPr>
          <p:nvPr/>
        </p:nvPicPr>
        <p:blipFill>
          <a:blip r:embed="rId3"/>
          <a:stretch>
            <a:fillRect/>
          </a:stretch>
        </p:blipFill>
        <p:spPr>
          <a:xfrm>
            <a:off x="8758481" y="4896210"/>
            <a:ext cx="2641879" cy="1479452"/>
          </a:xfrm>
          <a:prstGeom prst="rect">
            <a:avLst/>
          </a:prstGeom>
        </p:spPr>
      </p:pic>
      <p:pic>
        <p:nvPicPr>
          <p:cNvPr id="5" name="Picture 4">
            <a:extLst>
              <a:ext uri="{FF2B5EF4-FFF2-40B4-BE49-F238E27FC236}">
                <a16:creationId xmlns:a16="http://schemas.microsoft.com/office/drawing/2014/main" id="{8CBFA58C-6C10-9A4F-9DF7-57DAA1A019C2}"/>
              </a:ext>
            </a:extLst>
          </p:cNvPr>
          <p:cNvPicPr>
            <a:picLocks noChangeAspect="1"/>
          </p:cNvPicPr>
          <p:nvPr/>
        </p:nvPicPr>
        <p:blipFill>
          <a:blip r:embed="rId4"/>
          <a:stretch>
            <a:fillRect/>
          </a:stretch>
        </p:blipFill>
        <p:spPr>
          <a:xfrm>
            <a:off x="4808416" y="4575800"/>
            <a:ext cx="2338246" cy="2120274"/>
          </a:xfrm>
          <a:prstGeom prst="rect">
            <a:avLst/>
          </a:prstGeom>
        </p:spPr>
      </p:pic>
      <p:pic>
        <p:nvPicPr>
          <p:cNvPr id="6" name="Picture 5">
            <a:extLst>
              <a:ext uri="{FF2B5EF4-FFF2-40B4-BE49-F238E27FC236}">
                <a16:creationId xmlns:a16="http://schemas.microsoft.com/office/drawing/2014/main" id="{13EB37DD-6BB9-7A48-925D-9B46F0134E90}"/>
              </a:ext>
            </a:extLst>
          </p:cNvPr>
          <p:cNvPicPr>
            <a:picLocks noChangeAspect="1"/>
          </p:cNvPicPr>
          <p:nvPr/>
        </p:nvPicPr>
        <p:blipFill>
          <a:blip r:embed="rId5"/>
          <a:stretch>
            <a:fillRect/>
          </a:stretch>
        </p:blipFill>
        <p:spPr>
          <a:xfrm>
            <a:off x="1057346" y="4655629"/>
            <a:ext cx="1960615" cy="1960615"/>
          </a:xfrm>
          <a:prstGeom prst="rect">
            <a:avLst/>
          </a:prstGeom>
        </p:spPr>
      </p:pic>
      <p:sp>
        <p:nvSpPr>
          <p:cNvPr id="7" name="Slide Number Placeholder 6">
            <a:extLst>
              <a:ext uri="{FF2B5EF4-FFF2-40B4-BE49-F238E27FC236}">
                <a16:creationId xmlns:a16="http://schemas.microsoft.com/office/drawing/2014/main" id="{1A51851F-2ED9-C14B-98C2-3CAD43B0B63C}"/>
              </a:ext>
            </a:extLst>
          </p:cNvPr>
          <p:cNvSpPr>
            <a:spLocks noGrp="1"/>
          </p:cNvSpPr>
          <p:nvPr>
            <p:ph type="sldNum" sz="quarter" idx="12"/>
          </p:nvPr>
        </p:nvSpPr>
        <p:spPr/>
        <p:txBody>
          <a:bodyPr/>
          <a:lstStyle/>
          <a:p>
            <a:fld id="{31DE2C5B-556E-47B8-A792-024C2FCA4ACC}" type="slidenum">
              <a:rPr lang="en-GB" smtClean="0"/>
              <a:t>37</a:t>
            </a:fld>
            <a:endParaRPr lang="en-GB" dirty="0"/>
          </a:p>
        </p:txBody>
      </p:sp>
    </p:spTree>
    <p:extLst>
      <p:ext uri="{BB962C8B-B14F-4D97-AF65-F5344CB8AC3E}">
        <p14:creationId xmlns:p14="http://schemas.microsoft.com/office/powerpoint/2010/main" val="33447933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Step 1: Setup a remote repository</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0815933" cy="3441945"/>
          </a:xfrm>
        </p:spPr>
        <p:txBody>
          <a:bodyPr>
            <a:normAutofit/>
          </a:bodyPr>
          <a:lstStyle/>
          <a:p>
            <a:r>
              <a:rPr lang="en-IT" dirty="0"/>
              <a:t>To setup a remote repository, start by creating an account on</a:t>
            </a:r>
            <a:br>
              <a:rPr lang="en-IT" dirty="0"/>
            </a:br>
            <a:r>
              <a:rPr lang="en-IT" dirty="0"/>
              <a:t>one of the many GIT providers available</a:t>
            </a:r>
          </a:p>
          <a:p>
            <a:pPr lvl="1"/>
            <a:r>
              <a:rPr lang="en-IT" dirty="0"/>
              <a:t>In this course, I will refer to GitHub.</a:t>
            </a:r>
          </a:p>
          <a:p>
            <a:endParaRPr lang="en-IT" dirty="0"/>
          </a:p>
        </p:txBody>
      </p:sp>
      <p:pic>
        <p:nvPicPr>
          <p:cNvPr id="4" name="Picture 3">
            <a:extLst>
              <a:ext uri="{FF2B5EF4-FFF2-40B4-BE49-F238E27FC236}">
                <a16:creationId xmlns:a16="http://schemas.microsoft.com/office/drawing/2014/main" id="{2B2080A5-3D0E-2549-8FFB-3702F9008F72}"/>
              </a:ext>
            </a:extLst>
          </p:cNvPr>
          <p:cNvPicPr>
            <a:picLocks noChangeAspect="1"/>
          </p:cNvPicPr>
          <p:nvPr/>
        </p:nvPicPr>
        <p:blipFill>
          <a:blip r:embed="rId3"/>
          <a:stretch>
            <a:fillRect/>
          </a:stretch>
        </p:blipFill>
        <p:spPr>
          <a:xfrm>
            <a:off x="8983226" y="3766963"/>
            <a:ext cx="2641879" cy="1479452"/>
          </a:xfrm>
          <a:prstGeom prst="rect">
            <a:avLst/>
          </a:prstGeom>
        </p:spPr>
      </p:pic>
      <p:pic>
        <p:nvPicPr>
          <p:cNvPr id="8" name="Picture 7" descr="Graphical user interface&#10;&#10;Description automatically generated with low confidence">
            <a:extLst>
              <a:ext uri="{FF2B5EF4-FFF2-40B4-BE49-F238E27FC236}">
                <a16:creationId xmlns:a16="http://schemas.microsoft.com/office/drawing/2014/main" id="{D08BABA3-BC22-C842-B16F-A42C58206B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42075" y="2840619"/>
            <a:ext cx="7041151" cy="3652968"/>
          </a:xfrm>
          <a:prstGeom prst="rect">
            <a:avLst/>
          </a:prstGeom>
        </p:spPr>
      </p:pic>
      <p:sp>
        <p:nvSpPr>
          <p:cNvPr id="5" name="Slide Number Placeholder 4">
            <a:extLst>
              <a:ext uri="{FF2B5EF4-FFF2-40B4-BE49-F238E27FC236}">
                <a16:creationId xmlns:a16="http://schemas.microsoft.com/office/drawing/2014/main" id="{BBC04C11-9B71-FF4B-8F9B-167838D83F28}"/>
              </a:ext>
            </a:extLst>
          </p:cNvPr>
          <p:cNvSpPr>
            <a:spLocks noGrp="1"/>
          </p:cNvSpPr>
          <p:nvPr>
            <p:ph type="sldNum" sz="quarter" idx="12"/>
          </p:nvPr>
        </p:nvSpPr>
        <p:spPr/>
        <p:txBody>
          <a:bodyPr/>
          <a:lstStyle/>
          <a:p>
            <a:fld id="{31DE2C5B-556E-47B8-A792-024C2FCA4ACC}" type="slidenum">
              <a:rPr lang="en-GB" smtClean="0"/>
              <a:t>38</a:t>
            </a:fld>
            <a:endParaRPr lang="en-GB" dirty="0"/>
          </a:p>
        </p:txBody>
      </p:sp>
    </p:spTree>
    <p:extLst>
      <p:ext uri="{BB962C8B-B14F-4D97-AF65-F5344CB8AC3E}">
        <p14:creationId xmlns:p14="http://schemas.microsoft.com/office/powerpoint/2010/main" val="25841643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Step 1: Setup a remote repository</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8"/>
            <a:ext cx="10956610" cy="2738560"/>
          </a:xfrm>
        </p:spPr>
        <p:txBody>
          <a:bodyPr>
            <a:normAutofit fontScale="92500" lnSpcReduction="10000"/>
          </a:bodyPr>
          <a:lstStyle/>
          <a:p>
            <a:r>
              <a:rPr lang="en-IT" dirty="0"/>
              <a:t>Once created, sign in and follow these steps</a:t>
            </a:r>
          </a:p>
          <a:p>
            <a:endParaRPr lang="en-IT" dirty="0"/>
          </a:p>
          <a:p>
            <a:pPr marL="457200" indent="-457200">
              <a:buFont typeface="+mj-lt"/>
              <a:buAutoNum type="arabicPeriod"/>
            </a:pPr>
            <a:r>
              <a:rPr lang="en-IT" dirty="0"/>
              <a:t>In the upper-right corner, use the + drop-down menu, and select “New repository” </a:t>
            </a:r>
          </a:p>
          <a:p>
            <a:pPr marL="457200" indent="-457200">
              <a:buFont typeface="+mj-lt"/>
              <a:buAutoNum type="arabicPeriod"/>
            </a:pPr>
            <a:r>
              <a:rPr lang="en-IT" dirty="0"/>
              <a:t>Type a name for your repository (should be the same as your local one)</a:t>
            </a:r>
          </a:p>
          <a:p>
            <a:pPr marL="457200" indent="-457200">
              <a:buFont typeface="+mj-lt"/>
              <a:buAutoNum type="arabicPeriod"/>
            </a:pPr>
            <a:r>
              <a:rPr lang="en-IT" dirty="0"/>
              <a:t>Choose a visibility</a:t>
            </a:r>
          </a:p>
          <a:p>
            <a:pPr marL="457200" indent="-457200">
              <a:buFont typeface="+mj-lt"/>
              <a:buAutoNum type="arabicPeriod"/>
            </a:pPr>
            <a:r>
              <a:rPr lang="en-IT" dirty="0"/>
              <a:t>Uncheck the “README” box</a:t>
            </a:r>
          </a:p>
          <a:p>
            <a:pPr marL="457200" indent="-457200">
              <a:buFont typeface="+mj-lt"/>
              <a:buAutoNum type="arabicPeriod"/>
            </a:pPr>
            <a:r>
              <a:rPr lang="en-IT" dirty="0"/>
              <a:t>Click “Create repository”</a:t>
            </a:r>
          </a:p>
          <a:p>
            <a:endParaRPr lang="en-IT" dirty="0"/>
          </a:p>
        </p:txBody>
      </p:sp>
      <p:pic>
        <p:nvPicPr>
          <p:cNvPr id="5" name="Picture 4">
            <a:extLst>
              <a:ext uri="{FF2B5EF4-FFF2-40B4-BE49-F238E27FC236}">
                <a16:creationId xmlns:a16="http://schemas.microsoft.com/office/drawing/2014/main" id="{273DE120-F5CD-324A-9DFD-F616E907030B}"/>
              </a:ext>
            </a:extLst>
          </p:cNvPr>
          <p:cNvPicPr>
            <a:picLocks noChangeAspect="1"/>
          </p:cNvPicPr>
          <p:nvPr/>
        </p:nvPicPr>
        <p:blipFill>
          <a:blip r:embed="rId3"/>
          <a:stretch>
            <a:fillRect/>
          </a:stretch>
        </p:blipFill>
        <p:spPr>
          <a:xfrm>
            <a:off x="683148" y="4961663"/>
            <a:ext cx="1706320" cy="1786304"/>
          </a:xfrm>
          <a:prstGeom prst="rect">
            <a:avLst/>
          </a:prstGeom>
        </p:spPr>
      </p:pic>
      <p:pic>
        <p:nvPicPr>
          <p:cNvPr id="6" name="Picture 5">
            <a:extLst>
              <a:ext uri="{FF2B5EF4-FFF2-40B4-BE49-F238E27FC236}">
                <a16:creationId xmlns:a16="http://schemas.microsoft.com/office/drawing/2014/main" id="{498A80EB-D8C4-9642-910C-340315F05FF7}"/>
              </a:ext>
            </a:extLst>
          </p:cNvPr>
          <p:cNvPicPr>
            <a:picLocks noChangeAspect="1"/>
          </p:cNvPicPr>
          <p:nvPr/>
        </p:nvPicPr>
        <p:blipFill rotWithShape="1">
          <a:blip r:embed="rId4"/>
          <a:srcRect r="26670"/>
          <a:stretch/>
        </p:blipFill>
        <p:spPr>
          <a:xfrm>
            <a:off x="2532518" y="4854694"/>
            <a:ext cx="3442572" cy="1893273"/>
          </a:xfrm>
          <a:prstGeom prst="rect">
            <a:avLst/>
          </a:prstGeom>
        </p:spPr>
      </p:pic>
      <p:pic>
        <p:nvPicPr>
          <p:cNvPr id="7" name="Picture 6">
            <a:extLst>
              <a:ext uri="{FF2B5EF4-FFF2-40B4-BE49-F238E27FC236}">
                <a16:creationId xmlns:a16="http://schemas.microsoft.com/office/drawing/2014/main" id="{0CC3E488-535F-194B-8A97-0B76889F9EE2}"/>
              </a:ext>
            </a:extLst>
          </p:cNvPr>
          <p:cNvPicPr>
            <a:picLocks noChangeAspect="1"/>
          </p:cNvPicPr>
          <p:nvPr/>
        </p:nvPicPr>
        <p:blipFill rotWithShape="1">
          <a:blip r:embed="rId5"/>
          <a:srcRect t="28853" r="76163" b="16678"/>
          <a:stretch/>
        </p:blipFill>
        <p:spPr>
          <a:xfrm>
            <a:off x="6096000" y="4922810"/>
            <a:ext cx="1861898" cy="1713110"/>
          </a:xfrm>
          <a:prstGeom prst="rect">
            <a:avLst/>
          </a:prstGeom>
        </p:spPr>
      </p:pic>
      <p:sp>
        <p:nvSpPr>
          <p:cNvPr id="10" name="TextBox 9">
            <a:extLst>
              <a:ext uri="{FF2B5EF4-FFF2-40B4-BE49-F238E27FC236}">
                <a16:creationId xmlns:a16="http://schemas.microsoft.com/office/drawing/2014/main" id="{A5AC80E6-8820-BC40-B221-7E30BAEBC86A}"/>
              </a:ext>
            </a:extLst>
          </p:cNvPr>
          <p:cNvSpPr txBox="1"/>
          <p:nvPr/>
        </p:nvSpPr>
        <p:spPr>
          <a:xfrm>
            <a:off x="372310" y="4776997"/>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1</a:t>
            </a:r>
          </a:p>
        </p:txBody>
      </p:sp>
      <p:pic>
        <p:nvPicPr>
          <p:cNvPr id="11" name="Picture 10">
            <a:extLst>
              <a:ext uri="{FF2B5EF4-FFF2-40B4-BE49-F238E27FC236}">
                <a16:creationId xmlns:a16="http://schemas.microsoft.com/office/drawing/2014/main" id="{06CFD7A8-B870-B047-A3F2-61D91906DFBC}"/>
              </a:ext>
            </a:extLst>
          </p:cNvPr>
          <p:cNvPicPr>
            <a:picLocks noChangeAspect="1"/>
          </p:cNvPicPr>
          <p:nvPr/>
        </p:nvPicPr>
        <p:blipFill rotWithShape="1">
          <a:blip r:embed="rId6"/>
          <a:srcRect l="10632" t="46207" r="54669" b="18975"/>
          <a:stretch/>
        </p:blipFill>
        <p:spPr>
          <a:xfrm>
            <a:off x="9090130" y="5801330"/>
            <a:ext cx="2203939" cy="732902"/>
          </a:xfrm>
          <a:prstGeom prst="rect">
            <a:avLst/>
          </a:prstGeom>
        </p:spPr>
      </p:pic>
      <p:sp>
        <p:nvSpPr>
          <p:cNvPr id="12" name="TextBox 11">
            <a:extLst>
              <a:ext uri="{FF2B5EF4-FFF2-40B4-BE49-F238E27FC236}">
                <a16:creationId xmlns:a16="http://schemas.microsoft.com/office/drawing/2014/main" id="{1B24F542-C9F8-F94D-8ED5-1D6F789218F6}"/>
              </a:ext>
            </a:extLst>
          </p:cNvPr>
          <p:cNvSpPr txBox="1"/>
          <p:nvPr/>
        </p:nvSpPr>
        <p:spPr>
          <a:xfrm>
            <a:off x="4695482" y="4738144"/>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2</a:t>
            </a:r>
          </a:p>
        </p:txBody>
      </p:sp>
      <p:sp>
        <p:nvSpPr>
          <p:cNvPr id="13" name="TextBox 12">
            <a:extLst>
              <a:ext uri="{FF2B5EF4-FFF2-40B4-BE49-F238E27FC236}">
                <a16:creationId xmlns:a16="http://schemas.microsoft.com/office/drawing/2014/main" id="{7A742197-96C0-EA40-AE10-FD1F1E577BFD}"/>
              </a:ext>
            </a:extLst>
          </p:cNvPr>
          <p:cNvSpPr txBox="1"/>
          <p:nvPr/>
        </p:nvSpPr>
        <p:spPr>
          <a:xfrm>
            <a:off x="7387029" y="4684299"/>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3</a:t>
            </a:r>
          </a:p>
        </p:txBody>
      </p:sp>
      <p:sp>
        <p:nvSpPr>
          <p:cNvPr id="14" name="TextBox 13">
            <a:extLst>
              <a:ext uri="{FF2B5EF4-FFF2-40B4-BE49-F238E27FC236}">
                <a16:creationId xmlns:a16="http://schemas.microsoft.com/office/drawing/2014/main" id="{D0734B12-752D-9846-AEA1-CF41B74BEF91}"/>
              </a:ext>
            </a:extLst>
          </p:cNvPr>
          <p:cNvSpPr txBox="1"/>
          <p:nvPr/>
        </p:nvSpPr>
        <p:spPr>
          <a:xfrm>
            <a:off x="11508852" y="4592331"/>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4</a:t>
            </a:r>
          </a:p>
        </p:txBody>
      </p:sp>
      <p:sp>
        <p:nvSpPr>
          <p:cNvPr id="15" name="TextBox 14">
            <a:extLst>
              <a:ext uri="{FF2B5EF4-FFF2-40B4-BE49-F238E27FC236}">
                <a16:creationId xmlns:a16="http://schemas.microsoft.com/office/drawing/2014/main" id="{B06EA1CD-BE07-2949-ACA7-A726D9C27C58}"/>
              </a:ext>
            </a:extLst>
          </p:cNvPr>
          <p:cNvSpPr txBox="1"/>
          <p:nvPr/>
        </p:nvSpPr>
        <p:spPr>
          <a:xfrm>
            <a:off x="8620139" y="5801330"/>
            <a:ext cx="457200"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r>
              <a:rPr lang="en-IT" dirty="0">
                <a:latin typeface="Aptos" panose="020B0004020202020204" pitchFamily="34" charset="0"/>
                <a:ea typeface="Palatino" pitchFamily="2" charset="77"/>
              </a:rPr>
              <a:t>5</a:t>
            </a:r>
          </a:p>
        </p:txBody>
      </p:sp>
      <p:pic>
        <p:nvPicPr>
          <p:cNvPr id="8" name="Picture 7" descr="Graphical user interface, text, email&#10;&#10;Description automatically generated">
            <a:extLst>
              <a:ext uri="{FF2B5EF4-FFF2-40B4-BE49-F238E27FC236}">
                <a16:creationId xmlns:a16="http://schemas.microsoft.com/office/drawing/2014/main" id="{B6B3B07F-ABED-444E-9F9E-F1CD5BC2A44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669371" y="5053631"/>
            <a:ext cx="3237284" cy="597970"/>
          </a:xfrm>
          <a:prstGeom prst="rect">
            <a:avLst/>
          </a:prstGeom>
        </p:spPr>
      </p:pic>
      <p:sp>
        <p:nvSpPr>
          <p:cNvPr id="4" name="Slide Number Placeholder 3">
            <a:extLst>
              <a:ext uri="{FF2B5EF4-FFF2-40B4-BE49-F238E27FC236}">
                <a16:creationId xmlns:a16="http://schemas.microsoft.com/office/drawing/2014/main" id="{0E914CBC-E041-844C-80C4-0B0C5FE698B1}"/>
              </a:ext>
            </a:extLst>
          </p:cNvPr>
          <p:cNvSpPr>
            <a:spLocks noGrp="1"/>
          </p:cNvSpPr>
          <p:nvPr>
            <p:ph type="sldNum" sz="quarter" idx="12"/>
          </p:nvPr>
        </p:nvSpPr>
        <p:spPr/>
        <p:txBody>
          <a:bodyPr/>
          <a:lstStyle/>
          <a:p>
            <a:fld id="{31DE2C5B-556E-47B8-A792-024C2FCA4ACC}" type="slidenum">
              <a:rPr lang="en-GB" smtClean="0"/>
              <a:t>39</a:t>
            </a:fld>
            <a:endParaRPr lang="en-GB" dirty="0"/>
          </a:p>
        </p:txBody>
      </p:sp>
    </p:spTree>
    <p:extLst>
      <p:ext uri="{BB962C8B-B14F-4D97-AF65-F5344CB8AC3E}">
        <p14:creationId xmlns:p14="http://schemas.microsoft.com/office/powerpoint/2010/main" val="21733126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Step 2: Connect the local repository</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1" y="1361167"/>
            <a:ext cx="10886273" cy="3441945"/>
          </a:xfrm>
        </p:spPr>
        <p:txBody>
          <a:bodyPr>
            <a:normAutofit/>
          </a:bodyPr>
          <a:lstStyle/>
          <a:p>
            <a:r>
              <a:rPr lang="en-IT" dirty="0"/>
              <a:t>Then, to link your local repository to the online follow these steps:</a:t>
            </a:r>
          </a:p>
          <a:p>
            <a:endParaRPr lang="en-IT" dirty="0"/>
          </a:p>
          <a:p>
            <a:pPr marL="457200" indent="-457200">
              <a:buFont typeface="+mj-lt"/>
              <a:buAutoNum type="arabicPeriod"/>
            </a:pPr>
            <a:r>
              <a:rPr lang="en-IT" dirty="0"/>
              <a:t>Open a terminal and move inside your working directory</a:t>
            </a:r>
          </a:p>
          <a:p>
            <a:pPr marL="457200" indent="-457200">
              <a:buFont typeface="+mj-lt"/>
              <a:buAutoNum type="arabicPeriod"/>
            </a:pPr>
            <a:r>
              <a:rPr lang="en-IT" dirty="0"/>
              <a:t>Type </a:t>
            </a:r>
            <a:br>
              <a:rPr lang="en-IT" dirty="0"/>
            </a:br>
            <a:r>
              <a:rPr lang="en-IT" dirty="0">
                <a:latin typeface="Courier" pitchFamily="2" charset="0"/>
              </a:rPr>
              <a:t>&gt;&gt; git branch –M master</a:t>
            </a:r>
            <a:br>
              <a:rPr lang="en-IT" dirty="0">
                <a:latin typeface="Courier" pitchFamily="2" charset="0"/>
              </a:rPr>
            </a:br>
            <a:r>
              <a:rPr lang="en-IT" dirty="0">
                <a:latin typeface="Courier" pitchFamily="2" charset="0"/>
              </a:rPr>
              <a:t>&gt;&gt; git remote add origin https://github.com/&lt;username&gt;/   	&lt;remote-repo-name&gt;.git </a:t>
            </a:r>
          </a:p>
          <a:p>
            <a:pPr lvl="1"/>
            <a:endParaRPr lang="en-IT" dirty="0">
              <a:latin typeface="Courier" pitchFamily="2" charset="0"/>
            </a:endParaRPr>
          </a:p>
          <a:p>
            <a:endParaRPr lang="en-IT" dirty="0"/>
          </a:p>
        </p:txBody>
      </p:sp>
      <p:sp>
        <p:nvSpPr>
          <p:cNvPr id="4" name="Slide Number Placeholder 3">
            <a:extLst>
              <a:ext uri="{FF2B5EF4-FFF2-40B4-BE49-F238E27FC236}">
                <a16:creationId xmlns:a16="http://schemas.microsoft.com/office/drawing/2014/main" id="{DDA64412-C1F2-A940-83B8-C77E9AB0FBED}"/>
              </a:ext>
            </a:extLst>
          </p:cNvPr>
          <p:cNvSpPr>
            <a:spLocks noGrp="1"/>
          </p:cNvSpPr>
          <p:nvPr>
            <p:ph type="sldNum" sz="quarter" idx="12"/>
          </p:nvPr>
        </p:nvSpPr>
        <p:spPr/>
        <p:txBody>
          <a:bodyPr/>
          <a:lstStyle/>
          <a:p>
            <a:fld id="{31DE2C5B-556E-47B8-A792-024C2FCA4ACC}" type="slidenum">
              <a:rPr lang="en-GB" smtClean="0"/>
              <a:t>40</a:t>
            </a:fld>
            <a:endParaRPr lang="en-GB" dirty="0"/>
          </a:p>
        </p:txBody>
      </p:sp>
    </p:spTree>
    <p:extLst>
      <p:ext uri="{BB962C8B-B14F-4D97-AF65-F5344CB8AC3E}">
        <p14:creationId xmlns:p14="http://schemas.microsoft.com/office/powerpoint/2010/main" val="6672422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Interacting with the remote repository</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1167626" cy="5260697"/>
          </a:xfrm>
        </p:spPr>
        <p:txBody>
          <a:bodyPr>
            <a:normAutofit/>
          </a:bodyPr>
          <a:lstStyle/>
          <a:p>
            <a:r>
              <a:rPr lang="en-IT" dirty="0"/>
              <a:t>Now you are ready to work</a:t>
            </a:r>
          </a:p>
          <a:p>
            <a:endParaRPr lang="en-IT" dirty="0"/>
          </a:p>
          <a:p>
            <a:r>
              <a:rPr lang="en-IT" dirty="0"/>
              <a:t>Interacting with the remote repository in quite easy</a:t>
            </a:r>
          </a:p>
          <a:p>
            <a:endParaRPr lang="en-IT" dirty="0"/>
          </a:p>
          <a:p>
            <a:r>
              <a:rPr lang="en-IT" dirty="0"/>
              <a:t>To synchronize your local changes to the remote repository (to send online the code) use the “</a:t>
            </a:r>
            <a:r>
              <a:rPr lang="en-IT" dirty="0">
                <a:latin typeface="Courier" pitchFamily="2" charset="0"/>
              </a:rPr>
              <a:t>git push</a:t>
            </a:r>
            <a:r>
              <a:rPr lang="en-IT" dirty="0"/>
              <a:t>” command</a:t>
            </a:r>
            <a:br>
              <a:rPr lang="en-IT" dirty="0"/>
            </a:br>
            <a:r>
              <a:rPr lang="en-IT" dirty="0">
                <a:latin typeface="Courier" pitchFamily="2" charset="0"/>
              </a:rPr>
              <a:t>&gt;&gt; git push origin &lt;branch-name&gt;</a:t>
            </a:r>
          </a:p>
          <a:p>
            <a:endParaRPr lang="en-IT" dirty="0"/>
          </a:p>
          <a:p>
            <a:r>
              <a:rPr lang="en-IT" dirty="0"/>
              <a:t>To sychronize the remote changes to the local repository (to download the code) use the “</a:t>
            </a:r>
            <a:r>
              <a:rPr lang="en-IT" dirty="0">
                <a:latin typeface="Courier" pitchFamily="2" charset="0"/>
              </a:rPr>
              <a:t>git pull</a:t>
            </a:r>
            <a:r>
              <a:rPr lang="en-IT" dirty="0"/>
              <a:t>” command</a:t>
            </a:r>
            <a:br>
              <a:rPr lang="en-IT" dirty="0"/>
            </a:br>
            <a:r>
              <a:rPr lang="en-IT" dirty="0">
                <a:latin typeface="Courier" pitchFamily="2" charset="0"/>
              </a:rPr>
              <a:t>&gt;&gt; git pull</a:t>
            </a:r>
          </a:p>
        </p:txBody>
      </p:sp>
      <p:sp>
        <p:nvSpPr>
          <p:cNvPr id="7" name="Rectangle 6">
            <a:extLst>
              <a:ext uri="{FF2B5EF4-FFF2-40B4-BE49-F238E27FC236}">
                <a16:creationId xmlns:a16="http://schemas.microsoft.com/office/drawing/2014/main" id="{FC1212AF-0A83-C34C-85FC-B636B4E56A5E}"/>
              </a:ext>
            </a:extLst>
          </p:cNvPr>
          <p:cNvSpPr/>
          <p:nvPr/>
        </p:nvSpPr>
        <p:spPr>
          <a:xfrm>
            <a:off x="7241512" y="5724324"/>
            <a:ext cx="4029391" cy="646331"/>
          </a:xfrm>
          <a:prstGeom prst="rect">
            <a:avLst/>
          </a:prstGeom>
        </p:spPr>
        <p:txBody>
          <a:bodyPr wrap="square">
            <a:spAutoFit/>
          </a:bodyPr>
          <a:lstStyle/>
          <a:p>
            <a:r>
              <a:rPr lang="en-IT" dirty="0">
                <a:latin typeface="Aptos" panose="020B0004020202020204" pitchFamily="34" charset="0"/>
                <a:ea typeface="Palatino" pitchFamily="2" charset="77"/>
              </a:rPr>
              <a:t>This will ”download” the remote changes of your current active branch </a:t>
            </a:r>
          </a:p>
        </p:txBody>
      </p:sp>
      <p:sp>
        <p:nvSpPr>
          <p:cNvPr id="8" name="Rectangle 7">
            <a:extLst>
              <a:ext uri="{FF2B5EF4-FFF2-40B4-BE49-F238E27FC236}">
                <a16:creationId xmlns:a16="http://schemas.microsoft.com/office/drawing/2014/main" id="{33B56376-9AF6-1C43-B0BF-32E8963235E9}"/>
              </a:ext>
            </a:extLst>
          </p:cNvPr>
          <p:cNvSpPr/>
          <p:nvPr/>
        </p:nvSpPr>
        <p:spPr>
          <a:xfrm>
            <a:off x="7241512" y="3736425"/>
            <a:ext cx="4587072" cy="923330"/>
          </a:xfrm>
          <a:prstGeom prst="rect">
            <a:avLst/>
          </a:prstGeom>
        </p:spPr>
        <p:txBody>
          <a:bodyPr wrap="square">
            <a:spAutoFit/>
          </a:bodyPr>
          <a:lstStyle/>
          <a:p>
            <a:r>
              <a:rPr lang="en-IT" dirty="0">
                <a:latin typeface="Aptos" panose="020B0004020202020204" pitchFamily="34" charset="0"/>
                <a:ea typeface="Palatino" pitchFamily="2" charset="77"/>
              </a:rPr>
              <a:t>This will ”upload” the local changes of &lt;branch-name&gt; to a remote branch with the same name</a:t>
            </a:r>
          </a:p>
        </p:txBody>
      </p:sp>
      <p:cxnSp>
        <p:nvCxnSpPr>
          <p:cNvPr id="10" name="Straight Arrow Connector 9">
            <a:extLst>
              <a:ext uri="{FF2B5EF4-FFF2-40B4-BE49-F238E27FC236}">
                <a16:creationId xmlns:a16="http://schemas.microsoft.com/office/drawing/2014/main" id="{4AB9AC4E-AA05-F943-9E7F-FD1E69D5FEDD}"/>
              </a:ext>
            </a:extLst>
          </p:cNvPr>
          <p:cNvCxnSpPr>
            <a:cxnSpLocks/>
            <a:stCxn id="7" idx="1"/>
          </p:cNvCxnSpPr>
          <p:nvPr/>
        </p:nvCxnSpPr>
        <p:spPr>
          <a:xfrm flipH="1" flipV="1">
            <a:off x="3235569" y="5724324"/>
            <a:ext cx="4005943" cy="3231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54A4614A-601A-AE47-8098-89A746B8DCBC}"/>
              </a:ext>
            </a:extLst>
          </p:cNvPr>
          <p:cNvCxnSpPr>
            <a:cxnSpLocks/>
          </p:cNvCxnSpPr>
          <p:nvPr/>
        </p:nvCxnSpPr>
        <p:spPr>
          <a:xfrm flipH="1" flipV="1">
            <a:off x="6772589" y="4069582"/>
            <a:ext cx="468924" cy="1285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FDEA916F-5B29-6143-AA9B-24190D3C8897}"/>
              </a:ext>
            </a:extLst>
          </p:cNvPr>
          <p:cNvSpPr>
            <a:spLocks noGrp="1"/>
          </p:cNvSpPr>
          <p:nvPr>
            <p:ph type="sldNum" sz="quarter" idx="12"/>
          </p:nvPr>
        </p:nvSpPr>
        <p:spPr/>
        <p:txBody>
          <a:bodyPr/>
          <a:lstStyle/>
          <a:p>
            <a:fld id="{31DE2C5B-556E-47B8-A792-024C2FCA4ACC}" type="slidenum">
              <a:rPr lang="en-GB" smtClean="0"/>
              <a:t>41</a:t>
            </a:fld>
            <a:endParaRPr lang="en-GB" dirty="0"/>
          </a:p>
        </p:txBody>
      </p:sp>
    </p:spTree>
    <p:extLst>
      <p:ext uri="{BB962C8B-B14F-4D97-AF65-F5344CB8AC3E}">
        <p14:creationId xmlns:p14="http://schemas.microsoft.com/office/powerpoint/2010/main" val="40337795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Best practices</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598188" y="1167315"/>
            <a:ext cx="11368314" cy="5652582"/>
          </a:xfrm>
        </p:spPr>
        <p:txBody>
          <a:bodyPr>
            <a:normAutofit fontScale="92500" lnSpcReduction="20000"/>
          </a:bodyPr>
          <a:lstStyle/>
          <a:p>
            <a:r>
              <a:rPr lang="en-IT" dirty="0"/>
              <a:t>Start the commit message with the branch name, for example</a:t>
            </a:r>
          </a:p>
          <a:p>
            <a:pPr lvl="1"/>
            <a:r>
              <a:rPr lang="en-IT" dirty="0">
                <a:latin typeface="Courier" pitchFamily="2" charset="0"/>
              </a:rPr>
              <a:t>git commit –m “[master] a message”</a:t>
            </a:r>
          </a:p>
          <a:p>
            <a:pPr lvl="1"/>
            <a:endParaRPr lang="en-IT" dirty="0"/>
          </a:p>
          <a:p>
            <a:r>
              <a:rPr lang="en-IT" dirty="0"/>
              <a:t>Setup the working </a:t>
            </a:r>
            <a:r>
              <a:rPr lang="en-IT"/>
              <a:t>tree </a:t>
            </a:r>
            <a:r>
              <a:rPr lang="en-US" dirty="0"/>
              <a:t>to something</a:t>
            </a:r>
            <a:r>
              <a:rPr lang="en-IT"/>
              <a:t> </a:t>
            </a:r>
            <a:r>
              <a:rPr lang="en-IT" dirty="0"/>
              <a:t>like that:</a:t>
            </a:r>
          </a:p>
          <a:p>
            <a:endParaRPr lang="en-IT" dirty="0"/>
          </a:p>
          <a:p>
            <a:endParaRPr lang="en-IT" dirty="0"/>
          </a:p>
          <a:p>
            <a:endParaRPr lang="en-IT" dirty="0"/>
          </a:p>
          <a:p>
            <a:endParaRPr lang="en-IT" dirty="0"/>
          </a:p>
          <a:p>
            <a:endParaRPr lang="en-IT" dirty="0"/>
          </a:p>
          <a:p>
            <a:endParaRPr lang="en-IT" dirty="0"/>
          </a:p>
          <a:p>
            <a:endParaRPr lang="en-IT" dirty="0"/>
          </a:p>
          <a:p>
            <a:r>
              <a:rPr lang="en-GB" dirty="0">
                <a:latin typeface="Courier" pitchFamily="2" charset="0"/>
              </a:rPr>
              <a:t>git pull </a:t>
            </a:r>
            <a:r>
              <a:rPr lang="en-GB" dirty="0"/>
              <a:t>before starting working on main branches (e.g., </a:t>
            </a:r>
            <a:r>
              <a:rPr lang="en-GB" dirty="0" err="1"/>
              <a:t>devel</a:t>
            </a:r>
            <a:r>
              <a:rPr lang="en-GB" dirty="0"/>
              <a:t>, master)</a:t>
            </a:r>
          </a:p>
          <a:p>
            <a:endParaRPr lang="en-GB" dirty="0"/>
          </a:p>
          <a:p>
            <a:r>
              <a:rPr lang="en-GB" dirty="0"/>
              <a:t>at least at the beginning, design one member of the team that will merge things </a:t>
            </a:r>
          </a:p>
          <a:p>
            <a:endParaRPr lang="en-GB" dirty="0"/>
          </a:p>
          <a:p>
            <a:r>
              <a:rPr lang="en-GB" dirty="0"/>
              <a:t>work on an independent branch (not shared with someone else)</a:t>
            </a:r>
          </a:p>
        </p:txBody>
      </p:sp>
      <p:sp>
        <p:nvSpPr>
          <p:cNvPr id="4" name="TextBox 3">
            <a:extLst>
              <a:ext uri="{FF2B5EF4-FFF2-40B4-BE49-F238E27FC236}">
                <a16:creationId xmlns:a16="http://schemas.microsoft.com/office/drawing/2014/main" id="{FF3B0FA7-70E4-3644-B74A-AA304E47964D}"/>
              </a:ext>
            </a:extLst>
          </p:cNvPr>
          <p:cNvSpPr txBox="1"/>
          <p:nvPr/>
        </p:nvSpPr>
        <p:spPr>
          <a:xfrm>
            <a:off x="2712178" y="3968821"/>
            <a:ext cx="308304"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cxnSp>
        <p:nvCxnSpPr>
          <p:cNvPr id="6" name="Straight Arrow Connector 5">
            <a:extLst>
              <a:ext uri="{FF2B5EF4-FFF2-40B4-BE49-F238E27FC236}">
                <a16:creationId xmlns:a16="http://schemas.microsoft.com/office/drawing/2014/main" id="{B6AA4879-7ABE-1C49-9AE9-C9C350A978B0}"/>
              </a:ext>
            </a:extLst>
          </p:cNvPr>
          <p:cNvCxnSpPr>
            <a:cxnSpLocks/>
            <a:stCxn id="25" idx="1"/>
            <a:endCxn id="4" idx="3"/>
          </p:cNvCxnSpPr>
          <p:nvPr/>
        </p:nvCxnSpPr>
        <p:spPr>
          <a:xfrm flipH="1" flipV="1">
            <a:off x="3020482" y="4153487"/>
            <a:ext cx="1711197" cy="438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7" name="Rectangle 6">
            <a:extLst>
              <a:ext uri="{FF2B5EF4-FFF2-40B4-BE49-F238E27FC236}">
                <a16:creationId xmlns:a16="http://schemas.microsoft.com/office/drawing/2014/main" id="{BA9A8873-80A5-4C44-9700-0A9354A445E5}"/>
              </a:ext>
            </a:extLst>
          </p:cNvPr>
          <p:cNvSpPr/>
          <p:nvPr/>
        </p:nvSpPr>
        <p:spPr>
          <a:xfrm>
            <a:off x="2561464" y="3993606"/>
            <a:ext cx="7939064" cy="328535"/>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T">
              <a:latin typeface="Aptos" panose="020B0004020202020204" pitchFamily="34" charset="0"/>
            </a:endParaRPr>
          </a:p>
        </p:txBody>
      </p:sp>
      <p:sp>
        <p:nvSpPr>
          <p:cNvPr id="8" name="Rectangle 7">
            <a:extLst>
              <a:ext uri="{FF2B5EF4-FFF2-40B4-BE49-F238E27FC236}">
                <a16:creationId xmlns:a16="http://schemas.microsoft.com/office/drawing/2014/main" id="{D31B0190-19F0-CF4D-948F-C64DF39C801E}"/>
              </a:ext>
            </a:extLst>
          </p:cNvPr>
          <p:cNvSpPr/>
          <p:nvPr/>
        </p:nvSpPr>
        <p:spPr>
          <a:xfrm>
            <a:off x="1630248" y="3983587"/>
            <a:ext cx="847155"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pPr algn="r"/>
            <a:r>
              <a:rPr lang="en-IT" sz="1600" b="1" dirty="0">
                <a:solidFill>
                  <a:schemeClr val="accent6"/>
                </a:solidFill>
                <a:latin typeface="Aptos" panose="020B0004020202020204" pitchFamily="34" charset="0"/>
              </a:rPr>
              <a:t>master</a:t>
            </a:r>
            <a:endParaRPr lang="en-IT" sz="1600" dirty="0">
              <a:solidFill>
                <a:schemeClr val="accent6"/>
              </a:solidFill>
              <a:latin typeface="Aptos" panose="020B0004020202020204" pitchFamily="34" charset="0"/>
            </a:endParaRPr>
          </a:p>
        </p:txBody>
      </p:sp>
      <p:sp>
        <p:nvSpPr>
          <p:cNvPr id="9" name="Rectangle 8">
            <a:extLst>
              <a:ext uri="{FF2B5EF4-FFF2-40B4-BE49-F238E27FC236}">
                <a16:creationId xmlns:a16="http://schemas.microsoft.com/office/drawing/2014/main" id="{DA5E71FB-B062-5B4F-A692-A18A7909906C}"/>
              </a:ext>
            </a:extLst>
          </p:cNvPr>
          <p:cNvSpPr/>
          <p:nvPr/>
        </p:nvSpPr>
        <p:spPr>
          <a:xfrm>
            <a:off x="2561464" y="3530451"/>
            <a:ext cx="7939064" cy="328535"/>
          </a:xfrm>
          <a:prstGeom prst="rect">
            <a:avLst/>
          </a:prstGeom>
          <a:noFill/>
          <a:ln>
            <a:solidFill>
              <a:srgbClr val="0070C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a:solidFill>
                <a:srgbClr val="0070C0"/>
              </a:solidFill>
              <a:latin typeface="Aptos" panose="020B0004020202020204" pitchFamily="34" charset="0"/>
            </a:endParaRPr>
          </a:p>
        </p:txBody>
      </p:sp>
      <p:cxnSp>
        <p:nvCxnSpPr>
          <p:cNvPr id="12" name="Straight Arrow Connector 11">
            <a:extLst>
              <a:ext uri="{FF2B5EF4-FFF2-40B4-BE49-F238E27FC236}">
                <a16:creationId xmlns:a16="http://schemas.microsoft.com/office/drawing/2014/main" id="{107999E3-FD49-264F-993C-D663EBB8338B}"/>
              </a:ext>
            </a:extLst>
          </p:cNvPr>
          <p:cNvCxnSpPr>
            <a:cxnSpLocks/>
            <a:stCxn id="27" idx="1"/>
            <a:endCxn id="25" idx="3"/>
          </p:cNvCxnSpPr>
          <p:nvPr/>
        </p:nvCxnSpPr>
        <p:spPr>
          <a:xfrm flipH="1">
            <a:off x="5039983" y="4153487"/>
            <a:ext cx="5005817" cy="438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5" name="Straight Arrow Connector 14">
            <a:extLst>
              <a:ext uri="{FF2B5EF4-FFF2-40B4-BE49-F238E27FC236}">
                <a16:creationId xmlns:a16="http://schemas.microsoft.com/office/drawing/2014/main" id="{AC79304C-B9A8-4149-9328-C8837EFF7EB0}"/>
              </a:ext>
            </a:extLst>
          </p:cNvPr>
          <p:cNvCxnSpPr>
            <a:cxnSpLocks/>
            <a:stCxn id="70" idx="1"/>
            <a:endCxn id="44" idx="0"/>
          </p:cNvCxnSpPr>
          <p:nvPr/>
        </p:nvCxnSpPr>
        <p:spPr>
          <a:xfrm flipH="1">
            <a:off x="3450809" y="3222448"/>
            <a:ext cx="271119" cy="286132"/>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FA5DB2A9-6CE4-C443-B089-D800F255925D}"/>
              </a:ext>
            </a:extLst>
          </p:cNvPr>
          <p:cNvSpPr/>
          <p:nvPr/>
        </p:nvSpPr>
        <p:spPr>
          <a:xfrm>
            <a:off x="1749208" y="3530451"/>
            <a:ext cx="697627"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pPr algn="r"/>
            <a:r>
              <a:rPr lang="en-US" sz="1600" b="1" dirty="0" err="1">
                <a:solidFill>
                  <a:srgbClr val="0070C0"/>
                </a:solidFill>
                <a:latin typeface="Aptos" panose="020B0004020202020204" pitchFamily="34" charset="0"/>
              </a:rPr>
              <a:t>devel</a:t>
            </a:r>
            <a:endParaRPr lang="en-IT" sz="1600" dirty="0">
              <a:solidFill>
                <a:srgbClr val="0070C0"/>
              </a:solidFill>
              <a:latin typeface="Aptos" panose="020B0004020202020204" pitchFamily="34" charset="0"/>
            </a:endParaRPr>
          </a:p>
        </p:txBody>
      </p:sp>
      <p:cxnSp>
        <p:nvCxnSpPr>
          <p:cNvPr id="17" name="Straight Arrow Connector 16">
            <a:extLst>
              <a:ext uri="{FF2B5EF4-FFF2-40B4-BE49-F238E27FC236}">
                <a16:creationId xmlns:a16="http://schemas.microsoft.com/office/drawing/2014/main" id="{AE15F54E-8891-F749-9C18-733589A0F5A3}"/>
              </a:ext>
            </a:extLst>
          </p:cNvPr>
          <p:cNvCxnSpPr>
            <a:cxnSpLocks/>
            <a:stCxn id="45" idx="1"/>
            <a:endCxn id="44" idx="3"/>
          </p:cNvCxnSpPr>
          <p:nvPr/>
        </p:nvCxnSpPr>
        <p:spPr>
          <a:xfrm flipH="1" flipV="1">
            <a:off x="3604961" y="3693246"/>
            <a:ext cx="508899" cy="24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5ACF1523-4322-C442-8F37-DF863BC5A70D}"/>
              </a:ext>
            </a:extLst>
          </p:cNvPr>
          <p:cNvSpPr/>
          <p:nvPr/>
        </p:nvSpPr>
        <p:spPr>
          <a:xfrm>
            <a:off x="2558819" y="2598058"/>
            <a:ext cx="7939064" cy="328535"/>
          </a:xfrm>
          <a:prstGeom prst="rect">
            <a:avLst/>
          </a:prstGeom>
          <a:noFill/>
          <a:ln>
            <a:solidFill>
              <a:srgbClr val="7030A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a:solidFill>
                <a:schemeClr val="accent2"/>
              </a:solidFill>
              <a:latin typeface="Aptos" panose="020B0004020202020204" pitchFamily="34" charset="0"/>
            </a:endParaRPr>
          </a:p>
        </p:txBody>
      </p:sp>
      <p:sp>
        <p:nvSpPr>
          <p:cNvPr id="20" name="Rectangle 19">
            <a:extLst>
              <a:ext uri="{FF2B5EF4-FFF2-40B4-BE49-F238E27FC236}">
                <a16:creationId xmlns:a16="http://schemas.microsoft.com/office/drawing/2014/main" id="{CFB56095-E842-CC48-8A74-D0F374CA39B1}"/>
              </a:ext>
            </a:extLst>
          </p:cNvPr>
          <p:cNvSpPr/>
          <p:nvPr/>
        </p:nvSpPr>
        <p:spPr>
          <a:xfrm>
            <a:off x="2558819" y="3062567"/>
            <a:ext cx="7939064" cy="328535"/>
          </a:xfrm>
          <a:prstGeom prst="rect">
            <a:avLst/>
          </a:prstGeom>
          <a:noFill/>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T">
              <a:solidFill>
                <a:schemeClr val="accent2"/>
              </a:solidFill>
              <a:latin typeface="Aptos" panose="020B0004020202020204" pitchFamily="34" charset="0"/>
            </a:endParaRPr>
          </a:p>
        </p:txBody>
      </p:sp>
      <p:sp>
        <p:nvSpPr>
          <p:cNvPr id="25" name="TextBox 24">
            <a:extLst>
              <a:ext uri="{FF2B5EF4-FFF2-40B4-BE49-F238E27FC236}">
                <a16:creationId xmlns:a16="http://schemas.microsoft.com/office/drawing/2014/main" id="{18F5A0C1-1A09-C84C-BF88-CE1C23B882DC}"/>
              </a:ext>
            </a:extLst>
          </p:cNvPr>
          <p:cNvSpPr txBox="1"/>
          <p:nvPr/>
        </p:nvSpPr>
        <p:spPr>
          <a:xfrm>
            <a:off x="4731679" y="3973207"/>
            <a:ext cx="308304"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sp>
        <p:nvSpPr>
          <p:cNvPr id="27" name="TextBox 26">
            <a:extLst>
              <a:ext uri="{FF2B5EF4-FFF2-40B4-BE49-F238E27FC236}">
                <a16:creationId xmlns:a16="http://schemas.microsoft.com/office/drawing/2014/main" id="{A280F6E6-817F-8A4A-B5DB-FB7101A406BB}"/>
              </a:ext>
            </a:extLst>
          </p:cNvPr>
          <p:cNvSpPr txBox="1"/>
          <p:nvPr/>
        </p:nvSpPr>
        <p:spPr>
          <a:xfrm>
            <a:off x="10045800" y="3968821"/>
            <a:ext cx="308304" cy="369332"/>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sp>
        <p:nvSpPr>
          <p:cNvPr id="35" name="Rectangle 34">
            <a:extLst>
              <a:ext uri="{FF2B5EF4-FFF2-40B4-BE49-F238E27FC236}">
                <a16:creationId xmlns:a16="http://schemas.microsoft.com/office/drawing/2014/main" id="{CFCF3D16-97A2-4041-812E-28CCF7ADE140}"/>
              </a:ext>
            </a:extLst>
          </p:cNvPr>
          <p:cNvSpPr/>
          <p:nvPr/>
        </p:nvSpPr>
        <p:spPr>
          <a:xfrm>
            <a:off x="1665534" y="3077315"/>
            <a:ext cx="857542"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pPr algn="r"/>
            <a:r>
              <a:rPr lang="en-US" sz="1600" b="1" dirty="0">
                <a:solidFill>
                  <a:schemeClr val="accent2"/>
                </a:solidFill>
                <a:latin typeface="Aptos" panose="020B0004020202020204" pitchFamily="34" charset="0"/>
              </a:rPr>
              <a:t>feature</a:t>
            </a:r>
            <a:endParaRPr lang="en-IT" sz="1600" dirty="0">
              <a:solidFill>
                <a:schemeClr val="accent2"/>
              </a:solidFill>
              <a:latin typeface="Aptos" panose="020B0004020202020204" pitchFamily="34" charset="0"/>
            </a:endParaRPr>
          </a:p>
        </p:txBody>
      </p:sp>
      <p:sp>
        <p:nvSpPr>
          <p:cNvPr id="36" name="Rectangle 35">
            <a:extLst>
              <a:ext uri="{FF2B5EF4-FFF2-40B4-BE49-F238E27FC236}">
                <a16:creationId xmlns:a16="http://schemas.microsoft.com/office/drawing/2014/main" id="{C486EC99-D8D2-6A47-B2CA-6D8150B65E0A}"/>
              </a:ext>
            </a:extLst>
          </p:cNvPr>
          <p:cNvSpPr/>
          <p:nvPr/>
        </p:nvSpPr>
        <p:spPr>
          <a:xfrm>
            <a:off x="1079191" y="2562359"/>
            <a:ext cx="1423403" cy="338554"/>
          </a:xfrm>
          <a:prstGeom prst="rect">
            <a:avLst/>
          </a:prstGeom>
          <a:noFill/>
          <a:ln>
            <a:noFill/>
          </a:ln>
        </p:spPr>
        <p:style>
          <a:lnRef idx="2">
            <a:schemeClr val="dk1"/>
          </a:lnRef>
          <a:fillRef idx="1">
            <a:schemeClr val="lt1"/>
          </a:fillRef>
          <a:effectRef idx="0">
            <a:schemeClr val="dk1"/>
          </a:effectRef>
          <a:fontRef idx="minor">
            <a:schemeClr val="dk1"/>
          </a:fontRef>
        </p:style>
        <p:txBody>
          <a:bodyPr wrap="none">
            <a:spAutoFit/>
          </a:bodyPr>
          <a:lstStyle/>
          <a:p>
            <a:pPr algn="r"/>
            <a:r>
              <a:rPr lang="en-US" sz="1600" b="1" dirty="0">
                <a:solidFill>
                  <a:srgbClr val="7030A0"/>
                </a:solidFill>
                <a:latin typeface="Aptos" panose="020B0004020202020204" pitchFamily="34" charset="0"/>
              </a:rPr>
              <a:t>other-feature</a:t>
            </a:r>
            <a:endParaRPr lang="en-IT" sz="1600" dirty="0">
              <a:solidFill>
                <a:srgbClr val="7030A0"/>
              </a:solidFill>
              <a:latin typeface="Aptos" panose="020B0004020202020204" pitchFamily="34" charset="0"/>
            </a:endParaRPr>
          </a:p>
        </p:txBody>
      </p:sp>
      <p:sp>
        <p:nvSpPr>
          <p:cNvPr id="44" name="TextBox 43">
            <a:extLst>
              <a:ext uri="{FF2B5EF4-FFF2-40B4-BE49-F238E27FC236}">
                <a16:creationId xmlns:a16="http://schemas.microsoft.com/office/drawing/2014/main" id="{98598F68-5A00-F345-9D68-14B47CA2D9B5}"/>
              </a:ext>
            </a:extLst>
          </p:cNvPr>
          <p:cNvSpPr txBox="1"/>
          <p:nvPr/>
        </p:nvSpPr>
        <p:spPr>
          <a:xfrm>
            <a:off x="3296657" y="3508580"/>
            <a:ext cx="308304" cy="369332"/>
          </a:xfrm>
          <a:prstGeom prst="rect">
            <a:avLst/>
          </a:prstGeom>
          <a:solidFill>
            <a:srgbClr val="0070C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sp>
        <p:nvSpPr>
          <p:cNvPr id="45" name="TextBox 44">
            <a:extLst>
              <a:ext uri="{FF2B5EF4-FFF2-40B4-BE49-F238E27FC236}">
                <a16:creationId xmlns:a16="http://schemas.microsoft.com/office/drawing/2014/main" id="{A352D06B-D7F9-CF49-A51E-F90F6209BA36}"/>
              </a:ext>
            </a:extLst>
          </p:cNvPr>
          <p:cNvSpPr txBox="1"/>
          <p:nvPr/>
        </p:nvSpPr>
        <p:spPr>
          <a:xfrm>
            <a:off x="4113860" y="3511039"/>
            <a:ext cx="308304" cy="369332"/>
          </a:xfrm>
          <a:prstGeom prst="rect">
            <a:avLst/>
          </a:prstGeom>
          <a:solidFill>
            <a:srgbClr val="0070C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sp>
        <p:nvSpPr>
          <p:cNvPr id="46" name="TextBox 45">
            <a:extLst>
              <a:ext uri="{FF2B5EF4-FFF2-40B4-BE49-F238E27FC236}">
                <a16:creationId xmlns:a16="http://schemas.microsoft.com/office/drawing/2014/main" id="{49CD5E41-850F-AA4A-A365-18669A347CA0}"/>
              </a:ext>
            </a:extLst>
          </p:cNvPr>
          <p:cNvSpPr txBox="1"/>
          <p:nvPr/>
        </p:nvSpPr>
        <p:spPr>
          <a:xfrm>
            <a:off x="5740466" y="3511039"/>
            <a:ext cx="308304" cy="369332"/>
          </a:xfrm>
          <a:prstGeom prst="rect">
            <a:avLst/>
          </a:prstGeom>
          <a:solidFill>
            <a:srgbClr val="0070C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sp>
        <p:nvSpPr>
          <p:cNvPr id="47" name="TextBox 46">
            <a:extLst>
              <a:ext uri="{FF2B5EF4-FFF2-40B4-BE49-F238E27FC236}">
                <a16:creationId xmlns:a16="http://schemas.microsoft.com/office/drawing/2014/main" id="{CA0EAB4C-2C64-E04B-BE7E-76BA0C22A81F}"/>
              </a:ext>
            </a:extLst>
          </p:cNvPr>
          <p:cNvSpPr txBox="1"/>
          <p:nvPr/>
        </p:nvSpPr>
        <p:spPr>
          <a:xfrm>
            <a:off x="7675976" y="3511732"/>
            <a:ext cx="308304" cy="369332"/>
          </a:xfrm>
          <a:prstGeom prst="rect">
            <a:avLst/>
          </a:prstGeom>
          <a:solidFill>
            <a:srgbClr val="0070C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sp>
        <p:nvSpPr>
          <p:cNvPr id="48" name="TextBox 47">
            <a:extLst>
              <a:ext uri="{FF2B5EF4-FFF2-40B4-BE49-F238E27FC236}">
                <a16:creationId xmlns:a16="http://schemas.microsoft.com/office/drawing/2014/main" id="{4CBD5B6A-2EA2-B349-9FC3-2450D2E082DC}"/>
              </a:ext>
            </a:extLst>
          </p:cNvPr>
          <p:cNvSpPr txBox="1"/>
          <p:nvPr/>
        </p:nvSpPr>
        <p:spPr>
          <a:xfrm>
            <a:off x="8934100" y="3513879"/>
            <a:ext cx="308304" cy="369332"/>
          </a:xfrm>
          <a:prstGeom prst="rect">
            <a:avLst/>
          </a:prstGeom>
          <a:solidFill>
            <a:srgbClr val="0070C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cxnSp>
        <p:nvCxnSpPr>
          <p:cNvPr id="51" name="Straight Arrow Connector 50">
            <a:extLst>
              <a:ext uri="{FF2B5EF4-FFF2-40B4-BE49-F238E27FC236}">
                <a16:creationId xmlns:a16="http://schemas.microsoft.com/office/drawing/2014/main" id="{A728EC18-0DED-FD43-93A0-F44A2737EB82}"/>
              </a:ext>
            </a:extLst>
          </p:cNvPr>
          <p:cNvCxnSpPr>
            <a:cxnSpLocks/>
            <a:stCxn id="46" idx="1"/>
            <a:endCxn id="45" idx="3"/>
          </p:cNvCxnSpPr>
          <p:nvPr/>
        </p:nvCxnSpPr>
        <p:spPr>
          <a:xfrm flipH="1">
            <a:off x="4422164" y="3695705"/>
            <a:ext cx="131830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BA5959BD-78D5-4F49-9B5C-117545F650A3}"/>
              </a:ext>
            </a:extLst>
          </p:cNvPr>
          <p:cNvCxnSpPr>
            <a:cxnSpLocks/>
            <a:stCxn id="47" idx="1"/>
            <a:endCxn id="46" idx="3"/>
          </p:cNvCxnSpPr>
          <p:nvPr/>
        </p:nvCxnSpPr>
        <p:spPr>
          <a:xfrm flipH="1" flipV="1">
            <a:off x="6048770" y="3695705"/>
            <a:ext cx="1627206" cy="69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92EC033D-119B-3542-A198-61EBD27A9DFE}"/>
              </a:ext>
            </a:extLst>
          </p:cNvPr>
          <p:cNvCxnSpPr>
            <a:cxnSpLocks/>
            <a:stCxn id="48" idx="1"/>
            <a:endCxn id="47" idx="3"/>
          </p:cNvCxnSpPr>
          <p:nvPr/>
        </p:nvCxnSpPr>
        <p:spPr>
          <a:xfrm flipH="1" flipV="1">
            <a:off x="7984280" y="3696398"/>
            <a:ext cx="949820" cy="21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51B42C20-A913-284E-BBBF-781FB796E43D}"/>
              </a:ext>
            </a:extLst>
          </p:cNvPr>
          <p:cNvCxnSpPr>
            <a:cxnSpLocks/>
            <a:stCxn id="27" idx="0"/>
            <a:endCxn id="48" idx="3"/>
          </p:cNvCxnSpPr>
          <p:nvPr/>
        </p:nvCxnSpPr>
        <p:spPr>
          <a:xfrm flipH="1" flipV="1">
            <a:off x="9242404" y="3698545"/>
            <a:ext cx="957548" cy="2702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CF88E404-A4BD-4B4F-BA46-79EF5C5A099D}"/>
              </a:ext>
            </a:extLst>
          </p:cNvPr>
          <p:cNvCxnSpPr>
            <a:cxnSpLocks/>
            <a:stCxn id="44" idx="1"/>
            <a:endCxn id="4" idx="0"/>
          </p:cNvCxnSpPr>
          <p:nvPr/>
        </p:nvCxnSpPr>
        <p:spPr>
          <a:xfrm flipH="1">
            <a:off x="2866330" y="3693246"/>
            <a:ext cx="430327" cy="2755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5E558BBE-BF7D-0B47-A7E3-E304DA406767}"/>
              </a:ext>
            </a:extLst>
          </p:cNvPr>
          <p:cNvCxnSpPr>
            <a:cxnSpLocks/>
            <a:stCxn id="25" idx="0"/>
            <a:endCxn id="45" idx="2"/>
          </p:cNvCxnSpPr>
          <p:nvPr/>
        </p:nvCxnSpPr>
        <p:spPr>
          <a:xfrm flipH="1" flipV="1">
            <a:off x="4268012" y="3880371"/>
            <a:ext cx="617819" cy="92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83FF6B54-730B-4049-AB23-FC5487BFFA2F}"/>
              </a:ext>
            </a:extLst>
          </p:cNvPr>
          <p:cNvSpPr txBox="1"/>
          <p:nvPr/>
        </p:nvSpPr>
        <p:spPr>
          <a:xfrm>
            <a:off x="3721928" y="3037782"/>
            <a:ext cx="308304" cy="369332"/>
          </a:xfrm>
          <a:prstGeom prst="rect">
            <a:avLst/>
          </a:prstGeom>
          <a:solidFill>
            <a:schemeClr val="accent2"/>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cxnSp>
        <p:nvCxnSpPr>
          <p:cNvPr id="73" name="Straight Arrow Connector 72">
            <a:extLst>
              <a:ext uri="{FF2B5EF4-FFF2-40B4-BE49-F238E27FC236}">
                <a16:creationId xmlns:a16="http://schemas.microsoft.com/office/drawing/2014/main" id="{8E8000F4-D863-7548-B6F4-706CB826D500}"/>
              </a:ext>
            </a:extLst>
          </p:cNvPr>
          <p:cNvCxnSpPr>
            <a:cxnSpLocks/>
            <a:stCxn id="45" idx="0"/>
            <a:endCxn id="70" idx="2"/>
          </p:cNvCxnSpPr>
          <p:nvPr/>
        </p:nvCxnSpPr>
        <p:spPr>
          <a:xfrm flipH="1" flipV="1">
            <a:off x="3876080" y="3407114"/>
            <a:ext cx="391932" cy="103925"/>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6" name="TextBox 75">
            <a:extLst>
              <a:ext uri="{FF2B5EF4-FFF2-40B4-BE49-F238E27FC236}">
                <a16:creationId xmlns:a16="http://schemas.microsoft.com/office/drawing/2014/main" id="{F42490BE-955A-0140-9AFD-461354BFEA67}"/>
              </a:ext>
            </a:extLst>
          </p:cNvPr>
          <p:cNvSpPr txBox="1"/>
          <p:nvPr/>
        </p:nvSpPr>
        <p:spPr>
          <a:xfrm>
            <a:off x="4927163" y="3029614"/>
            <a:ext cx="308304" cy="369332"/>
          </a:xfrm>
          <a:prstGeom prst="rect">
            <a:avLst/>
          </a:prstGeom>
          <a:solidFill>
            <a:schemeClr val="accent2"/>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cxnSp>
        <p:nvCxnSpPr>
          <p:cNvPr id="78" name="Straight Arrow Connector 77">
            <a:extLst>
              <a:ext uri="{FF2B5EF4-FFF2-40B4-BE49-F238E27FC236}">
                <a16:creationId xmlns:a16="http://schemas.microsoft.com/office/drawing/2014/main" id="{5E772593-30A4-D643-B690-5E34BAD3B07A}"/>
              </a:ext>
            </a:extLst>
          </p:cNvPr>
          <p:cNvCxnSpPr>
            <a:cxnSpLocks/>
            <a:stCxn id="76" idx="1"/>
            <a:endCxn id="70" idx="3"/>
          </p:cNvCxnSpPr>
          <p:nvPr/>
        </p:nvCxnSpPr>
        <p:spPr>
          <a:xfrm flipH="1">
            <a:off x="4030232" y="3214280"/>
            <a:ext cx="896931" cy="8168"/>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1" name="Straight Arrow Connector 80">
            <a:extLst>
              <a:ext uri="{FF2B5EF4-FFF2-40B4-BE49-F238E27FC236}">
                <a16:creationId xmlns:a16="http://schemas.microsoft.com/office/drawing/2014/main" id="{0F330CA1-A0BD-9643-B1D7-776AEF78A8D2}"/>
              </a:ext>
            </a:extLst>
          </p:cNvPr>
          <p:cNvCxnSpPr>
            <a:cxnSpLocks/>
            <a:stCxn id="46" idx="0"/>
            <a:endCxn id="76" idx="3"/>
          </p:cNvCxnSpPr>
          <p:nvPr/>
        </p:nvCxnSpPr>
        <p:spPr>
          <a:xfrm flipH="1" flipV="1">
            <a:off x="5235467" y="3214280"/>
            <a:ext cx="659151" cy="296759"/>
          </a:xfrm>
          <a:prstGeom prst="straightConnector1">
            <a:avLst/>
          </a:prstGeom>
          <a:ln>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43564F80-363B-AD4F-A920-69D611EFC3B9}"/>
              </a:ext>
            </a:extLst>
          </p:cNvPr>
          <p:cNvSpPr txBox="1"/>
          <p:nvPr/>
        </p:nvSpPr>
        <p:spPr>
          <a:xfrm>
            <a:off x="4854296" y="2587603"/>
            <a:ext cx="308304" cy="369332"/>
          </a:xfrm>
          <a:prstGeom prst="rect">
            <a:avLst/>
          </a:prstGeom>
          <a:solidFill>
            <a:srgbClr val="7030A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sp>
        <p:nvSpPr>
          <p:cNvPr id="86" name="TextBox 85">
            <a:extLst>
              <a:ext uri="{FF2B5EF4-FFF2-40B4-BE49-F238E27FC236}">
                <a16:creationId xmlns:a16="http://schemas.microsoft.com/office/drawing/2014/main" id="{75060320-167F-3A4B-8014-C173622A85A3}"/>
              </a:ext>
            </a:extLst>
          </p:cNvPr>
          <p:cNvSpPr txBox="1"/>
          <p:nvPr/>
        </p:nvSpPr>
        <p:spPr>
          <a:xfrm>
            <a:off x="5883250" y="2581084"/>
            <a:ext cx="308304" cy="369332"/>
          </a:xfrm>
          <a:prstGeom prst="rect">
            <a:avLst/>
          </a:prstGeom>
          <a:solidFill>
            <a:srgbClr val="7030A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sp>
        <p:nvSpPr>
          <p:cNvPr id="87" name="TextBox 86">
            <a:extLst>
              <a:ext uri="{FF2B5EF4-FFF2-40B4-BE49-F238E27FC236}">
                <a16:creationId xmlns:a16="http://schemas.microsoft.com/office/drawing/2014/main" id="{97653848-B6D4-F649-8B4A-23C0E62FE2FC}"/>
              </a:ext>
            </a:extLst>
          </p:cNvPr>
          <p:cNvSpPr txBox="1"/>
          <p:nvPr/>
        </p:nvSpPr>
        <p:spPr>
          <a:xfrm>
            <a:off x="7048755" y="2583818"/>
            <a:ext cx="308304" cy="369332"/>
          </a:xfrm>
          <a:prstGeom prst="rect">
            <a:avLst/>
          </a:prstGeom>
          <a:solidFill>
            <a:srgbClr val="7030A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sp>
        <p:nvSpPr>
          <p:cNvPr id="88" name="TextBox 87">
            <a:extLst>
              <a:ext uri="{FF2B5EF4-FFF2-40B4-BE49-F238E27FC236}">
                <a16:creationId xmlns:a16="http://schemas.microsoft.com/office/drawing/2014/main" id="{2AAABA37-F938-0A47-A950-C8B5A6BAF634}"/>
              </a:ext>
            </a:extLst>
          </p:cNvPr>
          <p:cNvSpPr txBox="1"/>
          <p:nvPr/>
        </p:nvSpPr>
        <p:spPr>
          <a:xfrm>
            <a:off x="8186311" y="2583818"/>
            <a:ext cx="308304" cy="369332"/>
          </a:xfrm>
          <a:prstGeom prst="rect">
            <a:avLst/>
          </a:prstGeom>
          <a:solidFill>
            <a:srgbClr val="7030A0"/>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wrap="square" rtlCol="0" anchor="ctr">
            <a:spAutoFit/>
          </a:bodyPr>
          <a:lstStyle/>
          <a:p>
            <a:pPr algn="ctr"/>
            <a:endParaRPr lang="en-IT" dirty="0">
              <a:latin typeface="Aptos" panose="020B0004020202020204" pitchFamily="34" charset="0"/>
              <a:ea typeface="Palatino" pitchFamily="2" charset="77"/>
            </a:endParaRPr>
          </a:p>
        </p:txBody>
      </p:sp>
      <p:cxnSp>
        <p:nvCxnSpPr>
          <p:cNvPr id="89" name="Straight Arrow Connector 88">
            <a:extLst>
              <a:ext uri="{FF2B5EF4-FFF2-40B4-BE49-F238E27FC236}">
                <a16:creationId xmlns:a16="http://schemas.microsoft.com/office/drawing/2014/main" id="{D660A677-89F3-BB49-8FCC-E3F0F9CEE9A5}"/>
              </a:ext>
            </a:extLst>
          </p:cNvPr>
          <p:cNvCxnSpPr>
            <a:cxnSpLocks/>
            <a:stCxn id="85" idx="1"/>
            <a:endCxn id="45" idx="0"/>
          </p:cNvCxnSpPr>
          <p:nvPr/>
        </p:nvCxnSpPr>
        <p:spPr>
          <a:xfrm flipH="1">
            <a:off x="4268012" y="2772269"/>
            <a:ext cx="586284" cy="738770"/>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27DFD569-2DAB-F046-AD0F-84AA6A3B6700}"/>
              </a:ext>
            </a:extLst>
          </p:cNvPr>
          <p:cNvCxnSpPr>
            <a:cxnSpLocks/>
            <a:stCxn id="86" idx="1"/>
            <a:endCxn id="85" idx="3"/>
          </p:cNvCxnSpPr>
          <p:nvPr/>
        </p:nvCxnSpPr>
        <p:spPr>
          <a:xfrm flipH="1">
            <a:off x="5162600" y="2765750"/>
            <a:ext cx="720650" cy="6519"/>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CDE6CDB4-7140-7A47-ADE1-1B80D15B4B59}"/>
              </a:ext>
            </a:extLst>
          </p:cNvPr>
          <p:cNvCxnSpPr>
            <a:cxnSpLocks/>
            <a:stCxn id="87" idx="1"/>
            <a:endCxn id="86" idx="3"/>
          </p:cNvCxnSpPr>
          <p:nvPr/>
        </p:nvCxnSpPr>
        <p:spPr>
          <a:xfrm flipH="1" flipV="1">
            <a:off x="6191554" y="2765750"/>
            <a:ext cx="857201" cy="2734"/>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D40A2C18-19D1-6246-A3CD-AD3CB2148393}"/>
              </a:ext>
            </a:extLst>
          </p:cNvPr>
          <p:cNvCxnSpPr>
            <a:cxnSpLocks/>
            <a:stCxn id="88" idx="1"/>
            <a:endCxn id="87" idx="3"/>
          </p:cNvCxnSpPr>
          <p:nvPr/>
        </p:nvCxnSpPr>
        <p:spPr>
          <a:xfrm flipH="1">
            <a:off x="7357059" y="2768484"/>
            <a:ext cx="829252" cy="0"/>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104" name="Straight Arrow Connector 103">
            <a:extLst>
              <a:ext uri="{FF2B5EF4-FFF2-40B4-BE49-F238E27FC236}">
                <a16:creationId xmlns:a16="http://schemas.microsoft.com/office/drawing/2014/main" id="{A3EC7F9D-B1E9-0A4A-A496-7FE4CBF7015A}"/>
              </a:ext>
            </a:extLst>
          </p:cNvPr>
          <p:cNvCxnSpPr>
            <a:cxnSpLocks/>
            <a:stCxn id="48" idx="0"/>
            <a:endCxn id="88" idx="3"/>
          </p:cNvCxnSpPr>
          <p:nvPr/>
        </p:nvCxnSpPr>
        <p:spPr>
          <a:xfrm flipH="1" flipV="1">
            <a:off x="8494615" y="2768484"/>
            <a:ext cx="593637" cy="745395"/>
          </a:xfrm>
          <a:prstGeom prst="straightConnector1">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5" name="Slide Number Placeholder 4">
            <a:extLst>
              <a:ext uri="{FF2B5EF4-FFF2-40B4-BE49-F238E27FC236}">
                <a16:creationId xmlns:a16="http://schemas.microsoft.com/office/drawing/2014/main" id="{11FA5221-D7AF-2F45-9A7F-974F82AEF0EF}"/>
              </a:ext>
            </a:extLst>
          </p:cNvPr>
          <p:cNvSpPr>
            <a:spLocks noGrp="1"/>
          </p:cNvSpPr>
          <p:nvPr>
            <p:ph type="sldNum" sz="quarter" idx="12"/>
          </p:nvPr>
        </p:nvSpPr>
        <p:spPr/>
        <p:txBody>
          <a:bodyPr/>
          <a:lstStyle/>
          <a:p>
            <a:fld id="{31DE2C5B-556E-47B8-A792-024C2FCA4ACC}" type="slidenum">
              <a:rPr lang="en-GB" smtClean="0"/>
              <a:t>42</a:t>
            </a:fld>
            <a:endParaRPr lang="en-GB" dirty="0"/>
          </a:p>
        </p:txBody>
      </p:sp>
    </p:spTree>
    <p:extLst>
      <p:ext uri="{BB962C8B-B14F-4D97-AF65-F5344CB8AC3E}">
        <p14:creationId xmlns:p14="http://schemas.microsoft.com/office/powerpoint/2010/main" val="5919294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Many more things…</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a:xfrm>
            <a:off x="428172" y="1361167"/>
            <a:ext cx="11167626" cy="5260697"/>
          </a:xfrm>
        </p:spPr>
        <p:txBody>
          <a:bodyPr>
            <a:normAutofit/>
          </a:bodyPr>
          <a:lstStyle/>
          <a:p>
            <a:r>
              <a:rPr lang="en-IT" dirty="0"/>
              <a:t>Of course GIT has many more functionalities…</a:t>
            </a:r>
          </a:p>
          <a:p>
            <a:pPr marL="0" indent="0">
              <a:buNone/>
            </a:pPr>
            <a:endParaRPr lang="en-IT" dirty="0"/>
          </a:p>
          <a:p>
            <a:r>
              <a:rPr lang="en-IT" dirty="0"/>
              <a:t>Anyway, this is just a primer and learni</a:t>
            </a:r>
            <a:r>
              <a:rPr lang="en-GB" dirty="0"/>
              <a:t>ng</a:t>
            </a:r>
            <a:r>
              <a:rPr lang="en-IT" dirty="0"/>
              <a:t> GIT is a matter of practice</a:t>
            </a:r>
          </a:p>
          <a:p>
            <a:endParaRPr lang="en-IT" dirty="0"/>
          </a:p>
          <a:p>
            <a:r>
              <a:rPr lang="en-IT" dirty="0"/>
              <a:t>If you have any questions, doubt, etc…, do not hesitate to ask. I suggest you to make some practice to get familiar with the basics by creating a dummy repo and start w</a:t>
            </a:r>
            <a:r>
              <a:rPr lang="en-GB" dirty="0"/>
              <a:t>or</a:t>
            </a:r>
            <a:r>
              <a:rPr lang="en-IT" dirty="0"/>
              <a:t>king on it. </a:t>
            </a:r>
          </a:p>
          <a:p>
            <a:endParaRPr lang="en-IT" dirty="0"/>
          </a:p>
          <a:p>
            <a:r>
              <a:rPr lang="en-US" dirty="0"/>
              <a:t>If you are curious, y</a:t>
            </a:r>
            <a:r>
              <a:rPr lang="en-IT"/>
              <a:t>ou </a:t>
            </a:r>
            <a:r>
              <a:rPr lang="en-IT" dirty="0"/>
              <a:t>can find </a:t>
            </a:r>
            <a:r>
              <a:rPr lang="en-IT"/>
              <a:t>useful </a:t>
            </a:r>
            <a:r>
              <a:rPr lang="en-US" dirty="0"/>
              <a:t>extra </a:t>
            </a:r>
            <a:r>
              <a:rPr lang="en-IT"/>
              <a:t>resources </a:t>
            </a:r>
            <a:r>
              <a:rPr lang="en-IT" dirty="0"/>
              <a:t>in slide 47.</a:t>
            </a:r>
          </a:p>
          <a:p>
            <a:endParaRPr lang="en-IT" dirty="0"/>
          </a:p>
          <a:p>
            <a:endParaRPr lang="en-IT" dirty="0"/>
          </a:p>
        </p:txBody>
      </p:sp>
      <p:sp>
        <p:nvSpPr>
          <p:cNvPr id="4" name="Slide Number Placeholder 3">
            <a:extLst>
              <a:ext uri="{FF2B5EF4-FFF2-40B4-BE49-F238E27FC236}">
                <a16:creationId xmlns:a16="http://schemas.microsoft.com/office/drawing/2014/main" id="{AAA12296-ED10-3C4F-9D30-1899F7F59622}"/>
              </a:ext>
            </a:extLst>
          </p:cNvPr>
          <p:cNvSpPr>
            <a:spLocks noGrp="1"/>
          </p:cNvSpPr>
          <p:nvPr>
            <p:ph type="sldNum" sz="quarter" idx="12"/>
          </p:nvPr>
        </p:nvSpPr>
        <p:spPr/>
        <p:txBody>
          <a:bodyPr/>
          <a:lstStyle/>
          <a:p>
            <a:fld id="{31DE2C5B-556E-47B8-A792-024C2FCA4ACC}" type="slidenum">
              <a:rPr lang="en-GB" smtClean="0"/>
              <a:t>43</a:t>
            </a:fld>
            <a:endParaRPr lang="en-GB" dirty="0"/>
          </a:p>
        </p:txBody>
      </p:sp>
    </p:spTree>
    <p:extLst>
      <p:ext uri="{BB962C8B-B14F-4D97-AF65-F5344CB8AC3E}">
        <p14:creationId xmlns:p14="http://schemas.microsoft.com/office/powerpoint/2010/main" val="19251059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p:txBody>
          <a:bodyPr>
            <a:normAutofit/>
          </a:bodyPr>
          <a:lstStyle/>
          <a:p>
            <a:r>
              <a:rPr lang="en-GB" dirty="0">
                <a:solidFill>
                  <a:schemeClr val="bg1">
                    <a:lumMod val="75000"/>
                  </a:schemeClr>
                </a:solidFill>
              </a:rPr>
              <a:t>Version Control Systems &amp; GIT</a:t>
            </a:r>
            <a:endParaRPr lang="en-IT" dirty="0">
              <a:solidFill>
                <a:schemeClr val="bg1">
                  <a:lumMod val="75000"/>
                </a:schemeClr>
              </a:solidFill>
            </a:endParaRPr>
          </a:p>
          <a:p>
            <a:r>
              <a:rPr lang="en-IT" dirty="0">
                <a:solidFill>
                  <a:schemeClr val="bg1">
                    <a:lumMod val="75000"/>
                  </a:schemeClr>
                </a:solidFill>
              </a:rPr>
              <a:t>Playing with GIT</a:t>
            </a:r>
          </a:p>
          <a:p>
            <a:r>
              <a:rPr lang="en-IT" dirty="0">
                <a:solidFill>
                  <a:schemeClr val="bg1">
                    <a:lumMod val="75000"/>
                  </a:schemeClr>
                </a:solidFill>
              </a:rPr>
              <a:t>The working tree</a:t>
            </a:r>
          </a:p>
          <a:p>
            <a:r>
              <a:rPr lang="en-IT">
                <a:solidFill>
                  <a:schemeClr val="bg1">
                    <a:lumMod val="75000"/>
                  </a:schemeClr>
                </a:solidFill>
              </a:rPr>
              <a:t>Remote repositories and best practices</a:t>
            </a:r>
            <a:endParaRPr lang="en-IT" dirty="0">
              <a:solidFill>
                <a:schemeClr val="bg1">
                  <a:lumMod val="75000"/>
                </a:schemeClr>
              </a:solidFill>
            </a:endParaRPr>
          </a:p>
          <a:p>
            <a:pPr marL="0" indent="0">
              <a:buNone/>
            </a:pPr>
            <a:endParaRPr lang="en-IT" dirty="0">
              <a:solidFill>
                <a:schemeClr val="bg1">
                  <a:lumMod val="75000"/>
                </a:schemeClr>
              </a:solidFill>
            </a:endParaRPr>
          </a:p>
          <a:p>
            <a:r>
              <a:rPr lang="en-IT" b="1" dirty="0"/>
              <a:t>Homework</a:t>
            </a:r>
          </a:p>
          <a:p>
            <a:r>
              <a:rPr lang="en-IT">
                <a:solidFill>
                  <a:schemeClr val="bg1">
                    <a:lumMod val="75000"/>
                  </a:schemeClr>
                </a:solidFill>
              </a:rPr>
              <a:t>Resources</a:t>
            </a:r>
            <a:endParaRPr lang="en-IT" dirty="0">
              <a:solidFill>
                <a:schemeClr val="bg1">
                  <a:lumMod val="75000"/>
                </a:schemeClr>
              </a:solidFill>
            </a:endParaRPr>
          </a:p>
        </p:txBody>
      </p:sp>
      <p:sp>
        <p:nvSpPr>
          <p:cNvPr id="4" name="Slide Number Placeholder 3">
            <a:extLst>
              <a:ext uri="{FF2B5EF4-FFF2-40B4-BE49-F238E27FC236}">
                <a16:creationId xmlns:a16="http://schemas.microsoft.com/office/drawing/2014/main" id="{3E3E22D8-6C60-4D43-8B1C-2DEFA5C45C6F}"/>
              </a:ext>
            </a:extLst>
          </p:cNvPr>
          <p:cNvSpPr>
            <a:spLocks noGrp="1"/>
          </p:cNvSpPr>
          <p:nvPr>
            <p:ph type="sldNum" sz="quarter" idx="12"/>
          </p:nvPr>
        </p:nvSpPr>
        <p:spPr/>
        <p:txBody>
          <a:bodyPr/>
          <a:lstStyle/>
          <a:p>
            <a:fld id="{31DE2C5B-556E-47B8-A792-024C2FCA4ACC}" type="slidenum">
              <a:rPr lang="en-GB" smtClean="0"/>
              <a:t>44</a:t>
            </a:fld>
            <a:endParaRPr lang="en-GB" dirty="0"/>
          </a:p>
        </p:txBody>
      </p:sp>
    </p:spTree>
    <p:extLst>
      <p:ext uri="{BB962C8B-B14F-4D97-AF65-F5344CB8AC3E}">
        <p14:creationId xmlns:p14="http://schemas.microsoft.com/office/powerpoint/2010/main" val="22401154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Homework</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p:txBody>
          <a:bodyPr>
            <a:normAutofit/>
          </a:bodyPr>
          <a:lstStyle/>
          <a:p>
            <a:r>
              <a:rPr lang="en-IT" dirty="0"/>
              <a:t>Next time we will start learning about Dart, the programming language we will use to develop mobile apps in this course. To do that, we need our development environment, i.e., required software and libraries to actually develop something,  to be ready.</a:t>
            </a:r>
          </a:p>
          <a:p>
            <a:endParaRPr lang="en-IT" dirty="0"/>
          </a:p>
          <a:p>
            <a:r>
              <a:rPr lang="en-IT" dirty="0"/>
              <a:t>You need to prepare the development </a:t>
            </a:r>
            <a:r>
              <a:rPr lang="en-IT"/>
              <a:t>environment of your PC or MAC. </a:t>
            </a:r>
            <a:r>
              <a:rPr lang="en-IT" dirty="0"/>
              <a:t>To do that, follow the instruction in the file “</a:t>
            </a:r>
            <a:r>
              <a:rPr lang="en-GB" b="1" dirty="0"/>
              <a:t>Setup the development environment</a:t>
            </a:r>
            <a:r>
              <a:rPr lang="en-GB" dirty="0"/>
              <a:t>” that you can find in the course page.</a:t>
            </a:r>
            <a:endParaRPr lang="en-IT" dirty="0"/>
          </a:p>
        </p:txBody>
      </p:sp>
      <p:sp>
        <p:nvSpPr>
          <p:cNvPr id="6" name="Slide Number Placeholder 5">
            <a:extLst>
              <a:ext uri="{FF2B5EF4-FFF2-40B4-BE49-F238E27FC236}">
                <a16:creationId xmlns:a16="http://schemas.microsoft.com/office/drawing/2014/main" id="{A0796A95-1E61-7240-93D4-0BE8D3793F09}"/>
              </a:ext>
            </a:extLst>
          </p:cNvPr>
          <p:cNvSpPr>
            <a:spLocks noGrp="1"/>
          </p:cNvSpPr>
          <p:nvPr>
            <p:ph type="sldNum" sz="quarter" idx="12"/>
          </p:nvPr>
        </p:nvSpPr>
        <p:spPr/>
        <p:txBody>
          <a:bodyPr/>
          <a:lstStyle/>
          <a:p>
            <a:fld id="{31DE2C5B-556E-47B8-A792-024C2FCA4ACC}" type="slidenum">
              <a:rPr lang="en-GB" smtClean="0"/>
              <a:t>45</a:t>
            </a:fld>
            <a:endParaRPr lang="en-GB" dirty="0"/>
          </a:p>
        </p:txBody>
      </p:sp>
    </p:spTree>
    <p:extLst>
      <p:ext uri="{BB962C8B-B14F-4D97-AF65-F5344CB8AC3E}">
        <p14:creationId xmlns:p14="http://schemas.microsoft.com/office/powerpoint/2010/main" val="29128566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1E14-0610-FB4E-BCD3-3BA8CADF9D02}"/>
              </a:ext>
            </a:extLst>
          </p:cNvPr>
          <p:cNvSpPr>
            <a:spLocks noGrp="1"/>
          </p:cNvSpPr>
          <p:nvPr>
            <p:ph type="title"/>
          </p:nvPr>
        </p:nvSpPr>
        <p:spPr/>
        <p:txBody>
          <a:bodyPr/>
          <a:lstStyle/>
          <a:p>
            <a:r>
              <a:rPr lang="en-IT" dirty="0"/>
              <a:t>Outline</a:t>
            </a:r>
          </a:p>
        </p:txBody>
      </p:sp>
      <p:sp>
        <p:nvSpPr>
          <p:cNvPr id="3" name="Content Placeholder 2">
            <a:extLst>
              <a:ext uri="{FF2B5EF4-FFF2-40B4-BE49-F238E27FC236}">
                <a16:creationId xmlns:a16="http://schemas.microsoft.com/office/drawing/2014/main" id="{8962CCAC-9D70-C543-BBE0-822B6CB5F5CB}"/>
              </a:ext>
            </a:extLst>
          </p:cNvPr>
          <p:cNvSpPr>
            <a:spLocks noGrp="1"/>
          </p:cNvSpPr>
          <p:nvPr>
            <p:ph idx="1"/>
          </p:nvPr>
        </p:nvSpPr>
        <p:spPr/>
        <p:txBody>
          <a:bodyPr>
            <a:normAutofit/>
          </a:bodyPr>
          <a:lstStyle/>
          <a:p>
            <a:r>
              <a:rPr lang="en-GB" dirty="0">
                <a:solidFill>
                  <a:schemeClr val="bg1">
                    <a:lumMod val="75000"/>
                  </a:schemeClr>
                </a:solidFill>
              </a:rPr>
              <a:t>Version Control Systems &amp; GIT</a:t>
            </a:r>
            <a:endParaRPr lang="en-IT" dirty="0">
              <a:solidFill>
                <a:schemeClr val="bg1">
                  <a:lumMod val="75000"/>
                </a:schemeClr>
              </a:solidFill>
            </a:endParaRPr>
          </a:p>
          <a:p>
            <a:r>
              <a:rPr lang="en-IT" dirty="0">
                <a:solidFill>
                  <a:schemeClr val="bg1">
                    <a:lumMod val="75000"/>
                  </a:schemeClr>
                </a:solidFill>
              </a:rPr>
              <a:t>Playing with GIT</a:t>
            </a:r>
          </a:p>
          <a:p>
            <a:r>
              <a:rPr lang="en-IT" dirty="0">
                <a:solidFill>
                  <a:schemeClr val="bg1">
                    <a:lumMod val="75000"/>
                  </a:schemeClr>
                </a:solidFill>
              </a:rPr>
              <a:t>The working tree</a:t>
            </a:r>
          </a:p>
          <a:p>
            <a:r>
              <a:rPr lang="en-IT" dirty="0">
                <a:solidFill>
                  <a:schemeClr val="bg1">
                    <a:lumMod val="75000"/>
                  </a:schemeClr>
                </a:solidFill>
              </a:rPr>
              <a:t>Remote repositories and best practices</a:t>
            </a:r>
          </a:p>
          <a:p>
            <a:pPr marL="0" indent="0">
              <a:buNone/>
            </a:pPr>
            <a:endParaRPr lang="en-IT" dirty="0">
              <a:solidFill>
                <a:schemeClr val="bg1">
                  <a:lumMod val="75000"/>
                </a:schemeClr>
              </a:solidFill>
            </a:endParaRPr>
          </a:p>
          <a:p>
            <a:r>
              <a:rPr lang="en-IT" dirty="0">
                <a:solidFill>
                  <a:schemeClr val="bg1">
                    <a:lumMod val="75000"/>
                  </a:schemeClr>
                </a:solidFill>
              </a:rPr>
              <a:t>Homework</a:t>
            </a:r>
          </a:p>
          <a:p>
            <a:r>
              <a:rPr lang="en-IT" b="1" dirty="0"/>
              <a:t>Resources</a:t>
            </a:r>
          </a:p>
          <a:p>
            <a:pPr marL="0" indent="0">
              <a:buNone/>
            </a:pPr>
            <a:endParaRPr lang="en-IT" dirty="0">
              <a:solidFill>
                <a:schemeClr val="bg1">
                  <a:lumMod val="75000"/>
                </a:schemeClr>
              </a:solidFill>
            </a:endParaRPr>
          </a:p>
        </p:txBody>
      </p:sp>
      <p:sp>
        <p:nvSpPr>
          <p:cNvPr id="4" name="Slide Number Placeholder 3">
            <a:extLst>
              <a:ext uri="{FF2B5EF4-FFF2-40B4-BE49-F238E27FC236}">
                <a16:creationId xmlns:a16="http://schemas.microsoft.com/office/drawing/2014/main" id="{2EC21367-CD79-6F4A-9F59-EA38C43D95B7}"/>
              </a:ext>
            </a:extLst>
          </p:cNvPr>
          <p:cNvSpPr>
            <a:spLocks noGrp="1"/>
          </p:cNvSpPr>
          <p:nvPr>
            <p:ph type="sldNum" sz="quarter" idx="12"/>
          </p:nvPr>
        </p:nvSpPr>
        <p:spPr/>
        <p:txBody>
          <a:bodyPr/>
          <a:lstStyle/>
          <a:p>
            <a:fld id="{31DE2C5B-556E-47B8-A792-024C2FCA4ACC}" type="slidenum">
              <a:rPr lang="en-GB" smtClean="0"/>
              <a:t>46</a:t>
            </a:fld>
            <a:endParaRPr lang="en-GB" dirty="0"/>
          </a:p>
        </p:txBody>
      </p:sp>
    </p:spTree>
    <p:extLst>
      <p:ext uri="{BB962C8B-B14F-4D97-AF65-F5344CB8AC3E}">
        <p14:creationId xmlns:p14="http://schemas.microsoft.com/office/powerpoint/2010/main" val="10288421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60FB-C861-1E44-92E6-8F9396441CB2}"/>
              </a:ext>
            </a:extLst>
          </p:cNvPr>
          <p:cNvSpPr>
            <a:spLocks noGrp="1"/>
          </p:cNvSpPr>
          <p:nvPr>
            <p:ph type="title"/>
          </p:nvPr>
        </p:nvSpPr>
        <p:spPr/>
        <p:txBody>
          <a:bodyPr/>
          <a:lstStyle/>
          <a:p>
            <a:r>
              <a:rPr lang="en-IT" dirty="0"/>
              <a:t>Resources</a:t>
            </a:r>
          </a:p>
        </p:txBody>
      </p:sp>
      <p:sp>
        <p:nvSpPr>
          <p:cNvPr id="3" name="Content Placeholder 2">
            <a:extLst>
              <a:ext uri="{FF2B5EF4-FFF2-40B4-BE49-F238E27FC236}">
                <a16:creationId xmlns:a16="http://schemas.microsoft.com/office/drawing/2014/main" id="{ECD4BA52-23DB-D94D-9195-7777C71CD155}"/>
              </a:ext>
            </a:extLst>
          </p:cNvPr>
          <p:cNvSpPr>
            <a:spLocks noGrp="1"/>
          </p:cNvSpPr>
          <p:nvPr>
            <p:ph idx="1"/>
          </p:nvPr>
        </p:nvSpPr>
        <p:spPr/>
        <p:txBody>
          <a:bodyPr/>
          <a:lstStyle/>
          <a:p>
            <a:r>
              <a:rPr lang="en-IT" dirty="0"/>
              <a:t>Git cheatsheet</a:t>
            </a:r>
          </a:p>
          <a:p>
            <a:pPr lvl="1"/>
            <a:r>
              <a:rPr lang="en-GB" dirty="0">
                <a:hlinkClick r:id="rId3" tooltip="git-cheat-sheet-education.pdf"/>
              </a:rPr>
              <a:t>git-cheat-sheet-education.pdf</a:t>
            </a:r>
            <a:r>
              <a:rPr lang="en-GB" dirty="0"/>
              <a:t> in the material/ folder (gently provided </a:t>
            </a:r>
            <a:r>
              <a:rPr lang="en-GB"/>
              <a:t>by GitHub)</a:t>
            </a:r>
            <a:endParaRPr lang="en-IT" dirty="0"/>
          </a:p>
          <a:p>
            <a:pPr lvl="1"/>
            <a:endParaRPr lang="en-IT" dirty="0"/>
          </a:p>
          <a:p>
            <a:r>
              <a:rPr lang="en-IT" dirty="0"/>
              <a:t>Git official book</a:t>
            </a:r>
          </a:p>
          <a:p>
            <a:pPr lvl="1"/>
            <a:r>
              <a:rPr lang="en-GB" dirty="0">
                <a:hlinkClick r:id="rId4"/>
              </a:rPr>
              <a:t>https://git-scm.com/book/en/v2</a:t>
            </a:r>
            <a:endParaRPr lang="en-GB" dirty="0"/>
          </a:p>
          <a:p>
            <a:pPr marL="457200" lvl="1" indent="0">
              <a:buNone/>
            </a:pPr>
            <a:endParaRPr lang="en-GB" dirty="0"/>
          </a:p>
          <a:p>
            <a:r>
              <a:rPr lang="en-IT" dirty="0"/>
              <a:t>Git Tutorial for Beginners: Learn Git in 1 hour</a:t>
            </a:r>
          </a:p>
          <a:p>
            <a:pPr lvl="1"/>
            <a:r>
              <a:rPr lang="en-GB" dirty="0">
                <a:hlinkClick r:id="rId5"/>
              </a:rPr>
              <a:t>https://www.youtube.com/watch?v=8JJ101D3knE&amp;ab_channel=ProgrammingwithMosh</a:t>
            </a:r>
            <a:endParaRPr lang="en-IT" dirty="0"/>
          </a:p>
          <a:p>
            <a:pPr lvl="1"/>
            <a:endParaRPr lang="en-IT" dirty="0"/>
          </a:p>
          <a:p>
            <a:r>
              <a:rPr lang="en-IT" dirty="0"/>
              <a:t>Oh Shit Git</a:t>
            </a:r>
          </a:p>
          <a:p>
            <a:pPr lvl="1"/>
            <a:r>
              <a:rPr lang="en-GB" dirty="0">
                <a:hlinkClick r:id="rId6"/>
              </a:rPr>
              <a:t>https://ohshitgit.com/</a:t>
            </a:r>
            <a:r>
              <a:rPr lang="en-GB" dirty="0"/>
              <a:t> </a:t>
            </a:r>
          </a:p>
        </p:txBody>
      </p:sp>
      <p:sp>
        <p:nvSpPr>
          <p:cNvPr id="4" name="Slide Number Placeholder 3">
            <a:extLst>
              <a:ext uri="{FF2B5EF4-FFF2-40B4-BE49-F238E27FC236}">
                <a16:creationId xmlns:a16="http://schemas.microsoft.com/office/drawing/2014/main" id="{35172098-E690-C64B-97CB-760A3DB86D1B}"/>
              </a:ext>
            </a:extLst>
          </p:cNvPr>
          <p:cNvSpPr>
            <a:spLocks noGrp="1"/>
          </p:cNvSpPr>
          <p:nvPr>
            <p:ph type="sldNum" sz="quarter" idx="12"/>
          </p:nvPr>
        </p:nvSpPr>
        <p:spPr/>
        <p:txBody>
          <a:bodyPr/>
          <a:lstStyle/>
          <a:p>
            <a:fld id="{31DE2C5B-556E-47B8-A792-024C2FCA4ACC}" type="slidenum">
              <a:rPr lang="en-GB" smtClean="0"/>
              <a:t>47</a:t>
            </a:fld>
            <a:endParaRPr lang="en-GB" dirty="0"/>
          </a:p>
        </p:txBody>
      </p:sp>
    </p:spTree>
    <p:extLst>
      <p:ext uri="{BB962C8B-B14F-4D97-AF65-F5344CB8AC3E}">
        <p14:creationId xmlns:p14="http://schemas.microsoft.com/office/powerpoint/2010/main" val="1559286236"/>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8778</TotalTime>
  <Words>2712</Words>
  <Application>Microsoft Macintosh PowerPoint</Application>
  <PresentationFormat>Widescreen</PresentationFormat>
  <Paragraphs>592</Paragraphs>
  <Slides>47</Slides>
  <Notes>40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Aptos</vt:lpstr>
      <vt:lpstr>Arial</vt:lpstr>
      <vt:lpstr>Calibri</vt:lpstr>
      <vt:lpstr>Courier</vt:lpstr>
      <vt:lpstr>Courier New</vt:lpstr>
      <vt:lpstr>Times New Roman</vt:lpstr>
      <vt:lpstr>Wingdings</vt:lpstr>
      <vt:lpstr>Tema di Office</vt:lpstr>
      <vt:lpstr>Giacomo Cappon</vt:lpstr>
      <vt:lpstr>Outline</vt:lpstr>
      <vt:lpstr>New features means new code</vt:lpstr>
      <vt:lpstr>Dealing with code versions: The naïve solution</vt:lpstr>
      <vt:lpstr>Problems of the “multiple folders” approach</vt:lpstr>
      <vt:lpstr>The gold standard: Version control systems</vt:lpstr>
      <vt:lpstr>PowerPoint Presentation</vt:lpstr>
      <vt:lpstr>GIT workflow</vt:lpstr>
      <vt:lpstr>GIT workflow</vt:lpstr>
      <vt:lpstr>GIT workflow</vt:lpstr>
      <vt:lpstr>GIT workflow</vt:lpstr>
      <vt:lpstr>GIT workflow</vt:lpstr>
      <vt:lpstr>Outline</vt:lpstr>
      <vt:lpstr>Getting started – Our case of study</vt:lpstr>
      <vt:lpstr>Step 1: Create folder and file </vt:lpstr>
      <vt:lpstr>Step 2: Create a new repository</vt:lpstr>
      <vt:lpstr>Step 3: Track the file history</vt:lpstr>
      <vt:lpstr>Step 4: Commit the file</vt:lpstr>
      <vt:lpstr>Step 5: Check the new history</vt:lpstr>
      <vt:lpstr>Step 6: Make, check and commit modifications </vt:lpstr>
      <vt:lpstr>More features: stash and reset</vt:lpstr>
      <vt:lpstr>Outline</vt:lpstr>
      <vt:lpstr>GIT core: The working tree</vt:lpstr>
      <vt:lpstr>GIT core: The working tree</vt:lpstr>
      <vt:lpstr>Moving through the working tree</vt:lpstr>
      <vt:lpstr>Branching </vt:lpstr>
      <vt:lpstr>Create new branches </vt:lpstr>
      <vt:lpstr>Navigate between branches</vt:lpstr>
      <vt:lpstr>Merging branches</vt:lpstr>
      <vt:lpstr>Merging branches</vt:lpstr>
      <vt:lpstr>Steps to reproduce Scenario 1</vt:lpstr>
      <vt:lpstr>Managing scenario 2</vt:lpstr>
      <vt:lpstr>Managing scenario 2</vt:lpstr>
      <vt:lpstr>Managing scenario 2</vt:lpstr>
      <vt:lpstr>Steps to reproduce Scenario 2</vt:lpstr>
      <vt:lpstr>Outline</vt:lpstr>
      <vt:lpstr>Remote repositories</vt:lpstr>
      <vt:lpstr>Step 1: Setup a remote repository</vt:lpstr>
      <vt:lpstr>Step 1: Setup a remote repository</vt:lpstr>
      <vt:lpstr>Step 2: Connect the local repository</vt:lpstr>
      <vt:lpstr>Interacting with the remote repository</vt:lpstr>
      <vt:lpstr>Best practices</vt:lpstr>
      <vt:lpstr>Many more things…</vt:lpstr>
      <vt:lpstr>Outline</vt:lpstr>
      <vt:lpstr>Homework</vt:lpstr>
      <vt:lpstr>Outline</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Martina</dc:creator>
  <cp:lastModifiedBy>Giacomo Cappon</cp:lastModifiedBy>
  <cp:revision>117</cp:revision>
  <dcterms:created xsi:type="dcterms:W3CDTF">2021-07-19T09:08:13Z</dcterms:created>
  <dcterms:modified xsi:type="dcterms:W3CDTF">2026-02-04T15:46:54Z</dcterms:modified>
</cp:coreProperties>
</file>