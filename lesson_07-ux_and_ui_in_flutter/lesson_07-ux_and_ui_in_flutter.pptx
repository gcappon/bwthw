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340" r:id="rId3"/>
    <p:sldId id="416" r:id="rId4"/>
    <p:sldId id="385" r:id="rId5"/>
    <p:sldId id="417" r:id="rId6"/>
    <p:sldId id="418" r:id="rId7"/>
    <p:sldId id="419" r:id="rId8"/>
    <p:sldId id="420" r:id="rId9"/>
    <p:sldId id="421" r:id="rId10"/>
    <p:sldId id="389" r:id="rId11"/>
    <p:sldId id="422" r:id="rId12"/>
    <p:sldId id="391" r:id="rId13"/>
    <p:sldId id="423" r:id="rId14"/>
    <p:sldId id="424" r:id="rId15"/>
    <p:sldId id="425" r:id="rId16"/>
    <p:sldId id="426" r:id="rId17"/>
    <p:sldId id="427" r:id="rId18"/>
    <p:sldId id="428" r:id="rId19"/>
    <p:sldId id="436" r:id="rId20"/>
    <p:sldId id="429" r:id="rId21"/>
    <p:sldId id="330" r:id="rId22"/>
    <p:sldId id="332" r:id="rId23"/>
    <p:sldId id="333" r:id="rId24"/>
    <p:sldId id="334" r:id="rId25"/>
    <p:sldId id="342" r:id="rId26"/>
    <p:sldId id="343" r:id="rId27"/>
    <p:sldId id="335" r:id="rId28"/>
    <p:sldId id="336" r:id="rId29"/>
    <p:sldId id="337" r:id="rId30"/>
    <p:sldId id="339" r:id="rId31"/>
    <p:sldId id="430" r:id="rId32"/>
    <p:sldId id="341" r:id="rId33"/>
    <p:sldId id="431" r:id="rId34"/>
    <p:sldId id="432" r:id="rId35"/>
    <p:sldId id="434" r:id="rId36"/>
    <p:sldId id="435" r:id="rId37"/>
    <p:sldId id="345" r:id="rId38"/>
    <p:sldId id="34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Stile chiaro 1 - Color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06" autoAdjust="0"/>
    <p:restoredTop sz="94660"/>
  </p:normalViewPr>
  <p:slideViewPr>
    <p:cSldViewPr snapToGrid="0">
      <p:cViewPr varScale="1">
        <p:scale>
          <a:sx n="205" d="100"/>
          <a:sy n="205" d="100"/>
        </p:scale>
        <p:origin x="19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090E0-FB0C-49E9-9864-9F53EABEA96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9C82F-DE94-4CA4-8B4D-F0EAC95D82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09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76175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35834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41269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77959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20130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82916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40308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9969348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414091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249357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263490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283258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768918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34182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  <a:cs typeface="Aparajita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  <a:cs typeface="Aparajita" panose="020B06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  <a:cs typeface="Aparajita" panose="020B06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  <a:cs typeface="Aparajita" panose="020B06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  <a:cs typeface="Aparajita" panose="020B06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  <a:cs typeface="Aparajita" panose="020B06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  <a:cs typeface="Aparajita" panose="020B06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  <a:cs typeface="Aparajita" panose="020B06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  <a:cs typeface="Aparajita" panose="020B06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  <a:cs typeface="Aparajita" panose="020B06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  <a:cs typeface="Aparajita" panose="020B06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10050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  <a:cs typeface="Aparajita" panose="020B0604020202020204" pitchFamily="34" charset="0"/>
              </a:rPr>
              <a:t>A.Y. 2025-2026</a:t>
            </a:r>
          </a:p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  <a:cs typeface="Aparajita" panose="020B0604020202020204" pitchFamily="34" charset="0"/>
              </a:rPr>
              <a:t>Giacomo Cappon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Aparajita" panose="020B0604020202020204" pitchFamily="34" charset="0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Aparajita" panose="020B0604020202020204" pitchFamily="34" charset="0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Aparajita" panose="020B0604020202020204" pitchFamily="34" charset="0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Aparajita" panose="020B0604020202020204" pitchFamily="34" charset="0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Aparajita" panose="020B0604020202020204" pitchFamily="34" charset="0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Aparajita" panose="020B0604020202020204" pitchFamily="34" charset="0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  <a:cs typeface="Aparajita" panose="020B06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m3.material.io/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flutter.dev/flutter/material/Scaffold-class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flutter.dev/flutter/widgets/ListView-class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ttotitolo 1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679294" cy="1570716"/>
          </a:xfrm>
        </p:spPr>
        <p:txBody>
          <a:bodyPr/>
          <a:lstStyle/>
          <a:p>
            <a:r>
              <a:rPr lang="en-US" dirty="0"/>
              <a:t>UX and UI in Flutter</a:t>
            </a:r>
          </a:p>
        </p:txBody>
      </p:sp>
    </p:spTree>
    <p:extLst>
      <p:ext uri="{BB962C8B-B14F-4D97-AF65-F5344CB8AC3E}">
        <p14:creationId xmlns:p14="http://schemas.microsoft.com/office/powerpoint/2010/main" val="4068185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User </a:t>
            </a:r>
            <a:r>
              <a:rPr lang="it-IT" dirty="0" err="1"/>
              <a:t>eXperience</a:t>
            </a:r>
            <a:r>
              <a:rPr lang="it-IT" dirty="0"/>
              <a:t> (UX)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8680202" cy="509926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UX</a:t>
            </a:r>
            <a:r>
              <a:rPr lang="en-US" dirty="0"/>
              <a:t> (User </a:t>
            </a:r>
            <a:r>
              <a:rPr lang="en-US" dirty="0" err="1"/>
              <a:t>eXperience</a:t>
            </a:r>
            <a:r>
              <a:rPr lang="en-US" dirty="0"/>
              <a:t>) is the </a:t>
            </a:r>
            <a:r>
              <a:rPr lang="en-US" b="1" dirty="0"/>
              <a:t>total experience</a:t>
            </a:r>
            <a:r>
              <a:rPr lang="en-US" dirty="0"/>
              <a:t> a person has while interacting with a product.</a:t>
            </a:r>
          </a:p>
          <a:p>
            <a:endParaRPr lang="en-US" dirty="0"/>
          </a:p>
          <a:p>
            <a:r>
              <a:rPr lang="en-US" dirty="0"/>
              <a:t>It includes perception, emotional response, efficiency, clarity, friction, trust.</a:t>
            </a:r>
          </a:p>
          <a:p>
            <a:pPr lvl="1"/>
            <a:endParaRPr lang="en-US" dirty="0"/>
          </a:p>
          <a:p>
            <a:r>
              <a:rPr lang="en-US" dirty="0"/>
              <a:t>UX is not just screens. UX is the entire journey.</a:t>
            </a:r>
          </a:p>
          <a:p>
            <a:endParaRPr lang="en-US" dirty="0"/>
          </a:p>
          <a:p>
            <a:r>
              <a:rPr lang="en-US" dirty="0"/>
              <a:t>When UX is ok? You should ask yourself:</a:t>
            </a:r>
          </a:p>
          <a:p>
            <a:pPr lvl="1"/>
            <a:r>
              <a:rPr lang="en-US" dirty="0"/>
              <a:t>Does the product solve a real problem?</a:t>
            </a:r>
          </a:p>
          <a:p>
            <a:pPr lvl="1"/>
            <a:r>
              <a:rPr lang="en-US" dirty="0"/>
              <a:t>Is the user goal clear?</a:t>
            </a:r>
          </a:p>
          <a:p>
            <a:pPr lvl="1"/>
            <a:r>
              <a:rPr lang="en-US" dirty="0"/>
              <a:t>Is the path to that goal obvious?</a:t>
            </a:r>
          </a:p>
          <a:p>
            <a:pPr lvl="1"/>
            <a:r>
              <a:rPr lang="en-US" dirty="0"/>
              <a:t>Does the system behave predictably?</a:t>
            </a:r>
          </a:p>
          <a:p>
            <a:pPr lvl="1"/>
            <a:r>
              <a:rPr lang="en-US" dirty="0"/>
              <a:t>Is error handling supportive?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  <p:pic>
        <p:nvPicPr>
          <p:cNvPr id="8" name="Picture 7" descr="A computer and a phone&#10;&#10;AI-generated content may be incorrect.">
            <a:extLst>
              <a:ext uri="{FF2B5EF4-FFF2-40B4-BE49-F238E27FC236}">
                <a16:creationId xmlns:a16="http://schemas.microsoft.com/office/drawing/2014/main" id="{9C848401-4CE2-C371-A2FD-52DB16240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116" y="3429000"/>
            <a:ext cx="2790370" cy="279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513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672E0-11AC-7F5D-4625-2DD9E5434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7BF919-D2A1-AAE2-9508-F73BF81A5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User Interface (UI)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6039486-5454-E917-F3C6-BC628114C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8680202" cy="5099268"/>
          </a:xfrm>
        </p:spPr>
        <p:txBody>
          <a:bodyPr>
            <a:normAutofit/>
          </a:bodyPr>
          <a:lstStyle/>
          <a:p>
            <a:r>
              <a:rPr lang="en-US" b="1" dirty="0"/>
              <a:t>UI</a:t>
            </a:r>
            <a:r>
              <a:rPr lang="en-US" dirty="0"/>
              <a:t> (User Interface) is the </a:t>
            </a:r>
            <a:r>
              <a:rPr lang="en-US" b="1" dirty="0"/>
              <a:t>visual and interactive layer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It includes typography, color, layout, spacing, components, animations,…</a:t>
            </a:r>
          </a:p>
          <a:p>
            <a:pPr lvl="1"/>
            <a:endParaRPr lang="en-US" dirty="0"/>
          </a:p>
          <a:p>
            <a:r>
              <a:rPr lang="en-US" dirty="0"/>
              <a:t>What is the difference between UX and UI?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8CB2313-649E-D759-1050-B0990FAD1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/>
          </a:p>
        </p:txBody>
      </p:sp>
      <p:pic>
        <p:nvPicPr>
          <p:cNvPr id="8" name="Picture 7" descr="A computer and a phone&#10;&#10;AI-generated content may be incorrect.">
            <a:extLst>
              <a:ext uri="{FF2B5EF4-FFF2-40B4-BE49-F238E27FC236}">
                <a16:creationId xmlns:a16="http://schemas.microsoft.com/office/drawing/2014/main" id="{70AE3378-3A0F-2C95-5476-4D8967BAE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116" y="3429000"/>
            <a:ext cx="2790370" cy="279037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E97279-8E31-E73E-E744-EE57713C197D}"/>
              </a:ext>
            </a:extLst>
          </p:cNvPr>
          <p:cNvSpPr/>
          <p:nvPr/>
        </p:nvSpPr>
        <p:spPr>
          <a:xfrm>
            <a:off x="2298801" y="4637916"/>
            <a:ext cx="4938944" cy="130202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ptos" panose="020B0004020202020204" pitchFamily="34" charset="0"/>
              </a:rPr>
              <a:t>UI </a:t>
            </a:r>
            <a:r>
              <a:rPr lang="en-US" sz="2800" b="1" dirty="0">
                <a:latin typeface="Aptos" panose="020B0004020202020204" pitchFamily="34" charset="0"/>
              </a:rPr>
              <a:t>communicates</a:t>
            </a:r>
            <a:r>
              <a:rPr lang="en-US" sz="2800" dirty="0">
                <a:latin typeface="Aptos" panose="020B0004020202020204" pitchFamily="34" charset="0"/>
              </a:rPr>
              <a:t> structure. UX </a:t>
            </a:r>
            <a:r>
              <a:rPr lang="en-US" sz="2800" b="1" dirty="0">
                <a:latin typeface="Aptos" panose="020B0004020202020204" pitchFamily="34" charset="0"/>
              </a:rPr>
              <a:t>defines</a:t>
            </a:r>
            <a:r>
              <a:rPr lang="en-US" sz="2800" dirty="0">
                <a:latin typeface="Aptos" panose="020B0004020202020204" pitchFamily="34" charset="0"/>
              </a:rPr>
              <a:t> structure.</a:t>
            </a:r>
          </a:p>
        </p:txBody>
      </p:sp>
    </p:spTree>
    <p:extLst>
      <p:ext uri="{BB962C8B-B14F-4D97-AF65-F5344CB8AC3E}">
        <p14:creationId xmlns:p14="http://schemas.microsoft.com/office/powerpoint/2010/main" val="2471002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FFDF1-2768-92EC-372B-622955FCB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C8EF81-C046-ECD6-C178-D2FC58B58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Fundamental</a:t>
            </a:r>
            <a:r>
              <a:rPr lang="it-IT" dirty="0"/>
              <a:t> UX </a:t>
            </a:r>
            <a:r>
              <a:rPr lang="it-IT" dirty="0" err="1"/>
              <a:t>Principles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40C084-3E22-2874-2397-5BB2B2F20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429" y="1344102"/>
            <a:ext cx="8680202" cy="5116334"/>
          </a:xfrm>
        </p:spPr>
        <p:txBody>
          <a:bodyPr>
            <a:normAutofit/>
          </a:bodyPr>
          <a:lstStyle/>
          <a:p>
            <a:r>
              <a:rPr lang="it-IT" dirty="0"/>
              <a:t>UX grounds on </a:t>
            </a:r>
            <a:r>
              <a:rPr lang="it-IT" b="1" dirty="0" err="1"/>
              <a:t>five</a:t>
            </a:r>
            <a:r>
              <a:rPr lang="it-IT" dirty="0"/>
              <a:t> </a:t>
            </a:r>
            <a:r>
              <a:rPr lang="it-IT" dirty="0" err="1"/>
              <a:t>principles</a:t>
            </a:r>
            <a:r>
              <a:rPr lang="it-IT" dirty="0"/>
              <a:t>:</a:t>
            </a:r>
          </a:p>
          <a:p>
            <a:endParaRPr lang="it-IT" dirty="0"/>
          </a:p>
          <a:p>
            <a:pPr lvl="1"/>
            <a:r>
              <a:rPr lang="it-IT" dirty="0"/>
              <a:t>Visual </a:t>
            </a:r>
            <a:r>
              <a:rPr lang="it-IT" dirty="0" err="1"/>
              <a:t>Hierarchy</a:t>
            </a:r>
            <a:r>
              <a:rPr lang="it-IT" dirty="0"/>
              <a:t> </a:t>
            </a:r>
          </a:p>
          <a:p>
            <a:pPr lvl="1"/>
            <a:endParaRPr lang="it-IT" dirty="0"/>
          </a:p>
          <a:p>
            <a:pPr lvl="1"/>
            <a:r>
              <a:rPr lang="it-IT" dirty="0" err="1"/>
              <a:t>Consistency</a:t>
            </a:r>
            <a:r>
              <a:rPr lang="it-IT" dirty="0"/>
              <a:t> </a:t>
            </a:r>
          </a:p>
          <a:p>
            <a:pPr lvl="1"/>
            <a:endParaRPr lang="it-IT" dirty="0"/>
          </a:p>
          <a:p>
            <a:pPr lvl="1"/>
            <a:r>
              <a:rPr lang="it-IT" dirty="0"/>
              <a:t>Feedback</a:t>
            </a:r>
          </a:p>
          <a:p>
            <a:pPr lvl="1"/>
            <a:endParaRPr lang="it-IT" dirty="0"/>
          </a:p>
          <a:p>
            <a:pPr lvl="1"/>
            <a:r>
              <a:rPr lang="it-IT" dirty="0"/>
              <a:t>Cognitive Load</a:t>
            </a:r>
          </a:p>
          <a:p>
            <a:pPr lvl="1"/>
            <a:endParaRPr lang="it-IT" dirty="0"/>
          </a:p>
          <a:p>
            <a:pPr lvl="1"/>
            <a:r>
              <a:rPr lang="it-IT" dirty="0"/>
              <a:t>Accessibility </a:t>
            </a:r>
          </a:p>
          <a:p>
            <a:pPr lvl="1"/>
            <a:endParaRPr lang="it-IT" dirty="0"/>
          </a:p>
          <a:p>
            <a:r>
              <a:rPr lang="en-US" dirty="0"/>
              <a:t>These apply whether you build a website, mobile app, medical device, or car dashboard.</a:t>
            </a:r>
            <a:endParaRPr lang="it-IT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604E453-75A0-BA6F-4DC4-5C8BFB0B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/>
          </a:p>
        </p:txBody>
      </p:sp>
      <p:pic>
        <p:nvPicPr>
          <p:cNvPr id="7" name="Picture 6" descr="A cartoon of a document with a shield&#10;&#10;Description automatically generated">
            <a:extLst>
              <a:ext uri="{FF2B5EF4-FFF2-40B4-BE49-F238E27FC236}">
                <a16:creationId xmlns:a16="http://schemas.microsoft.com/office/drawing/2014/main" id="{45D03E08-3F8E-2D19-DE3E-64B16DF3A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543" y="4455000"/>
            <a:ext cx="1579418" cy="157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021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BAEA8-FC3C-653A-6025-22FA055DA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A54CB5-9786-E415-6BB9-6708FD810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Visual </a:t>
            </a:r>
            <a:r>
              <a:rPr lang="it-IT" dirty="0" err="1"/>
              <a:t>Hierarchy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727FA7-7013-C976-D526-315C7437D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429" y="1344102"/>
            <a:ext cx="8680202" cy="511633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Users scan. They do not read linearly.</a:t>
            </a:r>
          </a:p>
          <a:p>
            <a:endParaRPr lang="en-US" dirty="0"/>
          </a:p>
          <a:p>
            <a:r>
              <a:rPr lang="en-US" dirty="0"/>
              <a:t>Hierarchy answers:</a:t>
            </a:r>
          </a:p>
          <a:p>
            <a:pPr lvl="1"/>
            <a:r>
              <a:rPr lang="en-US" dirty="0"/>
              <a:t>What matters most?</a:t>
            </a:r>
          </a:p>
          <a:p>
            <a:pPr lvl="1"/>
            <a:r>
              <a:rPr lang="en-US" dirty="0"/>
              <a:t>What is actionable?</a:t>
            </a:r>
          </a:p>
          <a:p>
            <a:pPr lvl="1"/>
            <a:r>
              <a:rPr lang="en-US" dirty="0"/>
              <a:t>What is secondary?</a:t>
            </a:r>
          </a:p>
          <a:p>
            <a:pPr lvl="1"/>
            <a:endParaRPr lang="en-US" dirty="0"/>
          </a:p>
          <a:p>
            <a:r>
              <a:rPr lang="en-US" dirty="0"/>
              <a:t>Tools in our hands:</a:t>
            </a:r>
          </a:p>
          <a:p>
            <a:pPr lvl="1"/>
            <a:r>
              <a:rPr lang="en-US" dirty="0"/>
              <a:t>Setting the size of each component</a:t>
            </a:r>
          </a:p>
          <a:p>
            <a:pPr lvl="1"/>
            <a:r>
              <a:rPr lang="en-US" dirty="0"/>
              <a:t>Setting the contrast</a:t>
            </a:r>
          </a:p>
          <a:p>
            <a:pPr lvl="1"/>
            <a:r>
              <a:rPr lang="en-US" dirty="0"/>
              <a:t>Defining spacing</a:t>
            </a:r>
          </a:p>
          <a:p>
            <a:pPr lvl="1"/>
            <a:r>
              <a:rPr lang="en-US" dirty="0"/>
              <a:t>Setup and alignment policy</a:t>
            </a:r>
          </a:p>
          <a:p>
            <a:pPr lvl="1"/>
            <a:r>
              <a:rPr lang="en-US" dirty="0"/>
              <a:t>Grouping stuff together</a:t>
            </a:r>
          </a:p>
          <a:p>
            <a:pPr lvl="1"/>
            <a:endParaRPr lang="en-US" dirty="0"/>
          </a:p>
          <a:p>
            <a:r>
              <a:rPr lang="en-US" dirty="0"/>
              <a:t>If everything is bold, nothing is bold.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6937B4A-B783-BD24-E57B-57D335EB9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C5E896-5EE7-B0EE-DFC4-D5C871323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894" y="2063214"/>
            <a:ext cx="6135412" cy="325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645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613BA-EE5F-B2AC-242F-AB33C1755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D8A39D-02EA-8254-7245-3A983823C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Consistency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57345B-D67B-6BD1-1E89-87F585DA7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429" y="1344102"/>
            <a:ext cx="8680202" cy="5116334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Humans recognize patterns.</a:t>
            </a:r>
          </a:p>
          <a:p>
            <a:endParaRPr lang="en-US" dirty="0"/>
          </a:p>
          <a:p>
            <a:r>
              <a:rPr lang="en-US" dirty="0"/>
              <a:t>If</a:t>
            </a:r>
          </a:p>
          <a:p>
            <a:pPr lvl="1"/>
            <a:r>
              <a:rPr lang="en-US" dirty="0"/>
              <a:t>Buttons look different each time</a:t>
            </a:r>
          </a:p>
          <a:p>
            <a:pPr lvl="1"/>
            <a:r>
              <a:rPr lang="en-US" dirty="0"/>
              <a:t>Navigation changes unpredictably</a:t>
            </a:r>
          </a:p>
          <a:p>
            <a:pPr lvl="1"/>
            <a:r>
              <a:rPr lang="en-US" dirty="0"/>
              <a:t>Terminology varies</a:t>
            </a:r>
          </a:p>
          <a:p>
            <a:pPr marL="0" indent="0">
              <a:buNone/>
            </a:pPr>
            <a:r>
              <a:rPr lang="en-US" dirty="0"/>
              <a:t>then, the cognitive load increases.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Consistency builds confidence.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9E89E6C-B0EA-65D7-845A-965CD58ED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783B5D-5C40-594C-DE6C-0281F6B5C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889" y="1843135"/>
            <a:ext cx="5907597" cy="369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266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AA71E-02BA-1715-A8EC-B31AD6BA3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218A46-2C6C-0BCC-9109-EB60C779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Feedback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C692E45-CD36-10D2-A4E3-FC429C0CA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551" y="1514350"/>
            <a:ext cx="8680202" cy="3829297"/>
          </a:xfrm>
        </p:spPr>
        <p:txBody>
          <a:bodyPr>
            <a:normAutofit/>
          </a:bodyPr>
          <a:lstStyle/>
          <a:p>
            <a:r>
              <a:rPr lang="en-US" dirty="0"/>
              <a:t>Every action must produce feedback.</a:t>
            </a:r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Button press animation</a:t>
            </a:r>
          </a:p>
          <a:p>
            <a:pPr lvl="1"/>
            <a:r>
              <a:rPr lang="en-US" dirty="0"/>
              <a:t>Loading indicator</a:t>
            </a:r>
          </a:p>
          <a:p>
            <a:pPr lvl="1"/>
            <a:r>
              <a:rPr lang="en-US" dirty="0"/>
              <a:t>Error message</a:t>
            </a:r>
          </a:p>
          <a:p>
            <a:pPr lvl="1"/>
            <a:r>
              <a:rPr lang="en-US" dirty="0"/>
              <a:t>Success confirmation</a:t>
            </a:r>
          </a:p>
          <a:p>
            <a:pPr lvl="1"/>
            <a:endParaRPr lang="en-US" dirty="0"/>
          </a:p>
          <a:p>
            <a:r>
              <a:rPr lang="en-US" dirty="0"/>
              <a:t>No feedback = anxiety. Did it worked?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011D9EB-F16E-A5F8-4C4B-2EA96FA9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87F8D1-E9B5-10E6-E5C0-297DD88CE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386" y="1448962"/>
            <a:ext cx="5280100" cy="396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6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06DDE-E030-9225-48D2-1C518FB38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DAE86D-CCC9-0907-109C-4CECE5DB0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Cognitive Load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BD256B-0EE0-3EFE-823B-DA0AD4B0C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33" y="1955781"/>
            <a:ext cx="8680202" cy="3829297"/>
          </a:xfrm>
        </p:spPr>
        <p:txBody>
          <a:bodyPr>
            <a:normAutofit/>
          </a:bodyPr>
          <a:lstStyle/>
          <a:p>
            <a:r>
              <a:rPr lang="en-US" dirty="0"/>
              <a:t>Cognitive load = Mental effort and stress</a:t>
            </a:r>
          </a:p>
          <a:p>
            <a:endParaRPr lang="en-US" dirty="0"/>
          </a:p>
          <a:p>
            <a:r>
              <a:rPr lang="en-US" dirty="0"/>
              <a:t>Cognitive load increases when:</a:t>
            </a:r>
          </a:p>
          <a:p>
            <a:pPr lvl="1"/>
            <a:r>
              <a:rPr lang="en-US" dirty="0"/>
              <a:t>Too many options exist</a:t>
            </a:r>
          </a:p>
          <a:p>
            <a:pPr lvl="1"/>
            <a:r>
              <a:rPr lang="en-US" dirty="0"/>
              <a:t>Too much information is visible</a:t>
            </a:r>
          </a:p>
          <a:p>
            <a:pPr lvl="1"/>
            <a:r>
              <a:rPr lang="en-US" dirty="0"/>
              <a:t>Terminology is complex</a:t>
            </a:r>
          </a:p>
          <a:p>
            <a:pPr lvl="1"/>
            <a:r>
              <a:rPr lang="en-US" dirty="0"/>
              <a:t>Interaction patterns vary</a:t>
            </a:r>
          </a:p>
          <a:p>
            <a:endParaRPr lang="en-US" dirty="0"/>
          </a:p>
          <a:p>
            <a:r>
              <a:rPr lang="en-US" dirty="0"/>
              <a:t>Goal: reduce thinking.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21D1BD1-15B7-C23C-6C7E-19CA1F5C9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/>
          </a:p>
        </p:txBody>
      </p:sp>
      <p:pic>
        <p:nvPicPr>
          <p:cNvPr id="7" name="Picture 6" descr="A head with a brain and a gear&#10;&#10;AI-generated content may be incorrect.">
            <a:extLst>
              <a:ext uri="{FF2B5EF4-FFF2-40B4-BE49-F238E27FC236}">
                <a16:creationId xmlns:a16="http://schemas.microsoft.com/office/drawing/2014/main" id="{1042F811-CE8C-75F9-3D88-9DFCD9376C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867" y="2085619"/>
            <a:ext cx="3569619" cy="356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613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1CF5A-CB0D-EAF3-76D9-3ADDAE697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B3D13E-7339-3B92-7210-F333EE63C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Accessibility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5B5F7F4-2EF1-DC36-2E8F-440184071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33" y="1955781"/>
            <a:ext cx="8680202" cy="3829297"/>
          </a:xfrm>
        </p:spPr>
        <p:txBody>
          <a:bodyPr>
            <a:normAutofit/>
          </a:bodyPr>
          <a:lstStyle/>
          <a:p>
            <a:r>
              <a:rPr lang="en-US" dirty="0"/>
              <a:t>Accessibility means:</a:t>
            </a:r>
          </a:p>
          <a:p>
            <a:endParaRPr lang="en-US" dirty="0"/>
          </a:p>
          <a:p>
            <a:pPr lvl="1"/>
            <a:r>
              <a:rPr lang="en-US" dirty="0"/>
              <a:t>Readable contrast</a:t>
            </a:r>
          </a:p>
          <a:p>
            <a:pPr lvl="1"/>
            <a:r>
              <a:rPr lang="en-US" dirty="0"/>
              <a:t>Scalable text</a:t>
            </a:r>
          </a:p>
          <a:p>
            <a:pPr lvl="1"/>
            <a:r>
              <a:rPr lang="en-US" dirty="0"/>
              <a:t>Clear semantics</a:t>
            </a:r>
          </a:p>
          <a:p>
            <a:pPr lvl="1"/>
            <a:r>
              <a:rPr lang="en-US" dirty="0"/>
              <a:t>Usable with assistive technologies</a:t>
            </a:r>
          </a:p>
          <a:p>
            <a:pPr lvl="1"/>
            <a:endParaRPr lang="en-US" dirty="0"/>
          </a:p>
          <a:p>
            <a:r>
              <a:rPr lang="en-US" dirty="0"/>
              <a:t>Accessibility is not a feature. It is a quality standard.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FFD2AE9-FA19-FD26-E4AE-43BCEA63D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9</a:t>
            </a:fld>
            <a:endParaRPr lang="en-GB"/>
          </a:p>
        </p:txBody>
      </p:sp>
      <p:pic>
        <p:nvPicPr>
          <p:cNvPr id="6" name="Picture 5" descr="A blue and white circle with a person in it&#10;&#10;AI-generated content may be incorrect.">
            <a:extLst>
              <a:ext uri="{FF2B5EF4-FFF2-40B4-BE49-F238E27FC236}">
                <a16:creationId xmlns:a16="http://schemas.microsoft.com/office/drawing/2014/main" id="{C0FB605A-AA52-D1F1-6016-D5D4B312A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119" y="1835426"/>
            <a:ext cx="3187148" cy="318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751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C8ACA-AF5B-6470-2923-0B04EC8E0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EFFFEF-332C-BDD8-F2A3-3087E3560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Design Systems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295082-8E27-C70B-E89A-C695128AD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3" y="1441049"/>
            <a:ext cx="6952829" cy="511877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design system </a:t>
            </a:r>
            <a:r>
              <a:rPr lang="en-US" dirty="0"/>
              <a:t>is a comprehensive, centralized repository of reusable components, standards, documentation, and design principles used to create consistent digital products at scale.</a:t>
            </a:r>
          </a:p>
          <a:p>
            <a:endParaRPr lang="en-US" dirty="0"/>
          </a:p>
          <a:p>
            <a:r>
              <a:rPr lang="en-US" dirty="0"/>
              <a:t>It prevents:</a:t>
            </a:r>
          </a:p>
          <a:p>
            <a:pPr lvl="1"/>
            <a:r>
              <a:rPr lang="en-US" dirty="0"/>
              <a:t>Random design decisions</a:t>
            </a:r>
          </a:p>
          <a:p>
            <a:pPr lvl="1"/>
            <a:r>
              <a:rPr lang="en-US" dirty="0"/>
              <a:t>Visual inconsistency</a:t>
            </a:r>
          </a:p>
          <a:p>
            <a:pPr lvl="1"/>
            <a:r>
              <a:rPr lang="en-US" dirty="0"/>
              <a:t>Scaling problems</a:t>
            </a:r>
          </a:p>
          <a:p>
            <a:pPr lvl="1"/>
            <a:endParaRPr lang="en-US" dirty="0"/>
          </a:p>
          <a:p>
            <a:r>
              <a:rPr lang="en-US" dirty="0"/>
              <a:t>Examples of design systems:</a:t>
            </a:r>
          </a:p>
          <a:p>
            <a:pPr lvl="1"/>
            <a:r>
              <a:rPr lang="en-US" dirty="0"/>
              <a:t>Apple Human Interface Guidelines</a:t>
            </a:r>
          </a:p>
          <a:p>
            <a:pPr lvl="1"/>
            <a:r>
              <a:rPr lang="en-US" dirty="0"/>
              <a:t>Microsoft Fluent</a:t>
            </a:r>
          </a:p>
          <a:p>
            <a:pPr lvl="1"/>
            <a:r>
              <a:rPr lang="en-US" u="sng" dirty="0"/>
              <a:t>Material Design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003339F-F9D1-A529-9C6F-84EB8169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10</a:t>
            </a:fld>
            <a:endParaRPr lang="en-GB"/>
          </a:p>
        </p:txBody>
      </p:sp>
      <p:pic>
        <p:nvPicPr>
          <p:cNvPr id="6" name="Picture 5" descr="A computer screen with gears and a phone&#10;&#10;AI-generated content may be incorrect.">
            <a:extLst>
              <a:ext uri="{FF2B5EF4-FFF2-40B4-BE49-F238E27FC236}">
                <a16:creationId xmlns:a16="http://schemas.microsoft.com/office/drawing/2014/main" id="{8DD03ED8-3B62-91E4-CEA8-A65583AE4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9057" y="1777536"/>
            <a:ext cx="3823447" cy="382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83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82016-91BD-F3B7-819A-96D7F51A0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5C40CD-2F48-269E-C504-A6F70D953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Material</a:t>
            </a:r>
            <a:r>
              <a:rPr lang="it-IT" dirty="0"/>
              <a:t> Design</a:t>
            </a:r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B74FB26-DB3A-103D-920B-74968BBBF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11</a:t>
            </a:fld>
            <a:endParaRPr lang="en-GB"/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9DD7B8AF-4DC3-474D-5DBB-F1164E5082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57" y="1887401"/>
            <a:ext cx="11796486" cy="368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80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9D2F4-0405-6390-147F-A31B2DD9C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8C7979-3CDA-DACE-C260-2E8051057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Material</a:t>
            </a:r>
            <a:r>
              <a:rPr lang="it-IT" dirty="0"/>
              <a:t> Design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410CA4E-DAF4-0FFF-6D2A-40A5A8350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50"/>
            <a:ext cx="8680202" cy="5059142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Material Design is not “Google style.”</a:t>
            </a:r>
          </a:p>
          <a:p>
            <a:r>
              <a:rPr lang="en-US" sz="2800" dirty="0"/>
              <a:t>It is a </a:t>
            </a:r>
            <a:r>
              <a:rPr lang="en-US" sz="2800" b="1" dirty="0"/>
              <a:t>UX framework encoded into UI rules.</a:t>
            </a:r>
            <a:endParaRPr lang="it-IT" b="1" dirty="0"/>
          </a:p>
          <a:p>
            <a:endParaRPr lang="it-IT" sz="2800" dirty="0"/>
          </a:p>
          <a:p>
            <a:r>
              <a:rPr lang="it-IT" sz="2800" dirty="0"/>
              <a:t>Core </a:t>
            </a:r>
            <a:r>
              <a:rPr lang="it-IT" sz="2800" b="1" dirty="0" err="1"/>
              <a:t>ideas</a:t>
            </a:r>
            <a:r>
              <a:rPr lang="it-IT" sz="2800" dirty="0"/>
              <a:t>:</a:t>
            </a:r>
          </a:p>
          <a:p>
            <a:pPr lvl="1"/>
            <a:r>
              <a:rPr lang="it-IT" sz="2400" i="1" dirty="0" err="1"/>
              <a:t>Structure</a:t>
            </a:r>
            <a:r>
              <a:rPr lang="it-IT" sz="2400" i="1" dirty="0"/>
              <a:t> </a:t>
            </a:r>
            <a:r>
              <a:rPr lang="it-IT" sz="2400" i="1" dirty="0" err="1"/>
              <a:t>through</a:t>
            </a:r>
            <a:r>
              <a:rPr lang="it-IT" sz="2400" i="1" dirty="0"/>
              <a:t> </a:t>
            </a:r>
            <a:r>
              <a:rPr lang="it-IT" sz="2400" i="1" dirty="0" err="1"/>
              <a:t>surfaces</a:t>
            </a:r>
            <a:r>
              <a:rPr lang="it-IT" sz="2400" dirty="0"/>
              <a:t>: </a:t>
            </a:r>
            <a:r>
              <a:rPr lang="it-IT" sz="2400" dirty="0" err="1"/>
              <a:t>organizing</a:t>
            </a:r>
            <a:r>
              <a:rPr lang="it-IT" sz="2400" dirty="0"/>
              <a:t> UI </a:t>
            </a:r>
            <a:r>
              <a:rPr lang="it-IT" sz="2400" dirty="0" err="1"/>
              <a:t>into</a:t>
            </a:r>
            <a:r>
              <a:rPr lang="it-IT" sz="2400" dirty="0"/>
              <a:t> background, </a:t>
            </a:r>
            <a:r>
              <a:rPr lang="it-IT" sz="2400" dirty="0" err="1"/>
              <a:t>surfaces</a:t>
            </a:r>
            <a:r>
              <a:rPr lang="it-IT" sz="2400" dirty="0"/>
              <a:t>, and </a:t>
            </a:r>
            <a:r>
              <a:rPr lang="it-IT" sz="2400" dirty="0" err="1"/>
              <a:t>elevated</a:t>
            </a:r>
            <a:r>
              <a:rPr lang="it-IT" sz="2400" dirty="0"/>
              <a:t> </a:t>
            </a:r>
            <a:r>
              <a:rPr lang="it-IT" sz="2400" dirty="0" err="1"/>
              <a:t>components</a:t>
            </a:r>
            <a:r>
              <a:rPr lang="it-IT" sz="2400" dirty="0"/>
              <a:t> to create visual </a:t>
            </a:r>
            <a:r>
              <a:rPr lang="it-IT" sz="2400" dirty="0" err="1"/>
              <a:t>grouping</a:t>
            </a:r>
            <a:r>
              <a:rPr lang="it-IT" sz="2400" dirty="0"/>
              <a:t>. </a:t>
            </a:r>
          </a:p>
          <a:p>
            <a:pPr lvl="1"/>
            <a:r>
              <a:rPr lang="it-IT" sz="2400" i="1" dirty="0" err="1"/>
              <a:t>Meaningful</a:t>
            </a:r>
            <a:r>
              <a:rPr lang="it-IT" sz="2400" i="1" dirty="0"/>
              <a:t> </a:t>
            </a:r>
            <a:r>
              <a:rPr lang="it-IT" sz="2400" i="1" dirty="0" err="1"/>
              <a:t>motions</a:t>
            </a:r>
            <a:r>
              <a:rPr lang="it-IT" sz="2400" dirty="0"/>
              <a:t>: </a:t>
            </a:r>
            <a:r>
              <a:rPr lang="it-IT" sz="2400" dirty="0" err="1"/>
              <a:t>explaining</a:t>
            </a:r>
            <a:r>
              <a:rPr lang="it-IT" sz="2400" dirty="0"/>
              <a:t> </a:t>
            </a:r>
            <a:r>
              <a:rPr lang="it-IT" sz="2400" dirty="0" err="1"/>
              <a:t>what</a:t>
            </a:r>
            <a:r>
              <a:rPr lang="it-IT" sz="2400" dirty="0"/>
              <a:t> </a:t>
            </a:r>
            <a:r>
              <a:rPr lang="it-IT" sz="2400" dirty="0" err="1"/>
              <a:t>changed</a:t>
            </a:r>
            <a:r>
              <a:rPr lang="it-IT" sz="2400" dirty="0"/>
              <a:t>, </a:t>
            </a:r>
            <a:r>
              <a:rPr lang="it-IT" sz="2400" dirty="0" err="1"/>
              <a:t>where</a:t>
            </a:r>
            <a:r>
              <a:rPr lang="it-IT" sz="2400" dirty="0"/>
              <a:t> </a:t>
            </a:r>
            <a:r>
              <a:rPr lang="it-IT" sz="2400" dirty="0" err="1"/>
              <a:t>content</a:t>
            </a:r>
            <a:r>
              <a:rPr lang="it-IT" sz="2400" dirty="0"/>
              <a:t> </a:t>
            </a:r>
            <a:r>
              <a:rPr lang="it-IT" sz="2400" dirty="0" err="1"/>
              <a:t>came</a:t>
            </a:r>
            <a:r>
              <a:rPr lang="it-IT" sz="2400" dirty="0"/>
              <a:t> from, and </a:t>
            </a:r>
            <a:r>
              <a:rPr lang="it-IT" sz="2400" dirty="0" err="1"/>
              <a:t>what</a:t>
            </a:r>
            <a:r>
              <a:rPr lang="it-IT" sz="2400" dirty="0"/>
              <a:t> </a:t>
            </a:r>
            <a:r>
              <a:rPr lang="it-IT" sz="2400" dirty="0" err="1"/>
              <a:t>happened</a:t>
            </a:r>
            <a:r>
              <a:rPr lang="it-IT" sz="2400" dirty="0"/>
              <a:t>.</a:t>
            </a:r>
          </a:p>
          <a:p>
            <a:pPr lvl="1"/>
            <a:r>
              <a:rPr lang="it-IT" sz="2400" i="1" dirty="0"/>
              <a:t>Clear </a:t>
            </a:r>
            <a:r>
              <a:rPr lang="it-IT" sz="2400" i="1" dirty="0" err="1"/>
              <a:t>hierarchy</a:t>
            </a:r>
            <a:r>
              <a:rPr lang="it-IT" sz="2400" dirty="0"/>
              <a:t>: </a:t>
            </a:r>
            <a:r>
              <a:rPr lang="it-IT" sz="2400" dirty="0" err="1"/>
              <a:t>defining</a:t>
            </a:r>
            <a:r>
              <a:rPr lang="it-IT" sz="2400" dirty="0"/>
              <a:t> </a:t>
            </a:r>
            <a:r>
              <a:rPr lang="it-IT" sz="2400" dirty="0" err="1"/>
              <a:t>scales</a:t>
            </a:r>
            <a:r>
              <a:rPr lang="it-IT" sz="2400" dirty="0"/>
              <a:t>, </a:t>
            </a:r>
            <a:r>
              <a:rPr lang="it-IT" sz="2400" dirty="0" err="1"/>
              <a:t>button</a:t>
            </a:r>
            <a:r>
              <a:rPr lang="it-IT" sz="2400" dirty="0"/>
              <a:t> </a:t>
            </a:r>
            <a:r>
              <a:rPr lang="it-IT" sz="2400" dirty="0" err="1"/>
              <a:t>hierarchy</a:t>
            </a:r>
            <a:r>
              <a:rPr lang="it-IT" sz="2400" dirty="0"/>
              <a:t>, component </a:t>
            </a:r>
            <a:r>
              <a:rPr lang="it-IT" sz="2400" dirty="0" err="1"/>
              <a:t>roles</a:t>
            </a:r>
            <a:r>
              <a:rPr lang="it-IT" sz="2400" dirty="0"/>
              <a:t>.</a:t>
            </a:r>
          </a:p>
          <a:p>
            <a:pPr lvl="1"/>
            <a:r>
              <a:rPr lang="it-IT" sz="2400" i="1" dirty="0"/>
              <a:t>Color system</a:t>
            </a:r>
            <a:r>
              <a:rPr lang="it-IT" sz="2400" dirty="0"/>
              <a:t>: </a:t>
            </a:r>
            <a:r>
              <a:rPr lang="it-IT" sz="2400" dirty="0" err="1"/>
              <a:t>using</a:t>
            </a:r>
            <a:r>
              <a:rPr lang="it-IT" sz="2400" dirty="0"/>
              <a:t> a </a:t>
            </a:r>
            <a:r>
              <a:rPr lang="it-IT" sz="2400" dirty="0" err="1"/>
              <a:t>primary</a:t>
            </a:r>
            <a:r>
              <a:rPr lang="it-IT" sz="2400" dirty="0"/>
              <a:t>, </a:t>
            </a:r>
            <a:r>
              <a:rPr lang="it-IT" sz="2400" dirty="0" err="1"/>
              <a:t>secondary</a:t>
            </a:r>
            <a:r>
              <a:rPr lang="it-IT" sz="2400" dirty="0"/>
              <a:t>, </a:t>
            </a:r>
            <a:r>
              <a:rPr lang="it-IT" sz="2400" dirty="0" err="1"/>
              <a:t>surface</a:t>
            </a:r>
            <a:r>
              <a:rPr lang="it-IT" sz="2400" dirty="0"/>
              <a:t>, </a:t>
            </a:r>
            <a:r>
              <a:rPr lang="it-IT" sz="2400" dirty="0" err="1"/>
              <a:t>error</a:t>
            </a:r>
            <a:r>
              <a:rPr lang="it-IT" sz="2400" dirty="0"/>
              <a:t>, </a:t>
            </a:r>
            <a:r>
              <a:rPr lang="it-IT" sz="2400" dirty="0" err="1"/>
              <a:t>contrasts</a:t>
            </a:r>
            <a:endParaRPr lang="it-IT" sz="2400" dirty="0"/>
          </a:p>
          <a:p>
            <a:pPr lvl="1"/>
            <a:endParaRPr lang="it-IT" sz="2400" dirty="0"/>
          </a:p>
          <a:p>
            <a:r>
              <a:rPr lang="it-IT" sz="2800" dirty="0" err="1"/>
              <a:t>This</a:t>
            </a:r>
            <a:r>
              <a:rPr lang="it-IT" sz="2800" dirty="0"/>
              <a:t> </a:t>
            </a:r>
            <a:r>
              <a:rPr lang="it-IT" sz="2800" dirty="0" err="1"/>
              <a:t>ensures</a:t>
            </a:r>
            <a:r>
              <a:rPr lang="it-IT" sz="2800" dirty="0"/>
              <a:t> </a:t>
            </a:r>
            <a:r>
              <a:rPr lang="it-IT" sz="2800" dirty="0" err="1"/>
              <a:t>accessible</a:t>
            </a:r>
            <a:r>
              <a:rPr lang="it-IT" sz="2800" dirty="0"/>
              <a:t> </a:t>
            </a:r>
            <a:r>
              <a:rPr lang="it-IT" sz="2800" dirty="0" err="1"/>
              <a:t>combinations</a:t>
            </a:r>
            <a:r>
              <a:rPr lang="it-IT" sz="2800" dirty="0"/>
              <a:t>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3FCC6FD-6BBA-F0CC-D85A-259876B71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12</a:t>
            </a:fld>
            <a:endParaRPr lang="en-GB"/>
          </a:p>
        </p:txBody>
      </p:sp>
      <p:pic>
        <p:nvPicPr>
          <p:cNvPr id="7" name="Picture 6" descr="A screenshot of a purple screen&#10;&#10;AI-generated content may be incorrect.">
            <a:extLst>
              <a:ext uri="{FF2B5EF4-FFF2-40B4-BE49-F238E27FC236}">
                <a16:creationId xmlns:a16="http://schemas.microsoft.com/office/drawing/2014/main" id="{50545E55-AFA7-3692-E48E-A9BEDBA50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2300" y="1441049"/>
            <a:ext cx="2158486" cy="218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895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5A9E9-120D-8277-C108-B5E8E01AA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8C7F08-D04B-67EF-2091-07DCF1BC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Material</a:t>
            </a:r>
            <a:r>
              <a:rPr lang="it-IT" dirty="0"/>
              <a:t> Components </a:t>
            </a:r>
            <a:r>
              <a:rPr lang="it-IT" dirty="0" err="1"/>
              <a:t>as</a:t>
            </a:r>
            <a:r>
              <a:rPr lang="it-IT" dirty="0"/>
              <a:t> UX </a:t>
            </a:r>
            <a:r>
              <a:rPr lang="it-IT" dirty="0" err="1"/>
              <a:t>Decision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8A61B5-FDEE-C313-6DBD-C7295D608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50"/>
            <a:ext cx="8680202" cy="5059142"/>
          </a:xfrm>
        </p:spPr>
        <p:txBody>
          <a:bodyPr>
            <a:normAutofit/>
          </a:bodyPr>
          <a:lstStyle/>
          <a:p>
            <a:r>
              <a:rPr lang="en-US" dirty="0"/>
              <a:t>Material components are structured by importance.</a:t>
            </a:r>
          </a:p>
          <a:p>
            <a:endParaRPr lang="en-US" dirty="0"/>
          </a:p>
          <a:p>
            <a:r>
              <a:rPr lang="en-US" b="1" dirty="0"/>
              <a:t>Let’s make some examples</a:t>
            </a:r>
          </a:p>
          <a:p>
            <a:endParaRPr lang="en-US" b="1" dirty="0"/>
          </a:p>
          <a:p>
            <a:r>
              <a:rPr lang="en-US" dirty="0"/>
              <a:t>All examples and best practices can be found at: </a:t>
            </a:r>
            <a:r>
              <a:rPr lang="en-US" dirty="0">
                <a:hlinkClick r:id="rId2"/>
              </a:rPr>
              <a:t>https://m3.material.io/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55FE62E-E022-9251-9FFD-93868D096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13</a:t>
            </a:fld>
            <a:endParaRPr lang="en-GB"/>
          </a:p>
        </p:txBody>
      </p:sp>
      <p:pic>
        <p:nvPicPr>
          <p:cNvPr id="10" name="Picture 9" descr="A screenshot of a purple screen&#10;&#10;AI-generated content may be incorrect.">
            <a:extLst>
              <a:ext uri="{FF2B5EF4-FFF2-40B4-BE49-F238E27FC236}">
                <a16:creationId xmlns:a16="http://schemas.microsoft.com/office/drawing/2014/main" id="{4FB64108-2D4B-3F5B-B232-C770AE0C2E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2300" y="1441049"/>
            <a:ext cx="2158486" cy="218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697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4088D-5BF8-E0BC-D664-A074BE6F0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7CBAF9-39B6-5E89-8B7B-DE2B0380C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Material</a:t>
            </a:r>
            <a:r>
              <a:rPr lang="it-IT" dirty="0"/>
              <a:t> Components </a:t>
            </a:r>
            <a:r>
              <a:rPr lang="it-IT" dirty="0" err="1"/>
              <a:t>as</a:t>
            </a:r>
            <a:r>
              <a:rPr lang="it-IT" dirty="0"/>
              <a:t> UX </a:t>
            </a:r>
            <a:r>
              <a:rPr lang="it-IT" dirty="0" err="1"/>
              <a:t>Decision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983E71-9816-42B5-3910-059147B90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50"/>
            <a:ext cx="8680202" cy="5059142"/>
          </a:xfrm>
        </p:spPr>
        <p:txBody>
          <a:bodyPr>
            <a:normAutofit/>
          </a:bodyPr>
          <a:lstStyle/>
          <a:p>
            <a:r>
              <a:rPr lang="en-US" b="1" dirty="0"/>
              <a:t>Buttons:</a:t>
            </a:r>
          </a:p>
          <a:p>
            <a:pPr lvl="1"/>
            <a:r>
              <a:rPr lang="en-US" dirty="0"/>
              <a:t>Primary action → Elevated, Filled, and Tonal button</a:t>
            </a:r>
          </a:p>
          <a:p>
            <a:pPr lvl="1"/>
            <a:r>
              <a:rPr lang="en-US" dirty="0"/>
              <a:t>Secondary → Outlined button</a:t>
            </a:r>
          </a:p>
          <a:p>
            <a:pPr lvl="1"/>
            <a:r>
              <a:rPr lang="en-US" dirty="0"/>
              <a:t>Tertiary → Text button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encodes UX hierarchy visually.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4169698-123A-75C3-3523-E50A4C826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14</a:t>
            </a:fld>
            <a:endParaRPr lang="en-GB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2E90BE-F43E-CE78-1358-2D6363B147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088" y="3661776"/>
            <a:ext cx="5575702" cy="192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681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F3B83-DE6F-ABF5-C588-804D1B37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7732C8-30A9-C87A-C24D-131454224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Material</a:t>
            </a:r>
            <a:r>
              <a:rPr lang="it-IT" dirty="0"/>
              <a:t> Components </a:t>
            </a:r>
            <a:r>
              <a:rPr lang="it-IT" dirty="0" err="1"/>
              <a:t>as</a:t>
            </a:r>
            <a:r>
              <a:rPr lang="it-IT" dirty="0"/>
              <a:t> UX </a:t>
            </a:r>
            <a:r>
              <a:rPr lang="it-IT" dirty="0" err="1"/>
              <a:t>Decision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414AD6-F35B-FFF5-184A-68E9F4C5D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50"/>
            <a:ext cx="8680202" cy="5059142"/>
          </a:xfrm>
        </p:spPr>
        <p:txBody>
          <a:bodyPr>
            <a:normAutofit/>
          </a:bodyPr>
          <a:lstStyle/>
          <a:p>
            <a:r>
              <a:rPr lang="en-US" b="1" dirty="0"/>
              <a:t>Navigation patterns:</a:t>
            </a:r>
          </a:p>
          <a:p>
            <a:pPr lvl="1"/>
            <a:r>
              <a:rPr lang="en-US" dirty="0"/>
              <a:t>Bottom navigation (few top sections)</a:t>
            </a:r>
          </a:p>
          <a:p>
            <a:pPr lvl="1"/>
            <a:r>
              <a:rPr lang="en-US" dirty="0"/>
              <a:t>Navigation rail (larger screens)</a:t>
            </a:r>
          </a:p>
          <a:p>
            <a:pPr lvl="1"/>
            <a:r>
              <a:rPr lang="en-US" dirty="0"/>
              <a:t>Drawer (complex systems)</a:t>
            </a:r>
          </a:p>
          <a:p>
            <a:pPr lvl="1"/>
            <a:endParaRPr lang="en-US" dirty="0"/>
          </a:p>
          <a:p>
            <a:r>
              <a:rPr lang="en-US" dirty="0"/>
              <a:t>Material links navigation model to app size.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FA1608-9F22-2980-181C-6AFB84318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15</a:t>
            </a:fld>
            <a:endParaRPr lang="en-GB"/>
          </a:p>
        </p:txBody>
      </p:sp>
      <p:pic>
        <p:nvPicPr>
          <p:cNvPr id="6" name="Picture 5" descr="A screenshot of a device&#10;&#10;AI-generated content may be incorrect.">
            <a:extLst>
              <a:ext uri="{FF2B5EF4-FFF2-40B4-BE49-F238E27FC236}">
                <a16:creationId xmlns:a16="http://schemas.microsoft.com/office/drawing/2014/main" id="{32BA2AFC-3509-3DFD-9BDB-928ACB0B93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7733" y="1340405"/>
            <a:ext cx="2186794" cy="18928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0BF1F8-C804-4DA6-E1A2-23DDC457EA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045" y="2650388"/>
            <a:ext cx="2149495" cy="2041589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A3BC15-30CF-E850-8BA0-F4D8FFEDBA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7733" y="4255758"/>
            <a:ext cx="2186794" cy="210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570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DDEA1-DBFE-79AF-A113-598E5E614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AEF412-1C66-C124-3FF0-8E2ABBF36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Material</a:t>
            </a:r>
            <a:r>
              <a:rPr lang="it-IT" dirty="0"/>
              <a:t> Components </a:t>
            </a:r>
            <a:r>
              <a:rPr lang="it-IT" dirty="0" err="1"/>
              <a:t>as</a:t>
            </a:r>
            <a:r>
              <a:rPr lang="it-IT" dirty="0"/>
              <a:t> UX </a:t>
            </a:r>
            <a:r>
              <a:rPr lang="it-IT" dirty="0" err="1"/>
              <a:t>Decision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FEF7CF0-1A7F-4224-D903-FFA9BA1E0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50"/>
            <a:ext cx="8680202" cy="5059142"/>
          </a:xfrm>
        </p:spPr>
        <p:txBody>
          <a:bodyPr>
            <a:normAutofit/>
          </a:bodyPr>
          <a:lstStyle/>
          <a:p>
            <a:r>
              <a:rPr lang="en-US" b="1" dirty="0"/>
              <a:t>Content organization:</a:t>
            </a:r>
          </a:p>
          <a:p>
            <a:pPr lvl="1"/>
            <a:r>
              <a:rPr lang="en-US" dirty="0"/>
              <a:t>Cards for grouping</a:t>
            </a:r>
          </a:p>
          <a:p>
            <a:pPr lvl="1"/>
            <a:r>
              <a:rPr lang="en-US" dirty="0"/>
              <a:t>Lists for scanning</a:t>
            </a:r>
          </a:p>
          <a:p>
            <a:pPr lvl="1"/>
            <a:r>
              <a:rPr lang="en-US" dirty="0"/>
              <a:t>FAB for dominant actions</a:t>
            </a:r>
          </a:p>
          <a:p>
            <a:pPr lvl="1"/>
            <a:endParaRPr lang="en-US" dirty="0"/>
          </a:p>
          <a:p>
            <a:r>
              <a:rPr lang="en-US" dirty="0"/>
              <a:t>Each has semantic meaning.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D3AC71A-49F0-F51D-81A3-A87BEA93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16</a:t>
            </a:fld>
            <a:endParaRPr lang="en-GB"/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FA11D61-8E47-AA7A-900F-9F73BD68D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096" y="1210761"/>
            <a:ext cx="6012878" cy="514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456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A80BF-E3D1-342B-D49C-8614DF95C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875DB9-03C5-D1E3-2C1A-5DF41690B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Activating</a:t>
            </a:r>
            <a:r>
              <a:rPr lang="it-IT" dirty="0"/>
              <a:t> </a:t>
            </a:r>
            <a:r>
              <a:rPr lang="it-IT" dirty="0" err="1"/>
              <a:t>Material</a:t>
            </a:r>
            <a:r>
              <a:rPr lang="it-IT" dirty="0"/>
              <a:t> in Flutter: </a:t>
            </a:r>
            <a:r>
              <a:rPr lang="it-IT" dirty="0" err="1"/>
              <a:t>Theming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C5D934-909B-A350-D995-49172BC21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3" y="1441050"/>
            <a:ext cx="10323395" cy="505914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 Flutter, Material is activated </a:t>
            </a:r>
            <a:r>
              <a:rPr lang="en-US" dirty="0" err="1"/>
              <a:t>providng</a:t>
            </a:r>
            <a:r>
              <a:rPr lang="en-US" dirty="0"/>
              <a:t> a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ThemeData</a:t>
            </a:r>
            <a:r>
              <a:rPr lang="en-US" dirty="0"/>
              <a:t> to your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MaterialApp</a:t>
            </a:r>
            <a:r>
              <a:rPr lang="en-US" dirty="0"/>
              <a:t> through: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Why this matters:</a:t>
            </a:r>
          </a:p>
          <a:p>
            <a:pPr lvl="1"/>
            <a:r>
              <a:rPr lang="en-US" dirty="0"/>
              <a:t>Color harmony is automatic</a:t>
            </a:r>
          </a:p>
          <a:p>
            <a:pPr lvl="1"/>
            <a:r>
              <a:rPr lang="en-US" dirty="0"/>
              <a:t>Components become consistent</a:t>
            </a:r>
          </a:p>
          <a:p>
            <a:pPr lvl="1"/>
            <a:r>
              <a:rPr lang="en-US" dirty="0"/>
              <a:t>Accessibility improves</a:t>
            </a:r>
          </a:p>
          <a:p>
            <a:pPr lvl="1"/>
            <a:r>
              <a:rPr lang="en-US" dirty="0"/>
              <a:t>You stop hardcoding colors</a:t>
            </a:r>
          </a:p>
          <a:p>
            <a:endParaRPr lang="en-US" dirty="0"/>
          </a:p>
          <a:p>
            <a:r>
              <a:rPr lang="en-US" b="1" dirty="0"/>
              <a:t>Advice: </a:t>
            </a:r>
            <a:r>
              <a:rPr lang="en-US" dirty="0"/>
              <a:t>Start global. Avoid styling per screen.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EBC6DE0-0E56-C82A-99DA-01066342A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17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4F6910-915F-B2FC-85C4-852460588099}"/>
              </a:ext>
            </a:extLst>
          </p:cNvPr>
          <p:cNvSpPr txBox="1"/>
          <p:nvPr/>
        </p:nvSpPr>
        <p:spPr>
          <a:xfrm>
            <a:off x="1822663" y="2088303"/>
            <a:ext cx="909490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MaterialApp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theme: </a:t>
            </a:r>
            <a:r>
              <a:rPr lang="en-US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ThemeData</a:t>
            </a:r>
            <a:r>
              <a:rPr lang="en-US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US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useMaterial3: true,</a:t>
            </a:r>
          </a:p>
          <a:p>
            <a:r>
              <a:rPr lang="en-US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colorScheme</a:t>
            </a:r>
            <a:r>
              <a:rPr lang="en-US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US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ColorScheme.fromSeed</a:t>
            </a:r>
            <a:r>
              <a:rPr lang="en-US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seedColor</a:t>
            </a:r>
            <a:r>
              <a:rPr lang="en-US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US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Colors.blue</a:t>
            </a:r>
            <a:r>
              <a:rPr lang="en-US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</a:t>
            </a:r>
          </a:p>
          <a:p>
            <a:r>
              <a:rPr lang="en-US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),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CF6C5F-638F-71D3-B624-C5508FCB2930}"/>
              </a:ext>
            </a:extLst>
          </p:cNvPr>
          <p:cNvSpPr/>
          <p:nvPr/>
        </p:nvSpPr>
        <p:spPr>
          <a:xfrm>
            <a:off x="6613050" y="4193871"/>
            <a:ext cx="4938944" cy="130202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</a:rPr>
              <a:t>Note</a:t>
            </a:r>
            <a:r>
              <a:rPr lang="en-US" sz="2000" dirty="0">
                <a:latin typeface="Aptos" panose="020B0004020202020204" pitchFamily="34" charset="0"/>
              </a:rPr>
              <a:t>: if you do not provide a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ThemeData</a:t>
            </a:r>
            <a:r>
              <a:rPr lang="en-US" sz="2000" dirty="0">
                <a:latin typeface="Aptos" panose="020B0004020202020204" pitchFamily="34" charset="0"/>
              </a:rPr>
              <a:t>, Material is activated by default but you won’t have global control.</a:t>
            </a:r>
          </a:p>
        </p:txBody>
      </p:sp>
    </p:spTree>
    <p:extLst>
      <p:ext uri="{BB962C8B-B14F-4D97-AF65-F5344CB8AC3E}">
        <p14:creationId xmlns:p14="http://schemas.microsoft.com/office/powerpoint/2010/main" val="765143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FC9F7-BE1E-D7E6-79DD-A8B9B9A5D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FAA151-A223-2B55-E0F4-71F418B34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Buttons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UX </a:t>
            </a:r>
            <a:r>
              <a:rPr lang="it-IT" dirty="0" err="1"/>
              <a:t>Communication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0FFB3F-F192-0EE8-0768-871DDEF0B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3" y="1441050"/>
            <a:ext cx="10323395" cy="5346376"/>
          </a:xfrm>
        </p:spPr>
        <p:txBody>
          <a:bodyPr>
            <a:normAutofit/>
          </a:bodyPr>
          <a:lstStyle/>
          <a:p>
            <a:r>
              <a:rPr lang="en-US" dirty="0"/>
              <a:t>Different Buttons for different meanings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Button hierarchy allows to specify primary and secondary actions and put different emphasis.</a:t>
            </a:r>
          </a:p>
          <a:p>
            <a:endParaRPr lang="en-US" dirty="0"/>
          </a:p>
          <a:p>
            <a:r>
              <a:rPr lang="en-US" dirty="0"/>
              <a:t>This </a:t>
            </a:r>
            <a:r>
              <a:rPr lang="en-US" dirty="0" err="1"/>
              <a:t>allos</a:t>
            </a:r>
            <a:r>
              <a:rPr lang="en-US" dirty="0"/>
              <a:t> also to express priorities.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AFCDE29-9430-2042-6C84-935C49C7C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18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C424FF-C856-1630-7954-BA2D942FE808}"/>
              </a:ext>
            </a:extLst>
          </p:cNvPr>
          <p:cNvSpPr txBox="1"/>
          <p:nvPr/>
        </p:nvSpPr>
        <p:spPr>
          <a:xfrm>
            <a:off x="5956797" y="2297706"/>
            <a:ext cx="46701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TextButton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onPressed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() {},</a:t>
            </a:r>
          </a:p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child: Text(”Text"),</a:t>
            </a:r>
          </a:p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5C9719-0502-C3F1-8883-72A65A736A3C}"/>
              </a:ext>
            </a:extLst>
          </p:cNvPr>
          <p:cNvSpPr txBox="1"/>
          <p:nvPr/>
        </p:nvSpPr>
        <p:spPr>
          <a:xfrm>
            <a:off x="1086234" y="2290360"/>
            <a:ext cx="41362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ElevatedButton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onPressed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() {},</a:t>
            </a:r>
          </a:p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child: Text(”Elevated"),</a:t>
            </a:r>
          </a:p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</p:txBody>
      </p:sp>
      <p:pic>
        <p:nvPicPr>
          <p:cNvPr id="8" name="Picture 7" descr="A close up of a sign&#10;&#10;AI-generated content may be incorrect.">
            <a:extLst>
              <a:ext uri="{FF2B5EF4-FFF2-40B4-BE49-F238E27FC236}">
                <a16:creationId xmlns:a16="http://schemas.microsoft.com/office/drawing/2014/main" id="{1DD75B4A-DD77-56C3-D8A2-AE624C7A51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881" y="3429000"/>
            <a:ext cx="949987" cy="4470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7DF15B-A2F7-8E02-3BCF-BD840D237D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851" y="3429000"/>
            <a:ext cx="779477" cy="44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396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26271-EE17-8BC2-4267-D013FE4B2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509A8F-A020-FBF3-9CD5-8625B7AE5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Feedback in Flutter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09228A6-9B96-59B9-6E48-7EBDE883F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3" y="1441050"/>
            <a:ext cx="10323395" cy="5346376"/>
          </a:xfrm>
        </p:spPr>
        <p:txBody>
          <a:bodyPr>
            <a:normAutofit/>
          </a:bodyPr>
          <a:lstStyle/>
          <a:p>
            <a:r>
              <a:rPr lang="en-US" dirty="0"/>
              <a:t>Use the following to provide specific feedback. </a:t>
            </a:r>
          </a:p>
          <a:p>
            <a:endParaRPr lang="en-US" dirty="0"/>
          </a:p>
          <a:p>
            <a:r>
              <a:rPr lang="en-US" dirty="0"/>
              <a:t>Loading:</a:t>
            </a:r>
          </a:p>
          <a:p>
            <a:endParaRPr lang="en-US" dirty="0"/>
          </a:p>
          <a:p>
            <a:r>
              <a:rPr lang="en-US" dirty="0"/>
              <a:t>Confirmation: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Critical action: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37C7DE8-497B-863A-005E-1E5462DDA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19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F75B1D-BAA9-2D2D-909E-BFDEDA7F76FB}"/>
              </a:ext>
            </a:extLst>
          </p:cNvPr>
          <p:cNvSpPr txBox="1"/>
          <p:nvPr/>
        </p:nvSpPr>
        <p:spPr>
          <a:xfrm>
            <a:off x="3185058" y="2432079"/>
            <a:ext cx="41362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CircularProgressIndicator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C8CA87-6B63-955F-8F6F-BDBEA06B8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1888" y="2062747"/>
            <a:ext cx="1177424" cy="10772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CD670C-B311-7976-D9B4-B2AD9E1ADE4C}"/>
              </a:ext>
            </a:extLst>
          </p:cNvPr>
          <p:cNvSpPr txBox="1"/>
          <p:nvPr/>
        </p:nvSpPr>
        <p:spPr>
          <a:xfrm>
            <a:off x="3185059" y="5078396"/>
            <a:ext cx="41362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showDialog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(...)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AB1ABA-AE0D-010C-307A-071F3ED5C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210" y="4807831"/>
            <a:ext cx="1506780" cy="15485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0543E1-A6DC-4B49-EA34-A06950C267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03" b="12530"/>
          <a:stretch>
            <a:fillRect/>
          </a:stretch>
        </p:blipFill>
        <p:spPr>
          <a:xfrm>
            <a:off x="9684048" y="2631827"/>
            <a:ext cx="2112438" cy="19033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ED02EEA-8B51-9610-9765-7027B8D2CFE1}"/>
              </a:ext>
            </a:extLst>
          </p:cNvPr>
          <p:cNvSpPr txBox="1"/>
          <p:nvPr/>
        </p:nvSpPr>
        <p:spPr>
          <a:xfrm>
            <a:off x="3185058" y="3283241"/>
            <a:ext cx="60142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ScaffoldMessenger.of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(context).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showSnackBar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SnackBar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(content: Text(”Yay! A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SnackBar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")),</a:t>
            </a:r>
          </a:p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608355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F9714-24D8-0E2C-FBBA-8FCC3AA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81211D-7CA1-6B63-BFB9-0BDB96B88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Defining</a:t>
            </a:r>
            <a:r>
              <a:rPr lang="it-IT" dirty="0"/>
              <a:t> the </a:t>
            </a:r>
            <a:r>
              <a:rPr lang="it-IT" dirty="0" err="1"/>
              <a:t>Structure</a:t>
            </a:r>
            <a:r>
              <a:rPr lang="it-IT" dirty="0"/>
              <a:t> with Scaffold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4FBD1B-EBC8-6BA6-EA45-E0BFD4B7C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3" y="1441050"/>
            <a:ext cx="10323395" cy="5346376"/>
          </a:xfrm>
        </p:spPr>
        <p:txBody>
          <a:bodyPr>
            <a:normAutofit/>
          </a:bodyPr>
          <a:lstStyle/>
          <a:p>
            <a:r>
              <a:rPr lang="en-US" dirty="0"/>
              <a:t>Material screens in Flutter use the following to define the basic structure of a screen:</a:t>
            </a:r>
          </a:p>
          <a:p>
            <a:pPr lvl="1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Scaffold</a:t>
            </a:r>
          </a:p>
          <a:p>
            <a:pPr lvl="1"/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/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NavigationBar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/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FloatingActionButton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BC56DC3-7019-D5B1-ED91-B80985C38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20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6B62C6-CA6E-7C3F-F781-E58A94458058}"/>
              </a:ext>
            </a:extLst>
          </p:cNvPr>
          <p:cNvSpPr txBox="1"/>
          <p:nvPr/>
        </p:nvSpPr>
        <p:spPr>
          <a:xfrm>
            <a:off x="4159998" y="2014596"/>
            <a:ext cx="57257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Scaffold(</a:t>
            </a:r>
          </a:p>
          <a:p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sz="1600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US" sz="1600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(title: Text("Home")),</a:t>
            </a:r>
          </a:p>
          <a:p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body: </a:t>
            </a:r>
            <a:r>
              <a:rPr lang="en-US" sz="1600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ListView</a:t>
            </a:r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padding: </a:t>
            </a:r>
            <a:r>
              <a:rPr lang="en-US" sz="1600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EdgeInsets.all</a:t>
            </a:r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(16),</a:t>
            </a:r>
          </a:p>
          <a:p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children: [</a:t>
            </a:r>
          </a:p>
          <a:p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Card(</a:t>
            </a:r>
          </a:p>
          <a:p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child: </a:t>
            </a:r>
            <a:r>
              <a:rPr lang="en-US" sz="1600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ListTile</a:t>
            </a:r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title: Text(”A text"),</a:t>
            </a:r>
          </a:p>
          <a:p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subtitle: Text(”A subtitle"),</a:t>
            </a:r>
          </a:p>
          <a:p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),</a:t>
            </a:r>
          </a:p>
          <a:p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),</a:t>
            </a:r>
          </a:p>
          <a:p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],</a:t>
            </a:r>
          </a:p>
          <a:p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),</a:t>
            </a:r>
          </a:p>
          <a:p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sz="1600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floatingActionButton</a:t>
            </a:r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US" sz="1600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FloatingActionButton</a:t>
            </a:r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sz="1600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onPressed</a:t>
            </a:r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() {},</a:t>
            </a:r>
          </a:p>
          <a:p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child: Icon(</a:t>
            </a:r>
            <a:r>
              <a:rPr lang="en-US" sz="1600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Icons.add</a:t>
            </a:r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</a:t>
            </a:r>
          </a:p>
          <a:p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),</a:t>
            </a:r>
          </a:p>
          <a:p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);</a:t>
            </a:r>
          </a:p>
        </p:txBody>
      </p:sp>
      <p:pic>
        <p:nvPicPr>
          <p:cNvPr id="9" name="Picture 8" descr="A white background with pink and black lines&#10;&#10;AI-generated content may be incorrect.">
            <a:extLst>
              <a:ext uri="{FF2B5EF4-FFF2-40B4-BE49-F238E27FC236}">
                <a16:creationId xmlns:a16="http://schemas.microsoft.com/office/drawing/2014/main" id="{9CB38420-7AE1-9A5B-CB14-C4A8963AA1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107" y="2133436"/>
            <a:ext cx="1977739" cy="428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87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5886132" cy="5334907"/>
          </a:xfrm>
        </p:spPr>
        <p:txBody>
          <a:bodyPr>
            <a:normAutofit/>
          </a:bodyPr>
          <a:lstStyle/>
          <a:p>
            <a:r>
              <a:rPr lang="en-US" dirty="0"/>
              <a:t>Let’s focus into the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Scaffold</a:t>
            </a:r>
            <a:r>
              <a:rPr lang="en-US" dirty="0"/>
              <a:t> Widget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Detailed info: </a:t>
            </a:r>
            <a:r>
              <a:rPr lang="en-US" dirty="0">
                <a:hlinkClick r:id="rId3"/>
              </a:rPr>
              <a:t>https://api.flutter.dev/flutter/material/Scaffold-class.html</a:t>
            </a:r>
            <a:r>
              <a:rPr lang="en-US" dirty="0"/>
              <a:t>  </a:t>
            </a:r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0372AA-0912-344B-9308-C19EB2F5DC4C}"/>
              </a:ext>
            </a:extLst>
          </p:cNvPr>
          <p:cNvSpPr/>
          <p:nvPr/>
        </p:nvSpPr>
        <p:spPr>
          <a:xfrm>
            <a:off x="6203176" y="1555036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//Constructor of Scaffold</a:t>
            </a:r>
          </a:p>
          <a:p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const</a:t>
            </a:r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Scaffold({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Key key,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.appBar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.body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.floatingActionButton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.floatingActionButtonLocation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.floatingActionButtonAnimator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.persistentFooterButtons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.drawer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.endDrawer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.bottomNavigationBar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.bottomSheet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.backgroundColor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.resizeToAvoidBottomPadding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.primary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})</a:t>
            </a: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0586E-B506-6D49-AA08-1DCFC0DC9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9994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0372AA-0912-344B-9308-C19EB2F5DC4C}"/>
              </a:ext>
            </a:extLst>
          </p:cNvPr>
          <p:cNvSpPr/>
          <p:nvPr/>
        </p:nvSpPr>
        <p:spPr>
          <a:xfrm>
            <a:off x="628289" y="1746479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//Constructor of Scaffold</a:t>
            </a:r>
          </a:p>
          <a:p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const</a:t>
            </a:r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Scaffold({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Key key,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.appBar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.body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.floatingActionButton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.floatingActionButtonLocation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.floatingActionButtonAnimator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.persistentFooterButtons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.drawer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.endDrawer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.bottomNavigationBar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.bottomSheet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.backgroundColor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.resizeToAvoidBottomPadding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.primary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})</a:t>
            </a: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A7BBFF-E1DF-FF4C-A98D-BE9F516BF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22</a:t>
            </a:fld>
            <a:endParaRPr lang="en-GB"/>
          </a:p>
        </p:txBody>
      </p:sp>
      <p:pic>
        <p:nvPicPr>
          <p:cNvPr id="8" name="Picture 7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AA131723-E7EE-881F-328A-58891A618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033" y="1118442"/>
            <a:ext cx="2508823" cy="5437727"/>
          </a:xfrm>
          <a:prstGeom prst="rect">
            <a:avLst/>
          </a:prstGeom>
        </p:spPr>
      </p:pic>
      <p:pic>
        <p:nvPicPr>
          <p:cNvPr id="11" name="Picture 10" descr="A white and grey rectangular object&#10;&#10;Description automatically generated">
            <a:extLst>
              <a:ext uri="{FF2B5EF4-FFF2-40B4-BE49-F238E27FC236}">
                <a16:creationId xmlns:a16="http://schemas.microsoft.com/office/drawing/2014/main" id="{1D2BFFB6-8E4C-3691-9AE1-0E811C38D0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59" y="1118442"/>
            <a:ext cx="2508823" cy="543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620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874DF3DB-0833-C67A-DC58-415BCBDC46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033" y="1118442"/>
            <a:ext cx="2508823" cy="5437727"/>
          </a:xfrm>
          <a:prstGeom prst="rect">
            <a:avLst/>
          </a:prstGeom>
        </p:spPr>
      </p:pic>
      <p:pic>
        <p:nvPicPr>
          <p:cNvPr id="6" name="Picture 5" descr="A white and grey rectangular object&#10;&#10;Description automatically generated">
            <a:extLst>
              <a:ext uri="{FF2B5EF4-FFF2-40B4-BE49-F238E27FC236}">
                <a16:creationId xmlns:a16="http://schemas.microsoft.com/office/drawing/2014/main" id="{50D85150-A221-5A5A-A5AD-79B545E8E6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59" y="1118442"/>
            <a:ext cx="2508823" cy="5437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0372AA-0912-344B-9308-C19EB2F5DC4C}"/>
              </a:ext>
            </a:extLst>
          </p:cNvPr>
          <p:cNvSpPr/>
          <p:nvPr/>
        </p:nvSpPr>
        <p:spPr>
          <a:xfrm>
            <a:off x="628289" y="1746479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//Constructor of Scaffold</a:t>
            </a:r>
          </a:p>
          <a:p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const</a:t>
            </a:r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Scaffold({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Key key,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.appBar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.body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.floatingActionButton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.floatingActionButtonLocation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.floatingActionButtonAnimator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.persistentFooterButtons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.drawer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.endDrawer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.bottomNavigationBar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.bottomSheet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.backgroundColor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.resizeToAvoidBottomPadding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.primary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})</a:t>
            </a: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0AED85-36E0-554A-81BA-83850C9B7590}"/>
              </a:ext>
            </a:extLst>
          </p:cNvPr>
          <p:cNvSpPr/>
          <p:nvPr/>
        </p:nvSpPr>
        <p:spPr>
          <a:xfrm>
            <a:off x="6724290" y="1421606"/>
            <a:ext cx="2289018" cy="457200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911F1F-7F1D-E749-A1A9-E49AE507E3C6}"/>
              </a:ext>
            </a:extLst>
          </p:cNvPr>
          <p:cNvCxnSpPr>
            <a:cxnSpLocks/>
          </p:cNvCxnSpPr>
          <p:nvPr/>
        </p:nvCxnSpPr>
        <p:spPr>
          <a:xfrm flipV="1">
            <a:off x="2681416" y="1878806"/>
            <a:ext cx="3951423" cy="864394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02892F-21F4-484D-98EE-9D8ED92F1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11666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CFBB15-EC1A-454F-A4BC-E64AD16759CE}"/>
              </a:ext>
            </a:extLst>
          </p:cNvPr>
          <p:cNvSpPr/>
          <p:nvPr/>
        </p:nvSpPr>
        <p:spPr>
          <a:xfrm>
            <a:off x="702640" y="2401956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home: Scaffold(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actions: [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Icon(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Icons.done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,),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Icon(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Icons.error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],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title: Text('The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’),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),</a:t>
            </a:r>
          </a:p>
          <a:p>
            <a:r>
              <a:rPr lang="en-GB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DD69C-546C-5243-B1BF-03AA1A228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24</a:t>
            </a:fld>
            <a:endParaRPr lang="en-GB"/>
          </a:p>
        </p:txBody>
      </p:sp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D24E13AF-06FC-C063-9A5D-7C76A0EBD2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033" y="1118442"/>
            <a:ext cx="2508823" cy="5437727"/>
          </a:xfrm>
          <a:prstGeom prst="rect">
            <a:avLst/>
          </a:prstGeom>
        </p:spPr>
      </p:pic>
      <p:pic>
        <p:nvPicPr>
          <p:cNvPr id="6" name="Picture 5" descr="A white and grey rectangular object&#10;&#10;Description automatically generated">
            <a:extLst>
              <a:ext uri="{FF2B5EF4-FFF2-40B4-BE49-F238E27FC236}">
                <a16:creationId xmlns:a16="http://schemas.microsoft.com/office/drawing/2014/main" id="{DB89B3B6-3749-2536-F24B-6449CED0A7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59" y="1118442"/>
            <a:ext cx="2508823" cy="543772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0C7B54F-A59B-B23B-9905-61D8A0FFCA4C}"/>
              </a:ext>
            </a:extLst>
          </p:cNvPr>
          <p:cNvSpPr/>
          <p:nvPr/>
        </p:nvSpPr>
        <p:spPr>
          <a:xfrm>
            <a:off x="6724290" y="1421606"/>
            <a:ext cx="2289018" cy="457200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67514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AC18A4C4-8495-EFA8-B0A3-DECD5B0399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033" y="1118442"/>
            <a:ext cx="2508823" cy="5437727"/>
          </a:xfrm>
          <a:prstGeom prst="rect">
            <a:avLst/>
          </a:prstGeom>
        </p:spPr>
      </p:pic>
      <p:pic>
        <p:nvPicPr>
          <p:cNvPr id="6" name="Picture 5" descr="A white and grey rectangular object&#10;&#10;Description automatically generated">
            <a:extLst>
              <a:ext uri="{FF2B5EF4-FFF2-40B4-BE49-F238E27FC236}">
                <a16:creationId xmlns:a16="http://schemas.microsoft.com/office/drawing/2014/main" id="{8361A059-30CE-E8DC-F518-AC183944A7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59" y="1118442"/>
            <a:ext cx="2508823" cy="5437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0372AA-0912-344B-9308-C19EB2F5DC4C}"/>
              </a:ext>
            </a:extLst>
          </p:cNvPr>
          <p:cNvSpPr/>
          <p:nvPr/>
        </p:nvSpPr>
        <p:spPr>
          <a:xfrm>
            <a:off x="628289" y="1746479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//Constructor of Scaffold</a:t>
            </a:r>
          </a:p>
          <a:p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const</a:t>
            </a:r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Scaffold({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Key key,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.appBar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.body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.floatingActionButton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.floatingActionButtonLocation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.floatingActionButtonAnimator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.persistentFooterButtons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.drawer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.endDrawer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.bottomNavigationBar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.bottomSheet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.backgroundColor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.resizeToAvoidBottomPadding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.primary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})</a:t>
            </a: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C915CD-DC22-1C47-A40B-FFF2217F1D88}"/>
              </a:ext>
            </a:extLst>
          </p:cNvPr>
          <p:cNvCxnSpPr>
            <a:cxnSpLocks/>
          </p:cNvCxnSpPr>
          <p:nvPr/>
        </p:nvCxnSpPr>
        <p:spPr>
          <a:xfrm flipV="1">
            <a:off x="2669059" y="1631092"/>
            <a:ext cx="3737764" cy="2767913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ADEC2EB-9BD4-2845-85C4-816CDED497CC}"/>
              </a:ext>
            </a:extLst>
          </p:cNvPr>
          <p:cNvSpPr/>
          <p:nvPr/>
        </p:nvSpPr>
        <p:spPr>
          <a:xfrm flipV="1">
            <a:off x="6315209" y="1392229"/>
            <a:ext cx="500695" cy="46955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6C82FA2-7BED-9B44-9535-E128881CA1A1}"/>
              </a:ext>
            </a:extLst>
          </p:cNvPr>
          <p:cNvCxnSpPr>
            <a:cxnSpLocks/>
          </p:cNvCxnSpPr>
          <p:nvPr/>
        </p:nvCxnSpPr>
        <p:spPr>
          <a:xfrm>
            <a:off x="6724289" y="1627007"/>
            <a:ext cx="2951052" cy="119433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E262AD-36C1-3E4C-B85B-5A1466E6D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40033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6CDE04DB-9FD7-2116-C4D5-3ED1C5D22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033" y="1118442"/>
            <a:ext cx="2508823" cy="5437727"/>
          </a:xfrm>
          <a:prstGeom prst="rect">
            <a:avLst/>
          </a:prstGeom>
        </p:spPr>
      </p:pic>
      <p:pic>
        <p:nvPicPr>
          <p:cNvPr id="6" name="Picture 5" descr="A white and grey rectangular object&#10;&#10;Description automatically generated">
            <a:extLst>
              <a:ext uri="{FF2B5EF4-FFF2-40B4-BE49-F238E27FC236}">
                <a16:creationId xmlns:a16="http://schemas.microsoft.com/office/drawing/2014/main" id="{A9623EE3-C8A7-9C38-397B-D8257BE2DE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59" y="1118442"/>
            <a:ext cx="2508823" cy="5437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CFBB15-EC1A-454F-A4BC-E64AD16759CE}"/>
              </a:ext>
            </a:extLst>
          </p:cNvPr>
          <p:cNvSpPr/>
          <p:nvPr/>
        </p:nvSpPr>
        <p:spPr>
          <a:xfrm>
            <a:off x="702640" y="2401956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home: Scaffold(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...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drawer: Drawer(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child: Column(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mainAxisAlignment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MainAxisAlignment.center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children: [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Text('An option’),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Text('Another option'),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],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),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),</a:t>
            </a:r>
          </a:p>
          <a:p>
            <a:r>
              <a:rPr lang="en-GB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9C0A78-61EE-9E4F-B482-1545C1DB06CF}"/>
              </a:ext>
            </a:extLst>
          </p:cNvPr>
          <p:cNvSpPr/>
          <p:nvPr/>
        </p:nvSpPr>
        <p:spPr>
          <a:xfrm flipV="1">
            <a:off x="6297945" y="1389980"/>
            <a:ext cx="500695" cy="46955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580C1-2BE0-094D-989A-2D93F780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170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53E9DD9D-8373-C3B2-A068-87F349703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033" y="1118442"/>
            <a:ext cx="2508823" cy="5437727"/>
          </a:xfrm>
          <a:prstGeom prst="rect">
            <a:avLst/>
          </a:prstGeom>
        </p:spPr>
      </p:pic>
      <p:pic>
        <p:nvPicPr>
          <p:cNvPr id="6" name="Picture 5" descr="A white and grey rectangular object&#10;&#10;Description automatically generated">
            <a:extLst>
              <a:ext uri="{FF2B5EF4-FFF2-40B4-BE49-F238E27FC236}">
                <a16:creationId xmlns:a16="http://schemas.microsoft.com/office/drawing/2014/main" id="{2CA31F3E-4581-8171-397F-BE9F9F36AC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59" y="1118442"/>
            <a:ext cx="2508823" cy="5437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0372AA-0912-344B-9308-C19EB2F5DC4C}"/>
              </a:ext>
            </a:extLst>
          </p:cNvPr>
          <p:cNvSpPr/>
          <p:nvPr/>
        </p:nvSpPr>
        <p:spPr>
          <a:xfrm>
            <a:off x="628289" y="1746479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//Constructor of Scaffold</a:t>
            </a:r>
          </a:p>
          <a:p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const</a:t>
            </a:r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Scaffold({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Key key,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.appBar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.body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.floatingActionButton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.floatingActionButtonLocation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.floatingActionButtonAnimator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.persistentFooterButtons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.drawer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.endDrawer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.bottomNavigationBar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.bottomSheet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.backgroundColor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.resizeToAvoidBottomPadding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.primary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})</a:t>
            </a: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8F7F3A-8DC8-944D-B185-310587E41C5F}"/>
              </a:ext>
            </a:extLst>
          </p:cNvPr>
          <p:cNvSpPr/>
          <p:nvPr/>
        </p:nvSpPr>
        <p:spPr>
          <a:xfrm>
            <a:off x="6406823" y="1746479"/>
            <a:ext cx="2508823" cy="4200721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C915CD-DC22-1C47-A40B-FFF2217F1D88}"/>
              </a:ext>
            </a:extLst>
          </p:cNvPr>
          <p:cNvCxnSpPr>
            <a:cxnSpLocks/>
          </p:cNvCxnSpPr>
          <p:nvPr/>
        </p:nvCxnSpPr>
        <p:spPr>
          <a:xfrm flipV="1">
            <a:off x="2372497" y="2829697"/>
            <a:ext cx="4806779" cy="21006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B1A0C0-C41D-C649-93BF-C253EDC9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80704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E6A6DB3A-D9CE-AB2C-C1CC-4CA44BDA07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033" y="1118442"/>
            <a:ext cx="2508823" cy="5437727"/>
          </a:xfrm>
          <a:prstGeom prst="rect">
            <a:avLst/>
          </a:prstGeom>
        </p:spPr>
      </p:pic>
      <p:pic>
        <p:nvPicPr>
          <p:cNvPr id="5" name="Picture 4" descr="A white and grey rectangular object&#10;&#10;Description automatically generated">
            <a:extLst>
              <a:ext uri="{FF2B5EF4-FFF2-40B4-BE49-F238E27FC236}">
                <a16:creationId xmlns:a16="http://schemas.microsoft.com/office/drawing/2014/main" id="{831972C0-3C05-2074-2961-26DC095204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59" y="1118442"/>
            <a:ext cx="2508823" cy="5437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8F7F3A-8DC8-944D-B185-310587E41C5F}"/>
              </a:ext>
            </a:extLst>
          </p:cNvPr>
          <p:cNvSpPr/>
          <p:nvPr/>
        </p:nvSpPr>
        <p:spPr>
          <a:xfrm>
            <a:off x="6406823" y="1746479"/>
            <a:ext cx="2508823" cy="4209478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91725C-8258-644B-BC8B-35632077FC04}"/>
              </a:ext>
            </a:extLst>
          </p:cNvPr>
          <p:cNvSpPr/>
          <p:nvPr/>
        </p:nvSpPr>
        <p:spPr>
          <a:xfrm>
            <a:off x="702640" y="2401956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home: Scaffold(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...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body: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child: Text('The body.'),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),</a:t>
            </a:r>
          </a:p>
          <a:p>
            <a:r>
              <a:rPr lang="en-GB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6F8732-793D-1E4A-AEE5-5C64A75A1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7124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F47A1ED6-7BBD-319A-D7BD-06A647ED7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033" y="1118442"/>
            <a:ext cx="2508823" cy="5437727"/>
          </a:xfrm>
          <a:prstGeom prst="rect">
            <a:avLst/>
          </a:prstGeom>
        </p:spPr>
      </p:pic>
      <p:pic>
        <p:nvPicPr>
          <p:cNvPr id="6" name="Picture 5" descr="A white and grey rectangular object&#10;&#10;Description automatically generated">
            <a:extLst>
              <a:ext uri="{FF2B5EF4-FFF2-40B4-BE49-F238E27FC236}">
                <a16:creationId xmlns:a16="http://schemas.microsoft.com/office/drawing/2014/main" id="{E02FA73D-D28E-2A58-D4BF-0AF944B135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59" y="1118442"/>
            <a:ext cx="2508823" cy="5437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0372AA-0912-344B-9308-C19EB2F5DC4C}"/>
              </a:ext>
            </a:extLst>
          </p:cNvPr>
          <p:cNvSpPr/>
          <p:nvPr/>
        </p:nvSpPr>
        <p:spPr>
          <a:xfrm>
            <a:off x="628289" y="1746479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//Constructor of Scaffold</a:t>
            </a:r>
          </a:p>
          <a:p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const</a:t>
            </a:r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Scaffold({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Key key,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.appBar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.body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.floatingActionButton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.floatingActionButtonLocation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.floatingActionButtonAnimator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.persistentFooterButtons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.drawer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.endDrawer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.bottomNavigationBar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.bottomSheet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.backgroundColor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.resizeToAvoidBottomPadding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.primary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})</a:t>
            </a: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C915CD-DC22-1C47-A40B-FFF2217F1D88}"/>
              </a:ext>
            </a:extLst>
          </p:cNvPr>
          <p:cNvCxnSpPr>
            <a:cxnSpLocks/>
          </p:cNvCxnSpPr>
          <p:nvPr/>
        </p:nvCxnSpPr>
        <p:spPr>
          <a:xfrm>
            <a:off x="4547286" y="3299254"/>
            <a:ext cx="3830595" cy="232307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ADEC2EB-9BD4-2845-85C4-816CDED497CC}"/>
              </a:ext>
            </a:extLst>
          </p:cNvPr>
          <p:cNvSpPr/>
          <p:nvPr/>
        </p:nvSpPr>
        <p:spPr>
          <a:xfrm flipV="1">
            <a:off x="8377881" y="5467709"/>
            <a:ext cx="500695" cy="46955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234D16-3C83-DD46-BEDB-C27DEEB81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3724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0F43A198-1C3B-42AA-2013-003E3B642A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033" y="1118442"/>
            <a:ext cx="2508823" cy="5437727"/>
          </a:xfrm>
          <a:prstGeom prst="rect">
            <a:avLst/>
          </a:prstGeom>
        </p:spPr>
      </p:pic>
      <p:pic>
        <p:nvPicPr>
          <p:cNvPr id="6" name="Picture 5" descr="A white and grey rectangular object&#10;&#10;Description automatically generated">
            <a:extLst>
              <a:ext uri="{FF2B5EF4-FFF2-40B4-BE49-F238E27FC236}">
                <a16:creationId xmlns:a16="http://schemas.microsoft.com/office/drawing/2014/main" id="{DD4FB214-4C07-8DC1-6DB7-72AE5D31DE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59" y="1118442"/>
            <a:ext cx="2508823" cy="5437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CFBB15-EC1A-454F-A4BC-E64AD16759CE}"/>
              </a:ext>
            </a:extLst>
          </p:cNvPr>
          <p:cNvSpPr/>
          <p:nvPr/>
        </p:nvSpPr>
        <p:spPr>
          <a:xfrm>
            <a:off x="702640" y="2401956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home: Scaffold(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...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floatingActionButton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FloatingActionButton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child: Icon(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Icons.add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onPressed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() {},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),</a:t>
            </a:r>
          </a:p>
          <a:p>
            <a:r>
              <a:rPr lang="en-GB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9C0A78-61EE-9E4F-B482-1545C1DB06CF}"/>
              </a:ext>
            </a:extLst>
          </p:cNvPr>
          <p:cNvSpPr/>
          <p:nvPr/>
        </p:nvSpPr>
        <p:spPr>
          <a:xfrm flipV="1">
            <a:off x="8377881" y="5467709"/>
            <a:ext cx="500695" cy="46955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8E8C3-66FC-FF40-80BE-9628375B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5896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167C2462-0D14-E8ED-95B8-CB92B90BA8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033" y="1118442"/>
            <a:ext cx="2508823" cy="5437727"/>
          </a:xfrm>
          <a:prstGeom prst="rect">
            <a:avLst/>
          </a:prstGeom>
        </p:spPr>
      </p:pic>
      <p:pic>
        <p:nvPicPr>
          <p:cNvPr id="6" name="Picture 5" descr="A white and grey rectangular object&#10;&#10;Description automatically generated">
            <a:extLst>
              <a:ext uri="{FF2B5EF4-FFF2-40B4-BE49-F238E27FC236}">
                <a16:creationId xmlns:a16="http://schemas.microsoft.com/office/drawing/2014/main" id="{F39E4531-53FB-A9D0-5160-3CE0C5BA63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59" y="1118442"/>
            <a:ext cx="2508823" cy="5437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0372AA-0912-344B-9308-C19EB2F5DC4C}"/>
              </a:ext>
            </a:extLst>
          </p:cNvPr>
          <p:cNvSpPr/>
          <p:nvPr/>
        </p:nvSpPr>
        <p:spPr>
          <a:xfrm>
            <a:off x="628289" y="1746479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//Constructor of Scaffold</a:t>
            </a:r>
          </a:p>
          <a:p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const</a:t>
            </a:r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Scaffold({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Key key,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.appBar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.body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.floatingActionButton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.floatingActionButtonLocation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.floatingActionButtonAnimator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.persistentFooterButtons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.drawer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.endDrawer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.bottomNavigationBar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.bottomSheet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.backgroundColor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.resizeToAvoidBottomPadding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.primary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GB" b="1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solidFill>
                  <a:srgbClr val="29292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})</a:t>
            </a: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C915CD-DC22-1C47-A40B-FFF2217F1D88}"/>
              </a:ext>
            </a:extLst>
          </p:cNvPr>
          <p:cNvCxnSpPr>
            <a:cxnSpLocks/>
          </p:cNvCxnSpPr>
          <p:nvPr/>
        </p:nvCxnSpPr>
        <p:spPr>
          <a:xfrm>
            <a:off x="4436076" y="4967416"/>
            <a:ext cx="2706129" cy="939114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6FA92BB-439B-D248-9AC3-A5A11E73CCC6}"/>
              </a:ext>
            </a:extLst>
          </p:cNvPr>
          <p:cNvSpPr/>
          <p:nvPr/>
        </p:nvSpPr>
        <p:spPr>
          <a:xfrm flipV="1">
            <a:off x="6406823" y="5955957"/>
            <a:ext cx="2508823" cy="39541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2E42A5-8620-F849-9125-8701EAAC4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9398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0717DD54-2808-069C-80E0-27EF83417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033" y="1118442"/>
            <a:ext cx="2508823" cy="5437727"/>
          </a:xfrm>
          <a:prstGeom prst="rect">
            <a:avLst/>
          </a:prstGeom>
        </p:spPr>
      </p:pic>
      <p:pic>
        <p:nvPicPr>
          <p:cNvPr id="10" name="Picture 9" descr="A white and grey rectangular object&#10;&#10;Description automatically generated">
            <a:extLst>
              <a:ext uri="{FF2B5EF4-FFF2-40B4-BE49-F238E27FC236}">
                <a16:creationId xmlns:a16="http://schemas.microsoft.com/office/drawing/2014/main" id="{BBD699FC-DC3C-8EAA-EFBB-3CF6EA0C76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59" y="1118442"/>
            <a:ext cx="2508823" cy="5437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Focus on the Scaffold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CFBB15-EC1A-454F-A4BC-E64AD16759CE}"/>
              </a:ext>
            </a:extLst>
          </p:cNvPr>
          <p:cNvSpPr/>
          <p:nvPr/>
        </p:nvSpPr>
        <p:spPr>
          <a:xfrm>
            <a:off x="591429" y="1550059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home: Scaffold(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...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bottomNavigationBar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BottomNavigationBar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items: [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BottomNavigationBarItem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icon: Icon(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Icons.supervisor_account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label: 'Profile',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),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BottomNavigationBarItem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icon: Icon(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Icons.settings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label: 'Settings',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)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],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),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</a:t>
            </a:r>
            <a:endParaRPr lang="en-GB" b="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D372C8-C8AB-A140-8976-368D1416A4DC}"/>
              </a:ext>
            </a:extLst>
          </p:cNvPr>
          <p:cNvSpPr/>
          <p:nvPr/>
        </p:nvSpPr>
        <p:spPr>
          <a:xfrm flipV="1">
            <a:off x="6406823" y="5955957"/>
            <a:ext cx="2508823" cy="39541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76956C-BDBF-3442-8372-FE58ACCF8DDE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in l</a:t>
            </a:r>
            <a:r>
              <a:rPr lang="en-US" sz="1600" dirty="0" err="1">
                <a:latin typeface="Aptos" panose="020B0004020202020204" pitchFamily="34" charset="0"/>
                <a:ea typeface="Palatino" pitchFamily="2" charset="77"/>
              </a:rPr>
              <a:t>esson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_0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7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-</a:t>
            </a:r>
            <a:r>
              <a:rPr lang="en-US" sz="1600" dirty="0" err="1">
                <a:latin typeface="Aptos" panose="020B0004020202020204" pitchFamily="34" charset="0"/>
                <a:ea typeface="Palatino" pitchFamily="2" charset="77"/>
              </a:rPr>
              <a:t>ux_and_ui_in_flutter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/</a:t>
            </a: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scaffolding/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174C6-2088-A641-8D90-15C4B589F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50308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015AA-A167-478C-103B-D4D48B771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6111D1-5160-474A-43C1-3E9E1955E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Grouping</a:t>
            </a:r>
            <a:r>
              <a:rPr lang="it-IT" dirty="0"/>
              <a:t> Widgets </a:t>
            </a:r>
            <a:r>
              <a:rPr lang="it-IT" dirty="0" err="1"/>
              <a:t>together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293DBF0-3E3E-8EC5-9CAF-EC0CB16C7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3" y="1441050"/>
            <a:ext cx="10323395" cy="5346376"/>
          </a:xfrm>
        </p:spPr>
        <p:txBody>
          <a:bodyPr>
            <a:normAutofit/>
          </a:bodyPr>
          <a:lstStyle/>
          <a:p>
            <a:r>
              <a:rPr lang="en-US" dirty="0"/>
              <a:t>Grouping is how we visually communicate relationships.</a:t>
            </a:r>
          </a:p>
          <a:p>
            <a:r>
              <a:rPr lang="en-US" dirty="0"/>
              <a:t>Humans automatically assume:</a:t>
            </a:r>
          </a:p>
          <a:p>
            <a:pPr lvl="1"/>
            <a:r>
              <a:rPr lang="en-US" dirty="0"/>
              <a:t>Elements close together are related.</a:t>
            </a:r>
          </a:p>
          <a:p>
            <a:pPr lvl="1"/>
            <a:r>
              <a:rPr lang="en-US" dirty="0"/>
              <a:t>Elements inside the same container belong together.</a:t>
            </a:r>
          </a:p>
          <a:p>
            <a:pPr lvl="1"/>
            <a:r>
              <a:rPr lang="en-US" dirty="0"/>
              <a:t>Aligned elements form a logical group.</a:t>
            </a:r>
          </a:p>
          <a:p>
            <a:r>
              <a:rPr lang="en-US" dirty="0"/>
              <a:t>If we don’t group properly:</a:t>
            </a:r>
          </a:p>
          <a:p>
            <a:pPr lvl="1"/>
            <a:r>
              <a:rPr lang="en-US" dirty="0"/>
              <a:t>Screens feel chaotic</a:t>
            </a:r>
          </a:p>
          <a:p>
            <a:pPr lvl="1"/>
            <a:r>
              <a:rPr lang="en-US" dirty="0"/>
              <a:t>Users don’t know what belongs together</a:t>
            </a:r>
          </a:p>
          <a:p>
            <a:pPr lvl="1"/>
            <a:r>
              <a:rPr lang="en-US" dirty="0"/>
              <a:t>Cognitive load increases</a:t>
            </a:r>
          </a:p>
          <a:p>
            <a:endParaRPr lang="en-US" dirty="0"/>
          </a:p>
          <a:p>
            <a:r>
              <a:rPr lang="en-US" dirty="0"/>
              <a:t>Grouping reduces mental effort.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5E84573-C8AB-C0F8-DD09-6DD595A63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38594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9F061-B0B2-6F68-283E-B3B3B7C30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BE80B0-93E5-D41A-A129-CA32E7FA0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Column</a:t>
            </a:r>
            <a:r>
              <a:rPr lang="it-IT" dirty="0"/>
              <a:t>: The Vertical </a:t>
            </a:r>
            <a:r>
              <a:rPr lang="it-IT" dirty="0" err="1"/>
              <a:t>Grouping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CD566F-F8EC-98D6-6A89-C7729D5C9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3" y="1441050"/>
            <a:ext cx="10323395" cy="5346376"/>
          </a:xfrm>
        </p:spPr>
        <p:txBody>
          <a:bodyPr>
            <a:normAutofit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Column</a:t>
            </a:r>
            <a:r>
              <a:rPr lang="en-US" dirty="0"/>
              <a:t> Widget when:</a:t>
            </a:r>
          </a:p>
          <a:p>
            <a:pPr lvl="1"/>
            <a:r>
              <a:rPr lang="en-US" dirty="0"/>
              <a:t>Elements belong together vertically</a:t>
            </a:r>
          </a:p>
          <a:p>
            <a:pPr lvl="1"/>
            <a:r>
              <a:rPr lang="en-US" dirty="0"/>
              <a:t>The user should read top-to-bottom</a:t>
            </a:r>
          </a:p>
          <a:p>
            <a:pPr lvl="1"/>
            <a:r>
              <a:rPr lang="en-US" dirty="0"/>
              <a:t>You are structuring a section</a:t>
            </a:r>
          </a:p>
          <a:p>
            <a:endParaRPr lang="en-US" dirty="0"/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903BFD3-C851-099F-00F8-CC1A59B61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34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37DA68-B903-C63C-8FBD-2D841799750A}"/>
              </a:ext>
            </a:extLst>
          </p:cNvPr>
          <p:cNvSpPr/>
          <p:nvPr/>
        </p:nvSpPr>
        <p:spPr>
          <a:xfrm>
            <a:off x="4952490" y="2844677"/>
            <a:ext cx="7835032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Column(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mainAxisAlignment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MainAxisAlignment.center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children: [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Text(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"Glucose",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style: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Theme.of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(context).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textTheme.titleLarge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),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SizedBox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(height: 8),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Text(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"120 mg/dL",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style: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Theme.of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(context).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textTheme.headlineMedium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),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],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</p:txBody>
      </p:sp>
      <p:pic>
        <p:nvPicPr>
          <p:cNvPr id="8" name="Picture 7" descr="A close-up of a label&#10;&#10;AI-generated content may be incorrect.">
            <a:extLst>
              <a:ext uri="{FF2B5EF4-FFF2-40B4-BE49-F238E27FC236}">
                <a16:creationId xmlns:a16="http://schemas.microsoft.com/office/drawing/2014/main" id="{5CB2737D-98E4-9C84-591D-C46CA2242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577" y="3485766"/>
            <a:ext cx="1477092" cy="222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4654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BBE96-47C4-F922-58F9-C2E174641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AD6DF-155C-739B-685E-00AC02CE4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Row</a:t>
            </a:r>
            <a:r>
              <a:rPr lang="it-IT" dirty="0"/>
              <a:t>: The </a:t>
            </a:r>
            <a:r>
              <a:rPr lang="it-IT" dirty="0" err="1"/>
              <a:t>Horizontal</a:t>
            </a:r>
            <a:r>
              <a:rPr lang="it-IT" dirty="0"/>
              <a:t> </a:t>
            </a:r>
            <a:r>
              <a:rPr lang="it-IT" dirty="0" err="1"/>
              <a:t>Grouping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F43083-843C-5C11-9AF3-0119FB525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3" y="1441050"/>
            <a:ext cx="10323395" cy="5346376"/>
          </a:xfrm>
        </p:spPr>
        <p:txBody>
          <a:bodyPr>
            <a:normAutofit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Row</a:t>
            </a:r>
            <a:r>
              <a:rPr lang="en-US" dirty="0"/>
              <a:t> Widget when:</a:t>
            </a:r>
          </a:p>
          <a:p>
            <a:pPr lvl="1"/>
            <a:r>
              <a:rPr lang="en-US" dirty="0"/>
              <a:t>Items are at the same hierarchy level</a:t>
            </a:r>
          </a:p>
          <a:p>
            <a:pPr lvl="1"/>
            <a:r>
              <a:rPr lang="en-US" dirty="0"/>
              <a:t>The represent related but parallel information</a:t>
            </a:r>
          </a:p>
          <a:p>
            <a:pPr lvl="1"/>
            <a:r>
              <a:rPr lang="en-US" dirty="0"/>
              <a:t>You want side-by-side structure</a:t>
            </a:r>
          </a:p>
          <a:p>
            <a:endParaRPr lang="en-US" dirty="0"/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86DDBB1-CACA-F98E-E289-3B1DC454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35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DDF955-398E-DABB-EAC6-C3E335EEDA37}"/>
              </a:ext>
            </a:extLst>
          </p:cNvPr>
          <p:cNvSpPr/>
          <p:nvPr/>
        </p:nvSpPr>
        <p:spPr>
          <a:xfrm>
            <a:off x="4952490" y="2844677"/>
            <a:ext cx="783503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Row(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mainAxisAlignment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MainAxisAlignment.center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children: [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Text(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"Glucose",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style: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Theme.of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(context).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textTheme.titleLarge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),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SizedBox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(height: 8),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Text(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"120 mg/dL",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style: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Theme.of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(context).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textTheme.headlineMedium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),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],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</p:txBody>
      </p:sp>
      <p:pic>
        <p:nvPicPr>
          <p:cNvPr id="7" name="Picture 6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7EED35F6-1000-E158-0707-0EAF9235E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64" y="3745434"/>
            <a:ext cx="44323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6096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4F2DD-7446-763A-50BF-F94FDF28E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5348B5-0626-5EFC-47AD-AAD66AC2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Card: The Unit </a:t>
            </a:r>
            <a:r>
              <a:rPr lang="it-IT" dirty="0" err="1"/>
              <a:t>Grouping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3F3481-BC1B-1B36-A690-62B24F908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3" y="1441050"/>
            <a:ext cx="10323395" cy="5346376"/>
          </a:xfrm>
        </p:spPr>
        <p:txBody>
          <a:bodyPr>
            <a:normAutofit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Card</a:t>
            </a:r>
            <a:r>
              <a:rPr lang="en-US" dirty="0"/>
              <a:t> Widget to communicate that:</a:t>
            </a:r>
          </a:p>
          <a:p>
            <a:pPr lvl="1"/>
            <a:r>
              <a:rPr lang="en-US" dirty="0"/>
              <a:t>This content is a unit</a:t>
            </a:r>
          </a:p>
          <a:p>
            <a:pPr lvl="1"/>
            <a:r>
              <a:rPr lang="en-US" dirty="0"/>
              <a:t>It belongs together</a:t>
            </a:r>
          </a:p>
          <a:p>
            <a:pPr lvl="1"/>
            <a:r>
              <a:rPr lang="en-US" dirty="0"/>
              <a:t>It can be interacted with as one block</a:t>
            </a:r>
          </a:p>
          <a:p>
            <a:endParaRPr lang="en-US" dirty="0"/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1203E8F-BA3C-E739-FCF0-1A82BCA6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36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FF7859-0231-E03A-3C1C-80021198D596}"/>
              </a:ext>
            </a:extLst>
          </p:cNvPr>
          <p:cNvSpPr/>
          <p:nvPr/>
        </p:nvSpPr>
        <p:spPr>
          <a:xfrm>
            <a:off x="5686874" y="2644260"/>
            <a:ext cx="6505126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Card(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child: Padding(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padding: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EdgeInsets.all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(16),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child: Column(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crossAxisAlignment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CrossAxisAlignment.start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children: [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Text("Meal"),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SizedBox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(height: 8),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Text("45g carbohydrates"),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],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),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),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</a:t>
            </a:r>
          </a:p>
        </p:txBody>
      </p:sp>
      <p:pic>
        <p:nvPicPr>
          <p:cNvPr id="14" name="Picture 13" descr="A white background with pink and black lines&#10;&#10;AI-generated content may be incorrect.">
            <a:extLst>
              <a:ext uri="{FF2B5EF4-FFF2-40B4-BE49-F238E27FC236}">
                <a16:creationId xmlns:a16="http://schemas.microsoft.com/office/drawing/2014/main" id="{1BFD6052-E054-A97D-842B-E08281CEC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48" r="58599" b="76108"/>
          <a:stretch>
            <a:fillRect/>
          </a:stretch>
        </p:blipFill>
        <p:spPr>
          <a:xfrm>
            <a:off x="1537547" y="3754715"/>
            <a:ext cx="2151059" cy="141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886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ListView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7047666" cy="5334907"/>
          </a:xfrm>
        </p:spPr>
        <p:txBody>
          <a:bodyPr>
            <a:normAutofit/>
          </a:bodyPr>
          <a:lstStyle/>
          <a:p>
            <a:r>
              <a:rPr lang="en-US" dirty="0"/>
              <a:t>Use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ListView</a:t>
            </a:r>
            <a:r>
              <a:rPr lang="en-US" dirty="0"/>
              <a:t> if you want communicate that: </a:t>
            </a:r>
          </a:p>
          <a:p>
            <a:pPr lvl="1"/>
            <a:r>
              <a:rPr lang="en-US" dirty="0"/>
              <a:t>These are similar items</a:t>
            </a:r>
          </a:p>
          <a:p>
            <a:pPr lvl="1"/>
            <a:r>
              <a:rPr lang="en-US" dirty="0"/>
              <a:t>They share the same structure</a:t>
            </a:r>
          </a:p>
          <a:p>
            <a:pPr lvl="1"/>
            <a:r>
              <a:rPr lang="en-US" dirty="0"/>
              <a:t>They can grow dynamically</a:t>
            </a:r>
          </a:p>
          <a:p>
            <a:pPr lvl="1"/>
            <a:endParaRPr lang="en-GB" dirty="0"/>
          </a:p>
          <a:p>
            <a:r>
              <a:rPr lang="en-GB" dirty="0"/>
              <a:t>Conceptually they support scanning and pattern recognition in a UI. </a:t>
            </a:r>
          </a:p>
          <a:p>
            <a:endParaRPr lang="en-GB" dirty="0"/>
          </a:p>
          <a:p>
            <a:r>
              <a:rPr lang="en-GB" dirty="0"/>
              <a:t>Detailed info: </a:t>
            </a:r>
            <a:r>
              <a:rPr lang="en-GB" dirty="0">
                <a:hlinkClick r:id="rId3"/>
              </a:rPr>
              <a:t>https://api.flutter.dev/flutter/widgets/ListView-class.html</a:t>
            </a:r>
            <a:r>
              <a:rPr lang="en-GB" dirty="0"/>
              <a:t> </a:t>
            </a:r>
            <a:br>
              <a:rPr lang="en-GB" dirty="0"/>
            </a:br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45EDD-D38F-FC48-B946-783D9F6F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37</a:t>
            </a:fld>
            <a:endParaRPr lang="en-GB"/>
          </a:p>
        </p:txBody>
      </p:sp>
      <p:pic>
        <p:nvPicPr>
          <p:cNvPr id="7" name="Picture 6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9DAF0817-A321-1C77-343E-50422EDD60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5123" y="1361167"/>
            <a:ext cx="2536092" cy="549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9703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D7F8A629-2A07-8AA0-0B33-059DAFED8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111" y="2250946"/>
            <a:ext cx="4096987" cy="7164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ListView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CFBB15-EC1A-454F-A4BC-E64AD16759CE}"/>
              </a:ext>
            </a:extLst>
          </p:cNvPr>
          <p:cNvSpPr/>
          <p:nvPr/>
        </p:nvSpPr>
        <p:spPr>
          <a:xfrm>
            <a:off x="428172" y="1225689"/>
            <a:ext cx="741982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home: Scaffold(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...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body: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ListView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children: [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ListTile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</a:t>
            </a:r>
            <a:r>
              <a:rPr lang="en-GB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leading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Icon(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Icons.settings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</a:t>
            </a:r>
            <a:r>
              <a:rPr lang="en-GB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title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Text('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ListTile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1 title’),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</a:t>
            </a:r>
            <a:r>
              <a:rPr lang="en-GB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subtitle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Text('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ListTile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1 subtitle’),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</a:t>
            </a:r>
            <a:r>
              <a:rPr lang="en-GB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trailing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Icon(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Icons.arrow_right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),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ListTile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leading: Icon(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Icons.settings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title: Text('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ListTile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2 title’),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subtitle: Text('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ListTile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2 subtitle'),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trailing: Icon(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Icons.arrow_right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),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],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),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  <a:endParaRPr lang="en-GB" b="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7D5CD5-1CA6-4E4A-9D54-800950435754}"/>
              </a:ext>
            </a:extLst>
          </p:cNvPr>
          <p:cNvSpPr/>
          <p:nvPr/>
        </p:nvSpPr>
        <p:spPr>
          <a:xfrm flipV="1">
            <a:off x="8013201" y="2347783"/>
            <a:ext cx="2508823" cy="22912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89CAD0-03ED-CB46-AAF7-2FE37851FCC3}"/>
              </a:ext>
            </a:extLst>
          </p:cNvPr>
          <p:cNvSpPr/>
          <p:nvPr/>
        </p:nvSpPr>
        <p:spPr>
          <a:xfrm flipV="1">
            <a:off x="8013200" y="2601623"/>
            <a:ext cx="2508823" cy="22912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A5B3A5-D44C-954B-A4C7-53DE6442FBE4}"/>
              </a:ext>
            </a:extLst>
          </p:cNvPr>
          <p:cNvSpPr/>
          <p:nvPr/>
        </p:nvSpPr>
        <p:spPr>
          <a:xfrm flipV="1">
            <a:off x="11291652" y="2396197"/>
            <a:ext cx="472176" cy="38604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0B9F17-3CBC-F540-A449-79EE54B777C9}"/>
              </a:ext>
            </a:extLst>
          </p:cNvPr>
          <p:cNvSpPr/>
          <p:nvPr/>
        </p:nvSpPr>
        <p:spPr>
          <a:xfrm flipV="1">
            <a:off x="7488976" y="2330144"/>
            <a:ext cx="472176" cy="38604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63D333-4A7B-BC41-95CB-E6FA123F2551}"/>
              </a:ext>
            </a:extLst>
          </p:cNvPr>
          <p:cNvCxnSpPr>
            <a:cxnSpLocks/>
          </p:cNvCxnSpPr>
          <p:nvPr/>
        </p:nvCxnSpPr>
        <p:spPr>
          <a:xfrm flipV="1">
            <a:off x="5743371" y="2457510"/>
            <a:ext cx="1875795" cy="607723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A40856-7860-0344-8E5B-8D5B06C71608}"/>
              </a:ext>
            </a:extLst>
          </p:cNvPr>
          <p:cNvCxnSpPr>
            <a:cxnSpLocks/>
          </p:cNvCxnSpPr>
          <p:nvPr/>
        </p:nvCxnSpPr>
        <p:spPr>
          <a:xfrm flipV="1">
            <a:off x="5995788" y="2494617"/>
            <a:ext cx="2068898" cy="80461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9AEF747-8C8A-6247-B4C7-9354AC5A7B70}"/>
              </a:ext>
            </a:extLst>
          </p:cNvPr>
          <p:cNvCxnSpPr>
            <a:cxnSpLocks/>
          </p:cNvCxnSpPr>
          <p:nvPr/>
        </p:nvCxnSpPr>
        <p:spPr>
          <a:xfrm flipV="1">
            <a:off x="6681268" y="2723743"/>
            <a:ext cx="1474191" cy="81867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DEC716-4891-894F-AAEC-04FB32DC4B96}"/>
              </a:ext>
            </a:extLst>
          </p:cNvPr>
          <p:cNvCxnSpPr>
            <a:cxnSpLocks/>
          </p:cNvCxnSpPr>
          <p:nvPr/>
        </p:nvCxnSpPr>
        <p:spPr>
          <a:xfrm flipV="1">
            <a:off x="6264876" y="2830749"/>
            <a:ext cx="5189838" cy="107543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32E60106-01F4-E145-8D06-260185145602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in l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esson_07-ux_and_ui_in_flutter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/</a:t>
            </a:r>
            <a:r>
              <a:rPr lang="en-US" sz="1600" dirty="0" err="1">
                <a:latin typeface="Aptos" panose="020B0004020202020204" pitchFamily="34" charset="0"/>
                <a:ea typeface="Palatino" pitchFamily="2" charset="77"/>
              </a:rPr>
              <a:t>list_views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/</a:t>
            </a:r>
            <a:endParaRPr lang="en-IT" sz="1600" dirty="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E12F4-95F1-AB49-9CCE-928C441A8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8452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1787</TotalTime>
  <Words>2466</Words>
  <Application>Microsoft Macintosh PowerPoint</Application>
  <PresentationFormat>Widescreen</PresentationFormat>
  <Paragraphs>476</Paragraphs>
  <Slides>38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Aptos</vt:lpstr>
      <vt:lpstr>Arial</vt:lpstr>
      <vt:lpstr>Calibri</vt:lpstr>
      <vt:lpstr>Courier New</vt:lpstr>
      <vt:lpstr>Menlo</vt:lpstr>
      <vt:lpstr>Times New Roman</vt:lpstr>
      <vt:lpstr>Wingdings</vt:lpstr>
      <vt:lpstr>Tema di Office</vt:lpstr>
      <vt:lpstr>PowerPoint Presentation</vt:lpstr>
      <vt:lpstr>User eXperience (UX)</vt:lpstr>
      <vt:lpstr>User Interface (UI)</vt:lpstr>
      <vt:lpstr>Fundamental UX Principles</vt:lpstr>
      <vt:lpstr>Visual Hierarchy</vt:lpstr>
      <vt:lpstr>Consistency</vt:lpstr>
      <vt:lpstr>Feedback</vt:lpstr>
      <vt:lpstr>Cognitive Load</vt:lpstr>
      <vt:lpstr>Accessibility</vt:lpstr>
      <vt:lpstr>Design Systems</vt:lpstr>
      <vt:lpstr>Material Design</vt:lpstr>
      <vt:lpstr>Material Design</vt:lpstr>
      <vt:lpstr>Material Components as UX Decision</vt:lpstr>
      <vt:lpstr>Material Components as UX Decision</vt:lpstr>
      <vt:lpstr>Material Components as UX Decision</vt:lpstr>
      <vt:lpstr>Material Components as UX Decision</vt:lpstr>
      <vt:lpstr>Activating Material in Flutter: Theming</vt:lpstr>
      <vt:lpstr>Buttons as UX Communication</vt:lpstr>
      <vt:lpstr>Feedback in Flutter</vt:lpstr>
      <vt:lpstr>Defining the Structure with Scaffold</vt:lpstr>
      <vt:lpstr>Focus on the Scaffold</vt:lpstr>
      <vt:lpstr>Focus on the Scaffold</vt:lpstr>
      <vt:lpstr>Focus on the Scaffold</vt:lpstr>
      <vt:lpstr>Focus on the Scaffold</vt:lpstr>
      <vt:lpstr>Focus on the Scaffold</vt:lpstr>
      <vt:lpstr>Focus on the Scaffold</vt:lpstr>
      <vt:lpstr>Focus on the Scaffold</vt:lpstr>
      <vt:lpstr>Focus on the Scaffold</vt:lpstr>
      <vt:lpstr>Focus on the Scaffold</vt:lpstr>
      <vt:lpstr>Focus on the Scaffold</vt:lpstr>
      <vt:lpstr>Focus on the Scaffold</vt:lpstr>
      <vt:lpstr>Focus on the Scaffold</vt:lpstr>
      <vt:lpstr>Grouping Widgets together</vt:lpstr>
      <vt:lpstr>Column: The Vertical Grouping</vt:lpstr>
      <vt:lpstr>Row: The Horizontal Grouping</vt:lpstr>
      <vt:lpstr>Card: The Unit Grouping</vt:lpstr>
      <vt:lpstr>ListView</vt:lpstr>
      <vt:lpstr>ListView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940</cp:revision>
  <cp:lastPrinted>2022-05-08T20:17:57Z</cp:lastPrinted>
  <dcterms:created xsi:type="dcterms:W3CDTF">2021-07-19T09:08:13Z</dcterms:created>
  <dcterms:modified xsi:type="dcterms:W3CDTF">2026-02-19T10:05:13Z</dcterms:modified>
</cp:coreProperties>
</file>