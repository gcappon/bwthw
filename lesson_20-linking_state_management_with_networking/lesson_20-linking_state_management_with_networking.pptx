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95" r:id="rId3"/>
    <p:sldId id="413" r:id="rId4"/>
    <p:sldId id="411" r:id="rId5"/>
    <p:sldId id="412" r:id="rId6"/>
    <p:sldId id="374" r:id="rId7"/>
    <p:sldId id="410" r:id="rId8"/>
    <p:sldId id="407" r:id="rId9"/>
    <p:sldId id="366" r:id="rId10"/>
    <p:sldId id="409" r:id="rId11"/>
    <p:sldId id="40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 autoAdjust="0"/>
    <p:restoredTop sz="89116"/>
  </p:normalViewPr>
  <p:slideViewPr>
    <p:cSldViewPr snapToGrid="0">
      <p:cViewPr varScale="1">
        <p:scale>
          <a:sx n="113" d="100"/>
          <a:sy n="113" d="100"/>
        </p:scale>
        <p:origin x="122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2/19/26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93785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21716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9774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100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25852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2625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Linking State Management With Networking</a:t>
            </a:r>
            <a:endParaRPr lang="en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Recap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Linking state management with networking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45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r>
              <a:rPr lang="en-IT"/>
              <a:t>: </a:t>
            </a:r>
            <a:r>
              <a:rPr lang="en-IT" dirty="0"/>
              <a:t>Provider (core) flow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61167"/>
            <a:ext cx="5894344" cy="5153933"/>
          </a:xfrm>
        </p:spPr>
        <p:txBody>
          <a:bodyPr>
            <a:normAutofit/>
          </a:bodyPr>
          <a:lstStyle/>
          <a:p>
            <a:pPr marL="457200"/>
            <a:endParaRPr lang="en-IT" dirty="0"/>
          </a:p>
          <a:p>
            <a:endParaRPr lang="en-IT" dirty="0"/>
          </a:p>
        </p:txBody>
      </p:sp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9839" y="1863628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6890250" y="1166722"/>
            <a:ext cx="2543852" cy="159645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6871322" y="1248655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ClassImplementingChangeNotifier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E1531-BA3E-7A40-BAFD-4ED44A86B181}"/>
              </a:ext>
            </a:extLst>
          </p:cNvPr>
          <p:cNvSpPr txBox="1"/>
          <p:nvPr/>
        </p:nvSpPr>
        <p:spPr>
          <a:xfrm>
            <a:off x="7353072" y="4670627"/>
            <a:ext cx="22831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notifyListeners</a:t>
            </a:r>
            <a:r>
              <a:rPr lang="en-IT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IT" sz="1600">
                <a:latin typeface="Courier" pitchFamily="2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4C8E7-89C0-8D41-AE8C-0860C5F9D2C3}"/>
              </a:ext>
            </a:extLst>
          </p:cNvPr>
          <p:cNvSpPr txBox="1"/>
          <p:nvPr/>
        </p:nvSpPr>
        <p:spPr>
          <a:xfrm>
            <a:off x="7642036" y="5519616"/>
            <a:ext cx="170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>
                <a:latin typeface="Aptos" panose="020B0004020202020204" pitchFamily="34" charset="0"/>
              </a:rPr>
              <a:t>Call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builder</a:t>
            </a:r>
            <a:r>
              <a:rPr lang="en-IT">
                <a:latin typeface="Courier" pitchFamily="2" charset="0"/>
              </a:rPr>
              <a:t> </a:t>
            </a:r>
            <a:r>
              <a:rPr lang="en-IT">
                <a:latin typeface="Aptos" panose="020B0004020202020204" pitchFamily="34" charset="0"/>
              </a:rPr>
              <a:t>method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DE902-AE76-0C4E-8A9B-DCD0A5F12B87}"/>
              </a:ext>
            </a:extLst>
          </p:cNvPr>
          <p:cNvSpPr/>
          <p:nvPr/>
        </p:nvSpPr>
        <p:spPr>
          <a:xfrm>
            <a:off x="4003336" y="3276426"/>
            <a:ext cx="3292848" cy="341964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208B6-FB17-3948-9E81-98C671A17004}"/>
              </a:ext>
            </a:extLst>
          </p:cNvPr>
          <p:cNvSpPr txBox="1"/>
          <p:nvPr/>
        </p:nvSpPr>
        <p:spPr>
          <a:xfrm>
            <a:off x="3934689" y="3291279"/>
            <a:ext cx="3427627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ChangeNotifierProvider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BF5486-046D-DD4C-9FA3-4F1EB2ADFB39}"/>
              </a:ext>
            </a:extLst>
          </p:cNvPr>
          <p:cNvSpPr/>
          <p:nvPr/>
        </p:nvSpPr>
        <p:spPr>
          <a:xfrm>
            <a:off x="4246867" y="4451253"/>
            <a:ext cx="2701073" cy="218189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3A7DB7-662A-9B4B-A09C-2CA0EC3B77D6}"/>
              </a:ext>
            </a:extLst>
          </p:cNvPr>
          <p:cNvSpPr/>
          <p:nvPr/>
        </p:nvSpPr>
        <p:spPr>
          <a:xfrm>
            <a:off x="4621209" y="4963015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20CA3D-51F2-484F-9B03-A9633F5E3F42}"/>
              </a:ext>
            </a:extLst>
          </p:cNvPr>
          <p:cNvSpPr/>
          <p:nvPr/>
        </p:nvSpPr>
        <p:spPr>
          <a:xfrm>
            <a:off x="4362713" y="5484578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E4FF2A-87B0-ED48-967C-6FBBBD92052F}"/>
              </a:ext>
            </a:extLst>
          </p:cNvPr>
          <p:cNvSpPr/>
          <p:nvPr/>
        </p:nvSpPr>
        <p:spPr>
          <a:xfrm>
            <a:off x="6170439" y="6120512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895098-62E8-C041-82F9-E332E566B3CB}"/>
              </a:ext>
            </a:extLst>
          </p:cNvPr>
          <p:cNvSpPr/>
          <p:nvPr/>
        </p:nvSpPr>
        <p:spPr>
          <a:xfrm>
            <a:off x="5871093" y="5564273"/>
            <a:ext cx="348899" cy="30501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498B04-41CF-9E42-8231-EFA0A9145AF7}"/>
              </a:ext>
            </a:extLst>
          </p:cNvPr>
          <p:cNvSpPr/>
          <p:nvPr/>
        </p:nvSpPr>
        <p:spPr>
          <a:xfrm>
            <a:off x="5548850" y="6119272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E1A2A9-9E71-E540-856F-EC184C65FCF4}"/>
              </a:ext>
            </a:extLst>
          </p:cNvPr>
          <p:cNvCxnSpPr>
            <a:cxnSpLocks/>
            <a:stCxn id="32" idx="2"/>
            <a:endCxn id="51" idx="1"/>
          </p:cNvCxnSpPr>
          <p:nvPr/>
        </p:nvCxnSpPr>
        <p:spPr>
          <a:xfrm>
            <a:off x="4795659" y="5245488"/>
            <a:ext cx="667473" cy="10644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546FED-A595-FE42-B624-547A60370B86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4537163" y="5245488"/>
            <a:ext cx="258496" cy="23909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128583-786E-C740-B197-29B14CC6F4E9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5723300" y="5869289"/>
            <a:ext cx="322243" cy="249983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636790-1ACF-7A48-9335-D6199B135726}"/>
              </a:ext>
            </a:extLst>
          </p:cNvPr>
          <p:cNvCxnSpPr>
            <a:cxnSpLocks/>
            <a:stCxn id="37" idx="2"/>
            <a:endCxn id="35" idx="0"/>
          </p:cNvCxnSpPr>
          <p:nvPr/>
        </p:nvCxnSpPr>
        <p:spPr>
          <a:xfrm>
            <a:off x="6045543" y="5869289"/>
            <a:ext cx="299346" cy="251223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DC46EE-BA82-A84A-8C63-0FE6DDEEDDBA}"/>
              </a:ext>
            </a:extLst>
          </p:cNvPr>
          <p:cNvSpPr txBox="1"/>
          <p:nvPr/>
        </p:nvSpPr>
        <p:spPr>
          <a:xfrm>
            <a:off x="4480402" y="4533619"/>
            <a:ext cx="1961460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latin typeface="Aptos" panose="020B0004020202020204" pitchFamily="34" charset="0"/>
              </a:defRPr>
            </a:lvl1pPr>
          </a:lstStyle>
          <a:p>
            <a:r>
              <a:rPr lang="en-GB"/>
              <a:t>C</a:t>
            </a:r>
            <a:r>
              <a:rPr lang="en-IT" dirty="0"/>
              <a:t>hild widget tree </a:t>
            </a:r>
          </a:p>
        </p:txBody>
      </p:sp>
      <p:pic>
        <p:nvPicPr>
          <p:cNvPr id="46" name="Graphic 45" descr="Bell outline">
            <a:extLst>
              <a:ext uri="{FF2B5EF4-FFF2-40B4-BE49-F238E27FC236}">
                <a16:creationId xmlns:a16="http://schemas.microsoft.com/office/drawing/2014/main" id="{957D0E34-866D-654B-B441-327CDA4E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9574" y="3740816"/>
            <a:ext cx="512445" cy="51244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BEB9512-370A-2747-AE18-DA13F29FBB8E}"/>
              </a:ext>
            </a:extLst>
          </p:cNvPr>
          <p:cNvSpPr/>
          <p:nvPr/>
        </p:nvSpPr>
        <p:spPr>
          <a:xfrm>
            <a:off x="6394013" y="3714460"/>
            <a:ext cx="727189" cy="56891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D35447-04B8-CE48-B390-EA9816DBD563}"/>
              </a:ext>
            </a:extLst>
          </p:cNvPr>
          <p:cNvSpPr/>
          <p:nvPr/>
        </p:nvSpPr>
        <p:spPr>
          <a:xfrm>
            <a:off x="4216449" y="3740816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995D4FF0-CF7C-144A-8AA9-703C2521D235}"/>
              </a:ext>
            </a:extLst>
          </p:cNvPr>
          <p:cNvCxnSpPr>
            <a:cxnSpLocks/>
            <a:stCxn id="47" idx="1"/>
            <a:endCxn id="31" idx="0"/>
          </p:cNvCxnSpPr>
          <p:nvPr/>
        </p:nvCxnSpPr>
        <p:spPr>
          <a:xfrm rot="10800000" flipV="1">
            <a:off x="5597405" y="3998915"/>
            <a:ext cx="796609" cy="452337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CEB6BB-98BF-6B47-A5D5-F167186A05BF}"/>
              </a:ext>
            </a:extLst>
          </p:cNvPr>
          <p:cNvCxnSpPr>
            <a:cxnSpLocks/>
            <a:stCxn id="7" idx="2"/>
            <a:endCxn id="47" idx="3"/>
          </p:cNvCxnSpPr>
          <p:nvPr/>
        </p:nvCxnSpPr>
        <p:spPr>
          <a:xfrm rot="5400000">
            <a:off x="7063677" y="2835554"/>
            <a:ext cx="1220888" cy="1105837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33B8466-9178-3741-BAE3-6D71C8EE8F51}"/>
              </a:ext>
            </a:extLst>
          </p:cNvPr>
          <p:cNvSpPr/>
          <p:nvPr/>
        </p:nvSpPr>
        <p:spPr>
          <a:xfrm>
            <a:off x="5463132" y="5182651"/>
            <a:ext cx="11700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Consumer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89D5534-B274-3842-9AD4-6B535139EDD8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7540902" y="3716901"/>
            <a:ext cx="1907449" cy="2"/>
          </a:xfrm>
          <a:prstGeom prst="bentConnector3">
            <a:avLst>
              <a:gd name="adj1" fmla="val 5000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99AF843-0517-7842-8BD0-AC356B180D49}"/>
              </a:ext>
            </a:extLst>
          </p:cNvPr>
          <p:cNvSpPr/>
          <p:nvPr/>
        </p:nvSpPr>
        <p:spPr>
          <a:xfrm>
            <a:off x="5438763" y="5170315"/>
            <a:ext cx="1213557" cy="132475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4171B37-1BAF-E847-8A9F-13DDD5951959}"/>
              </a:ext>
            </a:extLst>
          </p:cNvPr>
          <p:cNvCxnSpPr>
            <a:cxnSpLocks/>
            <a:stCxn id="18" idx="1"/>
            <a:endCxn id="89" idx="3"/>
          </p:cNvCxnSpPr>
          <p:nvPr/>
        </p:nvCxnSpPr>
        <p:spPr>
          <a:xfrm flipH="1" flipV="1">
            <a:off x="6652320" y="5832693"/>
            <a:ext cx="989716" cy="10089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4EA29F2-86DD-5B4E-B5D7-1BC40D33D8C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8494624" y="5286180"/>
            <a:ext cx="1" cy="233436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8A145D-8226-994F-B500-D78B3CF7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64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/>
              <a:t>Recap: </a:t>
            </a:r>
            <a:r>
              <a:rPr lang="en-US" dirty="0"/>
              <a:t>Communicating with IMPACT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BA52-23DB-D94D-9195-7777C71CD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260" y="2205415"/>
            <a:ext cx="3084303" cy="554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T" sz="1400" dirty="0"/>
              <a:t>Get token (JWT) using credentials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 dirty="0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68B4606E-6CE4-3D5F-4F4A-F88148AE3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000" y="3138404"/>
            <a:ext cx="2435304" cy="171801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" name="Graphic 6" descr="Key outline">
            <a:extLst>
              <a:ext uri="{FF2B5EF4-FFF2-40B4-BE49-F238E27FC236}">
                <a16:creationId xmlns:a16="http://schemas.microsoft.com/office/drawing/2014/main" id="{986DEE35-93E4-0B04-952C-441C7D79C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5994" y="1971312"/>
            <a:ext cx="714266" cy="71426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9FCE54-4F42-AAF9-4E62-B5F5431C2580}"/>
              </a:ext>
            </a:extLst>
          </p:cNvPr>
          <p:cNvSpPr txBox="1">
            <a:spLocks/>
          </p:cNvSpPr>
          <p:nvPr/>
        </p:nvSpPr>
        <p:spPr>
          <a:xfrm>
            <a:off x="8733704" y="4998245"/>
            <a:ext cx="3329616" cy="4659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https://impact.dei.unipd.it/bwthw/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3EB194-617E-B58E-CE96-0B1F4BE0E372}"/>
              </a:ext>
            </a:extLst>
          </p:cNvPr>
          <p:cNvGrpSpPr/>
          <p:nvPr/>
        </p:nvGrpSpPr>
        <p:grpSpPr>
          <a:xfrm>
            <a:off x="227545" y="2883423"/>
            <a:ext cx="2102029" cy="2102029"/>
            <a:chOff x="0" y="1584963"/>
            <a:chExt cx="2102029" cy="2102029"/>
          </a:xfrm>
        </p:grpSpPr>
        <p:pic>
          <p:nvPicPr>
            <p:cNvPr id="10" name="Graphic 9" descr="Smart Phone outline">
              <a:extLst>
                <a:ext uri="{FF2B5EF4-FFF2-40B4-BE49-F238E27FC236}">
                  <a16:creationId xmlns:a16="http://schemas.microsoft.com/office/drawing/2014/main" id="{CA2DCB31-A77D-BD86-E4B0-289F26710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1584963"/>
              <a:ext cx="2102029" cy="210202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3A3C7F-BD6D-E717-036E-1B0293D02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5199" y="2175669"/>
              <a:ext cx="623644" cy="920618"/>
            </a:xfrm>
            <a:prstGeom prst="rect">
              <a:avLst/>
            </a:prstGeom>
          </p:spPr>
        </p:pic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D0427E-0CA4-C141-376F-AF9F36ED64FD}"/>
              </a:ext>
            </a:extLst>
          </p:cNvPr>
          <p:cNvSpPr txBox="1">
            <a:spLocks/>
          </p:cNvSpPr>
          <p:nvPr/>
        </p:nvSpPr>
        <p:spPr>
          <a:xfrm>
            <a:off x="339626" y="5019587"/>
            <a:ext cx="186987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Your app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213B210-5478-AFD9-1176-62D107898216}"/>
              </a:ext>
            </a:extLst>
          </p:cNvPr>
          <p:cNvSpPr txBox="1">
            <a:spLocks/>
          </p:cNvSpPr>
          <p:nvPr/>
        </p:nvSpPr>
        <p:spPr>
          <a:xfrm>
            <a:off x="4240759" y="1347068"/>
            <a:ext cx="289009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latin typeface="Aptos" panose="020B0004020202020204" pitchFamily="34" charset="0"/>
              </a:rPr>
              <a:t>HTTPS requests/responses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006254-DE4F-A533-1A17-D61DFBB68069}"/>
              </a:ext>
            </a:extLst>
          </p:cNvPr>
          <p:cNvCxnSpPr>
            <a:cxnSpLocks/>
          </p:cNvCxnSpPr>
          <p:nvPr/>
        </p:nvCxnSpPr>
        <p:spPr>
          <a:xfrm>
            <a:off x="2578431" y="2726965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7666D22-148F-E6B1-E625-BD153859681B}"/>
              </a:ext>
            </a:extLst>
          </p:cNvPr>
          <p:cNvSpPr/>
          <p:nvPr/>
        </p:nvSpPr>
        <p:spPr>
          <a:xfrm>
            <a:off x="3252998" y="1971612"/>
            <a:ext cx="4717657" cy="366634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464AFC2-A6C4-ABD4-F7AE-BE552A86545A}"/>
              </a:ext>
            </a:extLst>
          </p:cNvPr>
          <p:cNvSpPr txBox="1">
            <a:spLocks/>
          </p:cNvSpPr>
          <p:nvPr/>
        </p:nvSpPr>
        <p:spPr>
          <a:xfrm>
            <a:off x="4264151" y="3080089"/>
            <a:ext cx="308430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credentials are ok) Receive token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C6C3E2-5FB4-AED0-3124-135ECED0AF27}"/>
              </a:ext>
            </a:extLst>
          </p:cNvPr>
          <p:cNvCxnSpPr>
            <a:cxnSpLocks/>
          </p:cNvCxnSpPr>
          <p:nvPr/>
        </p:nvCxnSpPr>
        <p:spPr>
          <a:xfrm flipH="1">
            <a:off x="2629881" y="3606496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Graphic 33" descr="Binary outline">
            <a:extLst>
              <a:ext uri="{FF2B5EF4-FFF2-40B4-BE49-F238E27FC236}">
                <a16:creationId xmlns:a16="http://schemas.microsoft.com/office/drawing/2014/main" id="{0720541E-6B9A-B5CD-2818-DCA19A577D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6695" y="2873324"/>
            <a:ext cx="672864" cy="672864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0050E95-42A3-31EA-8810-95990719F38C}"/>
              </a:ext>
            </a:extLst>
          </p:cNvPr>
          <p:cNvSpPr txBox="1">
            <a:spLocks/>
          </p:cNvSpPr>
          <p:nvPr/>
        </p:nvSpPr>
        <p:spPr>
          <a:xfrm>
            <a:off x="4307977" y="3997413"/>
            <a:ext cx="342800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Ask for specific data using token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E81774-D8F6-C5E2-8EFE-E7B443C47D75}"/>
              </a:ext>
            </a:extLst>
          </p:cNvPr>
          <p:cNvCxnSpPr>
            <a:cxnSpLocks/>
          </p:cNvCxnSpPr>
          <p:nvPr/>
        </p:nvCxnSpPr>
        <p:spPr>
          <a:xfrm>
            <a:off x="2586148" y="4518963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32C270DE-6193-3578-5828-D3C1F577B3CB}"/>
              </a:ext>
            </a:extLst>
          </p:cNvPr>
          <p:cNvSpPr txBox="1">
            <a:spLocks/>
          </p:cNvSpPr>
          <p:nvPr/>
        </p:nvSpPr>
        <p:spPr>
          <a:xfrm>
            <a:off x="4151370" y="4879825"/>
            <a:ext cx="3819285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request is ok) Receive data (JSON format)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2E6D7-845C-B8D8-5DC2-04CEF680E74E}"/>
              </a:ext>
            </a:extLst>
          </p:cNvPr>
          <p:cNvCxnSpPr>
            <a:cxnSpLocks/>
          </p:cNvCxnSpPr>
          <p:nvPr/>
        </p:nvCxnSpPr>
        <p:spPr>
          <a:xfrm flipH="1">
            <a:off x="2637598" y="5398494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phic 41" descr="Question Mark outline">
            <a:extLst>
              <a:ext uri="{FF2B5EF4-FFF2-40B4-BE49-F238E27FC236}">
                <a16:creationId xmlns:a16="http://schemas.microsoft.com/office/drawing/2014/main" id="{CC724851-B09A-E88C-497A-18468B4519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0315" y="3821650"/>
            <a:ext cx="554632" cy="554632"/>
          </a:xfrm>
          <a:prstGeom prst="rect">
            <a:avLst/>
          </a:prstGeom>
        </p:spPr>
      </p:pic>
      <p:pic>
        <p:nvPicPr>
          <p:cNvPr id="44" name="Graphic 43" descr="Statistics outline">
            <a:extLst>
              <a:ext uri="{FF2B5EF4-FFF2-40B4-BE49-F238E27FC236}">
                <a16:creationId xmlns:a16="http://schemas.microsoft.com/office/drawing/2014/main" id="{2CCC07CF-26BB-0E3E-4A21-C1FEEA8686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80431" y="4558134"/>
            <a:ext cx="914400" cy="91440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6D8BC53D-F5D3-7E6A-B844-3C833995685D}"/>
              </a:ext>
            </a:extLst>
          </p:cNvPr>
          <p:cNvSpPr/>
          <p:nvPr/>
        </p:nvSpPr>
        <p:spPr>
          <a:xfrm>
            <a:off x="8204224" y="1918814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3C0C7809-3ACB-8B12-DC7A-2C194194E4A8}"/>
              </a:ext>
            </a:extLst>
          </p:cNvPr>
          <p:cNvSpPr/>
          <p:nvPr/>
        </p:nvSpPr>
        <p:spPr>
          <a:xfrm rot="10800000">
            <a:off x="2548411" y="3804783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10D0B0D-6D93-8722-54ED-D97D07017C93}"/>
              </a:ext>
            </a:extLst>
          </p:cNvPr>
          <p:cNvSpPr txBox="1">
            <a:spLocks/>
          </p:cNvSpPr>
          <p:nvPr/>
        </p:nvSpPr>
        <p:spPr>
          <a:xfrm>
            <a:off x="9611394" y="1650775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>
                <a:latin typeface="Aptos" panose="020B0004020202020204" pitchFamily="34" charset="0"/>
              </a:rPr>
              <a:t>Lesson </a:t>
            </a:r>
            <a:r>
              <a:rPr lang="en-US" b="1" dirty="0">
                <a:latin typeface="Aptos" panose="020B0004020202020204" pitchFamily="34" charset="0"/>
              </a:rPr>
              <a:t>18</a:t>
            </a:r>
            <a:endParaRPr lang="en-IT" b="1" dirty="0">
              <a:latin typeface="Aptos" panose="020B00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54C46A-996D-E572-A123-A9B909315C26}"/>
              </a:ext>
            </a:extLst>
          </p:cNvPr>
          <p:cNvSpPr txBox="1">
            <a:spLocks/>
          </p:cNvSpPr>
          <p:nvPr/>
        </p:nvSpPr>
        <p:spPr>
          <a:xfrm>
            <a:off x="598801" y="6054329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>
                <a:latin typeface="Aptos" panose="020B0004020202020204" pitchFamily="34" charset="0"/>
              </a:rPr>
              <a:t>Lesson 1</a:t>
            </a:r>
            <a:r>
              <a:rPr lang="en-US" b="1" dirty="0">
                <a:latin typeface="Aptos" panose="020B0004020202020204" pitchFamily="34" charset="0"/>
              </a:rPr>
              <a:t>9</a:t>
            </a:r>
            <a:endParaRPr lang="en-IT" b="1" dirty="0">
              <a:latin typeface="Aptos" panose="020B00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A2A4FF-A642-7827-6850-D3D15871B90A}"/>
              </a:ext>
            </a:extLst>
          </p:cNvPr>
          <p:cNvCxnSpPr>
            <a:endCxn id="17" idx="0"/>
          </p:cNvCxnSpPr>
          <p:nvPr/>
        </p:nvCxnSpPr>
        <p:spPr>
          <a:xfrm flipH="1">
            <a:off x="1437368" y="4627027"/>
            <a:ext cx="1141063" cy="142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F858CD-A623-6C8A-FE02-646D87B9E37A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8648338" y="1952796"/>
            <a:ext cx="963056" cy="807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48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</a:t>
            </a:r>
            <a:r>
              <a:rPr lang="en-IT"/>
              <a:t>The </a:t>
            </a:r>
            <a:r>
              <a:rPr lang="en-US" dirty="0"/>
              <a:t>networking</a:t>
            </a:r>
            <a:r>
              <a:rPr lang="en-IT"/>
              <a:t> flow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7B6308-4B6E-CBE3-2D9A-795918D474AE}"/>
              </a:ext>
            </a:extLst>
          </p:cNvPr>
          <p:cNvSpPr/>
          <p:nvPr/>
        </p:nvSpPr>
        <p:spPr>
          <a:xfrm>
            <a:off x="1417320" y="1311043"/>
            <a:ext cx="5753451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Use credentials to ask for a JWT token pair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4200A1-1176-ECD5-9518-FF1F2DC65A06}"/>
              </a:ext>
            </a:extLst>
          </p:cNvPr>
          <p:cNvSpPr/>
          <p:nvPr/>
        </p:nvSpPr>
        <p:spPr>
          <a:xfrm>
            <a:off x="1417320" y="1956148"/>
            <a:ext cx="5753450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Receive JWT token pair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2CFE9-74EF-180D-AA3F-41BAB7CB3621}"/>
              </a:ext>
            </a:extLst>
          </p:cNvPr>
          <p:cNvSpPr/>
          <p:nvPr/>
        </p:nvSpPr>
        <p:spPr>
          <a:xfrm>
            <a:off x="1417320" y="2528771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Store token pair for making calls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32B27A-DC26-B91A-878E-9D1F5A3DB7ED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4294045" y="1694354"/>
            <a:ext cx="1" cy="26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353CD1-3C6D-5E38-1300-F17E2AB6D4E5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4294045" y="2339459"/>
            <a:ext cx="0" cy="18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97D2822-EC21-B2F1-B64A-510F99B94BCD}"/>
              </a:ext>
            </a:extLst>
          </p:cNvPr>
          <p:cNvSpPr/>
          <p:nvPr/>
        </p:nvSpPr>
        <p:spPr>
          <a:xfrm>
            <a:off x="2878541" y="3310771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Access token expired?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560081-E8BB-4EF3-7C7F-5D6D01BF0F5C}"/>
              </a:ext>
            </a:extLst>
          </p:cNvPr>
          <p:cNvSpPr/>
          <p:nvPr/>
        </p:nvSpPr>
        <p:spPr>
          <a:xfrm>
            <a:off x="4843704" y="4881307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Make a call to get data using access token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BAD13C-8618-93A4-2969-85B61DB190C7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 flipH="1">
            <a:off x="4294043" y="2912083"/>
            <a:ext cx="2" cy="3986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1694C6-EA15-11C0-AE43-9FEFE3116949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4294043" y="3694084"/>
            <a:ext cx="3426386" cy="1187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C8F217A-C024-20CF-EC5D-56E7C6D53193}"/>
              </a:ext>
            </a:extLst>
          </p:cNvPr>
          <p:cNvCxnSpPr>
            <a:cxnSpLocks/>
            <a:stCxn id="28" idx="2"/>
            <a:endCxn id="82" idx="0"/>
          </p:cNvCxnSpPr>
          <p:nvPr/>
        </p:nvCxnSpPr>
        <p:spPr>
          <a:xfrm flipH="1">
            <a:off x="1594847" y="3694084"/>
            <a:ext cx="2699196" cy="869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04A0A1A-02EC-0652-2DB4-9C660F5CBFFE}"/>
              </a:ext>
            </a:extLst>
          </p:cNvPr>
          <p:cNvCxnSpPr>
            <a:cxnSpLocks/>
            <a:stCxn id="88" idx="3"/>
            <a:endCxn id="29" idx="1"/>
          </p:cNvCxnSpPr>
          <p:nvPr/>
        </p:nvCxnSpPr>
        <p:spPr>
          <a:xfrm flipV="1">
            <a:off x="3754287" y="5072963"/>
            <a:ext cx="1089417" cy="1118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AA519743-4BEF-00D3-97AE-DF78F1FBC87C}"/>
              </a:ext>
            </a:extLst>
          </p:cNvPr>
          <p:cNvSpPr txBox="1">
            <a:spLocks/>
          </p:cNvSpPr>
          <p:nvPr/>
        </p:nvSpPr>
        <p:spPr>
          <a:xfrm>
            <a:off x="2195449" y="3878419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CAED8DAF-8693-1563-7F60-15E843CA49AB}"/>
              </a:ext>
            </a:extLst>
          </p:cNvPr>
          <p:cNvSpPr txBox="1">
            <a:spLocks/>
          </p:cNvSpPr>
          <p:nvPr/>
        </p:nvSpPr>
        <p:spPr>
          <a:xfrm>
            <a:off x="5563586" y="386940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B7B55B2-D574-B610-E2A1-5C32761E9027}"/>
              </a:ext>
            </a:extLst>
          </p:cNvPr>
          <p:cNvCxnSpPr/>
          <p:nvPr/>
        </p:nvCxnSpPr>
        <p:spPr>
          <a:xfrm>
            <a:off x="0" y="3080251"/>
            <a:ext cx="1219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8C5764F-0459-1BD1-02F0-577C53912173}"/>
              </a:ext>
            </a:extLst>
          </p:cNvPr>
          <p:cNvSpPr/>
          <p:nvPr/>
        </p:nvSpPr>
        <p:spPr>
          <a:xfrm>
            <a:off x="179345" y="4563547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Refresh token expired?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AFA570E-D20C-8C65-48DA-B1F1029076A6}"/>
              </a:ext>
            </a:extLst>
          </p:cNvPr>
          <p:cNvSpPr/>
          <p:nvPr/>
        </p:nvSpPr>
        <p:spPr>
          <a:xfrm>
            <a:off x="159587" y="5850259"/>
            <a:ext cx="3594700" cy="68164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Get a new token pair using the refresh token and store it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A52B199-DAA7-7E18-EDBC-CD81FF84D626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722133" y="1502699"/>
            <a:ext cx="695187" cy="3060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F10546A3-FAB4-3FC6-2093-D9AFF0578F05}"/>
              </a:ext>
            </a:extLst>
          </p:cNvPr>
          <p:cNvSpPr txBox="1">
            <a:spLocks/>
          </p:cNvSpPr>
          <p:nvPr/>
        </p:nvSpPr>
        <p:spPr>
          <a:xfrm>
            <a:off x="159587" y="4024388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id="{545B80E8-8C1F-9FC7-B447-2C63EF82F82D}"/>
              </a:ext>
            </a:extLst>
          </p:cNvPr>
          <p:cNvSpPr txBox="1">
            <a:spLocks/>
          </p:cNvSpPr>
          <p:nvPr/>
        </p:nvSpPr>
        <p:spPr>
          <a:xfrm>
            <a:off x="1768524" y="528132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D1E1CBD-4178-0F49-7512-A2070194A855}"/>
              </a:ext>
            </a:extLst>
          </p:cNvPr>
          <p:cNvCxnSpPr>
            <a:cxnSpLocks/>
            <a:stCxn id="82" idx="2"/>
            <a:endCxn id="88" idx="0"/>
          </p:cNvCxnSpPr>
          <p:nvPr/>
        </p:nvCxnSpPr>
        <p:spPr>
          <a:xfrm>
            <a:off x="1594847" y="4946860"/>
            <a:ext cx="362090" cy="90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188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b="1" dirty="0"/>
              <a:t>Linking state management with networking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3250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619048" cy="860243"/>
          </a:xfrm>
        </p:spPr>
        <p:txBody>
          <a:bodyPr>
            <a:normAutofit fontScale="90000"/>
          </a:bodyPr>
          <a:lstStyle/>
          <a:p>
            <a:r>
              <a:rPr lang="en-US" dirty="0"/>
              <a:t>Linking state management with networking: simplified schema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CEDB8F6-0139-DD76-A32F-09C7946300B2}"/>
              </a:ext>
            </a:extLst>
          </p:cNvPr>
          <p:cNvSpPr/>
          <p:nvPr/>
        </p:nvSpPr>
        <p:spPr>
          <a:xfrm>
            <a:off x="609142" y="2796408"/>
            <a:ext cx="2543852" cy="73537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Create request and get the response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CFAA7A-53B7-94F2-6450-98F811DC4738}"/>
              </a:ext>
            </a:extLst>
          </p:cNvPr>
          <p:cNvSpPr/>
          <p:nvPr/>
        </p:nvSpPr>
        <p:spPr>
          <a:xfrm>
            <a:off x="702387" y="1841223"/>
            <a:ext cx="2357362" cy="735377"/>
          </a:xfrm>
          <a:prstGeom prst="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“Event” that asks to fetch data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E0F7A1-37CD-75D0-50C9-0DBE634D4172}"/>
              </a:ext>
            </a:extLst>
          </p:cNvPr>
          <p:cNvSpPr/>
          <p:nvPr/>
        </p:nvSpPr>
        <p:spPr>
          <a:xfrm>
            <a:off x="562520" y="3764391"/>
            <a:ext cx="2543852" cy="73537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“Manage” response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AB768-5EF5-AE27-9004-28FF56932412}"/>
              </a:ext>
            </a:extLst>
          </p:cNvPr>
          <p:cNvSpPr/>
          <p:nvPr/>
        </p:nvSpPr>
        <p:spPr>
          <a:xfrm>
            <a:off x="609142" y="4706241"/>
            <a:ext cx="2450607" cy="83796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Trigger the builders</a:t>
            </a:r>
            <a:endParaRPr lang="en-IT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9C76A-2CFF-F2F9-4401-88423356E4D0}"/>
              </a:ext>
            </a:extLst>
          </p:cNvPr>
          <p:cNvSpPr txBox="1"/>
          <p:nvPr/>
        </p:nvSpPr>
        <p:spPr>
          <a:xfrm>
            <a:off x="1040998" y="1170086"/>
            <a:ext cx="1680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WHAT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81179-7777-B6F1-1194-09B149C67324}"/>
              </a:ext>
            </a:extLst>
          </p:cNvPr>
          <p:cNvSpPr txBox="1"/>
          <p:nvPr/>
        </p:nvSpPr>
        <p:spPr>
          <a:xfrm>
            <a:off x="4735741" y="1170087"/>
            <a:ext cx="1680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WHERE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60B864-3CCC-650A-94CB-633B96686083}"/>
              </a:ext>
            </a:extLst>
          </p:cNvPr>
          <p:cNvSpPr txBox="1"/>
          <p:nvPr/>
        </p:nvSpPr>
        <p:spPr>
          <a:xfrm>
            <a:off x="3557449" y="2010665"/>
            <a:ext cx="403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Everywhere in your application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8F511F-1B68-8987-0B5D-1EA3BE9A1761}"/>
              </a:ext>
            </a:extLst>
          </p:cNvPr>
          <p:cNvSpPr txBox="1"/>
          <p:nvPr/>
        </p:nvSpPr>
        <p:spPr>
          <a:xfrm>
            <a:off x="8955481" y="1195267"/>
            <a:ext cx="1680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HOW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42911-2EF3-0449-0537-4EBFECD60EB4}"/>
              </a:ext>
            </a:extLst>
          </p:cNvPr>
          <p:cNvSpPr txBox="1"/>
          <p:nvPr/>
        </p:nvSpPr>
        <p:spPr>
          <a:xfrm>
            <a:off x="3512160" y="3833750"/>
            <a:ext cx="4127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In the provider (the class that is extending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</a:t>
            </a:r>
            <a:r>
              <a:rPr lang="en-US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7F3165-B906-29CA-A688-D9C0CC790B4A}"/>
              </a:ext>
            </a:extLst>
          </p:cNvPr>
          <p:cNvSpPr txBox="1"/>
          <p:nvPr/>
        </p:nvSpPr>
        <p:spPr>
          <a:xfrm>
            <a:off x="3466873" y="4762211"/>
            <a:ext cx="4127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In the provider (the class that is extending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</a:t>
            </a:r>
            <a:r>
              <a:rPr lang="en-US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5040FD-3881-CE93-FEC3-E0D6EABACAE7}"/>
              </a:ext>
            </a:extLst>
          </p:cNvPr>
          <p:cNvSpPr txBox="1"/>
          <p:nvPr/>
        </p:nvSpPr>
        <p:spPr>
          <a:xfrm>
            <a:off x="3512159" y="5853106"/>
            <a:ext cx="4127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Everywhere in your application (where needed)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9BBC0B-2383-29B3-E85E-3FEBBC3429BA}"/>
              </a:ext>
            </a:extLst>
          </p:cNvPr>
          <p:cNvSpPr/>
          <p:nvPr/>
        </p:nvSpPr>
        <p:spPr>
          <a:xfrm>
            <a:off x="609142" y="5757288"/>
            <a:ext cx="2450607" cy="83796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Rebuild the UI</a:t>
            </a:r>
            <a:endParaRPr lang="en-IT"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5D7403-3647-373C-FA64-3544974428BD}"/>
              </a:ext>
            </a:extLst>
          </p:cNvPr>
          <p:cNvSpPr txBox="1"/>
          <p:nvPr/>
        </p:nvSpPr>
        <p:spPr>
          <a:xfrm>
            <a:off x="7777191" y="4912897"/>
            <a:ext cx="4127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Calling</a:t>
            </a:r>
            <a:r>
              <a:rPr lang="en-US" dirty="0">
                <a:latin typeface="Palatino Linotype" panose="02040502050505030304" pitchFamily="18" charset="0"/>
              </a:rPr>
              <a:t>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notifyListeners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6F5F99-A47C-E104-143E-B8B69C278CBE}"/>
              </a:ext>
            </a:extLst>
          </p:cNvPr>
          <p:cNvSpPr txBox="1"/>
          <p:nvPr/>
        </p:nvSpPr>
        <p:spPr>
          <a:xfrm>
            <a:off x="7846572" y="5853107"/>
            <a:ext cx="4127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Using</a:t>
            </a:r>
            <a:r>
              <a:rPr lang="en-US" dirty="0">
                <a:latin typeface="Palatino Linotype" panose="02040502050505030304" pitchFamily="18" charset="0"/>
              </a:rPr>
              <a:t>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Consumer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B5DA20-2339-2A25-C1A8-FE5E1F932C13}"/>
              </a:ext>
            </a:extLst>
          </p:cNvPr>
          <p:cNvSpPr txBox="1"/>
          <p:nvPr/>
        </p:nvSpPr>
        <p:spPr>
          <a:xfrm>
            <a:off x="8174401" y="2979429"/>
            <a:ext cx="3242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&lt;See lesson 18 and 19&gt;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FA845F-7D3B-8578-C7B8-17FCD6EE582F}"/>
              </a:ext>
            </a:extLst>
          </p:cNvPr>
          <p:cNvSpPr txBox="1"/>
          <p:nvPr/>
        </p:nvSpPr>
        <p:spPr>
          <a:xfrm>
            <a:off x="8219690" y="3946163"/>
            <a:ext cx="3242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&lt;See lesson 18 and 19&gt;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75D5B6-BCD7-CD9A-83FA-8AA5E401B807}"/>
              </a:ext>
            </a:extLst>
          </p:cNvPr>
          <p:cNvSpPr txBox="1"/>
          <p:nvPr/>
        </p:nvSpPr>
        <p:spPr>
          <a:xfrm>
            <a:off x="3512160" y="2805315"/>
            <a:ext cx="4127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In a class dedicated to communicate with IMPACT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130807-F66B-42AB-B6F4-058AC8A9448F}"/>
              </a:ext>
            </a:extLst>
          </p:cNvPr>
          <p:cNvSpPr txBox="1"/>
          <p:nvPr/>
        </p:nvSpPr>
        <p:spPr>
          <a:xfrm>
            <a:off x="7777191" y="1881985"/>
            <a:ext cx="4036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Many options, e.g., using a button, automatically done if something happen…</a:t>
            </a:r>
          </a:p>
        </p:txBody>
      </p:sp>
    </p:spTree>
    <p:extLst>
      <p:ext uri="{BB962C8B-B14F-4D97-AF65-F5344CB8AC3E}">
        <p14:creationId xmlns:p14="http://schemas.microsoft.com/office/powerpoint/2010/main" val="3934099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Linking state management with networking: detailed schema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 dirty="0"/>
          </a:p>
        </p:txBody>
      </p:sp>
      <p:pic>
        <p:nvPicPr>
          <p:cNvPr id="14" name="Graphic 13" descr="Bell outline">
            <a:extLst>
              <a:ext uri="{FF2B5EF4-FFF2-40B4-BE49-F238E27FC236}">
                <a16:creationId xmlns:a16="http://schemas.microsoft.com/office/drawing/2014/main" id="{2E3FD1D2-AF29-C258-1987-0C46DA7E6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9089" y="1761675"/>
            <a:ext cx="914400" cy="9144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99F6BF0-31C1-0DAD-DA06-F1BFC2A40C8F}"/>
              </a:ext>
            </a:extLst>
          </p:cNvPr>
          <p:cNvSpPr/>
          <p:nvPr/>
        </p:nvSpPr>
        <p:spPr>
          <a:xfrm>
            <a:off x="2114363" y="1172789"/>
            <a:ext cx="2543852" cy="159645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A4B1A8-1BB5-2495-1538-30CDD4D9830F}"/>
              </a:ext>
            </a:extLst>
          </p:cNvPr>
          <p:cNvSpPr txBox="1"/>
          <p:nvPr/>
        </p:nvSpPr>
        <p:spPr>
          <a:xfrm>
            <a:off x="2102118" y="1185023"/>
            <a:ext cx="2560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ClassImplementingChangeNotifier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CD801F-154F-2742-33D1-1DEA4B4C07DD}"/>
              </a:ext>
            </a:extLst>
          </p:cNvPr>
          <p:cNvSpPr txBox="1"/>
          <p:nvPr/>
        </p:nvSpPr>
        <p:spPr>
          <a:xfrm>
            <a:off x="3384016" y="5814264"/>
            <a:ext cx="1705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Flutter c</a:t>
            </a:r>
            <a:r>
              <a:rPr lang="en-IT">
                <a:latin typeface="Aptos" panose="020B0004020202020204" pitchFamily="34" charset="0"/>
              </a:rPr>
              <a:t>all</a:t>
            </a:r>
            <a:r>
              <a:rPr lang="en-US" dirty="0">
                <a:latin typeface="Aptos" panose="020B0004020202020204" pitchFamily="34" charset="0"/>
              </a:rPr>
              <a:t>s</a:t>
            </a:r>
            <a:r>
              <a:rPr lang="en-IT">
                <a:latin typeface="Aptos" panose="020B0004020202020204" pitchFamily="34" charset="0"/>
              </a:rPr>
              <a:t>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builder</a:t>
            </a:r>
            <a:r>
              <a:rPr lang="en-IT" dirty="0">
                <a:latin typeface="Courier" pitchFamily="2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method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5F7003-35ED-557F-92CA-72F469C3850B}"/>
              </a:ext>
            </a:extLst>
          </p:cNvPr>
          <p:cNvSpPr/>
          <p:nvPr/>
        </p:nvSpPr>
        <p:spPr>
          <a:xfrm>
            <a:off x="744" y="3227252"/>
            <a:ext cx="3292848" cy="341964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30C1A7-BE46-8518-6A32-EDC844C7EEA4}"/>
              </a:ext>
            </a:extLst>
          </p:cNvPr>
          <p:cNvSpPr txBox="1"/>
          <p:nvPr/>
        </p:nvSpPr>
        <p:spPr>
          <a:xfrm>
            <a:off x="-67903" y="3242105"/>
            <a:ext cx="3427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ChangeNotifierProvider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8D808D-4FE3-5FBB-3EDE-B71D3FA25A04}"/>
              </a:ext>
            </a:extLst>
          </p:cNvPr>
          <p:cNvSpPr/>
          <p:nvPr/>
        </p:nvSpPr>
        <p:spPr>
          <a:xfrm>
            <a:off x="244275" y="4402079"/>
            <a:ext cx="2701073" cy="218189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2C242A-F8CD-A1D7-6E98-54A7E2D236D3}"/>
              </a:ext>
            </a:extLst>
          </p:cNvPr>
          <p:cNvSpPr/>
          <p:nvPr/>
        </p:nvSpPr>
        <p:spPr>
          <a:xfrm>
            <a:off x="618617" y="4913841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42756E-E28D-6A68-2AB4-C47A26B64DF0}"/>
              </a:ext>
            </a:extLst>
          </p:cNvPr>
          <p:cNvSpPr/>
          <p:nvPr/>
        </p:nvSpPr>
        <p:spPr>
          <a:xfrm>
            <a:off x="360121" y="5435404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22F872-298D-664E-F336-F347D35EB4C3}"/>
              </a:ext>
            </a:extLst>
          </p:cNvPr>
          <p:cNvSpPr/>
          <p:nvPr/>
        </p:nvSpPr>
        <p:spPr>
          <a:xfrm>
            <a:off x="2167847" y="6071338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3CAA2-5EA5-CA3F-02D9-0D4FC75E7F2F}"/>
              </a:ext>
            </a:extLst>
          </p:cNvPr>
          <p:cNvSpPr/>
          <p:nvPr/>
        </p:nvSpPr>
        <p:spPr>
          <a:xfrm>
            <a:off x="1868501" y="5515099"/>
            <a:ext cx="348899" cy="30501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0607D6-1919-A6F7-C90A-3F93F489A929}"/>
              </a:ext>
            </a:extLst>
          </p:cNvPr>
          <p:cNvSpPr/>
          <p:nvPr/>
        </p:nvSpPr>
        <p:spPr>
          <a:xfrm>
            <a:off x="1546258" y="6070098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853D5E7-CB0A-AF8B-0877-3478C5D79E68}"/>
              </a:ext>
            </a:extLst>
          </p:cNvPr>
          <p:cNvCxnSpPr>
            <a:cxnSpLocks/>
            <a:stCxn id="22" idx="2"/>
            <a:endCxn id="38" idx="1"/>
          </p:cNvCxnSpPr>
          <p:nvPr/>
        </p:nvCxnSpPr>
        <p:spPr>
          <a:xfrm>
            <a:off x="793067" y="5196314"/>
            <a:ext cx="667473" cy="106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7D4FC30-59F4-F8AE-3459-DF572DC44FFB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534571" y="5196314"/>
            <a:ext cx="258496" cy="239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8CCBA4-7611-8BF1-45FA-B9BFA07B7016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1720708" y="5820115"/>
            <a:ext cx="322243" cy="249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B225DA6-5D57-EDF1-DBF9-422B1FA16B33}"/>
              </a:ext>
            </a:extLst>
          </p:cNvPr>
          <p:cNvCxnSpPr>
            <a:cxnSpLocks/>
            <a:stCxn id="26" idx="2"/>
            <a:endCxn id="25" idx="0"/>
          </p:cNvCxnSpPr>
          <p:nvPr/>
        </p:nvCxnSpPr>
        <p:spPr>
          <a:xfrm>
            <a:off x="2042951" y="5820115"/>
            <a:ext cx="299346" cy="251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E240549-5DBF-D62C-3507-982389AA8635}"/>
              </a:ext>
            </a:extLst>
          </p:cNvPr>
          <p:cNvSpPr txBox="1"/>
          <p:nvPr/>
        </p:nvSpPr>
        <p:spPr>
          <a:xfrm>
            <a:off x="477810" y="4484445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</a:t>
            </a:r>
            <a:r>
              <a:rPr lang="en-IT" dirty="0">
                <a:latin typeface="Aptos" panose="020B0004020202020204" pitchFamily="34" charset="0"/>
              </a:rPr>
              <a:t>hild widget tree </a:t>
            </a:r>
          </a:p>
        </p:txBody>
      </p:sp>
      <p:pic>
        <p:nvPicPr>
          <p:cNvPr id="33" name="Graphic 32" descr="Bell outline">
            <a:extLst>
              <a:ext uri="{FF2B5EF4-FFF2-40B4-BE49-F238E27FC236}">
                <a16:creationId xmlns:a16="http://schemas.microsoft.com/office/drawing/2014/main" id="{53938D7B-3296-ED64-673D-0925959F0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6982" y="3691642"/>
            <a:ext cx="512445" cy="512445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B233A91C-896C-9D2F-4173-13A8E3D52A3B}"/>
              </a:ext>
            </a:extLst>
          </p:cNvPr>
          <p:cNvSpPr/>
          <p:nvPr/>
        </p:nvSpPr>
        <p:spPr>
          <a:xfrm>
            <a:off x="2391421" y="3665286"/>
            <a:ext cx="727189" cy="56891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96328D-24AA-C784-3059-804A8B62D9D8}"/>
              </a:ext>
            </a:extLst>
          </p:cNvPr>
          <p:cNvSpPr/>
          <p:nvPr/>
        </p:nvSpPr>
        <p:spPr>
          <a:xfrm>
            <a:off x="213857" y="3691642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F3329C0-FDC9-014B-A1DC-9F9540A59F2A}"/>
              </a:ext>
            </a:extLst>
          </p:cNvPr>
          <p:cNvCxnSpPr>
            <a:cxnSpLocks/>
            <a:stCxn id="34" idx="1"/>
            <a:endCxn id="21" idx="0"/>
          </p:cNvCxnSpPr>
          <p:nvPr/>
        </p:nvCxnSpPr>
        <p:spPr>
          <a:xfrm rot="10800000" flipV="1">
            <a:off x="1594813" y="3949741"/>
            <a:ext cx="796609" cy="4523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18FD1BD-232F-6936-5A0D-CB72382EC726}"/>
              </a:ext>
            </a:extLst>
          </p:cNvPr>
          <p:cNvSpPr/>
          <p:nvPr/>
        </p:nvSpPr>
        <p:spPr>
          <a:xfrm>
            <a:off x="1460540" y="5133477"/>
            <a:ext cx="11700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Consumer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4610D5-F539-271F-32A5-70E6B229055E}"/>
              </a:ext>
            </a:extLst>
          </p:cNvPr>
          <p:cNvSpPr/>
          <p:nvPr/>
        </p:nvSpPr>
        <p:spPr>
          <a:xfrm>
            <a:off x="1436171" y="5121141"/>
            <a:ext cx="1213557" cy="132475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7EC79D2-E68C-44CE-468E-F79B31FF3D72}"/>
              </a:ext>
            </a:extLst>
          </p:cNvPr>
          <p:cNvSpPr/>
          <p:nvPr/>
        </p:nvSpPr>
        <p:spPr>
          <a:xfrm>
            <a:off x="9773943" y="3492152"/>
            <a:ext cx="2357362" cy="735377"/>
          </a:xfrm>
          <a:prstGeom prst="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“Event” that asks to fetch data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7AFFD09-5050-A7C6-8B1B-28363D1795B9}"/>
              </a:ext>
            </a:extLst>
          </p:cNvPr>
          <p:cNvSpPr/>
          <p:nvPr/>
        </p:nvSpPr>
        <p:spPr>
          <a:xfrm>
            <a:off x="9095869" y="4681157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Access token expired?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497DBFA-4349-5311-06C5-0E47C0BD8F7F}"/>
              </a:ext>
            </a:extLst>
          </p:cNvPr>
          <p:cNvCxnSpPr>
            <a:cxnSpLocks/>
            <a:stCxn id="73" idx="2"/>
            <a:endCxn id="80" idx="0"/>
          </p:cNvCxnSpPr>
          <p:nvPr/>
        </p:nvCxnSpPr>
        <p:spPr>
          <a:xfrm>
            <a:off x="10511371" y="5064470"/>
            <a:ext cx="93262" cy="493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C6FA48F-A366-0746-68AD-DF9EFDCAAA37}"/>
              </a:ext>
            </a:extLst>
          </p:cNvPr>
          <p:cNvCxnSpPr>
            <a:cxnSpLocks/>
            <a:stCxn id="73" idx="1"/>
            <a:endCxn id="81" idx="3"/>
          </p:cNvCxnSpPr>
          <p:nvPr/>
        </p:nvCxnSpPr>
        <p:spPr>
          <a:xfrm flipH="1" flipV="1">
            <a:off x="8684104" y="4604346"/>
            <a:ext cx="411765" cy="268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A8633986-CDF7-2C39-8620-B284C6A0EA8C}"/>
              </a:ext>
            </a:extLst>
          </p:cNvPr>
          <p:cNvSpPr txBox="1">
            <a:spLocks/>
          </p:cNvSpPr>
          <p:nvPr/>
        </p:nvSpPr>
        <p:spPr>
          <a:xfrm>
            <a:off x="8616410" y="4164103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77" name="Content Placeholder 2">
            <a:extLst>
              <a:ext uri="{FF2B5EF4-FFF2-40B4-BE49-F238E27FC236}">
                <a16:creationId xmlns:a16="http://schemas.microsoft.com/office/drawing/2014/main" id="{6CA9BD0B-BC55-244D-9A42-873B25AAF951}"/>
              </a:ext>
            </a:extLst>
          </p:cNvPr>
          <p:cNvSpPr txBox="1">
            <a:spLocks/>
          </p:cNvSpPr>
          <p:nvPr/>
        </p:nvSpPr>
        <p:spPr>
          <a:xfrm>
            <a:off x="11064610" y="5116478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F28ACDB-E82F-928B-1FE8-3CB49D0B4357}"/>
              </a:ext>
            </a:extLst>
          </p:cNvPr>
          <p:cNvSpPr/>
          <p:nvPr/>
        </p:nvSpPr>
        <p:spPr>
          <a:xfrm>
            <a:off x="9374617" y="5557712"/>
            <a:ext cx="2460031" cy="736268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Make a call to get data using access token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46F24DA-8C11-E52B-5BDE-742D28467135}"/>
              </a:ext>
            </a:extLst>
          </p:cNvPr>
          <p:cNvSpPr/>
          <p:nvPr/>
        </p:nvSpPr>
        <p:spPr>
          <a:xfrm>
            <a:off x="5853100" y="4412689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Refresh token expired?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ED6C2EB-230E-1E72-5987-C32473867E32}"/>
              </a:ext>
            </a:extLst>
          </p:cNvPr>
          <p:cNvCxnSpPr>
            <a:cxnSpLocks/>
            <a:stCxn id="83" idx="3"/>
          </p:cNvCxnSpPr>
          <p:nvPr/>
        </p:nvCxnSpPr>
        <p:spPr>
          <a:xfrm>
            <a:off x="9063210" y="5564035"/>
            <a:ext cx="311407" cy="25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118B9833-0D15-1487-E4BF-F5DF30C711DC}"/>
              </a:ext>
            </a:extLst>
          </p:cNvPr>
          <p:cNvSpPr/>
          <p:nvPr/>
        </p:nvSpPr>
        <p:spPr>
          <a:xfrm>
            <a:off x="5468510" y="5223214"/>
            <a:ext cx="3594700" cy="68164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Get a new token pair using the refresh token and store it</a:t>
            </a: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B5688F3A-9C1F-AFC6-3F50-C6DD5DBD68F0}"/>
              </a:ext>
            </a:extLst>
          </p:cNvPr>
          <p:cNvSpPr txBox="1">
            <a:spLocks/>
          </p:cNvSpPr>
          <p:nvPr/>
        </p:nvSpPr>
        <p:spPr>
          <a:xfrm>
            <a:off x="6591826" y="4857170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4D18BEC-135D-5F71-0447-21C5AF94182E}"/>
              </a:ext>
            </a:extLst>
          </p:cNvPr>
          <p:cNvCxnSpPr>
            <a:cxnSpLocks/>
            <a:stCxn id="81" idx="2"/>
            <a:endCxn id="83" idx="0"/>
          </p:cNvCxnSpPr>
          <p:nvPr/>
        </p:nvCxnSpPr>
        <p:spPr>
          <a:xfrm flipH="1">
            <a:off x="7265860" y="4796002"/>
            <a:ext cx="2742" cy="427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253ADDF-A1D9-D8B5-E20F-8A2B2A6B0185}"/>
              </a:ext>
            </a:extLst>
          </p:cNvPr>
          <p:cNvCxnSpPr>
            <a:cxnSpLocks/>
            <a:stCxn id="81" idx="0"/>
            <a:endCxn id="95" idx="2"/>
          </p:cNvCxnSpPr>
          <p:nvPr/>
        </p:nvCxnSpPr>
        <p:spPr>
          <a:xfrm flipH="1" flipV="1">
            <a:off x="7265860" y="3920625"/>
            <a:ext cx="2742" cy="492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Content Placeholder 2">
            <a:extLst>
              <a:ext uri="{FF2B5EF4-FFF2-40B4-BE49-F238E27FC236}">
                <a16:creationId xmlns:a16="http://schemas.microsoft.com/office/drawing/2014/main" id="{A4DA0E92-6055-B1CE-FC9A-68F2BBEA1EB3}"/>
              </a:ext>
            </a:extLst>
          </p:cNvPr>
          <p:cNvSpPr txBox="1">
            <a:spLocks/>
          </p:cNvSpPr>
          <p:nvPr/>
        </p:nvSpPr>
        <p:spPr>
          <a:xfrm>
            <a:off x="6583762" y="4037183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CEDB8F6-0139-DD76-A32F-09C7946300B2}"/>
              </a:ext>
            </a:extLst>
          </p:cNvPr>
          <p:cNvSpPr/>
          <p:nvPr/>
        </p:nvSpPr>
        <p:spPr>
          <a:xfrm>
            <a:off x="5993934" y="3185251"/>
            <a:ext cx="2543852" cy="73537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Use credentials to ask for a JWT token pair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B1600C7-DD9F-279B-0D17-2D94AD4910AE}"/>
              </a:ext>
            </a:extLst>
          </p:cNvPr>
          <p:cNvSpPr/>
          <p:nvPr/>
        </p:nvSpPr>
        <p:spPr>
          <a:xfrm>
            <a:off x="5996135" y="2231724"/>
            <a:ext cx="2543852" cy="73537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Receive JWT token pair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D057C23-7392-206D-F5F2-2A52A4522387}"/>
              </a:ext>
            </a:extLst>
          </p:cNvPr>
          <p:cNvSpPr/>
          <p:nvPr/>
        </p:nvSpPr>
        <p:spPr>
          <a:xfrm>
            <a:off x="5996135" y="1302551"/>
            <a:ext cx="2543852" cy="735376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Store token pair for making calls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32170E1-E865-640C-D7CA-EB135F41D82A}"/>
              </a:ext>
            </a:extLst>
          </p:cNvPr>
          <p:cNvCxnSpPr>
            <a:cxnSpLocks/>
            <a:stCxn id="95" idx="0"/>
            <a:endCxn id="96" idx="2"/>
          </p:cNvCxnSpPr>
          <p:nvPr/>
        </p:nvCxnSpPr>
        <p:spPr>
          <a:xfrm flipV="1">
            <a:off x="7265860" y="2967098"/>
            <a:ext cx="2201" cy="218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FF4D14D-29B2-138D-DF8D-9B697457DE62}"/>
              </a:ext>
            </a:extLst>
          </p:cNvPr>
          <p:cNvCxnSpPr>
            <a:cxnSpLocks/>
            <a:stCxn id="96" idx="0"/>
            <a:endCxn id="97" idx="2"/>
          </p:cNvCxnSpPr>
          <p:nvPr/>
        </p:nvCxnSpPr>
        <p:spPr>
          <a:xfrm flipV="1">
            <a:off x="7268061" y="2037927"/>
            <a:ext cx="0" cy="19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0FE3B8C-3DC5-0C48-9765-EBE7A77F6AF6}"/>
              </a:ext>
            </a:extLst>
          </p:cNvPr>
          <p:cNvCxnSpPr>
            <a:cxnSpLocks/>
            <a:stCxn id="97" idx="3"/>
          </p:cNvCxnSpPr>
          <p:nvPr/>
        </p:nvCxnSpPr>
        <p:spPr>
          <a:xfrm>
            <a:off x="8539987" y="1670239"/>
            <a:ext cx="1319154" cy="3010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3A1B622-A6B4-4CD4-FC3F-CAAB9F743B50}"/>
              </a:ext>
            </a:extLst>
          </p:cNvPr>
          <p:cNvCxnSpPr>
            <a:cxnSpLocks/>
            <a:stCxn id="60" idx="2"/>
            <a:endCxn id="73" idx="0"/>
          </p:cNvCxnSpPr>
          <p:nvPr/>
        </p:nvCxnSpPr>
        <p:spPr>
          <a:xfrm flipH="1">
            <a:off x="10511371" y="4227529"/>
            <a:ext cx="441253" cy="453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213C73F-FFAA-F2D2-73F8-317562992E41}"/>
              </a:ext>
            </a:extLst>
          </p:cNvPr>
          <p:cNvCxnSpPr>
            <a:cxnSpLocks/>
            <a:endCxn id="142" idx="3"/>
          </p:cNvCxnSpPr>
          <p:nvPr/>
        </p:nvCxnSpPr>
        <p:spPr>
          <a:xfrm flipH="1">
            <a:off x="8537290" y="6105448"/>
            <a:ext cx="849158" cy="368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0B418F5-F4CB-EE72-C47E-7F0D912A3B0C}"/>
              </a:ext>
            </a:extLst>
          </p:cNvPr>
          <p:cNvSpPr/>
          <p:nvPr/>
        </p:nvSpPr>
        <p:spPr>
          <a:xfrm>
            <a:off x="5706286" y="6281828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”Manage” response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124BD191-3A65-81AD-7F5C-51F30793CE3C}"/>
              </a:ext>
            </a:extLst>
          </p:cNvPr>
          <p:cNvCxnSpPr>
            <a:cxnSpLocks/>
            <a:stCxn id="142" idx="1"/>
            <a:endCxn id="178" idx="2"/>
          </p:cNvCxnSpPr>
          <p:nvPr/>
        </p:nvCxnSpPr>
        <p:spPr>
          <a:xfrm flipH="1" flipV="1">
            <a:off x="4559960" y="4691752"/>
            <a:ext cx="1146326" cy="1781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5102AF7E-6C40-280A-D15F-2B052DE97072}"/>
              </a:ext>
            </a:extLst>
          </p:cNvPr>
          <p:cNvCxnSpPr>
            <a:cxnSpLocks/>
            <a:stCxn id="15" idx="2"/>
            <a:endCxn id="34" idx="3"/>
          </p:cNvCxnSpPr>
          <p:nvPr/>
        </p:nvCxnSpPr>
        <p:spPr>
          <a:xfrm flipH="1">
            <a:off x="3118610" y="2769242"/>
            <a:ext cx="267679" cy="1180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C36C42C8-DD4A-88C7-253E-E339B6A23B6C}"/>
              </a:ext>
            </a:extLst>
          </p:cNvPr>
          <p:cNvCxnSpPr>
            <a:cxnSpLocks/>
            <a:stCxn id="178" idx="2"/>
            <a:endCxn id="18" idx="0"/>
          </p:cNvCxnSpPr>
          <p:nvPr/>
        </p:nvCxnSpPr>
        <p:spPr>
          <a:xfrm flipH="1">
            <a:off x="4236604" y="4691752"/>
            <a:ext cx="323356" cy="1122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137F4FF-526A-5EA6-BE36-3754274F429C}"/>
              </a:ext>
            </a:extLst>
          </p:cNvPr>
          <p:cNvCxnSpPr>
            <a:cxnSpLocks/>
            <a:endCxn id="40" idx="3"/>
          </p:cNvCxnSpPr>
          <p:nvPr/>
        </p:nvCxnSpPr>
        <p:spPr>
          <a:xfrm flipH="1" flipV="1">
            <a:off x="2649728" y="5783519"/>
            <a:ext cx="885436" cy="427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31DDFC6-FB34-F848-F910-8034F1256D85}"/>
              </a:ext>
            </a:extLst>
          </p:cNvPr>
          <p:cNvSpPr/>
          <p:nvPr/>
        </p:nvSpPr>
        <p:spPr>
          <a:xfrm>
            <a:off x="3413633" y="4061577"/>
            <a:ext cx="2292653" cy="6301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notifyListeners</a:t>
            </a:r>
            <a:r>
              <a:rPr lang="en-US" sz="16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</a:t>
            </a:r>
            <a:r>
              <a:rPr lang="en-US" dirty="0">
                <a:latin typeface="Aptos" panose="020B0004020202020204" pitchFamily="34" charset="0"/>
              </a:rPr>
              <a:t>if needed</a:t>
            </a:r>
            <a:endParaRPr lang="en-IT">
              <a:latin typeface="Aptos" panose="020B0004020202020204" pitchFamily="34" charset="0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FF8E4FB9-E9C9-B046-8149-2F05F157CDE5}"/>
              </a:ext>
            </a:extLst>
          </p:cNvPr>
          <p:cNvCxnSpPr>
            <a:cxnSpLocks/>
            <a:endCxn id="178" idx="0"/>
          </p:cNvCxnSpPr>
          <p:nvPr/>
        </p:nvCxnSpPr>
        <p:spPr>
          <a:xfrm rot="16200000" flipH="1">
            <a:off x="3555557" y="3057174"/>
            <a:ext cx="1292334" cy="716472"/>
          </a:xfrm>
          <a:prstGeom prst="bentConnector3">
            <a:avLst>
              <a:gd name="adj1" fmla="val 5000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898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 -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3469459" cy="4616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Let’s </a:t>
            </a:r>
            <a:r>
              <a:rPr lang="en-IT">
                <a:latin typeface="Aptos" panose="020B0004020202020204" pitchFamily="34" charset="0"/>
              </a:rPr>
              <a:t>implement </a:t>
            </a:r>
            <a:r>
              <a:rPr lang="en-US" dirty="0">
                <a:latin typeface="Aptos" panose="020B0004020202020204" pitchFamily="34" charset="0"/>
              </a:rPr>
              <a:t>a simple application that, after tapping a button, generates a plot showing yesterday’s steps. </a:t>
            </a:r>
            <a:endParaRPr lang="en-IT" b="1" dirty="0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BF4130A-F41F-0349-86CB-FA959B946237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esson_20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linking_state_management_with_networking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/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visualize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</a:t>
            </a: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step/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E5A3E4-4F97-C585-4494-4C865EFFA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949" y="1214002"/>
            <a:ext cx="2461384" cy="53349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D39169-B38D-6F22-74FF-A07BCA05A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479" y="1214836"/>
            <a:ext cx="2386291" cy="517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40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Linking state management with networking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546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10913119" cy="5334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Get familiar with the example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Implement the flow in your app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998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20706</TotalTime>
  <Words>452</Words>
  <Application>Microsoft Macintosh PowerPoint</Application>
  <PresentationFormat>Widescreen</PresentationFormat>
  <Paragraphs>110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Aptos</vt:lpstr>
      <vt:lpstr>Arial</vt:lpstr>
      <vt:lpstr>Calibri</vt:lpstr>
      <vt:lpstr>Courier</vt:lpstr>
      <vt:lpstr>Courier New</vt:lpstr>
      <vt:lpstr>Menlo</vt:lpstr>
      <vt:lpstr>Palatino Linotype</vt:lpstr>
      <vt:lpstr>Times New Roman</vt:lpstr>
      <vt:lpstr>Wingdings</vt:lpstr>
      <vt:lpstr>Tema di Office</vt:lpstr>
      <vt:lpstr>Giacomo Cappon</vt:lpstr>
      <vt:lpstr>Outline</vt:lpstr>
      <vt:lpstr>Recap: Provider (core) flow</vt:lpstr>
      <vt:lpstr>Recap: Communicating with IMPACT</vt:lpstr>
      <vt:lpstr>Recap: The networking flow</vt:lpstr>
      <vt:lpstr>Outline</vt:lpstr>
      <vt:lpstr>Linking state management with networking: simplified schema</vt:lpstr>
      <vt:lpstr>Linking state management with networking: detailed schema</vt:lpstr>
      <vt:lpstr>Case of study - Live</vt:lpstr>
      <vt:lpstr>Outline</vt:lpstr>
      <vt:lpstr>Exercise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223</cp:revision>
  <dcterms:created xsi:type="dcterms:W3CDTF">2021-07-19T09:08:13Z</dcterms:created>
  <dcterms:modified xsi:type="dcterms:W3CDTF">2026-02-19T11:11:41Z</dcterms:modified>
</cp:coreProperties>
</file>