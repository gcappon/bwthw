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9" r:id="rId2"/>
    <p:sldId id="388" r:id="rId3"/>
    <p:sldId id="389" r:id="rId4"/>
    <p:sldId id="394" r:id="rId5"/>
    <p:sldId id="419" r:id="rId6"/>
    <p:sldId id="418" r:id="rId7"/>
    <p:sldId id="322" r:id="rId8"/>
    <p:sldId id="420" r:id="rId9"/>
    <p:sldId id="323" r:id="rId10"/>
    <p:sldId id="340" r:id="rId11"/>
    <p:sldId id="350" r:id="rId12"/>
    <p:sldId id="344" r:id="rId13"/>
    <p:sldId id="345" r:id="rId14"/>
    <p:sldId id="346" r:id="rId15"/>
    <p:sldId id="421" r:id="rId16"/>
    <p:sldId id="425" r:id="rId17"/>
    <p:sldId id="424" r:id="rId18"/>
    <p:sldId id="351" r:id="rId19"/>
    <p:sldId id="352" r:id="rId20"/>
    <p:sldId id="426" r:id="rId21"/>
    <p:sldId id="427" r:id="rId22"/>
    <p:sldId id="416" r:id="rId23"/>
    <p:sldId id="390" r:id="rId24"/>
    <p:sldId id="395" r:id="rId25"/>
    <p:sldId id="397" r:id="rId26"/>
    <p:sldId id="398" r:id="rId27"/>
    <p:sldId id="399" r:id="rId28"/>
    <p:sldId id="400" r:id="rId29"/>
    <p:sldId id="405" r:id="rId30"/>
    <p:sldId id="401" r:id="rId31"/>
    <p:sldId id="30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856" autoAdjust="0"/>
    <p:restoredTop sz="87725"/>
  </p:normalViewPr>
  <p:slideViewPr>
    <p:cSldViewPr snapToGrid="0">
      <p:cViewPr varScale="1">
        <p:scale>
          <a:sx n="181" d="100"/>
          <a:sy n="181" d="100"/>
        </p:scale>
        <p:origin x="2920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4B3FE-0320-8142-8396-5C3025C019EC}" type="datetimeFigureOut">
              <a:rPr lang="en-IT" smtClean="0"/>
              <a:t>2/17/26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F43FB-3F33-3F4B-9768-2FBED988F99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2949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10581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CA862-2B70-9BA7-90A3-8F8F0F43F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BB93D5-B41E-9C1C-7486-D6F1DA1A84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C6A887-4D78-9892-9EF2-119D8C1C0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38E73-723F-62F2-3FB7-E9899A94FC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054645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06775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718280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5350711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9161299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637449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3550338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4C72-4364-C4C3-D81B-2FF470D6F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A9FDCE-3CA8-B9AD-EEB7-F1D1ED1BF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9915FF-7F4E-F092-F0B8-41D5F08F3F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CA1BE-8873-272B-A915-26A7EB9FB3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667067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F5954-E5CB-40E1-73BA-9E58F0E1D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4CD1FB-C786-051A-FA72-19A9305D56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D95A44-77B6-EC35-D04F-DE760903C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D7402-C571-C490-13DA-30A00657C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73752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155BD-E613-0B4E-7C9D-408211457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E7F650-F37A-3404-5158-9AD751FC4F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5F4687-5248-E821-F413-1B527D5FF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6BDC0-F927-8411-2969-D587A8997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059007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182609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4317470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0ABD9-8685-CC22-66EA-8F1E9EF1B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B21655-7355-AA56-F054-BA263CA62F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ABAB12-8217-5119-220B-1163A6C4C3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4AA8F-C429-211F-6B26-55B5E747B0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1468297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3466984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8212440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93785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38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5591628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364343"/>
            <a:ext cx="5624286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94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456058" cy="1570716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it-IT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2997200" y="855254"/>
            <a:ext cx="6125029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426028" y="4152532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9" name="Titolo 1"/>
          <p:cNvSpPr txBox="1">
            <a:spLocks/>
          </p:cNvSpPr>
          <p:nvPr userDrawn="1"/>
        </p:nvSpPr>
        <p:spPr>
          <a:xfrm>
            <a:off x="460370" y="1155224"/>
            <a:ext cx="10926088" cy="945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it-IT" sz="2800" b="0" dirty="0" err="1">
                <a:latin typeface="Aptos" panose="020B0004020202020204" pitchFamily="34" charset="0"/>
              </a:rPr>
              <a:t>Biomedical</a:t>
            </a:r>
            <a:r>
              <a:rPr lang="it-IT" sz="2800" b="0" dirty="0">
                <a:latin typeface="Aptos" panose="020B0004020202020204" pitchFamily="34" charset="0"/>
              </a:rPr>
              <a:t> </a:t>
            </a:r>
            <a:r>
              <a:rPr lang="it-IT" sz="2800" b="0" dirty="0" err="1">
                <a:latin typeface="Aptos" panose="020B0004020202020204" pitchFamily="34" charset="0"/>
              </a:rPr>
              <a:t>Wearable</a:t>
            </a:r>
            <a:r>
              <a:rPr lang="it-IT" sz="2800" b="0" dirty="0">
                <a:latin typeface="Aptos" panose="020B0004020202020204" pitchFamily="34" charset="0"/>
              </a:rPr>
              <a:t> Technologies </a:t>
            </a:r>
          </a:p>
          <a:p>
            <a:r>
              <a:rPr lang="it-IT" sz="2800" b="0" dirty="0">
                <a:latin typeface="Aptos" panose="020B0004020202020204" pitchFamily="34" charset="0"/>
              </a:rPr>
              <a:t>for Healthcare and </a:t>
            </a:r>
            <a:r>
              <a:rPr lang="it-IT" sz="2800" b="0" dirty="0" err="1">
                <a:latin typeface="Aptos" panose="020B0004020202020204" pitchFamily="34" charset="0"/>
              </a:rPr>
              <a:t>Wellbeing</a:t>
            </a:r>
            <a:r>
              <a:rPr lang="it-IT" sz="2800" b="0" dirty="0">
                <a:latin typeface="Aptos" panose="020B0004020202020204" pitchFamily="34" charset="0"/>
              </a:rPr>
              <a:t>  </a:t>
            </a:r>
            <a:endParaRPr lang="en-GB" sz="2800" b="0" dirty="0">
              <a:latin typeface="Aptos" panose="020B0004020202020204" pitchFamily="34" charset="0"/>
            </a:endParaRPr>
          </a:p>
        </p:txBody>
      </p:sp>
      <p:sp>
        <p:nvSpPr>
          <p:cNvPr id="10" name="Titolo 1"/>
          <p:cNvSpPr txBox="1">
            <a:spLocks/>
          </p:cNvSpPr>
          <p:nvPr userDrawn="1"/>
        </p:nvSpPr>
        <p:spPr>
          <a:xfrm>
            <a:off x="1426028" y="4424669"/>
            <a:ext cx="9456058" cy="6239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</a:rPr>
              <a:t>A.Y. 2025-2026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2997200" y="133745"/>
            <a:ext cx="6125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University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Padova</a:t>
            </a:r>
            <a:b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</a:b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Department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Information </a:t>
            </a: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Engineering</a:t>
            </a:r>
            <a:endParaRPr lang="en-GB" sz="1100" cap="small" baseline="0" dirty="0">
              <a:latin typeface="Aptos" panose="020B00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0" y="5094383"/>
            <a:ext cx="1648258" cy="164825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946" y="5094383"/>
            <a:ext cx="2153135" cy="13995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6487F-10E0-114E-8185-2B9A87D777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534" y="4986716"/>
            <a:ext cx="4393045" cy="919388"/>
          </a:xfrm>
        </p:spPr>
        <p:txBody>
          <a:bodyPr>
            <a:normAutofit/>
          </a:bodyPr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IT" dirty="0"/>
              <a:t>Name Surname</a:t>
            </a:r>
          </a:p>
        </p:txBody>
      </p:sp>
    </p:spTree>
    <p:extLst>
      <p:ext uri="{BB962C8B-B14F-4D97-AF65-F5344CB8AC3E}">
        <p14:creationId xmlns:p14="http://schemas.microsoft.com/office/powerpoint/2010/main" val="2551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05962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ttangolo arrotondato 5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6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19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28172" y="1375682"/>
            <a:ext cx="11368314" cy="482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7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4" r:id="rId4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Times New Roman" panose="02020603050405020304" pitchFamily="18" charset="0"/>
        <a:buChar char="̶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sv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flutter-community/making-sense-all-of-those-flutter-providers-e842e18f45dd" TargetMode="External"/><Relationship Id="rId2" Type="http://schemas.openxmlformats.org/officeDocument/2006/relationships/hyperlink" Target="https://docs.flutter.dev/development/data-and-backend/state-mgmt/intro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flutter.dev/development/data-and-backend/state-mgmt/opti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7E0323C-B2D5-E147-A405-326B19A39E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T"/>
              <a:t>State Management</a:t>
            </a:r>
            <a:r>
              <a:rPr lang="en-US" dirty="0"/>
              <a:t> in Flutter</a:t>
            </a:r>
            <a:endParaRPr lang="en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B437F2-B298-5D42-A17B-E5DDC2184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Giacomo Cappon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184054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State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0168110" cy="4858203"/>
          </a:xfrm>
        </p:spPr>
        <p:txBody>
          <a:bodyPr>
            <a:normAutofit/>
          </a:bodyPr>
          <a:lstStyle/>
          <a:p>
            <a:r>
              <a:rPr lang="en-IT" dirty="0"/>
              <a:t>State stands for everything that is necessary to define how the app and its screen behave and look at some point in time:</a:t>
            </a:r>
          </a:p>
          <a:p>
            <a:pPr lvl="1"/>
            <a:r>
              <a:rPr lang="en-IT" dirty="0"/>
              <a:t>Assets</a:t>
            </a:r>
          </a:p>
          <a:p>
            <a:pPr lvl="1"/>
            <a:r>
              <a:rPr lang="en-IT" dirty="0"/>
              <a:t>Variables</a:t>
            </a:r>
          </a:p>
          <a:p>
            <a:pPr lvl="1"/>
            <a:r>
              <a:rPr lang="en-IT" dirty="0"/>
              <a:t>Fonts</a:t>
            </a:r>
          </a:p>
          <a:p>
            <a:pPr lvl="1"/>
            <a:r>
              <a:rPr lang="en-IT" dirty="0"/>
              <a:t>…</a:t>
            </a:r>
          </a:p>
          <a:p>
            <a:pPr lvl="1"/>
            <a:endParaRPr lang="en-IT" dirty="0"/>
          </a:p>
          <a:p>
            <a:r>
              <a:rPr lang="en-IT" dirty="0"/>
              <a:t>Conceptually can be divided in:</a:t>
            </a:r>
          </a:p>
          <a:p>
            <a:pPr lvl="1"/>
            <a:r>
              <a:rPr lang="en-IT" b="1" dirty="0"/>
              <a:t>Ephemeral state</a:t>
            </a:r>
            <a:r>
              <a:rPr lang="en-IT" dirty="0"/>
              <a:t>: sometimes called </a:t>
            </a:r>
            <a:r>
              <a:rPr lang="en-IT" i="1" dirty="0"/>
              <a:t>local state</a:t>
            </a:r>
            <a:r>
              <a:rPr lang="en-IT" dirty="0"/>
              <a:t>, what can be striclty contained in a Widget </a:t>
            </a:r>
          </a:p>
          <a:p>
            <a:pPr lvl="1"/>
            <a:r>
              <a:rPr lang="en-IT" b="1" dirty="0"/>
              <a:t>App state</a:t>
            </a:r>
            <a:r>
              <a:rPr lang="en-IT" dirty="0"/>
              <a:t>: sometimes called </a:t>
            </a:r>
            <a:r>
              <a:rPr lang="en-IT" i="1" dirty="0"/>
              <a:t>shared state</a:t>
            </a:r>
            <a:r>
              <a:rPr lang="en-IT" dirty="0"/>
              <a:t>, things that you want to share across many parts of the app</a:t>
            </a:r>
          </a:p>
          <a:p>
            <a:endParaRPr lang="en-I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95DFC4-130B-2C45-A12D-84AC2FC6B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4992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State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0168110" cy="4858203"/>
          </a:xfrm>
        </p:spPr>
        <p:txBody>
          <a:bodyPr>
            <a:normAutofit/>
          </a:bodyPr>
          <a:lstStyle/>
          <a:p>
            <a:r>
              <a:rPr lang="en-IT" dirty="0"/>
              <a:t>There is no universal rule to chose if a variable is part of the ephemeral state or the app state. A diagram that can help:</a:t>
            </a:r>
          </a:p>
          <a:p>
            <a:endParaRPr lang="en-IT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8D48EF-525C-7347-A19C-5E697588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934" y="2394318"/>
            <a:ext cx="6654132" cy="430175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2D3C8-7575-A545-BF72-EF0DC285B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898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Remember: Flutter is declarative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0168110" cy="4858203"/>
          </a:xfrm>
        </p:spPr>
        <p:txBody>
          <a:bodyPr>
            <a:normAutofit/>
          </a:bodyPr>
          <a:lstStyle/>
          <a:p>
            <a:r>
              <a:rPr lang="en-IT" dirty="0"/>
              <a:t>Flutter is a declarative framework</a:t>
            </a:r>
          </a:p>
          <a:p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  <a:p>
            <a:r>
              <a:rPr lang="en-IT" dirty="0"/>
              <a:t>State is changed? Build methods are called and the UI is refreshed. </a:t>
            </a:r>
          </a:p>
          <a:p>
            <a:endParaRPr lang="en-IT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EE30D3-8790-9943-8C8B-4185AFE37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933" y="1845995"/>
            <a:ext cx="8740942" cy="316601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BC1AD-B85B-6F44-A358-D08723755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1688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7F7EB-26C7-4E55-53D2-F5DBC81D8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436FD-C119-3253-9FFD-9715643AE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far…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C5882-A339-ACF0-7254-E5C5AAE60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6479066" cy="5334907"/>
          </a:xfrm>
        </p:spPr>
        <p:txBody>
          <a:bodyPr>
            <a:normAutofit/>
          </a:bodyPr>
          <a:lstStyle/>
          <a:p>
            <a:r>
              <a:rPr lang="en-US" b="1" dirty="0"/>
              <a:t>In lesson 5 </a:t>
            </a:r>
            <a:r>
              <a:rPr lang="en-US" dirty="0"/>
              <a:t>we built a very simple app that, whenever you open it, a new random ”Hello” message is shown to the user. </a:t>
            </a:r>
          </a:p>
          <a:p>
            <a:pPr lvl="1"/>
            <a:r>
              <a:rPr lang="en-US" dirty="0"/>
              <a:t>Code available at: </a:t>
            </a:r>
            <a:r>
              <a:rPr lang="en-IT" i="1">
                <a:ea typeface="Palatino" pitchFamily="2" charset="77"/>
              </a:rPr>
              <a:t>l</a:t>
            </a:r>
            <a:r>
              <a:rPr lang="en-US" i="1" dirty="0" err="1">
                <a:ea typeface="Palatino" pitchFamily="2" charset="77"/>
              </a:rPr>
              <a:t>esson</a:t>
            </a:r>
            <a:r>
              <a:rPr lang="en-IT" i="1">
                <a:ea typeface="Palatino" pitchFamily="2" charset="77"/>
              </a:rPr>
              <a:t>_0</a:t>
            </a:r>
            <a:r>
              <a:rPr lang="en-US" i="1" dirty="0">
                <a:ea typeface="Palatino" pitchFamily="2" charset="77"/>
              </a:rPr>
              <a:t>5</a:t>
            </a:r>
            <a:r>
              <a:rPr lang="en-IT" i="1">
                <a:ea typeface="Palatino" pitchFamily="2" charset="77"/>
              </a:rPr>
              <a:t>-</a:t>
            </a:r>
            <a:r>
              <a:rPr lang="en-US" i="1" dirty="0">
                <a:ea typeface="Palatino" pitchFamily="2" charset="77"/>
              </a:rPr>
              <a:t>the</a:t>
            </a:r>
            <a:r>
              <a:rPr lang="en-IT" i="1">
                <a:ea typeface="Palatino" pitchFamily="2" charset="77"/>
              </a:rPr>
              <a:t>_flutter</a:t>
            </a:r>
            <a:r>
              <a:rPr lang="en-US" i="1" dirty="0">
                <a:ea typeface="Palatino" pitchFamily="2" charset="77"/>
              </a:rPr>
              <a:t>_framework</a:t>
            </a:r>
            <a:r>
              <a:rPr lang="en-IT" i="1">
                <a:ea typeface="Palatino" pitchFamily="2" charset="77"/>
              </a:rPr>
              <a:t>/my_</a:t>
            </a:r>
            <a:r>
              <a:rPr lang="en-US" i="1" dirty="0">
                <a:ea typeface="Palatino" pitchFamily="2" charset="77"/>
              </a:rPr>
              <a:t>custom_</a:t>
            </a:r>
            <a:r>
              <a:rPr lang="en-IT" i="1">
                <a:ea typeface="Palatino" pitchFamily="2" charset="77"/>
              </a:rPr>
              <a:t>first_app/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u="sng" dirty="0"/>
              <a:t>Question #1</a:t>
            </a:r>
            <a:r>
              <a:rPr lang="en-US" dirty="0"/>
              <a:t>: What is “state” here? </a:t>
            </a:r>
          </a:p>
          <a:p>
            <a:endParaRPr lang="en-US" dirty="0"/>
          </a:p>
          <a:p>
            <a:r>
              <a:rPr lang="en-US" u="sng" dirty="0"/>
              <a:t>Question #2</a:t>
            </a:r>
            <a:r>
              <a:rPr lang="en-US" dirty="0"/>
              <a:t>: How the state is managed? What’s the flow?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0B79AC-9017-62FA-83CD-F7AB15AE7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5</a:t>
            </a:fld>
            <a:endParaRPr lang="en-GB"/>
          </a:p>
        </p:txBody>
      </p:sp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1BB7365-2CBF-B80D-3CD3-F4296D7358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1419747"/>
            <a:ext cx="2277617" cy="493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792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far…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6732046" cy="5334907"/>
          </a:xfrm>
        </p:spPr>
        <p:txBody>
          <a:bodyPr>
            <a:normAutofit/>
          </a:bodyPr>
          <a:lstStyle/>
          <a:p>
            <a:r>
              <a:rPr lang="en-US" dirty="0"/>
              <a:t>Let’s expand the app as follows: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u="sng" dirty="0"/>
              <a:t>Problem</a:t>
            </a:r>
            <a:r>
              <a:rPr lang="en-US" dirty="0"/>
              <a:t>: how to change the UI</a:t>
            </a:r>
            <a:br>
              <a:rPr lang="en-US" dirty="0"/>
            </a:br>
            <a:r>
              <a:rPr lang="en-US" dirty="0"/>
              <a:t>dynamically?</a:t>
            </a:r>
            <a:endParaRPr lang="en-US" u="sn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4C5C5B-B3AF-4148-B826-F40940F6D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6</a:t>
            </a:fld>
            <a:endParaRPr lang="en-GB"/>
          </a:p>
        </p:txBody>
      </p:sp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B61005D6-D250-499E-A710-A1FF781BB6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7792" y="1419747"/>
            <a:ext cx="2277617" cy="4936603"/>
          </a:xfrm>
          <a:prstGeom prst="rect">
            <a:avLst/>
          </a:prstGeom>
        </p:spPr>
      </p:pic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EFBB74B1-1C4C-9394-C59F-373429889C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8709" y="1419747"/>
            <a:ext cx="2277618" cy="4936604"/>
          </a:xfrm>
          <a:prstGeom prst="rect">
            <a:avLst/>
          </a:prstGeom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1B7C16D3-788D-1060-BC19-7900559CA6FC}"/>
              </a:ext>
            </a:extLst>
          </p:cNvPr>
          <p:cNvSpPr/>
          <p:nvPr/>
        </p:nvSpPr>
        <p:spPr>
          <a:xfrm>
            <a:off x="8145194" y="3888048"/>
            <a:ext cx="829994" cy="416666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812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The Widget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0913119" cy="5334907"/>
          </a:xfrm>
        </p:spPr>
        <p:txBody>
          <a:bodyPr>
            <a:normAutofit/>
          </a:bodyPr>
          <a:lstStyle/>
          <a:p>
            <a:r>
              <a:rPr lang="en-US" u="sng" dirty="0"/>
              <a:t>Remember</a:t>
            </a:r>
            <a:r>
              <a:rPr lang="en-US" dirty="0"/>
              <a:t>: </a:t>
            </a:r>
            <a:r>
              <a:rPr lang="en-IT"/>
              <a:t>Widgets </a:t>
            </a:r>
            <a:r>
              <a:rPr lang="en-IT" dirty="0"/>
              <a:t>are combined together using a </a:t>
            </a:r>
            <a:r>
              <a:rPr lang="en-IT" b="1" dirty="0"/>
              <a:t>tree structure</a:t>
            </a:r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A3B9D3-1456-2948-AFD8-90CEF4F73DAF}"/>
              </a:ext>
            </a:extLst>
          </p:cNvPr>
          <p:cNvSpPr/>
          <p:nvPr/>
        </p:nvSpPr>
        <p:spPr>
          <a:xfrm>
            <a:off x="9504064" y="2114791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B63788-C832-1444-89E0-79ADD95AC631}"/>
              </a:ext>
            </a:extLst>
          </p:cNvPr>
          <p:cNvSpPr/>
          <p:nvPr/>
        </p:nvSpPr>
        <p:spPr>
          <a:xfrm>
            <a:off x="8477459" y="5906231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894B00-861F-3246-B986-37768DA3DCED}"/>
              </a:ext>
            </a:extLst>
          </p:cNvPr>
          <p:cNvSpPr/>
          <p:nvPr/>
        </p:nvSpPr>
        <p:spPr>
          <a:xfrm>
            <a:off x="9507414" y="2795885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MyApp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032DF1-053C-0045-9C11-3CB0F24651CD}"/>
              </a:ext>
            </a:extLst>
          </p:cNvPr>
          <p:cNvSpPr/>
          <p:nvPr/>
        </p:nvSpPr>
        <p:spPr>
          <a:xfrm>
            <a:off x="9507414" y="4314998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Scaffold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5C727B-9719-CD44-BC17-FDF455AD0959}"/>
              </a:ext>
            </a:extLst>
          </p:cNvPr>
          <p:cNvSpPr/>
          <p:nvPr/>
        </p:nvSpPr>
        <p:spPr>
          <a:xfrm>
            <a:off x="8477459" y="5135859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AppBar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87FDD2-E8FD-9144-B99E-C22635C3CF09}"/>
              </a:ext>
            </a:extLst>
          </p:cNvPr>
          <p:cNvSpPr/>
          <p:nvPr/>
        </p:nvSpPr>
        <p:spPr>
          <a:xfrm>
            <a:off x="10564165" y="5135860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Center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EB67A7-F63E-964D-9968-8E994C8B94B3}"/>
              </a:ext>
            </a:extLst>
          </p:cNvPr>
          <p:cNvSpPr/>
          <p:nvPr/>
        </p:nvSpPr>
        <p:spPr>
          <a:xfrm>
            <a:off x="9507413" y="3530320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MaterialApp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82B769-60AC-B145-8431-3EA6114B7167}"/>
              </a:ext>
            </a:extLst>
          </p:cNvPr>
          <p:cNvSpPr/>
          <p:nvPr/>
        </p:nvSpPr>
        <p:spPr>
          <a:xfrm>
            <a:off x="10564166" y="5906232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54C365-5178-5640-B473-1345FDA09B17}"/>
              </a:ext>
            </a:extLst>
          </p:cNvPr>
          <p:cNvSpPr/>
          <p:nvPr/>
        </p:nvSpPr>
        <p:spPr>
          <a:xfrm>
            <a:off x="237103" y="2072181"/>
            <a:ext cx="8158241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 </a:t>
            </a:r>
            <a:r>
              <a:rPr lang="en-GB" sz="16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MyApp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extends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StatelessWidget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{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MyApp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({Key? key}) : super(key: key);</a:t>
            </a:r>
          </a:p>
          <a:p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@override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Widget build(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BuildContext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context) {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final word =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WordPair.random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().first;</a:t>
            </a:r>
          </a:p>
          <a:p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return </a:t>
            </a:r>
            <a:r>
              <a:rPr lang="en-GB" sz="16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MaterialApp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title: 'Welcome to Flutter',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home: </a:t>
            </a:r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Scaffold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appBar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</a:t>
            </a:r>
            <a:r>
              <a:rPr lang="en-GB" sz="16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AppBar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(title: </a:t>
            </a:r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('Welcome to Flutter'),),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body: </a:t>
            </a:r>
            <a:r>
              <a:rPr lang="en-GB" sz="16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Center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(child: </a:t>
            </a:r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('Hello $word!', style: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TextStyle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fontSize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26) ,),),),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);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}//build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}//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MyApp</a:t>
            </a: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ED9686A-BFF3-7A4F-8CC2-312853EF16F8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10232570" y="2566966"/>
            <a:ext cx="3350" cy="228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EF30D8-7853-FC4E-9BFC-F2C7FB5ECA78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 flipH="1">
            <a:off x="10235919" y="3248060"/>
            <a:ext cx="1" cy="2822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72FC5C0-1E03-BF47-A172-B6EBF05BFD5D}"/>
              </a:ext>
            </a:extLst>
          </p:cNvPr>
          <p:cNvCxnSpPr>
            <a:cxnSpLocks/>
            <a:stCxn id="13" idx="2"/>
            <a:endCxn id="10" idx="0"/>
          </p:cNvCxnSpPr>
          <p:nvPr/>
        </p:nvCxnSpPr>
        <p:spPr>
          <a:xfrm>
            <a:off x="10235919" y="3982495"/>
            <a:ext cx="1" cy="332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38AC301-B76D-7342-ACCE-A34E280231E2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9205965" y="4767173"/>
            <a:ext cx="1029955" cy="368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B5FCF3E-7F65-C54F-80F6-82166AD4B97F}"/>
              </a:ext>
            </a:extLst>
          </p:cNvPr>
          <p:cNvCxnSpPr>
            <a:cxnSpLocks/>
            <a:stCxn id="11" idx="2"/>
            <a:endCxn id="8" idx="0"/>
          </p:cNvCxnSpPr>
          <p:nvPr/>
        </p:nvCxnSpPr>
        <p:spPr>
          <a:xfrm>
            <a:off x="9205965" y="5588034"/>
            <a:ext cx="0" cy="318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D105159-E45F-B442-95D3-32E8224B052E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10235920" y="4767173"/>
            <a:ext cx="1056751" cy="368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C66CAC6-C908-A34D-8748-63BCB3907A8F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11292671" y="5588035"/>
            <a:ext cx="1" cy="318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C4AA3-85B8-0A4C-B65C-9FE2BF607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1045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F4FE4-6934-23DD-7079-7446F998F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68BA8-C39C-3A61-993A-580967AA1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The Widget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35C40-A7F6-D240-36CB-53A258078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0913119" cy="5334907"/>
          </a:xfrm>
        </p:spPr>
        <p:txBody>
          <a:bodyPr>
            <a:normAutofit/>
          </a:bodyPr>
          <a:lstStyle/>
          <a:p>
            <a:r>
              <a:rPr lang="en-US" u="sng" dirty="0"/>
              <a:t>Remember</a:t>
            </a:r>
            <a:r>
              <a:rPr lang="en-US" dirty="0"/>
              <a:t>: </a:t>
            </a:r>
            <a:r>
              <a:rPr lang="en-IT"/>
              <a:t>Widgets </a:t>
            </a:r>
            <a:r>
              <a:rPr lang="en-IT" dirty="0"/>
              <a:t>are combined together using a </a:t>
            </a:r>
            <a:r>
              <a:rPr lang="en-IT" b="1" dirty="0"/>
              <a:t>tree structure</a:t>
            </a:r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2C95D9-0C8D-E804-2BFD-67CAE0CF0B15}"/>
              </a:ext>
            </a:extLst>
          </p:cNvPr>
          <p:cNvSpPr/>
          <p:nvPr/>
        </p:nvSpPr>
        <p:spPr>
          <a:xfrm>
            <a:off x="237103" y="2072181"/>
            <a:ext cx="8158241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 </a:t>
            </a:r>
            <a:r>
              <a:rPr lang="en-GB" sz="16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MyApp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extends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StatelessWidget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{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MyApp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({Key? key}) : super(key: key);</a:t>
            </a:r>
          </a:p>
          <a:p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@override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Widget build(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BuildContext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context) {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final word =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WordPair.random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().first;</a:t>
            </a:r>
          </a:p>
          <a:p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return </a:t>
            </a:r>
            <a:r>
              <a:rPr lang="en-GB" sz="16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MaterialApp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title: 'Welcome to Flutter',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home: </a:t>
            </a:r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Scaffold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appBar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</a:t>
            </a:r>
            <a:r>
              <a:rPr lang="en-GB" sz="16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AppBar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(title: </a:t>
            </a:r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('Welcome to Flutter'),),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body: </a:t>
            </a:r>
            <a:r>
              <a:rPr lang="en-GB" sz="16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Center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(child: </a:t>
            </a:r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('Hello $word!', style: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TextStyle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fontSize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26) ,),),),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);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}//build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}//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MyApp</a:t>
            </a: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BC7C9-77A8-4B64-C9DB-FD8EF58CC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8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BD0FB9-673B-6E34-C82C-BCF5C744699C}"/>
              </a:ext>
            </a:extLst>
          </p:cNvPr>
          <p:cNvSpPr/>
          <p:nvPr/>
        </p:nvSpPr>
        <p:spPr>
          <a:xfrm>
            <a:off x="8824892" y="2121135"/>
            <a:ext cx="31300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err="1">
                <a:latin typeface="Aptos" panose="020B0004020202020204" pitchFamily="34" charset="0"/>
              </a:rPr>
              <a:t>MyApp</a:t>
            </a:r>
            <a:r>
              <a:rPr lang="en-GB" dirty="0">
                <a:latin typeface="Aptos" panose="020B0004020202020204" pitchFamily="34" charset="0"/>
              </a:rPr>
              <a:t> is not just a Widget, it is a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StatelessWidget</a:t>
            </a:r>
            <a:endParaRPr lang="en-IT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FBC156C-F184-C2B1-E614-E980B5D04A7C}"/>
              </a:ext>
            </a:extLst>
          </p:cNvPr>
          <p:cNvCxnSpPr>
            <a:cxnSpLocks/>
          </p:cNvCxnSpPr>
          <p:nvPr/>
        </p:nvCxnSpPr>
        <p:spPr>
          <a:xfrm>
            <a:off x="5008098" y="2215662"/>
            <a:ext cx="3650288" cy="95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9125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Stateless vs. Stateful widgets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0913119" cy="5334907"/>
          </a:xfrm>
        </p:spPr>
        <p:txBody>
          <a:bodyPr>
            <a:normAutofit/>
          </a:bodyPr>
          <a:lstStyle/>
          <a:p>
            <a:r>
              <a:rPr lang="en-GB" dirty="0">
                <a:ea typeface="Menlo" panose="020B0609030804020204" pitchFamily="49" charset="0"/>
                <a:cs typeface="Menlo" panose="020B0609030804020204" pitchFamily="49" charset="0"/>
              </a:rPr>
              <a:t>There are </a:t>
            </a:r>
            <a:r>
              <a:rPr lang="en-GB" b="1" dirty="0">
                <a:ea typeface="Menlo" panose="020B0609030804020204" pitchFamily="49" charset="0"/>
                <a:cs typeface="Menlo" panose="020B0609030804020204" pitchFamily="49" charset="0"/>
              </a:rPr>
              <a:t>two main types of Widgets: </a:t>
            </a:r>
          </a:p>
          <a:p>
            <a:endParaRPr lang="en-GB" dirty="0">
              <a:ea typeface="Menlo" panose="020B0609030804020204" pitchFamily="49" charset="0"/>
              <a:cs typeface="Menlo" panose="020B0609030804020204" pitchFamily="49" charset="0"/>
            </a:endParaRPr>
          </a:p>
          <a:p>
            <a:pPr lvl="1"/>
            <a:r>
              <a:rPr lang="en-GB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StatelessWidget</a:t>
            </a:r>
            <a:r>
              <a:rPr lang="en-GB" dirty="0" err="1"/>
              <a:t>s:Widgets</a:t>
            </a:r>
            <a:r>
              <a:rPr lang="en-GB" dirty="0"/>
              <a:t> that always build the same way given a particular configuration and ambient state. So, they never re-build while they are displayed to the user (their lifetime).</a:t>
            </a:r>
          </a:p>
          <a:p>
            <a:endParaRPr lang="en-GB" dirty="0"/>
          </a:p>
          <a:p>
            <a:pPr lvl="1"/>
            <a:r>
              <a:rPr lang="en-GB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StatefulWidget</a:t>
            </a:r>
            <a:r>
              <a:rPr lang="en-GB" dirty="0" err="1"/>
              <a:t>s</a:t>
            </a:r>
            <a:r>
              <a:rPr lang="en-GB" dirty="0"/>
              <a:t>: Widgets that can build differently several times over their lifetime.</a:t>
            </a:r>
            <a:endParaRPr lang="en-IT" dirty="0"/>
          </a:p>
          <a:p>
            <a:endParaRPr lang="en-IT" dirty="0"/>
          </a:p>
          <a:p>
            <a:r>
              <a:rPr lang="en-IT" dirty="0"/>
              <a:t>You can think about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StatelessWidget</a:t>
            </a:r>
            <a:r>
              <a:rPr lang="en-IT" dirty="0"/>
              <a:t> as a sort of constant and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StatefulWidget</a:t>
            </a:r>
            <a:r>
              <a:rPr lang="en-IT" dirty="0"/>
              <a:t> as a variable.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57DFA-38F2-7E49-A670-0B55AA36C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318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Changing the 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3" y="1350558"/>
            <a:ext cx="5667828" cy="5331508"/>
          </a:xfrm>
        </p:spPr>
        <p:txBody>
          <a:bodyPr>
            <a:normAutofit/>
          </a:bodyPr>
          <a:lstStyle/>
          <a:p>
            <a:r>
              <a:rPr lang="en-US" dirty="0"/>
              <a:t>Let’s start by simply changing the UI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Problems:</a:t>
            </a:r>
          </a:p>
          <a:p>
            <a:endParaRPr lang="en-US" dirty="0"/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How to add a button</a:t>
            </a:r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How to put it there</a:t>
            </a:r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We know how! We can use the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Column</a:t>
            </a:r>
            <a:r>
              <a:rPr lang="en-US" dirty="0"/>
              <a:t> Widget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159EB-DDAC-5542-81F0-A86EA519B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10</a:t>
            </a:fld>
            <a:endParaRPr lang="en-GB"/>
          </a:p>
        </p:txBody>
      </p:sp>
      <p:pic>
        <p:nvPicPr>
          <p:cNvPr id="5" name="Picture 4" descr="A white rectangular object with black text&#10;&#10;Description automatically generated">
            <a:extLst>
              <a:ext uri="{FF2B5EF4-FFF2-40B4-BE49-F238E27FC236}">
                <a16:creationId xmlns:a16="http://schemas.microsoft.com/office/drawing/2014/main" id="{1F4D3E71-E539-3646-7A7E-A12E76BFC3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8106" y="2046418"/>
            <a:ext cx="2785721" cy="239783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A2D353A-FAB1-C40F-BF46-7F52CFC21CD3}"/>
              </a:ext>
            </a:extLst>
          </p:cNvPr>
          <p:cNvSpPr/>
          <p:nvPr/>
        </p:nvSpPr>
        <p:spPr>
          <a:xfrm>
            <a:off x="9279512" y="2580860"/>
            <a:ext cx="2272553" cy="524435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8D4639-0124-51C8-2BE4-AFB6C114DA5F}"/>
              </a:ext>
            </a:extLst>
          </p:cNvPr>
          <p:cNvSpPr/>
          <p:nvPr/>
        </p:nvSpPr>
        <p:spPr>
          <a:xfrm>
            <a:off x="9279512" y="3109777"/>
            <a:ext cx="2272553" cy="784248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98A581-B641-4BA3-640F-09F2F175BA30}"/>
              </a:ext>
            </a:extLst>
          </p:cNvPr>
          <p:cNvSpPr/>
          <p:nvPr/>
        </p:nvSpPr>
        <p:spPr>
          <a:xfrm>
            <a:off x="9037466" y="2056425"/>
            <a:ext cx="2667000" cy="2124635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F5A41F-B042-6406-A3E4-9E95F508B90E}"/>
              </a:ext>
            </a:extLst>
          </p:cNvPr>
          <p:cNvSpPr/>
          <p:nvPr/>
        </p:nvSpPr>
        <p:spPr>
          <a:xfrm>
            <a:off x="6288293" y="2402879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Column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7B6039-7805-F088-B4C6-F905B36EA7D0}"/>
              </a:ext>
            </a:extLst>
          </p:cNvPr>
          <p:cNvSpPr/>
          <p:nvPr/>
        </p:nvSpPr>
        <p:spPr>
          <a:xfrm>
            <a:off x="6288293" y="3728885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Child#2</a:t>
            </a:r>
            <a:endParaRPr lang="en-IT" sz="11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886B0E-76C1-2438-1AF0-3C14AC8E0799}"/>
              </a:ext>
            </a:extLst>
          </p:cNvPr>
          <p:cNvSpPr/>
          <p:nvPr/>
        </p:nvSpPr>
        <p:spPr>
          <a:xfrm>
            <a:off x="6288293" y="3019249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Child#1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18C189A-B077-2764-7C86-AAA9DC39AF45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7745304" y="2402879"/>
            <a:ext cx="1292162" cy="226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70291D6-B0C5-B401-F14C-30007FC61D1B}"/>
              </a:ext>
            </a:extLst>
          </p:cNvPr>
          <p:cNvCxnSpPr>
            <a:cxnSpLocks/>
            <a:stCxn id="11" idx="3"/>
            <a:endCxn id="6" idx="1"/>
          </p:cNvCxnSpPr>
          <p:nvPr/>
        </p:nvCxnSpPr>
        <p:spPr>
          <a:xfrm flipV="1">
            <a:off x="7745304" y="2843078"/>
            <a:ext cx="1534208" cy="402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457216C-BEE9-7FE2-C543-4C1B546AF967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7745304" y="3501821"/>
            <a:ext cx="1534208" cy="453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4644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Different UI, different tree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B42C9F-EA5E-E84C-933B-1E6C49907384}"/>
              </a:ext>
            </a:extLst>
          </p:cNvPr>
          <p:cNvSpPr/>
          <p:nvPr/>
        </p:nvSpPr>
        <p:spPr>
          <a:xfrm>
            <a:off x="825038" y="4917652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Text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9D5A8A-B0AC-B84D-AD4B-863512C279DC}"/>
              </a:ext>
            </a:extLst>
          </p:cNvPr>
          <p:cNvSpPr/>
          <p:nvPr/>
        </p:nvSpPr>
        <p:spPr>
          <a:xfrm>
            <a:off x="1854993" y="3326419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Scaffold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2471A4-C1BA-2342-BED9-84A6F866A98C}"/>
              </a:ext>
            </a:extLst>
          </p:cNvPr>
          <p:cNvSpPr/>
          <p:nvPr/>
        </p:nvSpPr>
        <p:spPr>
          <a:xfrm>
            <a:off x="825038" y="4147280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AppBar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018BD8-25DA-494C-B327-BAA6C47353FB}"/>
              </a:ext>
            </a:extLst>
          </p:cNvPr>
          <p:cNvSpPr/>
          <p:nvPr/>
        </p:nvSpPr>
        <p:spPr>
          <a:xfrm>
            <a:off x="2911744" y="4147281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Center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E99EEE-C389-4C46-B50A-614714CC22AD}"/>
              </a:ext>
            </a:extLst>
          </p:cNvPr>
          <p:cNvSpPr/>
          <p:nvPr/>
        </p:nvSpPr>
        <p:spPr>
          <a:xfrm>
            <a:off x="1854992" y="2541741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sz="1400" dirty="0">
                <a:latin typeface="Aptos" panose="020B0004020202020204" pitchFamily="34" charset="0"/>
              </a:rPr>
              <a:t>...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6C58FE4-50A0-594E-9EC8-3ED6B3197422}"/>
              </a:ext>
            </a:extLst>
          </p:cNvPr>
          <p:cNvCxnSpPr>
            <a:cxnSpLocks/>
            <a:stCxn id="12" idx="2"/>
            <a:endCxn id="9" idx="0"/>
          </p:cNvCxnSpPr>
          <p:nvPr/>
        </p:nvCxnSpPr>
        <p:spPr>
          <a:xfrm>
            <a:off x="2583498" y="2993916"/>
            <a:ext cx="1" cy="332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B4690AA-E12A-864A-9704-7490E4A9B9CA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flipH="1">
            <a:off x="1553544" y="3778594"/>
            <a:ext cx="1029955" cy="368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EB82D47-34A1-304C-8A9C-119F8E7415B8}"/>
              </a:ext>
            </a:extLst>
          </p:cNvPr>
          <p:cNvCxnSpPr>
            <a:cxnSpLocks/>
            <a:stCxn id="10" idx="2"/>
            <a:endCxn id="7" idx="0"/>
          </p:cNvCxnSpPr>
          <p:nvPr/>
        </p:nvCxnSpPr>
        <p:spPr>
          <a:xfrm>
            <a:off x="1553544" y="4599455"/>
            <a:ext cx="0" cy="318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A56897D-EB10-FD4D-867C-E7C57BDE59A9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2583499" y="3778594"/>
            <a:ext cx="1056751" cy="368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6570FDB-0A87-3146-B350-6A0D8314A0DD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3640250" y="4599456"/>
            <a:ext cx="9457" cy="355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56" name="Graphic 55" descr="Cursor with solid fill">
            <a:extLst>
              <a:ext uri="{FF2B5EF4-FFF2-40B4-BE49-F238E27FC236}">
                <a16:creationId xmlns:a16="http://schemas.microsoft.com/office/drawing/2014/main" id="{BBF7B2EC-8D05-C048-B17F-75F073918C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123154">
            <a:off x="4912159" y="3401106"/>
            <a:ext cx="914400" cy="914400"/>
          </a:xfrm>
          <a:prstGeom prst="rect">
            <a:avLst/>
          </a:prstGeom>
        </p:spPr>
      </p:pic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65D6E243-3B2C-7C44-96BB-E1CF73254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50558"/>
            <a:ext cx="11512815" cy="478242"/>
          </a:xfrm>
        </p:spPr>
        <p:txBody>
          <a:bodyPr>
            <a:normAutofit/>
          </a:bodyPr>
          <a:lstStyle/>
          <a:p>
            <a:r>
              <a:rPr lang="en-US" dirty="0"/>
              <a:t>How the widget tree changed?</a:t>
            </a:r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7A504BD-3AD1-B149-959A-8421A5321612}"/>
              </a:ext>
            </a:extLst>
          </p:cNvPr>
          <p:cNvSpPr/>
          <p:nvPr/>
        </p:nvSpPr>
        <p:spPr>
          <a:xfrm>
            <a:off x="2911743" y="4965431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Text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458C5F1-E8A6-6C41-88E6-DD4176E0F5BA}"/>
              </a:ext>
            </a:extLst>
          </p:cNvPr>
          <p:cNvSpPr/>
          <p:nvPr/>
        </p:nvSpPr>
        <p:spPr>
          <a:xfrm>
            <a:off x="6176079" y="4568058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Text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8E3C733-B5E2-284D-9A45-ED418AECF427}"/>
              </a:ext>
            </a:extLst>
          </p:cNvPr>
          <p:cNvSpPr/>
          <p:nvPr/>
        </p:nvSpPr>
        <p:spPr>
          <a:xfrm>
            <a:off x="7206034" y="2976825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Scaffold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774DF2E-4D44-F946-BF8E-DDF15F66B452}"/>
              </a:ext>
            </a:extLst>
          </p:cNvPr>
          <p:cNvSpPr/>
          <p:nvPr/>
        </p:nvSpPr>
        <p:spPr>
          <a:xfrm>
            <a:off x="6176079" y="3797686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AppBar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112EE59-A034-DE41-8578-CC66DE2CD5EB}"/>
              </a:ext>
            </a:extLst>
          </p:cNvPr>
          <p:cNvSpPr/>
          <p:nvPr/>
        </p:nvSpPr>
        <p:spPr>
          <a:xfrm>
            <a:off x="8262785" y="3797687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Center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15A97B9-26C3-CA47-B9BA-925281EDD817}"/>
              </a:ext>
            </a:extLst>
          </p:cNvPr>
          <p:cNvSpPr/>
          <p:nvPr/>
        </p:nvSpPr>
        <p:spPr>
          <a:xfrm>
            <a:off x="7206033" y="2192147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sz="1400" dirty="0">
                <a:latin typeface="Aptos" panose="020B0004020202020204" pitchFamily="34" charset="0"/>
              </a:rPr>
              <a:t>...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4CCB585-1875-A443-8058-829FAA42C5F9}"/>
              </a:ext>
            </a:extLst>
          </p:cNvPr>
          <p:cNvCxnSpPr>
            <a:cxnSpLocks/>
            <a:stCxn id="51" idx="2"/>
            <a:endCxn id="47" idx="0"/>
          </p:cNvCxnSpPr>
          <p:nvPr/>
        </p:nvCxnSpPr>
        <p:spPr>
          <a:xfrm>
            <a:off x="7934539" y="2644322"/>
            <a:ext cx="1" cy="332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7DA9B31-6C79-E147-8EB1-F761D31E01D3}"/>
              </a:ext>
            </a:extLst>
          </p:cNvPr>
          <p:cNvCxnSpPr>
            <a:cxnSpLocks/>
            <a:stCxn id="47" idx="2"/>
            <a:endCxn id="48" idx="0"/>
          </p:cNvCxnSpPr>
          <p:nvPr/>
        </p:nvCxnSpPr>
        <p:spPr>
          <a:xfrm flipH="1">
            <a:off x="6904585" y="3429000"/>
            <a:ext cx="1029955" cy="368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F48E2A8-A951-DC4C-8946-E005CFEB5131}"/>
              </a:ext>
            </a:extLst>
          </p:cNvPr>
          <p:cNvCxnSpPr>
            <a:cxnSpLocks/>
            <a:stCxn id="48" idx="2"/>
            <a:endCxn id="45" idx="0"/>
          </p:cNvCxnSpPr>
          <p:nvPr/>
        </p:nvCxnSpPr>
        <p:spPr>
          <a:xfrm>
            <a:off x="6904585" y="4249861"/>
            <a:ext cx="0" cy="318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9AD32BE-81F5-AF42-BA66-809CDC6636C9}"/>
              </a:ext>
            </a:extLst>
          </p:cNvPr>
          <p:cNvCxnSpPr>
            <a:cxnSpLocks/>
            <a:stCxn id="47" idx="2"/>
            <a:endCxn id="50" idx="0"/>
          </p:cNvCxnSpPr>
          <p:nvPr/>
        </p:nvCxnSpPr>
        <p:spPr>
          <a:xfrm>
            <a:off x="7934540" y="3429000"/>
            <a:ext cx="1056751" cy="368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187579B-BFC4-0945-BEBC-77C15B860DC9}"/>
              </a:ext>
            </a:extLst>
          </p:cNvPr>
          <p:cNvCxnSpPr>
            <a:cxnSpLocks/>
            <a:stCxn id="50" idx="2"/>
            <a:endCxn id="61" idx="0"/>
          </p:cNvCxnSpPr>
          <p:nvPr/>
        </p:nvCxnSpPr>
        <p:spPr>
          <a:xfrm>
            <a:off x="8991291" y="4249862"/>
            <a:ext cx="9457" cy="355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1D8B3BD8-FDEA-7441-BF74-2B344650D2F1}"/>
              </a:ext>
            </a:extLst>
          </p:cNvPr>
          <p:cNvSpPr/>
          <p:nvPr/>
        </p:nvSpPr>
        <p:spPr>
          <a:xfrm>
            <a:off x="8272242" y="4605819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Column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F8976B3-D8CF-4D44-B2E7-80B1C70BC203}"/>
              </a:ext>
            </a:extLst>
          </p:cNvPr>
          <p:cNvSpPr/>
          <p:nvPr/>
        </p:nvSpPr>
        <p:spPr>
          <a:xfrm>
            <a:off x="8272242" y="5283764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sz="1100" dirty="0">
                <a:latin typeface="Aptos" panose="020B0004020202020204" pitchFamily="34" charset="0"/>
              </a:rPr>
              <a:t>ElevatedButton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D966DF5-CEFE-4F42-B429-809A05C8DD8D}"/>
              </a:ext>
            </a:extLst>
          </p:cNvPr>
          <p:cNvSpPr/>
          <p:nvPr/>
        </p:nvSpPr>
        <p:spPr>
          <a:xfrm>
            <a:off x="10181017" y="5283763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Text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990A959-51CD-1648-B91D-278A25D06102}"/>
              </a:ext>
            </a:extLst>
          </p:cNvPr>
          <p:cNvSpPr/>
          <p:nvPr/>
        </p:nvSpPr>
        <p:spPr>
          <a:xfrm>
            <a:off x="8272242" y="5893069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Text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9476614-597C-2B46-B361-AE85ACBE3573}"/>
              </a:ext>
            </a:extLst>
          </p:cNvPr>
          <p:cNvSpPr/>
          <p:nvPr/>
        </p:nvSpPr>
        <p:spPr>
          <a:xfrm>
            <a:off x="6262470" y="5283762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sz="900" dirty="0">
                <a:latin typeface="Aptos" panose="020B0004020202020204" pitchFamily="34" charset="0"/>
              </a:rPr>
              <a:t>MainAxisAlignment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5E073ED-E4D8-C64C-ACED-3BEF0101F829}"/>
              </a:ext>
            </a:extLst>
          </p:cNvPr>
          <p:cNvCxnSpPr>
            <a:cxnSpLocks/>
            <a:stCxn id="62" idx="2"/>
            <a:endCxn id="64" idx="0"/>
          </p:cNvCxnSpPr>
          <p:nvPr/>
        </p:nvCxnSpPr>
        <p:spPr>
          <a:xfrm>
            <a:off x="9000748" y="5735939"/>
            <a:ext cx="0" cy="157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865B437-17ED-4C4B-8F81-DAA32D4B64A8}"/>
              </a:ext>
            </a:extLst>
          </p:cNvPr>
          <p:cNvCxnSpPr>
            <a:cxnSpLocks/>
            <a:stCxn id="61" idx="2"/>
            <a:endCxn id="62" idx="0"/>
          </p:cNvCxnSpPr>
          <p:nvPr/>
        </p:nvCxnSpPr>
        <p:spPr>
          <a:xfrm>
            <a:off x="9000748" y="5057994"/>
            <a:ext cx="0" cy="225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6E328D1-9F4E-C54F-BF99-BB647CC14D49}"/>
              </a:ext>
            </a:extLst>
          </p:cNvPr>
          <p:cNvCxnSpPr>
            <a:cxnSpLocks/>
            <a:stCxn id="61" idx="2"/>
            <a:endCxn id="65" idx="0"/>
          </p:cNvCxnSpPr>
          <p:nvPr/>
        </p:nvCxnSpPr>
        <p:spPr>
          <a:xfrm flipH="1">
            <a:off x="6990976" y="5057994"/>
            <a:ext cx="2009772" cy="225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A32C1CA-556C-EC45-B559-AF43C59BF4C6}"/>
              </a:ext>
            </a:extLst>
          </p:cNvPr>
          <p:cNvCxnSpPr>
            <a:cxnSpLocks/>
            <a:stCxn id="61" idx="2"/>
            <a:endCxn id="63" idx="0"/>
          </p:cNvCxnSpPr>
          <p:nvPr/>
        </p:nvCxnSpPr>
        <p:spPr>
          <a:xfrm>
            <a:off x="9000748" y="5057994"/>
            <a:ext cx="1908775" cy="225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77C812-0AF0-F942-940A-3EE076ABF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827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Changing the 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3" y="1350558"/>
            <a:ext cx="5667828" cy="5331508"/>
          </a:xfrm>
        </p:spPr>
        <p:txBody>
          <a:bodyPr>
            <a:normAutofit/>
          </a:bodyPr>
          <a:lstStyle/>
          <a:p>
            <a:r>
              <a:rPr lang="en-US" u="sng" dirty="0"/>
              <a:t>Problem</a:t>
            </a:r>
            <a:r>
              <a:rPr lang="en-US" dirty="0"/>
              <a:t>: how to change the UI</a:t>
            </a:r>
            <a:br>
              <a:rPr lang="en-US" dirty="0"/>
            </a:br>
            <a:r>
              <a:rPr lang="en-US" dirty="0"/>
              <a:t>dynamically?</a:t>
            </a:r>
            <a:endParaRPr lang="en-US" u="sng" dirty="0"/>
          </a:p>
          <a:p>
            <a:endParaRPr lang="en-US" dirty="0"/>
          </a:p>
          <a:p>
            <a:r>
              <a:rPr lang="en-US" dirty="0"/>
              <a:t>In other words: how to change the </a:t>
            </a:r>
            <a:r>
              <a:rPr lang="en-US" b="1" dirty="0"/>
              <a:t>app state </a:t>
            </a:r>
            <a:r>
              <a:rPr lang="en-US" dirty="0"/>
              <a:t>without reloading or restarting everything</a:t>
            </a:r>
          </a:p>
          <a:p>
            <a:endParaRPr lang="en-US" dirty="0"/>
          </a:p>
          <a:p>
            <a:r>
              <a:rPr lang="en-US" dirty="0"/>
              <a:t>We need a </a:t>
            </a:r>
            <a:r>
              <a:rPr lang="en-US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StatefulWidget</a:t>
            </a:r>
            <a:endParaRPr lang="en-US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EF363-E83A-EA4F-8414-3F0DCF8EA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12</a:t>
            </a:fld>
            <a:endParaRPr lang="en-GB"/>
          </a:p>
        </p:txBody>
      </p:sp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F2EE7AC6-D340-AB37-0204-966DA98CA0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8709" y="1419747"/>
            <a:ext cx="2277618" cy="493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03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StatefulWidget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3" y="1350558"/>
            <a:ext cx="11136298" cy="5331508"/>
          </a:xfrm>
        </p:spPr>
        <p:txBody>
          <a:bodyPr>
            <a:normAutofit/>
          </a:bodyPr>
          <a:lstStyle/>
          <a:p>
            <a:r>
              <a:rPr lang="en-US" dirty="0"/>
              <a:t>As we mentioned before, </a:t>
            </a:r>
            <a:r>
              <a:rPr lang="en-US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StatefulWidget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dirty="0"/>
              <a:t>maintain state that might change during the lifetime of the widget. </a:t>
            </a:r>
          </a:p>
          <a:p>
            <a:endParaRPr lang="en-US" dirty="0"/>
          </a:p>
          <a:p>
            <a:r>
              <a:rPr lang="en-US" dirty="0"/>
              <a:t>Implementing a stateful widget requires at least two classes: </a:t>
            </a:r>
          </a:p>
          <a:p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 </a:t>
            </a:r>
            <a:r>
              <a:rPr lang="en-US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StatefulWidget</a:t>
            </a:r>
            <a:r>
              <a:rPr lang="en-US" b="1" dirty="0"/>
              <a:t> class </a:t>
            </a:r>
            <a:r>
              <a:rPr lang="en-US" dirty="0"/>
              <a:t>that creates an instance of the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Widget</a:t>
            </a:r>
            <a:r>
              <a:rPr lang="en-US" dirty="0"/>
              <a:t> itself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State</a:t>
            </a:r>
            <a:r>
              <a:rPr lang="en-US" b="1" dirty="0"/>
              <a:t> class: </a:t>
            </a:r>
            <a:r>
              <a:rPr lang="en-US" dirty="0"/>
              <a:t>a class that manages the state of the </a:t>
            </a:r>
            <a:r>
              <a:rPr lang="en-US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StatefulWidget</a:t>
            </a:r>
            <a:endParaRPr lang="en-US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A3EEA-F317-1147-8750-EC5526CAB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7859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The boilerplate code of a StatefulWidget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A93F4B-D07A-9F44-AD78-DE159776C42D}"/>
              </a:ext>
            </a:extLst>
          </p:cNvPr>
          <p:cNvSpPr/>
          <p:nvPr/>
        </p:nvSpPr>
        <p:spPr>
          <a:xfrm>
            <a:off x="428172" y="1758566"/>
            <a:ext cx="871582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 </a:t>
            </a:r>
            <a:r>
              <a:rPr lang="en-GB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ClassName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extends </a:t>
            </a:r>
            <a:r>
              <a:rPr lang="en-GB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StatefulWidget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ClassName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({Key? key}) : super(key: key);</a:t>
            </a:r>
          </a:p>
          <a:p>
            <a:b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@override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_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ClassNameState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createState</a:t>
            </a:r>
            <a:r>
              <a:rPr lang="en-GB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 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=&gt; _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ClassNameState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();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}//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RandomHello</a:t>
            </a:r>
            <a:endParaRPr lang="en-GB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b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 </a:t>
            </a:r>
            <a:r>
              <a:rPr lang="en-GB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_</a:t>
            </a:r>
            <a:r>
              <a:rPr lang="en-GB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ClassNameState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extends State&lt;</a:t>
            </a:r>
            <a:r>
              <a:rPr lang="en-GB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ClassName</a:t>
            </a:r>
            <a:r>
              <a:rPr lang="en-GB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</a:t>
            </a:r>
          </a:p>
          <a:p>
            <a:b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@override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Widget </a:t>
            </a:r>
            <a:r>
              <a:rPr lang="en-GB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build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BuildContext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buildContext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){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//return some widget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}//build </a:t>
            </a:r>
          </a:p>
          <a:p>
            <a:endParaRPr lang="en-GB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}//_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ClassNameState</a:t>
            </a:r>
            <a:endParaRPr lang="en-GB" b="0" dirty="0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E36FA5-F059-2D45-BCF7-3130ADDA7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7776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CEEDB-9776-A988-3030-EC51B3371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7DC49-D78F-2D94-C405-0FDA41034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new code</a:t>
            </a:r>
            <a:endParaRPr lang="en-IT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48A38E-D6BD-0557-B634-36492AB6A6C4}"/>
              </a:ext>
            </a:extLst>
          </p:cNvPr>
          <p:cNvSpPr/>
          <p:nvPr/>
        </p:nvSpPr>
        <p:spPr>
          <a:xfrm>
            <a:off x="5319207" y="1275933"/>
            <a:ext cx="705333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 </a:t>
            </a:r>
            <a:r>
              <a:rPr lang="en-GB" sz="12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extends </a:t>
            </a:r>
            <a:r>
              <a:rPr lang="en-GB" sz="12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StatefulWidget</a:t>
            </a:r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{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sz="12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({Key? key}) : super(key: key);</a:t>
            </a:r>
          </a:p>
          <a:p>
            <a:endParaRPr lang="en-GB" sz="12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@override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State&lt;</a:t>
            </a:r>
            <a:r>
              <a:rPr lang="en-GB" sz="12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 </a:t>
            </a:r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createState</a:t>
            </a:r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 =&gt; _</a:t>
            </a:r>
            <a:r>
              <a:rPr lang="en-GB" sz="12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HomePageState</a:t>
            </a:r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();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</a:p>
          <a:p>
            <a:endParaRPr lang="en-GB" sz="12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 _</a:t>
            </a:r>
            <a:r>
              <a:rPr lang="en-GB" sz="12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HomePageState</a:t>
            </a:r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extends </a:t>
            </a:r>
            <a:r>
              <a:rPr lang="en-GB" sz="12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State</a:t>
            </a:r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</a:t>
            </a:r>
            <a:r>
              <a:rPr lang="en-GB" sz="12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 {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@override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Widget build(</a:t>
            </a:r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BuildContext</a:t>
            </a:r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context) {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final word = </a:t>
            </a:r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WordPair.random</a:t>
            </a:r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().first;</a:t>
            </a:r>
          </a:p>
          <a:p>
            <a:endParaRPr lang="en-GB" sz="12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return Scaffold(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</a:t>
            </a:r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appBar</a:t>
            </a:r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</a:t>
            </a:r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AppBar</a:t>
            </a:r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(title: Text('Welcome to Flutter'),),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body: </a:t>
            </a:r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Center</a:t>
            </a:r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child: Column(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</a:t>
            </a:r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mainAxisSize</a:t>
            </a:r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</a:t>
            </a:r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MainAxisSize.min</a:t>
            </a:r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children: [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 Text('Hello $word!', style: </a:t>
            </a:r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TextStyle</a:t>
            </a:r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fontSize</a:t>
            </a:r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26)),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 </a:t>
            </a:r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SizedBox</a:t>
            </a:r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(height: 16),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 </a:t>
            </a:r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ElevatedButton</a:t>
            </a:r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	child: Text('Press me'),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 ),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],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),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),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);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}}//</a:t>
            </a:r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  <a:endParaRPr lang="en-GB" sz="1200" b="0" dirty="0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083B10-FE81-21C3-FA66-F37528C13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15</a:t>
            </a:fld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6DAA93-6770-CCA7-CD56-E4DC7FAE2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3" y="1216470"/>
            <a:ext cx="3412308" cy="4108152"/>
          </a:xfrm>
        </p:spPr>
        <p:txBody>
          <a:bodyPr>
            <a:normAutofit/>
          </a:bodyPr>
          <a:lstStyle/>
          <a:p>
            <a:r>
              <a:rPr lang="en-US" dirty="0"/>
              <a:t>Now let’s refactor the </a:t>
            </a:r>
            <a:r>
              <a:rPr lang="en-US" dirty="0" err="1"/>
              <a:t>MyApp</a:t>
            </a:r>
            <a:r>
              <a:rPr lang="en-US" dirty="0"/>
              <a:t> code to be more modular</a:t>
            </a:r>
          </a:p>
          <a:p>
            <a:endParaRPr lang="en-US" dirty="0"/>
          </a:p>
          <a:p>
            <a:r>
              <a:rPr lang="en-US" dirty="0"/>
              <a:t>We can put all the “scaffold-related” code in a new monolithic Widget</a:t>
            </a:r>
          </a:p>
        </p:txBody>
      </p:sp>
    </p:spTree>
    <p:extLst>
      <p:ext uri="{BB962C8B-B14F-4D97-AF65-F5344CB8AC3E}">
        <p14:creationId xmlns:p14="http://schemas.microsoft.com/office/powerpoint/2010/main" val="2287379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F20AA-9CF1-B5B0-1B74-6299B4651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62CAE-6148-2AE5-904D-6B7A7D1B7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new code</a:t>
            </a:r>
            <a:endParaRPr lang="en-IT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CB12E8-9D01-3974-7AF2-20F012DA7424}"/>
              </a:ext>
            </a:extLst>
          </p:cNvPr>
          <p:cNvSpPr/>
          <p:nvPr/>
        </p:nvSpPr>
        <p:spPr>
          <a:xfrm>
            <a:off x="4824856" y="1648727"/>
            <a:ext cx="705333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void main() {</a:t>
            </a:r>
          </a:p>
          <a:p>
            <a:r>
              <a:rPr lang="en-GB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runApp</a:t>
            </a:r>
            <a:r>
              <a:rPr lang="en-GB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GB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MyApp</a:t>
            </a:r>
            <a:r>
              <a:rPr lang="en-GB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());</a:t>
            </a:r>
          </a:p>
          <a:p>
            <a:r>
              <a:rPr lang="en-GB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}//main</a:t>
            </a:r>
          </a:p>
          <a:p>
            <a:endParaRPr lang="en-GB" sz="1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GB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 </a:t>
            </a:r>
            <a:r>
              <a:rPr lang="en-GB" sz="14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MyApp</a:t>
            </a:r>
            <a:r>
              <a:rPr lang="en-GB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extends </a:t>
            </a:r>
            <a:r>
              <a:rPr lang="en-GB" sz="14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StatelessWidget</a:t>
            </a:r>
            <a:r>
              <a:rPr lang="en-GB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{</a:t>
            </a:r>
          </a:p>
          <a:p>
            <a:r>
              <a:rPr lang="en-GB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sz="14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MyApp</a:t>
            </a:r>
            <a:r>
              <a:rPr lang="en-GB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({Key? key}) : super(key: key);</a:t>
            </a:r>
          </a:p>
          <a:p>
            <a:endParaRPr lang="en-GB" sz="1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GB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@override</a:t>
            </a:r>
          </a:p>
          <a:p>
            <a:r>
              <a:rPr lang="en-GB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Widget build(</a:t>
            </a:r>
            <a:r>
              <a:rPr lang="en-GB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BuildContext</a:t>
            </a:r>
            <a:r>
              <a:rPr lang="en-GB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context) {</a:t>
            </a:r>
          </a:p>
          <a:p>
            <a:r>
              <a:rPr lang="en-GB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return </a:t>
            </a:r>
            <a:r>
              <a:rPr lang="en-GB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MaterialApp</a:t>
            </a:r>
            <a:r>
              <a:rPr lang="en-GB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r>
              <a:rPr lang="en-GB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title: 'Welcome to Flutter',</a:t>
            </a:r>
          </a:p>
          <a:p>
            <a:r>
              <a:rPr lang="en-GB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home: </a:t>
            </a:r>
            <a:r>
              <a:rPr lang="en-GB" sz="14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  <a:r>
              <a:rPr lang="en-GB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(),</a:t>
            </a:r>
          </a:p>
          <a:p>
            <a:r>
              <a:rPr lang="en-GB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);</a:t>
            </a:r>
          </a:p>
          <a:p>
            <a:r>
              <a:rPr lang="en-GB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}}//</a:t>
            </a:r>
            <a:r>
              <a:rPr lang="en-GB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MyApp</a:t>
            </a:r>
            <a:endParaRPr lang="en-GB" sz="1400" b="0" dirty="0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207FDF-DF4F-5CFE-F641-524E4977F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16</a:t>
            </a:fld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E6EABC1-6B9C-026C-3A4B-634C6B535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3" y="1216470"/>
            <a:ext cx="3412308" cy="4108152"/>
          </a:xfrm>
        </p:spPr>
        <p:txBody>
          <a:bodyPr>
            <a:normAutofit/>
          </a:bodyPr>
          <a:lstStyle/>
          <a:p>
            <a:r>
              <a:rPr lang="en-US" dirty="0"/>
              <a:t>And refactor </a:t>
            </a:r>
            <a:r>
              <a:rPr lang="en-US" dirty="0" err="1"/>
              <a:t>MyApp</a:t>
            </a:r>
            <a:r>
              <a:rPr lang="en-US" dirty="0"/>
              <a:t> like that</a:t>
            </a:r>
          </a:p>
        </p:txBody>
      </p:sp>
    </p:spTree>
    <p:extLst>
      <p:ext uri="{BB962C8B-B14F-4D97-AF65-F5344CB8AC3E}">
        <p14:creationId xmlns:p14="http://schemas.microsoft.com/office/powerpoint/2010/main" val="2221811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56DFC-DE4E-96BC-07A1-B7D7CA2B0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229AC-56EB-9793-8B7F-173407710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Same UI, different tree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D14228-EFBE-0234-3BDF-A06F21004E2A}"/>
              </a:ext>
            </a:extLst>
          </p:cNvPr>
          <p:cNvSpPr/>
          <p:nvPr/>
        </p:nvSpPr>
        <p:spPr>
          <a:xfrm>
            <a:off x="850831" y="4271628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DF20BE-D611-1106-471E-8A0E5F08E9FA}"/>
              </a:ext>
            </a:extLst>
          </p:cNvPr>
          <p:cNvSpPr/>
          <p:nvPr/>
        </p:nvSpPr>
        <p:spPr>
          <a:xfrm>
            <a:off x="1880786" y="2680395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Scaffold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6279D3-4C3C-47DF-1FDD-0A6F4964FDB5}"/>
              </a:ext>
            </a:extLst>
          </p:cNvPr>
          <p:cNvSpPr/>
          <p:nvPr/>
        </p:nvSpPr>
        <p:spPr>
          <a:xfrm>
            <a:off x="850831" y="3501256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AppBar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95C73B-7B88-B121-0268-A802995F8447}"/>
              </a:ext>
            </a:extLst>
          </p:cNvPr>
          <p:cNvSpPr/>
          <p:nvPr/>
        </p:nvSpPr>
        <p:spPr>
          <a:xfrm>
            <a:off x="2937537" y="3501257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Center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B4AE17-18E6-763A-647E-182FF9D0FAEF}"/>
              </a:ext>
            </a:extLst>
          </p:cNvPr>
          <p:cNvSpPr/>
          <p:nvPr/>
        </p:nvSpPr>
        <p:spPr>
          <a:xfrm>
            <a:off x="1880785" y="1895717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5E2210E-1E04-BA0E-6A0C-8D8A87F4E5A3}"/>
              </a:ext>
            </a:extLst>
          </p:cNvPr>
          <p:cNvCxnSpPr>
            <a:cxnSpLocks/>
            <a:stCxn id="12" idx="2"/>
            <a:endCxn id="9" idx="0"/>
          </p:cNvCxnSpPr>
          <p:nvPr/>
        </p:nvCxnSpPr>
        <p:spPr>
          <a:xfrm>
            <a:off x="2609291" y="2347892"/>
            <a:ext cx="1" cy="332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C128159-3534-7852-9177-174F935FF8EE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flipH="1">
            <a:off x="1579337" y="3132570"/>
            <a:ext cx="1029955" cy="368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494DE4C-6F61-2AE2-19F9-8EE1459295B4}"/>
              </a:ext>
            </a:extLst>
          </p:cNvPr>
          <p:cNvCxnSpPr>
            <a:cxnSpLocks/>
            <a:stCxn id="10" idx="2"/>
            <a:endCxn id="7" idx="0"/>
          </p:cNvCxnSpPr>
          <p:nvPr/>
        </p:nvCxnSpPr>
        <p:spPr>
          <a:xfrm>
            <a:off x="1579337" y="3953431"/>
            <a:ext cx="0" cy="318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507E564-EABC-DBD2-9F1B-D322882E0691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2609292" y="3132570"/>
            <a:ext cx="1056751" cy="368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2E0E914-F2E3-DF81-AD9C-7AF7F78077B5}"/>
              </a:ext>
            </a:extLst>
          </p:cNvPr>
          <p:cNvCxnSpPr>
            <a:cxnSpLocks/>
            <a:stCxn id="11" idx="2"/>
            <a:endCxn id="66" idx="0"/>
          </p:cNvCxnSpPr>
          <p:nvPr/>
        </p:nvCxnSpPr>
        <p:spPr>
          <a:xfrm>
            <a:off x="3666043" y="3953432"/>
            <a:ext cx="9457" cy="355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F473E48-F1CC-04FE-0238-A93D7D862A80}"/>
              </a:ext>
            </a:extLst>
          </p:cNvPr>
          <p:cNvSpPr/>
          <p:nvPr/>
        </p:nvSpPr>
        <p:spPr>
          <a:xfrm>
            <a:off x="6343995" y="4271629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1DA5D7-F1A5-6F9C-D59E-B3138529E713}"/>
              </a:ext>
            </a:extLst>
          </p:cNvPr>
          <p:cNvSpPr/>
          <p:nvPr/>
        </p:nvSpPr>
        <p:spPr>
          <a:xfrm>
            <a:off x="7373950" y="2680396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Scaffold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CCB6E6-7C70-6CC6-B462-0501C3B63EF4}"/>
              </a:ext>
            </a:extLst>
          </p:cNvPr>
          <p:cNvSpPr/>
          <p:nvPr/>
        </p:nvSpPr>
        <p:spPr>
          <a:xfrm>
            <a:off x="6343995" y="3501257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AppBar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EE1F36A-9F86-B543-F1E6-B2C504A7C73D}"/>
              </a:ext>
            </a:extLst>
          </p:cNvPr>
          <p:cNvSpPr/>
          <p:nvPr/>
        </p:nvSpPr>
        <p:spPr>
          <a:xfrm>
            <a:off x="8430701" y="3501258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Center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78F0598-3BA7-D1D1-E13C-2CA516A88725}"/>
              </a:ext>
            </a:extLst>
          </p:cNvPr>
          <p:cNvSpPr/>
          <p:nvPr/>
        </p:nvSpPr>
        <p:spPr>
          <a:xfrm>
            <a:off x="7373949" y="1895718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A29EA01-BDA9-AADD-92DF-46E9B8710969}"/>
              </a:ext>
            </a:extLst>
          </p:cNvPr>
          <p:cNvSpPr/>
          <p:nvPr/>
        </p:nvSpPr>
        <p:spPr>
          <a:xfrm>
            <a:off x="8430702" y="4271630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  <a:endParaRPr lang="en-IT" sz="1400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07C7344-56D4-B5E3-814F-44BD95CC87A7}"/>
              </a:ext>
            </a:extLst>
          </p:cNvPr>
          <p:cNvCxnSpPr>
            <a:cxnSpLocks/>
            <a:stCxn id="25" idx="2"/>
            <a:endCxn id="22" idx="0"/>
          </p:cNvCxnSpPr>
          <p:nvPr/>
        </p:nvCxnSpPr>
        <p:spPr>
          <a:xfrm>
            <a:off x="8102455" y="2347893"/>
            <a:ext cx="1" cy="332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6215BED-8A0D-0766-4B80-5D5CCCD2AC36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 flipH="1">
            <a:off x="7072501" y="3132571"/>
            <a:ext cx="1029955" cy="368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F16A25B-F58D-90F0-9A32-2B609C3BEF62}"/>
              </a:ext>
            </a:extLst>
          </p:cNvPr>
          <p:cNvCxnSpPr>
            <a:cxnSpLocks/>
            <a:stCxn id="23" idx="2"/>
            <a:endCxn id="21" idx="0"/>
          </p:cNvCxnSpPr>
          <p:nvPr/>
        </p:nvCxnSpPr>
        <p:spPr>
          <a:xfrm>
            <a:off x="7072501" y="3953432"/>
            <a:ext cx="0" cy="318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29DDBF5-18DE-FC41-7A50-303555A29C83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>
            <a:off x="8102456" y="3132571"/>
            <a:ext cx="1056751" cy="368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8F28522-3DB6-48FC-8F72-EBC1F816B42A}"/>
              </a:ext>
            </a:extLst>
          </p:cNvPr>
          <p:cNvCxnSpPr>
            <a:cxnSpLocks/>
            <a:stCxn id="24" idx="2"/>
            <a:endCxn id="26" idx="0"/>
          </p:cNvCxnSpPr>
          <p:nvPr/>
        </p:nvCxnSpPr>
        <p:spPr>
          <a:xfrm>
            <a:off x="9159207" y="3953433"/>
            <a:ext cx="1" cy="318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BEC13B5C-34FD-035F-34B0-813F3DD58748}"/>
              </a:ext>
            </a:extLst>
          </p:cNvPr>
          <p:cNvSpPr/>
          <p:nvPr/>
        </p:nvSpPr>
        <p:spPr>
          <a:xfrm>
            <a:off x="8430700" y="5025502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Column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31582A-E742-9032-037E-4BE0D00C19AA}"/>
              </a:ext>
            </a:extLst>
          </p:cNvPr>
          <p:cNvSpPr/>
          <p:nvPr/>
        </p:nvSpPr>
        <p:spPr>
          <a:xfrm>
            <a:off x="8430700" y="5703447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ElevatedButton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C4E36B6-4E8B-0148-98C5-B92A036914B4}"/>
              </a:ext>
            </a:extLst>
          </p:cNvPr>
          <p:cNvSpPr/>
          <p:nvPr/>
        </p:nvSpPr>
        <p:spPr>
          <a:xfrm>
            <a:off x="10339475" y="5703446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B206020-3F75-02DD-5FCC-AB19754F8473}"/>
              </a:ext>
            </a:extLst>
          </p:cNvPr>
          <p:cNvSpPr/>
          <p:nvPr/>
        </p:nvSpPr>
        <p:spPr>
          <a:xfrm>
            <a:off x="8430700" y="6312752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0C946DC-5BA6-D847-F6CC-3577B9418F6C}"/>
              </a:ext>
            </a:extLst>
          </p:cNvPr>
          <p:cNvSpPr/>
          <p:nvPr/>
        </p:nvSpPr>
        <p:spPr>
          <a:xfrm>
            <a:off x="6420928" y="5703445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sz="9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MainAxisAlignment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EA1CF72-9EE0-4EBE-B924-FD5DE784AA5F}"/>
              </a:ext>
            </a:extLst>
          </p:cNvPr>
          <p:cNvCxnSpPr>
            <a:cxnSpLocks/>
            <a:stCxn id="33" idx="2"/>
            <a:endCxn id="38" idx="0"/>
          </p:cNvCxnSpPr>
          <p:nvPr/>
        </p:nvCxnSpPr>
        <p:spPr>
          <a:xfrm>
            <a:off x="9159206" y="6155622"/>
            <a:ext cx="0" cy="157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43882F4-2179-1109-95B9-D661A56EEB7F}"/>
              </a:ext>
            </a:extLst>
          </p:cNvPr>
          <p:cNvCxnSpPr>
            <a:cxnSpLocks/>
            <a:stCxn id="26" idx="2"/>
            <a:endCxn id="32" idx="0"/>
          </p:cNvCxnSpPr>
          <p:nvPr/>
        </p:nvCxnSpPr>
        <p:spPr>
          <a:xfrm flipH="1">
            <a:off x="9159206" y="4723805"/>
            <a:ext cx="2" cy="301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77A9592-7B33-2B89-1F16-8CC4E7A8EA78}"/>
              </a:ext>
            </a:extLst>
          </p:cNvPr>
          <p:cNvCxnSpPr>
            <a:cxnSpLocks/>
            <a:stCxn id="32" idx="2"/>
            <a:endCxn id="33" idx="0"/>
          </p:cNvCxnSpPr>
          <p:nvPr/>
        </p:nvCxnSpPr>
        <p:spPr>
          <a:xfrm>
            <a:off x="9159206" y="5477677"/>
            <a:ext cx="0" cy="225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8C7B953-0B78-2D04-8FB6-B562DF6FC2D3}"/>
              </a:ext>
            </a:extLst>
          </p:cNvPr>
          <p:cNvCxnSpPr>
            <a:cxnSpLocks/>
            <a:stCxn id="32" idx="2"/>
            <a:endCxn id="39" idx="0"/>
          </p:cNvCxnSpPr>
          <p:nvPr/>
        </p:nvCxnSpPr>
        <p:spPr>
          <a:xfrm flipH="1">
            <a:off x="7149434" y="5477677"/>
            <a:ext cx="2009772" cy="225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CDAE418-DBB6-6334-8A41-701CE345E0E7}"/>
              </a:ext>
            </a:extLst>
          </p:cNvPr>
          <p:cNvCxnSpPr>
            <a:cxnSpLocks/>
            <a:stCxn id="32" idx="2"/>
            <a:endCxn id="35" idx="0"/>
          </p:cNvCxnSpPr>
          <p:nvPr/>
        </p:nvCxnSpPr>
        <p:spPr>
          <a:xfrm>
            <a:off x="9159206" y="5477677"/>
            <a:ext cx="1908775" cy="225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56" name="Graphic 55" descr="Cursor with solid fill">
            <a:extLst>
              <a:ext uri="{FF2B5EF4-FFF2-40B4-BE49-F238E27FC236}">
                <a16:creationId xmlns:a16="http://schemas.microsoft.com/office/drawing/2014/main" id="{C4619D4B-C3EB-90B9-FADF-3827DCAAFE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123154">
            <a:off x="4912159" y="3401106"/>
            <a:ext cx="914400" cy="914400"/>
          </a:xfrm>
          <a:prstGeom prst="rect">
            <a:avLst/>
          </a:prstGeom>
        </p:spPr>
      </p:pic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6DFB2177-C031-A888-FB4C-F2EB9CC46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50558"/>
            <a:ext cx="11512815" cy="478242"/>
          </a:xfrm>
        </p:spPr>
        <p:txBody>
          <a:bodyPr>
            <a:normAutofit/>
          </a:bodyPr>
          <a:lstStyle/>
          <a:p>
            <a:r>
              <a:rPr lang="en-US" dirty="0"/>
              <a:t>The UI should look like the same as before, but we have a new widget tree</a:t>
            </a:r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E2AE57D-E7D6-666C-37A7-67A6E3C98C77}"/>
              </a:ext>
            </a:extLst>
          </p:cNvPr>
          <p:cNvSpPr/>
          <p:nvPr/>
        </p:nvSpPr>
        <p:spPr>
          <a:xfrm>
            <a:off x="2946994" y="4309389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Column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ADF85F9-769E-73AB-1142-BFCD711E53BC}"/>
              </a:ext>
            </a:extLst>
          </p:cNvPr>
          <p:cNvSpPr/>
          <p:nvPr/>
        </p:nvSpPr>
        <p:spPr>
          <a:xfrm>
            <a:off x="2946994" y="4987334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ElevatedButton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7B42DD0-18E7-E9ED-7589-09C88F8FBCD6}"/>
              </a:ext>
            </a:extLst>
          </p:cNvPr>
          <p:cNvSpPr/>
          <p:nvPr/>
        </p:nvSpPr>
        <p:spPr>
          <a:xfrm>
            <a:off x="4855769" y="4987333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C74FFF6-B557-9DD3-88E4-95963F291088}"/>
              </a:ext>
            </a:extLst>
          </p:cNvPr>
          <p:cNvSpPr/>
          <p:nvPr/>
        </p:nvSpPr>
        <p:spPr>
          <a:xfrm>
            <a:off x="2946994" y="5596639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135943F-498A-80E4-3A03-A0508EE4D1EF}"/>
              </a:ext>
            </a:extLst>
          </p:cNvPr>
          <p:cNvSpPr/>
          <p:nvPr/>
        </p:nvSpPr>
        <p:spPr>
          <a:xfrm>
            <a:off x="937222" y="4987332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sz="9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MainAxisAlignment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CB66C56B-FF2D-01C1-8F01-EA8FA27EE569}"/>
              </a:ext>
            </a:extLst>
          </p:cNvPr>
          <p:cNvCxnSpPr>
            <a:cxnSpLocks/>
            <a:stCxn id="67" idx="2"/>
            <a:endCxn id="69" idx="0"/>
          </p:cNvCxnSpPr>
          <p:nvPr/>
        </p:nvCxnSpPr>
        <p:spPr>
          <a:xfrm>
            <a:off x="3675500" y="5439509"/>
            <a:ext cx="0" cy="157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5090378-4BE2-F211-9FC1-0F7617083B23}"/>
              </a:ext>
            </a:extLst>
          </p:cNvPr>
          <p:cNvCxnSpPr>
            <a:cxnSpLocks/>
            <a:stCxn id="66" idx="2"/>
            <a:endCxn id="67" idx="0"/>
          </p:cNvCxnSpPr>
          <p:nvPr/>
        </p:nvCxnSpPr>
        <p:spPr>
          <a:xfrm>
            <a:off x="3675500" y="4761564"/>
            <a:ext cx="0" cy="225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8CA84D6-3AD5-4CF9-2057-2D27E2E9C529}"/>
              </a:ext>
            </a:extLst>
          </p:cNvPr>
          <p:cNvCxnSpPr>
            <a:cxnSpLocks/>
            <a:stCxn id="66" idx="2"/>
            <a:endCxn id="70" idx="0"/>
          </p:cNvCxnSpPr>
          <p:nvPr/>
        </p:nvCxnSpPr>
        <p:spPr>
          <a:xfrm flipH="1">
            <a:off x="1665728" y="4761564"/>
            <a:ext cx="2009772" cy="225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D688F63-1468-DABE-6D1F-FE662C24EAB9}"/>
              </a:ext>
            </a:extLst>
          </p:cNvPr>
          <p:cNvCxnSpPr>
            <a:cxnSpLocks/>
            <a:stCxn id="66" idx="2"/>
            <a:endCxn id="68" idx="0"/>
          </p:cNvCxnSpPr>
          <p:nvPr/>
        </p:nvCxnSpPr>
        <p:spPr>
          <a:xfrm>
            <a:off x="3675500" y="4761564"/>
            <a:ext cx="1908775" cy="225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3BE8FB-DAE5-5489-8EE4-4D3FB540D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49006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void initState(){}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3" y="1350558"/>
            <a:ext cx="10705992" cy="5331508"/>
          </a:xfrm>
        </p:spPr>
        <p:txBody>
          <a:bodyPr>
            <a:normAutofit/>
          </a:bodyPr>
          <a:lstStyle/>
          <a:p>
            <a:r>
              <a:rPr lang="en-US" dirty="0"/>
              <a:t>Let’s do some changes to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  <a:r>
              <a:rPr lang="en-US" dirty="0"/>
              <a:t> to make it more </a:t>
            </a:r>
            <a:r>
              <a:rPr lang="en-US" b="1" dirty="0"/>
              <a:t>stateful</a:t>
            </a:r>
            <a:endParaRPr lang="en-US" b="1" dirty="0">
              <a:latin typeface="Courier" pitchFamily="2" charset="0"/>
            </a:endParaRPr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07294F-9461-D747-B7CD-166D3E548E2D}"/>
              </a:ext>
            </a:extLst>
          </p:cNvPr>
          <p:cNvSpPr/>
          <p:nvPr/>
        </p:nvSpPr>
        <p:spPr>
          <a:xfrm>
            <a:off x="291352" y="2401251"/>
            <a:ext cx="9390529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 _</a:t>
            </a:r>
            <a:r>
              <a:rPr lang="en-GB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HomePageState</a:t>
            </a: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extends State&lt;</a:t>
            </a:r>
            <a:r>
              <a:rPr lang="en-GB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&gt;{</a:t>
            </a:r>
          </a:p>
          <a:p>
            <a:b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sz="20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String? _word;</a:t>
            </a:r>
          </a:p>
          <a:p>
            <a:br>
              <a:rPr lang="en-GB" sz="20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sz="20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@override</a:t>
            </a:r>
          </a:p>
          <a:p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sz="20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void </a:t>
            </a:r>
            <a:r>
              <a:rPr lang="en-GB" sz="20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initState</a:t>
            </a:r>
            <a:r>
              <a:rPr lang="en-GB" sz="20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 {</a:t>
            </a:r>
          </a:p>
          <a:p>
            <a:r>
              <a:rPr lang="en-GB" sz="20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_word = </a:t>
            </a:r>
            <a:r>
              <a:rPr lang="en-GB" sz="20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WordPair.random</a:t>
            </a:r>
            <a:r>
              <a:rPr lang="en-GB" sz="20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().first;</a:t>
            </a:r>
          </a:p>
          <a:p>
            <a:r>
              <a:rPr lang="en-GB" sz="20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GB" sz="20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super.initState</a:t>
            </a:r>
            <a:r>
              <a:rPr lang="en-GB" sz="20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();</a:t>
            </a:r>
          </a:p>
          <a:p>
            <a:r>
              <a:rPr lang="en-GB" sz="20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}//</a:t>
            </a:r>
            <a:r>
              <a:rPr lang="en-GB" sz="20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initState</a:t>
            </a:r>
            <a:endParaRPr lang="en-GB" sz="2000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GB" sz="2000" b="0" dirty="0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endParaRPr lang="en-GB" sz="2000" b="0" dirty="0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4B234AF-F4D3-D146-8EFD-E4183EBC4737}"/>
              </a:ext>
            </a:extLst>
          </p:cNvPr>
          <p:cNvCxnSpPr>
            <a:cxnSpLocks/>
          </p:cNvCxnSpPr>
          <p:nvPr/>
        </p:nvCxnSpPr>
        <p:spPr>
          <a:xfrm flipH="1">
            <a:off x="3455896" y="4128247"/>
            <a:ext cx="467957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0889482-C451-7A49-B11C-6851F706FB81}"/>
              </a:ext>
            </a:extLst>
          </p:cNvPr>
          <p:cNvSpPr/>
          <p:nvPr/>
        </p:nvSpPr>
        <p:spPr>
          <a:xfrm>
            <a:off x="8231410" y="3943581"/>
            <a:ext cx="39624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initState</a:t>
            </a:r>
            <a:r>
              <a:rPr lang="en-GB" sz="2000" dirty="0">
                <a:latin typeface="Palatino Linotype" panose="02040502050505030304" pitchFamily="18" charset="0"/>
              </a:rPr>
              <a:t> </a:t>
            </a:r>
            <a:r>
              <a:rPr lang="en-GB" sz="2000" dirty="0">
                <a:latin typeface="Aptos" panose="020B0004020202020204" pitchFamily="34" charset="0"/>
              </a:rPr>
              <a:t>is a special method that is called the first time the Widget is created. It is used (as its name suggest) to initialize the state of the Widget itself.</a:t>
            </a:r>
            <a:endParaRPr lang="en-IT" sz="2000" dirty="0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126CF6-1176-E245-9875-7E7C8985FC45}"/>
              </a:ext>
            </a:extLst>
          </p:cNvPr>
          <p:cNvSpPr/>
          <p:nvPr/>
        </p:nvSpPr>
        <p:spPr>
          <a:xfrm>
            <a:off x="8231410" y="3057086"/>
            <a:ext cx="366923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_word </a:t>
            </a:r>
            <a:r>
              <a:rPr lang="en-GB" sz="2000" dirty="0">
                <a:latin typeface="Aptos" panose="020B0004020202020204" pitchFamily="34" charset="0"/>
              </a:rPr>
              <a:t>will represent the state of the Widget</a:t>
            </a:r>
            <a:endParaRPr lang="en-IT" sz="2000" dirty="0">
              <a:latin typeface="Aptos" panose="020B000402020202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487A1B-624D-274A-9363-B0C974790162}"/>
              </a:ext>
            </a:extLst>
          </p:cNvPr>
          <p:cNvCxnSpPr>
            <a:cxnSpLocks/>
          </p:cNvCxnSpPr>
          <p:nvPr/>
        </p:nvCxnSpPr>
        <p:spPr>
          <a:xfrm flipH="1">
            <a:off x="2891118" y="3254188"/>
            <a:ext cx="524435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2A0CD4-788E-7046-81DA-0F927C274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122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setState((){})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3" y="1350558"/>
            <a:ext cx="10705992" cy="5331508"/>
          </a:xfrm>
        </p:spPr>
        <p:txBody>
          <a:bodyPr>
            <a:normAutofit/>
          </a:bodyPr>
          <a:lstStyle/>
          <a:p>
            <a:r>
              <a:rPr lang="en-US" dirty="0"/>
              <a:t>We are ready to implement the function to provide to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onPressed</a:t>
            </a:r>
            <a:endParaRPr lang="en-US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342900" lvl="1" indent="0">
              <a:buNone/>
            </a:pPr>
            <a:endParaRPr lang="en-US" dirty="0"/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07294F-9461-D747-B7CD-166D3E548E2D}"/>
              </a:ext>
            </a:extLst>
          </p:cNvPr>
          <p:cNvSpPr/>
          <p:nvPr/>
        </p:nvSpPr>
        <p:spPr>
          <a:xfrm>
            <a:off x="609530" y="1766964"/>
            <a:ext cx="994952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@override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Widget build(</a:t>
            </a:r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BuildContext</a:t>
            </a:r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context) {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return Scaffold(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</a:t>
            </a:r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appBar</a:t>
            </a:r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</a:t>
            </a:r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AppBar</a:t>
            </a:r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(title: Text('Welcome to Flutter'),),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body: </a:t>
            </a:r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Center</a:t>
            </a:r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child: Column(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</a:t>
            </a:r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mainAxisSize</a:t>
            </a:r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</a:t>
            </a:r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MainAxisSize.min</a:t>
            </a:r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children: [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 Text('Hello $_word!', style: </a:t>
            </a:r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TextStyle</a:t>
            </a:r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fontSize</a:t>
            </a:r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26)),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 </a:t>
            </a:r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SizedBox</a:t>
            </a:r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(height: 16),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 </a:t>
            </a:r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ElevatedButton</a:t>
            </a:r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   </a:t>
            </a:r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onPressed</a:t>
            </a:r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() {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     </a:t>
            </a:r>
            <a:r>
              <a:rPr lang="en-GB" sz="12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setState</a:t>
            </a:r>
            <a:r>
              <a:rPr lang="en-GB" sz="12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(() {</a:t>
            </a:r>
          </a:p>
          <a:p>
            <a:r>
              <a:rPr lang="en-GB" sz="12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       _word = </a:t>
            </a:r>
            <a:r>
              <a:rPr lang="en-GB" sz="12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WordPair.random</a:t>
            </a:r>
            <a:r>
              <a:rPr lang="en-GB" sz="12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().first;</a:t>
            </a:r>
          </a:p>
          <a:p>
            <a:r>
              <a:rPr lang="en-GB" sz="12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     });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   },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   child: Text('Press me'),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 ),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],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),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),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);</a:t>
            </a:r>
          </a:p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endParaRPr lang="en-GB" sz="1200" b="0" dirty="0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4B234AF-F4D3-D146-8EFD-E4183EBC4737}"/>
              </a:ext>
            </a:extLst>
          </p:cNvPr>
          <p:cNvCxnSpPr>
            <a:cxnSpLocks/>
          </p:cNvCxnSpPr>
          <p:nvPr/>
        </p:nvCxnSpPr>
        <p:spPr>
          <a:xfrm flipH="1" flipV="1">
            <a:off x="5584290" y="4705643"/>
            <a:ext cx="2551183" cy="248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0889482-C451-7A49-B11C-6851F706FB81}"/>
              </a:ext>
            </a:extLst>
          </p:cNvPr>
          <p:cNvSpPr/>
          <p:nvPr/>
        </p:nvSpPr>
        <p:spPr>
          <a:xfrm>
            <a:off x="8135471" y="4345290"/>
            <a:ext cx="3962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setState</a:t>
            </a:r>
            <a:r>
              <a:rPr lang="en-GB" sz="2000" dirty="0">
                <a:latin typeface="Palatino Linotype" panose="02040502050505030304" pitchFamily="18" charset="0"/>
              </a:rPr>
              <a:t> </a:t>
            </a:r>
            <a:r>
              <a:rPr lang="en-GB" sz="2000" dirty="0">
                <a:latin typeface="Aptos" panose="020B0004020202020204" pitchFamily="34" charset="0"/>
              </a:rPr>
              <a:t>is a special method that requires a function as input. </a:t>
            </a:r>
            <a:r>
              <a:rPr lang="en-GB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setState</a:t>
            </a:r>
            <a:r>
              <a:rPr lang="en-GB" sz="2000" dirty="0">
                <a:latin typeface="Aptos" panose="020B0004020202020204" pitchFamily="34" charset="0"/>
              </a:rPr>
              <a:t> notifies the Flutter framework that the state might be changed causing to delete and rebuild the widget itself.</a:t>
            </a:r>
            <a:endParaRPr lang="en-IT" sz="2000" dirty="0"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F1F003-AFB6-5144-AD26-9E170FEBA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9998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1476F-62CD-FEA4-7372-A153CE008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332A0-F587-4F92-4192-48FF70455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did it!</a:t>
            </a:r>
            <a:endParaRPr lang="en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AF3918-A143-C5CD-46B8-75E3F3968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83784"/>
            <a:ext cx="3185886" cy="365125"/>
          </a:xfrm>
        </p:spPr>
        <p:txBody>
          <a:bodyPr/>
          <a:lstStyle/>
          <a:p>
            <a:fld id="{31DE2C5B-556E-47B8-A792-024C2FCA4ACC}" type="slidenum">
              <a:rPr lang="en-GB" smtClean="0"/>
              <a:t>20</a:t>
            </a:fld>
            <a:endParaRPr lang="en-GB"/>
          </a:p>
        </p:txBody>
      </p:sp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4C8D01D1-F14F-B285-D6C3-0329D0303E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78" y="1419746"/>
            <a:ext cx="2277617" cy="4936603"/>
          </a:xfrm>
          <a:prstGeom prst="rect">
            <a:avLst/>
          </a:prstGeom>
        </p:spPr>
      </p:pic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4C87D272-1FD1-D93E-D88A-E92DC15E61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795" y="1419746"/>
            <a:ext cx="2277618" cy="4936604"/>
          </a:xfrm>
          <a:prstGeom prst="rect">
            <a:avLst/>
          </a:prstGeom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54381DD6-9003-F8C4-DB06-B9902C334F35}"/>
              </a:ext>
            </a:extLst>
          </p:cNvPr>
          <p:cNvSpPr/>
          <p:nvPr/>
        </p:nvSpPr>
        <p:spPr>
          <a:xfrm>
            <a:off x="5669280" y="3888047"/>
            <a:ext cx="829994" cy="416666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09D814C-F4D4-5EED-CEBB-7BD523D15656}"/>
              </a:ext>
            </a:extLst>
          </p:cNvPr>
          <p:cNvSpPr txBox="1">
            <a:spLocks/>
          </p:cNvSpPr>
          <p:nvPr/>
        </p:nvSpPr>
        <p:spPr>
          <a:xfrm>
            <a:off x="0" y="6548909"/>
            <a:ext cx="12192000" cy="3554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Full example 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in l</a:t>
            </a:r>
            <a:r>
              <a:rPr lang="en-US" sz="1600" dirty="0" err="1">
                <a:latin typeface="Aptos" panose="020B0004020202020204" pitchFamily="34" charset="0"/>
                <a:ea typeface="Palatino" pitchFamily="2" charset="77"/>
              </a:rPr>
              <a:t>esson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_</a:t>
            </a:r>
            <a:r>
              <a:rPr lang="en-US" sz="1600" dirty="0">
                <a:latin typeface="Aptos" panose="020B0004020202020204" pitchFamily="34" charset="0"/>
                <a:ea typeface="Palatino" pitchFamily="2" charset="77"/>
              </a:rPr>
              <a:t>11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-</a:t>
            </a:r>
            <a:r>
              <a:rPr lang="en-US" sz="1600" dirty="0">
                <a:latin typeface="Aptos" panose="020B0004020202020204" pitchFamily="34" charset="0"/>
                <a:ea typeface="Palatino" pitchFamily="2" charset="77"/>
              </a:rPr>
              <a:t>the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_flutter</a:t>
            </a:r>
            <a:r>
              <a:rPr lang="en-US" sz="1600" dirty="0">
                <a:latin typeface="Aptos" panose="020B0004020202020204" pitchFamily="34" charset="0"/>
                <a:ea typeface="Palatino" pitchFamily="2" charset="77"/>
              </a:rPr>
              <a:t>_framework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/my_</a:t>
            </a:r>
            <a:r>
              <a:rPr lang="en-US" sz="1600" dirty="0">
                <a:latin typeface="Aptos" panose="020B0004020202020204" pitchFamily="34" charset="0"/>
                <a:ea typeface="Palatino" pitchFamily="2" charset="77"/>
              </a:rPr>
              <a:t>custom_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first</a:t>
            </a: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_app_with_steroids/</a:t>
            </a:r>
          </a:p>
        </p:txBody>
      </p:sp>
    </p:spTree>
    <p:extLst>
      <p:ext uri="{BB962C8B-B14F-4D97-AF65-F5344CB8AC3E}">
        <p14:creationId xmlns:p14="http://schemas.microsoft.com/office/powerpoint/2010/main" val="284528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85A16-2B9C-0A04-3D78-B28248198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68707-E6EF-73D1-C091-93DD0E527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specific use case - </a:t>
            </a:r>
            <a:r>
              <a:rPr lang="en-US" dirty="0" err="1"/>
              <a:t>NavigationBar</a:t>
            </a:r>
            <a:endParaRPr lang="en-IT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65CC77-CE43-1229-51BF-537744AF7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0807518" cy="5153933"/>
          </a:xfrm>
        </p:spPr>
        <p:txBody>
          <a:bodyPr>
            <a:normAutofit/>
          </a:bodyPr>
          <a:lstStyle/>
          <a:p>
            <a:r>
              <a:rPr lang="en-US" dirty="0"/>
              <a:t>A particular use case of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setState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r>
              <a:rPr lang="en-US" dirty="0"/>
              <a:t> is the following:</a:t>
            </a:r>
            <a:endParaRPr lang="en-I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DAA41F-F6A7-17D5-57BB-F7817C8CF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107" y="6250490"/>
            <a:ext cx="3185886" cy="365125"/>
          </a:xfrm>
        </p:spPr>
        <p:txBody>
          <a:bodyPr/>
          <a:lstStyle/>
          <a:p>
            <a:fld id="{31DE2C5B-556E-47B8-A792-024C2FCA4ACC}" type="slidenum">
              <a:rPr lang="en-GB" smtClean="0"/>
              <a:t>21</a:t>
            </a:fld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C8B2A7-3A88-2EC3-14C6-05B4638AC2D9}"/>
              </a:ext>
            </a:extLst>
          </p:cNvPr>
          <p:cNvSpPr/>
          <p:nvPr/>
        </p:nvSpPr>
        <p:spPr>
          <a:xfrm>
            <a:off x="609530" y="1766964"/>
            <a:ext cx="994952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  <a:p>
            <a:r>
              <a:rPr lang="en-GB" sz="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 </a:t>
            </a:r>
            <a:r>
              <a:rPr lang="en-GB" sz="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HomeScreen</a:t>
            </a:r>
            <a:r>
              <a:rPr lang="en-GB" sz="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extends </a:t>
            </a:r>
            <a:r>
              <a:rPr lang="en-GB" sz="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StatefulWidget</a:t>
            </a:r>
            <a:r>
              <a:rPr lang="en-GB" sz="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{</a:t>
            </a:r>
          </a:p>
          <a:p>
            <a:r>
              <a:rPr lang="en-GB" sz="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sz="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const</a:t>
            </a:r>
            <a:r>
              <a:rPr lang="en-GB" sz="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HomeScreen</a:t>
            </a:r>
            <a:r>
              <a:rPr lang="en-GB" sz="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({</a:t>
            </a:r>
            <a:r>
              <a:rPr lang="en-GB" sz="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super.key</a:t>
            </a:r>
            <a:r>
              <a:rPr lang="en-GB" sz="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});</a:t>
            </a:r>
          </a:p>
          <a:p>
            <a:endParaRPr lang="en-GB" sz="8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GB" sz="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@override</a:t>
            </a:r>
          </a:p>
          <a:p>
            <a:r>
              <a:rPr lang="en-GB" sz="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State&lt;</a:t>
            </a:r>
            <a:r>
              <a:rPr lang="en-GB" sz="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HomeScreen</a:t>
            </a:r>
            <a:r>
              <a:rPr lang="en-GB" sz="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 </a:t>
            </a:r>
            <a:r>
              <a:rPr lang="en-GB" sz="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createState</a:t>
            </a:r>
            <a:r>
              <a:rPr lang="en-GB" sz="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 =&gt; _</a:t>
            </a:r>
            <a:r>
              <a:rPr lang="en-GB" sz="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HomeScreenState</a:t>
            </a:r>
            <a:r>
              <a:rPr lang="en-GB" sz="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();</a:t>
            </a:r>
          </a:p>
          <a:p>
            <a:r>
              <a:rPr lang="en-GB" sz="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</a:p>
          <a:p>
            <a:endParaRPr lang="en-GB" sz="8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GB" sz="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 _</a:t>
            </a:r>
            <a:r>
              <a:rPr lang="en-GB" sz="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HomeScreenState</a:t>
            </a:r>
            <a:r>
              <a:rPr lang="en-GB" sz="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extends State&lt;</a:t>
            </a:r>
            <a:r>
              <a:rPr lang="en-GB" sz="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HomeScreen</a:t>
            </a:r>
            <a:r>
              <a:rPr lang="en-GB" sz="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 {</a:t>
            </a:r>
          </a:p>
          <a:p>
            <a:r>
              <a:rPr lang="en-GB" sz="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int </a:t>
            </a:r>
            <a:r>
              <a:rPr lang="en-GB" sz="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selectedIndex</a:t>
            </a:r>
            <a:r>
              <a:rPr lang="en-GB" sz="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0;</a:t>
            </a:r>
          </a:p>
          <a:p>
            <a:endParaRPr lang="en-GB" sz="8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GB" sz="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// List of pages</a:t>
            </a:r>
          </a:p>
          <a:p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final List&lt;Widget&gt; pages = [</a:t>
            </a:r>
          </a:p>
          <a:p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GB" sz="8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Center</a:t>
            </a:r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(child: Text("Home Page")),</a:t>
            </a:r>
          </a:p>
          <a:p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GB" sz="8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Center</a:t>
            </a:r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(child: Text("Search Page")),</a:t>
            </a:r>
          </a:p>
          <a:p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];</a:t>
            </a:r>
          </a:p>
        </p:txBody>
      </p:sp>
      <p:pic>
        <p:nvPicPr>
          <p:cNvPr id="11" name="Picture 10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5D8E5A17-FAB0-9EB8-0AB8-0825A3227D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4959" y="1226159"/>
            <a:ext cx="2348869" cy="509103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CB6174A-0ABA-E745-0830-6FD74A265E6B}"/>
              </a:ext>
            </a:extLst>
          </p:cNvPr>
          <p:cNvSpPr/>
          <p:nvPr/>
        </p:nvSpPr>
        <p:spPr>
          <a:xfrm>
            <a:off x="4761914" y="2201366"/>
            <a:ext cx="579713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8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GB" sz="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@override</a:t>
            </a:r>
          </a:p>
          <a:p>
            <a:r>
              <a:rPr lang="en-GB" sz="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Widget build(</a:t>
            </a:r>
            <a:r>
              <a:rPr lang="en-GB" sz="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BuildContext</a:t>
            </a:r>
            <a:r>
              <a:rPr lang="en-GB" sz="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context) {</a:t>
            </a:r>
          </a:p>
          <a:p>
            <a:r>
              <a:rPr lang="en-GB" sz="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return Scaffold(</a:t>
            </a:r>
          </a:p>
          <a:p>
            <a:r>
              <a:rPr lang="en-GB" sz="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body: </a:t>
            </a:r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pages[</a:t>
            </a:r>
            <a:r>
              <a:rPr lang="en-GB" sz="8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selectedIndex</a:t>
            </a:r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],</a:t>
            </a:r>
          </a:p>
          <a:p>
            <a:endParaRPr lang="en-GB" sz="8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GB" sz="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</a:t>
            </a:r>
            <a:r>
              <a:rPr lang="en-GB" sz="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bottomNavigationBar</a:t>
            </a:r>
            <a:r>
              <a:rPr lang="en-GB" sz="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</a:t>
            </a:r>
            <a:r>
              <a:rPr lang="en-GB" sz="8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NavigationBar</a:t>
            </a:r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</a:t>
            </a:r>
            <a:r>
              <a:rPr lang="en-GB" sz="8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selectedIndex</a:t>
            </a:r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</a:t>
            </a:r>
            <a:r>
              <a:rPr lang="en-GB" sz="8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selectedIndex</a:t>
            </a:r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</a:p>
          <a:p>
            <a:endParaRPr lang="en-GB" sz="800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// When user taps an item</a:t>
            </a:r>
          </a:p>
          <a:p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</a:t>
            </a:r>
            <a:r>
              <a:rPr lang="en-GB" sz="8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onDestinationSelected</a:t>
            </a:r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</a:t>
            </a:r>
            <a:r>
              <a:rPr lang="en-GB" sz="800" b="1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(int index) {</a:t>
            </a:r>
          </a:p>
          <a:p>
            <a:r>
              <a:rPr lang="en-GB" sz="800" b="1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</a:t>
            </a:r>
            <a:r>
              <a:rPr lang="en-GB" sz="800" b="1" dirty="0" err="1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setState</a:t>
            </a:r>
            <a:r>
              <a:rPr lang="en-GB" sz="800" b="1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(() {</a:t>
            </a:r>
          </a:p>
          <a:p>
            <a:r>
              <a:rPr lang="en-GB" sz="800" b="1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</a:t>
            </a:r>
            <a:r>
              <a:rPr lang="en-GB" sz="800" b="1" dirty="0" err="1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selectedIndex</a:t>
            </a:r>
            <a:r>
              <a:rPr lang="en-GB" sz="800" b="1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index;</a:t>
            </a:r>
          </a:p>
          <a:p>
            <a:r>
              <a:rPr lang="en-GB" sz="800" b="1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});</a:t>
            </a:r>
          </a:p>
          <a:p>
            <a:r>
              <a:rPr lang="en-GB" sz="800" b="1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},</a:t>
            </a:r>
          </a:p>
          <a:p>
            <a:endParaRPr lang="en-GB" sz="800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destinations: [</a:t>
            </a:r>
          </a:p>
          <a:p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</a:t>
            </a:r>
            <a:r>
              <a:rPr lang="en-GB" sz="8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NavigationDestination</a:t>
            </a:r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icon: Icon(</a:t>
            </a:r>
            <a:r>
              <a:rPr lang="en-GB" sz="8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Icons.home_outlined</a:t>
            </a:r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),</a:t>
            </a:r>
          </a:p>
          <a:p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</a:t>
            </a:r>
            <a:r>
              <a:rPr lang="en-GB" sz="8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selectedIcon</a:t>
            </a:r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Icon(</a:t>
            </a:r>
            <a:r>
              <a:rPr lang="en-GB" sz="8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Icons.home</a:t>
            </a:r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),</a:t>
            </a:r>
          </a:p>
          <a:p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label: "Home",</a:t>
            </a:r>
          </a:p>
          <a:p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),</a:t>
            </a:r>
          </a:p>
          <a:p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</a:t>
            </a:r>
            <a:r>
              <a:rPr lang="en-GB" sz="8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NavigationDestination</a:t>
            </a:r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icon: Icon(</a:t>
            </a:r>
            <a:r>
              <a:rPr lang="en-GB" sz="8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Icons.search_outlined</a:t>
            </a:r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),</a:t>
            </a:r>
          </a:p>
          <a:p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</a:t>
            </a:r>
            <a:r>
              <a:rPr lang="en-GB" sz="8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selectedIcon</a:t>
            </a:r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Icon(</a:t>
            </a:r>
            <a:r>
              <a:rPr lang="en-GB" sz="8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Icons.search</a:t>
            </a:r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),</a:t>
            </a:r>
          </a:p>
          <a:p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label: "Search",</a:t>
            </a:r>
          </a:p>
          <a:p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),</a:t>
            </a:r>
          </a:p>
          <a:p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],</a:t>
            </a:r>
          </a:p>
          <a:p>
            <a:r>
              <a:rPr lang="en-GB" sz="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),</a:t>
            </a:r>
          </a:p>
          <a:p>
            <a:r>
              <a:rPr lang="en-GB" sz="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);</a:t>
            </a:r>
          </a:p>
          <a:p>
            <a:r>
              <a:rPr lang="en-GB" sz="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}</a:t>
            </a:r>
          </a:p>
          <a:p>
            <a:r>
              <a:rPr lang="en-GB" sz="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</a:p>
          <a:p>
            <a:r>
              <a:rPr lang="en-GB" sz="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endParaRPr lang="en-GB" sz="800" b="0" dirty="0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30BAC7E-D134-0376-EA42-5A8E0CA8A3F0}"/>
              </a:ext>
            </a:extLst>
          </p:cNvPr>
          <p:cNvSpPr txBox="1">
            <a:spLocks/>
          </p:cNvSpPr>
          <p:nvPr/>
        </p:nvSpPr>
        <p:spPr>
          <a:xfrm>
            <a:off x="0" y="6548909"/>
            <a:ext cx="12192000" cy="3554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Full example 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in l</a:t>
            </a:r>
            <a:r>
              <a:rPr lang="en-US" sz="1600" dirty="0" err="1">
                <a:latin typeface="Aptos" panose="020B0004020202020204" pitchFamily="34" charset="0"/>
                <a:ea typeface="Palatino" pitchFamily="2" charset="77"/>
              </a:rPr>
              <a:t>esson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_</a:t>
            </a:r>
            <a:r>
              <a:rPr lang="en-US" sz="1600" dirty="0">
                <a:latin typeface="Aptos" panose="020B0004020202020204" pitchFamily="34" charset="0"/>
                <a:ea typeface="Palatino" pitchFamily="2" charset="77"/>
              </a:rPr>
              <a:t>11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-</a:t>
            </a:r>
            <a:r>
              <a:rPr lang="en-US" sz="1600" dirty="0">
                <a:latin typeface="Aptos" panose="020B0004020202020204" pitchFamily="34" charset="0"/>
                <a:ea typeface="Palatino" pitchFamily="2" charset="77"/>
              </a:rPr>
              <a:t>the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_flutter</a:t>
            </a:r>
            <a:r>
              <a:rPr lang="en-US" sz="1600" dirty="0">
                <a:latin typeface="Aptos" panose="020B0004020202020204" pitchFamily="34" charset="0"/>
                <a:ea typeface="Palatino" pitchFamily="2" charset="77"/>
              </a:rPr>
              <a:t>_framework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/</a:t>
            </a:r>
            <a:r>
              <a:rPr lang="en-US" sz="1600" dirty="0" err="1">
                <a:latin typeface="Aptos" panose="020B0004020202020204" pitchFamily="34" charset="0"/>
                <a:ea typeface="Palatino" pitchFamily="2" charset="77"/>
              </a:rPr>
              <a:t>navigation_bar_example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/</a:t>
            </a:r>
            <a:endParaRPr lang="en-IT" sz="1600" dirty="0">
              <a:latin typeface="Aptos" panose="020B0004020202020204" pitchFamily="34" charset="0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859948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The limitation</a:t>
            </a:r>
            <a:r>
              <a:rPr lang="en-US" dirty="0"/>
              <a:t> of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setState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r>
              <a:rPr lang="en-GB" dirty="0"/>
              <a:t> </a:t>
            </a:r>
            <a:endParaRPr lang="en-IT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7044425" cy="4927192"/>
          </a:xfrm>
        </p:spPr>
        <p:txBody>
          <a:bodyPr>
            <a:normAutofit/>
          </a:bodyPr>
          <a:lstStyle/>
          <a:p>
            <a:r>
              <a:rPr lang="en-IT" dirty="0"/>
              <a:t>Why we cannot fully depend </a:t>
            </a:r>
            <a:r>
              <a:rPr lang="en-IT"/>
              <a:t>on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setState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r>
              <a:rPr lang="en-GB" dirty="0"/>
              <a:t> </a:t>
            </a:r>
            <a:r>
              <a:rPr lang="en-IT"/>
              <a:t>?</a:t>
            </a:r>
            <a:endParaRPr lang="en-IT" dirty="0"/>
          </a:p>
          <a:p>
            <a:endParaRPr lang="en-IT" dirty="0"/>
          </a:p>
          <a:p>
            <a:r>
              <a:rPr lang="en-GB" dirty="0"/>
              <a:t>In a typical widget tree, when two children of a parent are not in the same class as of the parent, rendering one child from another becomes impossible until you implement very messy logic.</a:t>
            </a:r>
          </a:p>
          <a:p>
            <a:endParaRPr lang="en-GB" dirty="0"/>
          </a:p>
          <a:p>
            <a:r>
              <a:rPr lang="en-GB" dirty="0"/>
              <a:t>We DO NOT want that </a:t>
            </a:r>
          </a:p>
          <a:p>
            <a:pPr marL="0" indent="0">
              <a:buNone/>
            </a:pPr>
            <a:endParaRPr lang="en-IT" dirty="0"/>
          </a:p>
          <a:p>
            <a:endParaRPr lang="en-IT" dirty="0"/>
          </a:p>
          <a:p>
            <a:endParaRPr lang="en-IT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9CB63E-47EF-074B-8512-2FB03A1BF4E1}"/>
              </a:ext>
            </a:extLst>
          </p:cNvPr>
          <p:cNvSpPr/>
          <p:nvPr/>
        </p:nvSpPr>
        <p:spPr>
          <a:xfrm>
            <a:off x="8827240" y="2381900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Parent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499DA94-9307-DA4C-8711-9583DDEBA4F3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8414467" y="2834075"/>
            <a:ext cx="1292901" cy="1061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B79FF9A-58D0-4B4D-8605-A7A6D112EEB0}"/>
              </a:ext>
            </a:extLst>
          </p:cNvPr>
          <p:cNvSpPr/>
          <p:nvPr/>
        </p:nvSpPr>
        <p:spPr>
          <a:xfrm>
            <a:off x="7534339" y="3895269"/>
            <a:ext cx="1760256" cy="558953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Rendering Child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7C281E-3E55-BE46-A26D-179D0B8D3F85}"/>
              </a:ext>
            </a:extLst>
          </p:cNvPr>
          <p:cNvSpPr/>
          <p:nvPr/>
        </p:nvSpPr>
        <p:spPr>
          <a:xfrm>
            <a:off x="10174723" y="3895270"/>
            <a:ext cx="1760256" cy="558953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Renderer Child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0397448-7A4B-5249-BD13-3989BEA60A63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9707368" y="2834075"/>
            <a:ext cx="1347483" cy="1061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Down Arrow 13">
            <a:extLst>
              <a:ext uri="{FF2B5EF4-FFF2-40B4-BE49-F238E27FC236}">
                <a16:creationId xmlns:a16="http://schemas.microsoft.com/office/drawing/2014/main" id="{15DC882D-911F-B54D-A90D-6F48F4034A44}"/>
              </a:ext>
            </a:extLst>
          </p:cNvPr>
          <p:cNvSpPr/>
          <p:nvPr/>
        </p:nvSpPr>
        <p:spPr>
          <a:xfrm rot="5400000">
            <a:off x="9572457" y="3807805"/>
            <a:ext cx="269823" cy="702063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pic>
        <p:nvPicPr>
          <p:cNvPr id="24" name="Graphic 23" descr="Confused person outline">
            <a:extLst>
              <a:ext uri="{FF2B5EF4-FFF2-40B4-BE49-F238E27FC236}">
                <a16:creationId xmlns:a16="http://schemas.microsoft.com/office/drawing/2014/main" id="{52FB9F98-7E14-AE40-9EC8-AB4D1B5845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5219" y="5141830"/>
            <a:ext cx="1124298" cy="1124298"/>
          </a:xfrm>
          <a:prstGeom prst="rect">
            <a:avLst/>
          </a:prstGeom>
        </p:spPr>
      </p:pic>
      <p:pic>
        <p:nvPicPr>
          <p:cNvPr id="26" name="Graphic 25" descr="Question mark outline">
            <a:extLst>
              <a:ext uri="{FF2B5EF4-FFF2-40B4-BE49-F238E27FC236}">
                <a16:creationId xmlns:a16="http://schemas.microsoft.com/office/drawing/2014/main" id="{E0A3F5AC-29C2-6D47-AB9C-17451500CC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12317" y="4743351"/>
            <a:ext cx="695203" cy="69520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33B2A1-2C1D-B44A-9418-099FE9135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38439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So, how to manage state?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0807518" cy="5153933"/>
          </a:xfrm>
        </p:spPr>
        <p:txBody>
          <a:bodyPr>
            <a:normAutofit/>
          </a:bodyPr>
          <a:lstStyle/>
          <a:p>
            <a:r>
              <a:rPr lang="en-IT" dirty="0"/>
              <a:t>There is no such a thing as a “</a:t>
            </a:r>
            <a:r>
              <a:rPr lang="en-IT" i="1" dirty="0"/>
              <a:t>universal way to manage state</a:t>
            </a:r>
            <a:r>
              <a:rPr lang="en-IT" dirty="0"/>
              <a:t>”</a:t>
            </a:r>
          </a:p>
          <a:p>
            <a:endParaRPr lang="en-IT" dirty="0"/>
          </a:p>
          <a:p>
            <a:r>
              <a:rPr lang="en-US" dirty="0"/>
              <a:t>There </a:t>
            </a:r>
            <a:r>
              <a:rPr lang="en-IT"/>
              <a:t>are </a:t>
            </a:r>
            <a:r>
              <a:rPr lang="en-IT" dirty="0"/>
              <a:t>a lot of possible approaches:</a:t>
            </a:r>
          </a:p>
          <a:p>
            <a:pPr lvl="1"/>
            <a:r>
              <a:rPr lang="en-IT" dirty="0"/>
              <a:t>Provider</a:t>
            </a:r>
          </a:p>
          <a:p>
            <a:pPr lvl="1"/>
            <a:r>
              <a:rPr lang="en-IT" dirty="0"/>
              <a:t>Riverpod</a:t>
            </a:r>
          </a:p>
          <a:p>
            <a:pPr lvl="1"/>
            <a:r>
              <a:rPr lang="en-IT" dirty="0"/>
              <a:t>Redux</a:t>
            </a:r>
          </a:p>
          <a:p>
            <a:pPr lvl="1"/>
            <a:r>
              <a:rPr lang="en-IT" dirty="0"/>
              <a:t>BLoC</a:t>
            </a:r>
          </a:p>
          <a:p>
            <a:pPr lvl="1"/>
            <a:r>
              <a:rPr lang="en-IT" dirty="0"/>
              <a:t>…</a:t>
            </a:r>
          </a:p>
          <a:p>
            <a:pPr lvl="1"/>
            <a:endParaRPr lang="en-IT" dirty="0"/>
          </a:p>
          <a:p>
            <a:r>
              <a:rPr lang="en-IT" dirty="0"/>
              <a:t>Every approach has its PROs and CONs. So? </a:t>
            </a:r>
          </a:p>
          <a:p>
            <a:endParaRPr lang="en-IT" dirty="0"/>
          </a:p>
          <a:p>
            <a:r>
              <a:rPr lang="en-IT" dirty="0"/>
              <a:t>Here, we will discuss </a:t>
            </a:r>
            <a:r>
              <a:rPr lang="en-IT" b="1" dirty="0"/>
              <a:t>Provider</a:t>
            </a:r>
            <a:r>
              <a:rPr lang="en-IT" dirty="0"/>
              <a:t>, the recommended approach by the Flutter community. </a:t>
            </a:r>
          </a:p>
        </p:txBody>
      </p:sp>
      <p:pic>
        <p:nvPicPr>
          <p:cNvPr id="5" name="Graphic 4" descr="Confused person outline">
            <a:extLst>
              <a:ext uri="{FF2B5EF4-FFF2-40B4-BE49-F238E27FC236}">
                <a16:creationId xmlns:a16="http://schemas.microsoft.com/office/drawing/2014/main" id="{37AFF123-E862-FA4B-B7D8-9C4C93C04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44131" y="2169827"/>
            <a:ext cx="2755692" cy="2755692"/>
          </a:xfrm>
          <a:prstGeom prst="rect">
            <a:avLst/>
          </a:prstGeom>
        </p:spPr>
      </p:pic>
      <p:pic>
        <p:nvPicPr>
          <p:cNvPr id="4" name="Graphic 3" descr="Question mark outline">
            <a:extLst>
              <a:ext uri="{FF2B5EF4-FFF2-40B4-BE49-F238E27FC236}">
                <a16:creationId xmlns:a16="http://schemas.microsoft.com/office/drawing/2014/main" id="{7548BA2D-CED0-9C44-A4B2-E8DEB1529A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43148" y="1403220"/>
            <a:ext cx="1054308" cy="105430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97FD1F-2322-984C-8667-6DAB87C34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93649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Provider core idea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6407343" cy="5153933"/>
          </a:xfrm>
        </p:spPr>
        <p:txBody>
          <a:bodyPr>
            <a:normAutofit/>
          </a:bodyPr>
          <a:lstStyle/>
          <a:p>
            <a:r>
              <a:rPr lang="en-IT" dirty="0"/>
              <a:t>Provider wants to provide!</a:t>
            </a:r>
          </a:p>
          <a:p>
            <a:endParaRPr lang="en-IT" dirty="0"/>
          </a:p>
          <a:p>
            <a:r>
              <a:rPr lang="en-IT" dirty="0"/>
              <a:t>The core idea is to provide the entity (one or more classes) in charge of maintaining the state down through the widget tree</a:t>
            </a:r>
          </a:p>
          <a:p>
            <a:endParaRPr lang="en-IT" dirty="0"/>
          </a:p>
          <a:p>
            <a:r>
              <a:rPr lang="en-IT" dirty="0"/>
              <a:t>Each child will be able to access to the entity and react to state changes.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C71962-543B-A74F-87DB-F943E6FFF88B}"/>
              </a:ext>
            </a:extLst>
          </p:cNvPr>
          <p:cNvSpPr/>
          <p:nvPr/>
        </p:nvSpPr>
        <p:spPr>
          <a:xfrm>
            <a:off x="7543748" y="3617324"/>
            <a:ext cx="2214850" cy="206665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CCE9F6-7494-5D46-A9A2-87D7E0987CED}"/>
              </a:ext>
            </a:extLst>
          </p:cNvPr>
          <p:cNvSpPr/>
          <p:nvPr/>
        </p:nvSpPr>
        <p:spPr>
          <a:xfrm>
            <a:off x="8546986" y="4098284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554934-C580-E44B-8645-7712ECCF7437}"/>
              </a:ext>
            </a:extLst>
          </p:cNvPr>
          <p:cNvSpPr/>
          <p:nvPr/>
        </p:nvSpPr>
        <p:spPr>
          <a:xfrm>
            <a:off x="8930924" y="4605707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589292-6C0E-2E4E-B3E0-D260C75CCACB}"/>
              </a:ext>
            </a:extLst>
          </p:cNvPr>
          <p:cNvSpPr/>
          <p:nvPr/>
        </p:nvSpPr>
        <p:spPr>
          <a:xfrm>
            <a:off x="8433274" y="5201368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6F0AB5-3839-9D47-B39E-FD182416E416}"/>
              </a:ext>
            </a:extLst>
          </p:cNvPr>
          <p:cNvSpPr/>
          <p:nvPr/>
        </p:nvSpPr>
        <p:spPr>
          <a:xfrm>
            <a:off x="8085632" y="4605708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B2E672-067E-E144-A5E2-A6C7B1413226}"/>
              </a:ext>
            </a:extLst>
          </p:cNvPr>
          <p:cNvSpPr/>
          <p:nvPr/>
        </p:nvSpPr>
        <p:spPr>
          <a:xfrm>
            <a:off x="7777847" y="5201368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0CC6756-7517-C544-8D15-24FD005FCD7F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flipH="1">
            <a:off x="8260082" y="4380757"/>
            <a:ext cx="461354" cy="224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0345B54-7A32-FC48-9A96-CF22C597C339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8721436" y="4380757"/>
            <a:ext cx="383938" cy="224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0B94DA3-CD74-1E44-B6C3-F743EF8FD648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7952297" y="4888181"/>
            <a:ext cx="307785" cy="313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81ABACC-6D73-AA4C-97F8-655ABA31094C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>
            <a:off x="8260082" y="4888181"/>
            <a:ext cx="347642" cy="313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55A58DA-8442-4848-88AA-48D2DBEEA789}"/>
              </a:ext>
            </a:extLst>
          </p:cNvPr>
          <p:cNvSpPr txBox="1"/>
          <p:nvPr/>
        </p:nvSpPr>
        <p:spPr>
          <a:xfrm>
            <a:off x="7777282" y="3699690"/>
            <a:ext cx="196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C</a:t>
            </a:r>
            <a:r>
              <a:rPr lang="en-IT" dirty="0">
                <a:latin typeface="Aptos" panose="020B0004020202020204" pitchFamily="34" charset="0"/>
              </a:rPr>
              <a:t>hild widget tree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C6AFF1-23CD-364D-B0F2-F46E0038F8AA}"/>
              </a:ext>
            </a:extLst>
          </p:cNvPr>
          <p:cNvSpPr/>
          <p:nvPr/>
        </p:nvSpPr>
        <p:spPr>
          <a:xfrm>
            <a:off x="9690893" y="1768839"/>
            <a:ext cx="1615735" cy="168060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B4D69D-BB8F-484B-8B8D-6A59400B0BF2}"/>
              </a:ext>
            </a:extLst>
          </p:cNvPr>
          <p:cNvSpPr/>
          <p:nvPr/>
        </p:nvSpPr>
        <p:spPr>
          <a:xfrm>
            <a:off x="7513329" y="2906887"/>
            <a:ext cx="135706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Aptos" panose="020B0004020202020204" pitchFamily="34" charset="0"/>
              </a:rPr>
              <a:t>Inject it to</a:t>
            </a:r>
            <a:endParaRPr lang="en-IT" sz="1600" dirty="0">
              <a:latin typeface="Aptos" panose="020B0004020202020204" pitchFamily="34" charset="0"/>
            </a:endParaRP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31A9A204-E636-3D4D-A36F-DE2BE5D0BC49}"/>
              </a:ext>
            </a:extLst>
          </p:cNvPr>
          <p:cNvCxnSpPr>
            <a:cxnSpLocks/>
            <a:stCxn id="19" idx="1"/>
            <a:endCxn id="7" idx="0"/>
          </p:cNvCxnSpPr>
          <p:nvPr/>
        </p:nvCxnSpPr>
        <p:spPr>
          <a:xfrm rot="10800000" flipV="1">
            <a:off x="8651173" y="2609140"/>
            <a:ext cx="1039720" cy="100818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D460152E-95B1-4146-9B80-EE88210CB9B9}"/>
              </a:ext>
            </a:extLst>
          </p:cNvPr>
          <p:cNvSpPr/>
          <p:nvPr/>
        </p:nvSpPr>
        <p:spPr>
          <a:xfrm>
            <a:off x="9723551" y="1792349"/>
            <a:ext cx="16157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latin typeface="Aptos" panose="020B0004020202020204" pitchFamily="34" charset="0"/>
              </a:rPr>
              <a:t>State manager entity</a:t>
            </a:r>
            <a:endParaRPr lang="en-IT" sz="1600" dirty="0">
              <a:latin typeface="Aptos" panose="020B0004020202020204" pitchFamily="34" charset="0"/>
            </a:endParaRPr>
          </a:p>
        </p:txBody>
      </p:sp>
      <p:pic>
        <p:nvPicPr>
          <p:cNvPr id="23" name="Graphic 22" descr="Pointed Hat outline">
            <a:extLst>
              <a:ext uri="{FF2B5EF4-FFF2-40B4-BE49-F238E27FC236}">
                <a16:creationId xmlns:a16="http://schemas.microsoft.com/office/drawing/2014/main" id="{C73FACEF-F725-374A-849E-06D3C2C936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1560" y="2400634"/>
            <a:ext cx="914400" cy="914400"/>
          </a:xfrm>
          <a:prstGeom prst="rect">
            <a:avLst/>
          </a:prstGeom>
        </p:spPr>
      </p:pic>
      <p:pic>
        <p:nvPicPr>
          <p:cNvPr id="26" name="Graphic 25" descr="Pointed Hat outline">
            <a:extLst>
              <a:ext uri="{FF2B5EF4-FFF2-40B4-BE49-F238E27FC236}">
                <a16:creationId xmlns:a16="http://schemas.microsoft.com/office/drawing/2014/main" id="{2F6F4726-279D-2B41-B095-FD9F1125C0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69667" y="4175795"/>
            <a:ext cx="317437" cy="31743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CEAD88-D347-D143-9401-33F274895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53553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Provider classes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0807518" cy="5153933"/>
          </a:xfrm>
        </p:spPr>
        <p:txBody>
          <a:bodyPr>
            <a:normAutofit/>
          </a:bodyPr>
          <a:lstStyle/>
          <a:p>
            <a:r>
              <a:rPr lang="en-IT" dirty="0"/>
              <a:t>Provider implement a set of classes, here’s the most important:</a:t>
            </a:r>
          </a:p>
          <a:p>
            <a:pPr lvl="1"/>
            <a:endParaRPr lang="en-IT" dirty="0"/>
          </a:p>
          <a:p>
            <a:pPr lvl="1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ChangeNotifier</a:t>
            </a:r>
          </a:p>
          <a:p>
            <a:pPr lvl="1"/>
            <a:endParaRPr lang="en-IT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lvl="1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ChangeNotifierProvider</a:t>
            </a:r>
          </a:p>
          <a:p>
            <a:pPr lvl="1"/>
            <a:endParaRPr lang="en-IT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lvl="1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Consumer</a:t>
            </a:r>
          </a:p>
          <a:p>
            <a:pPr marL="457200" lvl="1" indent="0">
              <a:buNone/>
            </a:pPr>
            <a:endParaRPr lang="en-IT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lvl="1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MultiProvider</a:t>
            </a:r>
          </a:p>
          <a:p>
            <a:pPr lvl="1"/>
            <a:endParaRPr lang="en-IT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lvl="1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endParaRPr lang="en-IT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lvl="1"/>
            <a:endParaRPr lang="en-IT" dirty="0"/>
          </a:p>
          <a:p>
            <a:pPr lvl="1"/>
            <a:endParaRPr lang="en-IT" dirty="0"/>
          </a:p>
          <a:p>
            <a:endParaRPr lang="en-I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58FD6E-13BF-C145-A759-4E1D41245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80750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Provider classes: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ChangeNotifier</a:t>
            </a:r>
            <a:r>
              <a:rPr lang="en-IT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6596625" cy="5153933"/>
          </a:xfrm>
        </p:spPr>
        <p:txBody>
          <a:bodyPr>
            <a:normAutofit/>
          </a:bodyPr>
          <a:lstStyle/>
          <a:p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ChangeNotifier</a:t>
            </a:r>
            <a:r>
              <a:rPr lang="en-GB" dirty="0"/>
              <a:t> is a class that can notify </a:t>
            </a:r>
            <a:r>
              <a:rPr lang="en-GB" b="1" dirty="0"/>
              <a:t>listeners </a:t>
            </a:r>
            <a:r>
              <a:rPr lang="en-GB" dirty="0"/>
              <a:t>of any changes in the state. </a:t>
            </a:r>
          </a:p>
          <a:p>
            <a:endParaRPr lang="en-GB" dirty="0"/>
          </a:p>
          <a:p>
            <a:r>
              <a:rPr lang="en-GB" dirty="0"/>
              <a:t>You usually extend the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ChangeNotifier</a:t>
            </a:r>
            <a:r>
              <a:rPr lang="en-GB" dirty="0"/>
              <a:t> for models so you can send notifications when your model changes. </a:t>
            </a:r>
          </a:p>
          <a:p>
            <a:endParaRPr lang="en-GB" dirty="0"/>
          </a:p>
          <a:p>
            <a:r>
              <a:rPr lang="en-GB" dirty="0"/>
              <a:t>When something in the model changes, you call </a:t>
            </a:r>
            <a:r>
              <a:rPr lang="en-GB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notifyListeners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r>
              <a:rPr lang="en-GB" dirty="0">
                <a:latin typeface="Courier" pitchFamily="2" charset="0"/>
              </a:rPr>
              <a:t> </a:t>
            </a:r>
            <a:r>
              <a:rPr lang="en-GB" dirty="0"/>
              <a:t>and whoever is listening can use the newly changed model.</a:t>
            </a:r>
            <a:endParaRPr lang="en-IT" dirty="0"/>
          </a:p>
          <a:p>
            <a:pPr lvl="1"/>
            <a:endParaRPr lang="en-IT" dirty="0"/>
          </a:p>
          <a:p>
            <a:endParaRPr lang="en-IT" dirty="0"/>
          </a:p>
        </p:txBody>
      </p:sp>
      <p:pic>
        <p:nvPicPr>
          <p:cNvPr id="4" name="Graphic 3" descr="Ear outline">
            <a:extLst>
              <a:ext uri="{FF2B5EF4-FFF2-40B4-BE49-F238E27FC236}">
                <a16:creationId xmlns:a16="http://schemas.microsoft.com/office/drawing/2014/main" id="{15C98D6F-4ED5-884C-A6AC-A97108B17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3935" y="5093040"/>
            <a:ext cx="914400" cy="914400"/>
          </a:xfrm>
          <a:prstGeom prst="rect">
            <a:avLst/>
          </a:prstGeom>
        </p:spPr>
      </p:pic>
      <p:pic>
        <p:nvPicPr>
          <p:cNvPr id="7" name="Graphic 6" descr="Bell outline">
            <a:extLst>
              <a:ext uri="{FF2B5EF4-FFF2-40B4-BE49-F238E27FC236}">
                <a16:creationId xmlns:a16="http://schemas.microsoft.com/office/drawing/2014/main" id="{25DCBBD3-6E78-9141-9E2C-341174CD81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16987" y="2166178"/>
            <a:ext cx="914400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E311616-F193-6E49-89E0-0FF273168CC9}"/>
              </a:ext>
            </a:extLst>
          </p:cNvPr>
          <p:cNvSpPr/>
          <p:nvPr/>
        </p:nvSpPr>
        <p:spPr>
          <a:xfrm>
            <a:off x="9069049" y="1461541"/>
            <a:ext cx="2210276" cy="159645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4AD37F-8378-DB48-A962-465066E6F1DF}"/>
              </a:ext>
            </a:extLst>
          </p:cNvPr>
          <p:cNvSpPr txBox="1"/>
          <p:nvPr/>
        </p:nvSpPr>
        <p:spPr>
          <a:xfrm>
            <a:off x="8985258" y="1550666"/>
            <a:ext cx="2377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A class that extends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ChangeNotifier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80970A-73C6-3E41-9EBF-FA8F214931FC}"/>
              </a:ext>
            </a:extLst>
          </p:cNvPr>
          <p:cNvSpPr/>
          <p:nvPr/>
        </p:nvSpPr>
        <p:spPr>
          <a:xfrm>
            <a:off x="7415997" y="4431467"/>
            <a:ext cx="2210276" cy="159645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907009-4BCC-2C4B-810E-C75043F6F869}"/>
              </a:ext>
            </a:extLst>
          </p:cNvPr>
          <p:cNvSpPr txBox="1"/>
          <p:nvPr/>
        </p:nvSpPr>
        <p:spPr>
          <a:xfrm>
            <a:off x="7483788" y="4508149"/>
            <a:ext cx="2074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A class that listens to the other class</a:t>
            </a:r>
          </a:p>
        </p:txBody>
      </p:sp>
      <p:pic>
        <p:nvPicPr>
          <p:cNvPr id="14" name="Graphic 13" descr="Excellent outline">
            <a:extLst>
              <a:ext uri="{FF2B5EF4-FFF2-40B4-BE49-F238E27FC236}">
                <a16:creationId xmlns:a16="http://schemas.microsoft.com/office/drawing/2014/main" id="{025E28A6-47A6-A147-BCB1-4B7EA047E6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31387" y="4772493"/>
            <a:ext cx="914400" cy="91440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44389E6-B3F0-0A40-B55C-723EF474F832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0174187" y="3057994"/>
            <a:ext cx="0" cy="2096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36E1531-BA3E-7A40-BAFD-4ED44A86B181}"/>
              </a:ext>
            </a:extLst>
          </p:cNvPr>
          <p:cNvSpPr txBox="1"/>
          <p:nvPr/>
        </p:nvSpPr>
        <p:spPr>
          <a:xfrm>
            <a:off x="7630333" y="3549659"/>
            <a:ext cx="2543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notifyListeners</a:t>
            </a:r>
            <a:r>
              <a:rPr lang="en-IT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 </a:t>
            </a:r>
            <a:r>
              <a:rPr lang="en-IT" dirty="0">
                <a:latin typeface="Aptos" panose="020B0004020202020204" pitchFamily="34" charset="0"/>
              </a:rPr>
              <a:t>is called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D4C8E7-89C0-8D41-AE8C-0860C5F9D2C3}"/>
              </a:ext>
            </a:extLst>
          </p:cNvPr>
          <p:cNvSpPr txBox="1"/>
          <p:nvPr/>
        </p:nvSpPr>
        <p:spPr>
          <a:xfrm>
            <a:off x="10107857" y="5777472"/>
            <a:ext cx="196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Do something!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4B34F18-5C99-1F45-B468-1CEF7DA149E1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 flipV="1">
            <a:off x="9626273" y="5229693"/>
            <a:ext cx="100511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74285D-3BDB-2340-8F11-DC7C05ED5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74819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Provider classes: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ChangeNotifierProvider</a:t>
            </a:r>
            <a:r>
              <a:rPr lang="en-IT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7118612" cy="5153933"/>
          </a:xfrm>
        </p:spPr>
        <p:txBody>
          <a:bodyPr>
            <a:normAutofit/>
          </a:bodyPr>
          <a:lstStyle/>
          <a:p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ChangeNotifierProvider</a:t>
            </a:r>
            <a:r>
              <a:rPr lang="en-GB" dirty="0"/>
              <a:t> is a class that wraps a class that implements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ChangeNotifier</a:t>
            </a:r>
            <a:r>
              <a:rPr lang="en-GB" dirty="0"/>
              <a:t> and </a:t>
            </a:r>
            <a:r>
              <a:rPr lang="en-GB" b="1" dirty="0"/>
              <a:t>provide it </a:t>
            </a:r>
            <a:r>
              <a:rPr lang="en-GB" dirty="0"/>
              <a:t>to its descendants.</a:t>
            </a:r>
          </a:p>
          <a:p>
            <a:endParaRPr lang="en-GB" dirty="0"/>
          </a:p>
          <a:p>
            <a:r>
              <a:rPr lang="en-GB" dirty="0"/>
              <a:t>Now the widget tree can access to it (and use it!)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>
                <a:ea typeface="Palatino" pitchFamily="2" charset="77"/>
              </a:rPr>
              <a:t> </a:t>
            </a:r>
            <a:r>
              <a:rPr lang="en-GB" dirty="0" err="1">
                <a:ea typeface="Palatino" pitchFamily="2" charset="77"/>
              </a:rPr>
              <a:t>Synthax</a:t>
            </a:r>
            <a:r>
              <a:rPr lang="en-GB" dirty="0">
                <a:ea typeface="Palatino" pitchFamily="2" charset="77"/>
              </a:rPr>
              <a:t>:</a:t>
            </a:r>
            <a:br>
              <a:rPr lang="en-GB" dirty="0">
                <a:latin typeface="Palatino" pitchFamily="2" charset="77"/>
                <a:ea typeface="Palatino" pitchFamily="2" charset="77"/>
              </a:rPr>
            </a:br>
            <a:br>
              <a:rPr lang="en-GB" dirty="0">
                <a:latin typeface="Palatino" pitchFamily="2" charset="77"/>
                <a:ea typeface="Palatino" pitchFamily="2" charset="77"/>
              </a:rPr>
            </a:br>
            <a:r>
              <a:rPr lang="en-GB" sz="20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ChangeNotifierProvider</a:t>
            </a: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b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create: (context) =&gt; 	</a:t>
            </a:r>
            <a:r>
              <a:rPr lang="en-GB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ClassImplementingChangeNotifier</a:t>
            </a: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(), </a:t>
            </a:r>
            <a:b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child: &lt;</a:t>
            </a:r>
            <a:r>
              <a:rPr lang="en-GB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widget_tree</a:t>
            </a: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&gt;, </a:t>
            </a:r>
            <a:b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); </a:t>
            </a:r>
          </a:p>
          <a:p>
            <a:endParaRPr lang="en-IT" dirty="0">
              <a:latin typeface="Palatino" pitchFamily="2" charset="77"/>
              <a:ea typeface="Palatino" pitchFamily="2" charset="77"/>
            </a:endParaRPr>
          </a:p>
          <a:p>
            <a:pPr lvl="1"/>
            <a:endParaRPr lang="en-IT" dirty="0"/>
          </a:p>
          <a:p>
            <a:endParaRPr lang="en-IT" dirty="0"/>
          </a:p>
        </p:txBody>
      </p:sp>
      <p:pic>
        <p:nvPicPr>
          <p:cNvPr id="7" name="Graphic 6" descr="Bell outline">
            <a:extLst>
              <a:ext uri="{FF2B5EF4-FFF2-40B4-BE49-F238E27FC236}">
                <a16:creationId xmlns:a16="http://schemas.microsoft.com/office/drawing/2014/main" id="{25DCBBD3-6E78-9141-9E2C-341174CD81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83775" y="2165639"/>
            <a:ext cx="914400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E311616-F193-6E49-89E0-0FF273168CC9}"/>
              </a:ext>
            </a:extLst>
          </p:cNvPr>
          <p:cNvSpPr/>
          <p:nvPr/>
        </p:nvSpPr>
        <p:spPr>
          <a:xfrm>
            <a:off x="9004186" y="1468733"/>
            <a:ext cx="2543852" cy="159645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4AD37F-8378-DB48-A962-465066E6F1DF}"/>
              </a:ext>
            </a:extLst>
          </p:cNvPr>
          <p:cNvSpPr txBox="1"/>
          <p:nvPr/>
        </p:nvSpPr>
        <p:spPr>
          <a:xfrm>
            <a:off x="8985258" y="1550666"/>
            <a:ext cx="2560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ClassImplementingChangeNotifier</a:t>
            </a:r>
            <a:endParaRPr lang="en-IT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80970A-73C6-3E41-9EBF-FA8F214931FC}"/>
              </a:ext>
            </a:extLst>
          </p:cNvPr>
          <p:cNvSpPr/>
          <p:nvPr/>
        </p:nvSpPr>
        <p:spPr>
          <a:xfrm>
            <a:off x="7757416" y="3229481"/>
            <a:ext cx="3290334" cy="337317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907009-4BCC-2C4B-810E-C75043F6F869}"/>
              </a:ext>
            </a:extLst>
          </p:cNvPr>
          <p:cNvSpPr txBox="1"/>
          <p:nvPr/>
        </p:nvSpPr>
        <p:spPr>
          <a:xfrm>
            <a:off x="7688769" y="3244334"/>
            <a:ext cx="342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ChangeNotifierProvider</a:t>
            </a:r>
            <a:endParaRPr lang="en-IT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B90A0C-F170-3046-950B-B6AA1D0B827A}"/>
              </a:ext>
            </a:extLst>
          </p:cNvPr>
          <p:cNvSpPr/>
          <p:nvPr/>
        </p:nvSpPr>
        <p:spPr>
          <a:xfrm>
            <a:off x="8000948" y="4404308"/>
            <a:ext cx="2214850" cy="206665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3FF18A-66D3-B941-90F4-612F80FDB5BB}"/>
              </a:ext>
            </a:extLst>
          </p:cNvPr>
          <p:cNvSpPr/>
          <p:nvPr/>
        </p:nvSpPr>
        <p:spPr>
          <a:xfrm>
            <a:off x="9004186" y="4885268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4D41E2-2F4F-4841-9D31-A65CF094C8D4}"/>
              </a:ext>
            </a:extLst>
          </p:cNvPr>
          <p:cNvSpPr/>
          <p:nvPr/>
        </p:nvSpPr>
        <p:spPr>
          <a:xfrm>
            <a:off x="9388124" y="5392691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4416C4-FAA0-9D4F-B3EA-52A11C99FAC0}"/>
              </a:ext>
            </a:extLst>
          </p:cNvPr>
          <p:cNvSpPr/>
          <p:nvPr/>
        </p:nvSpPr>
        <p:spPr>
          <a:xfrm>
            <a:off x="8890474" y="5988352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467CAA-3EC9-CC4D-861D-6AB37A6759CC}"/>
              </a:ext>
            </a:extLst>
          </p:cNvPr>
          <p:cNvSpPr/>
          <p:nvPr/>
        </p:nvSpPr>
        <p:spPr>
          <a:xfrm>
            <a:off x="8542832" y="5392692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CBB247-5361-CF4C-B5BB-F8318BB442EE}"/>
              </a:ext>
            </a:extLst>
          </p:cNvPr>
          <p:cNvSpPr/>
          <p:nvPr/>
        </p:nvSpPr>
        <p:spPr>
          <a:xfrm>
            <a:off x="8235047" y="5988352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4C1144C-68BE-314D-A267-35AC11772950}"/>
              </a:ext>
            </a:extLst>
          </p:cNvPr>
          <p:cNvCxnSpPr>
            <a:cxnSpLocks/>
            <a:stCxn id="22" idx="2"/>
            <a:endCxn id="25" idx="0"/>
          </p:cNvCxnSpPr>
          <p:nvPr/>
        </p:nvCxnSpPr>
        <p:spPr>
          <a:xfrm flipH="1">
            <a:off x="8717282" y="5167741"/>
            <a:ext cx="461354" cy="224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7BE5B32-B35D-9949-A654-D7E5A8DC5D5C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>
            <a:off x="9178636" y="5167741"/>
            <a:ext cx="383938" cy="224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FA2566E-76D7-8749-8663-DB0DD2E413FF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 flipH="1">
            <a:off x="8409497" y="5675165"/>
            <a:ext cx="307785" cy="313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7FA9171-EA1A-C44A-8C8F-8C2B0354C2E0}"/>
              </a:ext>
            </a:extLst>
          </p:cNvPr>
          <p:cNvCxnSpPr>
            <a:cxnSpLocks/>
            <a:stCxn id="25" idx="2"/>
            <a:endCxn id="24" idx="0"/>
          </p:cNvCxnSpPr>
          <p:nvPr/>
        </p:nvCxnSpPr>
        <p:spPr>
          <a:xfrm>
            <a:off x="8717282" y="5675165"/>
            <a:ext cx="347642" cy="313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605D10F-7D6C-3F46-9879-2D6E8EAE7F0E}"/>
              </a:ext>
            </a:extLst>
          </p:cNvPr>
          <p:cNvSpPr txBox="1"/>
          <p:nvPr/>
        </p:nvSpPr>
        <p:spPr>
          <a:xfrm>
            <a:off x="8234482" y="4486674"/>
            <a:ext cx="196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C</a:t>
            </a:r>
            <a:r>
              <a:rPr lang="en-IT" dirty="0">
                <a:latin typeface="Aptos" panose="020B0004020202020204" pitchFamily="34" charset="0"/>
              </a:rPr>
              <a:t>hild widget tree </a:t>
            </a:r>
          </a:p>
        </p:txBody>
      </p: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FAB7DA39-7C78-1146-B34C-05956F593EEF}"/>
              </a:ext>
            </a:extLst>
          </p:cNvPr>
          <p:cNvCxnSpPr>
            <a:cxnSpLocks/>
            <a:endCxn id="63" idx="3"/>
          </p:cNvCxnSpPr>
          <p:nvPr/>
        </p:nvCxnSpPr>
        <p:spPr>
          <a:xfrm rot="5400000">
            <a:off x="10709250" y="3231218"/>
            <a:ext cx="886786" cy="55472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62" name="Graphic 61" descr="Bell outline">
            <a:extLst>
              <a:ext uri="{FF2B5EF4-FFF2-40B4-BE49-F238E27FC236}">
                <a16:creationId xmlns:a16="http://schemas.microsoft.com/office/drawing/2014/main" id="{DFDFE0A7-9745-7B40-9500-678779F5B1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53654" y="3693871"/>
            <a:ext cx="512445" cy="512445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06D4C327-F7DB-B84B-B91C-71E6C84E0653}"/>
              </a:ext>
            </a:extLst>
          </p:cNvPr>
          <p:cNvSpPr/>
          <p:nvPr/>
        </p:nvSpPr>
        <p:spPr>
          <a:xfrm>
            <a:off x="10148093" y="3667515"/>
            <a:ext cx="727189" cy="56891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05882C3-8342-C145-8C44-829898E68094}"/>
              </a:ext>
            </a:extLst>
          </p:cNvPr>
          <p:cNvSpPr/>
          <p:nvPr/>
        </p:nvSpPr>
        <p:spPr>
          <a:xfrm>
            <a:off x="7970529" y="3693871"/>
            <a:ext cx="13570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Aptos" panose="020B0004020202020204" pitchFamily="34" charset="0"/>
              </a:rPr>
              <a:t>Inject an instance to</a:t>
            </a:r>
            <a:endParaRPr lang="en-IT" sz="1600" dirty="0">
              <a:latin typeface="Aptos" panose="020B0004020202020204" pitchFamily="34" charset="0"/>
            </a:endParaRPr>
          </a:p>
        </p:txBody>
      </p: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FE039E0F-504E-2346-B225-87FC9D387E24}"/>
              </a:ext>
            </a:extLst>
          </p:cNvPr>
          <p:cNvCxnSpPr>
            <a:cxnSpLocks/>
            <a:stCxn id="63" idx="1"/>
            <a:endCxn id="21" idx="0"/>
          </p:cNvCxnSpPr>
          <p:nvPr/>
        </p:nvCxnSpPr>
        <p:spPr>
          <a:xfrm rot="10800000" flipV="1">
            <a:off x="9108373" y="3951970"/>
            <a:ext cx="1039720" cy="45233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4894B6-4213-A44D-B473-19DC7D2EF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54466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Provider classes: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Consumer</a:t>
            </a:r>
            <a:r>
              <a:rPr lang="en-IT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07" y="1361167"/>
            <a:ext cx="6311192" cy="5153933"/>
          </a:xfrm>
        </p:spPr>
        <p:txBody>
          <a:bodyPr>
            <a:normAutofit fontScale="92500" lnSpcReduction="20000"/>
          </a:bodyPr>
          <a:lstStyle/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Consumer</a:t>
            </a:r>
            <a:r>
              <a:rPr lang="en-GB" dirty="0"/>
              <a:t> is a widget that listens for changes in a class that implements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ChangeNotifier</a:t>
            </a:r>
            <a:r>
              <a:rPr lang="en-GB" dirty="0"/>
              <a:t>, then rebuilds the widget tree below itself when it finds any. </a:t>
            </a:r>
          </a:p>
          <a:p>
            <a:endParaRPr lang="en-GB" dirty="0"/>
          </a:p>
          <a:p>
            <a:r>
              <a:rPr lang="en-GB" dirty="0"/>
              <a:t>Whenever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notifyListeners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 </a:t>
            </a:r>
            <a:r>
              <a:rPr lang="en-GB" dirty="0">
                <a:ea typeface="Palatino" pitchFamily="2" charset="77"/>
              </a:rPr>
              <a:t>is called, the </a:t>
            </a:r>
            <a:r>
              <a:rPr lang="en-GB" dirty="0">
                <a:latin typeface="Courier" pitchFamily="2" charset="0"/>
                <a:ea typeface="Palatino" pitchFamily="2" charset="77"/>
              </a:rPr>
              <a:t>Consumer’s builder</a:t>
            </a:r>
            <a:r>
              <a:rPr lang="en-GB" dirty="0">
                <a:latin typeface="Palatino" pitchFamily="2" charset="77"/>
                <a:ea typeface="Palatino" pitchFamily="2" charset="77"/>
              </a:rPr>
              <a:t> </a:t>
            </a:r>
            <a:r>
              <a:rPr lang="en-GB" dirty="0">
                <a:ea typeface="Palatino" pitchFamily="2" charset="77"/>
              </a:rPr>
              <a:t>function is called. </a:t>
            </a:r>
            <a:r>
              <a:rPr lang="en-GB" dirty="0" err="1">
                <a:ea typeface="Palatino" pitchFamily="2" charset="77"/>
              </a:rPr>
              <a:t>Synthax</a:t>
            </a:r>
            <a:r>
              <a:rPr lang="en-GB" dirty="0">
                <a:ea typeface="Palatino" pitchFamily="2" charset="77"/>
              </a:rPr>
              <a:t>:</a:t>
            </a:r>
            <a:br>
              <a:rPr lang="en-GB" dirty="0">
                <a:latin typeface="Palatino" pitchFamily="2" charset="77"/>
                <a:ea typeface="Palatino" pitchFamily="2" charset="77"/>
              </a:rPr>
            </a:br>
            <a:br>
              <a:rPr lang="en-GB" dirty="0">
                <a:latin typeface="Palatino" pitchFamily="2" charset="77"/>
                <a:ea typeface="Palatino" pitchFamily="2" charset="77"/>
              </a:rPr>
            </a:br>
            <a:br>
              <a:rPr lang="en-GB" dirty="0">
                <a:latin typeface="Palatino" pitchFamily="2" charset="77"/>
                <a:ea typeface="Palatino" pitchFamily="2" charset="77"/>
              </a:rPr>
            </a:b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return Consumer&lt;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ClassImplementingChangeNotifier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&gt;(</a:t>
            </a:r>
            <a:b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builder: (context, widget, child) {</a:t>
            </a:r>
            <a:b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Text(&lt;use widget&gt;);</a:t>
            </a:r>
            <a:b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},</a:t>
            </a:r>
            <a:b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);</a:t>
            </a:r>
            <a:endParaRPr lang="en-IT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lvl="1"/>
            <a:endParaRPr lang="en-IT" dirty="0"/>
          </a:p>
          <a:p>
            <a:endParaRPr lang="en-IT" dirty="0"/>
          </a:p>
        </p:txBody>
      </p:sp>
      <p:pic>
        <p:nvPicPr>
          <p:cNvPr id="7" name="Graphic 6" descr="Bell outline">
            <a:extLst>
              <a:ext uri="{FF2B5EF4-FFF2-40B4-BE49-F238E27FC236}">
                <a16:creationId xmlns:a16="http://schemas.microsoft.com/office/drawing/2014/main" id="{25DCBBD3-6E78-9141-9E2C-341174CD81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5662" y="1863628"/>
            <a:ext cx="914400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E311616-F193-6E49-89E0-0FF273168CC9}"/>
              </a:ext>
            </a:extLst>
          </p:cNvPr>
          <p:cNvSpPr/>
          <p:nvPr/>
        </p:nvSpPr>
        <p:spPr>
          <a:xfrm>
            <a:off x="9446073" y="1166722"/>
            <a:ext cx="2543852" cy="159645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4AD37F-8378-DB48-A962-465066E6F1DF}"/>
              </a:ext>
            </a:extLst>
          </p:cNvPr>
          <p:cNvSpPr txBox="1"/>
          <p:nvPr/>
        </p:nvSpPr>
        <p:spPr>
          <a:xfrm>
            <a:off x="9427145" y="1248655"/>
            <a:ext cx="2560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ClassImplementingChangeNotifier</a:t>
            </a:r>
            <a:endParaRPr lang="en-IT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6E1531-BA3E-7A40-BAFD-4ED44A86B181}"/>
              </a:ext>
            </a:extLst>
          </p:cNvPr>
          <p:cNvSpPr txBox="1"/>
          <p:nvPr/>
        </p:nvSpPr>
        <p:spPr>
          <a:xfrm>
            <a:off x="9908895" y="4670627"/>
            <a:ext cx="22831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notifyListeners() </a:t>
            </a:r>
            <a:r>
              <a:rPr lang="en-IT" sz="1600" dirty="0">
                <a:latin typeface="Aptos" panose="020B0004020202020204" pitchFamily="34" charset="0"/>
              </a:rPr>
              <a:t>is called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D4C8E7-89C0-8D41-AE8C-0860C5F9D2C3}"/>
              </a:ext>
            </a:extLst>
          </p:cNvPr>
          <p:cNvSpPr txBox="1"/>
          <p:nvPr/>
        </p:nvSpPr>
        <p:spPr>
          <a:xfrm>
            <a:off x="10197859" y="5519616"/>
            <a:ext cx="1705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>
                <a:latin typeface="Aptos" panose="020B0004020202020204" pitchFamily="34" charset="0"/>
              </a:rPr>
              <a:t>Call</a:t>
            </a:r>
            <a:r>
              <a:rPr lang="en-IT">
                <a:latin typeface="Palatino Linotype" panose="02040502050505030304" pitchFamily="18" charset="0"/>
              </a:rPr>
              <a:t> </a:t>
            </a:r>
            <a:r>
              <a:rPr lang="en-IT" sz="16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builder</a:t>
            </a:r>
            <a:r>
              <a:rPr lang="en-IT">
                <a:latin typeface="Courier" pitchFamily="2" charset="0"/>
              </a:rPr>
              <a:t> </a:t>
            </a:r>
            <a:r>
              <a:rPr lang="en-IT" dirty="0">
                <a:latin typeface="Aptos" panose="020B0004020202020204" pitchFamily="34" charset="0"/>
              </a:rPr>
              <a:t>method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ADE902-AE76-0C4E-8A9B-DCD0A5F12B87}"/>
              </a:ext>
            </a:extLst>
          </p:cNvPr>
          <p:cNvSpPr/>
          <p:nvPr/>
        </p:nvSpPr>
        <p:spPr>
          <a:xfrm>
            <a:off x="6559159" y="3276426"/>
            <a:ext cx="3292848" cy="341964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2208B6-FB17-3948-9E81-98C671A17004}"/>
              </a:ext>
            </a:extLst>
          </p:cNvPr>
          <p:cNvSpPr txBox="1"/>
          <p:nvPr/>
        </p:nvSpPr>
        <p:spPr>
          <a:xfrm>
            <a:off x="6490512" y="3291279"/>
            <a:ext cx="342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ChangeNotifierProvider</a:t>
            </a:r>
            <a:endParaRPr lang="en-IT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DBF5486-046D-DD4C-9FA3-4F1EB2ADFB39}"/>
              </a:ext>
            </a:extLst>
          </p:cNvPr>
          <p:cNvSpPr/>
          <p:nvPr/>
        </p:nvSpPr>
        <p:spPr>
          <a:xfrm>
            <a:off x="6802690" y="4451253"/>
            <a:ext cx="2701073" cy="218189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3A7DB7-662A-9B4B-A09C-2CA0EC3B77D6}"/>
              </a:ext>
            </a:extLst>
          </p:cNvPr>
          <p:cNvSpPr/>
          <p:nvPr/>
        </p:nvSpPr>
        <p:spPr>
          <a:xfrm>
            <a:off x="7177032" y="4963015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20CA3D-51F2-484F-9B03-A9633F5E3F42}"/>
              </a:ext>
            </a:extLst>
          </p:cNvPr>
          <p:cNvSpPr/>
          <p:nvPr/>
        </p:nvSpPr>
        <p:spPr>
          <a:xfrm>
            <a:off x="6918536" y="5484578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8E4FF2A-87B0-ED48-967C-6FBBBD92052F}"/>
              </a:ext>
            </a:extLst>
          </p:cNvPr>
          <p:cNvSpPr/>
          <p:nvPr/>
        </p:nvSpPr>
        <p:spPr>
          <a:xfrm>
            <a:off x="8726262" y="6120512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6895098-62E8-C041-82F9-E332E566B3CB}"/>
              </a:ext>
            </a:extLst>
          </p:cNvPr>
          <p:cNvSpPr/>
          <p:nvPr/>
        </p:nvSpPr>
        <p:spPr>
          <a:xfrm>
            <a:off x="8426916" y="5564273"/>
            <a:ext cx="348899" cy="30501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A498B04-41CF-9E42-8231-EFA0A9145AF7}"/>
              </a:ext>
            </a:extLst>
          </p:cNvPr>
          <p:cNvSpPr/>
          <p:nvPr/>
        </p:nvSpPr>
        <p:spPr>
          <a:xfrm>
            <a:off x="8104673" y="6119272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EE1A2A9-9E71-E540-856F-EC184C65FCF4}"/>
              </a:ext>
            </a:extLst>
          </p:cNvPr>
          <p:cNvCxnSpPr>
            <a:cxnSpLocks/>
            <a:stCxn id="32" idx="2"/>
            <a:endCxn id="51" idx="1"/>
          </p:cNvCxnSpPr>
          <p:nvPr/>
        </p:nvCxnSpPr>
        <p:spPr>
          <a:xfrm>
            <a:off x="7351482" y="5245488"/>
            <a:ext cx="667473" cy="106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5546FED-A595-FE42-B624-547A60370B86}"/>
              </a:ext>
            </a:extLst>
          </p:cNvPr>
          <p:cNvCxnSpPr>
            <a:cxnSpLocks/>
            <a:stCxn id="32" idx="2"/>
            <a:endCxn id="34" idx="0"/>
          </p:cNvCxnSpPr>
          <p:nvPr/>
        </p:nvCxnSpPr>
        <p:spPr>
          <a:xfrm flipH="1">
            <a:off x="7092986" y="5245488"/>
            <a:ext cx="258496" cy="239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2128583-786E-C740-B197-29B14CC6F4E9}"/>
              </a:ext>
            </a:extLst>
          </p:cNvPr>
          <p:cNvCxnSpPr>
            <a:cxnSpLocks/>
            <a:stCxn id="37" idx="2"/>
            <a:endCxn id="38" idx="0"/>
          </p:cNvCxnSpPr>
          <p:nvPr/>
        </p:nvCxnSpPr>
        <p:spPr>
          <a:xfrm flipH="1">
            <a:off x="8279123" y="5869289"/>
            <a:ext cx="322243" cy="249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4636790-1ACF-7A48-9335-D6199B135726}"/>
              </a:ext>
            </a:extLst>
          </p:cNvPr>
          <p:cNvCxnSpPr>
            <a:cxnSpLocks/>
            <a:stCxn id="37" idx="2"/>
            <a:endCxn id="35" idx="0"/>
          </p:cNvCxnSpPr>
          <p:nvPr/>
        </p:nvCxnSpPr>
        <p:spPr>
          <a:xfrm>
            <a:off x="8601366" y="5869289"/>
            <a:ext cx="299346" cy="2512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FDC46EE-BA82-A84A-8C63-0FE6DDEEDDBA}"/>
              </a:ext>
            </a:extLst>
          </p:cNvPr>
          <p:cNvSpPr txBox="1"/>
          <p:nvPr/>
        </p:nvSpPr>
        <p:spPr>
          <a:xfrm>
            <a:off x="7036225" y="4533619"/>
            <a:ext cx="196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C</a:t>
            </a:r>
            <a:r>
              <a:rPr lang="en-IT">
                <a:latin typeface="Aptos" panose="020B0004020202020204" pitchFamily="34" charset="0"/>
              </a:rPr>
              <a:t>hild widget tree </a:t>
            </a:r>
            <a:endParaRPr lang="en-IT" dirty="0">
              <a:latin typeface="Aptos" panose="020B0004020202020204" pitchFamily="34" charset="0"/>
            </a:endParaRPr>
          </a:p>
        </p:txBody>
      </p:sp>
      <p:pic>
        <p:nvPicPr>
          <p:cNvPr id="46" name="Graphic 45" descr="Bell outline">
            <a:extLst>
              <a:ext uri="{FF2B5EF4-FFF2-40B4-BE49-F238E27FC236}">
                <a16:creationId xmlns:a16="http://schemas.microsoft.com/office/drawing/2014/main" id="{957D0E34-866D-654B-B441-327CDA4EC4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55397" y="3740816"/>
            <a:ext cx="512445" cy="512445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3BEB9512-370A-2747-AE18-DA13F29FBB8E}"/>
              </a:ext>
            </a:extLst>
          </p:cNvPr>
          <p:cNvSpPr/>
          <p:nvPr/>
        </p:nvSpPr>
        <p:spPr>
          <a:xfrm>
            <a:off x="8949836" y="3714460"/>
            <a:ext cx="727189" cy="56891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4D35447-04B8-CE48-B390-EA9816DBD563}"/>
              </a:ext>
            </a:extLst>
          </p:cNvPr>
          <p:cNvSpPr/>
          <p:nvPr/>
        </p:nvSpPr>
        <p:spPr>
          <a:xfrm>
            <a:off x="6747613" y="3786819"/>
            <a:ext cx="13570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Aptos" panose="020B0004020202020204" pitchFamily="34" charset="0"/>
              </a:rPr>
              <a:t>Inject an instance to</a:t>
            </a:r>
            <a:endParaRPr lang="en-IT" sz="1600" dirty="0">
              <a:latin typeface="Aptos" panose="020B0004020202020204" pitchFamily="34" charset="0"/>
            </a:endParaRPr>
          </a:p>
        </p:txBody>
      </p: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995D4FF0-CF7C-144A-8AA9-703C2521D235}"/>
              </a:ext>
            </a:extLst>
          </p:cNvPr>
          <p:cNvCxnSpPr>
            <a:cxnSpLocks/>
            <a:stCxn id="47" idx="1"/>
            <a:endCxn id="31" idx="0"/>
          </p:cNvCxnSpPr>
          <p:nvPr/>
        </p:nvCxnSpPr>
        <p:spPr>
          <a:xfrm rot="10800000" flipV="1">
            <a:off x="8153228" y="3998915"/>
            <a:ext cx="796609" cy="45233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4ECEB6BB-98BF-6B47-A5D5-F167186A05BF}"/>
              </a:ext>
            </a:extLst>
          </p:cNvPr>
          <p:cNvCxnSpPr>
            <a:cxnSpLocks/>
            <a:endCxn id="47" idx="3"/>
          </p:cNvCxnSpPr>
          <p:nvPr/>
        </p:nvCxnSpPr>
        <p:spPr>
          <a:xfrm rot="5400000">
            <a:off x="9619763" y="2718715"/>
            <a:ext cx="1337463" cy="122293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833B8466-9178-3741-BAE3-6D71C8EE8F51}"/>
              </a:ext>
            </a:extLst>
          </p:cNvPr>
          <p:cNvSpPr/>
          <p:nvPr/>
        </p:nvSpPr>
        <p:spPr>
          <a:xfrm>
            <a:off x="8018955" y="5182651"/>
            <a:ext cx="11700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Consumer</a:t>
            </a:r>
            <a:endParaRPr lang="en-IT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C89D5534-B274-3842-9AD4-6B535139EDD8}"/>
              </a:ext>
            </a:extLst>
          </p:cNvPr>
          <p:cNvCxnSpPr>
            <a:cxnSpLocks/>
            <a:endCxn id="17" idx="0"/>
          </p:cNvCxnSpPr>
          <p:nvPr/>
        </p:nvCxnSpPr>
        <p:spPr>
          <a:xfrm rot="5400000">
            <a:off x="10123019" y="3741281"/>
            <a:ext cx="1856776" cy="19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699AF843-0517-7842-8BD0-AC356B180D49}"/>
              </a:ext>
            </a:extLst>
          </p:cNvPr>
          <p:cNvSpPr/>
          <p:nvPr/>
        </p:nvSpPr>
        <p:spPr>
          <a:xfrm>
            <a:off x="8034815" y="5170315"/>
            <a:ext cx="1213557" cy="132475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4171B37-1BAF-E847-8A9F-13DDD5951959}"/>
              </a:ext>
            </a:extLst>
          </p:cNvPr>
          <p:cNvCxnSpPr>
            <a:cxnSpLocks/>
            <a:stCxn id="18" idx="1"/>
            <a:endCxn id="89" idx="3"/>
          </p:cNvCxnSpPr>
          <p:nvPr/>
        </p:nvCxnSpPr>
        <p:spPr>
          <a:xfrm flipH="1" flipV="1">
            <a:off x="9248372" y="5832693"/>
            <a:ext cx="949487" cy="10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E4EA29F2-86DD-5B4E-B5D7-1BC40D33D8C5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flipH="1">
            <a:off x="11050447" y="5255402"/>
            <a:ext cx="1" cy="264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E3CC18-2D47-F945-B89B-ACEE8C1E8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68028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T" dirty="0"/>
              <a:t>Provider classes: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MultiProvider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763828" cy="5153933"/>
          </a:xfrm>
        </p:spPr>
        <p:txBody>
          <a:bodyPr>
            <a:normAutofit/>
          </a:bodyPr>
          <a:lstStyle/>
          <a:p>
            <a:r>
              <a:rPr lang="en-GB" dirty="0"/>
              <a:t>What if you need to inject more than one provider through the widget tree? Use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MultiProvider</a:t>
            </a:r>
            <a:r>
              <a:rPr lang="en-GB" dirty="0">
                <a:latin typeface="Courier" pitchFamily="2" charset="0"/>
              </a:rPr>
              <a:t>.</a:t>
            </a:r>
          </a:p>
          <a:p>
            <a:endParaRPr lang="en-GB" dirty="0"/>
          </a:p>
          <a:p>
            <a:r>
              <a:rPr lang="en-GB" dirty="0" err="1"/>
              <a:t>Synthax</a:t>
            </a:r>
            <a:r>
              <a:rPr lang="en-GB" dirty="0"/>
              <a:t> example:</a:t>
            </a:r>
          </a:p>
          <a:p>
            <a:endParaRPr lang="en-GB" dirty="0"/>
          </a:p>
          <a:p>
            <a:pPr marL="342900" lvl="1" indent="0">
              <a:buNone/>
            </a:pPr>
            <a:r>
              <a:rPr lang="en-GB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MultiProvider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pPr marL="342900" lvl="1" indent="0">
              <a:buNone/>
            </a:pP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providers: [</a:t>
            </a:r>
          </a:p>
          <a:p>
            <a:pPr marL="342900" lvl="1" indent="0"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Provider&lt;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ChangeNotifier1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&gt;(create: (_) =&gt; 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ChangeNotifier1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()),</a:t>
            </a:r>
            <a:endParaRPr lang="en-GB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342900" lvl="1" indent="0">
              <a:buNone/>
            </a:pP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Provider&lt;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ChangeNotifier2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&gt;(create: (_) =&gt; 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ChangeNotifier2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()),</a:t>
            </a:r>
            <a:endParaRPr lang="en-GB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342900" lvl="1" indent="0">
              <a:buNone/>
            </a:pP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...</a:t>
            </a:r>
          </a:p>
          <a:p>
            <a:pPr marL="342900" lvl="1" indent="0">
              <a:buNone/>
            </a:pP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],</a:t>
            </a:r>
          </a:p>
          <a:p>
            <a:pPr marL="342900" lvl="1" indent="0">
              <a:buNone/>
            </a:pP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child: &lt;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widget_tree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&gt;,</a:t>
            </a:r>
          </a:p>
          <a:p>
            <a:pPr marL="342900" lvl="1" indent="0">
              <a:buNone/>
            </a:pP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endParaRPr lang="en-IT" dirty="0">
              <a:latin typeface="Courier" pitchFamily="2" charset="0"/>
            </a:endParaRPr>
          </a:p>
          <a:p>
            <a:endParaRPr lang="en-IT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9A70FB-D572-6A4B-8E41-00EC37FB7A6C}"/>
              </a:ext>
            </a:extLst>
          </p:cNvPr>
          <p:cNvSpPr/>
          <p:nvPr/>
        </p:nvSpPr>
        <p:spPr>
          <a:xfrm>
            <a:off x="8091874" y="3122435"/>
            <a:ext cx="35305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2400" dirty="0">
                <a:latin typeface="Aptos" panose="020B0004020202020204" pitchFamily="34" charset="0"/>
              </a:rPr>
              <a:t>List of providers.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D5B8434-1451-9542-BCB3-D1193C8575C7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3922295" y="3353268"/>
            <a:ext cx="4169579" cy="461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B29569-E2F1-9B4F-9A21-B0C98135D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17097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Wrapping up: Provider (core) flow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3" y="1361167"/>
            <a:ext cx="5894344" cy="5153933"/>
          </a:xfrm>
        </p:spPr>
        <p:txBody>
          <a:bodyPr>
            <a:normAutofit/>
          </a:bodyPr>
          <a:lstStyle/>
          <a:p>
            <a:pPr marL="457200"/>
            <a:endParaRPr lang="en-IT" dirty="0"/>
          </a:p>
          <a:p>
            <a:endParaRPr lang="en-IT" dirty="0"/>
          </a:p>
        </p:txBody>
      </p:sp>
      <p:pic>
        <p:nvPicPr>
          <p:cNvPr id="7" name="Graphic 6" descr="Bell outline">
            <a:extLst>
              <a:ext uri="{FF2B5EF4-FFF2-40B4-BE49-F238E27FC236}">
                <a16:creationId xmlns:a16="http://schemas.microsoft.com/office/drawing/2014/main" id="{25DCBBD3-6E78-9141-9E2C-341174CD81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69839" y="1863628"/>
            <a:ext cx="914400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E311616-F193-6E49-89E0-0FF273168CC9}"/>
              </a:ext>
            </a:extLst>
          </p:cNvPr>
          <p:cNvSpPr/>
          <p:nvPr/>
        </p:nvSpPr>
        <p:spPr>
          <a:xfrm>
            <a:off x="6890250" y="1166722"/>
            <a:ext cx="2543852" cy="159645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4AD37F-8378-DB48-A962-465066E6F1DF}"/>
              </a:ext>
            </a:extLst>
          </p:cNvPr>
          <p:cNvSpPr txBox="1"/>
          <p:nvPr/>
        </p:nvSpPr>
        <p:spPr>
          <a:xfrm>
            <a:off x="6871322" y="1248655"/>
            <a:ext cx="2560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ClassImplementingChangeNotifier</a:t>
            </a:r>
            <a:endParaRPr lang="en-IT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6E1531-BA3E-7A40-BAFD-4ED44A86B181}"/>
              </a:ext>
            </a:extLst>
          </p:cNvPr>
          <p:cNvSpPr txBox="1"/>
          <p:nvPr/>
        </p:nvSpPr>
        <p:spPr>
          <a:xfrm>
            <a:off x="7353072" y="4670627"/>
            <a:ext cx="228310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notifyListeners</a:t>
            </a:r>
            <a:r>
              <a:rPr lang="en-IT" sz="16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r>
              <a:rPr lang="en-IT" sz="1600">
                <a:latin typeface="Courier" pitchFamily="2" charset="0"/>
              </a:rPr>
              <a:t> </a:t>
            </a:r>
            <a:r>
              <a:rPr lang="en-IT" dirty="0">
                <a:latin typeface="Aptos" panose="020B0004020202020204" pitchFamily="34" charset="0"/>
              </a:rPr>
              <a:t>is called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D4C8E7-89C0-8D41-AE8C-0860C5F9D2C3}"/>
              </a:ext>
            </a:extLst>
          </p:cNvPr>
          <p:cNvSpPr txBox="1"/>
          <p:nvPr/>
        </p:nvSpPr>
        <p:spPr>
          <a:xfrm>
            <a:off x="7642036" y="5519616"/>
            <a:ext cx="1705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>
                <a:latin typeface="Aptos" panose="020B0004020202020204" pitchFamily="34" charset="0"/>
              </a:rPr>
              <a:t>Call</a:t>
            </a:r>
            <a:r>
              <a:rPr lang="en-IT">
                <a:latin typeface="Palatino Linotype" panose="02040502050505030304" pitchFamily="18" charset="0"/>
              </a:rPr>
              <a:t> </a:t>
            </a:r>
            <a:r>
              <a:rPr lang="en-IT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builder</a:t>
            </a:r>
            <a:r>
              <a:rPr lang="en-IT">
                <a:latin typeface="Courier" pitchFamily="2" charset="0"/>
              </a:rPr>
              <a:t> </a:t>
            </a:r>
            <a:r>
              <a:rPr lang="en-IT">
                <a:latin typeface="Aptos" panose="020B0004020202020204" pitchFamily="34" charset="0"/>
              </a:rPr>
              <a:t>method</a:t>
            </a:r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ADE902-AE76-0C4E-8A9B-DCD0A5F12B87}"/>
              </a:ext>
            </a:extLst>
          </p:cNvPr>
          <p:cNvSpPr/>
          <p:nvPr/>
        </p:nvSpPr>
        <p:spPr>
          <a:xfrm>
            <a:off x="4003336" y="3276426"/>
            <a:ext cx="3292848" cy="341964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2208B6-FB17-3948-9E81-98C671A17004}"/>
              </a:ext>
            </a:extLst>
          </p:cNvPr>
          <p:cNvSpPr txBox="1"/>
          <p:nvPr/>
        </p:nvSpPr>
        <p:spPr>
          <a:xfrm>
            <a:off x="3934689" y="3291279"/>
            <a:ext cx="342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ChangeNotifierProvider</a:t>
            </a:r>
            <a:endParaRPr lang="en-IT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DBF5486-046D-DD4C-9FA3-4F1EB2ADFB39}"/>
              </a:ext>
            </a:extLst>
          </p:cNvPr>
          <p:cNvSpPr/>
          <p:nvPr/>
        </p:nvSpPr>
        <p:spPr>
          <a:xfrm>
            <a:off x="4246867" y="4451253"/>
            <a:ext cx="2701073" cy="218189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3A7DB7-662A-9B4B-A09C-2CA0EC3B77D6}"/>
              </a:ext>
            </a:extLst>
          </p:cNvPr>
          <p:cNvSpPr/>
          <p:nvPr/>
        </p:nvSpPr>
        <p:spPr>
          <a:xfrm>
            <a:off x="4621209" y="4963015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20CA3D-51F2-484F-9B03-A9633F5E3F42}"/>
              </a:ext>
            </a:extLst>
          </p:cNvPr>
          <p:cNvSpPr/>
          <p:nvPr/>
        </p:nvSpPr>
        <p:spPr>
          <a:xfrm>
            <a:off x="4362713" y="5484578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8E4FF2A-87B0-ED48-967C-6FBBBD92052F}"/>
              </a:ext>
            </a:extLst>
          </p:cNvPr>
          <p:cNvSpPr/>
          <p:nvPr/>
        </p:nvSpPr>
        <p:spPr>
          <a:xfrm>
            <a:off x="6170439" y="6120512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6895098-62E8-C041-82F9-E332E566B3CB}"/>
              </a:ext>
            </a:extLst>
          </p:cNvPr>
          <p:cNvSpPr/>
          <p:nvPr/>
        </p:nvSpPr>
        <p:spPr>
          <a:xfrm>
            <a:off x="5871093" y="5564273"/>
            <a:ext cx="348899" cy="30501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A498B04-41CF-9E42-8231-EFA0A9145AF7}"/>
              </a:ext>
            </a:extLst>
          </p:cNvPr>
          <p:cNvSpPr/>
          <p:nvPr/>
        </p:nvSpPr>
        <p:spPr>
          <a:xfrm>
            <a:off x="5548850" y="6119272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EE1A2A9-9E71-E540-856F-EC184C65FCF4}"/>
              </a:ext>
            </a:extLst>
          </p:cNvPr>
          <p:cNvCxnSpPr>
            <a:cxnSpLocks/>
            <a:stCxn id="32" idx="2"/>
            <a:endCxn id="51" idx="1"/>
          </p:cNvCxnSpPr>
          <p:nvPr/>
        </p:nvCxnSpPr>
        <p:spPr>
          <a:xfrm>
            <a:off x="4795659" y="5245488"/>
            <a:ext cx="667473" cy="106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5546FED-A595-FE42-B624-547A60370B86}"/>
              </a:ext>
            </a:extLst>
          </p:cNvPr>
          <p:cNvCxnSpPr>
            <a:cxnSpLocks/>
            <a:stCxn id="32" idx="2"/>
            <a:endCxn id="34" idx="0"/>
          </p:cNvCxnSpPr>
          <p:nvPr/>
        </p:nvCxnSpPr>
        <p:spPr>
          <a:xfrm flipH="1">
            <a:off x="4537163" y="5245488"/>
            <a:ext cx="258496" cy="239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2128583-786E-C740-B197-29B14CC6F4E9}"/>
              </a:ext>
            </a:extLst>
          </p:cNvPr>
          <p:cNvCxnSpPr>
            <a:cxnSpLocks/>
            <a:stCxn id="37" idx="2"/>
            <a:endCxn id="38" idx="0"/>
          </p:cNvCxnSpPr>
          <p:nvPr/>
        </p:nvCxnSpPr>
        <p:spPr>
          <a:xfrm flipH="1">
            <a:off x="5723300" y="5869289"/>
            <a:ext cx="322243" cy="249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4636790-1ACF-7A48-9335-D6199B135726}"/>
              </a:ext>
            </a:extLst>
          </p:cNvPr>
          <p:cNvCxnSpPr>
            <a:cxnSpLocks/>
            <a:stCxn id="37" idx="2"/>
            <a:endCxn id="35" idx="0"/>
          </p:cNvCxnSpPr>
          <p:nvPr/>
        </p:nvCxnSpPr>
        <p:spPr>
          <a:xfrm>
            <a:off x="6045543" y="5869289"/>
            <a:ext cx="299346" cy="2512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FDC46EE-BA82-A84A-8C63-0FE6DDEEDDBA}"/>
              </a:ext>
            </a:extLst>
          </p:cNvPr>
          <p:cNvSpPr txBox="1"/>
          <p:nvPr/>
        </p:nvSpPr>
        <p:spPr>
          <a:xfrm>
            <a:off x="4480402" y="4533619"/>
            <a:ext cx="1961460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latin typeface="Aptos" panose="020B0004020202020204" pitchFamily="34" charset="0"/>
              </a:defRPr>
            </a:lvl1pPr>
          </a:lstStyle>
          <a:p>
            <a:r>
              <a:rPr lang="en-GB"/>
              <a:t>C</a:t>
            </a:r>
            <a:r>
              <a:rPr lang="en-IT" dirty="0"/>
              <a:t>hild widget tree </a:t>
            </a:r>
          </a:p>
        </p:txBody>
      </p:sp>
      <p:pic>
        <p:nvPicPr>
          <p:cNvPr id="46" name="Graphic 45" descr="Bell outline">
            <a:extLst>
              <a:ext uri="{FF2B5EF4-FFF2-40B4-BE49-F238E27FC236}">
                <a16:creationId xmlns:a16="http://schemas.microsoft.com/office/drawing/2014/main" id="{957D0E34-866D-654B-B441-327CDA4EC4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9574" y="3740816"/>
            <a:ext cx="512445" cy="512445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3BEB9512-370A-2747-AE18-DA13F29FBB8E}"/>
              </a:ext>
            </a:extLst>
          </p:cNvPr>
          <p:cNvSpPr/>
          <p:nvPr/>
        </p:nvSpPr>
        <p:spPr>
          <a:xfrm>
            <a:off x="6394013" y="3714460"/>
            <a:ext cx="727189" cy="56891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4D35447-04B8-CE48-B390-EA9816DBD563}"/>
              </a:ext>
            </a:extLst>
          </p:cNvPr>
          <p:cNvSpPr/>
          <p:nvPr/>
        </p:nvSpPr>
        <p:spPr>
          <a:xfrm>
            <a:off x="4216449" y="3740816"/>
            <a:ext cx="13570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Aptos" panose="020B0004020202020204" pitchFamily="34" charset="0"/>
              </a:rPr>
              <a:t>Inject an instance to</a:t>
            </a:r>
            <a:endParaRPr lang="en-IT" sz="1600" dirty="0">
              <a:latin typeface="Aptos" panose="020B0004020202020204" pitchFamily="34" charset="0"/>
            </a:endParaRPr>
          </a:p>
        </p:txBody>
      </p: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995D4FF0-CF7C-144A-8AA9-703C2521D235}"/>
              </a:ext>
            </a:extLst>
          </p:cNvPr>
          <p:cNvCxnSpPr>
            <a:cxnSpLocks/>
            <a:stCxn id="47" idx="1"/>
            <a:endCxn id="31" idx="0"/>
          </p:cNvCxnSpPr>
          <p:nvPr/>
        </p:nvCxnSpPr>
        <p:spPr>
          <a:xfrm rot="10800000" flipV="1">
            <a:off x="5597405" y="3998915"/>
            <a:ext cx="796609" cy="45233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4ECEB6BB-98BF-6B47-A5D5-F167186A05BF}"/>
              </a:ext>
            </a:extLst>
          </p:cNvPr>
          <p:cNvCxnSpPr>
            <a:cxnSpLocks/>
            <a:stCxn id="7" idx="2"/>
            <a:endCxn id="47" idx="3"/>
          </p:cNvCxnSpPr>
          <p:nvPr/>
        </p:nvCxnSpPr>
        <p:spPr>
          <a:xfrm rot="5400000">
            <a:off x="7063677" y="2835554"/>
            <a:ext cx="1220888" cy="110583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833B8466-9178-3741-BAE3-6D71C8EE8F51}"/>
              </a:ext>
            </a:extLst>
          </p:cNvPr>
          <p:cNvSpPr/>
          <p:nvPr/>
        </p:nvSpPr>
        <p:spPr>
          <a:xfrm>
            <a:off x="5463132" y="5182651"/>
            <a:ext cx="11700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Consumer</a:t>
            </a:r>
            <a:endParaRPr lang="en-IT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C89D5534-B274-3842-9AD4-6B535139EDD8}"/>
              </a:ext>
            </a:extLst>
          </p:cNvPr>
          <p:cNvCxnSpPr>
            <a:cxnSpLocks/>
            <a:endCxn id="17" idx="0"/>
          </p:cNvCxnSpPr>
          <p:nvPr/>
        </p:nvCxnSpPr>
        <p:spPr>
          <a:xfrm rot="5400000">
            <a:off x="7540902" y="3716901"/>
            <a:ext cx="1907449" cy="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699AF843-0517-7842-8BD0-AC356B180D49}"/>
              </a:ext>
            </a:extLst>
          </p:cNvPr>
          <p:cNvSpPr/>
          <p:nvPr/>
        </p:nvSpPr>
        <p:spPr>
          <a:xfrm>
            <a:off x="5438763" y="5170315"/>
            <a:ext cx="1213557" cy="132475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4171B37-1BAF-E847-8A9F-13DDD5951959}"/>
              </a:ext>
            </a:extLst>
          </p:cNvPr>
          <p:cNvCxnSpPr>
            <a:cxnSpLocks/>
            <a:stCxn id="18" idx="1"/>
            <a:endCxn id="89" idx="3"/>
          </p:cNvCxnSpPr>
          <p:nvPr/>
        </p:nvCxnSpPr>
        <p:spPr>
          <a:xfrm flipH="1" flipV="1">
            <a:off x="6652320" y="5832693"/>
            <a:ext cx="989716" cy="10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E4EA29F2-86DD-5B4E-B5D7-1BC40D33D8C5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flipH="1">
            <a:off x="8494624" y="5286180"/>
            <a:ext cx="1" cy="233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8A145D-8226-994F-B500-D78B3CF73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0632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0913119" cy="5334907"/>
          </a:xfrm>
        </p:spPr>
        <p:txBody>
          <a:bodyPr>
            <a:normAutofit/>
          </a:bodyPr>
          <a:lstStyle/>
          <a:p>
            <a:r>
              <a:rPr lang="en-IT" dirty="0"/>
              <a:t>State management</a:t>
            </a:r>
          </a:p>
          <a:p>
            <a:pPr lvl="1"/>
            <a:r>
              <a:rPr lang="en-GB" dirty="0">
                <a:hlinkClick r:id="rId2"/>
              </a:rPr>
              <a:t>https://docs.flutter.dev/development/data-and-backend/state-mgmt/intro</a:t>
            </a:r>
            <a:r>
              <a:rPr lang="en-GB" dirty="0"/>
              <a:t> </a:t>
            </a:r>
          </a:p>
          <a:p>
            <a:endParaRPr lang="en-GB" dirty="0"/>
          </a:p>
          <a:p>
            <a:r>
              <a:rPr lang="en-GB" dirty="0"/>
              <a:t>Making sense of all those Flutter Providers</a:t>
            </a:r>
          </a:p>
          <a:p>
            <a:pPr lvl="1"/>
            <a:r>
              <a:rPr lang="en-GB" dirty="0">
                <a:hlinkClick r:id="rId3"/>
              </a:rPr>
              <a:t>https://medium.com/flutter-community/making-sense-all-of-those-flutter-providers-e842e18f45dd</a:t>
            </a:r>
            <a:r>
              <a:rPr lang="en-GB" dirty="0"/>
              <a:t>	</a:t>
            </a:r>
          </a:p>
          <a:p>
            <a:pPr lvl="1"/>
            <a:endParaRPr lang="en-GB" dirty="0"/>
          </a:p>
          <a:p>
            <a:r>
              <a:rPr lang="en-GB" dirty="0"/>
              <a:t>List of state management approaches</a:t>
            </a:r>
          </a:p>
          <a:p>
            <a:pPr lvl="1"/>
            <a:r>
              <a:rPr lang="en-GB" dirty="0">
                <a:hlinkClick r:id="rId4"/>
              </a:rPr>
              <a:t>https://docs.flutter.dev/development/data-and-backend/state-mgmt/options</a:t>
            </a:r>
            <a:r>
              <a:rPr lang="en-GB" dirty="0"/>
              <a:t> </a:t>
            </a: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65FD1-2BD8-A345-B072-D664E6401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7718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19398</TotalTime>
  <Words>2248</Words>
  <Application>Microsoft Macintosh PowerPoint</Application>
  <PresentationFormat>Widescreen</PresentationFormat>
  <Paragraphs>476</Paragraphs>
  <Slides>31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Aptos</vt:lpstr>
      <vt:lpstr>Arial</vt:lpstr>
      <vt:lpstr>Calibri</vt:lpstr>
      <vt:lpstr>Courier</vt:lpstr>
      <vt:lpstr>Courier New</vt:lpstr>
      <vt:lpstr>Menlo</vt:lpstr>
      <vt:lpstr>Palatino</vt:lpstr>
      <vt:lpstr>Palatino Linotype</vt:lpstr>
      <vt:lpstr>Times New Roman</vt:lpstr>
      <vt:lpstr>Wingdings</vt:lpstr>
      <vt:lpstr>Tema di Office</vt:lpstr>
      <vt:lpstr>Giacomo Cappon</vt:lpstr>
      <vt:lpstr>State</vt:lpstr>
      <vt:lpstr>State</vt:lpstr>
      <vt:lpstr>Remember: Flutter is declarative</vt:lpstr>
      <vt:lpstr>So far…</vt:lpstr>
      <vt:lpstr>So far…</vt:lpstr>
      <vt:lpstr>The Widget Tree</vt:lpstr>
      <vt:lpstr>The Widget Tree</vt:lpstr>
      <vt:lpstr>Stateless vs. Stateful widgets</vt:lpstr>
      <vt:lpstr>Changing the UI</vt:lpstr>
      <vt:lpstr>Different UI, different tree</vt:lpstr>
      <vt:lpstr>Changing the UI</vt:lpstr>
      <vt:lpstr>StatefulWidget</vt:lpstr>
      <vt:lpstr>The boilerplate code of a StatefulWidget</vt:lpstr>
      <vt:lpstr>Our new code</vt:lpstr>
      <vt:lpstr>Our new code</vt:lpstr>
      <vt:lpstr>Same UI, different tree</vt:lpstr>
      <vt:lpstr>void initState(){}</vt:lpstr>
      <vt:lpstr>setState((){})</vt:lpstr>
      <vt:lpstr>We did it!</vt:lpstr>
      <vt:lpstr>A specific use case - NavigationBar</vt:lpstr>
      <vt:lpstr>The limitation of setState() </vt:lpstr>
      <vt:lpstr>So, how to manage state?</vt:lpstr>
      <vt:lpstr>Provider core idea</vt:lpstr>
      <vt:lpstr>Provider classes </vt:lpstr>
      <vt:lpstr>Provider classes: ChangeNotifier </vt:lpstr>
      <vt:lpstr>Provider classes: ChangeNotifierProvider </vt:lpstr>
      <vt:lpstr>Provider classes: Consumer </vt:lpstr>
      <vt:lpstr>Provider classes: MultiProvider</vt:lpstr>
      <vt:lpstr>Wrapping up: Provider (core) flow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</dc:creator>
  <cp:lastModifiedBy>Giacomo Cappon</cp:lastModifiedBy>
  <cp:revision>278</cp:revision>
  <dcterms:created xsi:type="dcterms:W3CDTF">2021-07-19T09:08:13Z</dcterms:created>
  <dcterms:modified xsi:type="dcterms:W3CDTF">2026-02-18T12:51:24Z</dcterms:modified>
</cp:coreProperties>
</file>