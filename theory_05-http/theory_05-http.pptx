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00" r:id="rId3"/>
    <p:sldId id="269" r:id="rId4"/>
    <p:sldId id="282" r:id="rId5"/>
    <p:sldId id="275" r:id="rId6"/>
    <p:sldId id="284" r:id="rId7"/>
    <p:sldId id="313" r:id="rId8"/>
    <p:sldId id="283" r:id="rId9"/>
    <p:sldId id="279" r:id="rId10"/>
    <p:sldId id="314" r:id="rId11"/>
    <p:sldId id="276" r:id="rId12"/>
    <p:sldId id="277" r:id="rId13"/>
    <p:sldId id="281" r:id="rId14"/>
    <p:sldId id="287" r:id="rId15"/>
    <p:sldId id="303" r:id="rId16"/>
    <p:sldId id="286" r:id="rId17"/>
    <p:sldId id="288" r:id="rId18"/>
    <p:sldId id="278" r:id="rId19"/>
    <p:sldId id="280" r:id="rId20"/>
    <p:sldId id="265" r:id="rId21"/>
    <p:sldId id="301" r:id="rId22"/>
    <p:sldId id="271" r:id="rId23"/>
    <p:sldId id="289" r:id="rId24"/>
    <p:sldId id="292" r:id="rId25"/>
    <p:sldId id="293" r:id="rId26"/>
    <p:sldId id="294" r:id="rId27"/>
    <p:sldId id="273" r:id="rId28"/>
    <p:sldId id="272" r:id="rId29"/>
    <p:sldId id="295" r:id="rId30"/>
    <p:sldId id="304" r:id="rId31"/>
    <p:sldId id="306" r:id="rId32"/>
    <p:sldId id="308" r:id="rId33"/>
    <p:sldId id="309" r:id="rId34"/>
    <p:sldId id="310" r:id="rId35"/>
    <p:sldId id="311" r:id="rId36"/>
    <p:sldId id="312" r:id="rId37"/>
    <p:sldId id="30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06" autoAdjust="0"/>
    <p:restoredTop sz="94404" autoAdjust="0"/>
  </p:normalViewPr>
  <p:slideViewPr>
    <p:cSldViewPr snapToGrid="0">
      <p:cViewPr varScale="1">
        <p:scale>
          <a:sx n="209" d="100"/>
          <a:sy n="209" d="100"/>
        </p:scale>
        <p:origin x="13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630131-546D-4C3D-A834-ED891C14EF89}" type="datetimeFigureOut">
              <a:rPr lang="en-GB" smtClean="0"/>
              <a:t>25/03/2025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2F5A9-226A-479A-BA7C-FE8E1E3031D5}" type="slidenum">
              <a:rPr lang="en-GB" smtClean="0"/>
              <a:t>‹#›</a:t>
            </a:fld>
            <a:endParaRPr lang="en-GB"/>
          </a:p>
        </p:txBody>
      </p:sp>
    </p:spTree>
    <p:extLst>
      <p:ext uri="{BB962C8B-B14F-4D97-AF65-F5344CB8AC3E}">
        <p14:creationId xmlns:p14="http://schemas.microsoft.com/office/powerpoint/2010/main" val="4088429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a:t>
            </a:fld>
            <a:endParaRPr lang="en-GB"/>
          </a:p>
        </p:txBody>
      </p:sp>
    </p:spTree>
    <p:extLst>
      <p:ext uri="{BB962C8B-B14F-4D97-AF65-F5344CB8AC3E}">
        <p14:creationId xmlns:p14="http://schemas.microsoft.com/office/powerpoint/2010/main" val="3414688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4</a:t>
            </a:fld>
            <a:endParaRPr lang="en-GB"/>
          </a:p>
        </p:txBody>
      </p:sp>
    </p:spTree>
    <p:extLst>
      <p:ext uri="{BB962C8B-B14F-4D97-AF65-F5344CB8AC3E}">
        <p14:creationId xmlns:p14="http://schemas.microsoft.com/office/powerpoint/2010/main" val="473125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6</a:t>
            </a:fld>
            <a:endParaRPr lang="en-GB"/>
          </a:p>
        </p:txBody>
      </p:sp>
    </p:spTree>
    <p:extLst>
      <p:ext uri="{BB962C8B-B14F-4D97-AF65-F5344CB8AC3E}">
        <p14:creationId xmlns:p14="http://schemas.microsoft.com/office/powerpoint/2010/main" val="2637082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7B19-F0E0-66D4-4906-C41713D294A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A34ECFB-5DCD-646E-6A53-7B4344E41DA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0176FA2-8B88-AF43-5AF8-AC1EF9E5D11C}"/>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068AD0ED-5136-2D76-0C33-FAEF416CDC3B}"/>
              </a:ext>
            </a:extLst>
          </p:cNvPr>
          <p:cNvSpPr>
            <a:spLocks noGrp="1"/>
          </p:cNvSpPr>
          <p:nvPr>
            <p:ph type="sldNum" sz="quarter" idx="10"/>
          </p:nvPr>
        </p:nvSpPr>
        <p:spPr/>
        <p:txBody>
          <a:bodyPr/>
          <a:lstStyle/>
          <a:p>
            <a:fld id="{3452F5A9-226A-479A-BA7C-FE8E1E3031D5}" type="slidenum">
              <a:rPr lang="en-GB" smtClean="0"/>
              <a:t>7</a:t>
            </a:fld>
            <a:endParaRPr lang="en-GB"/>
          </a:p>
        </p:txBody>
      </p:sp>
    </p:spTree>
    <p:extLst>
      <p:ext uri="{BB962C8B-B14F-4D97-AF65-F5344CB8AC3E}">
        <p14:creationId xmlns:p14="http://schemas.microsoft.com/office/powerpoint/2010/main" val="213012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8</a:t>
            </a:fld>
            <a:endParaRPr lang="en-GB"/>
          </a:p>
        </p:txBody>
      </p:sp>
    </p:spTree>
    <p:extLst>
      <p:ext uri="{BB962C8B-B14F-4D97-AF65-F5344CB8AC3E}">
        <p14:creationId xmlns:p14="http://schemas.microsoft.com/office/powerpoint/2010/main" val="246766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9</a:t>
            </a:fld>
            <a:endParaRPr lang="en-GB"/>
          </a:p>
        </p:txBody>
      </p:sp>
    </p:spTree>
    <p:extLst>
      <p:ext uri="{BB962C8B-B14F-4D97-AF65-F5344CB8AC3E}">
        <p14:creationId xmlns:p14="http://schemas.microsoft.com/office/powerpoint/2010/main" val="624403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9B27-BBFD-BB6F-7A26-BEAD3F55312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4D7DDEF-99AF-B125-FD75-12F8945BEC7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6C480A9-4BF9-EF58-B9AE-94C7095499C2}"/>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EDCF96F4-7ECB-139D-15D3-698DBC0E0E1C}"/>
              </a:ext>
            </a:extLst>
          </p:cNvPr>
          <p:cNvSpPr>
            <a:spLocks noGrp="1"/>
          </p:cNvSpPr>
          <p:nvPr>
            <p:ph type="sldNum" sz="quarter" idx="10"/>
          </p:nvPr>
        </p:nvSpPr>
        <p:spPr/>
        <p:txBody>
          <a:bodyPr/>
          <a:lstStyle/>
          <a:p>
            <a:fld id="{3452F5A9-226A-479A-BA7C-FE8E1E3031D5}" type="slidenum">
              <a:rPr lang="en-GB" smtClean="0"/>
              <a:t>10</a:t>
            </a:fld>
            <a:endParaRPr lang="en-GB"/>
          </a:p>
        </p:txBody>
      </p:sp>
    </p:spTree>
    <p:extLst>
      <p:ext uri="{BB962C8B-B14F-4D97-AF65-F5344CB8AC3E}">
        <p14:creationId xmlns:p14="http://schemas.microsoft.com/office/powerpoint/2010/main" val="1029788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11</a:t>
            </a:fld>
            <a:endParaRPr lang="en-GB"/>
          </a:p>
        </p:txBody>
      </p:sp>
    </p:spTree>
    <p:extLst>
      <p:ext uri="{BB962C8B-B14F-4D97-AF65-F5344CB8AC3E}">
        <p14:creationId xmlns:p14="http://schemas.microsoft.com/office/powerpoint/2010/main" val="2698144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13</a:t>
            </a:fld>
            <a:endParaRPr lang="en-GB"/>
          </a:p>
        </p:txBody>
      </p:sp>
    </p:spTree>
    <p:extLst>
      <p:ext uri="{BB962C8B-B14F-4D97-AF65-F5344CB8AC3E}">
        <p14:creationId xmlns:p14="http://schemas.microsoft.com/office/powerpoint/2010/main" val="2103150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14</a:t>
            </a:fld>
            <a:endParaRPr lang="en-GB"/>
          </a:p>
        </p:txBody>
      </p:sp>
    </p:spTree>
    <p:extLst>
      <p:ext uri="{BB962C8B-B14F-4D97-AF65-F5344CB8AC3E}">
        <p14:creationId xmlns:p14="http://schemas.microsoft.com/office/powerpoint/2010/main" val="4056391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A2635-6319-4C75-13F0-C653E634C1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70384A-2514-5437-10CE-75E7E08C98F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E00A942-9207-452B-571F-69641A602ACD}"/>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3A15EC29-A89B-B786-8740-10B148A70D31}"/>
              </a:ext>
            </a:extLst>
          </p:cNvPr>
          <p:cNvSpPr>
            <a:spLocks noGrp="1"/>
          </p:cNvSpPr>
          <p:nvPr>
            <p:ph type="sldNum" sz="quarter" idx="10"/>
          </p:nvPr>
        </p:nvSpPr>
        <p:spPr/>
        <p:txBody>
          <a:bodyPr/>
          <a:lstStyle/>
          <a:p>
            <a:fld id="{3452F5A9-226A-479A-BA7C-FE8E1E3031D5}" type="slidenum">
              <a:rPr lang="en-GB" smtClean="0"/>
              <a:t>15</a:t>
            </a:fld>
            <a:endParaRPr lang="en-GB"/>
          </a:p>
        </p:txBody>
      </p:sp>
    </p:spTree>
    <p:extLst>
      <p:ext uri="{BB962C8B-B14F-4D97-AF65-F5344CB8AC3E}">
        <p14:creationId xmlns:p14="http://schemas.microsoft.com/office/powerpoint/2010/main" val="581638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19</a:t>
            </a:fld>
            <a:endParaRPr lang="en-GB"/>
          </a:p>
        </p:txBody>
      </p:sp>
    </p:spTree>
    <p:extLst>
      <p:ext uri="{BB962C8B-B14F-4D97-AF65-F5344CB8AC3E}">
        <p14:creationId xmlns:p14="http://schemas.microsoft.com/office/powerpoint/2010/main" val="630822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22</a:t>
            </a:fld>
            <a:endParaRPr lang="en-GB"/>
          </a:p>
        </p:txBody>
      </p:sp>
    </p:spTree>
    <p:extLst>
      <p:ext uri="{BB962C8B-B14F-4D97-AF65-F5344CB8AC3E}">
        <p14:creationId xmlns:p14="http://schemas.microsoft.com/office/powerpoint/2010/main" val="2438641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23</a:t>
            </a:fld>
            <a:endParaRPr lang="en-GB"/>
          </a:p>
        </p:txBody>
      </p:sp>
    </p:spTree>
    <p:extLst>
      <p:ext uri="{BB962C8B-B14F-4D97-AF65-F5344CB8AC3E}">
        <p14:creationId xmlns:p14="http://schemas.microsoft.com/office/powerpoint/2010/main" val="2950402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24</a:t>
            </a:fld>
            <a:endParaRPr lang="en-GB"/>
          </a:p>
        </p:txBody>
      </p:sp>
    </p:spTree>
    <p:extLst>
      <p:ext uri="{BB962C8B-B14F-4D97-AF65-F5344CB8AC3E}">
        <p14:creationId xmlns:p14="http://schemas.microsoft.com/office/powerpoint/2010/main" val="2286591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25</a:t>
            </a:fld>
            <a:endParaRPr lang="en-GB"/>
          </a:p>
        </p:txBody>
      </p:sp>
    </p:spTree>
    <p:extLst>
      <p:ext uri="{BB962C8B-B14F-4D97-AF65-F5344CB8AC3E}">
        <p14:creationId xmlns:p14="http://schemas.microsoft.com/office/powerpoint/2010/main" val="3244903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26</a:t>
            </a:fld>
            <a:endParaRPr lang="en-GB"/>
          </a:p>
        </p:txBody>
      </p:sp>
    </p:spTree>
    <p:extLst>
      <p:ext uri="{BB962C8B-B14F-4D97-AF65-F5344CB8AC3E}">
        <p14:creationId xmlns:p14="http://schemas.microsoft.com/office/powerpoint/2010/main" val="681812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27</a:t>
            </a:fld>
            <a:endParaRPr lang="en-GB"/>
          </a:p>
        </p:txBody>
      </p:sp>
    </p:spTree>
    <p:extLst>
      <p:ext uri="{BB962C8B-B14F-4D97-AF65-F5344CB8AC3E}">
        <p14:creationId xmlns:p14="http://schemas.microsoft.com/office/powerpoint/2010/main" val="467592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28</a:t>
            </a:fld>
            <a:endParaRPr lang="en-GB"/>
          </a:p>
        </p:txBody>
      </p:sp>
    </p:spTree>
    <p:extLst>
      <p:ext uri="{BB962C8B-B14F-4D97-AF65-F5344CB8AC3E}">
        <p14:creationId xmlns:p14="http://schemas.microsoft.com/office/powerpoint/2010/main" val="306884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baseline="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postman.com/"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impact.dei.unipd.it/"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impact.dei.unipd.it/" TargetMode="External"/><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HTTP</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581554-4AE4-284E-83EA-A293483CBF52}"/>
              </a:ext>
            </a:extLst>
          </p:cNvPr>
          <p:cNvSpPr>
            <a:spLocks noGrp="1"/>
          </p:cNvSpPr>
          <p:nvPr>
            <p:ph type="title"/>
          </p:nvPr>
        </p:nvSpPr>
        <p:spPr/>
        <p:txBody>
          <a:bodyPr/>
          <a:lstStyle/>
          <a:p>
            <a:r>
              <a:rPr lang="it-IT" dirty="0" err="1"/>
              <a:t>Outline</a:t>
            </a:r>
            <a:endParaRPr lang="it-IT" dirty="0"/>
          </a:p>
        </p:txBody>
      </p:sp>
      <p:sp>
        <p:nvSpPr>
          <p:cNvPr id="3" name="Segnaposto contenuto 2">
            <a:extLst>
              <a:ext uri="{FF2B5EF4-FFF2-40B4-BE49-F238E27FC236}">
                <a16:creationId xmlns:a16="http://schemas.microsoft.com/office/drawing/2014/main" id="{A4C410BC-3DB2-9942-8F09-D6751799869F}"/>
              </a:ext>
            </a:extLst>
          </p:cNvPr>
          <p:cNvSpPr>
            <a:spLocks noGrp="1"/>
          </p:cNvSpPr>
          <p:nvPr>
            <p:ph idx="1"/>
          </p:nvPr>
        </p:nvSpPr>
        <p:spPr/>
        <p:txBody>
          <a:bodyPr>
            <a:normAutofit/>
          </a:bodyPr>
          <a:lstStyle/>
          <a:p>
            <a:pPr marL="0" indent="0">
              <a:buNone/>
            </a:pPr>
            <a:endParaRPr lang="it-IT" sz="2800" dirty="0"/>
          </a:p>
          <a:p>
            <a:r>
              <a:rPr lang="it-IT" sz="2800" dirty="0" err="1"/>
              <a:t>HyperText</a:t>
            </a:r>
            <a:r>
              <a:rPr lang="it-IT" sz="2800" dirty="0"/>
              <a:t> Transfer </a:t>
            </a:r>
            <a:r>
              <a:rPr lang="it-IT" sz="2800" dirty="0" err="1"/>
              <a:t>Protocol</a:t>
            </a:r>
            <a:r>
              <a:rPr lang="it-IT" sz="2800" dirty="0"/>
              <a:t> (HTTP)</a:t>
            </a:r>
          </a:p>
          <a:p>
            <a:endParaRPr lang="it-IT" sz="2800" dirty="0"/>
          </a:p>
          <a:p>
            <a:r>
              <a:rPr lang="it-IT" sz="2800" dirty="0"/>
              <a:t>Web </a:t>
            </a:r>
            <a:r>
              <a:rPr lang="it-IT" sz="2800" dirty="0" err="1"/>
              <a:t>applications</a:t>
            </a:r>
            <a:endParaRPr lang="it-IT" sz="2800" dirty="0"/>
          </a:p>
          <a:p>
            <a:endParaRPr lang="it-IT" sz="2800" dirty="0"/>
          </a:p>
          <a:p>
            <a:endParaRPr lang="it-IT" sz="2800" dirty="0"/>
          </a:p>
        </p:txBody>
      </p:sp>
      <p:sp>
        <p:nvSpPr>
          <p:cNvPr id="4" name="Segnaposto numero diapositiva 3">
            <a:extLst>
              <a:ext uri="{FF2B5EF4-FFF2-40B4-BE49-F238E27FC236}">
                <a16:creationId xmlns:a16="http://schemas.microsoft.com/office/drawing/2014/main" id="{54411CB2-DD12-5849-BC9E-329A6490FB18}"/>
              </a:ext>
            </a:extLst>
          </p:cNvPr>
          <p:cNvSpPr>
            <a:spLocks noGrp="1"/>
          </p:cNvSpPr>
          <p:nvPr>
            <p:ph type="sldNum" sz="quarter" idx="12"/>
          </p:nvPr>
        </p:nvSpPr>
        <p:spPr/>
        <p:txBody>
          <a:bodyPr/>
          <a:lstStyle/>
          <a:p>
            <a:fld id="{31DE2C5B-556E-47B8-A792-024C2FCA4ACC}" type="slidenum">
              <a:rPr lang="en-GB" smtClean="0"/>
              <a:t>2</a:t>
            </a:fld>
            <a:endParaRPr lang="en-GB"/>
          </a:p>
        </p:txBody>
      </p:sp>
      <p:sp>
        <p:nvSpPr>
          <p:cNvPr id="5" name="Cornice 4">
            <a:extLst>
              <a:ext uri="{FF2B5EF4-FFF2-40B4-BE49-F238E27FC236}">
                <a16:creationId xmlns:a16="http://schemas.microsoft.com/office/drawing/2014/main" id="{73345356-66C4-0545-8054-AE5E98D85542}"/>
              </a:ext>
            </a:extLst>
          </p:cNvPr>
          <p:cNvSpPr/>
          <p:nvPr/>
        </p:nvSpPr>
        <p:spPr>
          <a:xfrm>
            <a:off x="428172" y="1542241"/>
            <a:ext cx="6428619" cy="1053884"/>
          </a:xfrm>
          <a:prstGeom prst="frame">
            <a:avLst>
              <a:gd name="adj1" fmla="val 8088"/>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120463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HyperText</a:t>
            </a:r>
            <a:r>
              <a:rPr lang="it-IT" dirty="0"/>
              <a:t> Transfer </a:t>
            </a:r>
            <a:r>
              <a:rPr lang="it-IT" dirty="0" err="1"/>
              <a:t>Protocol</a:t>
            </a:r>
            <a:r>
              <a:rPr lang="it-IT" dirty="0"/>
              <a:t> (HTTP)</a:t>
            </a:r>
            <a:endParaRPr lang="en-GB" dirty="0"/>
          </a:p>
        </p:txBody>
      </p:sp>
      <p:sp>
        <p:nvSpPr>
          <p:cNvPr id="3" name="Segnaposto contenuto 2"/>
          <p:cNvSpPr>
            <a:spLocks noGrp="1"/>
          </p:cNvSpPr>
          <p:nvPr>
            <p:ph idx="1"/>
          </p:nvPr>
        </p:nvSpPr>
        <p:spPr>
          <a:xfrm>
            <a:off x="428171" y="1432287"/>
            <a:ext cx="11662229" cy="2823116"/>
          </a:xfrm>
        </p:spPr>
        <p:txBody>
          <a:bodyPr>
            <a:normAutofit/>
          </a:bodyPr>
          <a:lstStyle/>
          <a:p>
            <a:r>
              <a:rPr lang="en-US" b="1" dirty="0" err="1"/>
              <a:t>HyperText</a:t>
            </a:r>
            <a:r>
              <a:rPr lang="en-US" b="1" dirty="0"/>
              <a:t> Transfer Protocol (HTTP): </a:t>
            </a:r>
            <a:r>
              <a:rPr lang="en-US" dirty="0"/>
              <a:t>the main web communication protocol for exchanging information between servers and clients.</a:t>
            </a:r>
          </a:p>
          <a:p>
            <a:r>
              <a:rPr lang="en-US" dirty="0"/>
              <a:t>Simple </a:t>
            </a:r>
            <a:r>
              <a:rPr lang="en-US" b="1" dirty="0"/>
              <a:t>request-response protocol</a:t>
            </a:r>
            <a:r>
              <a:rPr lang="en-US" dirty="0"/>
              <a:t>, proper of the application layer,</a:t>
            </a:r>
            <a:r>
              <a:rPr lang="en-US" b="1" dirty="0"/>
              <a:t> </a:t>
            </a:r>
            <a:r>
              <a:rPr lang="en-US" dirty="0"/>
              <a:t>running over TCP. </a:t>
            </a:r>
          </a:p>
          <a:p>
            <a:r>
              <a:rPr lang="en-US" dirty="0"/>
              <a:t>It specifies what messages clients may send to servers and what responses they get back in return.</a:t>
            </a:r>
          </a:p>
          <a:p>
            <a:r>
              <a:rPr lang="en-US" dirty="0"/>
              <a:t>Most of Web currently use HTTP/1.1 and HTTP/2.0, which share the same syntax.</a:t>
            </a:r>
          </a:p>
        </p:txBody>
      </p:sp>
      <p:sp>
        <p:nvSpPr>
          <p:cNvPr id="5" name="Freccia a destra 4"/>
          <p:cNvSpPr/>
          <p:nvPr/>
        </p:nvSpPr>
        <p:spPr>
          <a:xfrm>
            <a:off x="1924792" y="5018578"/>
            <a:ext cx="8499763" cy="671946"/>
          </a:xfrm>
          <a:prstGeom prst="rightArrow">
            <a:avLst/>
          </a:prstGeom>
          <a:solidFill>
            <a:schemeClr val="accent6">
              <a:lumMod val="40000"/>
              <a:lumOff val="6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sellaDiTesto 5"/>
          <p:cNvSpPr txBox="1"/>
          <p:nvPr/>
        </p:nvSpPr>
        <p:spPr>
          <a:xfrm>
            <a:off x="1599188" y="5719244"/>
            <a:ext cx="1221224" cy="369332"/>
          </a:xfrm>
          <a:prstGeom prst="rect">
            <a:avLst/>
          </a:prstGeom>
          <a:noFill/>
        </p:spPr>
        <p:txBody>
          <a:bodyPr wrap="square" rtlCol="0">
            <a:spAutoFit/>
          </a:bodyPr>
          <a:lstStyle/>
          <a:p>
            <a:r>
              <a:rPr lang="it-IT" dirty="0">
                <a:latin typeface="Palatino Linotype" panose="02040502050505030304" pitchFamily="18" charset="0"/>
              </a:rPr>
              <a:t>HTTP/0.9</a:t>
            </a:r>
            <a:endParaRPr lang="en-GB" dirty="0">
              <a:latin typeface="Palatino Linotype" panose="02040502050505030304" pitchFamily="18" charset="0"/>
            </a:endParaRPr>
          </a:p>
        </p:txBody>
      </p:sp>
      <p:sp>
        <p:nvSpPr>
          <p:cNvPr id="7" name="CasellaDiTesto 6"/>
          <p:cNvSpPr txBox="1"/>
          <p:nvPr/>
        </p:nvSpPr>
        <p:spPr>
          <a:xfrm>
            <a:off x="3546104" y="5643655"/>
            <a:ext cx="1221224" cy="369332"/>
          </a:xfrm>
          <a:prstGeom prst="rect">
            <a:avLst/>
          </a:prstGeom>
          <a:noFill/>
        </p:spPr>
        <p:txBody>
          <a:bodyPr wrap="square" rtlCol="0">
            <a:spAutoFit/>
          </a:bodyPr>
          <a:lstStyle/>
          <a:p>
            <a:r>
              <a:rPr lang="it-IT" dirty="0">
                <a:latin typeface="Palatino Linotype" panose="02040502050505030304" pitchFamily="18" charset="0"/>
              </a:rPr>
              <a:t>HTTP/1.0</a:t>
            </a:r>
            <a:endParaRPr lang="en-GB" dirty="0">
              <a:latin typeface="Palatino Linotype" panose="02040502050505030304" pitchFamily="18" charset="0"/>
            </a:endParaRPr>
          </a:p>
        </p:txBody>
      </p:sp>
      <p:sp>
        <p:nvSpPr>
          <p:cNvPr id="8" name="CasellaDiTesto 7"/>
          <p:cNvSpPr txBox="1"/>
          <p:nvPr/>
        </p:nvSpPr>
        <p:spPr>
          <a:xfrm>
            <a:off x="4152914" y="5955425"/>
            <a:ext cx="1221224" cy="369332"/>
          </a:xfrm>
          <a:prstGeom prst="rect">
            <a:avLst/>
          </a:prstGeom>
          <a:noFill/>
        </p:spPr>
        <p:txBody>
          <a:bodyPr wrap="square" rtlCol="0">
            <a:spAutoFit/>
          </a:bodyPr>
          <a:lstStyle/>
          <a:p>
            <a:r>
              <a:rPr lang="it-IT" dirty="0">
                <a:latin typeface="Palatino Linotype" panose="02040502050505030304" pitchFamily="18" charset="0"/>
              </a:rPr>
              <a:t>HTTP/1.1</a:t>
            </a:r>
            <a:endParaRPr lang="en-GB" dirty="0">
              <a:latin typeface="Palatino Linotype" panose="02040502050505030304" pitchFamily="18" charset="0"/>
            </a:endParaRPr>
          </a:p>
        </p:txBody>
      </p:sp>
      <p:sp>
        <p:nvSpPr>
          <p:cNvPr id="9" name="CasellaDiTesto 8"/>
          <p:cNvSpPr txBox="1"/>
          <p:nvPr/>
        </p:nvSpPr>
        <p:spPr>
          <a:xfrm>
            <a:off x="6985329" y="5695337"/>
            <a:ext cx="1221224" cy="369332"/>
          </a:xfrm>
          <a:prstGeom prst="rect">
            <a:avLst/>
          </a:prstGeom>
          <a:noFill/>
        </p:spPr>
        <p:txBody>
          <a:bodyPr wrap="square" rtlCol="0">
            <a:spAutoFit/>
          </a:bodyPr>
          <a:lstStyle/>
          <a:p>
            <a:r>
              <a:rPr lang="it-IT" dirty="0">
                <a:latin typeface="Palatino Linotype" panose="02040502050505030304" pitchFamily="18" charset="0"/>
              </a:rPr>
              <a:t>HTTP/2.0</a:t>
            </a:r>
            <a:endParaRPr lang="en-GB" dirty="0">
              <a:latin typeface="Palatino Linotype" panose="02040502050505030304" pitchFamily="18" charset="0"/>
            </a:endParaRPr>
          </a:p>
        </p:txBody>
      </p:sp>
      <p:sp>
        <p:nvSpPr>
          <p:cNvPr id="10" name="CasellaDiTesto 9"/>
          <p:cNvSpPr txBox="1"/>
          <p:nvPr/>
        </p:nvSpPr>
        <p:spPr>
          <a:xfrm>
            <a:off x="8594620" y="5689070"/>
            <a:ext cx="1221224" cy="369332"/>
          </a:xfrm>
          <a:prstGeom prst="rect">
            <a:avLst/>
          </a:prstGeom>
          <a:noFill/>
        </p:spPr>
        <p:txBody>
          <a:bodyPr wrap="square" rtlCol="0">
            <a:spAutoFit/>
          </a:bodyPr>
          <a:lstStyle/>
          <a:p>
            <a:r>
              <a:rPr lang="it-IT" dirty="0">
                <a:latin typeface="Palatino Linotype" panose="02040502050505030304" pitchFamily="18" charset="0"/>
              </a:rPr>
              <a:t>HTTP/3.0</a:t>
            </a:r>
            <a:endParaRPr lang="en-GB" dirty="0">
              <a:latin typeface="Palatino Linotype" panose="02040502050505030304" pitchFamily="18" charset="0"/>
            </a:endParaRPr>
          </a:p>
        </p:txBody>
      </p:sp>
      <p:cxnSp>
        <p:nvCxnSpPr>
          <p:cNvPr id="12" name="Connettore diritto 11"/>
          <p:cNvCxnSpPr/>
          <p:nvPr/>
        </p:nvCxnSpPr>
        <p:spPr>
          <a:xfrm>
            <a:off x="2209800" y="5032585"/>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asellaDiTesto 13"/>
          <p:cNvSpPr txBox="1"/>
          <p:nvPr/>
        </p:nvSpPr>
        <p:spPr>
          <a:xfrm>
            <a:off x="1924792" y="4716301"/>
            <a:ext cx="797648" cy="369332"/>
          </a:xfrm>
          <a:prstGeom prst="rect">
            <a:avLst/>
          </a:prstGeom>
          <a:noFill/>
        </p:spPr>
        <p:txBody>
          <a:bodyPr wrap="square" rtlCol="0">
            <a:spAutoFit/>
          </a:bodyPr>
          <a:lstStyle/>
          <a:p>
            <a:r>
              <a:rPr lang="it-IT" dirty="0">
                <a:latin typeface="Palatino Linotype" panose="02040502050505030304" pitchFamily="18" charset="0"/>
              </a:rPr>
              <a:t>1991</a:t>
            </a:r>
            <a:endParaRPr lang="en-GB" dirty="0">
              <a:latin typeface="Palatino Linotype" panose="02040502050505030304" pitchFamily="18" charset="0"/>
            </a:endParaRPr>
          </a:p>
        </p:txBody>
      </p:sp>
      <p:cxnSp>
        <p:nvCxnSpPr>
          <p:cNvPr id="15" name="Connettore diritto 14"/>
          <p:cNvCxnSpPr/>
          <p:nvPr/>
        </p:nvCxnSpPr>
        <p:spPr>
          <a:xfrm>
            <a:off x="4156716" y="5042316"/>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asellaDiTesto 15"/>
          <p:cNvSpPr txBox="1"/>
          <p:nvPr/>
        </p:nvSpPr>
        <p:spPr>
          <a:xfrm>
            <a:off x="3833969" y="4716301"/>
            <a:ext cx="797648" cy="369332"/>
          </a:xfrm>
          <a:prstGeom prst="rect">
            <a:avLst/>
          </a:prstGeom>
          <a:noFill/>
        </p:spPr>
        <p:txBody>
          <a:bodyPr wrap="square" rtlCol="0">
            <a:spAutoFit/>
          </a:bodyPr>
          <a:lstStyle/>
          <a:p>
            <a:r>
              <a:rPr lang="it-IT" dirty="0">
                <a:latin typeface="Palatino Linotype" panose="02040502050505030304" pitchFamily="18" charset="0"/>
              </a:rPr>
              <a:t>1996</a:t>
            </a:r>
            <a:endParaRPr lang="en-GB" dirty="0">
              <a:latin typeface="Palatino Linotype" panose="02040502050505030304" pitchFamily="18" charset="0"/>
            </a:endParaRPr>
          </a:p>
        </p:txBody>
      </p:sp>
      <p:cxnSp>
        <p:nvCxnSpPr>
          <p:cNvPr id="17" name="Connettore diritto 16"/>
          <p:cNvCxnSpPr>
            <a:endCxn id="8" idx="0"/>
          </p:cNvCxnSpPr>
          <p:nvPr/>
        </p:nvCxnSpPr>
        <p:spPr>
          <a:xfrm>
            <a:off x="4763526" y="5042316"/>
            <a:ext cx="0" cy="913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asellaDiTesto 19"/>
          <p:cNvSpPr txBox="1"/>
          <p:nvPr/>
        </p:nvSpPr>
        <p:spPr>
          <a:xfrm>
            <a:off x="4422437" y="4729303"/>
            <a:ext cx="797648" cy="369332"/>
          </a:xfrm>
          <a:prstGeom prst="rect">
            <a:avLst/>
          </a:prstGeom>
          <a:noFill/>
        </p:spPr>
        <p:txBody>
          <a:bodyPr wrap="square" rtlCol="0">
            <a:spAutoFit/>
          </a:bodyPr>
          <a:lstStyle/>
          <a:p>
            <a:r>
              <a:rPr lang="it-IT" dirty="0">
                <a:latin typeface="Palatino Linotype" panose="02040502050505030304" pitchFamily="18" charset="0"/>
              </a:rPr>
              <a:t>1997</a:t>
            </a:r>
            <a:endParaRPr lang="en-GB" dirty="0">
              <a:latin typeface="Palatino Linotype" panose="02040502050505030304" pitchFamily="18" charset="0"/>
            </a:endParaRPr>
          </a:p>
        </p:txBody>
      </p:sp>
      <p:cxnSp>
        <p:nvCxnSpPr>
          <p:cNvPr id="22" name="Connettore diritto 21"/>
          <p:cNvCxnSpPr/>
          <p:nvPr/>
        </p:nvCxnSpPr>
        <p:spPr>
          <a:xfrm>
            <a:off x="7525193" y="5031113"/>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ttore diritto 22"/>
          <p:cNvCxnSpPr/>
          <p:nvPr/>
        </p:nvCxnSpPr>
        <p:spPr>
          <a:xfrm>
            <a:off x="9173884" y="5031113"/>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asellaDiTesto 23"/>
          <p:cNvSpPr txBox="1"/>
          <p:nvPr/>
        </p:nvSpPr>
        <p:spPr>
          <a:xfrm>
            <a:off x="7197117" y="4716301"/>
            <a:ext cx="797648" cy="369332"/>
          </a:xfrm>
          <a:prstGeom prst="rect">
            <a:avLst/>
          </a:prstGeom>
          <a:noFill/>
        </p:spPr>
        <p:txBody>
          <a:bodyPr wrap="square" rtlCol="0">
            <a:spAutoFit/>
          </a:bodyPr>
          <a:lstStyle/>
          <a:p>
            <a:r>
              <a:rPr lang="it-IT" dirty="0">
                <a:latin typeface="Palatino Linotype" panose="02040502050505030304" pitchFamily="18" charset="0"/>
              </a:rPr>
              <a:t>2015</a:t>
            </a:r>
            <a:endParaRPr lang="en-GB" dirty="0">
              <a:latin typeface="Palatino Linotype" panose="02040502050505030304" pitchFamily="18" charset="0"/>
            </a:endParaRPr>
          </a:p>
        </p:txBody>
      </p:sp>
      <p:sp>
        <p:nvSpPr>
          <p:cNvPr id="25" name="CasellaDiTesto 24"/>
          <p:cNvSpPr txBox="1"/>
          <p:nvPr/>
        </p:nvSpPr>
        <p:spPr>
          <a:xfrm>
            <a:off x="8869308" y="4729456"/>
            <a:ext cx="797648" cy="369332"/>
          </a:xfrm>
          <a:prstGeom prst="rect">
            <a:avLst/>
          </a:prstGeom>
          <a:noFill/>
        </p:spPr>
        <p:txBody>
          <a:bodyPr wrap="square" rtlCol="0">
            <a:spAutoFit/>
          </a:bodyPr>
          <a:lstStyle/>
          <a:p>
            <a:r>
              <a:rPr lang="it-IT" dirty="0">
                <a:latin typeface="Palatino Linotype" panose="02040502050505030304" pitchFamily="18" charset="0"/>
              </a:rPr>
              <a:t>2020</a:t>
            </a:r>
            <a:endParaRPr lang="en-GB" dirty="0">
              <a:latin typeface="Palatino Linotype" panose="02040502050505030304" pitchFamily="18"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125082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a:t>
            </a:r>
            <a:r>
              <a:rPr lang="it-IT" dirty="0"/>
              <a:t> </a:t>
            </a:r>
            <a:r>
              <a:rPr lang="it-IT" dirty="0" err="1"/>
              <a:t>structure</a:t>
            </a:r>
            <a:r>
              <a:rPr lang="it-IT" dirty="0"/>
              <a:t> (HTTP/1.1)</a:t>
            </a:r>
            <a:endParaRPr lang="en-GB" dirty="0"/>
          </a:p>
        </p:txBody>
      </p:sp>
      <p:sp>
        <p:nvSpPr>
          <p:cNvPr id="3" name="Segnaposto contenuto 2"/>
          <p:cNvSpPr>
            <a:spLocks noGrp="1"/>
          </p:cNvSpPr>
          <p:nvPr>
            <p:ph idx="1"/>
          </p:nvPr>
        </p:nvSpPr>
        <p:spPr>
          <a:xfrm>
            <a:off x="428172" y="1265805"/>
            <a:ext cx="11368314" cy="628971"/>
          </a:xfrm>
        </p:spPr>
        <p:txBody>
          <a:bodyPr/>
          <a:lstStyle/>
          <a:p>
            <a:r>
              <a:rPr lang="en-US" dirty="0"/>
              <a:t>Each </a:t>
            </a:r>
            <a:r>
              <a:rPr lang="en-US" b="1" dirty="0"/>
              <a:t>request</a:t>
            </a:r>
            <a:r>
              <a:rPr lang="en-US" dirty="0"/>
              <a:t> consists of one or more lines of ASCII text</a:t>
            </a:r>
          </a:p>
        </p:txBody>
      </p:sp>
      <p:sp>
        <p:nvSpPr>
          <p:cNvPr id="4" name="CasellaDiTesto 3"/>
          <p:cNvSpPr txBox="1"/>
          <p:nvPr/>
        </p:nvSpPr>
        <p:spPr>
          <a:xfrm>
            <a:off x="7474036" y="2792109"/>
            <a:ext cx="4717964" cy="707886"/>
          </a:xfrm>
          <a:prstGeom prst="rect">
            <a:avLst/>
          </a:prstGeom>
          <a:noFill/>
        </p:spPr>
        <p:txBody>
          <a:bodyPr wrap="square" rtlCol="0">
            <a:spAutoFit/>
          </a:bodyPr>
          <a:lstStyle/>
          <a:p>
            <a:r>
              <a:rPr lang="en-US" sz="2000" dirty="0">
                <a:latin typeface="Aptos" panose="020B0004020202020204" pitchFamily="34" charset="0"/>
              </a:rPr>
              <a:t>Name of the protocol version</a:t>
            </a:r>
          </a:p>
          <a:p>
            <a:r>
              <a:rPr lang="en-US" sz="2000" dirty="0">
                <a:latin typeface="Aptos" panose="020B0004020202020204" pitchFamily="34" charset="0"/>
              </a:rPr>
              <a:t>(e.g. HTTP/1.1)</a:t>
            </a:r>
          </a:p>
        </p:txBody>
      </p:sp>
      <p:sp>
        <p:nvSpPr>
          <p:cNvPr id="5" name="CasellaDiTesto 4"/>
          <p:cNvSpPr txBox="1"/>
          <p:nvPr/>
        </p:nvSpPr>
        <p:spPr>
          <a:xfrm>
            <a:off x="5492621" y="2432916"/>
            <a:ext cx="4565779" cy="400110"/>
          </a:xfrm>
          <a:prstGeom prst="rect">
            <a:avLst/>
          </a:prstGeom>
          <a:noFill/>
        </p:spPr>
        <p:txBody>
          <a:bodyPr wrap="square" rtlCol="0">
            <a:spAutoFit/>
          </a:bodyPr>
          <a:lstStyle/>
          <a:p>
            <a:r>
              <a:rPr lang="en-US" sz="2000" dirty="0">
                <a:latin typeface="Aptos" panose="020B0004020202020204" pitchFamily="34" charset="0"/>
              </a:rPr>
              <a:t>Name of the resource in the server</a:t>
            </a:r>
          </a:p>
        </p:txBody>
      </p:sp>
      <p:cxnSp>
        <p:nvCxnSpPr>
          <p:cNvPr id="6" name="Connettore 2 5"/>
          <p:cNvCxnSpPr/>
          <p:nvPr/>
        </p:nvCxnSpPr>
        <p:spPr>
          <a:xfrm flipV="1">
            <a:off x="4934973" y="2632561"/>
            <a:ext cx="586064" cy="2454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ttore 2 6"/>
          <p:cNvCxnSpPr>
            <a:cxnSpLocks/>
          </p:cNvCxnSpPr>
          <p:nvPr/>
        </p:nvCxnSpPr>
        <p:spPr>
          <a:xfrm flipV="1">
            <a:off x="6623824" y="3038430"/>
            <a:ext cx="78786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Rettangolo 7"/>
          <p:cNvSpPr/>
          <p:nvPr/>
        </p:nvSpPr>
        <p:spPr>
          <a:xfrm>
            <a:off x="2443302" y="2792109"/>
            <a:ext cx="4061689" cy="461665"/>
          </a:xfrm>
          <a:prstGeom prst="rect">
            <a:avLst/>
          </a:prstGeom>
        </p:spPr>
        <p:txBody>
          <a:bodyPr wrap="none">
            <a:spAutoFit/>
          </a:bodyPr>
          <a:lstStyle/>
          <a:p>
            <a:r>
              <a:rPr lang="en-US" sz="2400" b="1" dirty="0">
                <a:latin typeface="Aptos" panose="020B0004020202020204" pitchFamily="34" charset="0"/>
              </a:rPr>
              <a:t>METHOD resource protocol </a:t>
            </a:r>
          </a:p>
        </p:txBody>
      </p:sp>
      <p:sp>
        <p:nvSpPr>
          <p:cNvPr id="10" name="CasellaDiTesto 9"/>
          <p:cNvSpPr txBox="1"/>
          <p:nvPr/>
        </p:nvSpPr>
        <p:spPr>
          <a:xfrm>
            <a:off x="2740919" y="1800006"/>
            <a:ext cx="4180522" cy="707886"/>
          </a:xfrm>
          <a:prstGeom prst="rect">
            <a:avLst/>
          </a:prstGeom>
          <a:noFill/>
        </p:spPr>
        <p:txBody>
          <a:bodyPr wrap="square" rtlCol="0">
            <a:spAutoFit/>
          </a:bodyPr>
          <a:lstStyle/>
          <a:p>
            <a:r>
              <a:rPr lang="en-US" sz="2000" dirty="0">
                <a:latin typeface="Aptos" panose="020B0004020202020204" pitchFamily="34" charset="0"/>
              </a:rPr>
              <a:t>Case-sensitive name of the method (type of the request)</a:t>
            </a:r>
          </a:p>
        </p:txBody>
      </p:sp>
      <p:cxnSp>
        <p:nvCxnSpPr>
          <p:cNvPr id="11" name="Connettore 2 10"/>
          <p:cNvCxnSpPr/>
          <p:nvPr/>
        </p:nvCxnSpPr>
        <p:spPr>
          <a:xfrm flipV="1">
            <a:off x="3340180" y="2544009"/>
            <a:ext cx="76708" cy="27443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ttangolo 17"/>
          <p:cNvSpPr/>
          <p:nvPr/>
        </p:nvSpPr>
        <p:spPr>
          <a:xfrm>
            <a:off x="2438777" y="3754721"/>
            <a:ext cx="2682850" cy="461665"/>
          </a:xfrm>
          <a:prstGeom prst="rect">
            <a:avLst/>
          </a:prstGeom>
        </p:spPr>
        <p:txBody>
          <a:bodyPr wrap="none">
            <a:spAutoFit/>
          </a:bodyPr>
          <a:lstStyle/>
          <a:p>
            <a:r>
              <a:rPr lang="en-US" sz="2400" b="1" dirty="0">
                <a:latin typeface="Aptos" panose="020B0004020202020204" pitchFamily="34" charset="0"/>
              </a:rPr>
              <a:t>Host: </a:t>
            </a:r>
            <a:r>
              <a:rPr lang="en-US" sz="2400" b="1" dirty="0" err="1">
                <a:latin typeface="Aptos" panose="020B0004020202020204" pitchFamily="34" charset="0"/>
              </a:rPr>
              <a:t>servername</a:t>
            </a:r>
            <a:endParaRPr lang="en-US" sz="2400" b="1" dirty="0">
              <a:latin typeface="Aptos" panose="020B0004020202020204" pitchFamily="34" charset="0"/>
            </a:endParaRPr>
          </a:p>
        </p:txBody>
      </p:sp>
      <p:sp>
        <p:nvSpPr>
          <p:cNvPr id="19" name="Rettangolo 18"/>
          <p:cNvSpPr/>
          <p:nvPr/>
        </p:nvSpPr>
        <p:spPr>
          <a:xfrm>
            <a:off x="746258" y="5689213"/>
            <a:ext cx="3863558"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body (payload):</a:t>
            </a:r>
          </a:p>
        </p:txBody>
      </p:sp>
      <p:cxnSp>
        <p:nvCxnSpPr>
          <p:cNvPr id="22" name="Connettore 2 21"/>
          <p:cNvCxnSpPr>
            <a:cxnSpLocks/>
            <a:stCxn id="18" idx="3"/>
          </p:cNvCxnSpPr>
          <p:nvPr/>
        </p:nvCxnSpPr>
        <p:spPr>
          <a:xfrm flipV="1">
            <a:off x="5121627" y="3985553"/>
            <a:ext cx="601212"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5839199" y="3596365"/>
            <a:ext cx="5874819" cy="1015663"/>
          </a:xfrm>
          <a:prstGeom prst="rect">
            <a:avLst/>
          </a:prstGeom>
          <a:noFill/>
        </p:spPr>
        <p:txBody>
          <a:bodyPr wrap="square" rtlCol="0">
            <a:spAutoFit/>
          </a:bodyPr>
          <a:lstStyle/>
          <a:p>
            <a:r>
              <a:rPr lang="en-US" sz="2000" dirty="0">
                <a:latin typeface="Aptos" panose="020B0004020202020204" pitchFamily="34" charset="0"/>
              </a:rPr>
              <a:t>Additional information related to the request.</a:t>
            </a:r>
          </a:p>
          <a:p>
            <a:r>
              <a:rPr lang="en-US" sz="2000" dirty="0">
                <a:latin typeface="Aptos" panose="020B0004020202020204" pitchFamily="34" charset="0"/>
              </a:rPr>
              <a:t>In HTTP/1.1 there must be at least one header containing the DNS name of the server.</a:t>
            </a:r>
          </a:p>
        </p:txBody>
      </p:sp>
      <p:sp>
        <p:nvSpPr>
          <p:cNvPr id="24" name="Rettangolo 23"/>
          <p:cNvSpPr/>
          <p:nvPr/>
        </p:nvSpPr>
        <p:spPr>
          <a:xfrm>
            <a:off x="744663" y="2356777"/>
            <a:ext cx="1805302"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First line:</a:t>
            </a:r>
          </a:p>
        </p:txBody>
      </p:sp>
      <p:sp>
        <p:nvSpPr>
          <p:cNvPr id="25" name="Rettangolo 24"/>
          <p:cNvSpPr/>
          <p:nvPr/>
        </p:nvSpPr>
        <p:spPr>
          <a:xfrm>
            <a:off x="746258" y="3251711"/>
            <a:ext cx="2842445"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headers:</a:t>
            </a:r>
          </a:p>
        </p:txBody>
      </p:sp>
      <p:sp>
        <p:nvSpPr>
          <p:cNvPr id="27" name="Rettangolo 26"/>
          <p:cNvSpPr/>
          <p:nvPr/>
        </p:nvSpPr>
        <p:spPr>
          <a:xfrm>
            <a:off x="744663" y="4961796"/>
            <a:ext cx="1925527"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Empty line</a:t>
            </a:r>
          </a:p>
        </p:txBody>
      </p:sp>
      <p:sp>
        <p:nvSpPr>
          <p:cNvPr id="28" name="Rettangolo 27"/>
          <p:cNvSpPr/>
          <p:nvPr/>
        </p:nvSpPr>
        <p:spPr>
          <a:xfrm>
            <a:off x="2438777" y="6192223"/>
            <a:ext cx="3603872" cy="461665"/>
          </a:xfrm>
          <a:prstGeom prst="rect">
            <a:avLst/>
          </a:prstGeom>
        </p:spPr>
        <p:txBody>
          <a:bodyPr wrap="none">
            <a:spAutoFit/>
          </a:bodyPr>
          <a:lstStyle/>
          <a:p>
            <a:r>
              <a:rPr lang="en-US" sz="2400" b="1" dirty="0">
                <a:latin typeface="Aptos" panose="020B0004020202020204" pitchFamily="34" charset="0"/>
              </a:rPr>
              <a:t>Optional message body</a:t>
            </a:r>
          </a:p>
        </p:txBody>
      </p:sp>
      <p:sp>
        <p:nvSpPr>
          <p:cNvPr id="29" name="Rettangolo 28"/>
          <p:cNvSpPr/>
          <p:nvPr/>
        </p:nvSpPr>
        <p:spPr>
          <a:xfrm>
            <a:off x="2434770" y="4420885"/>
            <a:ext cx="3509294" cy="461665"/>
          </a:xfrm>
          <a:prstGeom prst="rect">
            <a:avLst/>
          </a:prstGeom>
        </p:spPr>
        <p:txBody>
          <a:bodyPr wrap="none">
            <a:spAutoFit/>
          </a:bodyPr>
          <a:lstStyle/>
          <a:p>
            <a:r>
              <a:rPr lang="en-US" sz="2400" b="1" dirty="0">
                <a:latin typeface="Aptos" panose="020B0004020202020204" pitchFamily="34" charset="0"/>
              </a:rPr>
              <a:t>Other optional headers </a:t>
            </a:r>
          </a:p>
        </p:txBody>
      </p:sp>
      <p:sp>
        <p:nvSpPr>
          <p:cNvPr id="9" name="Segnaposto numero diapositiva 8"/>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3509834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HTTP </a:t>
            </a:r>
            <a:r>
              <a:rPr lang="it-IT" dirty="0" err="1"/>
              <a:t>methods</a:t>
            </a:r>
            <a:endParaRPr lang="en-GB" dirty="0"/>
          </a:p>
        </p:txBody>
      </p:sp>
      <p:sp>
        <p:nvSpPr>
          <p:cNvPr id="3" name="Segnaposto contenuto 2"/>
          <p:cNvSpPr>
            <a:spLocks noGrp="1"/>
          </p:cNvSpPr>
          <p:nvPr>
            <p:ph idx="1"/>
          </p:nvPr>
        </p:nvSpPr>
        <p:spPr>
          <a:xfrm>
            <a:off x="428172" y="1361168"/>
            <a:ext cx="11368314" cy="647742"/>
          </a:xfrm>
        </p:spPr>
        <p:txBody>
          <a:bodyPr/>
          <a:lstStyle/>
          <a:p>
            <a:r>
              <a:rPr lang="it-IT" dirty="0"/>
              <a:t>HTTP </a:t>
            </a:r>
            <a:r>
              <a:rPr lang="it-IT" dirty="0" err="1"/>
              <a:t>methods</a:t>
            </a:r>
            <a:r>
              <a:rPr lang="it-IT" dirty="0"/>
              <a:t> indicate the </a:t>
            </a:r>
            <a:r>
              <a:rPr lang="it-IT" b="1" dirty="0" err="1"/>
              <a:t>desired</a:t>
            </a:r>
            <a:r>
              <a:rPr lang="it-IT" b="1" dirty="0"/>
              <a:t> action </a:t>
            </a:r>
            <a:r>
              <a:rPr lang="it-IT" dirty="0"/>
              <a:t>to be </a:t>
            </a:r>
            <a:r>
              <a:rPr lang="it-IT" dirty="0" err="1"/>
              <a:t>performed</a:t>
            </a:r>
            <a:r>
              <a:rPr lang="it-IT" dirty="0"/>
              <a:t> for a </a:t>
            </a:r>
            <a:r>
              <a:rPr lang="it-IT" dirty="0" err="1"/>
              <a:t>given</a:t>
            </a:r>
            <a:r>
              <a:rPr lang="it-IT" dirty="0"/>
              <a:t> </a:t>
            </a:r>
            <a:r>
              <a:rPr lang="it-IT" dirty="0" err="1"/>
              <a:t>resource</a:t>
            </a:r>
            <a:endParaRPr lang="it-IT" dirty="0"/>
          </a:p>
          <a:p>
            <a:endParaRPr lang="en-GB" dirty="0"/>
          </a:p>
        </p:txBody>
      </p:sp>
      <p:graphicFrame>
        <p:nvGraphicFramePr>
          <p:cNvPr id="4" name="Tabella 3"/>
          <p:cNvGraphicFramePr>
            <a:graphicFrameLocks noGrp="1"/>
          </p:cNvGraphicFramePr>
          <p:nvPr>
            <p:extLst>
              <p:ext uri="{D42A27DB-BD31-4B8C-83A1-F6EECF244321}">
                <p14:modId xmlns:p14="http://schemas.microsoft.com/office/powerpoint/2010/main" val="2777693925"/>
              </p:ext>
            </p:extLst>
          </p:nvPr>
        </p:nvGraphicFramePr>
        <p:xfrm>
          <a:off x="815007" y="1845659"/>
          <a:ext cx="10315448" cy="4876800"/>
        </p:xfrm>
        <a:graphic>
          <a:graphicData uri="http://schemas.openxmlformats.org/drawingml/2006/table">
            <a:tbl>
              <a:tblPr firstRow="1" bandRow="1">
                <a:tableStyleId>{93296810-A885-4BE3-A3E7-6D5BEEA58F35}</a:tableStyleId>
              </a:tblPr>
              <a:tblGrid>
                <a:gridCol w="3960938">
                  <a:extLst>
                    <a:ext uri="{9D8B030D-6E8A-4147-A177-3AD203B41FA5}">
                      <a16:colId xmlns:a16="http://schemas.microsoft.com/office/drawing/2014/main" val="3915886180"/>
                    </a:ext>
                  </a:extLst>
                </a:gridCol>
                <a:gridCol w="6354510">
                  <a:extLst>
                    <a:ext uri="{9D8B030D-6E8A-4147-A177-3AD203B41FA5}">
                      <a16:colId xmlns:a16="http://schemas.microsoft.com/office/drawing/2014/main" val="1076490094"/>
                    </a:ext>
                  </a:extLst>
                </a:gridCol>
              </a:tblGrid>
              <a:tr h="370840">
                <a:tc>
                  <a:txBody>
                    <a:bodyPr/>
                    <a:lstStyle/>
                    <a:p>
                      <a:pPr algn="ctr"/>
                      <a:r>
                        <a:rPr lang="en-US" sz="2000" noProof="0" dirty="0">
                          <a:latin typeface="Aptos" panose="020B0004020202020204" pitchFamily="34" charset="0"/>
                        </a:rPr>
                        <a:t>Method</a:t>
                      </a:r>
                    </a:p>
                  </a:txBody>
                  <a:tcPr/>
                </a:tc>
                <a:tc>
                  <a:txBody>
                    <a:bodyPr/>
                    <a:lstStyle/>
                    <a:p>
                      <a:pPr algn="ctr"/>
                      <a:r>
                        <a:rPr lang="en-US" sz="2000" noProof="0" dirty="0">
                          <a:latin typeface="Aptos" panose="020B0004020202020204" pitchFamily="34" charset="0"/>
                        </a:rPr>
                        <a:t>Desired action</a:t>
                      </a:r>
                    </a:p>
                  </a:txBody>
                  <a:tcPr/>
                </a:tc>
                <a:extLst>
                  <a:ext uri="{0D108BD9-81ED-4DB2-BD59-A6C34878D82A}">
                    <a16:rowId xmlns:a16="http://schemas.microsoft.com/office/drawing/2014/main" val="2268543967"/>
                  </a:ext>
                </a:extLst>
              </a:tr>
              <a:tr h="370840">
                <a:tc>
                  <a:txBody>
                    <a:bodyPr/>
                    <a:lstStyle/>
                    <a:p>
                      <a:r>
                        <a:rPr lang="en-US" sz="2000" b="1" noProof="0" dirty="0">
                          <a:latin typeface="Aptos" panose="020B0004020202020204" pitchFamily="34" charset="0"/>
                        </a:rPr>
                        <a:t>GET</a:t>
                      </a:r>
                    </a:p>
                  </a:txBody>
                  <a:tcPr/>
                </a:tc>
                <a:tc>
                  <a:txBody>
                    <a:bodyPr/>
                    <a:lstStyle/>
                    <a:p>
                      <a:r>
                        <a:rPr lang="en-US" sz="2000" noProof="0" dirty="0">
                          <a:latin typeface="Aptos" panose="020B0004020202020204" pitchFamily="34" charset="0"/>
                        </a:rPr>
                        <a:t>Retrieves a resource</a:t>
                      </a:r>
                    </a:p>
                  </a:txBody>
                  <a:tcPr/>
                </a:tc>
                <a:extLst>
                  <a:ext uri="{0D108BD9-81ED-4DB2-BD59-A6C34878D82A}">
                    <a16:rowId xmlns:a16="http://schemas.microsoft.com/office/drawing/2014/main" val="2940816688"/>
                  </a:ext>
                </a:extLst>
              </a:tr>
              <a:tr h="370840">
                <a:tc>
                  <a:txBody>
                    <a:bodyPr/>
                    <a:lstStyle/>
                    <a:p>
                      <a:r>
                        <a:rPr lang="en-US" sz="2000" b="1" noProof="0" dirty="0">
                          <a:latin typeface="Aptos" panose="020B0004020202020204" pitchFamily="34" charset="0"/>
                        </a:rPr>
                        <a:t>HEAD</a:t>
                      </a:r>
                    </a:p>
                  </a:txBody>
                  <a:tcPr/>
                </a:tc>
                <a:tc>
                  <a:txBody>
                    <a:bodyPr/>
                    <a:lstStyle/>
                    <a:p>
                      <a:r>
                        <a:rPr lang="en-US" sz="2000" noProof="0" dirty="0">
                          <a:latin typeface="Aptos" panose="020B0004020202020204" pitchFamily="34" charset="0"/>
                        </a:rPr>
                        <a:t>Retrieves a resource header</a:t>
                      </a:r>
                    </a:p>
                  </a:txBody>
                  <a:tcPr/>
                </a:tc>
                <a:extLst>
                  <a:ext uri="{0D108BD9-81ED-4DB2-BD59-A6C34878D82A}">
                    <a16:rowId xmlns:a16="http://schemas.microsoft.com/office/drawing/2014/main" val="3106698758"/>
                  </a:ext>
                </a:extLst>
              </a:tr>
              <a:tr h="370840">
                <a:tc>
                  <a:txBody>
                    <a:bodyPr/>
                    <a:lstStyle/>
                    <a:p>
                      <a:r>
                        <a:rPr lang="en-US" sz="2000" b="1" noProof="0" dirty="0">
                          <a:latin typeface="Aptos" panose="020B0004020202020204" pitchFamily="34" charset="0"/>
                        </a:rPr>
                        <a:t>POST</a:t>
                      </a:r>
                    </a:p>
                  </a:txBody>
                  <a:tcPr/>
                </a:tc>
                <a:tc>
                  <a:txBody>
                    <a:bodyPr/>
                    <a:lstStyle/>
                    <a:p>
                      <a:r>
                        <a:rPr lang="en-US" sz="2000" noProof="0" dirty="0">
                          <a:latin typeface="Aptos" panose="020B0004020202020204" pitchFamily="34" charset="0"/>
                        </a:rPr>
                        <a:t>Submits an entity to the specified resource (causes a change of server state)</a:t>
                      </a:r>
                    </a:p>
                  </a:txBody>
                  <a:tcPr/>
                </a:tc>
                <a:extLst>
                  <a:ext uri="{0D108BD9-81ED-4DB2-BD59-A6C34878D82A}">
                    <a16:rowId xmlns:a16="http://schemas.microsoft.com/office/drawing/2014/main" val="1578774446"/>
                  </a:ext>
                </a:extLst>
              </a:tr>
              <a:tr h="370840">
                <a:tc>
                  <a:txBody>
                    <a:bodyPr/>
                    <a:lstStyle/>
                    <a:p>
                      <a:r>
                        <a:rPr lang="en-US" sz="2000" b="1" noProof="0" dirty="0">
                          <a:latin typeface="Aptos" panose="020B0004020202020204" pitchFamily="34" charset="0"/>
                        </a:rPr>
                        <a:t>PUT</a:t>
                      </a:r>
                    </a:p>
                  </a:txBody>
                  <a:tcPr/>
                </a:tc>
                <a:tc>
                  <a:txBody>
                    <a:bodyPr/>
                    <a:lstStyle/>
                    <a:p>
                      <a:r>
                        <a:rPr lang="en-US" sz="2000" baseline="0" noProof="0" dirty="0">
                          <a:latin typeface="Aptos" panose="020B0004020202020204" pitchFamily="34" charset="0"/>
                        </a:rPr>
                        <a:t>Replaces all current representations of the target resource with the request payload.</a:t>
                      </a:r>
                      <a:endParaRPr lang="en-US" sz="2000" noProof="0" dirty="0">
                        <a:latin typeface="Aptos" panose="020B0004020202020204" pitchFamily="34" charset="0"/>
                      </a:endParaRPr>
                    </a:p>
                  </a:txBody>
                  <a:tcPr/>
                </a:tc>
                <a:extLst>
                  <a:ext uri="{0D108BD9-81ED-4DB2-BD59-A6C34878D82A}">
                    <a16:rowId xmlns:a16="http://schemas.microsoft.com/office/drawing/2014/main" val="1498557482"/>
                  </a:ext>
                </a:extLst>
              </a:tr>
              <a:tr h="370840">
                <a:tc>
                  <a:txBody>
                    <a:bodyPr/>
                    <a:lstStyle/>
                    <a:p>
                      <a:r>
                        <a:rPr lang="en-US" sz="2000" b="1" noProof="0" dirty="0">
                          <a:latin typeface="Aptos" panose="020B0004020202020204" pitchFamily="34" charset="0"/>
                        </a:rPr>
                        <a:t>DELETE</a:t>
                      </a:r>
                    </a:p>
                  </a:txBody>
                  <a:tcPr/>
                </a:tc>
                <a:tc>
                  <a:txBody>
                    <a:bodyPr/>
                    <a:lstStyle/>
                    <a:p>
                      <a:r>
                        <a:rPr lang="en-US" sz="2000" noProof="0" dirty="0">
                          <a:latin typeface="Aptos" panose="020B0004020202020204" pitchFamily="34" charset="0"/>
                        </a:rPr>
                        <a:t>Deletes a resource</a:t>
                      </a:r>
                    </a:p>
                  </a:txBody>
                  <a:tcPr/>
                </a:tc>
                <a:extLst>
                  <a:ext uri="{0D108BD9-81ED-4DB2-BD59-A6C34878D82A}">
                    <a16:rowId xmlns:a16="http://schemas.microsoft.com/office/drawing/2014/main" val="3867014418"/>
                  </a:ext>
                </a:extLst>
              </a:tr>
              <a:tr h="370840">
                <a:tc>
                  <a:txBody>
                    <a:bodyPr/>
                    <a:lstStyle/>
                    <a:p>
                      <a:r>
                        <a:rPr lang="en-US" sz="2000" b="1" noProof="0" dirty="0">
                          <a:latin typeface="Aptos" panose="020B0004020202020204" pitchFamily="34" charset="0"/>
                        </a:rPr>
                        <a:t>TRACE</a:t>
                      </a:r>
                    </a:p>
                  </a:txBody>
                  <a:tcPr/>
                </a:tc>
                <a:tc>
                  <a:txBody>
                    <a:bodyPr/>
                    <a:lstStyle/>
                    <a:p>
                      <a:r>
                        <a:rPr lang="en-US" sz="2000" noProof="0" dirty="0">
                          <a:latin typeface="Aptos" panose="020B0004020202020204" pitchFamily="34" charset="0"/>
                        </a:rPr>
                        <a:t>Echoes the incoming</a:t>
                      </a:r>
                      <a:r>
                        <a:rPr lang="en-US" sz="2000" baseline="0" noProof="0" dirty="0">
                          <a:latin typeface="Aptos" panose="020B0004020202020204" pitchFamily="34" charset="0"/>
                        </a:rPr>
                        <a:t> request</a:t>
                      </a:r>
                      <a:endParaRPr lang="en-US" sz="2000" noProof="0" dirty="0">
                        <a:latin typeface="Aptos" panose="020B0004020202020204" pitchFamily="34" charset="0"/>
                      </a:endParaRPr>
                    </a:p>
                  </a:txBody>
                  <a:tcPr/>
                </a:tc>
                <a:extLst>
                  <a:ext uri="{0D108BD9-81ED-4DB2-BD59-A6C34878D82A}">
                    <a16:rowId xmlns:a16="http://schemas.microsoft.com/office/drawing/2014/main" val="758967149"/>
                  </a:ext>
                </a:extLst>
              </a:tr>
              <a:tr h="370840">
                <a:tc>
                  <a:txBody>
                    <a:bodyPr/>
                    <a:lstStyle/>
                    <a:p>
                      <a:r>
                        <a:rPr lang="en-US" sz="2000" b="1" noProof="0" dirty="0">
                          <a:latin typeface="Aptos" panose="020B0004020202020204" pitchFamily="34" charset="0"/>
                        </a:rPr>
                        <a:t>CONNECT</a:t>
                      </a:r>
                    </a:p>
                  </a:txBody>
                  <a:tcPr/>
                </a:tc>
                <a:tc>
                  <a:txBody>
                    <a:bodyPr/>
                    <a:lstStyle/>
                    <a:p>
                      <a:r>
                        <a:rPr lang="en-US" sz="2000" noProof="0" dirty="0">
                          <a:latin typeface="Aptos" panose="020B0004020202020204" pitchFamily="34" charset="0"/>
                        </a:rPr>
                        <a:t>Establishes a tunnel to the server identified by the target resource</a:t>
                      </a:r>
                    </a:p>
                  </a:txBody>
                  <a:tcPr/>
                </a:tc>
                <a:extLst>
                  <a:ext uri="{0D108BD9-81ED-4DB2-BD59-A6C34878D82A}">
                    <a16:rowId xmlns:a16="http://schemas.microsoft.com/office/drawing/2014/main" val="1316028594"/>
                  </a:ext>
                </a:extLst>
              </a:tr>
              <a:tr h="370840">
                <a:tc>
                  <a:txBody>
                    <a:bodyPr/>
                    <a:lstStyle/>
                    <a:p>
                      <a:r>
                        <a:rPr lang="en-US" sz="2000" b="1" noProof="0" dirty="0">
                          <a:latin typeface="Aptos" panose="020B0004020202020204" pitchFamily="34" charset="0"/>
                        </a:rPr>
                        <a:t>OPTIONS</a:t>
                      </a:r>
                    </a:p>
                  </a:txBody>
                  <a:tcPr/>
                </a:tc>
                <a:tc>
                  <a:txBody>
                    <a:bodyPr/>
                    <a:lstStyle/>
                    <a:p>
                      <a:r>
                        <a:rPr lang="en-US" sz="2000" noProof="0" dirty="0">
                          <a:latin typeface="Aptos" panose="020B0004020202020204" pitchFamily="34" charset="0"/>
                        </a:rPr>
                        <a:t>Describes the communication option for a resource</a:t>
                      </a:r>
                    </a:p>
                  </a:txBody>
                  <a:tcPr/>
                </a:tc>
                <a:extLst>
                  <a:ext uri="{0D108BD9-81ED-4DB2-BD59-A6C34878D82A}">
                    <a16:rowId xmlns:a16="http://schemas.microsoft.com/office/drawing/2014/main" val="4187592065"/>
                  </a:ext>
                </a:extLst>
              </a:tr>
              <a:tr h="370840">
                <a:tc>
                  <a:txBody>
                    <a:bodyPr/>
                    <a:lstStyle/>
                    <a:p>
                      <a:r>
                        <a:rPr lang="en-US" sz="2000" b="1" noProof="0" dirty="0">
                          <a:latin typeface="Aptos" panose="020B0004020202020204" pitchFamily="34" charset="0"/>
                        </a:rPr>
                        <a:t>PATCH</a:t>
                      </a:r>
                    </a:p>
                  </a:txBody>
                  <a:tcPr/>
                </a:tc>
                <a:tc>
                  <a:txBody>
                    <a:bodyPr/>
                    <a:lstStyle/>
                    <a:p>
                      <a:r>
                        <a:rPr lang="en-US" sz="2000" noProof="0" dirty="0">
                          <a:latin typeface="Aptos" panose="020B0004020202020204" pitchFamily="34" charset="0"/>
                        </a:rPr>
                        <a:t>Applies partial modifications to a resource</a:t>
                      </a:r>
                    </a:p>
                  </a:txBody>
                  <a:tcPr/>
                </a:tc>
                <a:extLst>
                  <a:ext uri="{0D108BD9-81ED-4DB2-BD59-A6C34878D82A}">
                    <a16:rowId xmlns:a16="http://schemas.microsoft.com/office/drawing/2014/main" val="1799293324"/>
                  </a:ext>
                </a:extLst>
              </a:tr>
            </a:tbl>
          </a:graphicData>
        </a:graphic>
      </p:graphicFrame>
      <p:sp>
        <p:nvSpPr>
          <p:cNvPr id="5" name="Segnaposto numero diapositiva 4"/>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4059363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Examples</a:t>
            </a:r>
            <a:r>
              <a:rPr lang="it-IT" dirty="0"/>
              <a:t> of </a:t>
            </a:r>
            <a:r>
              <a:rPr lang="it-IT" dirty="0" err="1"/>
              <a:t>request</a:t>
            </a:r>
            <a:r>
              <a:rPr lang="it-IT" dirty="0"/>
              <a:t> </a:t>
            </a:r>
            <a:r>
              <a:rPr lang="it-IT" dirty="0" err="1"/>
              <a:t>headers</a:t>
            </a:r>
            <a:endParaRPr lang="en-GB" dirty="0"/>
          </a:p>
        </p:txBody>
      </p:sp>
      <p:sp>
        <p:nvSpPr>
          <p:cNvPr id="3" name="Segnaposto contenuto 2"/>
          <p:cNvSpPr>
            <a:spLocks noGrp="1"/>
          </p:cNvSpPr>
          <p:nvPr>
            <p:ph idx="1"/>
          </p:nvPr>
        </p:nvSpPr>
        <p:spPr/>
        <p:txBody>
          <a:bodyPr>
            <a:normAutofit/>
          </a:bodyPr>
          <a:lstStyle/>
          <a:p>
            <a:r>
              <a:rPr lang="en-US" i="1" dirty="0"/>
              <a:t>Host: </a:t>
            </a:r>
            <a:r>
              <a:rPr lang="en-US" dirty="0"/>
              <a:t>the server’s DNS name</a:t>
            </a:r>
            <a:endParaRPr lang="en-US" i="1" dirty="0"/>
          </a:p>
          <a:p>
            <a:r>
              <a:rPr lang="en-US" i="1" dirty="0"/>
              <a:t>Authorization</a:t>
            </a:r>
            <a:r>
              <a:rPr lang="en-US" dirty="0"/>
              <a:t>: needed for pages that are protected. The client might need to demonstrate it has the right to see the requested page.  </a:t>
            </a:r>
            <a:endParaRPr lang="en-GB" dirty="0"/>
          </a:p>
          <a:p>
            <a:r>
              <a:rPr lang="en-US" i="1" dirty="0"/>
              <a:t>Content-Type</a:t>
            </a:r>
            <a:r>
              <a:rPr lang="en-US" dirty="0"/>
              <a:t>: the type of the content in the request body.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308458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B9156-6FB1-1F52-CBB8-83FA8D64EB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936708-6A95-7701-39B9-84A0CE15E67C}"/>
              </a:ext>
            </a:extLst>
          </p:cNvPr>
          <p:cNvSpPr>
            <a:spLocks noGrp="1"/>
          </p:cNvSpPr>
          <p:nvPr>
            <p:ph type="title"/>
          </p:nvPr>
        </p:nvSpPr>
        <p:spPr/>
        <p:txBody>
          <a:bodyPr/>
          <a:lstStyle/>
          <a:p>
            <a:r>
              <a:rPr lang="it-IT" dirty="0"/>
              <a:t>(</a:t>
            </a:r>
            <a:r>
              <a:rPr lang="it-IT" dirty="0" err="1"/>
              <a:t>Other</a:t>
            </a:r>
            <a:r>
              <a:rPr lang="it-IT" dirty="0"/>
              <a:t>) </a:t>
            </a:r>
            <a:r>
              <a:rPr lang="it-IT" dirty="0" err="1"/>
              <a:t>Examples</a:t>
            </a:r>
            <a:r>
              <a:rPr lang="it-IT" dirty="0"/>
              <a:t> of </a:t>
            </a:r>
            <a:r>
              <a:rPr lang="it-IT" dirty="0" err="1"/>
              <a:t>request</a:t>
            </a:r>
            <a:r>
              <a:rPr lang="it-IT" dirty="0"/>
              <a:t> </a:t>
            </a:r>
            <a:r>
              <a:rPr lang="it-IT" dirty="0" err="1"/>
              <a:t>headers</a:t>
            </a:r>
            <a:endParaRPr lang="en-GB" dirty="0"/>
          </a:p>
        </p:txBody>
      </p:sp>
      <p:sp>
        <p:nvSpPr>
          <p:cNvPr id="3" name="Segnaposto contenuto 2">
            <a:extLst>
              <a:ext uri="{FF2B5EF4-FFF2-40B4-BE49-F238E27FC236}">
                <a16:creationId xmlns:a16="http://schemas.microsoft.com/office/drawing/2014/main" id="{069EC828-48A7-0C03-E6D2-D08645948388}"/>
              </a:ext>
            </a:extLst>
          </p:cNvPr>
          <p:cNvSpPr>
            <a:spLocks noGrp="1"/>
          </p:cNvSpPr>
          <p:nvPr>
            <p:ph idx="1"/>
          </p:nvPr>
        </p:nvSpPr>
        <p:spPr/>
        <p:txBody>
          <a:bodyPr>
            <a:normAutofit/>
          </a:bodyPr>
          <a:lstStyle/>
          <a:p>
            <a:r>
              <a:rPr lang="en-US" i="1" dirty="0"/>
              <a:t>User-Agent</a:t>
            </a:r>
            <a:r>
              <a:rPr lang="en-US" dirty="0"/>
              <a:t>: it allows the client to inform the server about the user agent making the request, e.g., the browser implementation</a:t>
            </a:r>
          </a:p>
          <a:p>
            <a:r>
              <a:rPr lang="en-US" i="1" dirty="0"/>
              <a:t>Accept</a:t>
            </a:r>
            <a:r>
              <a:rPr lang="en-US" dirty="0"/>
              <a:t>: it allows to tell the server what the client is willing to accept </a:t>
            </a:r>
          </a:p>
          <a:p>
            <a:r>
              <a:rPr lang="en-US" i="1" dirty="0"/>
              <a:t>If-Modified-Since</a:t>
            </a:r>
            <a:r>
              <a:rPr lang="en-US" dirty="0"/>
              <a:t>: time and date of last page modification, it allows the client to check the validity of cached pages (the client stores recently requested contents in a cache memory, similarly to what the server does). </a:t>
            </a:r>
          </a:p>
          <a:p>
            <a:r>
              <a:rPr lang="en-US" i="1" dirty="0"/>
              <a:t>Cache-Control</a:t>
            </a:r>
            <a:r>
              <a:rPr lang="en-US" dirty="0"/>
              <a:t>: it </a:t>
            </a:r>
            <a:r>
              <a:rPr lang="en-GB" dirty="0"/>
              <a:t>specify directives that must be obeyed by all caching mechanisms along the request/response chain (e.g., </a:t>
            </a:r>
            <a:r>
              <a:rPr lang="en-GB" i="1" dirty="0"/>
              <a:t>no-cache</a:t>
            </a:r>
            <a:r>
              <a:rPr lang="en-GB" dirty="0"/>
              <a:t>).</a:t>
            </a:r>
          </a:p>
          <a:p>
            <a:r>
              <a:rPr lang="it-IT" dirty="0"/>
              <a:t>…</a:t>
            </a:r>
            <a:endParaRPr lang="en-GB" dirty="0"/>
          </a:p>
        </p:txBody>
      </p:sp>
      <p:sp>
        <p:nvSpPr>
          <p:cNvPr id="4" name="Segnaposto numero diapositiva 3">
            <a:extLst>
              <a:ext uri="{FF2B5EF4-FFF2-40B4-BE49-F238E27FC236}">
                <a16:creationId xmlns:a16="http://schemas.microsoft.com/office/drawing/2014/main" id="{A2908505-AC11-5F4B-AB15-1B0107308342}"/>
              </a:ext>
            </a:extLst>
          </p:cNvPr>
          <p:cNvSpPr>
            <a:spLocks noGrp="1"/>
          </p:cNvSpPr>
          <p:nvPr>
            <p:ph type="sldNum" sz="quarter" idx="12"/>
          </p:nvPr>
        </p:nvSpPr>
        <p:spPr/>
        <p:txBody>
          <a:bodyPr/>
          <a:lstStyle/>
          <a:p>
            <a:fld id="{31DE2C5B-556E-47B8-A792-024C2FCA4ACC}" type="slidenum">
              <a:rPr lang="en-GB" smtClean="0"/>
              <a:t>7</a:t>
            </a:fld>
            <a:endParaRPr lang="en-GB"/>
          </a:p>
        </p:txBody>
      </p:sp>
      <p:sp>
        <p:nvSpPr>
          <p:cNvPr id="5" name="Rectangle 4">
            <a:extLst>
              <a:ext uri="{FF2B5EF4-FFF2-40B4-BE49-F238E27FC236}">
                <a16:creationId xmlns:a16="http://schemas.microsoft.com/office/drawing/2014/main" id="{0439AAAC-1E23-5B95-BB98-4966F81D5677}"/>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380679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Response</a:t>
            </a:r>
            <a:r>
              <a:rPr lang="it-IT" dirty="0"/>
              <a:t> </a:t>
            </a:r>
            <a:r>
              <a:rPr lang="it-IT" dirty="0" err="1"/>
              <a:t>structure</a:t>
            </a:r>
            <a:r>
              <a:rPr lang="it-IT" dirty="0"/>
              <a:t> (HTTP/1.1)</a:t>
            </a:r>
            <a:endParaRPr lang="en-GB" dirty="0"/>
          </a:p>
        </p:txBody>
      </p:sp>
      <p:sp>
        <p:nvSpPr>
          <p:cNvPr id="3" name="Segnaposto contenuto 2"/>
          <p:cNvSpPr>
            <a:spLocks noGrp="1"/>
          </p:cNvSpPr>
          <p:nvPr>
            <p:ph idx="1"/>
          </p:nvPr>
        </p:nvSpPr>
        <p:spPr/>
        <p:txBody>
          <a:bodyPr/>
          <a:lstStyle/>
          <a:p>
            <a:r>
              <a:rPr lang="en-GB" dirty="0"/>
              <a:t>A response message is sent by a server to a client as a reply to its former request message.</a:t>
            </a:r>
          </a:p>
          <a:p>
            <a:endParaRPr lang="en-GB" dirty="0"/>
          </a:p>
        </p:txBody>
      </p:sp>
      <p:sp>
        <p:nvSpPr>
          <p:cNvPr id="4" name="Rettangolo 3"/>
          <p:cNvSpPr/>
          <p:nvPr/>
        </p:nvSpPr>
        <p:spPr>
          <a:xfrm>
            <a:off x="744663" y="2356777"/>
            <a:ext cx="2024913"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Status line:</a:t>
            </a:r>
          </a:p>
        </p:txBody>
      </p:sp>
      <p:sp>
        <p:nvSpPr>
          <p:cNvPr id="5" name="Rettangolo 4"/>
          <p:cNvSpPr/>
          <p:nvPr/>
        </p:nvSpPr>
        <p:spPr>
          <a:xfrm>
            <a:off x="744662" y="3559435"/>
            <a:ext cx="3081485"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Response headers:</a:t>
            </a:r>
          </a:p>
        </p:txBody>
      </p:sp>
      <p:sp>
        <p:nvSpPr>
          <p:cNvPr id="6" name="Rettangolo 5"/>
          <p:cNvSpPr/>
          <p:nvPr/>
        </p:nvSpPr>
        <p:spPr>
          <a:xfrm>
            <a:off x="746258" y="5689213"/>
            <a:ext cx="3863558"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body (payload):</a:t>
            </a:r>
          </a:p>
        </p:txBody>
      </p:sp>
      <p:sp>
        <p:nvSpPr>
          <p:cNvPr id="7" name="Rettangolo 6"/>
          <p:cNvSpPr/>
          <p:nvPr/>
        </p:nvSpPr>
        <p:spPr>
          <a:xfrm>
            <a:off x="744663" y="4961796"/>
            <a:ext cx="1925527"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Empty line</a:t>
            </a:r>
          </a:p>
        </p:txBody>
      </p:sp>
      <p:sp>
        <p:nvSpPr>
          <p:cNvPr id="8" name="Rettangolo 7"/>
          <p:cNvSpPr/>
          <p:nvPr/>
        </p:nvSpPr>
        <p:spPr>
          <a:xfrm>
            <a:off x="1509192" y="6228954"/>
            <a:ext cx="3501280" cy="461665"/>
          </a:xfrm>
          <a:prstGeom prst="rect">
            <a:avLst/>
          </a:prstGeom>
        </p:spPr>
        <p:txBody>
          <a:bodyPr wrap="none">
            <a:spAutoFit/>
          </a:bodyPr>
          <a:lstStyle/>
          <a:p>
            <a:r>
              <a:rPr lang="en-US" sz="2400" b="1" dirty="0">
                <a:latin typeface="Aptos" panose="020B0004020202020204" pitchFamily="34" charset="0"/>
              </a:rPr>
              <a:t>Optional message body</a:t>
            </a:r>
          </a:p>
        </p:txBody>
      </p:sp>
      <p:sp>
        <p:nvSpPr>
          <p:cNvPr id="9" name="Rettangolo 8"/>
          <p:cNvSpPr/>
          <p:nvPr/>
        </p:nvSpPr>
        <p:spPr>
          <a:xfrm>
            <a:off x="1509192" y="4178717"/>
            <a:ext cx="2619628" cy="461665"/>
          </a:xfrm>
          <a:prstGeom prst="rect">
            <a:avLst/>
          </a:prstGeom>
        </p:spPr>
        <p:txBody>
          <a:bodyPr wrap="none">
            <a:spAutoFit/>
          </a:bodyPr>
          <a:lstStyle/>
          <a:p>
            <a:r>
              <a:rPr lang="en-US" sz="2400" b="1" dirty="0">
                <a:latin typeface="Aptos" panose="020B0004020202020204" pitchFamily="34" charset="0"/>
              </a:rPr>
              <a:t>Optional headers</a:t>
            </a:r>
          </a:p>
        </p:txBody>
      </p:sp>
      <p:sp>
        <p:nvSpPr>
          <p:cNvPr id="10" name="Rettangolo 9"/>
          <p:cNvSpPr/>
          <p:nvPr/>
        </p:nvSpPr>
        <p:spPr>
          <a:xfrm>
            <a:off x="1509192" y="2841600"/>
            <a:ext cx="5287153" cy="461665"/>
          </a:xfrm>
          <a:prstGeom prst="rect">
            <a:avLst/>
          </a:prstGeom>
        </p:spPr>
        <p:txBody>
          <a:bodyPr wrap="none">
            <a:spAutoFit/>
          </a:bodyPr>
          <a:lstStyle/>
          <a:p>
            <a:r>
              <a:rPr lang="en-US" sz="2400" b="1" dirty="0">
                <a:latin typeface="Aptos" panose="020B0004020202020204" pitchFamily="34" charset="0"/>
              </a:rPr>
              <a:t>Protocol </a:t>
            </a:r>
            <a:r>
              <a:rPr lang="en-US" sz="2400" b="1" dirty="0" err="1">
                <a:latin typeface="Aptos" panose="020B0004020202020204" pitchFamily="34" charset="0"/>
              </a:rPr>
              <a:t>status_code</a:t>
            </a:r>
            <a:r>
              <a:rPr lang="en-US" sz="2400" b="1" dirty="0">
                <a:latin typeface="Aptos" panose="020B0004020202020204" pitchFamily="34" charset="0"/>
              </a:rPr>
              <a:t> </a:t>
            </a:r>
            <a:r>
              <a:rPr lang="en-US" sz="2400" b="1" dirty="0" err="1">
                <a:latin typeface="Aptos" panose="020B0004020202020204" pitchFamily="34" charset="0"/>
              </a:rPr>
              <a:t>reason_phrase</a:t>
            </a:r>
            <a:endParaRPr lang="en-US" sz="2400" b="1" dirty="0">
              <a:latin typeface="Aptos" panose="020B0004020202020204" pitchFamily="34" charset="0"/>
            </a:endParaRPr>
          </a:p>
        </p:txBody>
      </p:sp>
      <p:sp>
        <p:nvSpPr>
          <p:cNvPr id="11" name="Rettangolo 10"/>
          <p:cNvSpPr/>
          <p:nvPr/>
        </p:nvSpPr>
        <p:spPr>
          <a:xfrm>
            <a:off x="3259832" y="1872871"/>
            <a:ext cx="6096000" cy="646331"/>
          </a:xfrm>
          <a:prstGeom prst="rect">
            <a:avLst/>
          </a:prstGeom>
        </p:spPr>
        <p:txBody>
          <a:bodyPr>
            <a:spAutoFit/>
          </a:bodyPr>
          <a:lstStyle/>
          <a:p>
            <a:r>
              <a:rPr lang="en-GB" dirty="0">
                <a:solidFill>
                  <a:srgbClr val="202122"/>
                </a:solidFill>
                <a:latin typeface="Aptos" panose="020B0004020202020204" pitchFamily="34" charset="0"/>
              </a:rPr>
              <a:t>Three-digit integer code representing the result of the server's attempt to understand and satisfy the request.</a:t>
            </a:r>
            <a:endParaRPr lang="en-GB" dirty="0">
              <a:latin typeface="Aptos" panose="020B0004020202020204" pitchFamily="34" charset="0"/>
            </a:endParaRPr>
          </a:p>
        </p:txBody>
      </p:sp>
      <p:cxnSp>
        <p:nvCxnSpPr>
          <p:cNvPr id="12" name="Connettore 2 11"/>
          <p:cNvCxnSpPr/>
          <p:nvPr/>
        </p:nvCxnSpPr>
        <p:spPr>
          <a:xfrm flipV="1">
            <a:off x="3773888" y="2480338"/>
            <a:ext cx="464271" cy="41373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p:cNvCxnSpPr/>
          <p:nvPr/>
        </p:nvCxnSpPr>
        <p:spPr>
          <a:xfrm>
            <a:off x="6616879" y="3072432"/>
            <a:ext cx="462442" cy="209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7109404" y="2560187"/>
            <a:ext cx="5082596" cy="923330"/>
          </a:xfrm>
          <a:prstGeom prst="rect">
            <a:avLst/>
          </a:prstGeom>
        </p:spPr>
        <p:txBody>
          <a:bodyPr wrap="square">
            <a:spAutoFit/>
          </a:bodyPr>
          <a:lstStyle/>
          <a:p>
            <a:r>
              <a:rPr lang="en-GB" dirty="0">
                <a:solidFill>
                  <a:srgbClr val="202122"/>
                </a:solidFill>
                <a:latin typeface="Aptos" panose="020B0004020202020204" pitchFamily="34" charset="0"/>
              </a:rPr>
              <a:t>Optional. If the status code indicated a problem, the </a:t>
            </a:r>
            <a:r>
              <a:rPr lang="en-GB" i="1" dirty="0">
                <a:solidFill>
                  <a:srgbClr val="202122"/>
                </a:solidFill>
                <a:latin typeface="Aptos" panose="020B0004020202020204" pitchFamily="34" charset="0"/>
              </a:rPr>
              <a:t>reason phrase</a:t>
            </a:r>
            <a:r>
              <a:rPr lang="en-GB" dirty="0">
                <a:solidFill>
                  <a:srgbClr val="202122"/>
                </a:solidFill>
                <a:latin typeface="Aptos" panose="020B0004020202020204" pitchFamily="34" charset="0"/>
              </a:rPr>
              <a:t> might displayed the further information about the nature of the problem. </a:t>
            </a:r>
            <a:endParaRPr lang="en-GB" dirty="0">
              <a:latin typeface="Aptos" panose="020B0004020202020204" pitchFamily="34" charset="0"/>
            </a:endParaRPr>
          </a:p>
        </p:txBody>
      </p:sp>
      <p:graphicFrame>
        <p:nvGraphicFramePr>
          <p:cNvPr id="20" name="Tabella 19"/>
          <p:cNvGraphicFramePr>
            <a:graphicFrameLocks noGrp="1"/>
          </p:cNvGraphicFramePr>
          <p:nvPr>
            <p:extLst>
              <p:ext uri="{D42A27DB-BD31-4B8C-83A1-F6EECF244321}">
                <p14:modId xmlns:p14="http://schemas.microsoft.com/office/powerpoint/2010/main" val="4285940026"/>
              </p:ext>
            </p:extLst>
          </p:nvPr>
        </p:nvGraphicFramePr>
        <p:xfrm>
          <a:off x="5531459" y="3568033"/>
          <a:ext cx="6023459" cy="3230880"/>
        </p:xfrm>
        <a:graphic>
          <a:graphicData uri="http://schemas.openxmlformats.org/drawingml/2006/table">
            <a:tbl>
              <a:tblPr firstRow="1" bandRow="1">
                <a:tableStyleId>{93296810-A885-4BE3-A3E7-6D5BEEA58F35}</a:tableStyleId>
              </a:tblPr>
              <a:tblGrid>
                <a:gridCol w="1293912">
                  <a:extLst>
                    <a:ext uri="{9D8B030D-6E8A-4147-A177-3AD203B41FA5}">
                      <a16:colId xmlns:a16="http://schemas.microsoft.com/office/drawing/2014/main" val="3915886180"/>
                    </a:ext>
                  </a:extLst>
                </a:gridCol>
                <a:gridCol w="4729547">
                  <a:extLst>
                    <a:ext uri="{9D8B030D-6E8A-4147-A177-3AD203B41FA5}">
                      <a16:colId xmlns:a16="http://schemas.microsoft.com/office/drawing/2014/main" val="1076490094"/>
                    </a:ext>
                  </a:extLst>
                </a:gridCol>
              </a:tblGrid>
              <a:tr h="308174">
                <a:tc>
                  <a:txBody>
                    <a:bodyPr/>
                    <a:lstStyle/>
                    <a:p>
                      <a:pPr algn="ctr"/>
                      <a:r>
                        <a:rPr lang="en-US" sz="1600" noProof="0" dirty="0">
                          <a:latin typeface="Palatino Linotype" panose="02040502050505030304" pitchFamily="18" charset="0"/>
                        </a:rPr>
                        <a:t>Status code</a:t>
                      </a:r>
                    </a:p>
                  </a:txBody>
                  <a:tcPr/>
                </a:tc>
                <a:tc>
                  <a:txBody>
                    <a:bodyPr/>
                    <a:lstStyle/>
                    <a:p>
                      <a:pPr algn="ctr"/>
                      <a:r>
                        <a:rPr lang="en-US" sz="1600" noProof="0" dirty="0">
                          <a:latin typeface="Palatino Linotype" panose="02040502050505030304" pitchFamily="18" charset="0"/>
                        </a:rPr>
                        <a:t>Description</a:t>
                      </a:r>
                    </a:p>
                  </a:txBody>
                  <a:tcPr/>
                </a:tc>
                <a:extLst>
                  <a:ext uri="{0D108BD9-81ED-4DB2-BD59-A6C34878D82A}">
                    <a16:rowId xmlns:a16="http://schemas.microsoft.com/office/drawing/2014/main" val="2268543967"/>
                  </a:ext>
                </a:extLst>
              </a:tr>
              <a:tr h="532301">
                <a:tc>
                  <a:txBody>
                    <a:bodyPr/>
                    <a:lstStyle/>
                    <a:p>
                      <a:r>
                        <a:rPr lang="en-US" sz="1600" b="1" noProof="0" dirty="0">
                          <a:latin typeface="Palatino Linotype" panose="02040502050505030304" pitchFamily="18" charset="0"/>
                        </a:rPr>
                        <a:t>1xx</a:t>
                      </a:r>
                    </a:p>
                  </a:txBody>
                  <a:tcPr/>
                </a:tc>
                <a:tc>
                  <a:txBody>
                    <a:bodyPr/>
                    <a:lstStyle/>
                    <a:p>
                      <a:r>
                        <a:rPr lang="en-US" sz="1600" noProof="0" dirty="0">
                          <a:latin typeface="Palatino Linotype" panose="02040502050505030304" pitchFamily="18" charset="0"/>
                        </a:rPr>
                        <a:t>Informational:</a:t>
                      </a:r>
                      <a:r>
                        <a:rPr lang="en-US" sz="1600" baseline="0" noProof="0" dirty="0">
                          <a:latin typeface="Palatino Linotype" panose="02040502050505030304" pitchFamily="18" charset="0"/>
                        </a:rPr>
                        <a:t> the request was received and is being processed,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2940816688"/>
                  </a:ext>
                </a:extLst>
              </a:tr>
              <a:tr h="532301">
                <a:tc>
                  <a:txBody>
                    <a:bodyPr/>
                    <a:lstStyle/>
                    <a:p>
                      <a:r>
                        <a:rPr lang="en-US" sz="1600" b="1" noProof="0" dirty="0">
                          <a:latin typeface="Palatino Linotype" panose="02040502050505030304" pitchFamily="18" charset="0"/>
                        </a:rPr>
                        <a:t>2xx</a:t>
                      </a:r>
                    </a:p>
                  </a:txBody>
                  <a:tcPr/>
                </a:tc>
                <a:tc>
                  <a:txBody>
                    <a:bodyPr/>
                    <a:lstStyle/>
                    <a:p>
                      <a:r>
                        <a:rPr lang="en-US" sz="1600" noProof="0" dirty="0">
                          <a:latin typeface="Palatino Linotype" panose="02040502050505030304" pitchFamily="18" charset="0"/>
                        </a:rPr>
                        <a:t>Successful: </a:t>
                      </a:r>
                      <a:r>
                        <a:rPr lang="en-GB" sz="1600" noProof="0" dirty="0">
                          <a:latin typeface="Palatino Linotype" panose="02040502050505030304" pitchFamily="18" charset="0"/>
                        </a:rPr>
                        <a:t>the request was successfully received, understood, and accepted.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3106698758"/>
                  </a:ext>
                </a:extLst>
              </a:tr>
              <a:tr h="532301">
                <a:tc>
                  <a:txBody>
                    <a:bodyPr/>
                    <a:lstStyle/>
                    <a:p>
                      <a:r>
                        <a:rPr lang="en-US" sz="1600" b="1" noProof="0" dirty="0">
                          <a:latin typeface="Palatino Linotype" panose="02040502050505030304" pitchFamily="18" charset="0"/>
                        </a:rPr>
                        <a:t>3xx</a:t>
                      </a:r>
                    </a:p>
                  </a:txBody>
                  <a:tcPr/>
                </a:tc>
                <a:tc>
                  <a:txBody>
                    <a:bodyPr/>
                    <a:lstStyle/>
                    <a:p>
                      <a:r>
                        <a:rPr lang="en-US" sz="1600" noProof="0" dirty="0">
                          <a:latin typeface="Palatino Linotype" panose="02040502050505030304" pitchFamily="18" charset="0"/>
                        </a:rPr>
                        <a:t>Redirecting: </a:t>
                      </a:r>
                      <a:r>
                        <a:rPr lang="en-GB" sz="1600" noProof="0" dirty="0">
                          <a:latin typeface="Palatino Linotype" panose="02040502050505030304" pitchFamily="18" charset="0"/>
                        </a:rPr>
                        <a:t>further action needs to be taken in order to complete the request.</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1578774446"/>
                  </a:ext>
                </a:extLst>
              </a:tr>
              <a:tr h="532301">
                <a:tc>
                  <a:txBody>
                    <a:bodyPr/>
                    <a:lstStyle/>
                    <a:p>
                      <a:r>
                        <a:rPr lang="en-US" sz="1600" b="1" noProof="0" dirty="0">
                          <a:latin typeface="Palatino Linotype" panose="02040502050505030304" pitchFamily="18" charset="0"/>
                        </a:rPr>
                        <a:t>4xx</a:t>
                      </a:r>
                    </a:p>
                  </a:txBody>
                  <a:tcPr/>
                </a:tc>
                <a:tc>
                  <a:txBody>
                    <a:bodyPr/>
                    <a:lstStyle/>
                    <a:p>
                      <a:r>
                        <a:rPr lang="en-US" sz="1600" noProof="0" dirty="0">
                          <a:latin typeface="Palatino Linotype" panose="02040502050505030304" pitchFamily="18" charset="0"/>
                        </a:rPr>
                        <a:t>Client</a:t>
                      </a:r>
                      <a:r>
                        <a:rPr lang="en-US" sz="1600" baseline="0" noProof="0" dirty="0">
                          <a:latin typeface="Palatino Linotype" panose="02040502050505030304" pitchFamily="18" charset="0"/>
                        </a:rPr>
                        <a:t> error: </a:t>
                      </a:r>
                      <a:r>
                        <a:rPr lang="en-GB" sz="1600" baseline="0" noProof="0" dirty="0">
                          <a:latin typeface="Palatino Linotype" panose="02040502050505030304" pitchFamily="18" charset="0"/>
                        </a:rPr>
                        <a:t>the request contains bad syntax or cannot be fulfilled.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1498557482"/>
                  </a:ext>
                </a:extLst>
              </a:tr>
              <a:tr h="532301">
                <a:tc>
                  <a:txBody>
                    <a:bodyPr/>
                    <a:lstStyle/>
                    <a:p>
                      <a:r>
                        <a:rPr lang="en-US" sz="1600" b="1" noProof="0" dirty="0">
                          <a:latin typeface="Palatino Linotype" panose="02040502050505030304" pitchFamily="18" charset="0"/>
                        </a:rPr>
                        <a:t>5xx</a:t>
                      </a:r>
                    </a:p>
                  </a:txBody>
                  <a:tcPr/>
                </a:tc>
                <a:tc>
                  <a:txBody>
                    <a:bodyPr/>
                    <a:lstStyle/>
                    <a:p>
                      <a:r>
                        <a:rPr lang="en-US" sz="1600" noProof="0" dirty="0">
                          <a:latin typeface="Palatino Linotype" panose="02040502050505030304" pitchFamily="18" charset="0"/>
                        </a:rPr>
                        <a:t>Server error:</a:t>
                      </a:r>
                      <a:r>
                        <a:rPr lang="en-US" sz="1600" baseline="0" noProof="0" dirty="0">
                          <a:latin typeface="Palatino Linotype" panose="02040502050505030304" pitchFamily="18" charset="0"/>
                        </a:rPr>
                        <a:t> </a:t>
                      </a:r>
                      <a:r>
                        <a:rPr lang="en-GB" sz="1600" baseline="0" noProof="0" dirty="0">
                          <a:latin typeface="Palatino Linotype" panose="02040502050505030304" pitchFamily="18" charset="0"/>
                        </a:rPr>
                        <a:t>The server failed to </a:t>
                      </a:r>
                      <a:r>
                        <a:rPr lang="en-GB" sz="1600" baseline="0" noProof="0" dirty="0" err="1">
                          <a:latin typeface="Palatino Linotype" panose="02040502050505030304" pitchFamily="18" charset="0"/>
                        </a:rPr>
                        <a:t>fulfill</a:t>
                      </a:r>
                      <a:r>
                        <a:rPr lang="en-GB" sz="1600" baseline="0" noProof="0" dirty="0">
                          <a:latin typeface="Palatino Linotype" panose="02040502050505030304" pitchFamily="18" charset="0"/>
                        </a:rPr>
                        <a:t> an apparently valid request.</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3867014418"/>
                  </a:ext>
                </a:extLst>
              </a:tr>
            </a:tbl>
          </a:graphicData>
        </a:graphic>
      </p:graphicFrame>
      <p:sp>
        <p:nvSpPr>
          <p:cNvPr id="13" name="Segnaposto numero diapositiva 12"/>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556762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Examples</a:t>
            </a:r>
            <a:r>
              <a:rPr lang="it-IT" dirty="0"/>
              <a:t> of </a:t>
            </a:r>
            <a:r>
              <a:rPr lang="it-IT" dirty="0" err="1"/>
              <a:t>response</a:t>
            </a:r>
            <a:r>
              <a:rPr lang="it-IT" dirty="0"/>
              <a:t> </a:t>
            </a:r>
            <a:r>
              <a:rPr lang="it-IT" dirty="0" err="1"/>
              <a:t>headers</a:t>
            </a:r>
            <a:endParaRPr lang="en-GB" dirty="0"/>
          </a:p>
        </p:txBody>
      </p:sp>
      <p:sp>
        <p:nvSpPr>
          <p:cNvPr id="3" name="Segnaposto contenuto 2"/>
          <p:cNvSpPr>
            <a:spLocks noGrp="1"/>
          </p:cNvSpPr>
          <p:nvPr>
            <p:ph idx="1"/>
          </p:nvPr>
        </p:nvSpPr>
        <p:spPr/>
        <p:txBody>
          <a:bodyPr/>
          <a:lstStyle/>
          <a:p>
            <a:r>
              <a:rPr lang="en-US" i="1" dirty="0"/>
              <a:t>Date</a:t>
            </a:r>
            <a:r>
              <a:rPr lang="en-US" dirty="0"/>
              <a:t>: date and time the message was sent</a:t>
            </a:r>
          </a:p>
          <a:p>
            <a:r>
              <a:rPr lang="en-US" i="1" dirty="0"/>
              <a:t>Content-Type</a:t>
            </a:r>
            <a:r>
              <a:rPr lang="en-US" dirty="0"/>
              <a:t>: the type of the returned content (e.g., HTML, image, plain text, …)</a:t>
            </a:r>
          </a:p>
          <a:p>
            <a:r>
              <a:rPr lang="en-US" i="1" dirty="0"/>
              <a:t>Content-Length</a:t>
            </a:r>
            <a:r>
              <a:rPr lang="en-US" dirty="0"/>
              <a:t>: the content length in bytes</a:t>
            </a:r>
          </a:p>
          <a:p>
            <a:r>
              <a:rPr lang="en-US" i="1" dirty="0"/>
              <a:t>Last-Modified</a:t>
            </a:r>
            <a:r>
              <a:rPr lang="en-US" dirty="0"/>
              <a:t>: </a:t>
            </a:r>
            <a:r>
              <a:rPr lang="en-GB" dirty="0"/>
              <a:t>time and date the page was last changed</a:t>
            </a:r>
          </a:p>
          <a:p>
            <a:r>
              <a:rPr lang="it-IT" dirty="0"/>
              <a:t>…</a:t>
            </a:r>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8141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0CE7A-1693-09DA-FD9F-E0965E6CC17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E73E35A-1259-1E64-8E6F-D8DDDB89D984}"/>
              </a:ext>
            </a:extLst>
          </p:cNvPr>
          <p:cNvSpPr>
            <a:spLocks noGrp="1"/>
          </p:cNvSpPr>
          <p:nvPr>
            <p:ph type="title"/>
          </p:nvPr>
        </p:nvSpPr>
        <p:spPr/>
        <p:txBody>
          <a:bodyPr/>
          <a:lstStyle/>
          <a:p>
            <a:r>
              <a:rPr lang="it-IT" dirty="0"/>
              <a:t>(</a:t>
            </a:r>
            <a:r>
              <a:rPr lang="it-IT" dirty="0" err="1"/>
              <a:t>Other</a:t>
            </a:r>
            <a:r>
              <a:rPr lang="it-IT" dirty="0"/>
              <a:t>) </a:t>
            </a:r>
            <a:r>
              <a:rPr lang="it-IT" dirty="0" err="1"/>
              <a:t>Examples</a:t>
            </a:r>
            <a:r>
              <a:rPr lang="it-IT" dirty="0"/>
              <a:t> of </a:t>
            </a:r>
            <a:r>
              <a:rPr lang="it-IT" dirty="0" err="1"/>
              <a:t>response</a:t>
            </a:r>
            <a:r>
              <a:rPr lang="it-IT" dirty="0"/>
              <a:t> </a:t>
            </a:r>
            <a:r>
              <a:rPr lang="it-IT" dirty="0" err="1"/>
              <a:t>headers</a:t>
            </a:r>
            <a:endParaRPr lang="en-GB" dirty="0"/>
          </a:p>
        </p:txBody>
      </p:sp>
      <p:sp>
        <p:nvSpPr>
          <p:cNvPr id="3" name="Segnaposto contenuto 2">
            <a:extLst>
              <a:ext uri="{FF2B5EF4-FFF2-40B4-BE49-F238E27FC236}">
                <a16:creationId xmlns:a16="http://schemas.microsoft.com/office/drawing/2014/main" id="{2E9D6CE8-5D87-A7C7-E9B5-5BA0196527AD}"/>
              </a:ext>
            </a:extLst>
          </p:cNvPr>
          <p:cNvSpPr>
            <a:spLocks noGrp="1"/>
          </p:cNvSpPr>
          <p:nvPr>
            <p:ph idx="1"/>
          </p:nvPr>
        </p:nvSpPr>
        <p:spPr/>
        <p:txBody>
          <a:bodyPr/>
          <a:lstStyle/>
          <a:p>
            <a:r>
              <a:rPr lang="en-US" i="1" dirty="0"/>
              <a:t>Content-Language</a:t>
            </a:r>
            <a:r>
              <a:rPr lang="en-US" dirty="0"/>
              <a:t>: the natural language used in the page</a:t>
            </a:r>
          </a:p>
          <a:p>
            <a:r>
              <a:rPr lang="en-US" i="1" dirty="0"/>
              <a:t>Expires</a:t>
            </a:r>
            <a:r>
              <a:rPr lang="en-US" dirty="0"/>
              <a:t>: </a:t>
            </a:r>
            <a:r>
              <a:rPr lang="en-GB" dirty="0"/>
              <a:t>Time and date when the page stops being valid</a:t>
            </a:r>
          </a:p>
          <a:p>
            <a:r>
              <a:rPr lang="it-IT" i="1" dirty="0" err="1"/>
              <a:t>ETag</a:t>
            </a:r>
            <a:r>
              <a:rPr lang="it-IT" dirty="0"/>
              <a:t>: </a:t>
            </a:r>
            <a:r>
              <a:rPr lang="it-IT" dirty="0" err="1"/>
              <a:t>tag</a:t>
            </a:r>
            <a:r>
              <a:rPr lang="it-IT" dirty="0"/>
              <a:t> for the </a:t>
            </a:r>
            <a:r>
              <a:rPr lang="it-IT" dirty="0" err="1"/>
              <a:t>content</a:t>
            </a:r>
            <a:r>
              <a:rPr lang="it-IT" dirty="0"/>
              <a:t> of the page (</a:t>
            </a:r>
            <a:r>
              <a:rPr lang="it-IT" dirty="0" err="1"/>
              <a:t>used</a:t>
            </a:r>
            <a:r>
              <a:rPr lang="it-IT" dirty="0"/>
              <a:t> for </a:t>
            </a:r>
            <a:r>
              <a:rPr lang="it-IT" dirty="0" err="1"/>
              <a:t>caching</a:t>
            </a:r>
            <a:r>
              <a:rPr lang="it-IT" dirty="0"/>
              <a:t>)</a:t>
            </a:r>
          </a:p>
          <a:p>
            <a:pPr algn="just"/>
            <a:r>
              <a:rPr lang="it-IT" i="1" dirty="0"/>
              <a:t>Location</a:t>
            </a:r>
            <a:r>
              <a:rPr lang="it-IT" dirty="0"/>
              <a:t>: </a:t>
            </a:r>
            <a:r>
              <a:rPr lang="en-GB" dirty="0"/>
              <a:t>redirect the recipient to a location other than the requested URL for completion of the request or identification of a new resource</a:t>
            </a:r>
            <a:endParaRPr lang="it-IT" dirty="0"/>
          </a:p>
          <a:p>
            <a:r>
              <a:rPr lang="it-IT" dirty="0"/>
              <a:t>…</a:t>
            </a:r>
            <a:endParaRPr lang="en-US" dirty="0"/>
          </a:p>
        </p:txBody>
      </p:sp>
      <p:sp>
        <p:nvSpPr>
          <p:cNvPr id="4" name="Segnaposto numero diapositiva 3">
            <a:extLst>
              <a:ext uri="{FF2B5EF4-FFF2-40B4-BE49-F238E27FC236}">
                <a16:creationId xmlns:a16="http://schemas.microsoft.com/office/drawing/2014/main" id="{25E833CF-2D11-478E-4948-14B6502403C6}"/>
              </a:ext>
            </a:extLst>
          </p:cNvPr>
          <p:cNvSpPr>
            <a:spLocks noGrp="1"/>
          </p:cNvSpPr>
          <p:nvPr>
            <p:ph type="sldNum" sz="quarter" idx="12"/>
          </p:nvPr>
        </p:nvSpPr>
        <p:spPr/>
        <p:txBody>
          <a:bodyPr/>
          <a:lstStyle/>
          <a:p>
            <a:fld id="{31DE2C5B-556E-47B8-A792-024C2FCA4ACC}" type="slidenum">
              <a:rPr lang="en-GB" smtClean="0"/>
              <a:t>10</a:t>
            </a:fld>
            <a:endParaRPr lang="en-GB"/>
          </a:p>
        </p:txBody>
      </p:sp>
      <p:sp>
        <p:nvSpPr>
          <p:cNvPr id="5" name="Rectangle 4">
            <a:extLst>
              <a:ext uri="{FF2B5EF4-FFF2-40B4-BE49-F238E27FC236}">
                <a16:creationId xmlns:a16="http://schemas.microsoft.com/office/drawing/2014/main" id="{9CBCBDD3-2ED5-B054-5365-6FCAF7BDD46A}"/>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844995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GET</a:t>
            </a:r>
            <a:endParaRPr lang="en-GB" dirty="0"/>
          </a:p>
        </p:txBody>
      </p:sp>
      <p:sp>
        <p:nvSpPr>
          <p:cNvPr id="3" name="Segnaposto contenuto 2"/>
          <p:cNvSpPr>
            <a:spLocks noGrp="1"/>
          </p:cNvSpPr>
          <p:nvPr>
            <p:ph idx="1"/>
          </p:nvPr>
        </p:nvSpPr>
        <p:spPr>
          <a:xfrm>
            <a:off x="428172" y="1361167"/>
            <a:ext cx="11368314" cy="4954574"/>
          </a:xfrm>
        </p:spPr>
        <p:txBody>
          <a:bodyPr>
            <a:normAutofit/>
          </a:bodyPr>
          <a:lstStyle/>
          <a:p>
            <a:r>
              <a:rPr lang="en-US" b="1" dirty="0"/>
              <a:t>GET</a:t>
            </a:r>
            <a:r>
              <a:rPr lang="en-US" dirty="0"/>
              <a:t>: </a:t>
            </a:r>
            <a:r>
              <a:rPr lang="en-US" sz="2400" noProof="0" dirty="0"/>
              <a:t>Retrieves a resource</a:t>
            </a:r>
            <a:r>
              <a:rPr lang="en-US" dirty="0"/>
              <a:t>.</a:t>
            </a:r>
          </a:p>
          <a:p>
            <a:pPr marL="0" indent="0">
              <a:buNone/>
            </a:pPr>
            <a:r>
              <a:rPr lang="en-US" dirty="0"/>
              <a:t>			GET / HTTP/1.1 </a:t>
            </a:r>
          </a:p>
          <a:p>
            <a:pPr marL="0" indent="0">
              <a:buNone/>
            </a:pPr>
            <a:r>
              <a:rPr lang="en-US" dirty="0"/>
              <a:t>			Host: </a:t>
            </a:r>
            <a:r>
              <a:rPr lang="en-US" dirty="0" err="1"/>
              <a:t>www.example.com</a:t>
            </a:r>
            <a:endParaRPr lang="en-US" dirty="0"/>
          </a:p>
          <a:p>
            <a:pPr marL="0" indent="0">
              <a:buNone/>
            </a:pPr>
            <a:r>
              <a:rPr lang="en-US" dirty="0"/>
              <a:t>			Accept-Language: </a:t>
            </a:r>
            <a:r>
              <a:rPr lang="en-US" dirty="0" err="1"/>
              <a:t>en</a:t>
            </a:r>
            <a:endParaRPr lang="en-US" dirty="0"/>
          </a:p>
        </p:txBody>
      </p:sp>
      <p:pic>
        <p:nvPicPr>
          <p:cNvPr id="14" name="Immagin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152" y="3415958"/>
            <a:ext cx="4549534" cy="3238781"/>
          </a:xfrm>
          <a:prstGeom prst="rect">
            <a:avLst/>
          </a:prstGeom>
        </p:spPr>
      </p:pic>
      <p:pic>
        <p:nvPicPr>
          <p:cNvPr id="15" name="Immagin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698" y="4093722"/>
            <a:ext cx="6535678" cy="1208217"/>
          </a:xfrm>
          <a:prstGeom prst="rect">
            <a:avLst/>
          </a:prstGeom>
        </p:spPr>
      </p:pic>
      <p:sp>
        <p:nvSpPr>
          <p:cNvPr id="16" name="Rettangolo 15"/>
          <p:cNvSpPr/>
          <p:nvPr/>
        </p:nvSpPr>
        <p:spPr>
          <a:xfrm>
            <a:off x="155313" y="3693612"/>
            <a:ext cx="2284472" cy="400110"/>
          </a:xfrm>
          <a:prstGeom prst="rect">
            <a:avLst/>
          </a:prstGeom>
        </p:spPr>
        <p:txBody>
          <a:bodyPr wrap="none">
            <a:spAutoFit/>
          </a:bodyPr>
          <a:lstStyle/>
          <a:p>
            <a:r>
              <a:rPr lang="en-US" sz="2000" b="1" dirty="0">
                <a:latin typeface="Aptos" panose="020B0004020202020204" pitchFamily="34" charset="0"/>
              </a:rPr>
              <a:t>Request example:</a:t>
            </a:r>
          </a:p>
        </p:txBody>
      </p:sp>
      <p:sp>
        <p:nvSpPr>
          <p:cNvPr id="17" name="Rettangolo 16"/>
          <p:cNvSpPr/>
          <p:nvPr/>
        </p:nvSpPr>
        <p:spPr>
          <a:xfrm>
            <a:off x="7041667" y="2975239"/>
            <a:ext cx="2475742" cy="400110"/>
          </a:xfrm>
          <a:prstGeom prst="rect">
            <a:avLst/>
          </a:prstGeom>
        </p:spPr>
        <p:txBody>
          <a:bodyPr wrap="none">
            <a:spAutoFit/>
          </a:bodyPr>
          <a:lstStyle/>
          <a:p>
            <a:r>
              <a:rPr lang="en-US" sz="2000" b="1" dirty="0">
                <a:latin typeface="Aptos" panose="020B0004020202020204" pitchFamily="34" charset="0"/>
              </a:rPr>
              <a:t>Response example:</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1011575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a:t>
            </a:r>
            <a:endParaRPr lang="en-GB" dirty="0"/>
          </a:p>
        </p:txBody>
      </p:sp>
      <p:sp>
        <p:nvSpPr>
          <p:cNvPr id="3" name="Segnaposto contenuto 2"/>
          <p:cNvSpPr>
            <a:spLocks noGrp="1"/>
          </p:cNvSpPr>
          <p:nvPr>
            <p:ph idx="1"/>
          </p:nvPr>
        </p:nvSpPr>
        <p:spPr/>
        <p:txBody>
          <a:bodyPr/>
          <a:lstStyle/>
          <a:p>
            <a:r>
              <a:rPr lang="it-IT" sz="2200" b="1" dirty="0"/>
              <a:t>POST</a:t>
            </a:r>
            <a:r>
              <a:rPr lang="it-IT" sz="2200" dirty="0"/>
              <a:t>: </a:t>
            </a:r>
            <a:r>
              <a:rPr lang="en-US" dirty="0"/>
              <a:t>Submits an entity to the specified resource. Can be used for creating a resource.</a:t>
            </a:r>
          </a:p>
          <a:p>
            <a:pPr lvl="1"/>
            <a:r>
              <a:rPr lang="it-IT" dirty="0" err="1"/>
              <a:t>If</a:t>
            </a:r>
            <a:r>
              <a:rPr lang="it-IT" dirty="0"/>
              <a:t> the </a:t>
            </a:r>
            <a:r>
              <a:rPr lang="it-IT" dirty="0" err="1"/>
              <a:t>request</a:t>
            </a:r>
            <a:r>
              <a:rPr lang="it-IT" dirty="0"/>
              <a:t> </a:t>
            </a:r>
            <a:r>
              <a:rPr lang="it-IT" dirty="0" err="1"/>
              <a:t>is</a:t>
            </a:r>
            <a:r>
              <a:rPr lang="it-IT" dirty="0"/>
              <a:t> </a:t>
            </a:r>
            <a:r>
              <a:rPr lang="it-IT" dirty="0" err="1"/>
              <a:t>accepted</a:t>
            </a:r>
            <a:r>
              <a:rPr lang="it-IT" dirty="0"/>
              <a:t>, </a:t>
            </a:r>
            <a:r>
              <a:rPr lang="it-IT" dirty="0" err="1"/>
              <a:t>then</a:t>
            </a:r>
            <a:r>
              <a:rPr lang="it-IT" dirty="0"/>
              <a:t> the </a:t>
            </a:r>
            <a:r>
              <a:rPr lang="en-GB" dirty="0"/>
              <a:t>server does something with the data that depends on the URL, and send a response page indicating the result. </a:t>
            </a:r>
          </a:p>
          <a:p>
            <a:pPr lvl="1"/>
            <a:r>
              <a:rPr lang="en-GB" dirty="0"/>
              <a:t>POST is commonly used when forms are submitted, or when uploading files to servers, e.g., to extend a database appending some new data.  </a:t>
            </a:r>
          </a:p>
          <a:p>
            <a:endParaRPr lang="en-GB" dirty="0"/>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930" y="3811241"/>
            <a:ext cx="4801016" cy="1417443"/>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934" y="3811241"/>
            <a:ext cx="4732430" cy="2408129"/>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12</a:t>
            </a:fld>
            <a:endParaRPr lang="en-GB"/>
          </a:p>
        </p:txBody>
      </p:sp>
    </p:spTree>
    <p:extLst>
      <p:ext uri="{BB962C8B-B14F-4D97-AF65-F5344CB8AC3E}">
        <p14:creationId xmlns:p14="http://schemas.microsoft.com/office/powerpoint/2010/main" val="207446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Other</a:t>
            </a:r>
            <a:r>
              <a:rPr lang="it-IT" dirty="0"/>
              <a:t> </a:t>
            </a:r>
            <a:r>
              <a:rPr lang="it-IT" dirty="0" err="1"/>
              <a:t>important</a:t>
            </a:r>
            <a:r>
              <a:rPr lang="it-IT" dirty="0"/>
              <a:t> </a:t>
            </a:r>
            <a:r>
              <a:rPr lang="it-IT" dirty="0" err="1"/>
              <a:t>methods</a:t>
            </a:r>
            <a:endParaRPr lang="en-GB" dirty="0"/>
          </a:p>
        </p:txBody>
      </p:sp>
      <p:sp>
        <p:nvSpPr>
          <p:cNvPr id="3" name="Segnaposto contenuto 2"/>
          <p:cNvSpPr>
            <a:spLocks noGrp="1"/>
          </p:cNvSpPr>
          <p:nvPr>
            <p:ph idx="1"/>
          </p:nvPr>
        </p:nvSpPr>
        <p:spPr>
          <a:xfrm>
            <a:off x="428172" y="1361167"/>
            <a:ext cx="11368314" cy="5264716"/>
          </a:xfrm>
        </p:spPr>
        <p:txBody>
          <a:bodyPr>
            <a:normAutofit/>
          </a:bodyPr>
          <a:lstStyle/>
          <a:p>
            <a:r>
              <a:rPr lang="en-US" b="1" dirty="0"/>
              <a:t>PUT</a:t>
            </a:r>
            <a:r>
              <a:rPr lang="en-US" dirty="0"/>
              <a:t>: Replaces all current representations of the target resource with the request payload. Can be used for updating/modifying a resource.</a:t>
            </a:r>
          </a:p>
          <a:p>
            <a:endParaRPr lang="en-US" dirty="0"/>
          </a:p>
          <a:p>
            <a:r>
              <a:rPr lang="en-US" b="1" dirty="0"/>
              <a:t>DELETE</a:t>
            </a:r>
            <a:r>
              <a:rPr lang="en-US" dirty="0"/>
              <a:t>: Deletes a resource.</a:t>
            </a:r>
          </a:p>
          <a:p>
            <a:endParaRPr lang="en-US" b="1" dirty="0"/>
          </a:p>
          <a:p>
            <a:r>
              <a:rPr lang="en-US" b="1" dirty="0"/>
              <a:t>PATCH</a:t>
            </a:r>
            <a:r>
              <a:rPr lang="en-US" dirty="0"/>
              <a:t>: Applies partial modifications to a resource.</a:t>
            </a:r>
          </a:p>
          <a:p>
            <a:endParaRPr lang="en-US" dirty="0"/>
          </a:p>
          <a:p>
            <a:r>
              <a:rPr lang="en-GB" b="1" dirty="0"/>
              <a:t>HEAD</a:t>
            </a:r>
            <a:r>
              <a:rPr lang="en-GB" dirty="0"/>
              <a:t>:</a:t>
            </a:r>
            <a:r>
              <a:rPr lang="en-GB" i="1" dirty="0"/>
              <a:t> </a:t>
            </a:r>
            <a:r>
              <a:rPr lang="en-GB" dirty="0"/>
              <a:t>it just asks for the message header, without the actual content. It can be used to collect information for indexing purposes, or to test a resource for validity.</a:t>
            </a:r>
          </a:p>
          <a:p>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13</a:t>
            </a:fld>
            <a:endParaRPr lang="en-GB"/>
          </a:p>
        </p:txBody>
      </p:sp>
    </p:spTree>
    <p:extLst>
      <p:ext uri="{BB962C8B-B14F-4D97-AF65-F5344CB8AC3E}">
        <p14:creationId xmlns:p14="http://schemas.microsoft.com/office/powerpoint/2010/main" val="353461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 vs PUT vs PATCH</a:t>
            </a:r>
            <a:endParaRPr lang="en-GB" dirty="0"/>
          </a:p>
        </p:txBody>
      </p:sp>
      <p:sp>
        <p:nvSpPr>
          <p:cNvPr id="3" name="Segnaposto contenuto 2"/>
          <p:cNvSpPr>
            <a:spLocks noGrp="1"/>
          </p:cNvSpPr>
          <p:nvPr>
            <p:ph idx="1"/>
          </p:nvPr>
        </p:nvSpPr>
        <p:spPr>
          <a:xfrm>
            <a:off x="428172" y="1361167"/>
            <a:ext cx="11076256" cy="4858203"/>
          </a:xfrm>
        </p:spPr>
        <p:txBody>
          <a:bodyPr>
            <a:normAutofit/>
          </a:bodyPr>
          <a:lstStyle/>
          <a:p>
            <a:r>
              <a:rPr lang="en-US" dirty="0"/>
              <a:t>Difference between POST and PUT?</a:t>
            </a:r>
          </a:p>
          <a:p>
            <a:pPr lvl="1"/>
            <a:r>
              <a:rPr lang="en-US" sz="2400" b="1" dirty="0"/>
              <a:t>POST</a:t>
            </a:r>
            <a:r>
              <a:rPr lang="en-US" sz="2400" dirty="0"/>
              <a:t>: the client asks to the server to accept the entity enclosed in the request as a new subordinate of the resource identified by the request URL. </a:t>
            </a:r>
          </a:p>
          <a:p>
            <a:pPr lvl="1"/>
            <a:r>
              <a:rPr lang="en-US" sz="2400" b="1" dirty="0"/>
              <a:t>PUT</a:t>
            </a:r>
            <a:r>
              <a:rPr lang="en-US" sz="2400" dirty="0"/>
              <a:t>: the client asks to the server to store the enclosed entity under the request URL. </a:t>
            </a:r>
            <a:r>
              <a:rPr lang="en-US" sz="2400" dirty="0">
                <a:sym typeface="Wingdings" panose="05000000000000000000" pitchFamily="2" charset="2"/>
              </a:rPr>
              <a:t></a:t>
            </a:r>
            <a:r>
              <a:rPr lang="en-US" sz="2400" dirty="0"/>
              <a:t> If the request URL refers to an already existing resource, the server replaces the existing entity with the new enclosed entity. If the URL does not point to an existing resource, the server can create the resource with that URL.</a:t>
            </a:r>
          </a:p>
          <a:p>
            <a:r>
              <a:rPr lang="en-US" dirty="0"/>
              <a:t>Difference between PUT and PATCH? </a:t>
            </a:r>
          </a:p>
          <a:p>
            <a:pPr lvl="1"/>
            <a:r>
              <a:rPr lang="en-US" sz="2400" b="1" dirty="0"/>
              <a:t>PUT</a:t>
            </a:r>
            <a:r>
              <a:rPr lang="en-US" sz="2400" dirty="0"/>
              <a:t> supplies a modified version of the resource to be allocated at the request URL.</a:t>
            </a:r>
          </a:p>
          <a:p>
            <a:pPr lvl="1"/>
            <a:r>
              <a:rPr lang="en-US" sz="2400" b="1" dirty="0"/>
              <a:t>PATCH</a:t>
            </a:r>
            <a:r>
              <a:rPr lang="en-US" sz="2400" dirty="0"/>
              <a:t> supplies a set of instructions to modify the resource at the requested URL.</a:t>
            </a:r>
          </a:p>
          <a:p>
            <a:pPr lvl="1"/>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14</a:t>
            </a:fld>
            <a:endParaRPr lang="en-GB"/>
          </a:p>
        </p:txBody>
      </p:sp>
    </p:spTree>
    <p:extLst>
      <p:ext uri="{BB962C8B-B14F-4D97-AF65-F5344CB8AC3E}">
        <p14:creationId xmlns:p14="http://schemas.microsoft.com/office/powerpoint/2010/main" val="285947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5B01-4A54-45B4-4F38-AE02F4245BF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73CBEF8-CA7C-78E7-D77B-DFF556046EC8}"/>
              </a:ext>
            </a:extLst>
          </p:cNvPr>
          <p:cNvSpPr>
            <a:spLocks noGrp="1"/>
          </p:cNvSpPr>
          <p:nvPr>
            <p:ph type="title"/>
          </p:nvPr>
        </p:nvSpPr>
        <p:spPr/>
        <p:txBody>
          <a:bodyPr/>
          <a:lstStyle/>
          <a:p>
            <a:r>
              <a:rPr lang="it-IT" dirty="0" err="1"/>
              <a:t>Other</a:t>
            </a:r>
            <a:r>
              <a:rPr lang="it-IT" dirty="0"/>
              <a:t> (</a:t>
            </a:r>
            <a:r>
              <a:rPr lang="it-IT" dirty="0" err="1"/>
              <a:t>less</a:t>
            </a:r>
            <a:r>
              <a:rPr lang="it-IT" dirty="0"/>
              <a:t>) </a:t>
            </a:r>
            <a:r>
              <a:rPr lang="it-IT" dirty="0" err="1"/>
              <a:t>important</a:t>
            </a:r>
            <a:r>
              <a:rPr lang="it-IT" dirty="0"/>
              <a:t> </a:t>
            </a:r>
            <a:r>
              <a:rPr lang="it-IT" dirty="0" err="1"/>
              <a:t>methods</a:t>
            </a:r>
            <a:endParaRPr lang="en-GB" dirty="0"/>
          </a:p>
        </p:txBody>
      </p:sp>
      <p:sp>
        <p:nvSpPr>
          <p:cNvPr id="3" name="Segnaposto contenuto 2">
            <a:extLst>
              <a:ext uri="{FF2B5EF4-FFF2-40B4-BE49-F238E27FC236}">
                <a16:creationId xmlns:a16="http://schemas.microsoft.com/office/drawing/2014/main" id="{5B8E520D-E91A-48BA-F6D2-7559DB371100}"/>
              </a:ext>
            </a:extLst>
          </p:cNvPr>
          <p:cNvSpPr>
            <a:spLocks noGrp="1"/>
          </p:cNvSpPr>
          <p:nvPr>
            <p:ph idx="1"/>
          </p:nvPr>
        </p:nvSpPr>
        <p:spPr>
          <a:xfrm>
            <a:off x="428172" y="1361167"/>
            <a:ext cx="11368314" cy="5264716"/>
          </a:xfrm>
        </p:spPr>
        <p:txBody>
          <a:bodyPr>
            <a:normAutofit/>
          </a:bodyPr>
          <a:lstStyle/>
          <a:p>
            <a:r>
              <a:rPr lang="en-US" b="1" dirty="0"/>
              <a:t>TRACE</a:t>
            </a:r>
            <a:r>
              <a:rPr lang="en-US" dirty="0"/>
              <a:t>: it asks the server to send back the request. Useful when requests are not processed correctly to check what the server received. </a:t>
            </a:r>
          </a:p>
          <a:p>
            <a:endParaRPr lang="en-US" dirty="0"/>
          </a:p>
          <a:p>
            <a:r>
              <a:rPr lang="en-US" b="1" dirty="0"/>
              <a:t>CONNECT</a:t>
            </a:r>
            <a:r>
              <a:rPr lang="en-US" dirty="0"/>
              <a:t>: it lets a user make a connection to a Web server through an intermediate device, such as a Web cache.</a:t>
            </a:r>
          </a:p>
          <a:p>
            <a:endParaRPr lang="en-US" dirty="0"/>
          </a:p>
          <a:p>
            <a:r>
              <a:rPr lang="en-US" b="1" dirty="0"/>
              <a:t>OPTIONS</a:t>
            </a:r>
            <a:r>
              <a:rPr lang="en-US" dirty="0"/>
              <a:t>: it queries the server for a resource and obtain the methods and headers that can be used with that resource.</a:t>
            </a:r>
          </a:p>
        </p:txBody>
      </p:sp>
      <p:sp>
        <p:nvSpPr>
          <p:cNvPr id="4" name="Segnaposto numero diapositiva 3">
            <a:extLst>
              <a:ext uri="{FF2B5EF4-FFF2-40B4-BE49-F238E27FC236}">
                <a16:creationId xmlns:a16="http://schemas.microsoft.com/office/drawing/2014/main" id="{68B5EBA0-6F09-2676-205C-10B6F73A7CE9}"/>
              </a:ext>
            </a:extLst>
          </p:cNvPr>
          <p:cNvSpPr>
            <a:spLocks noGrp="1"/>
          </p:cNvSpPr>
          <p:nvPr>
            <p:ph type="sldNum" sz="quarter" idx="12"/>
          </p:nvPr>
        </p:nvSpPr>
        <p:spPr/>
        <p:txBody>
          <a:bodyPr/>
          <a:lstStyle/>
          <a:p>
            <a:fld id="{31DE2C5B-556E-47B8-A792-024C2FCA4ACC}" type="slidenum">
              <a:rPr lang="en-GB" smtClean="0"/>
              <a:t>15</a:t>
            </a:fld>
            <a:endParaRPr lang="en-GB"/>
          </a:p>
        </p:txBody>
      </p:sp>
      <p:sp>
        <p:nvSpPr>
          <p:cNvPr id="5" name="Rectangle 4">
            <a:extLst>
              <a:ext uri="{FF2B5EF4-FFF2-40B4-BE49-F238E27FC236}">
                <a16:creationId xmlns:a16="http://schemas.microsoft.com/office/drawing/2014/main" id="{C94147AD-3108-6F2A-FEF7-05B721928DF0}"/>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163483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Properties</a:t>
            </a:r>
            <a:r>
              <a:rPr lang="it-IT" dirty="0"/>
              <a:t> of the HTTP </a:t>
            </a:r>
            <a:r>
              <a:rPr lang="it-IT" dirty="0" err="1"/>
              <a:t>methods</a:t>
            </a:r>
            <a:endParaRPr lang="en-GB" dirty="0"/>
          </a:p>
        </p:txBody>
      </p:sp>
      <p:sp>
        <p:nvSpPr>
          <p:cNvPr id="3" name="Segnaposto contenuto 2"/>
          <p:cNvSpPr>
            <a:spLocks noGrp="1"/>
          </p:cNvSpPr>
          <p:nvPr>
            <p:ph idx="1"/>
          </p:nvPr>
        </p:nvSpPr>
        <p:spPr>
          <a:xfrm>
            <a:off x="428172" y="1361167"/>
            <a:ext cx="11605332" cy="5323168"/>
          </a:xfrm>
        </p:spPr>
        <p:txBody>
          <a:bodyPr>
            <a:normAutofit/>
          </a:bodyPr>
          <a:lstStyle/>
          <a:p>
            <a:r>
              <a:rPr lang="en-US" b="1" dirty="0"/>
              <a:t>Safe methods</a:t>
            </a:r>
            <a:r>
              <a:rPr lang="en-US" dirty="0"/>
              <a:t>: A request method is safe if a request with that method has no intended effect on the server. </a:t>
            </a:r>
          </a:p>
          <a:p>
            <a:pPr lvl="1"/>
            <a:r>
              <a:rPr lang="en-US" sz="2200" dirty="0"/>
              <a:t>GET, HEAD, OPTIONS, and TRACE are safe, since they only read data from the server.</a:t>
            </a:r>
          </a:p>
          <a:p>
            <a:pPr lvl="1"/>
            <a:r>
              <a:rPr lang="en-US" sz="2200" dirty="0"/>
              <a:t>POST, PUT, DELETE, PATCH, CONNECT are not safe, since they may modify the server state.</a:t>
            </a:r>
          </a:p>
          <a:p>
            <a:r>
              <a:rPr lang="en-US" b="1" dirty="0"/>
              <a:t>Idempotent methods</a:t>
            </a:r>
            <a:r>
              <a:rPr lang="en-US" dirty="0"/>
              <a:t>: A request method is idempotent if multiple identical requests with that method have the same intended effect as a single such request.</a:t>
            </a:r>
          </a:p>
          <a:p>
            <a:pPr lvl="1"/>
            <a:r>
              <a:rPr lang="en-US" sz="2200" dirty="0"/>
              <a:t>PUT and DELETE, and safe methods are idempotent.</a:t>
            </a:r>
          </a:p>
          <a:p>
            <a:pPr lvl="1"/>
            <a:r>
              <a:rPr lang="en-US" sz="2200" dirty="0"/>
              <a:t>POST, PATCH and CONNECT are not necessarily idempotent. Sending an identical POST request multiple times may further modify the state of the server.</a:t>
            </a:r>
          </a:p>
          <a:p>
            <a:r>
              <a:rPr lang="en-US" b="1" dirty="0"/>
              <a:t>Cacheable methods</a:t>
            </a:r>
            <a:r>
              <a:rPr lang="en-US" dirty="0"/>
              <a:t>: A request method is cacheable if responses to requests with that method may be stored by the client in the cache for future reuse. </a:t>
            </a:r>
          </a:p>
          <a:p>
            <a:pPr lvl="1"/>
            <a:r>
              <a:rPr lang="en-GB" sz="2200" dirty="0"/>
              <a:t>Only GET, HEAD, and POST are cacheable.</a:t>
            </a:r>
            <a:endParaRPr lang="en-US" sz="22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175736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Summary</a:t>
            </a:r>
            <a:r>
              <a:rPr lang="it-IT" dirty="0"/>
              <a:t> of </a:t>
            </a:r>
            <a:r>
              <a:rPr lang="it-IT" dirty="0" err="1"/>
              <a:t>properties</a:t>
            </a:r>
            <a:r>
              <a:rPr lang="it-IT" dirty="0"/>
              <a:t> of the HTTP </a:t>
            </a:r>
            <a:r>
              <a:rPr lang="it-IT" dirty="0" err="1"/>
              <a:t>methods</a:t>
            </a:r>
            <a:endParaRPr lang="en-GB" dirty="0"/>
          </a:p>
        </p:txBody>
      </p:sp>
      <p:graphicFrame>
        <p:nvGraphicFramePr>
          <p:cNvPr id="4" name="Tabella 3"/>
          <p:cNvGraphicFramePr>
            <a:graphicFrameLocks noGrp="1"/>
          </p:cNvGraphicFramePr>
          <p:nvPr>
            <p:extLst>
              <p:ext uri="{D42A27DB-BD31-4B8C-83A1-F6EECF244321}">
                <p14:modId xmlns:p14="http://schemas.microsoft.com/office/powerpoint/2010/main" val="3781630043"/>
              </p:ext>
            </p:extLst>
          </p:nvPr>
        </p:nvGraphicFramePr>
        <p:xfrm>
          <a:off x="564969" y="1527386"/>
          <a:ext cx="11094720" cy="4772664"/>
        </p:xfrm>
        <a:graphic>
          <a:graphicData uri="http://schemas.openxmlformats.org/drawingml/2006/table">
            <a:tbl>
              <a:tblPr firstRow="1" bandRow="1">
                <a:tableStyleId>{93296810-A885-4BE3-A3E7-6D5BEEA58F35}</a:tableStyleId>
              </a:tblPr>
              <a:tblGrid>
                <a:gridCol w="1849120">
                  <a:extLst>
                    <a:ext uri="{9D8B030D-6E8A-4147-A177-3AD203B41FA5}">
                      <a16:colId xmlns:a16="http://schemas.microsoft.com/office/drawing/2014/main" val="3708325493"/>
                    </a:ext>
                  </a:extLst>
                </a:gridCol>
                <a:gridCol w="1849120">
                  <a:extLst>
                    <a:ext uri="{9D8B030D-6E8A-4147-A177-3AD203B41FA5}">
                      <a16:colId xmlns:a16="http://schemas.microsoft.com/office/drawing/2014/main" val="4172576060"/>
                    </a:ext>
                  </a:extLst>
                </a:gridCol>
                <a:gridCol w="1849120">
                  <a:extLst>
                    <a:ext uri="{9D8B030D-6E8A-4147-A177-3AD203B41FA5}">
                      <a16:colId xmlns:a16="http://schemas.microsoft.com/office/drawing/2014/main" val="1146723596"/>
                    </a:ext>
                  </a:extLst>
                </a:gridCol>
                <a:gridCol w="1849120">
                  <a:extLst>
                    <a:ext uri="{9D8B030D-6E8A-4147-A177-3AD203B41FA5}">
                      <a16:colId xmlns:a16="http://schemas.microsoft.com/office/drawing/2014/main" val="3906255285"/>
                    </a:ext>
                  </a:extLst>
                </a:gridCol>
                <a:gridCol w="1849120">
                  <a:extLst>
                    <a:ext uri="{9D8B030D-6E8A-4147-A177-3AD203B41FA5}">
                      <a16:colId xmlns:a16="http://schemas.microsoft.com/office/drawing/2014/main" val="1212402813"/>
                    </a:ext>
                  </a:extLst>
                </a:gridCol>
                <a:gridCol w="1849120">
                  <a:extLst>
                    <a:ext uri="{9D8B030D-6E8A-4147-A177-3AD203B41FA5}">
                      <a16:colId xmlns:a16="http://schemas.microsoft.com/office/drawing/2014/main" val="3124377294"/>
                    </a:ext>
                  </a:extLst>
                </a:gridCol>
              </a:tblGrid>
              <a:tr h="459176">
                <a:tc>
                  <a:txBody>
                    <a:bodyPr/>
                    <a:lstStyle/>
                    <a:p>
                      <a:pPr algn="ctr"/>
                      <a:r>
                        <a:rPr lang="it-IT" sz="1800" b="1" dirty="0">
                          <a:latin typeface="Aptos" panose="020B0004020202020204" pitchFamily="34" charset="0"/>
                        </a:rPr>
                        <a:t>METHOD</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REQUEST HAS BODY</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RESPONSE HAS BODY</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SAFE</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IDEMPOTENT</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CACHEABLE</a:t>
                      </a:r>
                      <a:endParaRPr lang="en-GB" sz="1800" b="1" dirty="0">
                        <a:latin typeface="Aptos" panose="020B0004020202020204" pitchFamily="34" charset="0"/>
                      </a:endParaRPr>
                    </a:p>
                  </a:txBody>
                  <a:tcPr anchor="ctr"/>
                </a:tc>
                <a:extLst>
                  <a:ext uri="{0D108BD9-81ED-4DB2-BD59-A6C34878D82A}">
                    <a16:rowId xmlns:a16="http://schemas.microsoft.com/office/drawing/2014/main" val="638877614"/>
                  </a:ext>
                </a:extLst>
              </a:tr>
              <a:tr h="459176">
                <a:tc>
                  <a:txBody>
                    <a:bodyPr/>
                    <a:lstStyle/>
                    <a:p>
                      <a:r>
                        <a:rPr lang="en-US" sz="1800" b="1" noProof="0" dirty="0">
                          <a:latin typeface="Aptos" panose="020B0004020202020204" pitchFamily="34" charset="0"/>
                        </a:rPr>
                        <a:t>GET</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425733752"/>
                  </a:ext>
                </a:extLst>
              </a:tr>
              <a:tr h="459176">
                <a:tc>
                  <a:txBody>
                    <a:bodyPr/>
                    <a:lstStyle/>
                    <a:p>
                      <a:r>
                        <a:rPr lang="en-US" sz="1800" b="1" noProof="0" dirty="0">
                          <a:latin typeface="Aptos" panose="020B0004020202020204" pitchFamily="34" charset="0"/>
                        </a:rPr>
                        <a:t>HEAD</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844572959"/>
                  </a:ext>
                </a:extLst>
              </a:tr>
              <a:tr h="459176">
                <a:tc>
                  <a:txBody>
                    <a:bodyPr/>
                    <a:lstStyle/>
                    <a:p>
                      <a:r>
                        <a:rPr lang="en-US" sz="1800" b="1" noProof="0" dirty="0">
                          <a:latin typeface="Aptos" panose="020B0004020202020204" pitchFamily="34" charset="0"/>
                        </a:rPr>
                        <a:t>POST</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2287754822"/>
                  </a:ext>
                </a:extLst>
              </a:tr>
              <a:tr h="459176">
                <a:tc>
                  <a:txBody>
                    <a:bodyPr/>
                    <a:lstStyle/>
                    <a:p>
                      <a:r>
                        <a:rPr lang="en-US" sz="1800" b="1" noProof="0" dirty="0">
                          <a:latin typeface="Aptos" panose="020B0004020202020204" pitchFamily="34" charset="0"/>
                        </a:rPr>
                        <a:t>PUT</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3409320816"/>
                  </a:ext>
                </a:extLst>
              </a:tr>
              <a:tr h="459176">
                <a:tc>
                  <a:txBody>
                    <a:bodyPr/>
                    <a:lstStyle/>
                    <a:p>
                      <a:r>
                        <a:rPr lang="en-US" sz="1800" b="1" noProof="0" dirty="0">
                          <a:latin typeface="Aptos" panose="020B0004020202020204" pitchFamily="34" charset="0"/>
                        </a:rPr>
                        <a:t>DELETE</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271686304"/>
                  </a:ext>
                </a:extLst>
              </a:tr>
              <a:tr h="459176">
                <a:tc>
                  <a:txBody>
                    <a:bodyPr/>
                    <a:lstStyle/>
                    <a:p>
                      <a:r>
                        <a:rPr lang="en-US" sz="1800" b="1" noProof="0" dirty="0">
                          <a:latin typeface="Aptos" panose="020B0004020202020204" pitchFamily="34" charset="0"/>
                        </a:rPr>
                        <a:t>TRACE</a:t>
                      </a: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4180929885"/>
                  </a:ext>
                </a:extLst>
              </a:tr>
              <a:tr h="459176">
                <a:tc>
                  <a:txBody>
                    <a:bodyPr/>
                    <a:lstStyle/>
                    <a:p>
                      <a:r>
                        <a:rPr lang="en-US" sz="1800" b="1" noProof="0" dirty="0">
                          <a:latin typeface="Aptos" panose="020B0004020202020204" pitchFamily="34" charset="0"/>
                        </a:rPr>
                        <a:t>CONNECT</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973035925"/>
                  </a:ext>
                </a:extLst>
              </a:tr>
              <a:tr h="459176">
                <a:tc>
                  <a:txBody>
                    <a:bodyPr/>
                    <a:lstStyle/>
                    <a:p>
                      <a:r>
                        <a:rPr lang="en-US" sz="1800" b="1" noProof="0" dirty="0">
                          <a:latin typeface="Aptos" panose="020B0004020202020204" pitchFamily="34" charset="0"/>
                        </a:rPr>
                        <a:t>OPTIONS</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1379424557"/>
                  </a:ext>
                </a:extLst>
              </a:tr>
              <a:tr h="459176">
                <a:tc>
                  <a:txBody>
                    <a:bodyPr/>
                    <a:lstStyle/>
                    <a:p>
                      <a:r>
                        <a:rPr lang="en-US" sz="1800" b="1" noProof="0" dirty="0">
                          <a:latin typeface="Aptos" panose="020B0004020202020204" pitchFamily="34" charset="0"/>
                        </a:rPr>
                        <a:t>PATCH</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358825739"/>
                  </a:ext>
                </a:extLst>
              </a:tr>
            </a:tbl>
          </a:graphicData>
        </a:graphic>
      </p:graphicFrame>
      <p:sp>
        <p:nvSpPr>
          <p:cNvPr id="3" name="Segnaposto numero diapositiva 2"/>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2194984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33AE7F34-F7BC-4F38-EEE8-B61339CA5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18" y="1025270"/>
            <a:ext cx="11856616" cy="5422899"/>
          </a:xfrm>
          <a:prstGeom prst="rect">
            <a:avLst/>
          </a:prstGeom>
        </p:spPr>
      </p:pic>
      <p:sp>
        <p:nvSpPr>
          <p:cNvPr id="2" name="Titolo 1"/>
          <p:cNvSpPr>
            <a:spLocks noGrp="1"/>
          </p:cNvSpPr>
          <p:nvPr>
            <p:ph type="title"/>
          </p:nvPr>
        </p:nvSpPr>
        <p:spPr/>
        <p:txBody>
          <a:bodyPr/>
          <a:lstStyle/>
          <a:p>
            <a:r>
              <a:rPr lang="it-IT" dirty="0" err="1"/>
              <a:t>Example</a:t>
            </a:r>
            <a:r>
              <a:rPr lang="it-IT" dirty="0"/>
              <a:t>: </a:t>
            </a:r>
            <a:r>
              <a:rPr lang="it-IT" dirty="0" err="1"/>
              <a:t>inspecting</a:t>
            </a:r>
            <a:r>
              <a:rPr lang="it-IT" dirty="0"/>
              <a:t> the HTTP </a:t>
            </a:r>
            <a:r>
              <a:rPr lang="it-IT" dirty="0" err="1"/>
              <a:t>requests</a:t>
            </a:r>
            <a:r>
              <a:rPr lang="it-IT" dirty="0"/>
              <a:t> in Chrome</a:t>
            </a:r>
            <a:endParaRPr lang="en-GB" dirty="0"/>
          </a:p>
        </p:txBody>
      </p:sp>
      <p:sp>
        <p:nvSpPr>
          <p:cNvPr id="3" name="Segnaposto numero diapositiva 2"/>
          <p:cNvSpPr>
            <a:spLocks noGrp="1"/>
          </p:cNvSpPr>
          <p:nvPr>
            <p:ph type="sldNum" sz="quarter" idx="12"/>
          </p:nvPr>
        </p:nvSpPr>
        <p:spPr/>
        <p:txBody>
          <a:bodyPr/>
          <a:lstStyle/>
          <a:p>
            <a:fld id="{31DE2C5B-556E-47B8-A792-024C2FCA4ACC}" type="slidenum">
              <a:rPr lang="en-GB" smtClean="0"/>
              <a:t>18</a:t>
            </a:fld>
            <a:endParaRPr lang="en-GB"/>
          </a:p>
        </p:txBody>
      </p:sp>
      <p:cxnSp>
        <p:nvCxnSpPr>
          <p:cNvPr id="8" name="Connettore 2 7">
            <a:extLst>
              <a:ext uri="{FF2B5EF4-FFF2-40B4-BE49-F238E27FC236}">
                <a16:creationId xmlns:a16="http://schemas.microsoft.com/office/drawing/2014/main" id="{62FDC8E2-9B76-E0DE-5ECF-B8FAEA8DD669}"/>
              </a:ext>
            </a:extLst>
          </p:cNvPr>
          <p:cNvCxnSpPr>
            <a:cxnSpLocks/>
          </p:cNvCxnSpPr>
          <p:nvPr/>
        </p:nvCxnSpPr>
        <p:spPr>
          <a:xfrm flipH="1">
            <a:off x="6373368" y="4427145"/>
            <a:ext cx="1992034" cy="91295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FBE74967-CB24-850B-7EA8-655B53B3E5E9}"/>
              </a:ext>
            </a:extLst>
          </p:cNvPr>
          <p:cNvCxnSpPr>
            <a:cxnSpLocks/>
            <a:endCxn id="14" idx="3"/>
          </p:cNvCxnSpPr>
          <p:nvPr/>
        </p:nvCxnSpPr>
        <p:spPr>
          <a:xfrm flipH="1" flipV="1">
            <a:off x="7696162" y="2558950"/>
            <a:ext cx="2018206" cy="117776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a:extLst>
              <a:ext uri="{FF2B5EF4-FFF2-40B4-BE49-F238E27FC236}">
                <a16:creationId xmlns:a16="http://schemas.microsoft.com/office/drawing/2014/main" id="{926F7D33-01E9-5238-4299-F06AE097EE00}"/>
              </a:ext>
            </a:extLst>
          </p:cNvPr>
          <p:cNvCxnSpPr>
            <a:cxnSpLocks/>
            <a:endCxn id="15" idx="3"/>
          </p:cNvCxnSpPr>
          <p:nvPr/>
        </p:nvCxnSpPr>
        <p:spPr>
          <a:xfrm flipH="1">
            <a:off x="9492123" y="6002448"/>
            <a:ext cx="897317" cy="34560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Rettangolo 12">
            <a:extLst>
              <a:ext uri="{FF2B5EF4-FFF2-40B4-BE49-F238E27FC236}">
                <a16:creationId xmlns:a16="http://schemas.microsoft.com/office/drawing/2014/main" id="{49BFF38C-B97D-9F71-7271-409A50A9028E}"/>
              </a:ext>
            </a:extLst>
          </p:cNvPr>
          <p:cNvSpPr/>
          <p:nvPr/>
        </p:nvSpPr>
        <p:spPr>
          <a:xfrm>
            <a:off x="5404104" y="5340096"/>
            <a:ext cx="1956816"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Requested</a:t>
            </a:r>
            <a:r>
              <a:rPr lang="it-IT" dirty="0">
                <a:solidFill>
                  <a:schemeClr val="tx1"/>
                </a:solidFill>
                <a:latin typeface="Aptos" panose="020B0004020202020204" pitchFamily="34" charset="0"/>
              </a:rPr>
              <a:t> page and </a:t>
            </a:r>
            <a:r>
              <a:rPr lang="it-IT" dirty="0" err="1">
                <a:solidFill>
                  <a:schemeClr val="tx1"/>
                </a:solidFill>
                <a:latin typeface="Aptos" panose="020B0004020202020204" pitchFamily="34" charset="0"/>
              </a:rPr>
              <a:t>contents</a:t>
            </a:r>
            <a:endParaRPr lang="it-IT" dirty="0">
              <a:solidFill>
                <a:schemeClr val="tx1"/>
              </a:solidFill>
              <a:latin typeface="Aptos" panose="020B0004020202020204" pitchFamily="34" charset="0"/>
            </a:endParaRPr>
          </a:p>
        </p:txBody>
      </p:sp>
      <p:sp>
        <p:nvSpPr>
          <p:cNvPr id="14" name="Rettangolo 13">
            <a:extLst>
              <a:ext uri="{FF2B5EF4-FFF2-40B4-BE49-F238E27FC236}">
                <a16:creationId xmlns:a16="http://schemas.microsoft.com/office/drawing/2014/main" id="{DC220031-8923-FEB6-C9D2-EDB60819750B}"/>
              </a:ext>
            </a:extLst>
          </p:cNvPr>
          <p:cNvSpPr/>
          <p:nvPr/>
        </p:nvSpPr>
        <p:spPr>
          <a:xfrm>
            <a:off x="5646620" y="2128828"/>
            <a:ext cx="2049542"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Request</a:t>
            </a:r>
            <a:r>
              <a:rPr lang="it-IT" dirty="0">
                <a:solidFill>
                  <a:schemeClr val="tx1"/>
                </a:solidFill>
                <a:latin typeface="Aptos" panose="020B0004020202020204" pitchFamily="34" charset="0"/>
              </a:rPr>
              <a:t> </a:t>
            </a:r>
            <a:r>
              <a:rPr lang="it-IT" dirty="0" err="1">
                <a:solidFill>
                  <a:schemeClr val="tx1"/>
                </a:solidFill>
                <a:latin typeface="Aptos" panose="020B0004020202020204" pitchFamily="34" charset="0"/>
              </a:rPr>
              <a:t>headers</a:t>
            </a:r>
            <a:endParaRPr lang="it-IT" dirty="0">
              <a:solidFill>
                <a:schemeClr val="tx1"/>
              </a:solidFill>
              <a:latin typeface="Aptos" panose="020B0004020202020204" pitchFamily="34" charset="0"/>
            </a:endParaRPr>
          </a:p>
        </p:txBody>
      </p:sp>
      <p:sp>
        <p:nvSpPr>
          <p:cNvPr id="15" name="Rettangolo 14">
            <a:extLst>
              <a:ext uri="{FF2B5EF4-FFF2-40B4-BE49-F238E27FC236}">
                <a16:creationId xmlns:a16="http://schemas.microsoft.com/office/drawing/2014/main" id="{F0AB8F04-EF11-F195-BE3B-70F53C31081C}"/>
              </a:ext>
            </a:extLst>
          </p:cNvPr>
          <p:cNvSpPr/>
          <p:nvPr/>
        </p:nvSpPr>
        <p:spPr>
          <a:xfrm>
            <a:off x="7442581" y="5917927"/>
            <a:ext cx="2049542"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Response</a:t>
            </a:r>
            <a:r>
              <a:rPr lang="it-IT" dirty="0">
                <a:solidFill>
                  <a:schemeClr val="tx1"/>
                </a:solidFill>
                <a:latin typeface="Aptos" panose="020B0004020202020204" pitchFamily="34" charset="0"/>
              </a:rPr>
              <a:t> </a:t>
            </a:r>
            <a:r>
              <a:rPr lang="it-IT" dirty="0" err="1">
                <a:solidFill>
                  <a:schemeClr val="tx1"/>
                </a:solidFill>
                <a:latin typeface="Aptos" panose="020B0004020202020204" pitchFamily="34" charset="0"/>
              </a:rPr>
              <a:t>headers</a:t>
            </a:r>
            <a:endParaRPr lang="it-IT" dirty="0">
              <a:solidFill>
                <a:schemeClr val="tx1"/>
              </a:solidFill>
              <a:latin typeface="Aptos" panose="020B0004020202020204" pitchFamily="34" charset="0"/>
            </a:endParaRPr>
          </a:p>
        </p:txBody>
      </p:sp>
      <p:sp>
        <p:nvSpPr>
          <p:cNvPr id="16" name="Ovale 15">
            <a:extLst>
              <a:ext uri="{FF2B5EF4-FFF2-40B4-BE49-F238E27FC236}">
                <a16:creationId xmlns:a16="http://schemas.microsoft.com/office/drawing/2014/main" id="{B8D8D148-F2D0-57C1-2B02-DFF12A3CEE71}"/>
              </a:ext>
            </a:extLst>
          </p:cNvPr>
          <p:cNvSpPr/>
          <p:nvPr/>
        </p:nvSpPr>
        <p:spPr>
          <a:xfrm>
            <a:off x="9936812" y="1734656"/>
            <a:ext cx="905256" cy="39417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17" name="Ovale 16">
            <a:extLst>
              <a:ext uri="{FF2B5EF4-FFF2-40B4-BE49-F238E27FC236}">
                <a16:creationId xmlns:a16="http://schemas.microsoft.com/office/drawing/2014/main" id="{6961FC5C-D579-453F-3B68-2F8DB2F63963}"/>
              </a:ext>
            </a:extLst>
          </p:cNvPr>
          <p:cNvSpPr/>
          <p:nvPr/>
        </p:nvSpPr>
        <p:spPr>
          <a:xfrm>
            <a:off x="9621137" y="2999586"/>
            <a:ext cx="905256" cy="39417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7" name="Ovale 16">
            <a:extLst>
              <a:ext uri="{FF2B5EF4-FFF2-40B4-BE49-F238E27FC236}">
                <a16:creationId xmlns:a16="http://schemas.microsoft.com/office/drawing/2014/main" id="{793DFDE7-FF88-B563-BFFE-F076C715E809}"/>
              </a:ext>
            </a:extLst>
          </p:cNvPr>
          <p:cNvSpPr/>
          <p:nvPr/>
        </p:nvSpPr>
        <p:spPr>
          <a:xfrm>
            <a:off x="8157972" y="3250194"/>
            <a:ext cx="905256" cy="23396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Tree>
    <p:extLst>
      <p:ext uri="{BB962C8B-B14F-4D97-AF65-F5344CB8AC3E}">
        <p14:creationId xmlns:p14="http://schemas.microsoft.com/office/powerpoint/2010/main" val="619560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Caching</a:t>
            </a:r>
            <a:endParaRPr lang="en-GB" dirty="0"/>
          </a:p>
        </p:txBody>
      </p:sp>
      <p:sp>
        <p:nvSpPr>
          <p:cNvPr id="3" name="Segnaposto contenuto 2"/>
          <p:cNvSpPr>
            <a:spLocks noGrp="1"/>
          </p:cNvSpPr>
          <p:nvPr>
            <p:ph idx="1"/>
          </p:nvPr>
        </p:nvSpPr>
        <p:spPr>
          <a:xfrm>
            <a:off x="428172" y="1254842"/>
            <a:ext cx="11368314" cy="4858203"/>
          </a:xfrm>
        </p:spPr>
        <p:txBody>
          <a:bodyPr>
            <a:normAutofit/>
          </a:bodyPr>
          <a:lstStyle/>
          <a:p>
            <a:r>
              <a:rPr lang="en-US" sz="2000" dirty="0"/>
              <a:t>People often return to Web pages that they have viewed before, and related Web pages often have the same embedded resources.</a:t>
            </a:r>
          </a:p>
          <a:p>
            <a:r>
              <a:rPr lang="en-US" sz="2000" b="1" dirty="0"/>
              <a:t>Caching</a:t>
            </a:r>
            <a:r>
              <a:rPr lang="en-US" sz="2000" dirty="0"/>
              <a:t>: save on the client pages that are fetched for possible subsequent use.</a:t>
            </a:r>
          </a:p>
          <a:p>
            <a:r>
              <a:rPr lang="en-US" sz="2000" dirty="0"/>
              <a:t>HTTP headers can be used to let the client know when a page can be safely re-used. </a:t>
            </a:r>
            <a:r>
              <a:rPr lang="en-US" sz="2000" dirty="0">
                <a:sym typeface="Wingdings" panose="05000000000000000000" pitchFamily="2" charset="2"/>
              </a:rPr>
              <a:t> reduced network traffic</a:t>
            </a:r>
          </a:p>
          <a:p>
            <a:pPr lvl="1"/>
            <a:r>
              <a:rPr lang="en-US" sz="1800" b="1" dirty="0">
                <a:sym typeface="Wingdings" panose="05000000000000000000" pitchFamily="2" charset="2"/>
              </a:rPr>
              <a:t>Page validation</a:t>
            </a:r>
            <a:r>
              <a:rPr lang="en-US" sz="1800" dirty="0">
                <a:sym typeface="Wingdings" panose="05000000000000000000" pitchFamily="2" charset="2"/>
              </a:rPr>
              <a:t>: The cache is consulted, and if it has a copy of a page for the requested URL that is known to be fresh (i.e., still valid), there is no need to fetch it new from the server. The validity time is obtained by the </a:t>
            </a:r>
            <a:r>
              <a:rPr lang="en-US" sz="1800" i="1" dirty="0">
                <a:sym typeface="Wingdings" panose="05000000000000000000" pitchFamily="2" charset="2"/>
              </a:rPr>
              <a:t>Expires</a:t>
            </a:r>
            <a:r>
              <a:rPr lang="en-US" sz="1800" dirty="0">
                <a:sym typeface="Wingdings" panose="05000000000000000000" pitchFamily="2" charset="2"/>
              </a:rPr>
              <a:t> header of the original GET request.</a:t>
            </a:r>
          </a:p>
          <a:p>
            <a:pPr lvl="1"/>
            <a:r>
              <a:rPr lang="en-US" sz="1800" b="1" dirty="0">
                <a:sym typeface="Wingdings" panose="05000000000000000000" pitchFamily="2" charset="2"/>
              </a:rPr>
              <a:t>Conditional GET</a:t>
            </a:r>
            <a:r>
              <a:rPr lang="en-US" sz="1800" dirty="0">
                <a:sym typeface="Wingdings" panose="05000000000000000000" pitchFamily="2" charset="2"/>
              </a:rPr>
              <a:t>: The client checks the time a cached page was last updated from the </a:t>
            </a:r>
            <a:r>
              <a:rPr lang="en-US" sz="1800" i="1" dirty="0">
                <a:sym typeface="Wingdings" panose="05000000000000000000" pitchFamily="2" charset="2"/>
              </a:rPr>
              <a:t>Last-Modified</a:t>
            </a:r>
            <a:r>
              <a:rPr lang="en-US" sz="1800" dirty="0">
                <a:sym typeface="Wingdings" panose="05000000000000000000" pitchFamily="2" charset="2"/>
              </a:rPr>
              <a:t> header. It can send it to the server using the </a:t>
            </a:r>
            <a:r>
              <a:rPr lang="en-US" sz="1800" i="1" dirty="0">
                <a:sym typeface="Wingdings" panose="05000000000000000000" pitchFamily="2" charset="2"/>
              </a:rPr>
              <a:t>If-Modified-Since</a:t>
            </a:r>
            <a:r>
              <a:rPr lang="en-US" sz="1800" dirty="0">
                <a:sym typeface="Wingdings" panose="05000000000000000000" pitchFamily="2" charset="2"/>
              </a:rPr>
              <a:t> header to ask for the page only if it has been changed in the meantime. </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940" y="4639907"/>
            <a:ext cx="8320778" cy="2218093"/>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19</a:t>
            </a:fld>
            <a:endParaRPr lang="en-GB"/>
          </a:p>
        </p:txBody>
      </p:sp>
    </p:spTree>
    <p:extLst>
      <p:ext uri="{BB962C8B-B14F-4D97-AF65-F5344CB8AC3E}">
        <p14:creationId xmlns:p14="http://schemas.microsoft.com/office/powerpoint/2010/main" val="154181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Web </a:t>
            </a:r>
            <a:r>
              <a:rPr lang="it-IT" dirty="0" err="1"/>
              <a:t>communication</a:t>
            </a:r>
            <a:r>
              <a:rPr lang="it-IT" dirty="0"/>
              <a:t> </a:t>
            </a:r>
            <a:r>
              <a:rPr lang="it-IT" dirty="0" err="1"/>
              <a:t>protocols</a:t>
            </a:r>
            <a:endParaRPr lang="en-GB" dirty="0"/>
          </a:p>
        </p:txBody>
      </p:sp>
      <p:sp>
        <p:nvSpPr>
          <p:cNvPr id="3" name="Segnaposto contenuto 2"/>
          <p:cNvSpPr>
            <a:spLocks noGrp="1"/>
          </p:cNvSpPr>
          <p:nvPr>
            <p:ph idx="1"/>
          </p:nvPr>
        </p:nvSpPr>
        <p:spPr>
          <a:xfrm>
            <a:off x="425551" y="1531289"/>
            <a:ext cx="11368314" cy="779520"/>
          </a:xfrm>
        </p:spPr>
        <p:txBody>
          <a:bodyPr>
            <a:normAutofit fontScale="92500" lnSpcReduction="20000"/>
          </a:bodyPr>
          <a:lstStyle/>
          <a:p>
            <a:r>
              <a:rPr lang="en-US" sz="2600" dirty="0"/>
              <a:t>HTTP is not the only Web communication protocol.</a:t>
            </a:r>
          </a:p>
          <a:p>
            <a:r>
              <a:rPr lang="en-US" sz="2600" dirty="0"/>
              <a:t>Different protocols have been defined for different purposes. </a:t>
            </a:r>
          </a:p>
          <a:p>
            <a:endParaRPr lang="it-IT" dirty="0"/>
          </a:p>
          <a:p>
            <a:endParaRPr lang="it-IT" dirty="0"/>
          </a:p>
          <a:p>
            <a:endParaRPr lang="it-IT" dirty="0"/>
          </a:p>
          <a:p>
            <a:endParaRPr lang="it-IT" dirty="0"/>
          </a:p>
          <a:p>
            <a:endParaRPr lang="it-IT" dirty="0"/>
          </a:p>
          <a:p>
            <a:endParaRPr lang="it-IT" dirty="0"/>
          </a:p>
          <a:p>
            <a:endParaRPr lang="it-IT" dirty="0"/>
          </a:p>
          <a:p>
            <a:endParaRPr lang="en-GB"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203" y="2585889"/>
            <a:ext cx="6569009" cy="2880610"/>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212415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581554-4AE4-284E-83EA-A293483CBF52}"/>
              </a:ext>
            </a:extLst>
          </p:cNvPr>
          <p:cNvSpPr>
            <a:spLocks noGrp="1"/>
          </p:cNvSpPr>
          <p:nvPr>
            <p:ph type="title"/>
          </p:nvPr>
        </p:nvSpPr>
        <p:spPr/>
        <p:txBody>
          <a:bodyPr/>
          <a:lstStyle/>
          <a:p>
            <a:r>
              <a:rPr lang="it-IT" dirty="0" err="1"/>
              <a:t>Outline</a:t>
            </a:r>
            <a:endParaRPr lang="it-IT" dirty="0"/>
          </a:p>
        </p:txBody>
      </p:sp>
      <p:sp>
        <p:nvSpPr>
          <p:cNvPr id="3" name="Segnaposto contenuto 2">
            <a:extLst>
              <a:ext uri="{FF2B5EF4-FFF2-40B4-BE49-F238E27FC236}">
                <a16:creationId xmlns:a16="http://schemas.microsoft.com/office/drawing/2014/main" id="{A4C410BC-3DB2-9942-8F09-D6751799869F}"/>
              </a:ext>
            </a:extLst>
          </p:cNvPr>
          <p:cNvSpPr>
            <a:spLocks noGrp="1"/>
          </p:cNvSpPr>
          <p:nvPr>
            <p:ph idx="1"/>
          </p:nvPr>
        </p:nvSpPr>
        <p:spPr/>
        <p:txBody>
          <a:bodyPr>
            <a:normAutofit/>
          </a:bodyPr>
          <a:lstStyle/>
          <a:p>
            <a:pPr marL="0" indent="0">
              <a:buNone/>
            </a:pPr>
            <a:endParaRPr lang="it-IT" sz="2800" dirty="0"/>
          </a:p>
          <a:p>
            <a:r>
              <a:rPr lang="it-IT" sz="2800" dirty="0" err="1"/>
              <a:t>HyperText</a:t>
            </a:r>
            <a:r>
              <a:rPr lang="it-IT" sz="2800" dirty="0"/>
              <a:t> Transfer </a:t>
            </a:r>
            <a:r>
              <a:rPr lang="it-IT" sz="2800" dirty="0" err="1"/>
              <a:t>Protocol</a:t>
            </a:r>
            <a:r>
              <a:rPr lang="it-IT" sz="2800" dirty="0"/>
              <a:t> (HTTP)</a:t>
            </a:r>
          </a:p>
          <a:p>
            <a:endParaRPr lang="it-IT" sz="2800" dirty="0"/>
          </a:p>
          <a:p>
            <a:r>
              <a:rPr lang="it-IT" sz="2800" dirty="0"/>
              <a:t>Web </a:t>
            </a:r>
            <a:r>
              <a:rPr lang="it-IT" sz="2800" dirty="0" err="1"/>
              <a:t>applications</a:t>
            </a:r>
            <a:endParaRPr lang="it-IT" sz="2800" dirty="0"/>
          </a:p>
        </p:txBody>
      </p:sp>
      <p:sp>
        <p:nvSpPr>
          <p:cNvPr id="4" name="Segnaposto numero diapositiva 3">
            <a:extLst>
              <a:ext uri="{FF2B5EF4-FFF2-40B4-BE49-F238E27FC236}">
                <a16:creationId xmlns:a16="http://schemas.microsoft.com/office/drawing/2014/main" id="{54411CB2-DD12-5849-BC9E-329A6490FB18}"/>
              </a:ext>
            </a:extLst>
          </p:cNvPr>
          <p:cNvSpPr>
            <a:spLocks noGrp="1"/>
          </p:cNvSpPr>
          <p:nvPr>
            <p:ph type="sldNum" sz="quarter" idx="12"/>
          </p:nvPr>
        </p:nvSpPr>
        <p:spPr/>
        <p:txBody>
          <a:bodyPr/>
          <a:lstStyle/>
          <a:p>
            <a:fld id="{31DE2C5B-556E-47B8-A792-024C2FCA4ACC}" type="slidenum">
              <a:rPr lang="en-GB" smtClean="0"/>
              <a:t>21</a:t>
            </a:fld>
            <a:endParaRPr lang="en-GB"/>
          </a:p>
        </p:txBody>
      </p:sp>
      <p:sp>
        <p:nvSpPr>
          <p:cNvPr id="5" name="Cornice 4">
            <a:extLst>
              <a:ext uri="{FF2B5EF4-FFF2-40B4-BE49-F238E27FC236}">
                <a16:creationId xmlns:a16="http://schemas.microsoft.com/office/drawing/2014/main" id="{73345356-66C4-0545-8054-AE5E98D85542}"/>
              </a:ext>
            </a:extLst>
          </p:cNvPr>
          <p:cNvSpPr/>
          <p:nvPr/>
        </p:nvSpPr>
        <p:spPr>
          <a:xfrm>
            <a:off x="311431" y="2571087"/>
            <a:ext cx="6625396" cy="1053884"/>
          </a:xfrm>
          <a:prstGeom prst="frame">
            <a:avLst>
              <a:gd name="adj1" fmla="val 8088"/>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1259972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Web </a:t>
            </a:r>
            <a:r>
              <a:rPr lang="it-IT" dirty="0" err="1"/>
              <a:t>application</a:t>
            </a:r>
            <a:endParaRPr lang="en-GB" dirty="0"/>
          </a:p>
        </p:txBody>
      </p:sp>
      <p:pic>
        <p:nvPicPr>
          <p:cNvPr id="4" name="Segnaposto contenuto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0363" y="3941245"/>
            <a:ext cx="8282451" cy="2631587"/>
          </a:xfrm>
        </p:spPr>
      </p:pic>
      <p:sp>
        <p:nvSpPr>
          <p:cNvPr id="6" name="CasellaDiTesto 5"/>
          <p:cNvSpPr txBox="1"/>
          <p:nvPr/>
        </p:nvSpPr>
        <p:spPr>
          <a:xfrm>
            <a:off x="428172" y="1392114"/>
            <a:ext cx="11422933" cy="2471446"/>
          </a:xfrm>
          <a:prstGeom prst="rect">
            <a:avLst/>
          </a:prstGeom>
          <a:noFill/>
        </p:spPr>
        <p:txBody>
          <a:bodyPr wrap="square" rtlCol="0">
            <a:spAutoFit/>
          </a:bodyPr>
          <a:lstStyle/>
          <a:p>
            <a:pPr marL="342900" lvl="1" indent="-342900">
              <a:lnSpc>
                <a:spcPct val="90000"/>
              </a:lnSpc>
              <a:spcBef>
                <a:spcPts val="1000"/>
              </a:spcBef>
              <a:buClr>
                <a:srgbClr val="00B050"/>
              </a:buClr>
              <a:buFont typeface="Wingdings" panose="05000000000000000000" pitchFamily="2" charset="2"/>
              <a:buChar char="Ø"/>
            </a:pPr>
            <a:r>
              <a:rPr lang="en-US" b="1" dirty="0">
                <a:latin typeface="Aptos" panose="020B0004020202020204" pitchFamily="34" charset="0"/>
              </a:rPr>
              <a:t>Web application</a:t>
            </a:r>
            <a:r>
              <a:rPr lang="en-US" dirty="0">
                <a:latin typeface="Aptos" panose="020B0004020202020204" pitchFamily="34" charset="0"/>
              </a:rPr>
              <a:t>:</a:t>
            </a:r>
            <a:r>
              <a:rPr lang="en-GB" dirty="0">
                <a:latin typeface="Aptos" panose="020B0004020202020204" pitchFamily="34" charset="0"/>
              </a:rPr>
              <a:t> a Web page or a collection of Web pages, delivered over HTTP, which use server-side or client-side processing, i.e., programs, to provide an "application-like" experience within a Web browser.</a:t>
            </a:r>
            <a:r>
              <a:rPr lang="en-US" dirty="0">
                <a:latin typeface="Aptos" panose="020B0004020202020204" pitchFamily="34" charset="0"/>
              </a:rPr>
              <a:t> </a:t>
            </a:r>
          </a:p>
          <a:p>
            <a:pPr marL="342900" lvl="1" indent="-342900">
              <a:lnSpc>
                <a:spcPct val="90000"/>
              </a:lnSpc>
              <a:spcBef>
                <a:spcPts val="1000"/>
              </a:spcBef>
              <a:buClr>
                <a:srgbClr val="00B050"/>
              </a:buClr>
              <a:buFont typeface="Wingdings" panose="05000000000000000000" pitchFamily="2" charset="2"/>
              <a:buChar char="Ø"/>
            </a:pPr>
            <a:r>
              <a:rPr lang="en-US" dirty="0">
                <a:latin typeface="Aptos" panose="020B0004020202020204" pitchFamily="34" charset="0"/>
              </a:rPr>
              <a:t>Web applications access data that are stored in databases in the server and use Web protocols (e.g., HTTP) to exchange data with the client. They use the Web browser to display a user interface by which the user can use the app (making queries, inserting data, view retrieved data, etc.).</a:t>
            </a:r>
          </a:p>
          <a:p>
            <a:pPr marL="342900" lvl="1" indent="-342900">
              <a:lnSpc>
                <a:spcPct val="90000"/>
              </a:lnSpc>
              <a:spcBef>
                <a:spcPts val="1000"/>
              </a:spcBef>
              <a:buClr>
                <a:srgbClr val="00B050"/>
              </a:buClr>
              <a:buFont typeface="Wingdings" panose="05000000000000000000" pitchFamily="2" charset="2"/>
              <a:buChar char="Ø"/>
            </a:pPr>
            <a:r>
              <a:rPr lang="en-US" u="sng" dirty="0">
                <a:latin typeface="Aptos" panose="020B0004020202020204" pitchFamily="34" charset="0"/>
              </a:rPr>
              <a:t>Advantage of Web applications</a:t>
            </a:r>
            <a:r>
              <a:rPr lang="en-US" dirty="0">
                <a:latin typeface="Aptos" panose="020B0004020202020204" pitchFamily="34" charset="0"/>
              </a:rPr>
              <a:t>: The users do not need to install separate application programs, and data can be accessed from different computers and backed up by the service operator.</a:t>
            </a:r>
          </a:p>
          <a:p>
            <a:pPr marL="342900" lvl="1" indent="-342900">
              <a:lnSpc>
                <a:spcPct val="90000"/>
              </a:lnSpc>
              <a:spcBef>
                <a:spcPts val="1000"/>
              </a:spcBef>
              <a:buClr>
                <a:srgbClr val="00B050"/>
              </a:buClr>
              <a:buFont typeface="Wingdings" panose="05000000000000000000" pitchFamily="2" charset="2"/>
              <a:buChar char="Ø"/>
            </a:pPr>
            <a:r>
              <a:rPr lang="en-US" dirty="0">
                <a:latin typeface="Aptos" panose="020B0004020202020204" pitchFamily="34" charset="0"/>
              </a:rPr>
              <a:t>Examples of Web apps: Gmail, Google Docs, Trello, online banking apps, online retail sales apps, …</a:t>
            </a:r>
          </a:p>
        </p:txBody>
      </p:sp>
      <p:sp>
        <p:nvSpPr>
          <p:cNvPr id="3" name="Rettangolo 2"/>
          <p:cNvSpPr/>
          <p:nvPr/>
        </p:nvSpPr>
        <p:spPr>
          <a:xfrm>
            <a:off x="8792814" y="4658807"/>
            <a:ext cx="3236152" cy="1089529"/>
          </a:xfrm>
          <a:prstGeom prst="rect">
            <a:avLst/>
          </a:prstGeom>
          <a:ln w="28575">
            <a:solidFill>
              <a:srgbClr val="00B050"/>
            </a:solidFill>
          </a:ln>
        </p:spPr>
        <p:txBody>
          <a:bodyPr wrap="square">
            <a:spAutoFit/>
          </a:bodyPr>
          <a:lstStyle/>
          <a:p>
            <a:pPr marL="0" lvl="1" algn="ctr">
              <a:lnSpc>
                <a:spcPct val="90000"/>
              </a:lnSpc>
              <a:spcBef>
                <a:spcPts val="1000"/>
              </a:spcBef>
              <a:buClr>
                <a:srgbClr val="00B050"/>
              </a:buClr>
            </a:pPr>
            <a:r>
              <a:rPr lang="en-GB" dirty="0">
                <a:latin typeface="Aptos" panose="020B0004020202020204" pitchFamily="34" charset="0"/>
              </a:rPr>
              <a:t>To act as applications, Web pages can no longer be static, but they need to generate </a:t>
            </a:r>
            <a:r>
              <a:rPr lang="en-GB" b="1" dirty="0">
                <a:latin typeface="Aptos" panose="020B0004020202020204" pitchFamily="34" charset="0"/>
              </a:rPr>
              <a:t>dynamic content</a:t>
            </a:r>
            <a:r>
              <a:rPr lang="en-GB" dirty="0">
                <a:latin typeface="Aptos" panose="020B0004020202020204" pitchFamily="34" charset="0"/>
              </a:rPr>
              <a:t>. </a:t>
            </a:r>
          </a:p>
        </p:txBody>
      </p:sp>
      <p:sp>
        <p:nvSpPr>
          <p:cNvPr id="5" name="Segnaposto numero diapositiva 4"/>
          <p:cNvSpPr>
            <a:spLocks noGrp="1"/>
          </p:cNvSpPr>
          <p:nvPr>
            <p:ph type="sldNum" sz="quarter" idx="12"/>
          </p:nvPr>
        </p:nvSpPr>
        <p:spPr/>
        <p:txBody>
          <a:bodyPr/>
          <a:lstStyle/>
          <a:p>
            <a:fld id="{31DE2C5B-556E-47B8-A792-024C2FCA4ACC}" type="slidenum">
              <a:rPr lang="en-GB" smtClean="0"/>
              <a:t>22</a:t>
            </a:fld>
            <a:endParaRPr lang="en-GB"/>
          </a:p>
        </p:txBody>
      </p:sp>
    </p:spTree>
    <p:extLst>
      <p:ext uri="{BB962C8B-B14F-4D97-AF65-F5344CB8AC3E}">
        <p14:creationId xmlns:p14="http://schemas.microsoft.com/office/powerpoint/2010/main" val="2954082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Server-side dynamic Web page generation</a:t>
            </a:r>
          </a:p>
        </p:txBody>
      </p:sp>
      <p:sp>
        <p:nvSpPr>
          <p:cNvPr id="3" name="Segnaposto contenuto 2"/>
          <p:cNvSpPr>
            <a:spLocks noGrp="1"/>
          </p:cNvSpPr>
          <p:nvPr>
            <p:ph idx="1"/>
          </p:nvPr>
        </p:nvSpPr>
        <p:spPr>
          <a:xfrm>
            <a:off x="428172" y="1361167"/>
            <a:ext cx="11368314" cy="630665"/>
          </a:xfrm>
        </p:spPr>
        <p:txBody>
          <a:bodyPr>
            <a:normAutofit/>
          </a:bodyPr>
          <a:lstStyle/>
          <a:p>
            <a:r>
              <a:rPr lang="en-US" sz="2200" dirty="0"/>
              <a:t>A simple situation in which server-side processing is needed is a </a:t>
            </a:r>
            <a:r>
              <a:rPr lang="en-US" sz="2200" b="1" dirty="0"/>
              <a:t>Web form.</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697" y="1894994"/>
            <a:ext cx="5903296" cy="3119117"/>
          </a:xfrm>
          <a:prstGeom prst="rect">
            <a:avLst/>
          </a:prstGeom>
        </p:spPr>
      </p:pic>
      <p:sp>
        <p:nvSpPr>
          <p:cNvPr id="5" name="Segnaposto contenuto 2"/>
          <p:cNvSpPr txBox="1">
            <a:spLocks/>
          </p:cNvSpPr>
          <p:nvPr/>
        </p:nvSpPr>
        <p:spPr>
          <a:xfrm>
            <a:off x="428172" y="1894994"/>
            <a:ext cx="5447414" cy="4817694"/>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ptos" panose="020B0004020202020204" pitchFamily="34" charset="0"/>
              </a:rPr>
              <a:t>When the user compiles the form and click ‘Submit order’, the client sends a </a:t>
            </a:r>
            <a:r>
              <a:rPr lang="en-US" b="1" dirty="0">
                <a:latin typeface="Aptos" panose="020B0004020202020204" pitchFamily="34" charset="0"/>
              </a:rPr>
              <a:t>POST request </a:t>
            </a:r>
            <a:r>
              <a:rPr lang="en-US" dirty="0">
                <a:latin typeface="Aptos" panose="020B0004020202020204" pitchFamily="34" charset="0"/>
              </a:rPr>
              <a:t>to a specific URL pointing to a </a:t>
            </a:r>
            <a:r>
              <a:rPr lang="en-US" b="1" dirty="0">
                <a:latin typeface="Aptos" panose="020B0004020202020204" pitchFamily="34" charset="0"/>
              </a:rPr>
              <a:t>program</a:t>
            </a:r>
            <a:r>
              <a:rPr lang="en-US" dirty="0">
                <a:latin typeface="Aptos" panose="020B0004020202020204" pitchFamily="34" charset="0"/>
              </a:rPr>
              <a:t> in the Web server.</a:t>
            </a:r>
          </a:p>
          <a:p>
            <a:r>
              <a:rPr lang="en-US" dirty="0">
                <a:latin typeface="Aptos" panose="020B0004020202020204" pitchFamily="34" charset="0"/>
              </a:rPr>
              <a:t>The POST request will include the input data of the form, properly formatted, in the request body.  </a:t>
            </a:r>
          </a:p>
          <a:p>
            <a:r>
              <a:rPr lang="en-US" dirty="0">
                <a:latin typeface="Aptos" panose="020B0004020202020204" pitchFamily="34" charset="0"/>
              </a:rPr>
              <a:t>The server receives the data and passes them to the program. </a:t>
            </a:r>
          </a:p>
          <a:p>
            <a:r>
              <a:rPr lang="en-US" dirty="0">
                <a:latin typeface="Aptos" panose="020B0004020202020204" pitchFamily="34" charset="0"/>
              </a:rPr>
              <a:t>The program process the data and generates an HTML page, whose content depends on the inserted data. </a:t>
            </a:r>
          </a:p>
          <a:p>
            <a:r>
              <a:rPr lang="en-US" dirty="0">
                <a:latin typeface="Aptos" panose="020B0004020202020204" pitchFamily="34" charset="0"/>
              </a:rPr>
              <a:t>The server returns the HTML page to the client’s browser, in the body of the POST response. </a:t>
            </a:r>
          </a:p>
        </p:txBody>
      </p:sp>
      <p:sp>
        <p:nvSpPr>
          <p:cNvPr id="7" name="Rettangolo 6"/>
          <p:cNvSpPr/>
          <p:nvPr/>
        </p:nvSpPr>
        <p:spPr>
          <a:xfrm>
            <a:off x="6096000" y="5319601"/>
            <a:ext cx="5660093" cy="1134670"/>
          </a:xfrm>
          <a:prstGeom prst="rect">
            <a:avLst/>
          </a:prstGeom>
          <a:ln w="28575">
            <a:solidFill>
              <a:srgbClr val="00B050"/>
            </a:solidFill>
          </a:ln>
        </p:spPr>
        <p:txBody>
          <a:bodyPr wrap="square">
            <a:spAutoFit/>
          </a:bodyPr>
          <a:lstStyle/>
          <a:p>
            <a:pPr marL="0" lvl="1" algn="ctr">
              <a:lnSpc>
                <a:spcPct val="90000"/>
              </a:lnSpc>
              <a:spcBef>
                <a:spcPts val="1000"/>
              </a:spcBef>
              <a:buClr>
                <a:srgbClr val="00B050"/>
              </a:buClr>
            </a:pPr>
            <a:r>
              <a:rPr lang="en-US" sz="2200" dirty="0">
                <a:latin typeface="Aptos" panose="020B0004020202020204" pitchFamily="34" charset="0"/>
              </a:rPr>
              <a:t>How can the server invoke the program? </a:t>
            </a:r>
          </a:p>
          <a:p>
            <a:pPr marL="0" lvl="1" algn="ctr">
              <a:lnSpc>
                <a:spcPct val="90000"/>
              </a:lnSpc>
              <a:spcBef>
                <a:spcPts val="1000"/>
              </a:spcBef>
              <a:buClr>
                <a:srgbClr val="00B050"/>
              </a:buClr>
            </a:pPr>
            <a:r>
              <a:rPr lang="en-US" sz="2200" dirty="0">
                <a:latin typeface="Aptos" panose="020B0004020202020204" pitchFamily="34" charset="0"/>
              </a:rPr>
              <a:t>Using specific APIs (Application Programming Interfaces)</a:t>
            </a:r>
          </a:p>
        </p:txBody>
      </p:sp>
      <p:sp>
        <p:nvSpPr>
          <p:cNvPr id="6" name="Segnaposto numero diapositiva 5"/>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25460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7"/>
            <a:ext cx="11368314" cy="794152"/>
          </a:xfrm>
        </p:spPr>
        <p:txBody>
          <a:bodyPr/>
          <a:lstStyle/>
          <a:p>
            <a:r>
              <a:rPr lang="en-US" dirty="0"/>
              <a:t>Client-side dynamic Web page generation</a:t>
            </a:r>
          </a:p>
        </p:txBody>
      </p:sp>
      <p:sp>
        <p:nvSpPr>
          <p:cNvPr id="3" name="Segnaposto contenuto 2"/>
          <p:cNvSpPr>
            <a:spLocks noGrp="1"/>
          </p:cNvSpPr>
          <p:nvPr>
            <p:ph idx="1"/>
          </p:nvPr>
        </p:nvSpPr>
        <p:spPr>
          <a:xfrm>
            <a:off x="215521" y="1435594"/>
            <a:ext cx="6185279" cy="5005813"/>
          </a:xfrm>
        </p:spPr>
        <p:txBody>
          <a:bodyPr>
            <a:normAutofit lnSpcReduction="10000"/>
          </a:bodyPr>
          <a:lstStyle/>
          <a:p>
            <a:r>
              <a:rPr lang="en-US" sz="2200" dirty="0"/>
              <a:t>Client-side processing is necessary to have applications with a more responsive interface that quickly responds to user commands and interact with the user.</a:t>
            </a:r>
          </a:p>
          <a:p>
            <a:r>
              <a:rPr lang="en-US" sz="2200" dirty="0"/>
              <a:t>It is necessary to have scripts embedded in HTML pages that are executed on the client machine. </a:t>
            </a:r>
          </a:p>
          <a:p>
            <a:r>
              <a:rPr lang="en-US" sz="2200" dirty="0"/>
              <a:t>The most popular language for client-side scripting is </a:t>
            </a:r>
            <a:r>
              <a:rPr lang="en-US" sz="2200" b="1" dirty="0"/>
              <a:t>JavaScript.</a:t>
            </a:r>
            <a:endParaRPr lang="en-US" sz="2200" dirty="0"/>
          </a:p>
          <a:p>
            <a:r>
              <a:rPr lang="en-US" sz="2200" dirty="0"/>
              <a:t>When the browser interprets the HTML page, it also interprets the JavaScript code contained in the page. </a:t>
            </a:r>
            <a:endParaRPr lang="en-GB" dirty="0"/>
          </a:p>
          <a:p>
            <a:r>
              <a:rPr lang="en-GB" dirty="0"/>
              <a:t>All the work is done locally, inside the browser. There is no contact with the server.</a:t>
            </a:r>
            <a:endParaRPr lang="en-US" sz="2200" dirty="0"/>
          </a:p>
        </p:txBody>
      </p:sp>
      <p:sp>
        <p:nvSpPr>
          <p:cNvPr id="7" name="Rettangolo 6"/>
          <p:cNvSpPr/>
          <p:nvPr/>
        </p:nvSpPr>
        <p:spPr>
          <a:xfrm>
            <a:off x="6665545" y="1371353"/>
            <a:ext cx="5264186" cy="5047536"/>
          </a:xfrm>
          <a:prstGeom prst="rect">
            <a:avLst/>
          </a:prstGeom>
          <a:ln w="28575">
            <a:solidFill>
              <a:srgbClr val="00B050"/>
            </a:solidFill>
          </a:ln>
        </p:spPr>
        <p:txBody>
          <a:bodyPr wrap="square">
            <a:spAutoFit/>
          </a:bodyPr>
          <a:lstStyle/>
          <a:p>
            <a:r>
              <a:rPr lang="en-GB" sz="1400" dirty="0">
                <a:latin typeface="Aptos" panose="020B0004020202020204" pitchFamily="34" charset="0"/>
              </a:rPr>
              <a:t>&lt;html&gt;</a:t>
            </a:r>
          </a:p>
          <a:p>
            <a:r>
              <a:rPr lang="en-GB" sz="1400" dirty="0">
                <a:latin typeface="Aptos" panose="020B0004020202020204" pitchFamily="34" charset="0"/>
              </a:rPr>
              <a:t>&lt;head&gt;</a:t>
            </a:r>
          </a:p>
          <a:p>
            <a:r>
              <a:rPr lang="en-GB" sz="1400" dirty="0">
                <a:latin typeface="Aptos" panose="020B0004020202020204" pitchFamily="34" charset="0"/>
              </a:rPr>
              <a:t>&lt;script language="</a:t>
            </a:r>
            <a:r>
              <a:rPr lang="en-GB" sz="1400" dirty="0" err="1">
                <a:latin typeface="Aptos" panose="020B0004020202020204" pitchFamily="34" charset="0"/>
              </a:rPr>
              <a:t>javascript</a:t>
            </a:r>
            <a:r>
              <a:rPr lang="en-GB" sz="1400" dirty="0">
                <a:latin typeface="Aptos" panose="020B0004020202020204" pitchFamily="34" charset="0"/>
              </a:rPr>
              <a:t>" type="text/</a:t>
            </a:r>
            <a:r>
              <a:rPr lang="en-GB" sz="1400" dirty="0" err="1">
                <a:latin typeface="Aptos" panose="020B0004020202020204" pitchFamily="34" charset="0"/>
              </a:rPr>
              <a:t>javascript</a:t>
            </a:r>
            <a:r>
              <a:rPr lang="en-GB" sz="1400" dirty="0">
                <a:latin typeface="Aptos" panose="020B0004020202020204" pitchFamily="34" charset="0"/>
              </a:rPr>
              <a:t>"&gt;</a:t>
            </a:r>
          </a:p>
          <a:p>
            <a:r>
              <a:rPr lang="en-GB" sz="1400" dirty="0">
                <a:latin typeface="Aptos" panose="020B0004020202020204" pitchFamily="34" charset="0"/>
              </a:rPr>
              <a:t>function response(test form) {</a:t>
            </a:r>
          </a:p>
          <a:p>
            <a:r>
              <a:rPr lang="en-GB" sz="1400" dirty="0" err="1">
                <a:latin typeface="Aptos" panose="020B0004020202020204" pitchFamily="34" charset="0"/>
              </a:rPr>
              <a:t>var</a:t>
            </a:r>
            <a:r>
              <a:rPr lang="en-GB" sz="1400" dirty="0">
                <a:latin typeface="Aptos" panose="020B0004020202020204" pitchFamily="34" charset="0"/>
              </a:rPr>
              <a:t> person = test </a:t>
            </a:r>
            <a:r>
              <a:rPr lang="en-GB" sz="1400" dirty="0" err="1">
                <a:latin typeface="Aptos" panose="020B0004020202020204" pitchFamily="34" charset="0"/>
              </a:rPr>
              <a:t>form.name.value</a:t>
            </a:r>
            <a:r>
              <a:rPr lang="en-GB" sz="1400" dirty="0">
                <a:latin typeface="Aptos" panose="020B0004020202020204" pitchFamily="34" charset="0"/>
              </a:rPr>
              <a:t>;</a:t>
            </a:r>
          </a:p>
          <a:p>
            <a:r>
              <a:rPr lang="en-GB" sz="1400" dirty="0" err="1">
                <a:latin typeface="Aptos" panose="020B0004020202020204" pitchFamily="34" charset="0"/>
              </a:rPr>
              <a:t>var</a:t>
            </a:r>
            <a:r>
              <a:rPr lang="en-GB" sz="1400" dirty="0">
                <a:latin typeface="Aptos" panose="020B0004020202020204" pitchFamily="34" charset="0"/>
              </a:rPr>
              <a:t> years = </a:t>
            </a:r>
            <a:r>
              <a:rPr lang="en-GB" sz="1400" dirty="0" err="1">
                <a:latin typeface="Aptos" panose="020B0004020202020204" pitchFamily="34" charset="0"/>
              </a:rPr>
              <a:t>eval</a:t>
            </a:r>
            <a:r>
              <a:rPr lang="en-GB" sz="1400" dirty="0">
                <a:latin typeface="Aptos" panose="020B0004020202020204" pitchFamily="34" charset="0"/>
              </a:rPr>
              <a:t>(test </a:t>
            </a:r>
            <a:r>
              <a:rPr lang="en-GB" sz="1400" dirty="0" err="1">
                <a:latin typeface="Aptos" panose="020B0004020202020204" pitchFamily="34" charset="0"/>
              </a:rPr>
              <a:t>form.age.value</a:t>
            </a:r>
            <a:r>
              <a:rPr lang="en-GB" sz="1400" dirty="0">
                <a:latin typeface="Aptos" panose="020B0004020202020204" pitchFamily="34" charset="0"/>
              </a:rPr>
              <a:t>) + 1;</a:t>
            </a:r>
          </a:p>
          <a:p>
            <a:r>
              <a:rPr lang="en-GB" sz="1400" dirty="0" err="1">
                <a:latin typeface="Aptos" panose="020B0004020202020204" pitchFamily="34" charset="0"/>
              </a:rPr>
              <a:t>document.open</a:t>
            </a:r>
            <a:r>
              <a:rPr lang="en-GB" sz="1400" dirty="0">
                <a:latin typeface="Aptos" panose="020B0004020202020204" pitchFamily="34" charset="0"/>
              </a:rPr>
              <a:t>();</a:t>
            </a:r>
          </a:p>
          <a:p>
            <a:r>
              <a:rPr lang="en-GB" sz="1400" dirty="0" err="1">
                <a:latin typeface="Aptos" panose="020B0004020202020204" pitchFamily="34" charset="0"/>
              </a:rPr>
              <a:t>document.writeln</a:t>
            </a:r>
            <a:r>
              <a:rPr lang="en-GB" sz="1400" dirty="0">
                <a:latin typeface="Aptos" panose="020B0004020202020204" pitchFamily="34" charset="0"/>
              </a:rPr>
              <a:t>("&lt;html&gt; &lt;body&gt;");</a:t>
            </a:r>
          </a:p>
          <a:p>
            <a:r>
              <a:rPr lang="en-GB" sz="1400" dirty="0" err="1">
                <a:latin typeface="Aptos" panose="020B0004020202020204" pitchFamily="34" charset="0"/>
              </a:rPr>
              <a:t>document.writeln</a:t>
            </a:r>
            <a:r>
              <a:rPr lang="en-GB" sz="1400" dirty="0">
                <a:latin typeface="Aptos" panose="020B0004020202020204" pitchFamily="34" charset="0"/>
              </a:rPr>
              <a:t>("Hello " + person + ".&lt;</a:t>
            </a:r>
            <a:r>
              <a:rPr lang="en-GB" sz="1400" dirty="0" err="1">
                <a:latin typeface="Aptos" panose="020B0004020202020204" pitchFamily="34" charset="0"/>
              </a:rPr>
              <a:t>br</a:t>
            </a:r>
            <a:r>
              <a:rPr lang="en-GB" sz="1400" dirty="0">
                <a:latin typeface="Aptos" panose="020B0004020202020204" pitchFamily="34" charset="0"/>
              </a:rPr>
              <a:t>&gt;");</a:t>
            </a:r>
          </a:p>
          <a:p>
            <a:r>
              <a:rPr lang="en-GB" sz="1400" dirty="0" err="1">
                <a:latin typeface="Aptos" panose="020B0004020202020204" pitchFamily="34" charset="0"/>
              </a:rPr>
              <a:t>document.writeln</a:t>
            </a:r>
            <a:r>
              <a:rPr lang="en-GB" sz="1400" dirty="0">
                <a:latin typeface="Aptos" panose="020B0004020202020204" pitchFamily="34" charset="0"/>
              </a:rPr>
              <a:t>("Prediction: next year you will be " + years + ".");</a:t>
            </a:r>
          </a:p>
          <a:p>
            <a:r>
              <a:rPr lang="en-GB" sz="1400" dirty="0" err="1">
                <a:latin typeface="Aptos" panose="020B0004020202020204" pitchFamily="34" charset="0"/>
              </a:rPr>
              <a:t>document.writeln</a:t>
            </a:r>
            <a:r>
              <a:rPr lang="en-GB" sz="1400" dirty="0">
                <a:latin typeface="Aptos" panose="020B0004020202020204" pitchFamily="34" charset="0"/>
              </a:rPr>
              <a:t>("&lt;/body&gt; &lt;/html&gt;");</a:t>
            </a:r>
          </a:p>
          <a:p>
            <a:r>
              <a:rPr lang="en-GB" sz="1400" dirty="0" err="1">
                <a:latin typeface="Aptos" panose="020B0004020202020204" pitchFamily="34" charset="0"/>
              </a:rPr>
              <a:t>document.close</a:t>
            </a:r>
            <a:r>
              <a:rPr lang="en-GB" sz="1400" dirty="0">
                <a:latin typeface="Aptos" panose="020B0004020202020204" pitchFamily="34" charset="0"/>
              </a:rPr>
              <a:t>(); }</a:t>
            </a:r>
          </a:p>
          <a:p>
            <a:r>
              <a:rPr lang="en-GB" sz="1400" dirty="0">
                <a:latin typeface="Aptos" panose="020B0004020202020204" pitchFamily="34" charset="0"/>
              </a:rPr>
              <a:t>&lt;/script&gt;</a:t>
            </a:r>
          </a:p>
          <a:p>
            <a:r>
              <a:rPr lang="en-GB" sz="1400" dirty="0">
                <a:latin typeface="Aptos" panose="020B0004020202020204" pitchFamily="34" charset="0"/>
              </a:rPr>
              <a:t>&lt;/head&gt;</a:t>
            </a:r>
          </a:p>
          <a:p>
            <a:r>
              <a:rPr lang="en-GB" sz="1400" dirty="0">
                <a:latin typeface="Aptos" panose="020B0004020202020204" pitchFamily="34" charset="0"/>
              </a:rPr>
              <a:t>&lt;body&gt;</a:t>
            </a:r>
          </a:p>
          <a:p>
            <a:r>
              <a:rPr lang="en-GB" sz="1400" dirty="0">
                <a:latin typeface="Aptos" panose="020B0004020202020204" pitchFamily="34" charset="0"/>
              </a:rPr>
              <a:t>&lt;form&gt;</a:t>
            </a:r>
          </a:p>
          <a:p>
            <a:r>
              <a:rPr lang="en-GB" sz="1400" dirty="0">
                <a:latin typeface="Aptos" panose="020B0004020202020204" pitchFamily="34" charset="0"/>
              </a:rPr>
              <a:t>Please enter your name: &lt;input type="text" name="name"&gt;</a:t>
            </a:r>
          </a:p>
          <a:p>
            <a:r>
              <a:rPr lang="en-GB" sz="1400" dirty="0">
                <a:latin typeface="Aptos" panose="020B0004020202020204" pitchFamily="34" charset="0"/>
              </a:rPr>
              <a:t>&lt;p&gt;Please enter your age: &lt;input type="text" name="age"&gt;&lt;p&gt;</a:t>
            </a:r>
          </a:p>
          <a:p>
            <a:r>
              <a:rPr lang="en-GB" sz="1400" dirty="0">
                <a:latin typeface="Aptos" panose="020B0004020202020204" pitchFamily="34" charset="0"/>
              </a:rPr>
              <a:t>&lt;input type="button" value="submit" </a:t>
            </a:r>
            <a:r>
              <a:rPr lang="en-GB" sz="1400" dirty="0" err="1">
                <a:latin typeface="Aptos" panose="020B0004020202020204" pitchFamily="34" charset="0"/>
              </a:rPr>
              <a:t>onclick</a:t>
            </a:r>
            <a:r>
              <a:rPr lang="en-GB" sz="1400" dirty="0">
                <a:latin typeface="Aptos" panose="020B0004020202020204" pitchFamily="34" charset="0"/>
              </a:rPr>
              <a:t>="response(</a:t>
            </a:r>
            <a:r>
              <a:rPr lang="en-GB" sz="1400" dirty="0" err="1">
                <a:latin typeface="Aptos" panose="020B0004020202020204" pitchFamily="34" charset="0"/>
              </a:rPr>
              <a:t>this.form</a:t>
            </a:r>
            <a:r>
              <a:rPr lang="en-GB" sz="1400" dirty="0">
                <a:latin typeface="Aptos" panose="020B0004020202020204" pitchFamily="34" charset="0"/>
              </a:rPr>
              <a:t>)"&gt;</a:t>
            </a:r>
          </a:p>
          <a:p>
            <a:r>
              <a:rPr lang="en-GB" sz="1400" dirty="0">
                <a:latin typeface="Aptos" panose="020B0004020202020204" pitchFamily="34" charset="0"/>
              </a:rPr>
              <a:t>&lt;/form&gt;</a:t>
            </a:r>
          </a:p>
          <a:p>
            <a:r>
              <a:rPr lang="en-GB" sz="1400" dirty="0">
                <a:latin typeface="Aptos" panose="020B0004020202020204" pitchFamily="34" charset="0"/>
              </a:rPr>
              <a:t>&lt;/body&gt;</a:t>
            </a:r>
          </a:p>
          <a:p>
            <a:r>
              <a:rPr lang="en-GB" sz="1400" dirty="0">
                <a:latin typeface="Aptos" panose="020B0004020202020204" pitchFamily="34" charset="0"/>
              </a:rPr>
              <a:t>&lt;/html&gt;</a:t>
            </a:r>
            <a:endParaRPr lang="en-US" sz="4400" dirty="0">
              <a:latin typeface="Aptos" panose="020B0004020202020204" pitchFamily="34" charset="0"/>
            </a:endParaRPr>
          </a:p>
        </p:txBody>
      </p:sp>
      <p:sp>
        <p:nvSpPr>
          <p:cNvPr id="8" name="Cornice 7"/>
          <p:cNvSpPr/>
          <p:nvPr/>
        </p:nvSpPr>
        <p:spPr>
          <a:xfrm>
            <a:off x="6613451" y="1814623"/>
            <a:ext cx="5372986" cy="2434289"/>
          </a:xfrm>
          <a:prstGeom prst="frame">
            <a:avLst>
              <a:gd name="adj1" fmla="val 2547"/>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4" name="Segnaposto numero diapositiva 3"/>
          <p:cNvSpPr>
            <a:spLocks noGrp="1"/>
          </p:cNvSpPr>
          <p:nvPr>
            <p:ph type="sldNum" sz="quarter" idx="12"/>
          </p:nvPr>
        </p:nvSpPr>
        <p:spPr>
          <a:xfrm>
            <a:off x="8610600" y="6356350"/>
            <a:ext cx="3185886" cy="337073"/>
          </a:xfrm>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1131981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a Web </a:t>
            </a:r>
            <a:r>
              <a:rPr lang="it-IT" dirty="0" err="1"/>
              <a:t>application</a:t>
            </a:r>
            <a:r>
              <a:rPr lang="it-IT" dirty="0"/>
              <a:t> </a:t>
            </a:r>
            <a:r>
              <a:rPr lang="it-IT" dirty="0" err="1"/>
              <a:t>architecture</a:t>
            </a:r>
            <a:endParaRPr lang="en-GB" dirty="0"/>
          </a:p>
        </p:txBody>
      </p:sp>
      <p:sp>
        <p:nvSpPr>
          <p:cNvPr id="4" name="Rettangolo 3"/>
          <p:cNvSpPr/>
          <p:nvPr/>
        </p:nvSpPr>
        <p:spPr>
          <a:xfrm>
            <a:off x="1062051" y="2293793"/>
            <a:ext cx="3565451" cy="3586969"/>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ptos" panose="020B0004020202020204" pitchFamily="34" charset="0"/>
            </a:endParaRPr>
          </a:p>
        </p:txBody>
      </p:sp>
      <p:sp>
        <p:nvSpPr>
          <p:cNvPr id="5" name="Rettangolo 4"/>
          <p:cNvSpPr/>
          <p:nvPr/>
        </p:nvSpPr>
        <p:spPr>
          <a:xfrm>
            <a:off x="6766994" y="2288479"/>
            <a:ext cx="4624587" cy="3264197"/>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latin typeface="Aptos" panose="020B0004020202020204" pitchFamily="34" charset="0"/>
            </a:endParaRPr>
          </a:p>
        </p:txBody>
      </p:sp>
      <p:sp>
        <p:nvSpPr>
          <p:cNvPr id="6" name="CasellaDiTesto 5"/>
          <p:cNvSpPr txBox="1"/>
          <p:nvPr/>
        </p:nvSpPr>
        <p:spPr>
          <a:xfrm>
            <a:off x="1909111" y="1766774"/>
            <a:ext cx="1871330" cy="461665"/>
          </a:xfrm>
          <a:prstGeom prst="rect">
            <a:avLst/>
          </a:prstGeom>
          <a:noFill/>
        </p:spPr>
        <p:txBody>
          <a:bodyPr wrap="square" rtlCol="0">
            <a:spAutoFit/>
          </a:bodyPr>
          <a:lstStyle/>
          <a:p>
            <a:pPr algn="ctr"/>
            <a:r>
              <a:rPr lang="it-IT" sz="2400" dirty="0">
                <a:latin typeface="Aptos" panose="020B0004020202020204" pitchFamily="34" charset="0"/>
              </a:rPr>
              <a:t>Client</a:t>
            </a:r>
            <a:endParaRPr lang="en-GB" sz="2400" dirty="0">
              <a:latin typeface="Aptos" panose="020B0004020202020204" pitchFamily="34" charset="0"/>
            </a:endParaRPr>
          </a:p>
        </p:txBody>
      </p:sp>
      <p:sp>
        <p:nvSpPr>
          <p:cNvPr id="7" name="CasellaDiTesto 6"/>
          <p:cNvSpPr txBox="1"/>
          <p:nvPr/>
        </p:nvSpPr>
        <p:spPr>
          <a:xfrm>
            <a:off x="7912962" y="1826814"/>
            <a:ext cx="1871330" cy="461665"/>
          </a:xfrm>
          <a:prstGeom prst="rect">
            <a:avLst/>
          </a:prstGeom>
          <a:noFill/>
        </p:spPr>
        <p:txBody>
          <a:bodyPr wrap="square" rtlCol="0">
            <a:spAutoFit/>
          </a:bodyPr>
          <a:lstStyle/>
          <a:p>
            <a:pPr algn="ctr"/>
            <a:r>
              <a:rPr lang="it-IT" sz="2400" dirty="0">
                <a:latin typeface="Aptos" panose="020B0004020202020204" pitchFamily="34" charset="0"/>
              </a:rPr>
              <a:t>Server</a:t>
            </a:r>
            <a:endParaRPr lang="en-GB" sz="2400" dirty="0">
              <a:latin typeface="Aptos" panose="020B0004020202020204" pitchFamily="34" charset="0"/>
            </a:endParaRPr>
          </a:p>
        </p:txBody>
      </p:sp>
      <p:sp>
        <p:nvSpPr>
          <p:cNvPr id="8" name="Rettangolo 7"/>
          <p:cNvSpPr/>
          <p:nvPr/>
        </p:nvSpPr>
        <p:spPr>
          <a:xfrm>
            <a:off x="1476720" y="2932284"/>
            <a:ext cx="2736112" cy="2620392"/>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ptos" panose="020B0004020202020204" pitchFamily="34" charset="0"/>
            </a:endParaRPr>
          </a:p>
        </p:txBody>
      </p:sp>
      <p:sp>
        <p:nvSpPr>
          <p:cNvPr id="9" name="CasellaDiTesto 8"/>
          <p:cNvSpPr txBox="1"/>
          <p:nvPr/>
        </p:nvSpPr>
        <p:spPr>
          <a:xfrm>
            <a:off x="1909111" y="2544957"/>
            <a:ext cx="1871330" cy="400110"/>
          </a:xfrm>
          <a:prstGeom prst="rect">
            <a:avLst/>
          </a:prstGeom>
          <a:noFill/>
        </p:spPr>
        <p:txBody>
          <a:bodyPr wrap="square" rtlCol="0">
            <a:spAutoFit/>
          </a:bodyPr>
          <a:lstStyle/>
          <a:p>
            <a:pPr algn="ctr"/>
            <a:r>
              <a:rPr lang="it-IT" sz="2000" dirty="0">
                <a:latin typeface="Aptos" panose="020B0004020202020204" pitchFamily="34" charset="0"/>
              </a:rPr>
              <a:t>Web browser</a:t>
            </a:r>
            <a:endParaRPr lang="en-GB" sz="2000" dirty="0">
              <a:latin typeface="Aptos" panose="020B0004020202020204" pitchFamily="34" charset="0"/>
            </a:endParaRPr>
          </a:p>
        </p:txBody>
      </p:sp>
      <p:sp>
        <p:nvSpPr>
          <p:cNvPr id="10" name="Rettangolo 9"/>
          <p:cNvSpPr/>
          <p:nvPr/>
        </p:nvSpPr>
        <p:spPr>
          <a:xfrm>
            <a:off x="1639754" y="3109110"/>
            <a:ext cx="2417134" cy="44656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HTML </a:t>
            </a:r>
            <a:r>
              <a:rPr lang="it-IT" dirty="0" err="1">
                <a:latin typeface="Aptos" panose="020B0004020202020204" pitchFamily="34" charset="0"/>
              </a:rPr>
              <a:t>interpreter</a:t>
            </a:r>
            <a:endParaRPr lang="en-GB" dirty="0">
              <a:latin typeface="Aptos" panose="020B0004020202020204" pitchFamily="34" charset="0"/>
            </a:endParaRPr>
          </a:p>
        </p:txBody>
      </p:sp>
      <p:sp>
        <p:nvSpPr>
          <p:cNvPr id="11" name="Rettangolo 10"/>
          <p:cNvSpPr/>
          <p:nvPr/>
        </p:nvSpPr>
        <p:spPr>
          <a:xfrm>
            <a:off x="1639754" y="3703666"/>
            <a:ext cx="2417134" cy="63497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Client-side </a:t>
            </a:r>
            <a:r>
              <a:rPr lang="it-IT" dirty="0" err="1">
                <a:latin typeface="Aptos" panose="020B0004020202020204" pitchFamily="34" charset="0"/>
              </a:rPr>
              <a:t>language</a:t>
            </a:r>
            <a:r>
              <a:rPr lang="it-IT" dirty="0">
                <a:latin typeface="Aptos" panose="020B0004020202020204" pitchFamily="34" charset="0"/>
              </a:rPr>
              <a:t> </a:t>
            </a:r>
            <a:r>
              <a:rPr lang="it-IT" dirty="0" err="1">
                <a:latin typeface="Aptos" panose="020B0004020202020204" pitchFamily="34" charset="0"/>
              </a:rPr>
              <a:t>interpreter</a:t>
            </a:r>
            <a:endParaRPr lang="en-GB" dirty="0">
              <a:latin typeface="Aptos" panose="020B0004020202020204" pitchFamily="34" charset="0"/>
            </a:endParaRPr>
          </a:p>
        </p:txBody>
      </p:sp>
      <p:sp>
        <p:nvSpPr>
          <p:cNvPr id="12" name="Rettangolo 11"/>
          <p:cNvSpPr/>
          <p:nvPr/>
        </p:nvSpPr>
        <p:spPr>
          <a:xfrm>
            <a:off x="1639754" y="4524594"/>
            <a:ext cx="1049078" cy="44656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err="1">
                <a:latin typeface="Aptos" panose="020B0004020202020204" pitchFamily="34" charset="0"/>
              </a:rPr>
              <a:t>Plugs-in</a:t>
            </a:r>
            <a:endParaRPr lang="en-GB" dirty="0">
              <a:latin typeface="Aptos" panose="020B0004020202020204" pitchFamily="34" charset="0"/>
            </a:endParaRPr>
          </a:p>
        </p:txBody>
      </p:sp>
      <p:sp>
        <p:nvSpPr>
          <p:cNvPr id="13" name="CasellaDiTesto 12"/>
          <p:cNvSpPr txBox="1"/>
          <p:nvPr/>
        </p:nvSpPr>
        <p:spPr>
          <a:xfrm>
            <a:off x="2014100" y="4939157"/>
            <a:ext cx="1871330" cy="400110"/>
          </a:xfrm>
          <a:prstGeom prst="rect">
            <a:avLst/>
          </a:prstGeom>
          <a:noFill/>
        </p:spPr>
        <p:txBody>
          <a:bodyPr wrap="square" rtlCol="0">
            <a:spAutoFit/>
          </a:bodyPr>
          <a:lstStyle/>
          <a:p>
            <a:pPr algn="ctr"/>
            <a:r>
              <a:rPr lang="it-IT" sz="2000" dirty="0">
                <a:latin typeface="Aptos" panose="020B0004020202020204" pitchFamily="34" charset="0"/>
              </a:rPr>
              <a:t>…</a:t>
            </a:r>
            <a:endParaRPr lang="en-GB" sz="2000" dirty="0">
              <a:latin typeface="Aptos" panose="020B0004020202020204" pitchFamily="34" charset="0"/>
            </a:endParaRPr>
          </a:p>
        </p:txBody>
      </p:sp>
      <p:sp>
        <p:nvSpPr>
          <p:cNvPr id="15" name="Rettangolo 14"/>
          <p:cNvSpPr/>
          <p:nvPr/>
        </p:nvSpPr>
        <p:spPr>
          <a:xfrm>
            <a:off x="7300157" y="2545862"/>
            <a:ext cx="1933354" cy="103317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Server-side </a:t>
            </a:r>
            <a:r>
              <a:rPr lang="it-IT" dirty="0" err="1">
                <a:latin typeface="Aptos" panose="020B0004020202020204" pitchFamily="34" charset="0"/>
              </a:rPr>
              <a:t>language</a:t>
            </a:r>
            <a:r>
              <a:rPr lang="it-IT" dirty="0">
                <a:latin typeface="Aptos" panose="020B0004020202020204" pitchFamily="34" charset="0"/>
              </a:rPr>
              <a:t>  </a:t>
            </a:r>
            <a:r>
              <a:rPr lang="it-IT" dirty="0" err="1">
                <a:latin typeface="Aptos" panose="020B0004020202020204" pitchFamily="34" charset="0"/>
              </a:rPr>
              <a:t>interpreter</a:t>
            </a:r>
            <a:endParaRPr lang="en-GB" dirty="0">
              <a:latin typeface="Aptos" panose="020B0004020202020204" pitchFamily="34" charset="0"/>
            </a:endParaRPr>
          </a:p>
        </p:txBody>
      </p:sp>
      <p:sp>
        <p:nvSpPr>
          <p:cNvPr id="17" name="Rettangolo 16"/>
          <p:cNvSpPr/>
          <p:nvPr/>
        </p:nvSpPr>
        <p:spPr>
          <a:xfrm>
            <a:off x="9036469" y="4700776"/>
            <a:ext cx="1625011" cy="61386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Back-end </a:t>
            </a:r>
            <a:r>
              <a:rPr lang="it-IT" dirty="0" err="1">
                <a:latin typeface="Aptos" panose="020B0004020202020204" pitchFamily="34" charset="0"/>
              </a:rPr>
              <a:t>programs</a:t>
            </a:r>
            <a:r>
              <a:rPr lang="it-IT" dirty="0">
                <a:latin typeface="Aptos" panose="020B0004020202020204" pitchFamily="34" charset="0"/>
              </a:rPr>
              <a:t> # 2</a:t>
            </a:r>
            <a:endParaRPr lang="en-GB" dirty="0">
              <a:latin typeface="Aptos" panose="020B0004020202020204" pitchFamily="34" charset="0"/>
            </a:endParaRPr>
          </a:p>
        </p:txBody>
      </p:sp>
      <p:sp>
        <p:nvSpPr>
          <p:cNvPr id="18" name="Cilindro 17"/>
          <p:cNvSpPr/>
          <p:nvPr/>
        </p:nvSpPr>
        <p:spPr>
          <a:xfrm>
            <a:off x="9878213" y="3265193"/>
            <a:ext cx="1247553" cy="876945"/>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Database</a:t>
            </a:r>
            <a:endParaRPr lang="en-GB" dirty="0">
              <a:latin typeface="Aptos" panose="020B0004020202020204" pitchFamily="34" charset="0"/>
            </a:endParaRPr>
          </a:p>
        </p:txBody>
      </p:sp>
      <p:cxnSp>
        <p:nvCxnSpPr>
          <p:cNvPr id="20" name="Connettore 2 19"/>
          <p:cNvCxnSpPr/>
          <p:nvPr/>
        </p:nvCxnSpPr>
        <p:spPr>
          <a:xfrm>
            <a:off x="4735601" y="3155520"/>
            <a:ext cx="198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5038029" y="2568493"/>
            <a:ext cx="1375144" cy="461665"/>
          </a:xfrm>
          <a:prstGeom prst="rect">
            <a:avLst/>
          </a:prstGeom>
          <a:noFill/>
        </p:spPr>
        <p:txBody>
          <a:bodyPr wrap="square" rtlCol="0">
            <a:spAutoFit/>
          </a:bodyPr>
          <a:lstStyle/>
          <a:p>
            <a:pPr algn="ctr"/>
            <a:r>
              <a:rPr lang="it-IT" sz="2400" dirty="0">
                <a:latin typeface="Aptos" panose="020B0004020202020204" pitchFamily="34" charset="0"/>
              </a:rPr>
              <a:t>HTTP</a:t>
            </a:r>
            <a:endParaRPr lang="en-GB" sz="2400" dirty="0">
              <a:latin typeface="Aptos" panose="020B0004020202020204" pitchFamily="34" charset="0"/>
            </a:endParaRPr>
          </a:p>
        </p:txBody>
      </p:sp>
      <p:cxnSp>
        <p:nvCxnSpPr>
          <p:cNvPr id="25" name="Connettore 2 24"/>
          <p:cNvCxnSpPr/>
          <p:nvPr/>
        </p:nvCxnSpPr>
        <p:spPr>
          <a:xfrm>
            <a:off x="9373168" y="3211742"/>
            <a:ext cx="411124" cy="198474"/>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nettore 2 29"/>
          <p:cNvCxnSpPr/>
          <p:nvPr/>
        </p:nvCxnSpPr>
        <p:spPr>
          <a:xfrm flipH="1">
            <a:off x="10393890" y="4187494"/>
            <a:ext cx="0" cy="463616"/>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Connettore 2 31"/>
          <p:cNvCxnSpPr/>
          <p:nvPr/>
        </p:nvCxnSpPr>
        <p:spPr>
          <a:xfrm>
            <a:off x="6843813" y="3155520"/>
            <a:ext cx="411124"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Segnaposto numero diapositiva 2"/>
          <p:cNvSpPr>
            <a:spLocks noGrp="1"/>
          </p:cNvSpPr>
          <p:nvPr>
            <p:ph type="sldNum" sz="quarter" idx="12"/>
          </p:nvPr>
        </p:nvSpPr>
        <p:spPr/>
        <p:txBody>
          <a:bodyPr/>
          <a:lstStyle/>
          <a:p>
            <a:fld id="{31DE2C5B-556E-47B8-A792-024C2FCA4ACC}" type="slidenum">
              <a:rPr lang="en-GB" smtClean="0"/>
              <a:t>25</a:t>
            </a:fld>
            <a:endParaRPr lang="en-GB"/>
          </a:p>
        </p:txBody>
      </p:sp>
      <p:sp>
        <p:nvSpPr>
          <p:cNvPr id="14" name="Rettangolo 16">
            <a:extLst>
              <a:ext uri="{FF2B5EF4-FFF2-40B4-BE49-F238E27FC236}">
                <a16:creationId xmlns:a16="http://schemas.microsoft.com/office/drawing/2014/main" id="{BC01BE50-F8B9-36F6-A824-7D32D35A100A}"/>
              </a:ext>
            </a:extLst>
          </p:cNvPr>
          <p:cNvSpPr/>
          <p:nvPr/>
        </p:nvSpPr>
        <p:spPr>
          <a:xfrm>
            <a:off x="7214757" y="4446080"/>
            <a:ext cx="1625011" cy="61386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Back-end </a:t>
            </a:r>
            <a:r>
              <a:rPr lang="it-IT" dirty="0" err="1">
                <a:latin typeface="Aptos" panose="020B0004020202020204" pitchFamily="34" charset="0"/>
              </a:rPr>
              <a:t>program</a:t>
            </a:r>
            <a:r>
              <a:rPr lang="it-IT" dirty="0">
                <a:latin typeface="Aptos" panose="020B0004020202020204" pitchFamily="34" charset="0"/>
              </a:rPr>
              <a:t> # 1</a:t>
            </a:r>
            <a:endParaRPr lang="en-GB" dirty="0">
              <a:latin typeface="Aptos" panose="020B0004020202020204" pitchFamily="34" charset="0"/>
            </a:endParaRPr>
          </a:p>
        </p:txBody>
      </p:sp>
      <p:cxnSp>
        <p:nvCxnSpPr>
          <p:cNvPr id="19" name="Connettore 2 29">
            <a:extLst>
              <a:ext uri="{FF2B5EF4-FFF2-40B4-BE49-F238E27FC236}">
                <a16:creationId xmlns:a16="http://schemas.microsoft.com/office/drawing/2014/main" id="{57DED65E-1E99-73D4-3C18-BB6CD5904AA7}"/>
              </a:ext>
            </a:extLst>
          </p:cNvPr>
          <p:cNvCxnSpPr>
            <a:cxnSpLocks/>
          </p:cNvCxnSpPr>
          <p:nvPr/>
        </p:nvCxnSpPr>
        <p:spPr>
          <a:xfrm>
            <a:off x="8149931" y="3623661"/>
            <a:ext cx="0" cy="714983"/>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CasellaDiTesto 12">
            <a:extLst>
              <a:ext uri="{FF2B5EF4-FFF2-40B4-BE49-F238E27FC236}">
                <a16:creationId xmlns:a16="http://schemas.microsoft.com/office/drawing/2014/main" id="{BEC558DF-C63E-7105-9A53-179F853B4522}"/>
              </a:ext>
            </a:extLst>
          </p:cNvPr>
          <p:cNvSpPr txBox="1"/>
          <p:nvPr/>
        </p:nvSpPr>
        <p:spPr>
          <a:xfrm>
            <a:off x="7501838" y="5078570"/>
            <a:ext cx="1871330" cy="400110"/>
          </a:xfrm>
          <a:prstGeom prst="rect">
            <a:avLst/>
          </a:prstGeom>
          <a:noFill/>
        </p:spPr>
        <p:txBody>
          <a:bodyPr wrap="square" rtlCol="0">
            <a:spAutoFit/>
          </a:bodyPr>
          <a:lstStyle/>
          <a:p>
            <a:pPr algn="ctr"/>
            <a:r>
              <a:rPr lang="it-IT" sz="2000" dirty="0">
                <a:latin typeface="Aptos" panose="020B0004020202020204" pitchFamily="34" charset="0"/>
              </a:rPr>
              <a:t>…</a:t>
            </a:r>
            <a:endParaRPr lang="en-GB" sz="2000" dirty="0">
              <a:latin typeface="Aptos" panose="020B0004020202020204" pitchFamily="34" charset="0"/>
            </a:endParaRPr>
          </a:p>
        </p:txBody>
      </p:sp>
    </p:spTree>
    <p:extLst>
      <p:ext uri="{BB962C8B-B14F-4D97-AF65-F5344CB8AC3E}">
        <p14:creationId xmlns:p14="http://schemas.microsoft.com/office/powerpoint/2010/main" val="83918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Structured data formats</a:t>
            </a:r>
          </a:p>
        </p:txBody>
      </p:sp>
      <p:sp>
        <p:nvSpPr>
          <p:cNvPr id="3" name="Segnaposto contenuto 2"/>
          <p:cNvSpPr>
            <a:spLocks noGrp="1"/>
          </p:cNvSpPr>
          <p:nvPr>
            <p:ph idx="1"/>
          </p:nvPr>
        </p:nvSpPr>
        <p:spPr>
          <a:xfrm>
            <a:off x="666306" y="1361167"/>
            <a:ext cx="10866475" cy="3069066"/>
          </a:xfrm>
        </p:spPr>
        <p:txBody>
          <a:bodyPr>
            <a:normAutofit lnSpcReduction="10000"/>
          </a:bodyPr>
          <a:lstStyle/>
          <a:p>
            <a:r>
              <a:rPr lang="en-US" dirty="0"/>
              <a:t>Web applications need to exchange data with the server.</a:t>
            </a:r>
          </a:p>
          <a:p>
            <a:r>
              <a:rPr lang="en-US" dirty="0"/>
              <a:t>HTML is not suitable for representing data because it mixes content with formatting. It is indeed concerned about the presentation of the content. </a:t>
            </a:r>
          </a:p>
          <a:p>
            <a:pPr lvl="1"/>
            <a:r>
              <a:rPr lang="en-US" sz="2400" dirty="0"/>
              <a:t>It is difficult to automatically retrieve data within an HTML file</a:t>
            </a:r>
          </a:p>
          <a:p>
            <a:r>
              <a:rPr lang="en-US" dirty="0"/>
              <a:t>Two popular structured data formats that facilitate the automatic structured data processing: </a:t>
            </a:r>
          </a:p>
          <a:p>
            <a:pPr lvl="1"/>
            <a:r>
              <a:rPr lang="en-GB" sz="2400" dirty="0"/>
              <a:t>Extensible </a:t>
            </a:r>
            <a:r>
              <a:rPr lang="en-GB" sz="2400" dirty="0" err="1"/>
              <a:t>Markup</a:t>
            </a:r>
            <a:r>
              <a:rPr lang="en-GB" sz="2400" dirty="0"/>
              <a:t> Language (XML)</a:t>
            </a:r>
          </a:p>
          <a:p>
            <a:pPr lvl="1"/>
            <a:r>
              <a:rPr lang="it-IT" sz="2400" dirty="0"/>
              <a:t>JavaScript Object </a:t>
            </a:r>
            <a:r>
              <a:rPr lang="it-IT" sz="2400" dirty="0" err="1"/>
              <a:t>Notation</a:t>
            </a:r>
            <a:r>
              <a:rPr lang="it-IT" sz="2400" dirty="0"/>
              <a:t> (JSON)</a:t>
            </a:r>
            <a:endParaRPr lang="en-GB" sz="2400" dirty="0"/>
          </a:p>
          <a:p>
            <a:pPr lvl="1"/>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2108416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Extensible </a:t>
            </a:r>
            <a:r>
              <a:rPr lang="en-GB" dirty="0" err="1"/>
              <a:t>Markup</a:t>
            </a:r>
            <a:r>
              <a:rPr lang="en-GB" dirty="0"/>
              <a:t> Language (XML)</a:t>
            </a:r>
          </a:p>
        </p:txBody>
      </p:sp>
      <p:sp>
        <p:nvSpPr>
          <p:cNvPr id="3" name="Segnaposto contenuto 2"/>
          <p:cNvSpPr>
            <a:spLocks noGrp="1"/>
          </p:cNvSpPr>
          <p:nvPr>
            <p:ph idx="1"/>
          </p:nvPr>
        </p:nvSpPr>
        <p:spPr>
          <a:xfrm>
            <a:off x="428172" y="1679189"/>
            <a:ext cx="5830861" cy="4303397"/>
          </a:xfrm>
        </p:spPr>
        <p:txBody>
          <a:bodyPr>
            <a:normAutofit/>
          </a:bodyPr>
          <a:lstStyle/>
          <a:p>
            <a:r>
              <a:rPr lang="en-US" dirty="0"/>
              <a:t>A language for specifying structured content.</a:t>
            </a:r>
          </a:p>
          <a:p>
            <a:r>
              <a:rPr lang="en-US" dirty="0"/>
              <a:t>Introduced in 1998.</a:t>
            </a:r>
          </a:p>
          <a:p>
            <a:r>
              <a:rPr lang="en-US" dirty="0"/>
              <a:t>It defines a set of rules for encoding documents in a format that is both human-readable and machine-readable.</a:t>
            </a:r>
          </a:p>
          <a:p>
            <a:r>
              <a:rPr lang="en-US" dirty="0"/>
              <a:t>Unlike HTML, there are no defined tags for XML. Each user can define their own tags.</a:t>
            </a:r>
          </a:p>
          <a:p>
            <a:r>
              <a:rPr lang="en-US" dirty="0"/>
              <a:t>Extension .xml</a:t>
            </a:r>
          </a:p>
          <a:p>
            <a:endParaRPr lang="en-GB" dirty="0"/>
          </a:p>
        </p:txBody>
      </p:sp>
      <p:sp>
        <p:nvSpPr>
          <p:cNvPr id="4" name="Rettangolo 3"/>
          <p:cNvSpPr/>
          <p:nvPr/>
        </p:nvSpPr>
        <p:spPr>
          <a:xfrm>
            <a:off x="6457507" y="1955637"/>
            <a:ext cx="5174511" cy="4185761"/>
          </a:xfrm>
          <a:prstGeom prst="rect">
            <a:avLst/>
          </a:prstGeom>
          <a:ln w="19050">
            <a:solidFill>
              <a:srgbClr val="00B050"/>
            </a:solidFill>
          </a:ln>
        </p:spPr>
        <p:txBody>
          <a:bodyPr wrap="square">
            <a:spAutoFit/>
          </a:bodyPr>
          <a:lstStyle/>
          <a:p>
            <a:r>
              <a:rPr lang="en-GB" sz="1400" dirty="0">
                <a:latin typeface="Aptos" panose="020B0004020202020204" pitchFamily="34" charset="0"/>
              </a:rPr>
              <a:t>&lt;?xml version="1.0" ?&gt;</a:t>
            </a:r>
          </a:p>
          <a:p>
            <a:r>
              <a:rPr lang="en-GB" sz="1400" dirty="0">
                <a:latin typeface="Aptos" panose="020B0004020202020204" pitchFamily="34" charset="0"/>
              </a:rPr>
              <a:t>&lt;book list&gt;</a:t>
            </a:r>
          </a:p>
          <a:p>
            <a:r>
              <a:rPr lang="en-GB" sz="1400" dirty="0">
                <a:latin typeface="Aptos" panose="020B0004020202020204" pitchFamily="34" charset="0"/>
              </a:rPr>
              <a:t>&lt;book&gt;</a:t>
            </a:r>
          </a:p>
          <a:p>
            <a:r>
              <a:rPr lang="en-GB" sz="1400" dirty="0">
                <a:latin typeface="Aptos" panose="020B0004020202020204" pitchFamily="34" charset="0"/>
              </a:rPr>
              <a:t>&lt;title&gt; Human </a:t>
            </a:r>
            <a:r>
              <a:rPr lang="en-GB" sz="1400" dirty="0" err="1">
                <a:latin typeface="Aptos" panose="020B0004020202020204" pitchFamily="34" charset="0"/>
              </a:rPr>
              <a:t>Behavior</a:t>
            </a:r>
            <a:r>
              <a:rPr lang="en-GB" sz="1400" dirty="0">
                <a:latin typeface="Aptos" panose="020B0004020202020204" pitchFamily="34" charset="0"/>
              </a:rPr>
              <a:t> and the Principle of Least Effort &lt;/title&gt;</a:t>
            </a:r>
          </a:p>
          <a:p>
            <a:r>
              <a:rPr lang="en-GB" sz="1400" dirty="0">
                <a:latin typeface="Aptos" panose="020B0004020202020204" pitchFamily="34" charset="0"/>
              </a:rPr>
              <a:t>&lt;author&gt; George </a:t>
            </a:r>
            <a:r>
              <a:rPr lang="en-GB" sz="1400" dirty="0" err="1">
                <a:latin typeface="Aptos" panose="020B0004020202020204" pitchFamily="34" charset="0"/>
              </a:rPr>
              <a:t>Zipf</a:t>
            </a:r>
            <a:r>
              <a:rPr lang="en-GB" sz="1400" dirty="0">
                <a:latin typeface="Aptos" panose="020B0004020202020204" pitchFamily="34" charset="0"/>
              </a:rPr>
              <a:t>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&lt;book&gt;</a:t>
            </a:r>
          </a:p>
          <a:p>
            <a:r>
              <a:rPr lang="en-GB" sz="1400" dirty="0">
                <a:latin typeface="Aptos" panose="020B0004020202020204" pitchFamily="34" charset="0"/>
              </a:rPr>
              <a:t>&lt;title&gt; The Mathematical Theory of Communication &lt;/title&gt;</a:t>
            </a:r>
          </a:p>
          <a:p>
            <a:r>
              <a:rPr lang="en-GB" sz="1400" dirty="0">
                <a:latin typeface="Aptos" panose="020B0004020202020204" pitchFamily="34" charset="0"/>
              </a:rPr>
              <a:t>&lt;author&gt; Claude E. Shannon &lt;/author&gt;</a:t>
            </a:r>
          </a:p>
          <a:p>
            <a:r>
              <a:rPr lang="en-GB" sz="1400" dirty="0">
                <a:latin typeface="Aptos" panose="020B0004020202020204" pitchFamily="34" charset="0"/>
              </a:rPr>
              <a:t>&lt;author&gt; Warren Weaver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&lt;book&gt;</a:t>
            </a:r>
          </a:p>
          <a:p>
            <a:r>
              <a:rPr lang="en-GB" sz="1400" dirty="0">
                <a:latin typeface="Aptos" panose="020B0004020202020204" pitchFamily="34" charset="0"/>
              </a:rPr>
              <a:t>&lt;title&gt; Nineteen Eighty-Four &lt;/title&gt;</a:t>
            </a:r>
          </a:p>
          <a:p>
            <a:r>
              <a:rPr lang="en-GB" sz="1400" dirty="0">
                <a:latin typeface="Aptos" panose="020B0004020202020204" pitchFamily="34" charset="0"/>
              </a:rPr>
              <a:t>&lt;author&gt; George Orwell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 list&gt;</a:t>
            </a:r>
          </a:p>
        </p:txBody>
      </p:sp>
      <p:sp>
        <p:nvSpPr>
          <p:cNvPr id="5" name="CasellaDiTesto 4"/>
          <p:cNvSpPr txBox="1"/>
          <p:nvPr/>
        </p:nvSpPr>
        <p:spPr>
          <a:xfrm>
            <a:off x="6712689" y="1494524"/>
            <a:ext cx="4798828" cy="369332"/>
          </a:xfrm>
          <a:prstGeom prst="rect">
            <a:avLst/>
          </a:prstGeom>
          <a:noFill/>
        </p:spPr>
        <p:txBody>
          <a:bodyPr wrap="square" rtlCol="0">
            <a:spAutoFit/>
          </a:bodyPr>
          <a:lstStyle/>
          <a:p>
            <a:r>
              <a:rPr lang="it-IT" dirty="0" err="1">
                <a:latin typeface="Aptos" panose="020B0004020202020204" pitchFamily="34" charset="0"/>
              </a:rPr>
              <a:t>Example</a:t>
            </a:r>
            <a:r>
              <a:rPr lang="it-IT" dirty="0">
                <a:latin typeface="Aptos" panose="020B0004020202020204" pitchFamily="34" charset="0"/>
              </a:rPr>
              <a:t> of XML code </a:t>
            </a:r>
            <a:r>
              <a:rPr lang="it-IT" dirty="0" err="1">
                <a:latin typeface="Aptos" panose="020B0004020202020204" pitchFamily="34" charset="0"/>
              </a:rPr>
              <a:t>that</a:t>
            </a:r>
            <a:r>
              <a:rPr lang="it-IT" dirty="0">
                <a:latin typeface="Aptos" panose="020B0004020202020204" pitchFamily="34" charset="0"/>
              </a:rPr>
              <a:t> </a:t>
            </a:r>
            <a:r>
              <a:rPr lang="it-IT" dirty="0" err="1">
                <a:latin typeface="Aptos" panose="020B0004020202020204" pitchFamily="34" charset="0"/>
              </a:rPr>
              <a:t>define</a:t>
            </a:r>
            <a:r>
              <a:rPr lang="it-IT" dirty="0">
                <a:latin typeface="Aptos" panose="020B0004020202020204" pitchFamily="34" charset="0"/>
              </a:rPr>
              <a:t> a book list</a:t>
            </a:r>
            <a:endParaRPr lang="en-GB"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341176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JavaScript Object </a:t>
            </a:r>
            <a:r>
              <a:rPr lang="it-IT" dirty="0" err="1"/>
              <a:t>Notation</a:t>
            </a:r>
            <a:r>
              <a:rPr lang="it-IT" dirty="0"/>
              <a:t> (JSON)</a:t>
            </a:r>
            <a:endParaRPr lang="en-GB" dirty="0"/>
          </a:p>
        </p:txBody>
      </p:sp>
      <p:sp>
        <p:nvSpPr>
          <p:cNvPr id="3" name="Segnaposto contenuto 2"/>
          <p:cNvSpPr>
            <a:spLocks noGrp="1"/>
          </p:cNvSpPr>
          <p:nvPr>
            <p:ph idx="1"/>
          </p:nvPr>
        </p:nvSpPr>
        <p:spPr/>
        <p:txBody>
          <a:bodyPr>
            <a:normAutofit/>
          </a:bodyPr>
          <a:lstStyle/>
          <a:p>
            <a:r>
              <a:rPr lang="en-US" dirty="0"/>
              <a:t>A format that uses human-readable text to store and transmit data objects consisting of attribute–value pairs and arrays.</a:t>
            </a:r>
          </a:p>
          <a:p>
            <a:r>
              <a:rPr lang="en-US" dirty="0"/>
              <a:t>Introduced in 2001.</a:t>
            </a:r>
          </a:p>
          <a:p>
            <a:r>
              <a:rPr lang="en-US" dirty="0"/>
              <a:t>JSON is language-independent. It was derived from JavaScript, but many modern programming languages include code to generate and parse JSON-format data.</a:t>
            </a:r>
          </a:p>
          <a:p>
            <a:r>
              <a:rPr lang="en-US" dirty="0"/>
              <a:t>Extension .</a:t>
            </a:r>
            <a:r>
              <a:rPr lang="en-US" dirty="0" err="1"/>
              <a:t>json</a:t>
            </a:r>
            <a:endParaRPr lang="en-US" dirty="0"/>
          </a:p>
          <a:p>
            <a:r>
              <a:rPr lang="en-US" dirty="0"/>
              <a:t>JSON data types: number, string, Boolean, null (empty value)</a:t>
            </a:r>
          </a:p>
          <a:p>
            <a:r>
              <a:rPr lang="en-US" dirty="0"/>
              <a:t>JSON data structures</a:t>
            </a:r>
          </a:p>
          <a:p>
            <a:pPr lvl="1"/>
            <a:r>
              <a:rPr lang="en-US" sz="2400" dirty="0"/>
              <a:t>Object</a:t>
            </a:r>
          </a:p>
          <a:p>
            <a:pPr lvl="1"/>
            <a:r>
              <a:rPr lang="en-US" sz="2400" dirty="0"/>
              <a:t>Array</a:t>
            </a:r>
          </a:p>
          <a:p>
            <a:pPr lvl="1"/>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3144760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JSON data </a:t>
            </a:r>
            <a:r>
              <a:rPr lang="it-IT" dirty="0" err="1"/>
              <a:t>structures</a:t>
            </a:r>
            <a:endParaRPr lang="en-GB" dirty="0"/>
          </a:p>
        </p:txBody>
      </p:sp>
      <p:pic>
        <p:nvPicPr>
          <p:cNvPr id="5" name="Segnaposto contenuto 4"/>
          <p:cNvPicPr>
            <a:picLocks noGrp="1" noChangeAspect="1"/>
          </p:cNvPicPr>
          <p:nvPr>
            <p:ph idx="1"/>
          </p:nvPr>
        </p:nvPicPr>
        <p:blipFill rotWithShape="1">
          <a:blip r:embed="rId2">
            <a:extLst>
              <a:ext uri="{28A0092B-C50C-407E-A947-70E740481C1C}">
                <a14:useLocalDpi xmlns:a14="http://schemas.microsoft.com/office/drawing/2010/main" val="0"/>
              </a:ext>
            </a:extLst>
          </a:blip>
          <a:srcRect t="37061"/>
          <a:stretch/>
        </p:blipFill>
        <p:spPr>
          <a:xfrm>
            <a:off x="8164878" y="2636875"/>
            <a:ext cx="2595271" cy="4043695"/>
          </a:xfrm>
        </p:spPr>
      </p:pic>
      <p:pic>
        <p:nvPicPr>
          <p:cNvPr id="6" name="Segnaposto contenuto 4"/>
          <p:cNvPicPr>
            <a:picLocks noChangeAspect="1"/>
          </p:cNvPicPr>
          <p:nvPr/>
        </p:nvPicPr>
        <p:blipFill rotWithShape="1">
          <a:blip r:embed="rId2">
            <a:extLst>
              <a:ext uri="{28A0092B-C50C-407E-A947-70E740481C1C}">
                <a14:useLocalDpi xmlns:a14="http://schemas.microsoft.com/office/drawing/2010/main" val="0"/>
              </a:ext>
            </a:extLst>
          </a:blip>
          <a:srcRect t="5772" b="68846"/>
          <a:stretch/>
        </p:blipFill>
        <p:spPr>
          <a:xfrm>
            <a:off x="1201116" y="2721934"/>
            <a:ext cx="3801725" cy="2388781"/>
          </a:xfrm>
          <a:prstGeom prst="rect">
            <a:avLst/>
          </a:prstGeom>
        </p:spPr>
      </p:pic>
      <p:sp>
        <p:nvSpPr>
          <p:cNvPr id="7" name="CasellaDiTesto 6"/>
          <p:cNvSpPr txBox="1"/>
          <p:nvPr/>
        </p:nvSpPr>
        <p:spPr>
          <a:xfrm>
            <a:off x="0" y="1350708"/>
            <a:ext cx="6203959" cy="1514261"/>
          </a:xfrm>
          <a:prstGeom prst="rect">
            <a:avLst/>
          </a:prstGeom>
          <a:noFill/>
        </p:spPr>
        <p:txBody>
          <a:bodyPr wrap="square" rtlCol="0">
            <a:spAutoFit/>
          </a:bodyPr>
          <a:lstStyle/>
          <a:p>
            <a:pPr marL="800100" lvl="1" indent="-342900">
              <a:lnSpc>
                <a:spcPct val="90000"/>
              </a:lnSpc>
              <a:spcBef>
                <a:spcPts val="500"/>
              </a:spcBef>
              <a:buClr>
                <a:srgbClr val="00B050"/>
              </a:buClr>
              <a:buFont typeface="Wingdings" panose="05000000000000000000" pitchFamily="2" charset="2"/>
              <a:buChar char="Ø"/>
            </a:pPr>
            <a:r>
              <a:rPr lang="it-IT" sz="1900" b="1" dirty="0">
                <a:latin typeface="Aptos" panose="020B0004020202020204" pitchFamily="34" charset="0"/>
              </a:rPr>
              <a:t>JSON </a:t>
            </a:r>
            <a:r>
              <a:rPr lang="it-IT" sz="1900" b="1" dirty="0" err="1">
                <a:latin typeface="Aptos" panose="020B0004020202020204" pitchFamily="34" charset="0"/>
              </a:rPr>
              <a:t>object</a:t>
            </a:r>
            <a:r>
              <a:rPr lang="it-IT" sz="1900" dirty="0">
                <a:latin typeface="Aptos" panose="020B0004020202020204" pitchFamily="34" charset="0"/>
              </a:rPr>
              <a:t>: </a:t>
            </a:r>
            <a:r>
              <a:rPr lang="en-US" sz="1900" dirty="0">
                <a:solidFill>
                  <a:prstClr val="black"/>
                </a:solidFill>
                <a:latin typeface="Aptos" panose="020B0004020202020204" pitchFamily="34" charset="0"/>
              </a:rPr>
              <a:t>a collection of name–value pairs where the names (also called keys) are strings. The order of pairs is not relevant. The object is surrounded by curly braces. </a:t>
            </a:r>
          </a:p>
          <a:p>
            <a:pPr algn="ctr"/>
            <a:endParaRPr lang="en-GB" sz="2400" dirty="0">
              <a:latin typeface="Aptos" panose="020B0004020202020204" pitchFamily="34" charset="0"/>
            </a:endParaRPr>
          </a:p>
        </p:txBody>
      </p:sp>
      <p:sp>
        <p:nvSpPr>
          <p:cNvPr id="8" name="CasellaDiTesto 7"/>
          <p:cNvSpPr txBox="1"/>
          <p:nvPr/>
        </p:nvSpPr>
        <p:spPr>
          <a:xfrm>
            <a:off x="6203959" y="1350708"/>
            <a:ext cx="5654609" cy="1144929"/>
          </a:xfrm>
          <a:prstGeom prst="rect">
            <a:avLst/>
          </a:prstGeom>
          <a:noFill/>
        </p:spPr>
        <p:txBody>
          <a:bodyPr wrap="square" rtlCol="0">
            <a:spAutoFit/>
          </a:bodyPr>
          <a:lstStyle/>
          <a:p>
            <a:pPr marL="800100" lvl="1" indent="-342900">
              <a:lnSpc>
                <a:spcPct val="90000"/>
              </a:lnSpc>
              <a:spcBef>
                <a:spcPts val="500"/>
              </a:spcBef>
              <a:buClr>
                <a:srgbClr val="00B050"/>
              </a:buClr>
              <a:buFont typeface="Wingdings" panose="05000000000000000000" pitchFamily="2" charset="2"/>
              <a:buChar char="Ø"/>
            </a:pPr>
            <a:r>
              <a:rPr lang="it-IT" sz="1900" b="1" dirty="0">
                <a:latin typeface="Aptos" panose="020B0004020202020204" pitchFamily="34" charset="0"/>
              </a:rPr>
              <a:t>JSON array: </a:t>
            </a:r>
            <a:r>
              <a:rPr lang="en-US" sz="1900" dirty="0">
                <a:latin typeface="Aptos" panose="020B0004020202020204" pitchFamily="34" charset="0"/>
              </a:rPr>
              <a:t>an ordered list of zero or more elements, each of which may be of any type. Arrays use square bracket notation with comma-separated elements.</a:t>
            </a:r>
            <a:endParaRPr lang="en-GB" sz="1900" dirty="0">
              <a:latin typeface="Aptos" panose="020B0004020202020204" pitchFamily="34" charset="0"/>
            </a:endParaRPr>
          </a:p>
        </p:txBody>
      </p:sp>
      <p:sp>
        <p:nvSpPr>
          <p:cNvPr id="4" name="Rettangolo 3"/>
          <p:cNvSpPr/>
          <p:nvPr/>
        </p:nvSpPr>
        <p:spPr>
          <a:xfrm>
            <a:off x="839777" y="5507292"/>
            <a:ext cx="6571030" cy="400110"/>
          </a:xfrm>
          <a:prstGeom prst="rect">
            <a:avLst/>
          </a:prstGeom>
        </p:spPr>
        <p:txBody>
          <a:bodyPr wrap="none">
            <a:spAutoFit/>
          </a:bodyPr>
          <a:lstStyle/>
          <a:p>
            <a:r>
              <a:rPr lang="en-US" sz="2000" dirty="0">
                <a:latin typeface="Aptos" panose="020B0004020202020204" pitchFamily="34" charset="0"/>
              </a:rPr>
              <a:t>Objects can contain array and arrays can contain objects.</a:t>
            </a:r>
          </a:p>
        </p:txBody>
      </p:sp>
      <p:sp>
        <p:nvSpPr>
          <p:cNvPr id="9" name="Segnaposto numero diapositiva 8"/>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2901513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Why</a:t>
            </a:r>
            <a:r>
              <a:rPr lang="it-IT" dirty="0"/>
              <a:t> JSON are </a:t>
            </a:r>
            <a:r>
              <a:rPr lang="it-IT" dirty="0" err="1"/>
              <a:t>important</a:t>
            </a:r>
            <a:r>
              <a:rPr lang="it-IT" dirty="0"/>
              <a:t> </a:t>
            </a:r>
            <a:r>
              <a:rPr lang="it-IT" dirty="0" err="1"/>
              <a:t>here</a:t>
            </a:r>
            <a:r>
              <a:rPr lang="it-IT" dirty="0"/>
              <a:t>? </a:t>
            </a:r>
            <a:r>
              <a:rPr lang="it-IT" dirty="0" err="1"/>
              <a:t>What</a:t>
            </a:r>
            <a:r>
              <a:rPr lang="it-IT" dirty="0"/>
              <a:t> </a:t>
            </a:r>
            <a:r>
              <a:rPr lang="it-IT" dirty="0" err="1"/>
              <a:t>we</a:t>
            </a:r>
            <a:r>
              <a:rPr lang="it-IT" dirty="0"/>
              <a:t> </a:t>
            </a:r>
            <a:r>
              <a:rPr lang="it-IT" dirty="0" err="1"/>
              <a:t>need</a:t>
            </a:r>
            <a:r>
              <a:rPr lang="it-IT" dirty="0"/>
              <a:t>?</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30</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1" y="1679189"/>
            <a:ext cx="11522087" cy="1414827"/>
          </a:xfrm>
        </p:spPr>
        <p:txBody>
          <a:bodyPr>
            <a:normAutofit/>
          </a:bodyPr>
          <a:lstStyle/>
          <a:p>
            <a:r>
              <a:rPr lang="en-US" dirty="0"/>
              <a:t>The Fitbit data you will need to develop your project (stored in the IMPACT server are stored in a JSON format</a:t>
            </a:r>
          </a:p>
          <a:p>
            <a:r>
              <a:rPr lang="en-US" dirty="0"/>
              <a:t>We need to learn how to make and ”debug” our requests!</a:t>
            </a:r>
            <a:endParaRPr lang="en-GB" dirty="0"/>
          </a:p>
        </p:txBody>
      </p:sp>
      <p:pic>
        <p:nvPicPr>
          <p:cNvPr id="13" name="Picture 12">
            <a:extLst>
              <a:ext uri="{FF2B5EF4-FFF2-40B4-BE49-F238E27FC236}">
                <a16:creationId xmlns:a16="http://schemas.microsoft.com/office/drawing/2014/main" id="{6B51E6AB-2E76-2139-19E5-F85C0D24C984}"/>
              </a:ext>
            </a:extLst>
          </p:cNvPr>
          <p:cNvPicPr>
            <a:picLocks noChangeAspect="1"/>
          </p:cNvPicPr>
          <p:nvPr/>
        </p:nvPicPr>
        <p:blipFill>
          <a:blip r:embed="rId2"/>
          <a:stretch>
            <a:fillRect/>
          </a:stretch>
        </p:blipFill>
        <p:spPr>
          <a:xfrm>
            <a:off x="5774766" y="5402103"/>
            <a:ext cx="1049011" cy="1106755"/>
          </a:xfrm>
          <a:prstGeom prst="rect">
            <a:avLst/>
          </a:prstGeom>
        </p:spPr>
      </p:pic>
      <p:sp>
        <p:nvSpPr>
          <p:cNvPr id="14" name="TextBox 13">
            <a:extLst>
              <a:ext uri="{FF2B5EF4-FFF2-40B4-BE49-F238E27FC236}">
                <a16:creationId xmlns:a16="http://schemas.microsoft.com/office/drawing/2014/main" id="{DB4448B8-8D9E-6F3C-723D-97090E6B664B}"/>
              </a:ext>
            </a:extLst>
          </p:cNvPr>
          <p:cNvSpPr txBox="1"/>
          <p:nvPr/>
        </p:nvSpPr>
        <p:spPr>
          <a:xfrm>
            <a:off x="3632454" y="3470907"/>
            <a:ext cx="4162351" cy="2862322"/>
          </a:xfrm>
          <a:prstGeom prst="rect">
            <a:avLst/>
          </a:prstGeom>
          <a:noFill/>
        </p:spPr>
        <p:txBody>
          <a:bodyPr wrap="square">
            <a:spAutoFit/>
          </a:bodyPr>
          <a:lstStyle/>
          <a:p>
            <a:r>
              <a:rPr lang="en-GB" sz="1000" b="0" dirty="0">
                <a:effectLst/>
                <a:latin typeface="Aptos" panose="020B0004020202020204" pitchFamily="34" charset="0"/>
              </a:rPr>
              <a:t>[</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"03:10:19",</a:t>
            </a:r>
          </a:p>
          <a:p>
            <a:r>
              <a:rPr lang="en-GB" sz="1000" b="0" dirty="0">
                <a:effectLst/>
                <a:latin typeface="Aptos" panose="020B0004020202020204" pitchFamily="34" charset="0"/>
              </a:rPr>
              <a:t>        "value": 58,</a:t>
            </a:r>
          </a:p>
          <a:p>
            <a:r>
              <a:rPr lang="en-GB" sz="1000" b="0" dirty="0">
                <a:effectLst/>
                <a:latin typeface="Aptos" panose="020B0004020202020204" pitchFamily="34" charset="0"/>
              </a:rPr>
              <a:t>        "confidence": 1</a:t>
            </a:r>
          </a:p>
          <a:p>
            <a:r>
              <a:rPr lang="en-GB" sz="1000" b="0" dirty="0">
                <a:effectLst/>
                <a:latin typeface="Aptos" panose="020B0004020202020204" pitchFamily="34" charset="0"/>
              </a:rPr>
              <a:t>    },</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"03:10:24",</a:t>
            </a:r>
          </a:p>
          <a:p>
            <a:r>
              <a:rPr lang="en-GB" sz="1000" b="0" dirty="0">
                <a:effectLst/>
                <a:latin typeface="Aptos" panose="020B0004020202020204" pitchFamily="34" charset="0"/>
              </a:rPr>
              <a:t>        "value": 54,</a:t>
            </a:r>
          </a:p>
          <a:p>
            <a:r>
              <a:rPr lang="en-GB" sz="1000" b="0" dirty="0">
                <a:effectLst/>
                <a:latin typeface="Aptos" panose="020B0004020202020204" pitchFamily="34" charset="0"/>
              </a:rPr>
              <a:t>        "confidence": 3</a:t>
            </a:r>
          </a:p>
          <a:p>
            <a:r>
              <a:rPr lang="en-GB" sz="1000" b="0" dirty="0">
                <a:effectLst/>
                <a:latin typeface="Aptos" panose="020B0004020202020204" pitchFamily="34" charset="0"/>
              </a:rPr>
              <a:t>    },</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"03:10:29",</a:t>
            </a:r>
          </a:p>
          <a:p>
            <a:r>
              <a:rPr lang="en-GB" sz="1000" b="0" dirty="0">
                <a:effectLst/>
                <a:latin typeface="Aptos" panose="020B0004020202020204" pitchFamily="34" charset="0"/>
              </a:rPr>
              <a:t>        "value": 52,</a:t>
            </a:r>
          </a:p>
          <a:p>
            <a:r>
              <a:rPr lang="en-GB" sz="1000" b="0" dirty="0">
                <a:effectLst/>
                <a:latin typeface="Aptos" panose="020B0004020202020204" pitchFamily="34" charset="0"/>
              </a:rPr>
              <a:t>        "confidence": 3</a:t>
            </a:r>
          </a:p>
          <a:p>
            <a:r>
              <a:rPr lang="en-GB" sz="1000" b="0" dirty="0">
                <a:effectLst/>
                <a:latin typeface="Aptos" panose="020B0004020202020204" pitchFamily="34" charset="0"/>
              </a:rPr>
              <a:t>    },</a:t>
            </a:r>
            <a:br>
              <a:rPr lang="en-GB" sz="1000" b="0" dirty="0">
                <a:effectLst/>
                <a:latin typeface="Aptos" panose="020B0004020202020204" pitchFamily="34" charset="0"/>
              </a:rPr>
            </a:br>
            <a:r>
              <a:rPr lang="en-GB" sz="1000" b="0" dirty="0">
                <a:effectLst/>
                <a:latin typeface="Aptos" panose="020B0004020202020204" pitchFamily="34" charset="0"/>
              </a:rPr>
              <a:t>    </a:t>
            </a:r>
            <a:r>
              <a:rPr lang="en-GB" sz="1000" dirty="0">
                <a:latin typeface="Aptos" panose="020B0004020202020204" pitchFamily="34" charset="0"/>
              </a:rPr>
              <a:t>...</a:t>
            </a:r>
          </a:p>
          <a:p>
            <a:r>
              <a:rPr lang="en-GB" sz="1000" b="0" dirty="0">
                <a:effectLst/>
                <a:latin typeface="Aptos" panose="020B0004020202020204" pitchFamily="34" charset="0"/>
              </a:rPr>
              <a:t>]</a:t>
            </a:r>
          </a:p>
        </p:txBody>
      </p:sp>
      <p:cxnSp>
        <p:nvCxnSpPr>
          <p:cNvPr id="15" name="Straight Arrow Connector 14">
            <a:extLst>
              <a:ext uri="{FF2B5EF4-FFF2-40B4-BE49-F238E27FC236}">
                <a16:creationId xmlns:a16="http://schemas.microsoft.com/office/drawing/2014/main" id="{C09ECB14-6466-9D43-4944-BFE8541950AD}"/>
              </a:ext>
            </a:extLst>
          </p:cNvPr>
          <p:cNvCxnSpPr>
            <a:cxnSpLocks/>
          </p:cNvCxnSpPr>
          <p:nvPr/>
        </p:nvCxnSpPr>
        <p:spPr>
          <a:xfrm>
            <a:off x="7315200" y="4579343"/>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8" name="Group 17">
            <a:extLst>
              <a:ext uri="{FF2B5EF4-FFF2-40B4-BE49-F238E27FC236}">
                <a16:creationId xmlns:a16="http://schemas.microsoft.com/office/drawing/2014/main" id="{7664F556-4D73-8BD0-6FFA-9AC093CDB9EF}"/>
              </a:ext>
            </a:extLst>
          </p:cNvPr>
          <p:cNvGrpSpPr/>
          <p:nvPr/>
        </p:nvGrpSpPr>
        <p:grpSpPr>
          <a:xfrm>
            <a:off x="290607" y="3988637"/>
            <a:ext cx="2102029" cy="2102029"/>
            <a:chOff x="0" y="1584963"/>
            <a:chExt cx="2102029" cy="2102029"/>
          </a:xfrm>
        </p:grpSpPr>
        <p:pic>
          <p:nvPicPr>
            <p:cNvPr id="19" name="Graphic 18" descr="Smart Phone outline">
              <a:extLst>
                <a:ext uri="{FF2B5EF4-FFF2-40B4-BE49-F238E27FC236}">
                  <a16:creationId xmlns:a16="http://schemas.microsoft.com/office/drawing/2014/main" id="{ECB9C29A-4F8A-08AE-1E10-9724B6389B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584963"/>
              <a:ext cx="2102029" cy="2102029"/>
            </a:xfrm>
            <a:prstGeom prst="rect">
              <a:avLst/>
            </a:prstGeom>
          </p:spPr>
        </p:pic>
        <p:pic>
          <p:nvPicPr>
            <p:cNvPr id="20" name="Picture 19">
              <a:extLst>
                <a:ext uri="{FF2B5EF4-FFF2-40B4-BE49-F238E27FC236}">
                  <a16:creationId xmlns:a16="http://schemas.microsoft.com/office/drawing/2014/main" id="{07516868-3932-33A2-A22A-3800EEF4A112}"/>
                </a:ext>
              </a:extLst>
            </p:cNvPr>
            <p:cNvPicPr>
              <a:picLocks noChangeAspect="1"/>
            </p:cNvPicPr>
            <p:nvPr/>
          </p:nvPicPr>
          <p:blipFill>
            <a:blip r:embed="rId5"/>
            <a:stretch>
              <a:fillRect/>
            </a:stretch>
          </p:blipFill>
          <p:spPr>
            <a:xfrm>
              <a:off x="735199" y="2175669"/>
              <a:ext cx="623644" cy="920618"/>
            </a:xfrm>
            <a:prstGeom prst="rect">
              <a:avLst/>
            </a:prstGeom>
          </p:spPr>
        </p:pic>
      </p:grpSp>
      <p:sp>
        <p:nvSpPr>
          <p:cNvPr id="21" name="Content Placeholder 2">
            <a:extLst>
              <a:ext uri="{FF2B5EF4-FFF2-40B4-BE49-F238E27FC236}">
                <a16:creationId xmlns:a16="http://schemas.microsoft.com/office/drawing/2014/main" id="{EA32CC81-EBC4-D66D-762C-4A5BCB192794}"/>
              </a:ext>
            </a:extLst>
          </p:cNvPr>
          <p:cNvSpPr txBox="1">
            <a:spLocks/>
          </p:cNvSpPr>
          <p:nvPr/>
        </p:nvSpPr>
        <p:spPr>
          <a:xfrm>
            <a:off x="402688" y="6124801"/>
            <a:ext cx="1869879" cy="55463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400" dirty="0">
                <a:latin typeface="Aptos" panose="020B0004020202020204" pitchFamily="34" charset="0"/>
              </a:rPr>
              <a:t>Your app</a:t>
            </a:r>
          </a:p>
        </p:txBody>
      </p:sp>
      <p:pic>
        <p:nvPicPr>
          <p:cNvPr id="22" name="Picture 21" descr="A picture containing text&#10;&#10;Description automatically generated">
            <a:extLst>
              <a:ext uri="{FF2B5EF4-FFF2-40B4-BE49-F238E27FC236}">
                <a16:creationId xmlns:a16="http://schemas.microsoft.com/office/drawing/2014/main" id="{76A8FDF3-EB8F-012C-E6A0-96E84CEFC8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51992" y="3988637"/>
            <a:ext cx="2435304" cy="1718017"/>
          </a:xfrm>
          <a:prstGeom prst="rect">
            <a:avLst/>
          </a:prstGeom>
          <a:ln w="38100">
            <a:solidFill>
              <a:srgbClr val="C00000"/>
            </a:solidFill>
          </a:ln>
        </p:spPr>
      </p:pic>
      <p:sp>
        <p:nvSpPr>
          <p:cNvPr id="23" name="Content Placeholder 2">
            <a:extLst>
              <a:ext uri="{FF2B5EF4-FFF2-40B4-BE49-F238E27FC236}">
                <a16:creationId xmlns:a16="http://schemas.microsoft.com/office/drawing/2014/main" id="{F0C14931-83C3-AB68-1FB2-C86277CDD6E7}"/>
              </a:ext>
            </a:extLst>
          </p:cNvPr>
          <p:cNvSpPr txBox="1">
            <a:spLocks/>
          </p:cNvSpPr>
          <p:nvPr/>
        </p:nvSpPr>
        <p:spPr>
          <a:xfrm>
            <a:off x="8459696" y="5848478"/>
            <a:ext cx="3329616" cy="465985"/>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600" b="1" dirty="0">
                <a:solidFill>
                  <a:srgbClr val="C00000"/>
                </a:solidFill>
                <a:latin typeface="Aptos" panose="020B0004020202020204" pitchFamily="34" charset="0"/>
              </a:rPr>
              <a:t>https://impact.dei.unipd.it/bwthw/</a:t>
            </a:r>
          </a:p>
        </p:txBody>
      </p:sp>
      <p:cxnSp>
        <p:nvCxnSpPr>
          <p:cNvPr id="25" name="Straight Arrow Connector 24">
            <a:extLst>
              <a:ext uri="{FF2B5EF4-FFF2-40B4-BE49-F238E27FC236}">
                <a16:creationId xmlns:a16="http://schemas.microsoft.com/office/drawing/2014/main" id="{49A2C820-A2EC-C4D7-04EE-09461B09917A}"/>
              </a:ext>
            </a:extLst>
          </p:cNvPr>
          <p:cNvCxnSpPr>
            <a:cxnSpLocks/>
          </p:cNvCxnSpPr>
          <p:nvPr/>
        </p:nvCxnSpPr>
        <p:spPr>
          <a:xfrm>
            <a:off x="2392636" y="4570920"/>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1B594AD-FA7D-D7CD-D0A5-8DD7EFDB3DEA}"/>
              </a:ext>
            </a:extLst>
          </p:cNvPr>
          <p:cNvCxnSpPr>
            <a:cxnSpLocks/>
          </p:cNvCxnSpPr>
          <p:nvPr/>
        </p:nvCxnSpPr>
        <p:spPr>
          <a:xfrm flipH="1">
            <a:off x="2392636" y="5102696"/>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B41B0C1-D2BE-2F7B-E9E9-1633011566CF}"/>
              </a:ext>
            </a:extLst>
          </p:cNvPr>
          <p:cNvCxnSpPr>
            <a:cxnSpLocks/>
          </p:cNvCxnSpPr>
          <p:nvPr/>
        </p:nvCxnSpPr>
        <p:spPr>
          <a:xfrm flipH="1">
            <a:off x="7315200" y="5098521"/>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1015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POSTMAN</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31</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2" y="1679189"/>
            <a:ext cx="7727856" cy="5042286"/>
          </a:xfrm>
        </p:spPr>
        <p:txBody>
          <a:bodyPr>
            <a:normAutofit/>
          </a:bodyPr>
          <a:lstStyle/>
          <a:p>
            <a:r>
              <a:rPr lang="en-US" dirty="0"/>
              <a:t>We saw that using a browser we are actually visualizing the response of an HTTP request using the GET method.</a:t>
            </a:r>
          </a:p>
          <a:p>
            <a:endParaRPr lang="en-US" dirty="0"/>
          </a:p>
          <a:p>
            <a:r>
              <a:rPr lang="en-US" dirty="0"/>
              <a:t>What if we need to make an authenticated request? What if we need to make a POST request?</a:t>
            </a:r>
          </a:p>
          <a:p>
            <a:endParaRPr lang="en-US" dirty="0"/>
          </a:p>
          <a:p>
            <a:r>
              <a:rPr lang="en-US" dirty="0"/>
              <a:t>POSTMAN can help us here: </a:t>
            </a:r>
            <a:r>
              <a:rPr lang="en-US" dirty="0">
                <a:solidFill>
                  <a:srgbClr val="C00000"/>
                </a:solidFill>
                <a:hlinkClick r:id="rId2">
                  <a:extLst>
                    <a:ext uri="{A12FA001-AC4F-418D-AE19-62706E023703}">
                      <ahyp:hlinkClr xmlns:ahyp="http://schemas.microsoft.com/office/drawing/2018/hyperlinkcolor" val="tx"/>
                    </a:ext>
                  </a:extLst>
                </a:hlinkClick>
              </a:rPr>
              <a:t>https://www.postman.com</a:t>
            </a:r>
            <a:r>
              <a:rPr lang="en-US" dirty="0">
                <a:solidFill>
                  <a:srgbClr val="C00000"/>
                </a:solidFill>
              </a:rPr>
              <a:t> </a:t>
            </a:r>
          </a:p>
          <a:p>
            <a:endParaRPr lang="en-US" dirty="0">
              <a:solidFill>
                <a:srgbClr val="C00000"/>
              </a:solidFill>
            </a:endParaRPr>
          </a:p>
          <a:p>
            <a:r>
              <a:rPr lang="en-US" dirty="0"/>
              <a:t>We will use it during the theory lessons to try what we learn</a:t>
            </a:r>
          </a:p>
          <a:p>
            <a:endParaRPr lang="en-US" dirty="0">
              <a:solidFill>
                <a:srgbClr val="C00000"/>
              </a:solidFill>
            </a:endParaRPr>
          </a:p>
        </p:txBody>
      </p:sp>
      <p:pic>
        <p:nvPicPr>
          <p:cNvPr id="12" name="Picture 11">
            <a:extLst>
              <a:ext uri="{FF2B5EF4-FFF2-40B4-BE49-F238E27FC236}">
                <a16:creationId xmlns:a16="http://schemas.microsoft.com/office/drawing/2014/main" id="{B6776B5D-5A2B-15C7-C387-A4A6B247373B}"/>
              </a:ext>
            </a:extLst>
          </p:cNvPr>
          <p:cNvPicPr>
            <a:picLocks noChangeAspect="1"/>
          </p:cNvPicPr>
          <p:nvPr/>
        </p:nvPicPr>
        <p:blipFill>
          <a:blip r:embed="rId3"/>
          <a:stretch>
            <a:fillRect/>
          </a:stretch>
        </p:blipFill>
        <p:spPr>
          <a:xfrm>
            <a:off x="7608800" y="2334967"/>
            <a:ext cx="4187686" cy="2188066"/>
          </a:xfrm>
          <a:prstGeom prst="rect">
            <a:avLst/>
          </a:prstGeom>
        </p:spPr>
      </p:pic>
    </p:spTree>
    <p:extLst>
      <p:ext uri="{BB962C8B-B14F-4D97-AF65-F5344CB8AC3E}">
        <p14:creationId xmlns:p14="http://schemas.microsoft.com/office/powerpoint/2010/main" val="11621050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32</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2" y="1679189"/>
            <a:ext cx="5426090" cy="5042286"/>
          </a:xfrm>
        </p:spPr>
        <p:txBody>
          <a:bodyPr>
            <a:normAutofit/>
          </a:bodyPr>
          <a:lstStyle/>
          <a:p>
            <a:r>
              <a:rPr lang="en-US" dirty="0"/>
              <a:t>At </a:t>
            </a:r>
            <a:r>
              <a:rPr lang="en-US" dirty="0">
                <a:solidFill>
                  <a:srgbClr val="C00000"/>
                </a:solidFill>
                <a:hlinkClick r:id="rId2">
                  <a:extLst>
                    <a:ext uri="{A12FA001-AC4F-418D-AE19-62706E023703}">
                      <ahyp:hlinkClr xmlns:ahyp="http://schemas.microsoft.com/office/drawing/2018/hyperlinkcolor" val="tx"/>
                    </a:ext>
                  </a:extLst>
                </a:hlinkClick>
              </a:rPr>
              <a:t>https://impact.dei.unipd.it</a:t>
            </a:r>
            <a:r>
              <a:rPr lang="en-US" dirty="0">
                <a:solidFill>
                  <a:srgbClr val="C00000"/>
                </a:solidFill>
              </a:rPr>
              <a:t>/ </a:t>
            </a:r>
            <a:r>
              <a:rPr lang="en-US" dirty="0"/>
              <a:t>you will obtain the following</a:t>
            </a:r>
          </a:p>
          <a:p>
            <a:endParaRPr lang="en-US" dirty="0"/>
          </a:p>
          <a:p>
            <a:r>
              <a:rPr lang="en-US" dirty="0"/>
              <a:t>Let’s replicate it in POSTMAN</a:t>
            </a:r>
          </a:p>
          <a:p>
            <a:endParaRPr lang="en-US" dirty="0">
              <a:solidFill>
                <a:srgbClr val="C00000"/>
              </a:solidFill>
            </a:endParaRPr>
          </a:p>
        </p:txBody>
      </p:sp>
      <p:pic>
        <p:nvPicPr>
          <p:cNvPr id="3" name="Picture 2" descr="A screenshot of a computer&#10;&#10;Description automatically generated">
            <a:extLst>
              <a:ext uri="{FF2B5EF4-FFF2-40B4-BE49-F238E27FC236}">
                <a16:creationId xmlns:a16="http://schemas.microsoft.com/office/drawing/2014/main" id="{886F2DE8-60A5-CA0A-F84E-73FE3F22A5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22611"/>
            <a:ext cx="5165271" cy="3823003"/>
          </a:xfrm>
          <a:prstGeom prst="rect">
            <a:avLst/>
          </a:prstGeom>
          <a:ln>
            <a:solidFill>
              <a:srgbClr val="C00000"/>
            </a:solidFill>
          </a:ln>
        </p:spPr>
      </p:pic>
    </p:spTree>
    <p:extLst>
      <p:ext uri="{BB962C8B-B14F-4D97-AF65-F5344CB8AC3E}">
        <p14:creationId xmlns:p14="http://schemas.microsoft.com/office/powerpoint/2010/main" val="4651563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33</a:t>
            </a:fld>
            <a:endParaRPr lang="en-GB"/>
          </a:p>
        </p:txBody>
      </p:sp>
      <p:pic>
        <p:nvPicPr>
          <p:cNvPr id="15" name="Picture 14" descr="A screenshot of a computer&#10;&#10;Description automatically generated">
            <a:extLst>
              <a:ext uri="{FF2B5EF4-FFF2-40B4-BE49-F238E27FC236}">
                <a16:creationId xmlns:a16="http://schemas.microsoft.com/office/drawing/2014/main" id="{0F121317-668D-0D47-789D-CDBFF81A4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23871"/>
            <a:ext cx="7772400" cy="5372203"/>
          </a:xfrm>
          <a:prstGeom prst="rect">
            <a:avLst/>
          </a:prstGeom>
        </p:spPr>
      </p:pic>
      <p:sp>
        <p:nvSpPr>
          <p:cNvPr id="3" name="Segnaposto contenuto 2">
            <a:extLst>
              <a:ext uri="{FF2B5EF4-FFF2-40B4-BE49-F238E27FC236}">
                <a16:creationId xmlns:a16="http://schemas.microsoft.com/office/drawing/2014/main" id="{EFD273E2-DA8E-8B88-F658-F9A99F8A9B56}"/>
              </a:ext>
            </a:extLst>
          </p:cNvPr>
          <p:cNvSpPr>
            <a:spLocks noGrp="1"/>
          </p:cNvSpPr>
          <p:nvPr>
            <p:ph idx="1"/>
          </p:nvPr>
        </p:nvSpPr>
        <p:spPr>
          <a:xfrm>
            <a:off x="428172" y="1679189"/>
            <a:ext cx="2556766" cy="5042286"/>
          </a:xfrm>
        </p:spPr>
        <p:txBody>
          <a:bodyPr>
            <a:normAutofit fontScale="92500" lnSpcReduction="10000"/>
          </a:bodyPr>
          <a:lstStyle/>
          <a:p>
            <a:r>
              <a:rPr lang="en-US" dirty="0"/>
              <a:t>This is the POSTMAN interface</a:t>
            </a:r>
          </a:p>
          <a:p>
            <a:endParaRPr lang="en-US" dirty="0"/>
          </a:p>
          <a:p>
            <a:r>
              <a:rPr lang="en-US" dirty="0"/>
              <a:t>Many things can be done (e.g., automatic debugging, writing custom scripts, </a:t>
            </a:r>
            <a:r>
              <a:rPr lang="en-US" dirty="0" err="1"/>
              <a:t>etc</a:t>
            </a:r>
            <a:r>
              <a:rPr lang="en-US" dirty="0"/>
              <a:t>…</a:t>
            </a:r>
          </a:p>
          <a:p>
            <a:endParaRPr lang="en-US" dirty="0"/>
          </a:p>
          <a:p>
            <a:r>
              <a:rPr lang="en-US" dirty="0"/>
              <a:t>We will limit to create and organize a collection of HTTP requests</a:t>
            </a:r>
          </a:p>
        </p:txBody>
      </p:sp>
    </p:spTree>
    <p:extLst>
      <p:ext uri="{BB962C8B-B14F-4D97-AF65-F5344CB8AC3E}">
        <p14:creationId xmlns:p14="http://schemas.microsoft.com/office/powerpoint/2010/main" val="622962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34</a:t>
            </a:fld>
            <a:endParaRPr lang="en-GB"/>
          </a:p>
        </p:txBody>
      </p:sp>
      <p:pic>
        <p:nvPicPr>
          <p:cNvPr id="17" name="Picture 16" descr="A screenshot of a computer&#10;&#10;Description automatically generated">
            <a:extLst>
              <a:ext uri="{FF2B5EF4-FFF2-40B4-BE49-F238E27FC236}">
                <a16:creationId xmlns:a16="http://schemas.microsoft.com/office/drawing/2014/main" id="{7DE24D4D-C390-473A-D3A5-CBA89E8758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13283"/>
            <a:ext cx="7772400" cy="5374908"/>
          </a:xfrm>
          <a:prstGeom prst="rect">
            <a:avLst/>
          </a:prstGeom>
        </p:spPr>
      </p:pic>
      <p:sp>
        <p:nvSpPr>
          <p:cNvPr id="3" name="Segnaposto contenuto 2">
            <a:extLst>
              <a:ext uri="{FF2B5EF4-FFF2-40B4-BE49-F238E27FC236}">
                <a16:creationId xmlns:a16="http://schemas.microsoft.com/office/drawing/2014/main" id="{8852861C-74D4-8558-4F0C-B8C5BF1CB3E7}"/>
              </a:ext>
            </a:extLst>
          </p:cNvPr>
          <p:cNvSpPr>
            <a:spLocks noGrp="1"/>
          </p:cNvSpPr>
          <p:nvPr>
            <p:ph idx="1"/>
          </p:nvPr>
        </p:nvSpPr>
        <p:spPr>
          <a:xfrm>
            <a:off x="428172" y="1679189"/>
            <a:ext cx="2556766" cy="5042286"/>
          </a:xfrm>
        </p:spPr>
        <p:txBody>
          <a:bodyPr>
            <a:normAutofit fontScale="92500" lnSpcReduction="20000"/>
          </a:bodyPr>
          <a:lstStyle/>
          <a:p>
            <a:r>
              <a:rPr lang="en-US" dirty="0"/>
              <a:t>Go to the ”Collections” tab </a:t>
            </a:r>
          </a:p>
          <a:p>
            <a:endParaRPr lang="en-US" dirty="0"/>
          </a:p>
          <a:p>
            <a:r>
              <a:rPr lang="en-US" dirty="0"/>
              <a:t>Press the “+” button </a:t>
            </a:r>
          </a:p>
          <a:p>
            <a:endParaRPr lang="en-US" dirty="0"/>
          </a:p>
          <a:p>
            <a:r>
              <a:rPr lang="en-US" dirty="0"/>
              <a:t>Create a “Blank collection”</a:t>
            </a:r>
          </a:p>
          <a:p>
            <a:endParaRPr lang="en-US" dirty="0"/>
          </a:p>
          <a:p>
            <a:r>
              <a:rPr lang="en-US" dirty="0"/>
              <a:t>Call it “Examples”: here we will collect all the theory lessons examples</a:t>
            </a:r>
          </a:p>
        </p:txBody>
      </p:sp>
    </p:spTree>
    <p:extLst>
      <p:ext uri="{BB962C8B-B14F-4D97-AF65-F5344CB8AC3E}">
        <p14:creationId xmlns:p14="http://schemas.microsoft.com/office/powerpoint/2010/main" val="1276828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35</a:t>
            </a:fld>
            <a:endParaRPr lang="en-GB"/>
          </a:p>
        </p:txBody>
      </p:sp>
      <p:pic>
        <p:nvPicPr>
          <p:cNvPr id="19" name="Picture 18" descr="A screenshot of a computer&#10;&#10;Description automatically generated">
            <a:extLst>
              <a:ext uri="{FF2B5EF4-FFF2-40B4-BE49-F238E27FC236}">
                <a16:creationId xmlns:a16="http://schemas.microsoft.com/office/drawing/2014/main" id="{A09ED62A-779C-903A-34FE-1D372D99A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39495"/>
            <a:ext cx="7772400" cy="5381980"/>
          </a:xfrm>
          <a:prstGeom prst="rect">
            <a:avLst/>
          </a:prstGeom>
        </p:spPr>
      </p:pic>
      <p:sp>
        <p:nvSpPr>
          <p:cNvPr id="3" name="Segnaposto contenuto 2">
            <a:extLst>
              <a:ext uri="{FF2B5EF4-FFF2-40B4-BE49-F238E27FC236}">
                <a16:creationId xmlns:a16="http://schemas.microsoft.com/office/drawing/2014/main" id="{BA781B13-13A7-FC78-1680-E6CA650403F2}"/>
              </a:ext>
            </a:extLst>
          </p:cNvPr>
          <p:cNvSpPr>
            <a:spLocks noGrp="1"/>
          </p:cNvSpPr>
          <p:nvPr>
            <p:ph idx="1"/>
          </p:nvPr>
        </p:nvSpPr>
        <p:spPr>
          <a:xfrm>
            <a:off x="428172" y="1679189"/>
            <a:ext cx="2861566" cy="5042286"/>
          </a:xfrm>
        </p:spPr>
        <p:txBody>
          <a:bodyPr>
            <a:normAutofit/>
          </a:bodyPr>
          <a:lstStyle/>
          <a:p>
            <a:r>
              <a:rPr lang="en-US" dirty="0"/>
              <a:t>Right click the “Examples” collection</a:t>
            </a:r>
          </a:p>
          <a:p>
            <a:endParaRPr lang="en-US" dirty="0"/>
          </a:p>
          <a:p>
            <a:r>
              <a:rPr lang="en-US" dirty="0"/>
              <a:t>Select “Add folder”</a:t>
            </a:r>
          </a:p>
          <a:p>
            <a:endParaRPr lang="en-US" dirty="0"/>
          </a:p>
          <a:p>
            <a:r>
              <a:rPr lang="en-US" dirty="0"/>
              <a:t>Call it as you want, e.g.: “theory_05-http” </a:t>
            </a:r>
          </a:p>
          <a:p>
            <a:endParaRPr lang="en-US" dirty="0"/>
          </a:p>
        </p:txBody>
      </p:sp>
    </p:spTree>
    <p:extLst>
      <p:ext uri="{BB962C8B-B14F-4D97-AF65-F5344CB8AC3E}">
        <p14:creationId xmlns:p14="http://schemas.microsoft.com/office/powerpoint/2010/main" val="3610992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36</a:t>
            </a:fld>
            <a:endParaRPr lang="en-GB"/>
          </a:p>
        </p:txBody>
      </p:sp>
      <p:pic>
        <p:nvPicPr>
          <p:cNvPr id="21" name="Picture 20" descr="A screenshot of a computer&#10;&#10;Description automatically generated">
            <a:extLst>
              <a:ext uri="{FF2B5EF4-FFF2-40B4-BE49-F238E27FC236}">
                <a16:creationId xmlns:a16="http://schemas.microsoft.com/office/drawing/2014/main" id="{4DD754E7-4F00-D852-5F89-069817471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29683"/>
            <a:ext cx="7772400" cy="5391792"/>
          </a:xfrm>
          <a:prstGeom prst="rect">
            <a:avLst/>
          </a:prstGeom>
        </p:spPr>
      </p:pic>
      <p:sp>
        <p:nvSpPr>
          <p:cNvPr id="3" name="Segnaposto contenuto 2">
            <a:extLst>
              <a:ext uri="{FF2B5EF4-FFF2-40B4-BE49-F238E27FC236}">
                <a16:creationId xmlns:a16="http://schemas.microsoft.com/office/drawing/2014/main" id="{C1184A74-FE2A-8ADF-9594-D89EA060F3C1}"/>
              </a:ext>
            </a:extLst>
          </p:cNvPr>
          <p:cNvSpPr>
            <a:spLocks noGrp="1"/>
          </p:cNvSpPr>
          <p:nvPr>
            <p:ph idx="1"/>
          </p:nvPr>
        </p:nvSpPr>
        <p:spPr>
          <a:xfrm>
            <a:off x="428172" y="1679189"/>
            <a:ext cx="2861566" cy="5042286"/>
          </a:xfrm>
        </p:spPr>
        <p:txBody>
          <a:bodyPr>
            <a:normAutofit fontScale="85000" lnSpcReduction="20000"/>
          </a:bodyPr>
          <a:lstStyle/>
          <a:p>
            <a:r>
              <a:rPr lang="en-US" dirty="0"/>
              <a:t>Right click the folder and choose “Add request”</a:t>
            </a:r>
          </a:p>
          <a:p>
            <a:endParaRPr lang="en-US" dirty="0"/>
          </a:p>
          <a:p>
            <a:r>
              <a:rPr lang="en-US" dirty="0"/>
              <a:t>Call it as you want, e.g., “Hello IMPACT”</a:t>
            </a:r>
          </a:p>
          <a:p>
            <a:endParaRPr lang="en-US" dirty="0"/>
          </a:p>
          <a:p>
            <a:r>
              <a:rPr lang="en-US" dirty="0"/>
              <a:t>Choose the GET method</a:t>
            </a:r>
          </a:p>
          <a:p>
            <a:endParaRPr lang="en-US" dirty="0"/>
          </a:p>
          <a:p>
            <a:r>
              <a:rPr lang="en-US" dirty="0"/>
              <a:t>And write the IMPACT home URL, i.e., </a:t>
            </a:r>
            <a:r>
              <a:rPr lang="en-US" dirty="0">
                <a:hlinkClick r:id="rId3"/>
              </a:rPr>
              <a:t>https://impact.dei.unipd.it/</a:t>
            </a:r>
            <a:endParaRPr lang="en-US" dirty="0"/>
          </a:p>
          <a:p>
            <a:endParaRPr lang="en-US" dirty="0"/>
          </a:p>
          <a:p>
            <a:r>
              <a:rPr lang="en-US" dirty="0"/>
              <a:t>Click “Send” and inspect the response</a:t>
            </a:r>
          </a:p>
          <a:p>
            <a:endParaRPr lang="en-US" dirty="0"/>
          </a:p>
        </p:txBody>
      </p:sp>
    </p:spTree>
    <p:extLst>
      <p:ext uri="{BB962C8B-B14F-4D97-AF65-F5344CB8AC3E}">
        <p14:creationId xmlns:p14="http://schemas.microsoft.com/office/powerpoint/2010/main" val="1665445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B1650A-B0F6-0260-478B-27CAD850F860}"/>
              </a:ext>
            </a:extLst>
          </p:cNvPr>
          <p:cNvSpPr>
            <a:spLocks noGrp="1"/>
          </p:cNvSpPr>
          <p:nvPr>
            <p:ph type="title"/>
          </p:nvPr>
        </p:nvSpPr>
        <p:spPr/>
        <p:txBody>
          <a:bodyPr/>
          <a:lstStyle/>
          <a:p>
            <a:r>
              <a:rPr lang="it-IT" dirty="0" err="1"/>
              <a:t>References</a:t>
            </a:r>
            <a:endParaRPr lang="it-IT" dirty="0"/>
          </a:p>
        </p:txBody>
      </p:sp>
      <p:sp>
        <p:nvSpPr>
          <p:cNvPr id="3" name="Segnaposto contenuto 2">
            <a:extLst>
              <a:ext uri="{FF2B5EF4-FFF2-40B4-BE49-F238E27FC236}">
                <a16:creationId xmlns:a16="http://schemas.microsoft.com/office/drawing/2014/main" id="{6C1D07FB-D04D-BBA0-6A07-ADE183374612}"/>
              </a:ext>
            </a:extLst>
          </p:cNvPr>
          <p:cNvSpPr>
            <a:spLocks noGrp="1"/>
          </p:cNvSpPr>
          <p:nvPr>
            <p:ph idx="1"/>
          </p:nvPr>
        </p:nvSpPr>
        <p:spPr/>
        <p:txBody>
          <a:bodyPr/>
          <a:lstStyle/>
          <a:p>
            <a:r>
              <a:rPr lang="it-IT" dirty="0" err="1"/>
              <a:t>Tanenbaum</a:t>
            </a:r>
            <a:r>
              <a:rPr lang="it-IT" dirty="0"/>
              <a:t>, </a:t>
            </a:r>
            <a:r>
              <a:rPr lang="it-IT" dirty="0" err="1"/>
              <a:t>Wetherall</a:t>
            </a:r>
            <a:r>
              <a:rPr lang="it-IT" dirty="0"/>
              <a:t> – Computer Networks – Fifth Edition</a:t>
            </a:r>
          </a:p>
          <a:p>
            <a:pPr lvl="1"/>
            <a:r>
              <a:rPr lang="it-IT" dirty="0" err="1"/>
              <a:t>Chapter</a:t>
            </a:r>
            <a:r>
              <a:rPr lang="it-IT" dirty="0"/>
              <a:t> 7 – The </a:t>
            </a:r>
            <a:r>
              <a:rPr lang="it-IT" dirty="0" err="1"/>
              <a:t>application</a:t>
            </a:r>
            <a:r>
              <a:rPr lang="it-IT" dirty="0"/>
              <a:t> </a:t>
            </a:r>
            <a:r>
              <a:rPr lang="it-IT" dirty="0" err="1"/>
              <a:t>layer</a:t>
            </a:r>
            <a:endParaRPr lang="it-IT" dirty="0"/>
          </a:p>
          <a:p>
            <a:pPr lvl="1"/>
            <a:endParaRPr lang="it-IT" dirty="0"/>
          </a:p>
          <a:p>
            <a:r>
              <a:rPr lang="it-IT" dirty="0"/>
              <a:t>POSTMAN: </a:t>
            </a:r>
            <a:r>
              <a:rPr lang="it-IT" dirty="0">
                <a:solidFill>
                  <a:srgbClr val="C00000"/>
                </a:solidFill>
              </a:rPr>
              <a:t>https://</a:t>
            </a:r>
            <a:r>
              <a:rPr lang="it-IT" dirty="0" err="1">
                <a:solidFill>
                  <a:srgbClr val="C00000"/>
                </a:solidFill>
              </a:rPr>
              <a:t>www.postman.com</a:t>
            </a:r>
            <a:r>
              <a:rPr lang="it-IT" dirty="0">
                <a:solidFill>
                  <a:srgbClr val="C00000"/>
                </a:solidFill>
              </a:rPr>
              <a:t> </a:t>
            </a:r>
          </a:p>
        </p:txBody>
      </p:sp>
      <p:sp>
        <p:nvSpPr>
          <p:cNvPr id="4" name="Segnaposto numero diapositiva 3">
            <a:extLst>
              <a:ext uri="{FF2B5EF4-FFF2-40B4-BE49-F238E27FC236}">
                <a16:creationId xmlns:a16="http://schemas.microsoft.com/office/drawing/2014/main" id="{D834FA17-4C0A-0A4C-E1C2-7E54E83EEA68}"/>
              </a:ext>
            </a:extLst>
          </p:cNvPr>
          <p:cNvSpPr>
            <a:spLocks noGrp="1"/>
          </p:cNvSpPr>
          <p:nvPr>
            <p:ph type="sldNum" sz="quarter" idx="12"/>
          </p:nvPr>
        </p:nvSpPr>
        <p:spPr/>
        <p:txBody>
          <a:bodyPr/>
          <a:lstStyle/>
          <a:p>
            <a:fld id="{31DE2C5B-556E-47B8-A792-024C2FCA4ACC}" type="slidenum">
              <a:rPr lang="en-GB" smtClean="0"/>
              <a:t>37</a:t>
            </a:fld>
            <a:endParaRPr lang="en-GB"/>
          </a:p>
        </p:txBody>
      </p:sp>
    </p:spTree>
    <p:extLst>
      <p:ext uri="{BB962C8B-B14F-4D97-AF65-F5344CB8AC3E}">
        <p14:creationId xmlns:p14="http://schemas.microsoft.com/office/powerpoint/2010/main" val="111031429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TotalTime>
  <Words>3118</Words>
  <Application>Microsoft Macintosh PowerPoint</Application>
  <PresentationFormat>Widescreen</PresentationFormat>
  <Paragraphs>460</Paragraphs>
  <Slides>37</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Arial</vt:lpstr>
      <vt:lpstr>Calibri</vt:lpstr>
      <vt:lpstr>Courier New</vt:lpstr>
      <vt:lpstr>Palatino Linotype</vt:lpstr>
      <vt:lpstr>Times New Roman</vt:lpstr>
      <vt:lpstr>Wingdings</vt:lpstr>
      <vt:lpstr>Tema di Office</vt:lpstr>
      <vt:lpstr>PowerPoint Presentation</vt:lpstr>
      <vt:lpstr>Outline</vt:lpstr>
      <vt:lpstr>The HyperText Transfer Protocol (HTTP)</vt:lpstr>
      <vt:lpstr>Request structure (HTTP/1.1)</vt:lpstr>
      <vt:lpstr>HTTP methods</vt:lpstr>
      <vt:lpstr>Examples of request headers</vt:lpstr>
      <vt:lpstr>(Other) Examples of request headers</vt:lpstr>
      <vt:lpstr>Response structure (HTTP/1.1)</vt:lpstr>
      <vt:lpstr>Examples of response headers</vt:lpstr>
      <vt:lpstr>(Other) Examples of response headers</vt:lpstr>
      <vt:lpstr>GET</vt:lpstr>
      <vt:lpstr>POST</vt:lpstr>
      <vt:lpstr>Other important methods</vt:lpstr>
      <vt:lpstr>POST vs PUT vs PATCH</vt:lpstr>
      <vt:lpstr>Other (less) important methods</vt:lpstr>
      <vt:lpstr>Properties of the HTTP methods</vt:lpstr>
      <vt:lpstr>Summary of properties of the HTTP methods</vt:lpstr>
      <vt:lpstr>Example: inspecting the HTTP requests in Chrome</vt:lpstr>
      <vt:lpstr>Caching</vt:lpstr>
      <vt:lpstr>Web communication protocols</vt:lpstr>
      <vt:lpstr>Outline</vt:lpstr>
      <vt:lpstr>Web application</vt:lpstr>
      <vt:lpstr>Server-side dynamic Web page generation</vt:lpstr>
      <vt:lpstr>Client-side dynamic Web page generation</vt:lpstr>
      <vt:lpstr>Example of a Web application architecture</vt:lpstr>
      <vt:lpstr>Structured data formats</vt:lpstr>
      <vt:lpstr>Extensible Markup Language (XML)</vt:lpstr>
      <vt:lpstr>JavaScript Object Notation (JSON)</vt:lpstr>
      <vt:lpstr>JSON data structures</vt:lpstr>
      <vt:lpstr>Why JSON are important here? What we need?</vt:lpstr>
      <vt:lpstr>POSTMAN</vt:lpstr>
      <vt:lpstr>Hello IMPACT</vt:lpstr>
      <vt:lpstr>Hello IMPACT </vt:lpstr>
      <vt:lpstr>Hello IMPACT </vt:lpstr>
      <vt:lpstr>Hello IMPACT </vt:lpstr>
      <vt:lpstr>Hello IMPACT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453</cp:revision>
  <dcterms:created xsi:type="dcterms:W3CDTF">2021-07-19T09:08:13Z</dcterms:created>
  <dcterms:modified xsi:type="dcterms:W3CDTF">2025-03-25T09:33:41Z</dcterms:modified>
</cp:coreProperties>
</file>