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259" r:id="rId2"/>
    <p:sldId id="295" r:id="rId3"/>
    <p:sldId id="340" r:id="rId4"/>
    <p:sldId id="341" r:id="rId5"/>
    <p:sldId id="342" r:id="rId6"/>
    <p:sldId id="343" r:id="rId7"/>
    <p:sldId id="345" r:id="rId8"/>
    <p:sldId id="344" r:id="rId9"/>
    <p:sldId id="346" r:id="rId10"/>
    <p:sldId id="347" r:id="rId11"/>
    <p:sldId id="348" r:id="rId12"/>
    <p:sldId id="351" r:id="rId13"/>
    <p:sldId id="354" r:id="rId14"/>
    <p:sldId id="356" r:id="rId15"/>
    <p:sldId id="413" r:id="rId16"/>
    <p:sldId id="358" r:id="rId17"/>
    <p:sldId id="412" r:id="rId18"/>
    <p:sldId id="390" r:id="rId19"/>
    <p:sldId id="404" r:id="rId20"/>
    <p:sldId id="405" r:id="rId21"/>
    <p:sldId id="406" r:id="rId22"/>
    <p:sldId id="407" r:id="rId23"/>
    <p:sldId id="408" r:id="rId24"/>
    <p:sldId id="409" r:id="rId25"/>
    <p:sldId id="411" r:id="rId26"/>
    <p:sldId id="410" r:id="rId27"/>
    <p:sldId id="398" r:id="rId28"/>
    <p:sldId id="401" r:id="rId29"/>
    <p:sldId id="400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714" autoAdjust="0"/>
    <p:restoredTop sz="86800"/>
  </p:normalViewPr>
  <p:slideViewPr>
    <p:cSldViewPr snapToGrid="0">
      <p:cViewPr varScale="1">
        <p:scale>
          <a:sx n="193" d="100"/>
          <a:sy n="193" d="100"/>
        </p:scale>
        <p:origin x="2272" y="20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7" d="100"/>
          <a:sy n="97" d="100"/>
        </p:scale>
        <p:origin x="4328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C4B3FE-0320-8142-8396-5C3025C019EC}" type="datetimeFigureOut">
              <a:rPr lang="en-IT" smtClean="0"/>
              <a:t>5/20/25</a:t>
            </a:fld>
            <a:endParaRPr lang="en-I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0F43FB-3F33-3F4B-9768-2FBED988F992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9294967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1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0105816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18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8665577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19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5916345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20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6532662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T"/>
              <a:t>We focused the laboratories on front-end development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21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3674934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22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2490292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23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1977639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24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25463515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26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86655771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27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82665946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28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35642218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29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5039086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28172" y="161926"/>
            <a:ext cx="11368314" cy="860243"/>
          </a:xfrm>
        </p:spPr>
        <p:txBody>
          <a:bodyPr/>
          <a:lstStyle/>
          <a:p>
            <a:r>
              <a:rPr lang="en-GB" noProof="0" dirty="0"/>
              <a:t>Fare </a:t>
            </a:r>
            <a:r>
              <a:rPr lang="en-GB" noProof="0" dirty="0" err="1"/>
              <a:t>clic</a:t>
            </a:r>
            <a:r>
              <a:rPr lang="en-GB" noProof="0" dirty="0"/>
              <a:t> per </a:t>
            </a:r>
            <a:r>
              <a:rPr lang="en-GB" noProof="0" dirty="0" err="1"/>
              <a:t>modificare</a:t>
            </a:r>
            <a:r>
              <a:rPr lang="en-GB" noProof="0" dirty="0"/>
              <a:t> lo stile del </a:t>
            </a:r>
            <a:r>
              <a:rPr lang="en-GB" noProof="0" dirty="0" err="1"/>
              <a:t>titolo</a:t>
            </a:r>
            <a:endParaRPr lang="en-GB" noProof="0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28172" y="1361167"/>
            <a:ext cx="11368314" cy="4858203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GB" noProof="0" dirty="0" err="1"/>
              <a:t>Modifica</a:t>
            </a:r>
            <a:r>
              <a:rPr lang="en-GB" noProof="0" dirty="0"/>
              <a:t> </a:t>
            </a:r>
            <a:r>
              <a:rPr lang="en-GB" noProof="0" dirty="0" err="1"/>
              <a:t>gli</a:t>
            </a:r>
            <a:r>
              <a:rPr lang="en-GB" noProof="0" dirty="0"/>
              <a:t> </a:t>
            </a:r>
            <a:r>
              <a:rPr lang="en-GB" noProof="0" dirty="0" err="1"/>
              <a:t>stili</a:t>
            </a:r>
            <a:r>
              <a:rPr lang="en-GB" noProof="0" dirty="0"/>
              <a:t> del </a:t>
            </a:r>
            <a:r>
              <a:rPr lang="en-GB" noProof="0" dirty="0" err="1"/>
              <a:t>testo</a:t>
            </a:r>
            <a:r>
              <a:rPr lang="en-GB" noProof="0" dirty="0"/>
              <a:t> </a:t>
            </a:r>
            <a:r>
              <a:rPr lang="en-GB" noProof="0" dirty="0" err="1"/>
              <a:t>dello</a:t>
            </a:r>
            <a:r>
              <a:rPr lang="en-GB" noProof="0" dirty="0"/>
              <a:t> schema</a:t>
            </a:r>
          </a:p>
          <a:p>
            <a:pPr lvl="1"/>
            <a:r>
              <a:rPr lang="en-GB" noProof="0" dirty="0"/>
              <a:t>Secondo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2"/>
            <a:r>
              <a:rPr lang="en-GB" noProof="0" dirty="0" err="1"/>
              <a:t>Terzo</a:t>
            </a:r>
            <a:r>
              <a:rPr lang="en-GB" noProof="0" dirty="0"/>
              <a:t>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3"/>
            <a:r>
              <a:rPr lang="en-GB" noProof="0" dirty="0"/>
              <a:t>Quarto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4"/>
            <a:r>
              <a:rPr lang="en-GB" noProof="0" dirty="0"/>
              <a:t>Quinto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4"/>
            <a:endParaRPr lang="en-GB" noProof="0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‹#›</a:t>
            </a:fld>
            <a:endParaRPr lang="en-GB"/>
          </a:p>
        </p:txBody>
      </p:sp>
      <p:sp>
        <p:nvSpPr>
          <p:cNvPr id="7" name="Rettangolo arrotondato 6"/>
          <p:cNvSpPr/>
          <p:nvPr userDrawn="1"/>
        </p:nvSpPr>
        <p:spPr>
          <a:xfrm>
            <a:off x="1393371" y="1022169"/>
            <a:ext cx="9456058" cy="45719"/>
          </a:xfrm>
          <a:prstGeom prst="roundRect">
            <a:avLst>
              <a:gd name="adj" fmla="val 26104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383871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28172" y="161926"/>
            <a:ext cx="11368314" cy="860243"/>
          </a:xfrm>
        </p:spPr>
        <p:txBody>
          <a:bodyPr/>
          <a:lstStyle/>
          <a:p>
            <a:r>
              <a:rPr lang="en-GB" noProof="0" dirty="0"/>
              <a:t>Fare </a:t>
            </a:r>
            <a:r>
              <a:rPr lang="en-GB" noProof="0" dirty="0" err="1"/>
              <a:t>clic</a:t>
            </a:r>
            <a:r>
              <a:rPr lang="en-GB" noProof="0" dirty="0"/>
              <a:t> per </a:t>
            </a:r>
            <a:r>
              <a:rPr lang="en-GB" noProof="0" dirty="0" err="1"/>
              <a:t>modificare</a:t>
            </a:r>
            <a:r>
              <a:rPr lang="en-GB" noProof="0" dirty="0"/>
              <a:t> lo stile del </a:t>
            </a:r>
            <a:r>
              <a:rPr lang="en-GB" noProof="0" dirty="0" err="1"/>
              <a:t>titolo</a:t>
            </a:r>
            <a:endParaRPr lang="en-GB" noProof="0" dirty="0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28172" y="1364343"/>
            <a:ext cx="5591628" cy="4812620"/>
          </a:xfrm>
        </p:spPr>
        <p:txBody>
          <a:bodyPr/>
          <a:lstStyle/>
          <a:p>
            <a:pPr lvl="0"/>
            <a:r>
              <a:rPr lang="en-GB" noProof="0" dirty="0" err="1"/>
              <a:t>Modifica</a:t>
            </a:r>
            <a:r>
              <a:rPr lang="en-GB" noProof="0" dirty="0"/>
              <a:t> </a:t>
            </a:r>
            <a:r>
              <a:rPr lang="en-GB" noProof="0" dirty="0" err="1"/>
              <a:t>gli</a:t>
            </a:r>
            <a:r>
              <a:rPr lang="en-GB" noProof="0" dirty="0"/>
              <a:t> </a:t>
            </a:r>
            <a:r>
              <a:rPr lang="en-GB" noProof="0" dirty="0" err="1"/>
              <a:t>stili</a:t>
            </a:r>
            <a:r>
              <a:rPr lang="en-GB" noProof="0" dirty="0"/>
              <a:t> del </a:t>
            </a:r>
            <a:r>
              <a:rPr lang="en-GB" noProof="0" dirty="0" err="1"/>
              <a:t>testo</a:t>
            </a:r>
            <a:r>
              <a:rPr lang="en-GB" noProof="0" dirty="0"/>
              <a:t> </a:t>
            </a:r>
            <a:r>
              <a:rPr lang="en-GB" noProof="0" dirty="0" err="1"/>
              <a:t>dello</a:t>
            </a:r>
            <a:r>
              <a:rPr lang="en-GB" noProof="0" dirty="0"/>
              <a:t> schema</a:t>
            </a:r>
          </a:p>
          <a:p>
            <a:pPr lvl="1"/>
            <a:r>
              <a:rPr lang="en-GB" noProof="0" dirty="0"/>
              <a:t>Secondo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2"/>
            <a:r>
              <a:rPr lang="en-GB" noProof="0" dirty="0" err="1"/>
              <a:t>Terzo</a:t>
            </a:r>
            <a:r>
              <a:rPr lang="en-GB" noProof="0" dirty="0"/>
              <a:t>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3"/>
            <a:r>
              <a:rPr lang="en-GB" noProof="0" dirty="0"/>
              <a:t>Quarto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4"/>
            <a:r>
              <a:rPr lang="en-GB" noProof="0" dirty="0"/>
              <a:t>Quinto </a:t>
            </a:r>
            <a:r>
              <a:rPr lang="en-GB" noProof="0" dirty="0" err="1"/>
              <a:t>livello</a:t>
            </a:r>
            <a:endParaRPr lang="en-GB" noProof="0" dirty="0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172200" y="1364343"/>
            <a:ext cx="5624286" cy="4812620"/>
          </a:xfrm>
        </p:spPr>
        <p:txBody>
          <a:bodyPr/>
          <a:lstStyle/>
          <a:p>
            <a:pPr lvl="0"/>
            <a:r>
              <a:rPr lang="en-GB" noProof="0" dirty="0" err="1"/>
              <a:t>Modifica</a:t>
            </a:r>
            <a:r>
              <a:rPr lang="en-GB" noProof="0" dirty="0"/>
              <a:t> </a:t>
            </a:r>
            <a:r>
              <a:rPr lang="en-GB" noProof="0" dirty="0" err="1"/>
              <a:t>gli</a:t>
            </a:r>
            <a:r>
              <a:rPr lang="en-GB" noProof="0" dirty="0"/>
              <a:t> </a:t>
            </a:r>
            <a:r>
              <a:rPr lang="en-GB" noProof="0" dirty="0" err="1"/>
              <a:t>stili</a:t>
            </a:r>
            <a:r>
              <a:rPr lang="en-GB" noProof="0" dirty="0"/>
              <a:t> del </a:t>
            </a:r>
            <a:r>
              <a:rPr lang="en-GB" noProof="0" dirty="0" err="1"/>
              <a:t>testo</a:t>
            </a:r>
            <a:r>
              <a:rPr lang="en-GB" noProof="0" dirty="0"/>
              <a:t> </a:t>
            </a:r>
            <a:r>
              <a:rPr lang="en-GB" noProof="0" dirty="0" err="1"/>
              <a:t>dello</a:t>
            </a:r>
            <a:r>
              <a:rPr lang="en-GB" noProof="0" dirty="0"/>
              <a:t> schema</a:t>
            </a:r>
          </a:p>
          <a:p>
            <a:pPr lvl="1"/>
            <a:r>
              <a:rPr lang="en-GB" noProof="0" dirty="0"/>
              <a:t>Secondo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2"/>
            <a:r>
              <a:rPr lang="en-GB" noProof="0" dirty="0" err="1"/>
              <a:t>Terzo</a:t>
            </a:r>
            <a:r>
              <a:rPr lang="en-GB" noProof="0" dirty="0"/>
              <a:t>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3"/>
            <a:r>
              <a:rPr lang="en-GB" noProof="0" dirty="0"/>
              <a:t>Quarto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4"/>
            <a:r>
              <a:rPr lang="en-GB" noProof="0" dirty="0"/>
              <a:t>Quinto </a:t>
            </a:r>
            <a:r>
              <a:rPr lang="en-GB" noProof="0" dirty="0" err="1"/>
              <a:t>livello</a:t>
            </a:r>
            <a:endParaRPr lang="en-GB" noProof="0" dirty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‹#›</a:t>
            </a:fld>
            <a:endParaRPr lang="en-GB"/>
          </a:p>
        </p:txBody>
      </p:sp>
      <p:sp>
        <p:nvSpPr>
          <p:cNvPr id="8" name="Rettangolo arrotondato 7"/>
          <p:cNvSpPr/>
          <p:nvPr userDrawn="1"/>
        </p:nvSpPr>
        <p:spPr>
          <a:xfrm>
            <a:off x="1393371" y="1022169"/>
            <a:ext cx="9456058" cy="45719"/>
          </a:xfrm>
          <a:prstGeom prst="roundRect">
            <a:avLst>
              <a:gd name="adj" fmla="val 26104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759481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426028" y="2355399"/>
            <a:ext cx="9456058" cy="1570716"/>
          </a:xfrm>
        </p:spPr>
        <p:txBody>
          <a:bodyPr anchor="ctr">
            <a:noAutofit/>
          </a:bodyPr>
          <a:lstStyle>
            <a:lvl1pPr marL="0" indent="0" algn="ctr">
              <a:buNone/>
              <a:defRPr sz="4800" b="1">
                <a:latin typeface="Aptos" panose="020B00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it-IT" dirty="0"/>
          </a:p>
        </p:txBody>
      </p:sp>
      <p:sp>
        <p:nvSpPr>
          <p:cNvPr id="7" name="Rettangolo arrotondato 6"/>
          <p:cNvSpPr/>
          <p:nvPr userDrawn="1"/>
        </p:nvSpPr>
        <p:spPr>
          <a:xfrm>
            <a:off x="2997200" y="855254"/>
            <a:ext cx="6125029" cy="45719"/>
          </a:xfrm>
          <a:prstGeom prst="roundRect">
            <a:avLst>
              <a:gd name="adj" fmla="val 26104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ptos" panose="020B0004020202020204" pitchFamily="34" charset="0"/>
            </a:endParaRPr>
          </a:p>
        </p:txBody>
      </p:sp>
      <p:sp>
        <p:nvSpPr>
          <p:cNvPr id="8" name="Rettangolo arrotondato 7"/>
          <p:cNvSpPr/>
          <p:nvPr userDrawn="1"/>
        </p:nvSpPr>
        <p:spPr>
          <a:xfrm>
            <a:off x="1426028" y="4152532"/>
            <a:ext cx="9456058" cy="45719"/>
          </a:xfrm>
          <a:prstGeom prst="roundRect">
            <a:avLst>
              <a:gd name="adj" fmla="val 26104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ptos" panose="020B0004020202020204" pitchFamily="34" charset="0"/>
            </a:endParaRPr>
          </a:p>
        </p:txBody>
      </p:sp>
      <p:sp>
        <p:nvSpPr>
          <p:cNvPr id="9" name="Titolo 1"/>
          <p:cNvSpPr txBox="1">
            <a:spLocks/>
          </p:cNvSpPr>
          <p:nvPr userDrawn="1"/>
        </p:nvSpPr>
        <p:spPr>
          <a:xfrm>
            <a:off x="460370" y="1155224"/>
            <a:ext cx="10926088" cy="94592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 baseline="0">
                <a:solidFill>
                  <a:schemeClr val="tx1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it-IT" sz="2800" b="0" dirty="0" err="1">
                <a:latin typeface="Aptos" panose="020B0004020202020204" pitchFamily="34" charset="0"/>
              </a:rPr>
              <a:t>Biomedical</a:t>
            </a:r>
            <a:r>
              <a:rPr lang="it-IT" sz="2800" b="0" dirty="0">
                <a:latin typeface="Aptos" panose="020B0004020202020204" pitchFamily="34" charset="0"/>
              </a:rPr>
              <a:t> </a:t>
            </a:r>
            <a:r>
              <a:rPr lang="it-IT" sz="2800" b="0" dirty="0" err="1">
                <a:latin typeface="Aptos" panose="020B0004020202020204" pitchFamily="34" charset="0"/>
              </a:rPr>
              <a:t>Wearable</a:t>
            </a:r>
            <a:r>
              <a:rPr lang="it-IT" sz="2800" b="0" dirty="0">
                <a:latin typeface="Aptos" panose="020B0004020202020204" pitchFamily="34" charset="0"/>
              </a:rPr>
              <a:t> Technologies </a:t>
            </a:r>
          </a:p>
          <a:p>
            <a:r>
              <a:rPr lang="it-IT" sz="2800" b="0" dirty="0">
                <a:latin typeface="Aptos" panose="020B0004020202020204" pitchFamily="34" charset="0"/>
              </a:rPr>
              <a:t>for Healthcare and </a:t>
            </a:r>
            <a:r>
              <a:rPr lang="it-IT" sz="2800" b="0" dirty="0" err="1">
                <a:latin typeface="Aptos" panose="020B0004020202020204" pitchFamily="34" charset="0"/>
              </a:rPr>
              <a:t>Wellbeing</a:t>
            </a:r>
            <a:r>
              <a:rPr lang="it-IT" sz="2800" b="0" dirty="0">
                <a:latin typeface="Aptos" panose="020B0004020202020204" pitchFamily="34" charset="0"/>
              </a:rPr>
              <a:t>  </a:t>
            </a:r>
            <a:endParaRPr lang="en-GB" sz="2800" b="0" dirty="0">
              <a:latin typeface="Aptos" panose="020B0004020202020204" pitchFamily="34" charset="0"/>
            </a:endParaRPr>
          </a:p>
        </p:txBody>
      </p:sp>
      <p:sp>
        <p:nvSpPr>
          <p:cNvPr id="10" name="Titolo 1"/>
          <p:cNvSpPr txBox="1">
            <a:spLocks/>
          </p:cNvSpPr>
          <p:nvPr userDrawn="1"/>
        </p:nvSpPr>
        <p:spPr>
          <a:xfrm>
            <a:off x="1426028" y="4424669"/>
            <a:ext cx="9456058" cy="62399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 baseline="0">
                <a:solidFill>
                  <a:schemeClr val="tx1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it-IT" sz="2800" dirty="0">
                <a:latin typeface="Aptos" panose="020B0004020202020204" pitchFamily="34" charset="0"/>
              </a:rPr>
              <a:t>A.Y. 2024-2025</a:t>
            </a:r>
          </a:p>
        </p:txBody>
      </p:sp>
      <p:sp>
        <p:nvSpPr>
          <p:cNvPr id="14" name="CasellaDiTesto 13"/>
          <p:cNvSpPr txBox="1"/>
          <p:nvPr userDrawn="1"/>
        </p:nvSpPr>
        <p:spPr>
          <a:xfrm>
            <a:off x="2997200" y="133745"/>
            <a:ext cx="612503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0" lang="it-IT" sz="2000" b="0" i="0" u="none" strike="noStrike" kern="1200" cap="small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j-ea"/>
                <a:cs typeface="+mj-cs"/>
              </a:rPr>
              <a:t>University</a:t>
            </a:r>
            <a:r>
              <a:rPr kumimoji="0" lang="it-IT" sz="2000" b="0" i="0" u="none" strike="noStrike" kern="1200" cap="small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j-ea"/>
                <a:cs typeface="+mj-cs"/>
              </a:rPr>
              <a:t> of Padova</a:t>
            </a:r>
            <a:br>
              <a:rPr kumimoji="0" lang="it-IT" sz="2000" b="0" i="0" u="none" strike="noStrike" kern="1200" cap="small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j-ea"/>
                <a:cs typeface="+mj-cs"/>
              </a:rPr>
            </a:br>
            <a:r>
              <a:rPr kumimoji="0" lang="it-IT" sz="2000" b="0" i="0" u="none" strike="noStrike" kern="1200" cap="small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j-ea"/>
                <a:cs typeface="+mj-cs"/>
              </a:rPr>
              <a:t>Department</a:t>
            </a:r>
            <a:r>
              <a:rPr kumimoji="0" lang="it-IT" sz="2000" b="0" i="0" u="none" strike="noStrike" kern="1200" cap="small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j-ea"/>
                <a:cs typeface="+mj-cs"/>
              </a:rPr>
              <a:t> of Information </a:t>
            </a:r>
            <a:r>
              <a:rPr kumimoji="0" lang="it-IT" sz="2000" b="0" i="0" u="none" strike="noStrike" kern="1200" cap="small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j-ea"/>
                <a:cs typeface="+mj-cs"/>
              </a:rPr>
              <a:t>Engineering</a:t>
            </a:r>
            <a:endParaRPr lang="en-GB" sz="1100" cap="small" baseline="0" dirty="0">
              <a:latin typeface="Aptos" panose="020B0004020202020204" pitchFamily="34" charset="0"/>
            </a:endParaRPr>
          </a:p>
        </p:txBody>
      </p:sp>
      <p:pic>
        <p:nvPicPr>
          <p:cNvPr id="15" name="Immagine 14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halkSketch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370" y="5094383"/>
            <a:ext cx="1648258" cy="1648258"/>
          </a:xfrm>
          <a:prstGeom prst="rect">
            <a:avLst/>
          </a:prstGeom>
        </p:spPr>
      </p:pic>
      <p:pic>
        <p:nvPicPr>
          <p:cNvPr id="16" name="Immagine 15"/>
          <p:cNvPicPr>
            <a:picLocks noChangeAspect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5946" y="5094383"/>
            <a:ext cx="2153135" cy="139953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296487F-10E0-114E-8185-2B9A87D777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57534" y="4986716"/>
            <a:ext cx="4393045" cy="919388"/>
          </a:xfrm>
        </p:spPr>
        <p:txBody>
          <a:bodyPr>
            <a:normAutofit/>
          </a:bodyPr>
          <a:lstStyle>
            <a:lvl1pPr>
              <a:defRPr sz="3200">
                <a:latin typeface="Aptos" panose="020B0004020202020204" pitchFamily="34" charset="0"/>
              </a:defRPr>
            </a:lvl1pPr>
          </a:lstStyle>
          <a:p>
            <a:r>
              <a:rPr lang="en-IT" dirty="0"/>
              <a:t>Name Surname</a:t>
            </a:r>
          </a:p>
        </p:txBody>
      </p:sp>
    </p:spTree>
    <p:extLst>
      <p:ext uri="{BB962C8B-B14F-4D97-AF65-F5344CB8AC3E}">
        <p14:creationId xmlns:p14="http://schemas.microsoft.com/office/powerpoint/2010/main" val="2551399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28172" y="161926"/>
            <a:ext cx="11368314" cy="905962"/>
          </a:xfrm>
        </p:spPr>
        <p:txBody>
          <a:bodyPr/>
          <a:lstStyle/>
          <a:p>
            <a:r>
              <a:rPr lang="en-GB" noProof="0" dirty="0"/>
              <a:t>Fare </a:t>
            </a:r>
            <a:r>
              <a:rPr lang="en-GB" noProof="0" dirty="0" err="1"/>
              <a:t>clic</a:t>
            </a:r>
            <a:r>
              <a:rPr lang="en-GB" noProof="0" dirty="0"/>
              <a:t> per </a:t>
            </a:r>
            <a:r>
              <a:rPr lang="en-GB" noProof="0" dirty="0" err="1"/>
              <a:t>modificare</a:t>
            </a:r>
            <a:r>
              <a:rPr lang="en-GB" noProof="0" dirty="0"/>
              <a:t> lo stile del </a:t>
            </a:r>
            <a:r>
              <a:rPr lang="en-GB" noProof="0" dirty="0" err="1"/>
              <a:t>titolo</a:t>
            </a:r>
            <a:endParaRPr lang="en-GB" noProof="0" dirty="0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‹#›</a:t>
            </a:fld>
            <a:endParaRPr lang="en-GB"/>
          </a:p>
        </p:txBody>
      </p:sp>
      <p:sp>
        <p:nvSpPr>
          <p:cNvPr id="6" name="Rettangolo arrotondato 5"/>
          <p:cNvSpPr/>
          <p:nvPr userDrawn="1"/>
        </p:nvSpPr>
        <p:spPr>
          <a:xfrm>
            <a:off x="1393371" y="1022169"/>
            <a:ext cx="9456058" cy="45719"/>
          </a:xfrm>
          <a:prstGeom prst="roundRect">
            <a:avLst>
              <a:gd name="adj" fmla="val 26104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006527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428172" y="161926"/>
            <a:ext cx="11368314" cy="9193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noProof="0" dirty="0"/>
              <a:t>Fare </a:t>
            </a:r>
            <a:r>
              <a:rPr lang="en-GB" noProof="0" dirty="0" err="1"/>
              <a:t>clic</a:t>
            </a:r>
            <a:r>
              <a:rPr lang="en-GB" noProof="0" dirty="0"/>
              <a:t> per </a:t>
            </a:r>
            <a:r>
              <a:rPr lang="en-GB" noProof="0" dirty="0" err="1"/>
              <a:t>modificare</a:t>
            </a:r>
            <a:r>
              <a:rPr lang="en-GB" noProof="0" dirty="0"/>
              <a:t> lo stile del </a:t>
            </a:r>
            <a:r>
              <a:rPr lang="en-GB" noProof="0" dirty="0" err="1"/>
              <a:t>titolo</a:t>
            </a:r>
            <a:endParaRPr lang="en-GB" noProof="0" dirty="0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28172" y="1375682"/>
            <a:ext cx="11368314" cy="48219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noProof="0" dirty="0" err="1"/>
              <a:t>Modifica</a:t>
            </a:r>
            <a:r>
              <a:rPr lang="en-GB" noProof="0" dirty="0"/>
              <a:t> </a:t>
            </a:r>
            <a:r>
              <a:rPr lang="en-GB" noProof="0" dirty="0" err="1"/>
              <a:t>gli</a:t>
            </a:r>
            <a:r>
              <a:rPr lang="en-GB" noProof="0" dirty="0"/>
              <a:t> </a:t>
            </a:r>
            <a:r>
              <a:rPr lang="en-GB" noProof="0" dirty="0" err="1"/>
              <a:t>stili</a:t>
            </a:r>
            <a:r>
              <a:rPr lang="en-GB" noProof="0" dirty="0"/>
              <a:t> del </a:t>
            </a:r>
            <a:r>
              <a:rPr lang="en-GB" noProof="0" dirty="0" err="1"/>
              <a:t>testo</a:t>
            </a:r>
            <a:r>
              <a:rPr lang="en-GB" noProof="0" dirty="0"/>
              <a:t> </a:t>
            </a:r>
            <a:r>
              <a:rPr lang="en-GB" noProof="0" dirty="0" err="1"/>
              <a:t>dello</a:t>
            </a:r>
            <a:r>
              <a:rPr lang="en-GB" noProof="0" dirty="0"/>
              <a:t> schema</a:t>
            </a:r>
          </a:p>
          <a:p>
            <a:pPr lvl="1"/>
            <a:r>
              <a:rPr lang="en-GB" noProof="0" dirty="0"/>
              <a:t>Secondo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2"/>
            <a:r>
              <a:rPr lang="en-GB" noProof="0" dirty="0" err="1"/>
              <a:t>Terzo</a:t>
            </a:r>
            <a:r>
              <a:rPr lang="en-GB" noProof="0" dirty="0"/>
              <a:t>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3"/>
            <a:r>
              <a:rPr lang="en-GB" noProof="0" dirty="0"/>
              <a:t>Quarto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4"/>
            <a:r>
              <a:rPr lang="en-GB" noProof="0" dirty="0"/>
              <a:t>Quinto </a:t>
            </a:r>
            <a:r>
              <a:rPr lang="en-GB" noProof="0" dirty="0" err="1"/>
              <a:t>livello</a:t>
            </a:r>
            <a:endParaRPr lang="en-GB" noProof="0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31858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fld id="{31DE2C5B-556E-47B8-A792-024C2FCA4AC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28790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2" r:id="rId2"/>
    <p:sldLayoutId id="2147483649" r:id="rId3"/>
    <p:sldLayoutId id="2147483654" r:id="rId4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Aptos" panose="020B0004020202020204" pitchFamily="34" charset="0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lnSpc>
          <a:spcPct val="90000"/>
        </a:lnSpc>
        <a:spcBef>
          <a:spcPts val="1000"/>
        </a:spcBef>
        <a:buClr>
          <a:srgbClr val="00B050"/>
        </a:buClr>
        <a:buFont typeface="Wingdings" panose="05000000000000000000" pitchFamily="2" charset="2"/>
        <a:buChar char="Ø"/>
        <a:defRPr sz="24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B050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B050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B050"/>
        </a:buClr>
        <a:buFont typeface="Courier New" panose="02070309020205020404" pitchFamily="49" charset="0"/>
        <a:buChar char="o"/>
        <a:defRPr sz="16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B050"/>
        </a:buClr>
        <a:buFont typeface="Times New Roman" panose="02020603050405020304" pitchFamily="18" charset="0"/>
        <a:buChar char="̶"/>
        <a:defRPr sz="16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example.com/library" TargetMode="External"/><Relationship Id="rId2" Type="http://schemas.openxmlformats.org/officeDocument/2006/relationships/hyperlink" Target="http://www.example.com/" TargetMode="Externa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://www.example.com/library" TargetMode="External"/><Relationship Id="rId2" Type="http://schemas.openxmlformats.org/officeDocument/2006/relationships/hyperlink" Target="http://www.example.com/" TargetMode="Externa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17E0323C-B2D5-E147-A405-326B19A39E7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Exam and Project Discussion Q&amp;A </a:t>
            </a:r>
            <a:endParaRPr lang="en-IT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EB437F2-B298-5D42-A17B-E5DDC2184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/>
              <a:t>Giacomo Cappon</a:t>
            </a:r>
            <a:endParaRPr lang="en-IT" dirty="0"/>
          </a:p>
        </p:txBody>
      </p:sp>
    </p:spTree>
    <p:extLst>
      <p:ext uri="{BB962C8B-B14F-4D97-AF65-F5344CB8AC3E}">
        <p14:creationId xmlns:p14="http://schemas.microsoft.com/office/powerpoint/2010/main" val="11840549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CCAC-9D70-C543-BBE0-822B6CB5F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7"/>
            <a:ext cx="11213368" cy="5334907"/>
          </a:xfrm>
        </p:spPr>
        <p:txBody>
          <a:bodyPr>
            <a:normAutofit/>
          </a:bodyPr>
          <a:lstStyle/>
          <a:p>
            <a:r>
              <a:rPr lang="en-GB" b="1" dirty="0"/>
              <a:t>The theory exam </a:t>
            </a:r>
          </a:p>
          <a:p>
            <a:endParaRPr lang="en-GB" b="1" dirty="0"/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Project delivery instructions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Project presentation guidelines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9A05B1-19C9-EE42-9540-E05EF4463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24533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Exam</a:t>
            </a:r>
            <a:r>
              <a:rPr lang="it-IT" dirty="0"/>
              <a:t> </a:t>
            </a:r>
            <a:r>
              <a:rPr lang="it-IT" dirty="0" err="1"/>
              <a:t>structure</a:t>
            </a:r>
            <a:endParaRPr lang="en-GB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28172" y="1361167"/>
            <a:ext cx="11368314" cy="511119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fr-FR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Written</a:t>
            </a:r>
            <a:r>
              <a:rPr lang="fr-FR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test of 90-minute duration:</a:t>
            </a:r>
          </a:p>
          <a:p>
            <a:r>
              <a:rPr lang="fr-FR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10 multiple-option questions (</a:t>
            </a:r>
            <a:r>
              <a:rPr lang="fr-FR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only</a:t>
            </a:r>
            <a:r>
              <a:rPr lang="fr-FR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one correct </a:t>
            </a:r>
            <a:r>
              <a:rPr lang="fr-FR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answer</a:t>
            </a:r>
            <a:r>
              <a:rPr lang="fr-FR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)   </a:t>
            </a:r>
            <a:endParaRPr lang="it-IT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fr-FR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5 </a:t>
            </a:r>
            <a:r>
              <a:rPr lang="fr-FR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true</a:t>
            </a:r>
            <a:r>
              <a:rPr lang="fr-FR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/false questions</a:t>
            </a:r>
            <a:endParaRPr lang="it-IT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3 open questions</a:t>
            </a:r>
          </a:p>
          <a:p>
            <a:endParaRPr lang="en-US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Notes: </a:t>
            </a:r>
          </a:p>
          <a:p>
            <a:pPr lvl="0"/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The exam is in English, answers to be provided in English (English errors not penalized). Dictionary is not allowed.</a:t>
            </a:r>
            <a:endParaRPr lang="it-IT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/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At the exam, the students cannot use any course material (slides, books, articles, etc.), nor any electronic device (e.g., smartphone, notebook, etc.). Only the pen and a calculator is allowed. </a:t>
            </a:r>
            <a:endParaRPr lang="it-IT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>
              <a:spcAft>
                <a:spcPts val="800"/>
              </a:spcAft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The theory exam will cover all the theory program except the material marked as  </a:t>
            </a:r>
            <a:endParaRPr lang="it-IT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it-IT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endParaRPr lang="en-GB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3</a:t>
            </a:fld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22225A9-4B41-E88A-A557-21E98EEF7A8C}"/>
              </a:ext>
            </a:extLst>
          </p:cNvPr>
          <p:cNvSpPr/>
          <p:nvPr/>
        </p:nvSpPr>
        <p:spPr>
          <a:xfrm>
            <a:off x="1239252" y="5963611"/>
            <a:ext cx="998622" cy="232651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latin typeface="Aptos" panose="020B0004020202020204" pitchFamily="34" charset="0"/>
                <a:ea typeface="Palatino" pitchFamily="2" charset="77"/>
              </a:rPr>
              <a:t>BONUS</a:t>
            </a:r>
          </a:p>
        </p:txBody>
      </p:sp>
    </p:spTree>
    <p:extLst>
      <p:ext uri="{BB962C8B-B14F-4D97-AF65-F5344CB8AC3E}">
        <p14:creationId xmlns:p14="http://schemas.microsoft.com/office/powerpoint/2010/main" val="6965130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CA7C72B-601C-E8BA-1C30-98915BF70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Mark of the theory </a:t>
            </a:r>
            <a:r>
              <a:rPr lang="it-IT" dirty="0" err="1"/>
              <a:t>exam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22D49F4-F5A6-8402-19D4-F9CC4C571B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7"/>
            <a:ext cx="11368314" cy="5122079"/>
          </a:xfrm>
        </p:spPr>
        <p:txBody>
          <a:bodyPr>
            <a:normAutofit/>
          </a:bodyPr>
          <a:lstStyle/>
          <a:p>
            <a:r>
              <a:rPr lang="it-IT" dirty="0"/>
              <a:t>Multiple-option </a:t>
            </a:r>
            <a:r>
              <a:rPr lang="it-IT" dirty="0" err="1"/>
              <a:t>questions</a:t>
            </a:r>
            <a:r>
              <a:rPr lang="it-IT" dirty="0"/>
              <a:t>: </a:t>
            </a:r>
          </a:p>
          <a:p>
            <a:pPr lvl="1"/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1 point for each correct answer</a:t>
            </a:r>
            <a:endParaRPr lang="it-IT" sz="16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/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-0.33 points for each incorrect answer</a:t>
            </a:r>
            <a:endParaRPr lang="it-IT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/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0 points for each not given answer</a:t>
            </a:r>
          </a:p>
          <a:p>
            <a:pPr marL="457200"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True/false questions:</a:t>
            </a:r>
          </a:p>
          <a:p>
            <a:pPr lvl="1">
              <a:lnSpc>
                <a:spcPct val="107000"/>
              </a:lnSpc>
            </a:pPr>
            <a:r>
              <a:rPr lang="en-US" sz="20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1 point for each correct answer</a:t>
            </a:r>
            <a:endParaRPr lang="it-IT" sz="18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</a:pPr>
            <a:r>
              <a:rPr lang="en-US" sz="20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-0.33 points for each incorrect answer</a:t>
            </a:r>
            <a:endParaRPr lang="it-IT" sz="18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n-US" sz="20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0 points for each not given answer</a:t>
            </a:r>
          </a:p>
          <a:p>
            <a:pPr marL="457200">
              <a:lnSpc>
                <a:spcPct val="107000"/>
              </a:lnSpc>
              <a:spcAft>
                <a:spcPts val="800"/>
              </a:spcAft>
            </a:pPr>
            <a:r>
              <a:rPr lang="it-IT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Open </a:t>
            </a:r>
            <a:r>
              <a:rPr lang="it-IT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questions</a:t>
            </a:r>
            <a:r>
              <a:rPr lang="it-IT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</a:p>
          <a:p>
            <a:pPr marL="800100" lvl="1">
              <a:lnSpc>
                <a:spcPct val="107000"/>
              </a:lnSpc>
              <a:spcAft>
                <a:spcPts val="800"/>
              </a:spcAft>
            </a:pPr>
            <a:r>
              <a:rPr lang="it-IT" dirty="0">
                <a:ea typeface="Calibri" panose="020F0502020204030204" pitchFamily="34" charset="0"/>
                <a:cs typeface="Times New Roman" panose="02020603050405020304" pitchFamily="18" charset="0"/>
              </a:rPr>
              <a:t>0 to 5 points </a:t>
            </a:r>
            <a:r>
              <a:rPr lang="it-IT" dirty="0" err="1">
                <a:ea typeface="Calibri" panose="020F0502020204030204" pitchFamily="34" charset="0"/>
                <a:cs typeface="Times New Roman" panose="02020603050405020304" pitchFamily="18" charset="0"/>
              </a:rPr>
              <a:t>each</a:t>
            </a:r>
            <a:endParaRPr lang="it-IT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07000"/>
              </a:lnSpc>
              <a:spcAft>
                <a:spcPts val="800"/>
              </a:spcAft>
            </a:pPr>
            <a:r>
              <a:rPr lang="it-IT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Total score:  up to 30 points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E295D15-3395-96C7-CA62-0E7BDCDB5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79599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A60CA2C-C455-4A2B-36E1-F2999322ED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Final</a:t>
            </a:r>
            <a:r>
              <a:rPr lang="it-IT" dirty="0"/>
              <a:t> </a:t>
            </a:r>
            <a:r>
              <a:rPr lang="it-IT" dirty="0" err="1"/>
              <a:t>mark</a:t>
            </a:r>
            <a:endParaRPr lang="it-IT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8DBCF875-2A5B-33DF-AEA4-B5A6A410613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28172" y="1361167"/>
                <a:ext cx="11368314" cy="5100018"/>
              </a:xfrm>
            </p:spPr>
            <p:txBody>
              <a:bodyPr>
                <a:normAutofit/>
              </a:bodyPr>
              <a:lstStyle/>
              <a:p>
                <a:r>
                  <a:rPr lang="en-GB" dirty="0"/>
                  <a:t>The written exam is passed if the student gets at least 18/30 points.</a:t>
                </a:r>
              </a:p>
              <a:p>
                <a:endParaRPr lang="en-GB" dirty="0"/>
              </a:p>
              <a:p>
                <a:r>
                  <a:rPr lang="en-GB" dirty="0"/>
                  <a:t>To get the final mark, students must pass both the written exam and the project discussion. </a:t>
                </a:r>
              </a:p>
              <a:p>
                <a:endParaRPr lang="en-GB" dirty="0"/>
              </a:p>
              <a:p>
                <a:r>
                  <a:rPr lang="en-GB" dirty="0"/>
                  <a:t>The mark of the project is up to 12/30 (based on Q&amp;A project discussion, different students in the same group can get different marks for the project). </a:t>
                </a:r>
              </a:p>
              <a:p>
                <a:endParaRPr lang="en-GB" dirty="0"/>
              </a:p>
              <a:p>
                <a:r>
                  <a:rPr lang="en-GB" dirty="0"/>
                  <a:t>The vote of the theory exam accounts for 2/3 of the final mark. </a:t>
                </a:r>
              </a:p>
              <a:p>
                <a:pPr marL="0" indent="0">
                  <a:buNone/>
                </a:pPr>
                <a:endParaRPr lang="it-IT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𝑓𝑖𝑛𝑎𝑙</m:t>
                      </m:r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𝑚𝑎𝑟𝑘</m:t>
                      </m:r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𝑚𝑎𝑟𝑘</m:t>
                      </m:r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𝑜𝑓</m:t>
                      </m:r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𝑡h𝑒</m:t>
                      </m:r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𝑡h𝑒𝑜𝑟𝑦</m:t>
                      </m:r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𝑒𝑥𝑎𝑚</m:t>
                      </m:r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𝑚𝑎𝑟𝑘</m:t>
                      </m:r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𝑜𝑓</m:t>
                      </m:r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𝑡h𝑒</m:t>
                      </m:r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𝑝𝑟𝑜𝑗𝑒𝑐𝑡</m:t>
                      </m:r>
                    </m:oMath>
                  </m:oMathPara>
                </a14:m>
                <a:endParaRPr lang="it-IT" dirty="0"/>
              </a:p>
              <a:p>
                <a:endParaRPr lang="it-IT" dirty="0"/>
              </a:p>
            </p:txBody>
          </p:sp>
        </mc:Choice>
        <mc:Fallback xmlns="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8DBCF875-2A5B-33DF-AEA4-B5A6A410613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28172" y="1361167"/>
                <a:ext cx="11368314" cy="5100018"/>
              </a:xfrm>
              <a:blipFill>
                <a:blip r:embed="rId2"/>
                <a:stretch>
                  <a:fillRect l="-697" t="-1673" r="-54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B645031E-9291-7BD9-0BA2-2578914B4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26457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C8DFCF4-137A-A3AD-B37B-04F25E4F5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Examples</a:t>
            </a:r>
            <a:r>
              <a:rPr lang="it-IT" dirty="0"/>
              <a:t> of multiple-option </a:t>
            </a:r>
            <a:r>
              <a:rPr lang="it-IT" dirty="0" err="1"/>
              <a:t>questions</a:t>
            </a:r>
            <a:r>
              <a:rPr lang="it-IT" dirty="0"/>
              <a:t> 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2390095-C5B6-B2C1-9394-73528D167E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Q1. A diffuse-reflective optical sensor: </a:t>
            </a:r>
            <a:endParaRPr lang="it-IT" sz="28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lphaLcPeriod"/>
            </a:pPr>
            <a:r>
              <a:rPr lang="en-US" sz="2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is made of two separate components, a light emitter and a light detector, and the sensing object is interposed between these two components.</a:t>
            </a:r>
            <a:endParaRPr lang="it-IT" sz="28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lphaLcPeriod"/>
            </a:pPr>
            <a:r>
              <a:rPr lang="en-US" sz="2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is made of two separate components, a light emitter and a light retroreflector, and the sensing object is interposed between these two components.</a:t>
            </a:r>
            <a:endParaRPr lang="it-IT" sz="28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lphaLcPeriod"/>
            </a:pPr>
            <a:r>
              <a:rPr lang="en-US" sz="2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is made of a single component integrating both a light emitter and a light detector.</a:t>
            </a:r>
            <a:endParaRPr lang="it-IT" sz="28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lphaLcPeriod"/>
            </a:pPr>
            <a:r>
              <a:rPr lang="en-US" sz="2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none of the previous options. </a:t>
            </a:r>
            <a:endParaRPr lang="it-IT" sz="28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70CAC3C8-01C8-7744-A359-E2B8C46FB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543379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C8DFCF4-137A-A3AD-B37B-04F25E4F5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Examples</a:t>
            </a:r>
            <a:r>
              <a:rPr lang="it-IT" dirty="0"/>
              <a:t> of multiple-option </a:t>
            </a:r>
            <a:r>
              <a:rPr lang="it-IT" dirty="0" err="1"/>
              <a:t>questions</a:t>
            </a:r>
            <a:r>
              <a:rPr lang="it-IT" dirty="0"/>
              <a:t> 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2390095-C5B6-B2C1-9394-73528D167E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Q1. A diffuse-reflective optical sensor: </a:t>
            </a:r>
            <a:endParaRPr lang="it-IT" sz="28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lphaLcPeriod"/>
            </a:pPr>
            <a:r>
              <a:rPr lang="en-US" sz="2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is made of two separate components, a light emitter and a light detector, and the sensing object is interposed between these two components.</a:t>
            </a:r>
            <a:endParaRPr lang="it-IT" sz="28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lphaLcPeriod"/>
            </a:pPr>
            <a:r>
              <a:rPr lang="en-US" sz="2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is made of two separate components, a light emitter and a light retroreflector, and the sensing object is interposed between these two components.</a:t>
            </a:r>
            <a:endParaRPr lang="it-IT" sz="28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lphaLcPeriod"/>
            </a:pPr>
            <a:r>
              <a:rPr lang="en-US" sz="2800" b="1" dirty="0">
                <a:solidFill>
                  <a:srgbClr val="00B05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is made of a single component integrating both a light emitter and a light detector.</a:t>
            </a:r>
            <a:endParaRPr lang="it-IT" sz="2800" b="1" dirty="0">
              <a:solidFill>
                <a:srgbClr val="00B050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lphaLcPeriod"/>
            </a:pPr>
            <a:r>
              <a:rPr lang="en-US" sz="2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none of the previous options. </a:t>
            </a:r>
            <a:endParaRPr lang="it-IT" sz="28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70CAC3C8-01C8-7744-A359-E2B8C46FB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338711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C8DFCF4-137A-A3AD-B37B-04F25E4F5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Examples</a:t>
            </a:r>
            <a:r>
              <a:rPr lang="it-IT" dirty="0"/>
              <a:t> of multiple-option </a:t>
            </a:r>
            <a:r>
              <a:rPr lang="it-IT" dirty="0" err="1"/>
              <a:t>questions</a:t>
            </a:r>
            <a:r>
              <a:rPr lang="it-IT" dirty="0"/>
              <a:t> 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2390095-C5B6-B2C1-9394-73528D167E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7"/>
            <a:ext cx="11368314" cy="518204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4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Q2. What is the most appropriate use of the following HTTP request? </a:t>
            </a:r>
            <a:endParaRPr lang="it-IT" sz="24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	POST /library HTTP/1.1	</a:t>
            </a:r>
          </a:p>
          <a:p>
            <a:pPr marL="0" indent="0">
              <a:buNone/>
            </a:pPr>
            <a:r>
              <a:rPr lang="en-US" sz="24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	Host: </a:t>
            </a:r>
            <a:r>
              <a:rPr lang="en-US" sz="2400" dirty="0">
                <a:effectLst/>
                <a:ea typeface="Calibri" panose="020F0502020204030204" pitchFamily="34" charset="0"/>
                <a:cs typeface="Times New Roman" panose="02020603050405020304" pitchFamily="18" charset="0"/>
                <a:hlinkClick r:id="rId2"/>
              </a:rPr>
              <a:t>www.example.com</a:t>
            </a:r>
            <a:endParaRPr lang="en-US" sz="24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it-IT" sz="24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	{</a:t>
            </a:r>
            <a:endParaRPr lang="it-IT" sz="24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	   “Author”: “Stephen Hawking”</a:t>
            </a:r>
            <a:endParaRPr lang="it-IT" sz="24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en-US" sz="24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  “Title”: “A Brief History of Time”</a:t>
            </a:r>
            <a:endParaRPr lang="it-IT" sz="24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>
              <a:buNone/>
            </a:pPr>
            <a:r>
              <a:rPr lang="en-US" sz="24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	}</a:t>
            </a:r>
            <a:endParaRPr lang="it-IT" sz="24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lphaLcPeriod"/>
            </a:pPr>
            <a:r>
              <a:rPr lang="en-US" sz="24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Delete the book with author “Stephen Hawking” and title “A Brief History of Time” from the book list at the URL </a:t>
            </a:r>
            <a:r>
              <a:rPr lang="en-US" sz="2400" u="sng" dirty="0">
                <a:solidFill>
                  <a:srgbClr val="0563C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  <a:hlinkClick r:id="rId3"/>
              </a:rPr>
              <a:t>www.example.com/library</a:t>
            </a:r>
            <a:endParaRPr lang="it-IT" sz="24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lphaLcPeriod"/>
            </a:pPr>
            <a:r>
              <a:rPr lang="en-US" sz="24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Adds to the book list at the URL </a:t>
            </a:r>
            <a:r>
              <a:rPr lang="en-US" u="sng" dirty="0">
                <a:solidFill>
                  <a:srgbClr val="0563C1"/>
                </a:solidFill>
                <a:ea typeface="Calibri" panose="020F0502020204030204" pitchFamily="34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www.example.com/library</a:t>
            </a:r>
            <a:r>
              <a:rPr lang="en-US" u="sng" dirty="0">
                <a:solidFill>
                  <a:srgbClr val="0563C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a new book with title “A Brief History of Time” and author “Stephen Hawking”</a:t>
            </a:r>
            <a:endParaRPr lang="it-IT" sz="24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lphaLcPeriod"/>
            </a:pPr>
            <a:r>
              <a:rPr lang="en-US" sz="24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Replace the book list at the URL </a:t>
            </a:r>
            <a:r>
              <a:rPr lang="en-US" sz="2400" u="sng" dirty="0">
                <a:solidFill>
                  <a:srgbClr val="0563C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  <a:hlinkClick r:id="rId3"/>
              </a:rPr>
              <a:t>www.example.com/library</a:t>
            </a:r>
            <a:r>
              <a:rPr lang="en-US" sz="24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with the book list containing the book “A Brief History of Time” by “Stephen Hawking”</a:t>
            </a:r>
            <a:endParaRPr lang="it-IT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lphaLcPeriod"/>
            </a:pPr>
            <a:r>
              <a:rPr lang="en-US" sz="24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None of the previous answers</a:t>
            </a:r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70CAC3C8-01C8-7744-A359-E2B8C46FB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42821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C8DFCF4-137A-A3AD-B37B-04F25E4F5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Examples</a:t>
            </a:r>
            <a:r>
              <a:rPr lang="it-IT" dirty="0"/>
              <a:t> of multiple-option </a:t>
            </a:r>
            <a:r>
              <a:rPr lang="it-IT" dirty="0" err="1"/>
              <a:t>questions</a:t>
            </a:r>
            <a:r>
              <a:rPr lang="it-IT" dirty="0"/>
              <a:t> 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2390095-C5B6-B2C1-9394-73528D167E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7"/>
            <a:ext cx="11368314" cy="518204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4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Q2. What is the most appropriate use of the following HTTP request? </a:t>
            </a:r>
            <a:endParaRPr lang="it-IT" sz="24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	POST /library HTTP/1.1	</a:t>
            </a:r>
          </a:p>
          <a:p>
            <a:pPr marL="0" indent="0">
              <a:buNone/>
            </a:pPr>
            <a:r>
              <a:rPr lang="en-US" sz="24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	Host: </a:t>
            </a:r>
            <a:r>
              <a:rPr lang="en-US" sz="2400" dirty="0">
                <a:effectLst/>
                <a:ea typeface="Calibri" panose="020F0502020204030204" pitchFamily="34" charset="0"/>
                <a:cs typeface="Times New Roman" panose="02020603050405020304" pitchFamily="18" charset="0"/>
                <a:hlinkClick r:id="rId2"/>
              </a:rPr>
              <a:t>www.example.com</a:t>
            </a:r>
            <a:endParaRPr lang="en-US" sz="24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it-IT" sz="24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	{</a:t>
            </a:r>
            <a:endParaRPr lang="it-IT" sz="24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	   “Author”: “Stephen Hawking”</a:t>
            </a:r>
            <a:endParaRPr lang="it-IT" sz="24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en-US" sz="24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  “Title”: “A Brief History of Time”</a:t>
            </a:r>
            <a:endParaRPr lang="it-IT" sz="24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>
              <a:buNone/>
            </a:pPr>
            <a:r>
              <a:rPr lang="en-US" sz="24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	}</a:t>
            </a:r>
            <a:endParaRPr lang="it-IT" sz="24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lphaLcPeriod"/>
            </a:pPr>
            <a:r>
              <a:rPr lang="en-US" sz="24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Delete the book with author “Stephen Hawking” and title “A Brief History of Time” from the book list at the URL </a:t>
            </a:r>
            <a:r>
              <a:rPr lang="en-US" sz="2400" u="sng" dirty="0">
                <a:solidFill>
                  <a:srgbClr val="0563C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  <a:hlinkClick r:id="rId3"/>
              </a:rPr>
              <a:t>www.example.com/library</a:t>
            </a:r>
            <a:endParaRPr lang="it-IT" sz="24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lphaLcPeriod"/>
            </a:pPr>
            <a:r>
              <a:rPr lang="en-US" sz="2400" b="1" dirty="0">
                <a:solidFill>
                  <a:srgbClr val="00B05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Adds to the book list at the URL </a:t>
            </a:r>
            <a:r>
              <a:rPr lang="en-US" sz="2400" b="1" u="sng" dirty="0">
                <a:solidFill>
                  <a:srgbClr val="00B05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  <a:hlinkClick r:id="rId3"/>
              </a:rPr>
              <a:t>www.example.com/library</a:t>
            </a:r>
            <a:r>
              <a:rPr lang="en-US" sz="2400" b="1" dirty="0">
                <a:solidFill>
                  <a:srgbClr val="00B05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a new book with title “A Brief History of Time” and author “Stephen Hawking”</a:t>
            </a:r>
            <a:endParaRPr lang="it-IT" sz="2400" b="1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lphaLcPeriod"/>
            </a:pPr>
            <a:r>
              <a:rPr lang="en-US" sz="24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Replace the book list at the URL </a:t>
            </a:r>
            <a:r>
              <a:rPr lang="en-US" sz="2400" u="sng" dirty="0">
                <a:solidFill>
                  <a:srgbClr val="0563C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  <a:hlinkClick r:id="rId3"/>
              </a:rPr>
              <a:t>www.example.com/library</a:t>
            </a:r>
            <a:r>
              <a:rPr lang="en-US" sz="24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with the book list containing the book “A Brief History of Time” by “Stephen Hawking”</a:t>
            </a:r>
            <a:endParaRPr lang="it-IT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lphaLcPeriod"/>
            </a:pPr>
            <a:r>
              <a:rPr lang="en-US" sz="24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None of the previous answers</a:t>
            </a:r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70CAC3C8-01C8-7744-A359-E2B8C46FB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72954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C8DFCF4-137A-A3AD-B37B-04F25E4F5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Examples</a:t>
            </a:r>
            <a:r>
              <a:rPr lang="it-IT" dirty="0"/>
              <a:t> of multiple-option </a:t>
            </a:r>
            <a:r>
              <a:rPr lang="it-IT" dirty="0" err="1"/>
              <a:t>questions</a:t>
            </a:r>
            <a:r>
              <a:rPr lang="it-IT" dirty="0"/>
              <a:t> 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2390095-C5B6-B2C1-9394-73528D167E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7"/>
            <a:ext cx="11368314" cy="518204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Q3. The Diffie-Hellman protocol can be used to: </a:t>
            </a:r>
            <a:endParaRPr lang="it-IT" sz="28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lphaLcPeriod"/>
            </a:pPr>
            <a:r>
              <a:rPr lang="en-US" sz="2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Generate a shared secret key, without the need to exchange the key through a communication channel.</a:t>
            </a:r>
            <a:endParaRPr lang="it-IT" sz="28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lphaLcPeriod"/>
            </a:pPr>
            <a:r>
              <a:rPr lang="en-US" sz="2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Authenticate two communicating parties.</a:t>
            </a:r>
            <a:endParaRPr lang="it-IT" sz="28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lphaLcPeriod"/>
            </a:pPr>
            <a:r>
              <a:rPr lang="en-US" sz="2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Perform the digital signature of a message.</a:t>
            </a:r>
            <a:endParaRPr lang="it-IT" sz="28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lphaLcPeriod"/>
            </a:pPr>
            <a:r>
              <a:rPr lang="en-US" sz="2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None of the previous answers.</a:t>
            </a:r>
            <a:endParaRPr lang="it-IT" sz="28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70CAC3C8-01C8-7744-A359-E2B8C46FB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156121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C8DFCF4-137A-A3AD-B37B-04F25E4F5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Examples</a:t>
            </a:r>
            <a:r>
              <a:rPr lang="it-IT" dirty="0"/>
              <a:t> of multiple-option </a:t>
            </a:r>
            <a:r>
              <a:rPr lang="it-IT" dirty="0" err="1"/>
              <a:t>questions</a:t>
            </a:r>
            <a:r>
              <a:rPr lang="it-IT" dirty="0"/>
              <a:t> 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2390095-C5B6-B2C1-9394-73528D167E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7"/>
            <a:ext cx="11368314" cy="518204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Q3. The Diffie-Hellman protocol can be used to: </a:t>
            </a:r>
            <a:endParaRPr lang="it-IT" sz="28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lphaLcPeriod"/>
            </a:pPr>
            <a:r>
              <a:rPr lang="en-US" sz="2800" b="1" dirty="0">
                <a:solidFill>
                  <a:srgbClr val="00B05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Generate a shared secret key, without the need to exchange the key through a communication channel.</a:t>
            </a:r>
            <a:endParaRPr lang="it-IT" sz="2800" b="1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lphaLcPeriod"/>
            </a:pPr>
            <a:r>
              <a:rPr lang="en-US" sz="2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Authenticate two communicating parties.</a:t>
            </a:r>
            <a:endParaRPr lang="it-IT" sz="28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lphaLcPeriod"/>
            </a:pPr>
            <a:r>
              <a:rPr lang="en-US" sz="2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Perform the digital signature of a message.</a:t>
            </a:r>
            <a:endParaRPr lang="it-IT" sz="28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lphaLcPeriod"/>
            </a:pPr>
            <a:r>
              <a:rPr lang="en-US" sz="2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None of the previous answers.</a:t>
            </a:r>
            <a:endParaRPr lang="it-IT" sz="28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70CAC3C8-01C8-7744-A359-E2B8C46FB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09081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069520A-FF88-8F34-A9FD-A61D9925B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Examples</a:t>
            </a:r>
            <a:r>
              <a:rPr lang="it-IT" dirty="0"/>
              <a:t> of </a:t>
            </a:r>
            <a:r>
              <a:rPr lang="it-IT" dirty="0" err="1"/>
              <a:t>true</a:t>
            </a:r>
            <a:r>
              <a:rPr lang="it-IT" dirty="0"/>
              <a:t>-false </a:t>
            </a:r>
            <a:r>
              <a:rPr lang="it-IT" dirty="0" err="1"/>
              <a:t>questions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23EEEE2-114D-41C6-AB36-4BC2A3B4E9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Q4. </a:t>
            </a:r>
            <a:r>
              <a:rPr lang="en-US" sz="28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Amperometric</a:t>
            </a:r>
            <a:r>
              <a:rPr lang="en-US" sz="2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electrochemical sensors measure the current between the working electrode and the counter electrode, while the potential of the working electrode is fixed. </a:t>
            </a:r>
            <a:endParaRPr lang="it-IT" sz="2800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58490FDF-D3DC-D334-9BF4-BA4BACBAB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12</a:t>
            </a:fld>
            <a:endParaRPr lang="en-GB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8B863461-13FD-F7A5-B47D-6019FBA1EE64}"/>
              </a:ext>
            </a:extLst>
          </p:cNvPr>
          <p:cNvSpPr txBox="1"/>
          <p:nvPr/>
        </p:nvSpPr>
        <p:spPr>
          <a:xfrm>
            <a:off x="5066675" y="2960558"/>
            <a:ext cx="16414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3200" b="1" dirty="0">
                <a:solidFill>
                  <a:srgbClr val="00B050"/>
                </a:solidFill>
                <a:latin typeface="Aptos" panose="020B0004020202020204" pitchFamily="34" charset="0"/>
              </a:rPr>
              <a:t>TRUE</a:t>
            </a:r>
            <a:endParaRPr lang="it-IT" b="1" dirty="0">
              <a:solidFill>
                <a:srgbClr val="00B050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0411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069520A-FF88-8F34-A9FD-A61D9925B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Examples</a:t>
            </a:r>
            <a:r>
              <a:rPr lang="it-IT" dirty="0"/>
              <a:t> of </a:t>
            </a:r>
            <a:r>
              <a:rPr lang="it-IT" dirty="0" err="1"/>
              <a:t>true</a:t>
            </a:r>
            <a:r>
              <a:rPr lang="it-IT" dirty="0"/>
              <a:t>-false </a:t>
            </a:r>
            <a:r>
              <a:rPr lang="it-IT" dirty="0" err="1"/>
              <a:t>questions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23EEEE2-114D-41C6-AB36-4BC2A3B4E9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Q5. TCP (Transport Communication Protocol) is an unreliable connectionless protocol of the transport layer. </a:t>
            </a:r>
            <a:endParaRPr lang="it-IT" sz="2800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58490FDF-D3DC-D334-9BF4-BA4BACBAB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13</a:t>
            </a:fld>
            <a:endParaRPr lang="en-GB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8B863461-13FD-F7A5-B47D-6019FBA1EE64}"/>
              </a:ext>
            </a:extLst>
          </p:cNvPr>
          <p:cNvSpPr txBox="1"/>
          <p:nvPr/>
        </p:nvSpPr>
        <p:spPr>
          <a:xfrm>
            <a:off x="5066675" y="2960558"/>
            <a:ext cx="16414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3200" b="1" dirty="0">
                <a:solidFill>
                  <a:srgbClr val="FF0000"/>
                </a:solidFill>
                <a:latin typeface="Aptos" panose="020B0004020202020204" pitchFamily="34" charset="0"/>
              </a:rPr>
              <a:t>FALSE</a:t>
            </a:r>
            <a:endParaRPr lang="it-IT" b="1" dirty="0">
              <a:solidFill>
                <a:srgbClr val="FF0000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35712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8D66EB3-8BE4-359F-B352-1F503AB2B2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Examples</a:t>
            </a:r>
            <a:r>
              <a:rPr lang="it-IT" dirty="0"/>
              <a:t> of open </a:t>
            </a:r>
            <a:r>
              <a:rPr lang="it-IT" dirty="0" err="1"/>
              <a:t>questions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C3E232F-845A-74AB-F81B-B47455340D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7"/>
            <a:ext cx="11368314" cy="130984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Q6. 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Given the results of 5 SUS questionnaires collected by 5 participants evaluating an app A:</a:t>
            </a:r>
          </a:p>
          <a:p>
            <a:pPr marL="0" indent="0">
              <a:buNone/>
            </a:pPr>
            <a:r>
              <a:rPr lang="en-US" dirty="0">
                <a:cs typeface="Times New Roman" panose="02020603050405020304" pitchFamily="18" charset="0"/>
              </a:rPr>
              <a:t>	SUS</a:t>
            </a:r>
            <a:r>
              <a:rPr lang="en-US" baseline="-25000" dirty="0">
                <a:cs typeface="Times New Roman" panose="02020603050405020304" pitchFamily="18" charset="0"/>
              </a:rPr>
              <a:t>A</a:t>
            </a:r>
            <a:r>
              <a:rPr lang="en-US" dirty="0">
                <a:cs typeface="Times New Roman" panose="02020603050405020304" pitchFamily="18" charset="0"/>
              </a:rPr>
              <a:t> = 65, 80, 93, 78, 54</a:t>
            </a:r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B425F44F-FB00-6331-AE9C-F38A1E6EA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14</a:t>
            </a:fld>
            <a:endParaRPr lang="en-GB"/>
          </a:p>
        </p:txBody>
      </p:sp>
      <p:sp>
        <p:nvSpPr>
          <p:cNvPr id="5" name="Segnaposto contenuto 2">
            <a:extLst>
              <a:ext uri="{FF2B5EF4-FFF2-40B4-BE49-F238E27FC236}">
                <a16:creationId xmlns:a16="http://schemas.microsoft.com/office/drawing/2014/main" id="{C0CA1A39-49EE-ACD5-ECB4-B49AC6DE7874}"/>
              </a:ext>
            </a:extLst>
          </p:cNvPr>
          <p:cNvSpPr txBox="1">
            <a:spLocks/>
          </p:cNvSpPr>
          <p:nvPr/>
        </p:nvSpPr>
        <p:spPr>
          <a:xfrm>
            <a:off x="411843" y="2887578"/>
            <a:ext cx="7697441" cy="34687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dirty="0" err="1">
                <a:latin typeface="Aptos" panose="020B0004020202020204" pitchFamily="34" charset="0"/>
              </a:rPr>
              <a:t>Calculate</a:t>
            </a:r>
            <a:r>
              <a:rPr lang="it-IT" dirty="0">
                <a:latin typeface="Aptos" panose="020B0004020202020204" pitchFamily="34" charset="0"/>
              </a:rPr>
              <a:t> the confidence </a:t>
            </a:r>
            <a:r>
              <a:rPr lang="it-IT" dirty="0" err="1">
                <a:latin typeface="Aptos" panose="020B0004020202020204" pitchFamily="34" charset="0"/>
              </a:rPr>
              <a:t>interval</a:t>
            </a:r>
            <a:r>
              <a:rPr lang="it-IT" dirty="0">
                <a:latin typeface="Aptos" panose="020B0004020202020204" pitchFamily="34" charset="0"/>
              </a:rPr>
              <a:t> </a:t>
            </a:r>
            <a:r>
              <a:rPr lang="it-IT" dirty="0" err="1">
                <a:latin typeface="Aptos" panose="020B0004020202020204" pitchFamily="34" charset="0"/>
              </a:rPr>
              <a:t>at</a:t>
            </a:r>
            <a:r>
              <a:rPr lang="it-IT" dirty="0">
                <a:latin typeface="Aptos" panose="020B0004020202020204" pitchFamily="34" charset="0"/>
              </a:rPr>
              <a:t> 90% : </a:t>
            </a:r>
            <a:r>
              <a:rPr lang="it-IT" b="1" dirty="0">
                <a:solidFill>
                  <a:srgbClr val="00B050"/>
                </a:solidFill>
                <a:latin typeface="Aptos" panose="020B0004020202020204" pitchFamily="34" charset="0"/>
              </a:rPr>
              <a:t>74 ± 14.25</a:t>
            </a:r>
          </a:p>
          <a:p>
            <a:r>
              <a:rPr lang="it-IT" dirty="0" err="1">
                <a:latin typeface="Aptos" panose="020B0004020202020204" pitchFamily="34" charset="0"/>
              </a:rPr>
              <a:t>Evaluate</a:t>
            </a:r>
            <a:r>
              <a:rPr lang="it-IT" dirty="0">
                <a:latin typeface="Aptos" panose="020B0004020202020204" pitchFamily="34" charset="0"/>
              </a:rPr>
              <a:t> </a:t>
            </a:r>
            <a:r>
              <a:rPr lang="it-IT" dirty="0" err="1">
                <a:latin typeface="Aptos" panose="020B0004020202020204" pitchFamily="34" charset="0"/>
              </a:rPr>
              <a:t>if</a:t>
            </a:r>
            <a:r>
              <a:rPr lang="it-IT" dirty="0">
                <a:latin typeface="Aptos" panose="020B0004020202020204" pitchFamily="34" charset="0"/>
              </a:rPr>
              <a:t> an app B (</a:t>
            </a:r>
            <a:r>
              <a:rPr lang="it-IT" dirty="0" err="1">
                <a:latin typeface="Aptos" panose="020B0004020202020204" pitchFamily="34" charset="0"/>
              </a:rPr>
              <a:t>evaluated</a:t>
            </a:r>
            <a:r>
              <a:rPr lang="it-IT" dirty="0">
                <a:latin typeface="Aptos" panose="020B0004020202020204" pitchFamily="34" charset="0"/>
              </a:rPr>
              <a:t> by the </a:t>
            </a:r>
            <a:r>
              <a:rPr lang="it-IT" dirty="0" err="1">
                <a:latin typeface="Aptos" panose="020B0004020202020204" pitchFamily="34" charset="0"/>
              </a:rPr>
              <a:t>same</a:t>
            </a:r>
            <a:r>
              <a:rPr lang="it-IT" dirty="0">
                <a:latin typeface="Aptos" panose="020B0004020202020204" pitchFamily="34" charset="0"/>
              </a:rPr>
              <a:t> 5 </a:t>
            </a:r>
            <a:r>
              <a:rPr lang="it-IT" dirty="0" err="1">
                <a:latin typeface="Aptos" panose="020B0004020202020204" pitchFamily="34" charset="0"/>
              </a:rPr>
              <a:t>participants</a:t>
            </a:r>
            <a:r>
              <a:rPr lang="it-IT" dirty="0">
                <a:latin typeface="Aptos" panose="020B0004020202020204" pitchFamily="34" charset="0"/>
              </a:rPr>
              <a:t>) with SUS:</a:t>
            </a:r>
          </a:p>
          <a:p>
            <a:pPr marL="0" indent="0">
              <a:buNone/>
            </a:pPr>
            <a:r>
              <a:rPr lang="en-US" dirty="0">
                <a:latin typeface="Aptos" panose="020B0004020202020204" pitchFamily="34" charset="0"/>
                <a:cs typeface="Times New Roman" panose="02020603050405020304" pitchFamily="18" charset="0"/>
              </a:rPr>
              <a:t>	SUS</a:t>
            </a:r>
            <a:r>
              <a:rPr lang="en-US" baseline="-25000" dirty="0">
                <a:latin typeface="Aptos" panose="020B0004020202020204" pitchFamily="34" charset="0"/>
                <a:cs typeface="Times New Roman" panose="02020603050405020304" pitchFamily="18" charset="0"/>
              </a:rPr>
              <a:t>B</a:t>
            </a:r>
            <a:r>
              <a:rPr lang="en-US" dirty="0">
                <a:latin typeface="Aptos" panose="020B0004020202020204" pitchFamily="34" charset="0"/>
                <a:cs typeface="Times New Roman" panose="02020603050405020304" pitchFamily="18" charset="0"/>
              </a:rPr>
              <a:t> = 90, 90, 87, 95, 91</a:t>
            </a:r>
            <a:endParaRPr lang="it-IT" dirty="0">
              <a:latin typeface="Aptos" panose="020B0004020202020204" pitchFamily="34" charset="0"/>
            </a:endParaRPr>
          </a:p>
          <a:p>
            <a:pPr marL="0" indent="0">
              <a:buNone/>
            </a:pPr>
            <a:r>
              <a:rPr lang="en-US" dirty="0">
                <a:latin typeface="Aptos" panose="020B0004020202020204" pitchFamily="34" charset="0"/>
                <a:cs typeface="Times New Roman" panose="02020603050405020304" pitchFamily="18" charset="0"/>
              </a:rPr>
              <a:t>can be said to be significantly more usable with a level of confidence &gt;= 0.05: </a:t>
            </a:r>
          </a:p>
          <a:p>
            <a:pPr marL="0" indent="0">
              <a:buNone/>
            </a:pPr>
            <a:r>
              <a:rPr lang="en-US" dirty="0">
                <a:latin typeface="Aptos" panose="020B0004020202020204" pitchFamily="34" charset="0"/>
                <a:cs typeface="Times New Roman" panose="02020603050405020304" pitchFamily="18" charset="0"/>
              </a:rPr>
              <a:t>	</a:t>
            </a:r>
            <a:r>
              <a:rPr lang="en-US" b="1" dirty="0">
                <a:solidFill>
                  <a:srgbClr val="00B050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t = 2.30 </a:t>
            </a:r>
            <a:r>
              <a:rPr lang="en-US" b="1" dirty="0">
                <a:solidFill>
                  <a:srgbClr val="00B050"/>
                </a:solidFill>
                <a:latin typeface="Aptos" panose="020B0004020202020204" pitchFamily="34" charset="0"/>
                <a:cs typeface="Times New Roman" panose="02020603050405020304" pitchFamily="18" charset="0"/>
                <a:sym typeface="Wingdings" pitchFamily="2" charset="2"/>
              </a:rPr>
              <a:t> NO (if it was &gt;= 0.1, YES)</a:t>
            </a:r>
            <a:endParaRPr lang="en-US" b="1" dirty="0">
              <a:solidFill>
                <a:srgbClr val="00B050"/>
              </a:solidFill>
              <a:latin typeface="Aptos" panose="020B000402020202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latin typeface="Aptos" panose="020B000402020202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latin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4F79592-CDA8-ADE1-270B-500832BF9B5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677" t="7957" r="9380" b="8278"/>
          <a:stretch/>
        </p:blipFill>
        <p:spPr>
          <a:xfrm>
            <a:off x="7993988" y="1840832"/>
            <a:ext cx="3373302" cy="4880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06189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8D66EB3-8BE4-359F-B352-1F503AB2B2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Examples</a:t>
            </a:r>
            <a:r>
              <a:rPr lang="it-IT" dirty="0"/>
              <a:t> of open </a:t>
            </a:r>
            <a:r>
              <a:rPr lang="it-IT" dirty="0" err="1"/>
              <a:t>questions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C3E232F-845A-74AB-F81B-B47455340D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7"/>
            <a:ext cx="11368314" cy="860243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Q7. Provide a brief description of the following HTTP methods: GET, HEAD, POST, PUT, DELETE. </a:t>
            </a:r>
            <a:endParaRPr lang="it-IT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B425F44F-FB00-6331-AE9C-F38A1E6EA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15</a:t>
            </a:fld>
            <a:endParaRPr lang="en-GB"/>
          </a:p>
        </p:txBody>
      </p:sp>
      <p:sp>
        <p:nvSpPr>
          <p:cNvPr id="5" name="Segnaposto contenuto 2">
            <a:extLst>
              <a:ext uri="{FF2B5EF4-FFF2-40B4-BE49-F238E27FC236}">
                <a16:creationId xmlns:a16="http://schemas.microsoft.com/office/drawing/2014/main" id="{C0CA1A39-49EE-ACD5-ECB4-B49AC6DE7874}"/>
              </a:ext>
            </a:extLst>
          </p:cNvPr>
          <p:cNvSpPr txBox="1">
            <a:spLocks/>
          </p:cNvSpPr>
          <p:nvPr/>
        </p:nvSpPr>
        <p:spPr>
          <a:xfrm>
            <a:off x="411843" y="2397986"/>
            <a:ext cx="11368314" cy="395836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u="sng" dirty="0">
                <a:latin typeface="Aptos" panose="020B00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Possible answer:</a:t>
            </a:r>
          </a:p>
          <a:p>
            <a:r>
              <a:rPr lang="en-US" dirty="0">
                <a:latin typeface="Aptos" panose="020B00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GET: </a:t>
            </a:r>
            <a:r>
              <a:rPr lang="en-US" dirty="0">
                <a:latin typeface="Aptos" panose="020B0004020202020204" pitchFamily="34" charset="0"/>
              </a:rPr>
              <a:t>Method used to request the server to send a page or an object. It only retrieves data.</a:t>
            </a:r>
            <a:endParaRPr lang="en-US" dirty="0">
              <a:latin typeface="Aptos" panose="020B00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Aptos" panose="020B00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HEAD: </a:t>
            </a:r>
            <a:r>
              <a:rPr lang="en-GB" dirty="0">
                <a:latin typeface="Aptos" panose="020B0004020202020204" pitchFamily="34" charset="0"/>
              </a:rPr>
              <a:t>Method used to ask for the response message header, without requesting the actual page content. </a:t>
            </a:r>
            <a:endParaRPr lang="en-US" dirty="0">
              <a:latin typeface="Aptos" panose="020B00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Aptos" panose="020B00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POST: </a:t>
            </a:r>
            <a:r>
              <a:rPr lang="it-IT" dirty="0">
                <a:latin typeface="Aptos" panose="020B0004020202020204" pitchFamily="34" charset="0"/>
              </a:rPr>
              <a:t>Method </a:t>
            </a:r>
            <a:r>
              <a:rPr lang="it-IT" dirty="0" err="1">
                <a:latin typeface="Aptos" panose="020B0004020202020204" pitchFamily="34" charset="0"/>
              </a:rPr>
              <a:t>used</a:t>
            </a:r>
            <a:r>
              <a:rPr lang="it-IT" dirty="0">
                <a:latin typeface="Aptos" panose="020B0004020202020204" pitchFamily="34" charset="0"/>
              </a:rPr>
              <a:t> to </a:t>
            </a:r>
            <a:r>
              <a:rPr lang="it-IT" dirty="0" err="1">
                <a:latin typeface="Aptos" panose="020B0004020202020204" pitchFamily="34" charset="0"/>
              </a:rPr>
              <a:t>ask</a:t>
            </a:r>
            <a:r>
              <a:rPr lang="it-IT" dirty="0">
                <a:latin typeface="Aptos" panose="020B0004020202020204" pitchFamily="34" charset="0"/>
              </a:rPr>
              <a:t> to upload data to a server. With POST </a:t>
            </a:r>
            <a:r>
              <a:rPr lang="en-US" dirty="0">
                <a:latin typeface="Aptos" panose="020B0004020202020204" pitchFamily="34" charset="0"/>
              </a:rPr>
              <a:t>the client asks to the server to accept the entity enclosed in the request as a new subordinate of the resource identified by the request URL.</a:t>
            </a:r>
            <a:endParaRPr lang="en-US" dirty="0">
              <a:latin typeface="Aptos" panose="020B00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Aptos" panose="020B00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PUT: Method used to </a:t>
            </a:r>
            <a:r>
              <a:rPr lang="en-US" dirty="0">
                <a:latin typeface="Aptos" panose="020B0004020202020204" pitchFamily="34" charset="0"/>
              </a:rPr>
              <a:t>ask to write a content in the server to the specified URL. If the request URL refers to an already existing resource, the server replaces the existing entity with the new enclosed entity. </a:t>
            </a:r>
            <a:endParaRPr lang="en-US" dirty="0">
              <a:latin typeface="Aptos" panose="020B00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Aptos" panose="020B00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DELETE: Method used to </a:t>
            </a:r>
            <a:r>
              <a:rPr lang="en-US" dirty="0">
                <a:latin typeface="Aptos" panose="020B0004020202020204" pitchFamily="34" charset="0"/>
              </a:rPr>
              <a:t>ask to delete the content in the server at the specified URL.</a:t>
            </a:r>
          </a:p>
          <a:p>
            <a:endParaRPr lang="it-IT" dirty="0">
              <a:latin typeface="Aptos" panose="020B00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it-IT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86633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FC062C3-A10C-EEEA-E755-0F91CF843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Examples</a:t>
            </a:r>
            <a:r>
              <a:rPr lang="it-IT" dirty="0"/>
              <a:t> of open </a:t>
            </a:r>
            <a:r>
              <a:rPr lang="it-IT" dirty="0" err="1"/>
              <a:t>questions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5F02FFD-EE45-183A-67B0-9739A10002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85021"/>
            <a:ext cx="11368314" cy="53124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Q8. List and briefly describe at least 5 of the 7 main principles of the GDPR.</a:t>
            </a:r>
            <a:endParaRPr lang="it-IT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531936AA-BA68-3B29-E9C1-493F64750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16</a:t>
            </a:fld>
            <a:endParaRPr lang="en-GB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11C3F3E0-5864-4F78-8924-014C647FDC7F}"/>
              </a:ext>
            </a:extLst>
          </p:cNvPr>
          <p:cNvSpPr txBox="1"/>
          <p:nvPr/>
        </p:nvSpPr>
        <p:spPr>
          <a:xfrm>
            <a:off x="411843" y="2150813"/>
            <a:ext cx="11368314" cy="42934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50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Possible answer: </a:t>
            </a:r>
          </a:p>
          <a:p>
            <a:pPr marL="457200" lvl="0" indent="-457200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Clr>
                <a:srgbClr val="00B050"/>
              </a:buClr>
              <a:buFont typeface="+mj-lt"/>
              <a:buAutoNum type="arabicPeriod"/>
            </a:pPr>
            <a:r>
              <a:rPr lang="en-GB" sz="2000" dirty="0">
                <a:latin typeface="Aptos" panose="020B0004020202020204" pitchFamily="34" charset="0"/>
              </a:rPr>
              <a:t>Lawfulness, fairness and transparency: Personal data shall be processed lawfully, fairly and in a transparent manner in relation to the data subject.  </a:t>
            </a:r>
          </a:p>
          <a:p>
            <a:pPr marL="457200" lvl="0" indent="-457200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Clr>
                <a:srgbClr val="00B050"/>
              </a:buClr>
              <a:buFont typeface="+mj-lt"/>
              <a:buAutoNum type="arabicPeriod"/>
            </a:pPr>
            <a:r>
              <a:rPr lang="en-GB" sz="2000" dirty="0">
                <a:latin typeface="Aptos" panose="020B0004020202020204" pitchFamily="34" charset="0"/>
              </a:rPr>
              <a:t>Purpose limitation: Personal data shall be collected for specified, explicit and legitimate purposes and not further processed in a manner that is incompatible with those purposes.</a:t>
            </a:r>
          </a:p>
          <a:p>
            <a:pPr marL="457200" lvl="0" indent="-457200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Clr>
                <a:srgbClr val="00B050"/>
              </a:buClr>
              <a:buFont typeface="+mj-lt"/>
              <a:buAutoNum type="arabicPeriod"/>
            </a:pPr>
            <a:r>
              <a:rPr lang="en-GB" sz="2000" dirty="0">
                <a:latin typeface="Aptos" panose="020B0004020202020204" pitchFamily="34" charset="0"/>
              </a:rPr>
              <a:t>Data minimisation: Personal data shall be adequate, relevant and limited to what is necessary in relation to the purposes for which they are processed.</a:t>
            </a:r>
          </a:p>
          <a:p>
            <a:pPr marL="457200" lvl="0" indent="-457200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Clr>
                <a:srgbClr val="00B050"/>
              </a:buClr>
              <a:buFont typeface="+mj-lt"/>
              <a:buAutoNum type="arabicPeriod" startAt="4"/>
            </a:pPr>
            <a:r>
              <a:rPr lang="en-GB" sz="2000" dirty="0">
                <a:latin typeface="Aptos" panose="020B0004020202020204" pitchFamily="34" charset="0"/>
              </a:rPr>
              <a:t>Accuracy: personal data must be accurate and, where necessary, kept up to date. </a:t>
            </a:r>
          </a:p>
          <a:p>
            <a:pPr marL="457200" lvl="0" indent="-457200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Clr>
                <a:srgbClr val="00B050"/>
              </a:buClr>
              <a:buFont typeface="+mj-lt"/>
              <a:buAutoNum type="arabicPeriod" startAt="5"/>
            </a:pPr>
            <a:r>
              <a:rPr lang="en-GB" sz="2000" dirty="0">
                <a:latin typeface="Aptos" panose="020B0004020202020204" pitchFamily="34" charset="0"/>
              </a:rPr>
              <a:t>Storage limitation: personal data shall be stored in a form which permits identification of data subjects for no longer than is necessary for the purposes for which they are processed. 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50"/>
              </a:buClr>
              <a:buSzTx/>
              <a:buFont typeface="Wingdings" panose="05000000000000000000" pitchFamily="2" charset="2"/>
              <a:buNone/>
              <a:tabLst/>
              <a:defRPr/>
            </a:pPr>
            <a:endParaRPr kumimoji="0" lang="en-US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2382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CCAC-9D70-C543-BBE0-822B6CB5F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7"/>
            <a:ext cx="11213368" cy="5334907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The theory exam</a:t>
            </a:r>
            <a:endParaRPr lang="en-GB" b="1" dirty="0"/>
          </a:p>
          <a:p>
            <a:endParaRPr lang="en-GB" b="1" dirty="0"/>
          </a:p>
          <a:p>
            <a:r>
              <a:rPr lang="en-GB" b="1" dirty="0"/>
              <a:t>Project delivery instructions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Project presentation guidelines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9A05B1-19C9-EE42-9540-E05EF4463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22359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General info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B42B2631-DEDB-D847-9680-271CA1C870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288595"/>
            <a:ext cx="10453188" cy="5377686"/>
          </a:xfrm>
        </p:spPr>
        <p:txBody>
          <a:bodyPr>
            <a:normAutofit/>
          </a:bodyPr>
          <a:lstStyle/>
          <a:p>
            <a:r>
              <a:rPr lang="en-GB" dirty="0"/>
              <a:t>In the following, we reported the instructions on how to deliver your project. In a nutshell, you must prepare and submit a </a:t>
            </a:r>
            <a:r>
              <a:rPr lang="en-GB" b="1" dirty="0"/>
              <a:t>.pdf file </a:t>
            </a:r>
            <a:r>
              <a:rPr lang="en-GB" dirty="0"/>
              <a:t>containing </a:t>
            </a:r>
          </a:p>
          <a:p>
            <a:pPr lvl="1"/>
            <a:r>
              <a:rPr lang="en-GB" dirty="0"/>
              <a:t>the number of your group and the name of each group participant</a:t>
            </a:r>
          </a:p>
          <a:p>
            <a:pPr lvl="1"/>
            <a:r>
              <a:rPr lang="en-GB" dirty="0"/>
              <a:t>the link to a public GitHub repository containing a ”valid” version of the code</a:t>
            </a:r>
          </a:p>
          <a:p>
            <a:endParaRPr lang="en-GB" dirty="0"/>
          </a:p>
          <a:p>
            <a:r>
              <a:rPr lang="en-GB" dirty="0"/>
              <a:t>Since the project must be delivered through GitHub, code delivered via mail will be ignored</a:t>
            </a:r>
          </a:p>
          <a:p>
            <a:endParaRPr lang="en-GB" dirty="0"/>
          </a:p>
          <a:p>
            <a:r>
              <a:rPr lang="en-GB" dirty="0"/>
              <a:t>“Valid” code must be in the </a:t>
            </a:r>
            <a:r>
              <a:rPr lang="en-GB" b="1" dirty="0"/>
              <a:t>master</a:t>
            </a:r>
            <a:r>
              <a:rPr lang="en-GB" dirty="0"/>
              <a:t> (or </a:t>
            </a:r>
            <a:r>
              <a:rPr lang="en-GB" b="1" dirty="0"/>
              <a:t>main</a:t>
            </a:r>
            <a:r>
              <a:rPr lang="en-GB" dirty="0"/>
              <a:t>) </a:t>
            </a:r>
            <a:r>
              <a:rPr lang="en-GB" b="1" dirty="0"/>
              <a:t>branch</a:t>
            </a:r>
            <a:r>
              <a:rPr lang="en-GB" dirty="0"/>
              <a:t> and must have been committed no later than the </a:t>
            </a:r>
            <a:r>
              <a:rPr lang="en-GB" b="1" dirty="0"/>
              <a:t>13/07/2025</a:t>
            </a:r>
            <a:r>
              <a:rPr lang="en-GB" dirty="0"/>
              <a:t>, and no later than the </a:t>
            </a:r>
            <a:r>
              <a:rPr lang="en-GB" b="1" dirty="0"/>
              <a:t>day before the project discussion date</a:t>
            </a:r>
            <a:r>
              <a:rPr lang="en-GB" dirty="0"/>
              <a:t>.</a:t>
            </a:r>
            <a:endParaRPr lang="en-GB" b="1" dirty="0"/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690588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Example scenario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B42B2631-DEDB-D847-9680-271CA1C870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288595"/>
            <a:ext cx="10453188" cy="5377686"/>
          </a:xfrm>
        </p:spPr>
        <p:txBody>
          <a:bodyPr>
            <a:normAutofit/>
          </a:bodyPr>
          <a:lstStyle/>
          <a:p>
            <a:r>
              <a:rPr lang="en-GB" dirty="0"/>
              <a:t>”I belong to Group 50 composed by me, Martina </a:t>
            </a:r>
            <a:r>
              <a:rPr lang="en-GB" dirty="0" err="1"/>
              <a:t>Vettoretti</a:t>
            </a:r>
            <a:r>
              <a:rPr lang="en-GB" dirty="0"/>
              <a:t>, and Luca Cossu”</a:t>
            </a:r>
          </a:p>
          <a:p>
            <a:endParaRPr lang="en-GB" dirty="0"/>
          </a:p>
          <a:p>
            <a:r>
              <a:rPr lang="en-GB" dirty="0"/>
              <a:t>“My code is located in my public repository named </a:t>
            </a:r>
            <a:r>
              <a:rPr lang="en-GB" dirty="0" err="1"/>
              <a:t>bwthw</a:t>
            </a:r>
            <a:r>
              <a:rPr lang="en-GB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544187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Step 1: Fill the group info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B42B2631-DEDB-D847-9680-271CA1C870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288595"/>
            <a:ext cx="10453188" cy="5377686"/>
          </a:xfrm>
        </p:spPr>
        <p:txBody>
          <a:bodyPr>
            <a:normAutofit/>
          </a:bodyPr>
          <a:lstStyle/>
          <a:p>
            <a:r>
              <a:rPr lang="en-GB" dirty="0"/>
              <a:t>Create a .docx file</a:t>
            </a:r>
          </a:p>
          <a:p>
            <a:endParaRPr lang="en-GB" dirty="0"/>
          </a:p>
          <a:p>
            <a:r>
              <a:rPr lang="en-GB" dirty="0"/>
              <a:t>Fill the group info at the very top of the file, e.g.: </a:t>
            </a:r>
          </a:p>
        </p:txBody>
      </p:sp>
      <p:pic>
        <p:nvPicPr>
          <p:cNvPr id="4" name="Picture 3" descr="Table&#10;&#10;Description automatically generated">
            <a:extLst>
              <a:ext uri="{FF2B5EF4-FFF2-40B4-BE49-F238E27FC236}">
                <a16:creationId xmlns:a16="http://schemas.microsoft.com/office/drawing/2014/main" id="{6E54D86A-D1E3-D641-2844-75379CB5EC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4130" y="2862465"/>
            <a:ext cx="8947230" cy="3448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12736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pplication&#10;&#10;Description automatically generated with medium confidence">
            <a:extLst>
              <a:ext uri="{FF2B5EF4-FFF2-40B4-BE49-F238E27FC236}">
                <a16:creationId xmlns:a16="http://schemas.microsoft.com/office/drawing/2014/main" id="{4449EF9E-C6F2-7F8C-AF44-F4E4B65248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2218" y="3161409"/>
            <a:ext cx="5700486" cy="9690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Step 2: Make your repository public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B42B2631-DEDB-D847-9680-271CA1C870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288595"/>
            <a:ext cx="10453188" cy="5377686"/>
          </a:xfrm>
        </p:spPr>
        <p:txBody>
          <a:bodyPr>
            <a:normAutofit/>
          </a:bodyPr>
          <a:lstStyle/>
          <a:p>
            <a:r>
              <a:rPr lang="en-GB" dirty="0"/>
              <a:t>First, make sure your repository is public. This is true if, in GitHub, a “public” label is present near your repo name:</a:t>
            </a:r>
          </a:p>
          <a:p>
            <a:r>
              <a:rPr lang="en-GB" dirty="0"/>
              <a:t>If, instead, the label says “private”, follow these steps to make it public:</a:t>
            </a:r>
          </a:p>
          <a:p>
            <a:endParaRPr lang="en-GB" dirty="0"/>
          </a:p>
          <a:p>
            <a:pPr lvl="1"/>
            <a:r>
              <a:rPr lang="en-GB" dirty="0"/>
              <a:t>Go to “Settings”</a:t>
            </a:r>
          </a:p>
          <a:p>
            <a:pPr lvl="1"/>
            <a:r>
              <a:rPr lang="en-GB" dirty="0"/>
              <a:t>Scroll down till the “Danger Zone”</a:t>
            </a:r>
          </a:p>
          <a:p>
            <a:pPr lvl="1"/>
            <a:r>
              <a:rPr lang="en-GB" dirty="0"/>
              <a:t>Click on “Change visibility” </a:t>
            </a:r>
          </a:p>
          <a:p>
            <a:pPr lvl="1"/>
            <a:r>
              <a:rPr lang="en-GB" dirty="0"/>
              <a:t>Select “Make public”</a:t>
            </a:r>
          </a:p>
          <a:p>
            <a:pPr lvl="1"/>
            <a:r>
              <a:rPr lang="en-GB" dirty="0"/>
              <a:t>Type the name of the repo to confirm</a:t>
            </a:r>
          </a:p>
          <a:p>
            <a:pPr lvl="1"/>
            <a:r>
              <a:rPr lang="en-GB" dirty="0"/>
              <a:t>Click on the button</a:t>
            </a:r>
          </a:p>
          <a:p>
            <a:pPr lvl="1"/>
            <a:endParaRPr lang="en-GB" dirty="0"/>
          </a:p>
        </p:txBody>
      </p:sp>
      <p:pic>
        <p:nvPicPr>
          <p:cNvPr id="5" name="Picture 4" descr="A picture containing logo&#10;&#10;Description automatically generated">
            <a:extLst>
              <a:ext uri="{FF2B5EF4-FFF2-40B4-BE49-F238E27FC236}">
                <a16:creationId xmlns:a16="http://schemas.microsoft.com/office/drawing/2014/main" id="{CD861484-0F5C-0290-AB7A-E320B93D18C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6749" y="1662920"/>
            <a:ext cx="2429686" cy="47591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7588A0C-C2A0-EA15-0092-6BDB5CEE851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6291" y="2489184"/>
            <a:ext cx="6342927" cy="72798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457BCB0A-369F-A36C-9C11-C5455AAF4599}"/>
              </a:ext>
            </a:extLst>
          </p:cNvPr>
          <p:cNvSpPr/>
          <p:nvPr/>
        </p:nvSpPr>
        <p:spPr>
          <a:xfrm>
            <a:off x="11019098" y="2845420"/>
            <a:ext cx="879676" cy="39161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DB6F5AC-9212-5E90-2EAD-390A5CEAF776}"/>
              </a:ext>
            </a:extLst>
          </p:cNvPr>
          <p:cNvCxnSpPr>
            <a:cxnSpLocks/>
            <a:endCxn id="8" idx="1"/>
          </p:cNvCxnSpPr>
          <p:nvPr/>
        </p:nvCxnSpPr>
        <p:spPr>
          <a:xfrm flipV="1">
            <a:off x="3136739" y="3041225"/>
            <a:ext cx="7882359" cy="100325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533584C-A68C-8EB5-8C44-94F907BA9523}"/>
              </a:ext>
            </a:extLst>
          </p:cNvPr>
          <p:cNvCxnSpPr>
            <a:cxnSpLocks/>
            <a:endCxn id="18" idx="1"/>
          </p:cNvCxnSpPr>
          <p:nvPr/>
        </p:nvCxnSpPr>
        <p:spPr>
          <a:xfrm flipV="1">
            <a:off x="4444678" y="3756227"/>
            <a:ext cx="6202771" cy="12985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0125DE5D-A7BA-4483-33E4-699D08E9EFB2}"/>
              </a:ext>
            </a:extLst>
          </p:cNvPr>
          <p:cNvSpPr/>
          <p:nvPr/>
        </p:nvSpPr>
        <p:spPr>
          <a:xfrm>
            <a:off x="10647449" y="3560422"/>
            <a:ext cx="1116379" cy="39161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pic>
        <p:nvPicPr>
          <p:cNvPr id="21" name="Picture 20" descr="Graphical user interface, text, application, email&#10;&#10;Description automatically generated">
            <a:extLst>
              <a:ext uri="{FF2B5EF4-FFF2-40B4-BE49-F238E27FC236}">
                <a16:creationId xmlns:a16="http://schemas.microsoft.com/office/drawing/2014/main" id="{B62049BC-9D84-358A-048E-71C8B75921E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92809" y="4008476"/>
            <a:ext cx="3105965" cy="2845963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E9754A73-569B-B950-AFFF-8F099B4479E8}"/>
              </a:ext>
            </a:extLst>
          </p:cNvPr>
          <p:cNvSpPr/>
          <p:nvPr/>
        </p:nvSpPr>
        <p:spPr>
          <a:xfrm>
            <a:off x="8810216" y="4901870"/>
            <a:ext cx="1919516" cy="457208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F01F138A-BC6D-651A-85CA-8FEB6C119C25}"/>
              </a:ext>
            </a:extLst>
          </p:cNvPr>
          <p:cNvCxnSpPr>
            <a:cxnSpLocks/>
          </p:cNvCxnSpPr>
          <p:nvPr/>
        </p:nvCxnSpPr>
        <p:spPr>
          <a:xfrm>
            <a:off x="3646025" y="4130424"/>
            <a:ext cx="5146784" cy="763756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590EEEA0-FEBF-D7A4-C58A-40936D4FFDBA}"/>
              </a:ext>
            </a:extLst>
          </p:cNvPr>
          <p:cNvCxnSpPr>
            <a:cxnSpLocks/>
          </p:cNvCxnSpPr>
          <p:nvPr/>
        </p:nvCxnSpPr>
        <p:spPr>
          <a:xfrm>
            <a:off x="5162309" y="4669480"/>
            <a:ext cx="3647907" cy="1627148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D495B53B-85C2-EFE2-ED82-A17917F28D23}"/>
              </a:ext>
            </a:extLst>
          </p:cNvPr>
          <p:cNvCxnSpPr>
            <a:cxnSpLocks/>
          </p:cNvCxnSpPr>
          <p:nvPr/>
        </p:nvCxnSpPr>
        <p:spPr>
          <a:xfrm>
            <a:off x="3541853" y="4894180"/>
            <a:ext cx="5250956" cy="1668874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48">
            <a:extLst>
              <a:ext uri="{FF2B5EF4-FFF2-40B4-BE49-F238E27FC236}">
                <a16:creationId xmlns:a16="http://schemas.microsoft.com/office/drawing/2014/main" id="{235E05A3-C4B6-6E74-5FA3-5B87BEA20CED}"/>
              </a:ext>
            </a:extLst>
          </p:cNvPr>
          <p:cNvSpPr/>
          <p:nvPr/>
        </p:nvSpPr>
        <p:spPr>
          <a:xfrm>
            <a:off x="8861678" y="6507060"/>
            <a:ext cx="3037096" cy="29818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751EEE34-42F8-2C0F-F57D-26021E0F40AB}"/>
              </a:ext>
            </a:extLst>
          </p:cNvPr>
          <p:cNvSpPr/>
          <p:nvPr/>
        </p:nvSpPr>
        <p:spPr>
          <a:xfrm>
            <a:off x="8863532" y="6208875"/>
            <a:ext cx="3037096" cy="29818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5081589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Step 3: Locate the link to a valid code version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B42B2631-DEDB-D847-9680-271CA1C870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288595"/>
            <a:ext cx="10453188" cy="5377686"/>
          </a:xfrm>
        </p:spPr>
        <p:txBody>
          <a:bodyPr>
            <a:normAutofit fontScale="92500" lnSpcReduction="10000"/>
          </a:bodyPr>
          <a:lstStyle/>
          <a:p>
            <a:r>
              <a:rPr lang="en-GB" dirty="0"/>
              <a:t>From the home page of your GitHub repo, click on the “history” link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Click on the link of the version of the code that you want to submit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Note: be sure that your are in the master (or main) branch!</a:t>
            </a:r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7" name="Picture 6" descr="Graphical user interface, application, background pattern&#10;&#10;Description automatically generated with medium confidence">
            <a:extLst>
              <a:ext uri="{FF2B5EF4-FFF2-40B4-BE49-F238E27FC236}">
                <a16:creationId xmlns:a16="http://schemas.microsoft.com/office/drawing/2014/main" id="{9E7BB534-2414-83D2-02C1-DCB9270BFD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279" y="1663852"/>
            <a:ext cx="11722100" cy="16002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F44D5B9F-EF6A-1E79-74AF-28AFEE9EE9B0}"/>
              </a:ext>
            </a:extLst>
          </p:cNvPr>
          <p:cNvSpPr/>
          <p:nvPr/>
        </p:nvSpPr>
        <p:spPr>
          <a:xfrm>
            <a:off x="10289755" y="2547258"/>
            <a:ext cx="1423274" cy="450287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BE90450-5EEB-0066-B932-A65A6EA9B6FF}"/>
              </a:ext>
            </a:extLst>
          </p:cNvPr>
          <p:cNvCxnSpPr>
            <a:cxnSpLocks/>
          </p:cNvCxnSpPr>
          <p:nvPr/>
        </p:nvCxnSpPr>
        <p:spPr>
          <a:xfrm>
            <a:off x="9437914" y="1453543"/>
            <a:ext cx="1519646" cy="1093715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 descr="A picture containing application&#10;&#10;Description automatically generated">
            <a:extLst>
              <a:ext uri="{FF2B5EF4-FFF2-40B4-BE49-F238E27FC236}">
                <a16:creationId xmlns:a16="http://schemas.microsoft.com/office/drawing/2014/main" id="{BC3D8E74-DC5E-D9DC-C907-D9FDD0EAC62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6977" y="3695426"/>
            <a:ext cx="9122228" cy="216534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389EB3F7-D1AF-0CB9-B3F8-66583731DFA3}"/>
              </a:ext>
            </a:extLst>
          </p:cNvPr>
          <p:cNvSpPr/>
          <p:nvPr/>
        </p:nvSpPr>
        <p:spPr>
          <a:xfrm>
            <a:off x="10112829" y="4441371"/>
            <a:ext cx="664028" cy="356313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B3F9069-F81F-FA85-5BA3-44C8CF732BC6}"/>
              </a:ext>
            </a:extLst>
          </p:cNvPr>
          <p:cNvCxnSpPr>
            <a:cxnSpLocks/>
          </p:cNvCxnSpPr>
          <p:nvPr/>
        </p:nvCxnSpPr>
        <p:spPr>
          <a:xfrm>
            <a:off x="8937171" y="3593949"/>
            <a:ext cx="1175658" cy="847422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8D4B9482-F6DB-D006-5ABA-A9E2D5ADCB8E}"/>
              </a:ext>
            </a:extLst>
          </p:cNvPr>
          <p:cNvSpPr/>
          <p:nvPr/>
        </p:nvSpPr>
        <p:spPr>
          <a:xfrm>
            <a:off x="2133600" y="3639309"/>
            <a:ext cx="1423274" cy="450287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B7FB3F2-FDD8-D553-518A-C8AC9CA7DBE7}"/>
              </a:ext>
            </a:extLst>
          </p:cNvPr>
          <p:cNvCxnSpPr>
            <a:cxnSpLocks/>
          </p:cNvCxnSpPr>
          <p:nvPr/>
        </p:nvCxnSpPr>
        <p:spPr>
          <a:xfrm flipV="1">
            <a:off x="1249011" y="4089596"/>
            <a:ext cx="1047966" cy="1929605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75049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Step 4: Put the link in the .docx file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B42B2631-DEDB-D847-9680-271CA1C870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288595"/>
            <a:ext cx="10453188" cy="5377686"/>
          </a:xfrm>
        </p:spPr>
        <p:txBody>
          <a:bodyPr>
            <a:normAutofit/>
          </a:bodyPr>
          <a:lstStyle/>
          <a:p>
            <a:r>
              <a:rPr lang="en-GB" dirty="0"/>
              <a:t>Copy and paste the link in the </a:t>
            </a:r>
            <a:r>
              <a:rPr lang="en-GB" dirty="0" err="1"/>
              <a:t>url</a:t>
            </a:r>
            <a:r>
              <a:rPr lang="en-GB" dirty="0"/>
              <a:t> bar of your browser in the .docx file below the group info, e.g.: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FAF0621-DB50-9616-4866-66E751E587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136" y="2075339"/>
            <a:ext cx="10172700" cy="520700"/>
          </a:xfrm>
          <a:prstGeom prst="rect">
            <a:avLst/>
          </a:prstGeom>
        </p:spPr>
      </p:pic>
      <p:pic>
        <p:nvPicPr>
          <p:cNvPr id="9" name="Picture 8" descr="Table&#10;&#10;Description automatically generated">
            <a:extLst>
              <a:ext uri="{FF2B5EF4-FFF2-40B4-BE49-F238E27FC236}">
                <a16:creationId xmlns:a16="http://schemas.microsoft.com/office/drawing/2014/main" id="{B1C92175-15C0-10AC-0DF1-779F4667E5E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5777" y="2969829"/>
            <a:ext cx="7637417" cy="3696452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8A87FB7-F2E1-D437-7B58-0899C4BF4118}"/>
              </a:ext>
            </a:extLst>
          </p:cNvPr>
          <p:cNvCxnSpPr>
            <a:cxnSpLocks/>
            <a:stCxn id="5" idx="2"/>
            <a:endCxn id="9" idx="0"/>
          </p:cNvCxnSpPr>
          <p:nvPr/>
        </p:nvCxnSpPr>
        <p:spPr>
          <a:xfrm>
            <a:off x="5954486" y="2596039"/>
            <a:ext cx="0" cy="37379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52403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Step 5: Submit the .pdf to moodle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B42B2631-DEDB-D847-9680-271CA1C870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288595"/>
            <a:ext cx="10453188" cy="5377686"/>
          </a:xfrm>
        </p:spPr>
        <p:txBody>
          <a:bodyPr>
            <a:normAutofit/>
          </a:bodyPr>
          <a:lstStyle/>
          <a:p>
            <a:r>
              <a:rPr lang="en-GB" dirty="0"/>
              <a:t>Export your .docx file to .pdf</a:t>
            </a:r>
          </a:p>
          <a:p>
            <a:endParaRPr lang="en-GB" dirty="0"/>
          </a:p>
          <a:p>
            <a:r>
              <a:rPr lang="en-GB" dirty="0"/>
              <a:t>Then, go to moodle. In the “Project discussion – Project delivery” section locate “Project delivery”:</a:t>
            </a:r>
          </a:p>
          <a:p>
            <a:r>
              <a:rPr lang="en-GB" dirty="0"/>
              <a:t>Click on the delivery button:</a:t>
            </a:r>
          </a:p>
          <a:p>
            <a:endParaRPr lang="en-GB" dirty="0"/>
          </a:p>
          <a:p>
            <a:r>
              <a:rPr lang="en-GB" dirty="0"/>
              <a:t>Upload the .pdf file </a:t>
            </a:r>
          </a:p>
          <a:p>
            <a:endParaRPr lang="en-GB" dirty="0"/>
          </a:p>
          <a:p>
            <a:r>
              <a:rPr lang="en-GB" dirty="0"/>
              <a:t>Save and that’s it!  </a:t>
            </a:r>
          </a:p>
        </p:txBody>
      </p:sp>
      <p:pic>
        <p:nvPicPr>
          <p:cNvPr id="6" name="Picture 5" descr="A picture containing logo&#10;&#10;Description automatically generated">
            <a:extLst>
              <a:ext uri="{FF2B5EF4-FFF2-40B4-BE49-F238E27FC236}">
                <a16:creationId xmlns:a16="http://schemas.microsoft.com/office/drawing/2014/main" id="{C8C096C0-D4C7-8146-E383-58F3E001B3A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922" b="32275"/>
          <a:stretch/>
        </p:blipFill>
        <p:spPr>
          <a:xfrm>
            <a:off x="4332515" y="2605836"/>
            <a:ext cx="2184400" cy="4193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F5FC5FF-F6C0-DC4A-AFB2-5F2FCAFCFBE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7943" y="2970344"/>
            <a:ext cx="1981526" cy="527105"/>
          </a:xfrm>
          <a:prstGeom prst="rect">
            <a:avLst/>
          </a:prstGeom>
        </p:spPr>
      </p:pic>
      <p:pic>
        <p:nvPicPr>
          <p:cNvPr id="14" name="Picture 13" descr="Graphical user interface&#10;&#10;Description automatically generated with medium confidence">
            <a:extLst>
              <a:ext uri="{FF2B5EF4-FFF2-40B4-BE49-F238E27FC236}">
                <a16:creationId xmlns:a16="http://schemas.microsoft.com/office/drawing/2014/main" id="{CAAD58DF-CA57-96E6-5A90-3D08D8C42B2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5060" y="3497449"/>
            <a:ext cx="5956300" cy="2840215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E3F3C16F-733D-B75A-A704-79F3197C4952}"/>
              </a:ext>
            </a:extLst>
          </p:cNvPr>
          <p:cNvSpPr/>
          <p:nvPr/>
        </p:nvSpPr>
        <p:spPr>
          <a:xfrm>
            <a:off x="6505592" y="5706303"/>
            <a:ext cx="1092637" cy="450287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02D2E73-BD4B-38CD-151B-DB3145A9A669}"/>
              </a:ext>
            </a:extLst>
          </p:cNvPr>
          <p:cNvCxnSpPr>
            <a:cxnSpLocks/>
          </p:cNvCxnSpPr>
          <p:nvPr/>
        </p:nvCxnSpPr>
        <p:spPr>
          <a:xfrm>
            <a:off x="3396343" y="4996543"/>
            <a:ext cx="3109249" cy="743138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FF0B449-6D0A-0972-F177-6D10B1C48D0D}"/>
              </a:ext>
            </a:extLst>
          </p:cNvPr>
          <p:cNvCxnSpPr>
            <a:cxnSpLocks/>
          </p:cNvCxnSpPr>
          <p:nvPr/>
        </p:nvCxnSpPr>
        <p:spPr>
          <a:xfrm>
            <a:off x="3722914" y="4207209"/>
            <a:ext cx="4441372" cy="499752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104077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CCAC-9D70-C543-BBE0-822B6CB5F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7"/>
            <a:ext cx="11213368" cy="5334907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The theory exam</a:t>
            </a:r>
            <a:endParaRPr lang="en-GB" b="1" dirty="0"/>
          </a:p>
          <a:p>
            <a:endParaRPr lang="en-GB" dirty="0">
              <a:solidFill>
                <a:schemeClr val="bg2">
                  <a:lumMod val="90000"/>
                </a:schemeClr>
              </a:solidFill>
            </a:endParaRP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Project delivery instructions</a:t>
            </a:r>
          </a:p>
          <a:p>
            <a:r>
              <a:rPr lang="en-GB" b="1" dirty="0"/>
              <a:t>Project presentation guidelines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9A05B1-19C9-EE42-9540-E05EF4463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414186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Rationale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B42B2631-DEDB-D847-9680-271CA1C870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288595"/>
            <a:ext cx="10453188" cy="5377686"/>
          </a:xfrm>
        </p:spPr>
        <p:txBody>
          <a:bodyPr>
            <a:normAutofit/>
          </a:bodyPr>
          <a:lstStyle/>
          <a:p>
            <a:r>
              <a:rPr lang="en-GB" dirty="0"/>
              <a:t>In the following we reported a brief guide that contains some </a:t>
            </a:r>
            <a:r>
              <a:rPr lang="en-GB" b="1" dirty="0"/>
              <a:t>hints </a:t>
            </a:r>
            <a:r>
              <a:rPr lang="en-GB" dirty="0"/>
              <a:t>on what to cover during your project discussion. As such, consider this document as a guide rather than something to “fill” with words and images. </a:t>
            </a:r>
          </a:p>
          <a:p>
            <a:endParaRPr lang="en-GB" dirty="0"/>
          </a:p>
          <a:p>
            <a:r>
              <a:rPr lang="en-GB" dirty="0"/>
              <a:t>You are free to use this PowerPoint template (style, </a:t>
            </a:r>
            <a:r>
              <a:rPr lang="en-GB" dirty="0" err="1"/>
              <a:t>colors</a:t>
            </a:r>
            <a:r>
              <a:rPr lang="en-GB" dirty="0"/>
              <a:t>, etc…) for preparing the presentation. Of course, you are also free to use your own template if you prefer. </a:t>
            </a:r>
          </a:p>
          <a:p>
            <a:endParaRPr lang="en-GB" dirty="0"/>
          </a:p>
          <a:p>
            <a:r>
              <a:rPr lang="en-GB" dirty="0"/>
              <a:t>The skeleton proposed here is just a simple guideline. Feel free to change it according to your needs.</a:t>
            </a:r>
          </a:p>
        </p:txBody>
      </p:sp>
    </p:spTree>
    <p:extLst>
      <p:ext uri="{BB962C8B-B14F-4D97-AF65-F5344CB8AC3E}">
        <p14:creationId xmlns:p14="http://schemas.microsoft.com/office/powerpoint/2010/main" val="424569715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Discussion structure – General info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B42B2631-DEDB-D847-9680-271CA1C870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1" y="1288595"/>
            <a:ext cx="9304163" cy="5274251"/>
          </a:xfrm>
        </p:spPr>
        <p:txBody>
          <a:bodyPr>
            <a:normAutofit/>
          </a:bodyPr>
          <a:lstStyle/>
          <a:p>
            <a:r>
              <a:rPr lang="en-GB" dirty="0"/>
              <a:t>You have </a:t>
            </a:r>
            <a:r>
              <a:rPr lang="en-GB" b="1" dirty="0"/>
              <a:t>25 minutes max </a:t>
            </a:r>
            <a:r>
              <a:rPr lang="en-GB" dirty="0"/>
              <a:t>to present your project followed by ~20 min of Q&amp;A. Discussions of more than 25 minutes will be penalized. </a:t>
            </a:r>
          </a:p>
          <a:p>
            <a:endParaRPr lang="en-GB" dirty="0"/>
          </a:p>
          <a:p>
            <a:r>
              <a:rPr lang="en-GB" dirty="0"/>
              <a:t>The presentation must include a PowerPoint presentation followed by a live demonstration of your app working. Both the presentation and the demo must fit the 25 minutes.</a:t>
            </a:r>
          </a:p>
          <a:p>
            <a:endParaRPr lang="en-GB" dirty="0"/>
          </a:p>
          <a:p>
            <a:r>
              <a:rPr lang="en-GB" dirty="0"/>
              <a:t>The discussion has to be in English. </a:t>
            </a:r>
          </a:p>
          <a:p>
            <a:endParaRPr lang="en-GB" dirty="0"/>
          </a:p>
          <a:p>
            <a:r>
              <a:rPr lang="en-GB" dirty="0"/>
              <a:t>The Q&amp;A session will be in English. </a:t>
            </a:r>
          </a:p>
          <a:p>
            <a:pPr lvl="1"/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6770896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Discussion structure – (Possible) skeleton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B42B2631-DEDB-D847-9680-271CA1C870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1" y="1288595"/>
            <a:ext cx="11368314" cy="5407479"/>
          </a:xfrm>
        </p:spPr>
        <p:txBody>
          <a:bodyPr>
            <a:normAutofit fontScale="92500" lnSpcReduction="20000"/>
          </a:bodyPr>
          <a:lstStyle/>
          <a:p>
            <a:r>
              <a:rPr lang="en-GB" dirty="0"/>
              <a:t>A possible skeleton for your discussion can be:</a:t>
            </a:r>
          </a:p>
          <a:p>
            <a:pPr lvl="1"/>
            <a:r>
              <a:rPr lang="en-GB" b="1" dirty="0"/>
              <a:t>Background</a:t>
            </a:r>
            <a:r>
              <a:rPr lang="en-GB" dirty="0"/>
              <a:t> - </a:t>
            </a:r>
            <a:r>
              <a:rPr lang="en-GB" i="1" dirty="0"/>
              <a:t>What’s the ”story” behind your app? Is it for healthy people? Is it targeting any disease? …</a:t>
            </a:r>
          </a:p>
          <a:p>
            <a:pPr lvl="1"/>
            <a:r>
              <a:rPr lang="en-GB" b="1" dirty="0"/>
              <a:t>Problem to be solved/Feature to be provided to the public </a:t>
            </a:r>
            <a:r>
              <a:rPr lang="en-GB" dirty="0"/>
              <a:t>- </a:t>
            </a:r>
            <a:r>
              <a:rPr lang="en-GB" i="1" dirty="0"/>
              <a:t>What’s the target user/use case? What kind of problem your app is trying to solve? What’s missing in the current market (if some)? … </a:t>
            </a:r>
          </a:p>
          <a:p>
            <a:pPr lvl="1"/>
            <a:r>
              <a:rPr lang="en-GB" b="1" dirty="0"/>
              <a:t>Your solution </a:t>
            </a:r>
            <a:r>
              <a:rPr lang="en-GB" dirty="0"/>
              <a:t>- </a:t>
            </a:r>
            <a:r>
              <a:rPr lang="en-GB" i="1" dirty="0"/>
              <a:t>High overview of your app (name, catchy motto,  …). What do you want to enable with your app? …</a:t>
            </a:r>
          </a:p>
          <a:p>
            <a:pPr lvl="1"/>
            <a:r>
              <a:rPr lang="en-GB" b="1" dirty="0"/>
              <a:t>Core app functionalities</a:t>
            </a:r>
          </a:p>
          <a:p>
            <a:pPr lvl="2"/>
            <a:r>
              <a:rPr lang="en-GB" b="1" dirty="0"/>
              <a:t>Screen map of your app</a:t>
            </a:r>
            <a:endParaRPr lang="en-GB" dirty="0"/>
          </a:p>
          <a:p>
            <a:pPr lvl="2"/>
            <a:r>
              <a:rPr lang="en-GB" b="1" dirty="0"/>
              <a:t>User authentication and management </a:t>
            </a:r>
            <a:r>
              <a:rPr lang="en-GB" dirty="0"/>
              <a:t>- </a:t>
            </a:r>
            <a:r>
              <a:rPr lang="en-GB" i="1" dirty="0"/>
              <a:t>How do you do it? …</a:t>
            </a:r>
          </a:p>
          <a:p>
            <a:pPr lvl="2"/>
            <a:r>
              <a:rPr lang="en-GB" b="1" dirty="0"/>
              <a:t>Data collection </a:t>
            </a:r>
            <a:r>
              <a:rPr lang="en-GB" dirty="0"/>
              <a:t>– </a:t>
            </a:r>
            <a:r>
              <a:rPr lang="en-GB" i="1" dirty="0"/>
              <a:t>How do you do it? …</a:t>
            </a:r>
          </a:p>
          <a:p>
            <a:pPr lvl="2"/>
            <a:r>
              <a:rPr lang="en-GB" b="1" dirty="0"/>
              <a:t>Data persistence </a:t>
            </a:r>
            <a:r>
              <a:rPr lang="en-GB" dirty="0"/>
              <a:t>– </a:t>
            </a:r>
            <a:r>
              <a:rPr lang="en-GB" i="1" dirty="0"/>
              <a:t>How do you manage data in your app (DB schema can be used here)? What’s the data flow inside your app? …</a:t>
            </a:r>
          </a:p>
          <a:p>
            <a:pPr lvl="2"/>
            <a:r>
              <a:rPr lang="en-GB" b="1" dirty="0"/>
              <a:t>Data visualization and presentation </a:t>
            </a:r>
            <a:r>
              <a:rPr lang="en-GB" dirty="0"/>
              <a:t>–</a:t>
            </a:r>
            <a:r>
              <a:rPr lang="en-GB" i="1" dirty="0"/>
              <a:t> How do you visualize user data in your app? …</a:t>
            </a:r>
          </a:p>
          <a:p>
            <a:pPr lvl="1"/>
            <a:r>
              <a:rPr lang="en-GB" b="1" dirty="0"/>
              <a:t>Original part </a:t>
            </a:r>
            <a:r>
              <a:rPr lang="en-GB" dirty="0"/>
              <a:t>- </a:t>
            </a:r>
            <a:r>
              <a:rPr lang="en-GB" i="1" dirty="0"/>
              <a:t>What’s the original part of your app? Have you implemented literature stuff? If yes, briefly describe it. …</a:t>
            </a:r>
          </a:p>
          <a:p>
            <a:pPr lvl="1"/>
            <a:r>
              <a:rPr lang="en-GB" b="1" dirty="0"/>
              <a:t>Project management flavours </a:t>
            </a:r>
            <a:r>
              <a:rPr lang="en-GB" dirty="0"/>
              <a:t>- </a:t>
            </a:r>
            <a:r>
              <a:rPr lang="en-GB" i="1" dirty="0"/>
              <a:t>How did you work as a group? …</a:t>
            </a:r>
          </a:p>
          <a:p>
            <a:pPr lvl="1"/>
            <a:r>
              <a:rPr lang="en-GB" b="1" dirty="0"/>
              <a:t>Special implementation decisions </a:t>
            </a:r>
            <a:r>
              <a:rPr lang="en-GB" dirty="0"/>
              <a:t>– </a:t>
            </a:r>
            <a:r>
              <a:rPr lang="en-GB" i="1" dirty="0"/>
              <a:t>Did you make </a:t>
            </a:r>
            <a:r>
              <a:rPr lang="en-GB" i="1" dirty="0" err="1"/>
              <a:t>implementative</a:t>
            </a:r>
            <a:r>
              <a:rPr lang="en-GB" i="1" dirty="0"/>
              <a:t> decisions that worth some space in the project discussion? …</a:t>
            </a:r>
          </a:p>
          <a:p>
            <a:pPr lvl="1"/>
            <a:r>
              <a:rPr lang="en-GB" b="1" dirty="0"/>
              <a:t>Closing remarks and future developments </a:t>
            </a:r>
            <a:r>
              <a:rPr lang="en-GB" dirty="0"/>
              <a:t>– </a:t>
            </a:r>
            <a:r>
              <a:rPr lang="en-GB" i="1" dirty="0"/>
              <a:t>Sum up you discussion briefly. What are the possible evolution of your app in the future? …</a:t>
            </a:r>
          </a:p>
          <a:p>
            <a:pPr lvl="1"/>
            <a:r>
              <a:rPr lang="en-GB" b="1" dirty="0"/>
              <a:t>Live demo </a:t>
            </a:r>
            <a:r>
              <a:rPr lang="en-GB" dirty="0"/>
              <a:t>- </a:t>
            </a:r>
            <a:r>
              <a:rPr lang="en-GB" i="1" dirty="0"/>
              <a:t>Show (via emulator or physical device) your app working. </a:t>
            </a:r>
          </a:p>
          <a:p>
            <a:pPr lvl="1"/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6436372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Discussion suggestions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B42B2631-DEDB-D847-9680-271CA1C870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1" y="1288595"/>
            <a:ext cx="9304163" cy="5274251"/>
          </a:xfrm>
        </p:spPr>
        <p:txBody>
          <a:bodyPr>
            <a:normAutofit/>
          </a:bodyPr>
          <a:lstStyle/>
          <a:p>
            <a:r>
              <a:rPr lang="en-GB" dirty="0"/>
              <a:t>Try to motivate every choice.</a:t>
            </a:r>
          </a:p>
          <a:p>
            <a:endParaRPr lang="en-GB" dirty="0"/>
          </a:p>
          <a:p>
            <a:r>
              <a:rPr lang="en-GB" dirty="0"/>
              <a:t>Consider to split the discussion among the group participants to demonstrate that you worked as a group.</a:t>
            </a:r>
          </a:p>
          <a:p>
            <a:endParaRPr lang="en-GB" dirty="0"/>
          </a:p>
          <a:p>
            <a:r>
              <a:rPr lang="en-GB" dirty="0"/>
              <a:t>Consider to allocate around 15 minutes for the PowerPoint presentation and 10 minutes for the live demo.</a:t>
            </a:r>
          </a:p>
          <a:p>
            <a:endParaRPr lang="en-GB" dirty="0"/>
          </a:p>
          <a:p>
            <a:r>
              <a:rPr lang="en-GB" dirty="0"/>
              <a:t>Prepare the live demo. You only have 10 minutes so you must know what to ”tap”,  to show, to do ,….</a:t>
            </a:r>
          </a:p>
          <a:p>
            <a:endParaRPr lang="en-GB" dirty="0"/>
          </a:p>
          <a:p>
            <a:r>
              <a:rPr lang="en-GB" dirty="0"/>
              <a:t>Be sure that your app is working when you run the demo.</a:t>
            </a:r>
          </a:p>
          <a:p>
            <a:pPr lvl="1"/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3949328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19072</TotalTime>
  <Words>2386</Words>
  <Application>Microsoft Macintosh PowerPoint</Application>
  <PresentationFormat>Widescreen</PresentationFormat>
  <Paragraphs>257</Paragraphs>
  <Slides>29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7" baseType="lpstr">
      <vt:lpstr>Aptos</vt:lpstr>
      <vt:lpstr>Arial</vt:lpstr>
      <vt:lpstr>Calibri</vt:lpstr>
      <vt:lpstr>Cambria Math</vt:lpstr>
      <vt:lpstr>Courier New</vt:lpstr>
      <vt:lpstr>Times New Roman</vt:lpstr>
      <vt:lpstr>Wingdings</vt:lpstr>
      <vt:lpstr>Tema di Office</vt:lpstr>
      <vt:lpstr>Giacomo Cappon</vt:lpstr>
      <vt:lpstr>Outline</vt:lpstr>
      <vt:lpstr>Exam structure</vt:lpstr>
      <vt:lpstr>Mark of the theory exam</vt:lpstr>
      <vt:lpstr>Final mark</vt:lpstr>
      <vt:lpstr>Examples of multiple-option questions </vt:lpstr>
      <vt:lpstr>Examples of multiple-option questions </vt:lpstr>
      <vt:lpstr>Examples of multiple-option questions </vt:lpstr>
      <vt:lpstr>Examples of multiple-option questions </vt:lpstr>
      <vt:lpstr>Examples of multiple-option questions </vt:lpstr>
      <vt:lpstr>Examples of multiple-option questions </vt:lpstr>
      <vt:lpstr>Examples of true-false questions</vt:lpstr>
      <vt:lpstr>Examples of true-false questions</vt:lpstr>
      <vt:lpstr>Examples of open questions</vt:lpstr>
      <vt:lpstr>Examples of open questions</vt:lpstr>
      <vt:lpstr>Examples of open questions</vt:lpstr>
      <vt:lpstr>Outline</vt:lpstr>
      <vt:lpstr>General info</vt:lpstr>
      <vt:lpstr>Example scenario</vt:lpstr>
      <vt:lpstr>Step 1: Fill the group info</vt:lpstr>
      <vt:lpstr>Step 2: Make your repository public</vt:lpstr>
      <vt:lpstr>Step 3: Locate the link to a valid code version</vt:lpstr>
      <vt:lpstr>Step 4: Put the link in the .docx file</vt:lpstr>
      <vt:lpstr>Step 5: Submit the .pdf to moodle</vt:lpstr>
      <vt:lpstr>Outline</vt:lpstr>
      <vt:lpstr>Rationale</vt:lpstr>
      <vt:lpstr>Discussion structure – General info</vt:lpstr>
      <vt:lpstr>Discussion structure – (Possible) skeleton</vt:lpstr>
      <vt:lpstr>Discussion suggestions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Martina</dc:creator>
  <cp:lastModifiedBy>Giacomo Cappon</cp:lastModifiedBy>
  <cp:revision>249</cp:revision>
  <dcterms:created xsi:type="dcterms:W3CDTF">2021-07-19T09:08:13Z</dcterms:created>
  <dcterms:modified xsi:type="dcterms:W3CDTF">2025-05-20T11:04:45Z</dcterms:modified>
</cp:coreProperties>
</file>