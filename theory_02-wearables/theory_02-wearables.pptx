
<file path=[Content_Types].xml><?xml version="1.0" encoding="utf-8"?>
<Types xmlns="http://schemas.openxmlformats.org/package/2006/content-types">
  <Default Extension="emf" ContentType="image/x-emf"/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05" r:id="rId3"/>
    <p:sldId id="342" r:id="rId4"/>
    <p:sldId id="257" r:id="rId5"/>
    <p:sldId id="258" r:id="rId6"/>
    <p:sldId id="259" r:id="rId7"/>
    <p:sldId id="260" r:id="rId8"/>
    <p:sldId id="261" r:id="rId9"/>
    <p:sldId id="267" r:id="rId10"/>
    <p:sldId id="268" r:id="rId11"/>
    <p:sldId id="269" r:id="rId12"/>
    <p:sldId id="289" r:id="rId13"/>
    <p:sldId id="291" r:id="rId14"/>
    <p:sldId id="322" r:id="rId15"/>
    <p:sldId id="292" r:id="rId16"/>
    <p:sldId id="293" r:id="rId17"/>
    <p:sldId id="304" r:id="rId18"/>
    <p:sldId id="306" r:id="rId19"/>
    <p:sldId id="308" r:id="rId20"/>
    <p:sldId id="307" r:id="rId21"/>
    <p:sldId id="310" r:id="rId22"/>
    <p:sldId id="274" r:id="rId23"/>
    <p:sldId id="344" r:id="rId24"/>
    <p:sldId id="343" r:id="rId25"/>
    <p:sldId id="262" r:id="rId26"/>
    <p:sldId id="263" r:id="rId27"/>
    <p:sldId id="288" r:id="rId28"/>
    <p:sldId id="26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80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D61AD-5ABE-41AD-B3EF-A04A3105339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C57DE-844F-40A0-9096-8901BDBBC3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87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  <a:p>
            <a:pPr>
              <a:spcAft>
                <a:spcPts val="600"/>
              </a:spcAft>
            </a:pPr>
            <a:r>
              <a:rPr lang="it-IT" sz="2800" baseline="0" dirty="0">
                <a:latin typeface="Aptos" panose="020B0004020202020204" pitchFamily="34" charset="0"/>
              </a:rPr>
              <a:t>Giacomo Cappon</a:t>
            </a:r>
            <a:endParaRPr lang="en-GB" sz="2800" dirty="0">
              <a:latin typeface="Aptos" panose="020B0004020202020204" pitchFamily="34" charset="0"/>
            </a:endParaRP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fif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12" Type="http://schemas.openxmlformats.org/officeDocument/2006/relationships/image" Target="../media/image2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jpeg"/><Relationship Id="rId18" Type="http://schemas.openxmlformats.org/officeDocument/2006/relationships/image" Target="../media/image42.jpeg"/><Relationship Id="rId3" Type="http://schemas.openxmlformats.org/officeDocument/2006/relationships/image" Target="../media/image21.jpeg"/><Relationship Id="rId7" Type="http://schemas.openxmlformats.org/officeDocument/2006/relationships/image" Target="../media/image31.jfif"/><Relationship Id="rId12" Type="http://schemas.openxmlformats.org/officeDocument/2006/relationships/image" Target="../media/image36.png"/><Relationship Id="rId17" Type="http://schemas.openxmlformats.org/officeDocument/2006/relationships/image" Target="../media/image41.jpeg"/><Relationship Id="rId2" Type="http://schemas.openxmlformats.org/officeDocument/2006/relationships/image" Target="../media/image20.png"/><Relationship Id="rId16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eg"/><Relationship Id="rId11" Type="http://schemas.openxmlformats.org/officeDocument/2006/relationships/image" Target="../media/image35.jpe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jpeg"/><Relationship Id="rId4" Type="http://schemas.openxmlformats.org/officeDocument/2006/relationships/image" Target="../media/image28.png"/><Relationship Id="rId9" Type="http://schemas.openxmlformats.org/officeDocument/2006/relationships/image" Target="../media/image33.jpeg"/><Relationship Id="rId1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jpg"/><Relationship Id="rId4" Type="http://schemas.openxmlformats.org/officeDocument/2006/relationships/image" Target="../media/image4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f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Wearables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Wearable devices</a:t>
            </a:r>
            <a:endParaRPr lang="en-GB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pic>
        <p:nvPicPr>
          <p:cNvPr id="13" name="Graphic 12" descr="Question Mark with solid fill">
            <a:extLst>
              <a:ext uri="{FF2B5EF4-FFF2-40B4-BE49-F238E27FC236}">
                <a16:creationId xmlns:a16="http://schemas.microsoft.com/office/drawing/2014/main" id="{4C0D0C33-19F8-64FD-6211-D7AE54CC4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6429" y="1943100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0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724C-4992-46CC-AB18-117ED0CD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5152AF-A11C-214E-454E-DC5F273F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Wearable devices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9674D2-C3BC-DCFF-6FC7-AB8BB39E0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wearable device is a device that can be used for sensing physiological parameters or signals which generally include two components: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sensor</a:t>
            </a:r>
            <a:r>
              <a:rPr lang="en-US" dirty="0"/>
              <a:t> that measures the physical quantity of interest (measurand)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embedded processing unit </a:t>
            </a:r>
            <a:r>
              <a:rPr lang="en-US" dirty="0"/>
              <a:t>that does some initial processing of the measurements and either stores them in a memory or sends them to another device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E43E8E2-0638-2F36-5D2E-8F64BA322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15" y="3128210"/>
            <a:ext cx="3880987" cy="292342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E4FF99B-DDF3-7715-8C39-3DBD135AEB92}"/>
              </a:ext>
            </a:extLst>
          </p:cNvPr>
          <p:cNvSpPr txBox="1"/>
          <p:nvPr/>
        </p:nvSpPr>
        <p:spPr>
          <a:xfrm>
            <a:off x="2111542" y="5200233"/>
            <a:ext cx="181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Sensor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44964D7-A87F-722F-A3B4-BAE1D6E15310}"/>
              </a:ext>
            </a:extLst>
          </p:cNvPr>
          <p:cNvSpPr txBox="1"/>
          <p:nvPr/>
        </p:nvSpPr>
        <p:spPr>
          <a:xfrm>
            <a:off x="3459080" y="6340860"/>
            <a:ext cx="3829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Embedded processing </a:t>
            </a:r>
            <a:r>
              <a:rPr lang="it-IT" sz="2000" dirty="0" err="1">
                <a:latin typeface="Aptos" panose="020B0004020202020204" pitchFamily="34" charset="0"/>
              </a:rPr>
              <a:t>unit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EF671FC-FF09-A524-D041-782D5BF63C1E}"/>
              </a:ext>
            </a:extLst>
          </p:cNvPr>
          <p:cNvCxnSpPr/>
          <p:nvPr/>
        </p:nvCxnSpPr>
        <p:spPr>
          <a:xfrm>
            <a:off x="3019926" y="5426460"/>
            <a:ext cx="908384" cy="1738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69DFA70-C72C-402F-5438-12A8FD70DF3D}"/>
              </a:ext>
            </a:extLst>
          </p:cNvPr>
          <p:cNvCxnSpPr/>
          <p:nvPr/>
        </p:nvCxnSpPr>
        <p:spPr>
          <a:xfrm flipH="1" flipV="1">
            <a:off x="4529889" y="5780695"/>
            <a:ext cx="222588" cy="5601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1ECA4AC-1CFA-BA9A-B592-FEA7A43FC2F7}"/>
              </a:ext>
            </a:extLst>
          </p:cNvPr>
          <p:cNvSpPr txBox="1"/>
          <p:nvPr/>
        </p:nvSpPr>
        <p:spPr>
          <a:xfrm>
            <a:off x="7757924" y="5292146"/>
            <a:ext cx="3633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Receiver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device</a:t>
            </a:r>
            <a:r>
              <a:rPr lang="it-IT" sz="2000" dirty="0">
                <a:latin typeface="Aptos" panose="020B0004020202020204" pitchFamily="34" charset="0"/>
              </a:rPr>
              <a:t> / Gateway </a:t>
            </a:r>
            <a:r>
              <a:rPr lang="it-IT" sz="2000" dirty="0" err="1">
                <a:latin typeface="Aptos" panose="020B0004020202020204" pitchFamily="34" charset="0"/>
              </a:rPr>
              <a:t>device</a:t>
            </a:r>
            <a:r>
              <a:rPr lang="it-IT" sz="2000" dirty="0">
                <a:latin typeface="Aptos" panose="020B0004020202020204" pitchFamily="34" charset="0"/>
              </a:rPr>
              <a:t> (for </a:t>
            </a:r>
            <a:r>
              <a:rPr lang="it-IT" sz="2000" dirty="0" err="1">
                <a:latin typeface="Aptos" panose="020B0004020202020204" pitchFamily="34" charset="0"/>
              </a:rPr>
              <a:t>IoT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devices</a:t>
            </a:r>
            <a:r>
              <a:rPr lang="it-IT" sz="2000" dirty="0">
                <a:latin typeface="Aptos" panose="020B0004020202020204" pitchFamily="34" charset="0"/>
              </a:rPr>
              <a:t>)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409CF95-79EF-92C1-CAD5-4E02BACFE921}"/>
              </a:ext>
            </a:extLst>
          </p:cNvPr>
          <p:cNvCxnSpPr/>
          <p:nvPr/>
        </p:nvCxnSpPr>
        <p:spPr>
          <a:xfrm flipH="1" flipV="1">
            <a:off x="7387717" y="4758489"/>
            <a:ext cx="819829" cy="459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08046405-9C15-C913-99A0-45118AB640E9}"/>
              </a:ext>
            </a:extLst>
          </p:cNvPr>
          <p:cNvCxnSpPr/>
          <p:nvPr/>
        </p:nvCxnSpPr>
        <p:spPr>
          <a:xfrm flipH="1">
            <a:off x="6791826" y="5600343"/>
            <a:ext cx="1173079" cy="3996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25B4596-FD0D-8713-FA7D-7E75E7BC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811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of sensor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“A sensor generally refers to a device that converts a physical measure into a signal that is read by an observer or by an instrument” (Chen et al., 2012)</a:t>
            </a:r>
          </a:p>
          <a:p>
            <a:pPr marL="0" indent="0">
              <a:buNone/>
            </a:pPr>
            <a:endParaRPr lang="it-IT" i="1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" b="8996"/>
          <a:stretch/>
        </p:blipFill>
        <p:spPr>
          <a:xfrm>
            <a:off x="2594772" y="2302905"/>
            <a:ext cx="8573243" cy="3856074"/>
          </a:xfrm>
          <a:prstGeom prst="rect">
            <a:avLst/>
          </a:prstGeom>
        </p:spPr>
      </p:pic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31F721B-3DF4-B54A-5E62-2240AEFE985C}"/>
              </a:ext>
            </a:extLst>
          </p:cNvPr>
          <p:cNvSpPr txBox="1"/>
          <p:nvPr/>
        </p:nvSpPr>
        <p:spPr>
          <a:xfrm>
            <a:off x="1404075" y="4030887"/>
            <a:ext cx="181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Measurand</a:t>
            </a:r>
            <a:endParaRPr lang="en-GB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74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sensors based on their interaction with the measurand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8"/>
            <a:ext cx="11368314" cy="223647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Contact sensor</a:t>
            </a:r>
            <a:r>
              <a:rPr lang="en-US" dirty="0"/>
              <a:t>: sensors requiring physical contact with the measurand. </a:t>
            </a:r>
          </a:p>
          <a:p>
            <a:r>
              <a:rPr lang="en-US" dirty="0"/>
              <a:t>Their deployment obviously perturbs the state of the subject to some degree. </a:t>
            </a:r>
          </a:p>
          <a:p>
            <a:pPr lvl="1"/>
            <a:r>
              <a:rPr lang="en-US" dirty="0"/>
              <a:t>Comfort and biocompatibility are important considerations</a:t>
            </a:r>
          </a:p>
          <a:p>
            <a:pPr lvl="1"/>
            <a:r>
              <a:rPr lang="en-US" dirty="0"/>
              <a:t>Response time determined by the speed at which the measurand is transported to the measurement site.</a:t>
            </a:r>
          </a:p>
          <a:p>
            <a:pPr lvl="1"/>
            <a:r>
              <a:rPr lang="en-US" dirty="0"/>
              <a:t>Poor contact can result in signal noise and the introduction of signal artifacts.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830490A-B86C-B995-848F-ABDA55CC078C}"/>
              </a:ext>
            </a:extLst>
          </p:cNvPr>
          <p:cNvSpPr txBox="1"/>
          <p:nvPr/>
        </p:nvSpPr>
        <p:spPr>
          <a:xfrm>
            <a:off x="0" y="3800964"/>
            <a:ext cx="3674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 dirty="0">
                <a:latin typeface="Aptos" panose="020B0004020202020204" pitchFamily="34" charset="0"/>
              </a:rPr>
              <a:t>Invasive</a:t>
            </a:r>
            <a:r>
              <a:rPr lang="en-US" dirty="0">
                <a:latin typeface="Aptos" panose="020B0004020202020204" pitchFamily="34" charset="0"/>
              </a:rPr>
              <a:t>: sensors inserted into human body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A8B36B2-F1C9-E63F-139B-426DC755771F}"/>
              </a:ext>
            </a:extLst>
          </p:cNvPr>
          <p:cNvSpPr txBox="1"/>
          <p:nvPr/>
        </p:nvSpPr>
        <p:spPr>
          <a:xfrm>
            <a:off x="3674464" y="3800964"/>
            <a:ext cx="401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 dirty="0">
                <a:latin typeface="Aptos" panose="020B0004020202020204" pitchFamily="34" charset="0"/>
              </a:rPr>
              <a:t>Minimally-invasive</a:t>
            </a:r>
            <a:r>
              <a:rPr lang="en-US" dirty="0">
                <a:latin typeface="Aptos" panose="020B0004020202020204" pitchFamily="34" charset="0"/>
              </a:rPr>
              <a:t>: patch-type devices on the skin that monitor interstitial fluids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AA344A4-4377-A842-F523-E7DD800C12C6}"/>
              </a:ext>
            </a:extLst>
          </p:cNvPr>
          <p:cNvSpPr txBox="1"/>
          <p:nvPr/>
        </p:nvSpPr>
        <p:spPr>
          <a:xfrm>
            <a:off x="7862340" y="3800964"/>
            <a:ext cx="3833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 dirty="0">
                <a:latin typeface="Aptos" panose="020B0004020202020204" pitchFamily="34" charset="0"/>
              </a:rPr>
              <a:t>Non-invasive</a:t>
            </a:r>
            <a:r>
              <a:rPr lang="en-US" dirty="0">
                <a:latin typeface="Aptos" panose="020B0004020202020204" pitchFamily="34" charset="0"/>
              </a:rPr>
              <a:t>: sensors that simply have contact with the skin without effect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0E6C369-1898-71CA-970F-46ACDC1B14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9" t="10273" b="36176"/>
          <a:stretch/>
        </p:blipFill>
        <p:spPr>
          <a:xfrm>
            <a:off x="0" y="4647555"/>
            <a:ext cx="4092315" cy="169855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15DF58C-9F65-47B3-16CA-7A4F6D6A0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086" y="4853427"/>
            <a:ext cx="2808486" cy="1600837"/>
          </a:xfrm>
          <a:prstGeom prst="rect">
            <a:avLst/>
          </a:prstGeom>
        </p:spPr>
      </p:pic>
      <p:pic>
        <p:nvPicPr>
          <p:cNvPr id="15" name="Immagine 14" descr="Immagine che contiene accessorio, caso, borsa&#10;&#10;Descrizione generata automaticamente">
            <a:extLst>
              <a:ext uri="{FF2B5EF4-FFF2-40B4-BE49-F238E27FC236}">
                <a16:creationId xmlns:a16="http://schemas.microsoft.com/office/drawing/2014/main" id="{37314837-7D03-43FA-ED93-27CF9F343DD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6" r="32370"/>
          <a:stretch/>
        </p:blipFill>
        <p:spPr>
          <a:xfrm>
            <a:off x="9180480" y="4818944"/>
            <a:ext cx="1649913" cy="18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8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sensors based on their interaction with the measurand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Non-contact sensors</a:t>
            </a:r>
            <a:r>
              <a:rPr lang="en-US" dirty="0"/>
              <a:t>: do not require direct contact with the measurand.</a:t>
            </a:r>
          </a:p>
          <a:p>
            <a:r>
              <a:rPr lang="en-US" dirty="0"/>
              <a:t>Minimum perturbation of the subject</a:t>
            </a:r>
          </a:p>
          <a:p>
            <a:r>
              <a:rPr lang="en-US" dirty="0"/>
              <a:t>Generally used in ambient sensing applications</a:t>
            </a:r>
          </a:p>
          <a:p>
            <a:r>
              <a:rPr lang="en-US" dirty="0"/>
              <a:t>Example: infrared thermometer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Sample based sensors</a:t>
            </a:r>
            <a:r>
              <a:rPr lang="en-US" dirty="0"/>
              <a:t>: </a:t>
            </a:r>
            <a:r>
              <a:rPr lang="en-GB" dirty="0"/>
              <a:t>require an invasive collection of a sample of the person to be monitored by a human or automated sampling system. </a:t>
            </a:r>
          </a:p>
          <a:p>
            <a:r>
              <a:rPr lang="en-US" dirty="0"/>
              <a:t>The collected samples are analyzed using sensors or laboratory-based analytical instrumentation</a:t>
            </a:r>
          </a:p>
          <a:p>
            <a:r>
              <a:rPr lang="en-GB" dirty="0"/>
              <a:t>Common approach in healthcare (e.g. monitoring cholesterol)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77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sensors based on their sensing technique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Mechanical sensors</a:t>
            </a:r>
          </a:p>
          <a:p>
            <a:endParaRPr lang="en-US" dirty="0"/>
          </a:p>
          <a:p>
            <a:r>
              <a:rPr lang="en-US" dirty="0"/>
              <a:t>Electrical sensors</a:t>
            </a:r>
          </a:p>
          <a:p>
            <a:endParaRPr lang="en-US" dirty="0"/>
          </a:p>
          <a:p>
            <a:r>
              <a:rPr lang="en-US" dirty="0"/>
              <a:t>Optical sensors</a:t>
            </a:r>
          </a:p>
          <a:p>
            <a:endParaRPr lang="en-US" dirty="0"/>
          </a:p>
          <a:p>
            <a:r>
              <a:rPr lang="en-US" dirty="0"/>
              <a:t>Chemical sensors</a:t>
            </a:r>
            <a:endParaRPr lang="en-US" sz="24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7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sensors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360308"/>
          </a:xfrm>
        </p:spPr>
        <p:txBody>
          <a:bodyPr>
            <a:normAutofit/>
          </a:bodyPr>
          <a:lstStyle/>
          <a:p>
            <a:r>
              <a:rPr lang="en-US" b="1" dirty="0"/>
              <a:t>Mechanical sensors </a:t>
            </a:r>
            <a:r>
              <a:rPr lang="en-US" dirty="0"/>
              <a:t>detect some form of mechanical deformation of a material, in response to the measurand (input), and translate it to an electrical, optical, magnetic or thermal signal (output). </a:t>
            </a:r>
          </a:p>
          <a:p>
            <a:endParaRPr lang="en-US" dirty="0"/>
          </a:p>
          <a:p>
            <a:r>
              <a:rPr lang="en-US" b="1" dirty="0"/>
              <a:t>Electromechanical sensors</a:t>
            </a:r>
            <a:r>
              <a:rPr lang="en-US" dirty="0"/>
              <a:t>: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Types of electromechanical sensing techniques: </a:t>
            </a:r>
          </a:p>
          <a:p>
            <a:pPr lvl="1"/>
            <a:r>
              <a:rPr lang="en-US" sz="2400" dirty="0" err="1"/>
              <a:t>Piezoresistive</a:t>
            </a:r>
            <a:r>
              <a:rPr lang="en-US" sz="2400" dirty="0"/>
              <a:t> sensors</a:t>
            </a:r>
          </a:p>
          <a:p>
            <a:pPr lvl="1"/>
            <a:r>
              <a:rPr lang="en-US" sz="2400" dirty="0"/>
              <a:t>Capacitive sensors</a:t>
            </a:r>
          </a:p>
          <a:p>
            <a:pPr lvl="1"/>
            <a:r>
              <a:rPr lang="en-US" sz="2400" dirty="0" err="1"/>
              <a:t>Iontronic</a:t>
            </a:r>
            <a:r>
              <a:rPr lang="en-US" sz="2400" dirty="0"/>
              <a:t> sensors</a:t>
            </a:r>
          </a:p>
          <a:p>
            <a:pPr lvl="1"/>
            <a:r>
              <a:rPr lang="en-US" sz="2400" dirty="0"/>
              <a:t>Piezoelectric sensors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9C43F0E-32F8-3FDA-25F7-41625A6955E8}"/>
              </a:ext>
            </a:extLst>
          </p:cNvPr>
          <p:cNvSpPr txBox="1"/>
          <p:nvPr/>
        </p:nvSpPr>
        <p:spPr>
          <a:xfrm>
            <a:off x="225476" y="3361065"/>
            <a:ext cx="3674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400" dirty="0">
                <a:latin typeface="Aptos" panose="020B0004020202020204" pitchFamily="34" charset="0"/>
              </a:rPr>
              <a:t>Measurand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916B566-B321-5D26-C9C2-9006D9C14CA8}"/>
              </a:ext>
            </a:extLst>
          </p:cNvPr>
          <p:cNvSpPr txBox="1"/>
          <p:nvPr/>
        </p:nvSpPr>
        <p:spPr>
          <a:xfrm>
            <a:off x="3728948" y="3370587"/>
            <a:ext cx="41797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400" dirty="0">
                <a:latin typeface="Aptos" panose="020B0004020202020204" pitchFamily="34" charset="0"/>
              </a:rPr>
              <a:t>Mechanical deformation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2D87F5C-8B2D-1B4D-A7B9-69F068431A79}"/>
              </a:ext>
            </a:extLst>
          </p:cNvPr>
          <p:cNvSpPr txBox="1"/>
          <p:nvPr/>
        </p:nvSpPr>
        <p:spPr>
          <a:xfrm>
            <a:off x="8015364" y="3361066"/>
            <a:ext cx="3674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400" dirty="0">
                <a:latin typeface="Aptos" panose="020B0004020202020204" pitchFamily="34" charset="0"/>
              </a:rPr>
              <a:t>Electrical signal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2433C35-D8F1-8441-6226-16A5A12FF337}"/>
              </a:ext>
            </a:extLst>
          </p:cNvPr>
          <p:cNvCxnSpPr>
            <a:cxnSpLocks/>
          </p:cNvCxnSpPr>
          <p:nvPr/>
        </p:nvCxnSpPr>
        <p:spPr>
          <a:xfrm>
            <a:off x="3200402" y="3591897"/>
            <a:ext cx="104931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261AA50-0448-7492-3586-8D817AB1B174}"/>
              </a:ext>
            </a:extLst>
          </p:cNvPr>
          <p:cNvCxnSpPr>
            <a:cxnSpLocks/>
          </p:cNvCxnSpPr>
          <p:nvPr/>
        </p:nvCxnSpPr>
        <p:spPr>
          <a:xfrm>
            <a:off x="7879826" y="3601420"/>
            <a:ext cx="104931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584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14" y="1623788"/>
            <a:ext cx="2207586" cy="1471724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sensors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0544628" cy="5716289"/>
          </a:xfrm>
        </p:spPr>
        <p:txBody>
          <a:bodyPr>
            <a:normAutofit/>
          </a:bodyPr>
          <a:lstStyle/>
          <a:p>
            <a:r>
              <a:rPr lang="en-US" sz="2000" b="1" dirty="0"/>
              <a:t>Electrical sensors</a:t>
            </a:r>
            <a:r>
              <a:rPr lang="en-US" sz="2000" dirty="0"/>
              <a:t>: on-skin electrodes that measure a change in electrical resistance or the electrical charge of the skin.</a:t>
            </a:r>
          </a:p>
          <a:p>
            <a:r>
              <a:rPr lang="en-US" sz="2000" dirty="0"/>
              <a:t>Good electrical contact with skin is required.</a:t>
            </a:r>
          </a:p>
          <a:p>
            <a:r>
              <a:rPr lang="en-US" sz="2000" b="1" dirty="0"/>
              <a:t>Wet electrodes: </a:t>
            </a:r>
            <a:r>
              <a:rPr lang="en-US" sz="2000" dirty="0"/>
              <a:t>solid conductive pad interfaced to the skin via an electrolyte gel that minimizes the impedance of skin by hydrating it and forming a conformal electrical contact with its textured surface.</a:t>
            </a:r>
          </a:p>
          <a:p>
            <a:r>
              <a:rPr lang="en-US" sz="2000" b="1" dirty="0"/>
              <a:t>Dry electrodes: </a:t>
            </a:r>
            <a:r>
              <a:rPr lang="en-US" sz="2000" dirty="0"/>
              <a:t>direct contact with the skin, sensible to movement artifacts.</a:t>
            </a:r>
          </a:p>
          <a:p>
            <a:r>
              <a:rPr lang="en-US" sz="2000" dirty="0"/>
              <a:t>Skin electrodes allow to collect high-fidelity measurements of a broad range of physiologically relevant biopotentials: </a:t>
            </a:r>
          </a:p>
          <a:p>
            <a:pPr lvl="1"/>
            <a:r>
              <a:rPr lang="en-US" sz="1800" dirty="0"/>
              <a:t>electrocardiogram (ECG)</a:t>
            </a:r>
          </a:p>
          <a:p>
            <a:pPr lvl="1"/>
            <a:r>
              <a:rPr lang="en-US" sz="1800" dirty="0"/>
              <a:t>electroencephalogram (EEG)</a:t>
            </a:r>
          </a:p>
          <a:p>
            <a:pPr lvl="1"/>
            <a:r>
              <a:rPr lang="en-US" sz="1800" dirty="0"/>
              <a:t>electromyogram (EMG)</a:t>
            </a:r>
          </a:p>
          <a:p>
            <a:pPr lvl="1"/>
            <a:r>
              <a:rPr lang="en-US" sz="1800" dirty="0"/>
              <a:t>electrooculogram (EOG)</a:t>
            </a:r>
          </a:p>
          <a:p>
            <a:pPr lvl="1"/>
            <a:r>
              <a:rPr lang="en-US" sz="1800" dirty="0"/>
              <a:t>electroretinogram (ERG)</a:t>
            </a:r>
          </a:p>
          <a:p>
            <a:pPr lvl="1"/>
            <a:r>
              <a:rPr lang="en-US" sz="1800" dirty="0"/>
              <a:t>galvanic skin response (GSR), also known as skin impedance or electrodermal activity (EDA)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660" y="3569774"/>
            <a:ext cx="1475168" cy="1641384"/>
          </a:xfrm>
          <a:prstGeom prst="rect">
            <a:avLst/>
          </a:prstGeom>
        </p:spPr>
      </p:pic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127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Optical </a:t>
            </a:r>
            <a:r>
              <a:rPr lang="it-IT" dirty="0" err="1"/>
              <a:t>sensors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77996"/>
          </a:xfrm>
        </p:spPr>
        <p:txBody>
          <a:bodyPr>
            <a:normAutofit/>
          </a:bodyPr>
          <a:lstStyle/>
          <a:p>
            <a:r>
              <a:rPr lang="en-US" sz="2200" b="1" dirty="0"/>
              <a:t>Electro-optical sensors </a:t>
            </a:r>
            <a:r>
              <a:rPr lang="en-US" sz="2200" dirty="0"/>
              <a:t>detect light and convert it to an electrical signal</a:t>
            </a:r>
          </a:p>
          <a:p>
            <a:pPr lvl="1"/>
            <a:r>
              <a:rPr lang="en-GB" sz="2200" i="1" dirty="0"/>
              <a:t>Photoconductive</a:t>
            </a:r>
            <a:r>
              <a:rPr lang="en-GB" sz="2200" dirty="0"/>
              <a:t> devices convert a change of incident light into a change of resistance.</a:t>
            </a:r>
          </a:p>
          <a:p>
            <a:pPr lvl="1"/>
            <a:r>
              <a:rPr lang="en-GB" sz="2200" i="1" dirty="0"/>
              <a:t>Photovoltaics </a:t>
            </a:r>
            <a:r>
              <a:rPr lang="en-GB" sz="2200" dirty="0"/>
              <a:t>(solar cells) convert an amount of incident light into an output voltage.</a:t>
            </a:r>
          </a:p>
          <a:p>
            <a:pPr lvl="1"/>
            <a:r>
              <a:rPr lang="en-GB" sz="2200" i="1" dirty="0"/>
              <a:t>Photodiodes</a:t>
            </a:r>
            <a:r>
              <a:rPr lang="en-GB" sz="2200" dirty="0"/>
              <a:t> and </a:t>
            </a:r>
            <a:r>
              <a:rPr lang="en-GB" sz="2200" i="1" dirty="0"/>
              <a:t>phototransistor</a:t>
            </a:r>
            <a:r>
              <a:rPr lang="en-GB" sz="2200" dirty="0"/>
              <a:t> convert an amount of incident light into an output current.</a:t>
            </a:r>
            <a:endParaRPr lang="en-US" sz="2200" dirty="0"/>
          </a:p>
          <a:p>
            <a:r>
              <a:rPr lang="en-US" sz="2200" u="sng" dirty="0"/>
              <a:t>Operating principle of wearable optical sensors</a:t>
            </a:r>
            <a:r>
              <a:rPr lang="en-US" sz="2200" dirty="0"/>
              <a:t>: a light source introduces light into the body and based on how much the light is absorbed or reflected, measurements related to the body tissue are derived. </a:t>
            </a:r>
          </a:p>
          <a:p>
            <a:r>
              <a:rPr lang="en-US" sz="2200" dirty="0"/>
              <a:t>The wavelength of light sources can range from UV to deep infrared, depending on needed penetration depth and the absorption peak for the relevant sensing application.</a:t>
            </a:r>
          </a:p>
          <a:p>
            <a:r>
              <a:rPr lang="en-US" sz="2200" dirty="0"/>
              <a:t>Commonly used for monitoring of heart rate and blood oxygenation.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54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Chemical</a:t>
            </a:r>
            <a:r>
              <a:rPr lang="it-IT" dirty="0"/>
              <a:t> </a:t>
            </a:r>
            <a:r>
              <a:rPr lang="it-IT" dirty="0" err="1"/>
              <a:t>sensors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06966" y="1335577"/>
            <a:ext cx="7335652" cy="5667895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They quantify chemical markers, or </a:t>
            </a:r>
            <a:r>
              <a:rPr lang="en-US" sz="2200" dirty="0" err="1"/>
              <a:t>analytes</a:t>
            </a:r>
            <a:r>
              <a:rPr lang="en-US" sz="2200" dirty="0"/>
              <a:t>, in biological fluids and convert this information in an optical (</a:t>
            </a:r>
            <a:r>
              <a:rPr lang="en-US" sz="2200" b="1" dirty="0" err="1"/>
              <a:t>optochemical</a:t>
            </a:r>
            <a:r>
              <a:rPr lang="en-US" sz="2200" b="1" dirty="0"/>
              <a:t> sensor</a:t>
            </a:r>
            <a:r>
              <a:rPr lang="en-US" sz="2200" dirty="0"/>
              <a:t>) or electrical signal (</a:t>
            </a:r>
            <a:r>
              <a:rPr lang="en-US" sz="2200" b="1" dirty="0"/>
              <a:t>electrochemical sensor</a:t>
            </a:r>
            <a:r>
              <a:rPr lang="en-US" sz="2200" dirty="0"/>
              <a:t>). </a:t>
            </a:r>
          </a:p>
          <a:p>
            <a:r>
              <a:rPr lang="en-US" sz="2200" dirty="0"/>
              <a:t>Require direct chemical interaction with the biomarker (contact sensors).</a:t>
            </a:r>
          </a:p>
          <a:p>
            <a:r>
              <a:rPr lang="en-GB" sz="2200" dirty="0"/>
              <a:t>Wearable chemical sensors use non-invasive or minimally-invasive techniques to measure analytes in </a:t>
            </a:r>
            <a:r>
              <a:rPr lang="en-GB" sz="2200" b="1" dirty="0"/>
              <a:t>alternative</a:t>
            </a:r>
            <a:r>
              <a:rPr lang="en-GB" sz="2200" dirty="0"/>
              <a:t> </a:t>
            </a:r>
            <a:r>
              <a:rPr lang="en-GB" sz="2200" b="1" dirty="0"/>
              <a:t>biofluids</a:t>
            </a:r>
            <a:r>
              <a:rPr lang="en-GB" sz="2200" dirty="0"/>
              <a:t> instead of invasive blood sampling. </a:t>
            </a:r>
          </a:p>
          <a:p>
            <a:pPr lvl="1"/>
            <a:r>
              <a:rPr lang="en-US" sz="2200" dirty="0"/>
              <a:t>Biofluids secreted by the body (saliva, sweat, tears) </a:t>
            </a:r>
          </a:p>
          <a:p>
            <a:pPr lvl="1"/>
            <a:r>
              <a:rPr lang="en-US" sz="2200" dirty="0"/>
              <a:t>Interstitial fluid reached through minimally-invasive sensors or by reverse iontophoresis</a:t>
            </a:r>
          </a:p>
          <a:p>
            <a:r>
              <a:rPr lang="en-GB" sz="2200" dirty="0"/>
              <a:t>When a new wearable chemical sensor is designed, the relationship between analyte concentration in the chosen biofluid and that in the traditional samples (e.g., blood) must be confirmed</a:t>
            </a:r>
            <a:r>
              <a:rPr lang="en-GB" dirty="0"/>
              <a:t>.</a:t>
            </a:r>
            <a:endParaRPr lang="en-US" sz="2600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0" y="1409736"/>
            <a:ext cx="4455885" cy="4455885"/>
          </a:xfrm>
          <a:prstGeom prst="rect">
            <a:avLst/>
          </a:prstGeom>
        </p:spPr>
      </p:pic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1366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Sensor </a:t>
            </a:r>
            <a:r>
              <a:rPr lang="it-IT" dirty="0" err="1"/>
              <a:t>characteristics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To truly understand sensors, and how sensors that measure the same </a:t>
            </a:r>
            <a:r>
              <a:rPr lang="en-GB" dirty="0" err="1"/>
              <a:t>measurand</a:t>
            </a:r>
            <a:r>
              <a:rPr lang="en-GB" dirty="0"/>
              <a:t> can differ, it is necessary to understand sensor performance characteristics, which are reported in </a:t>
            </a:r>
            <a:r>
              <a:rPr lang="en-GB" b="1" dirty="0"/>
              <a:t>specifications</a:t>
            </a:r>
            <a:r>
              <a:rPr lang="en-GB" dirty="0"/>
              <a:t> (specs) or </a:t>
            </a:r>
            <a:r>
              <a:rPr lang="en-GB" b="1" dirty="0"/>
              <a:t>datasheet</a:t>
            </a:r>
            <a:r>
              <a:rPr lang="en-GB" dirty="0"/>
              <a:t>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sz="2400" u="sng" dirty="0"/>
              <a:t>Systematic characteristics</a:t>
            </a:r>
            <a:r>
              <a:rPr lang="en-GB" sz="2400" dirty="0"/>
              <a:t>: those which can be exactly quantified by mathematical or graphical means;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sz="2400" u="sng" dirty="0"/>
              <a:t>Statistical characteristics</a:t>
            </a:r>
            <a:r>
              <a:rPr lang="en-GB" sz="2400" dirty="0"/>
              <a:t>: those which cannot be exactly quantified;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GB" sz="2400" u="sng" dirty="0"/>
              <a:t>Dynamic characteristics</a:t>
            </a:r>
            <a:r>
              <a:rPr lang="en-GB" sz="2400" dirty="0"/>
              <a:t>: those characterizing the ways in which an element responds to sudden input changes.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429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Transfer </a:t>
            </a:r>
            <a:r>
              <a:rPr lang="it-IT" dirty="0" err="1"/>
              <a:t>function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428172" y="1361167"/>
                <a:ext cx="11368314" cy="4533941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A function </a:t>
                </a:r>
                <a:r>
                  <a:rPr lang="en-US" i="1" dirty="0"/>
                  <a:t>f</a:t>
                </a:r>
                <a:r>
                  <a:rPr lang="en-US" dirty="0"/>
                  <a:t> that describes the relationship between the </a:t>
                </a:r>
                <a:r>
                  <a:rPr lang="en-US" dirty="0" err="1"/>
                  <a:t>measurand</a:t>
                </a:r>
                <a:r>
                  <a:rPr lang="en-US" dirty="0"/>
                  <a:t> and the output signal (electrical or optical).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Represented in specs as a table of values, a graph, or a mathematical formula.</a:t>
                </a:r>
              </a:p>
              <a:p>
                <a:r>
                  <a:rPr lang="en-US" dirty="0"/>
                  <a:t>Typically the actual transfer function is complex </a:t>
                </a:r>
                <a:r>
                  <a:rPr lang="en-US" dirty="0">
                    <a:sym typeface="Wingdings" panose="05000000000000000000" pitchFamily="2" charset="2"/>
                  </a:rPr>
                  <a:t> the transfer function is approximated by a simpler linear or non-linear function, F(.), which can be mathematically expressed as a formula.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	   e = approximation error</a:t>
                </a: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172" y="1361167"/>
                <a:ext cx="11368314" cy="4533941"/>
              </a:xfrm>
              <a:blipFill>
                <a:blip r:embed="rId2"/>
                <a:stretch>
                  <a:fillRect l="-670" t="-1955" r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ttore 2 4"/>
          <p:cNvCxnSpPr>
            <a:cxnSpLocks/>
          </p:cNvCxnSpPr>
          <p:nvPr/>
        </p:nvCxnSpPr>
        <p:spPr>
          <a:xfrm flipH="1">
            <a:off x="5011292" y="2386388"/>
            <a:ext cx="523335" cy="4061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2458579" y="2576848"/>
            <a:ext cx="27930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Aptos" panose="020B0004020202020204" pitchFamily="34" charset="0"/>
              </a:rPr>
              <a:t>Output </a:t>
            </a:r>
            <a:r>
              <a:rPr lang="it-IT" sz="2400" dirty="0" err="1">
                <a:latin typeface="Aptos" panose="020B0004020202020204" pitchFamily="34" charset="0"/>
              </a:rPr>
              <a:t>electrical</a:t>
            </a:r>
            <a:r>
              <a:rPr lang="it-IT" sz="2400" dirty="0">
                <a:latin typeface="Aptos" panose="020B0004020202020204" pitchFamily="34" charset="0"/>
              </a:rPr>
              <a:t> (or </a:t>
            </a:r>
            <a:r>
              <a:rPr lang="it-IT" sz="2400" dirty="0" err="1">
                <a:latin typeface="Aptos" panose="020B0004020202020204" pitchFamily="34" charset="0"/>
              </a:rPr>
              <a:t>optical</a:t>
            </a:r>
            <a:r>
              <a:rPr lang="it-IT" sz="2400" dirty="0">
                <a:latin typeface="Aptos" panose="020B0004020202020204" pitchFamily="34" charset="0"/>
              </a:rPr>
              <a:t>) </a:t>
            </a:r>
            <a:r>
              <a:rPr lang="it-IT" sz="2400" dirty="0" err="1">
                <a:latin typeface="Aptos" panose="020B0004020202020204" pitchFamily="34" charset="0"/>
              </a:rPr>
              <a:t>signal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6966986" y="2725386"/>
            <a:ext cx="2312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Aptos" panose="020B0004020202020204" pitchFamily="34" charset="0"/>
              </a:rPr>
              <a:t>Measurand</a:t>
            </a:r>
            <a:endParaRPr lang="en-GB" sz="2400" dirty="0">
              <a:latin typeface="Aptos" panose="020B0004020202020204" pitchFamily="34" charset="0"/>
            </a:endParaRPr>
          </a:p>
        </p:txBody>
      </p:sp>
      <p:cxnSp>
        <p:nvCxnSpPr>
          <p:cNvPr id="8" name="Connettore 2 7"/>
          <p:cNvCxnSpPr>
            <a:cxnSpLocks/>
          </p:cNvCxnSpPr>
          <p:nvPr/>
        </p:nvCxnSpPr>
        <p:spPr>
          <a:xfrm>
            <a:off x="6565392" y="2386388"/>
            <a:ext cx="475790" cy="3902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ttangolo 34"/>
              <p:cNvSpPr/>
              <p:nvPr/>
            </p:nvSpPr>
            <p:spPr>
              <a:xfrm>
                <a:off x="5440133" y="1991833"/>
                <a:ext cx="14387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5" name="Rettangolo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133" y="1991833"/>
                <a:ext cx="1438792" cy="461665"/>
              </a:xfrm>
              <a:prstGeom prst="rect">
                <a:avLst/>
              </a:prstGeom>
              <a:blipFill>
                <a:blip r:embed="rId3"/>
                <a:stretch>
                  <a:fillRect r="-877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4654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Inverse transfer </a:t>
            </a:r>
            <a:r>
              <a:rPr lang="it-IT" dirty="0" err="1"/>
              <a:t>function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411185"/>
            <a:ext cx="11244283" cy="1499796"/>
          </a:xfrm>
        </p:spPr>
        <p:txBody>
          <a:bodyPr>
            <a:normAutofit/>
          </a:bodyPr>
          <a:lstStyle/>
          <a:p>
            <a:r>
              <a:rPr lang="en-US" dirty="0"/>
              <a:t>The embedded processing unit of the sensor device applies the inverse of F(.), F</a:t>
            </a:r>
            <a:r>
              <a:rPr lang="en-US" baseline="30000" dirty="0"/>
              <a:t>-1</a:t>
            </a:r>
            <a:r>
              <a:rPr lang="en-US" dirty="0"/>
              <a:t>(.), to convert the electrical signal generated by the sensing technique to output measurements in the same domain of the measurand.</a:t>
            </a:r>
          </a:p>
        </p:txBody>
      </p:sp>
      <p:sp>
        <p:nvSpPr>
          <p:cNvPr id="11" name="Rettangolo 10"/>
          <p:cNvSpPr/>
          <p:nvPr/>
        </p:nvSpPr>
        <p:spPr>
          <a:xfrm>
            <a:off x="3363501" y="4213239"/>
            <a:ext cx="2043639" cy="85561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Sensor</a:t>
            </a:r>
          </a:p>
        </p:txBody>
      </p:sp>
      <p:sp>
        <p:nvSpPr>
          <p:cNvPr id="12" name="Rettangolo 11"/>
          <p:cNvSpPr/>
          <p:nvPr/>
        </p:nvSpPr>
        <p:spPr>
          <a:xfrm>
            <a:off x="7166117" y="4077870"/>
            <a:ext cx="1963784" cy="119461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Approximated inverse transfer function</a:t>
            </a:r>
          </a:p>
          <a:p>
            <a:pPr algn="ctr"/>
            <a:r>
              <a:rPr lang="en-GB" dirty="0">
                <a:latin typeface="Aptos" panose="020B0004020202020204" pitchFamily="34" charset="0"/>
              </a:rPr>
              <a:t>F</a:t>
            </a:r>
            <a:r>
              <a:rPr lang="en-GB" baseline="30000" dirty="0">
                <a:latin typeface="Aptos" panose="020B0004020202020204" pitchFamily="34" charset="0"/>
              </a:rPr>
              <a:t>-1</a:t>
            </a:r>
            <a:r>
              <a:rPr lang="en-GB" dirty="0">
                <a:latin typeface="Aptos" panose="020B0004020202020204" pitchFamily="34" charset="0"/>
              </a:rPr>
              <a:t>(y)</a:t>
            </a:r>
          </a:p>
        </p:txBody>
      </p:sp>
      <p:sp>
        <p:nvSpPr>
          <p:cNvPr id="14" name="Ovale 13"/>
          <p:cNvSpPr/>
          <p:nvPr/>
        </p:nvSpPr>
        <p:spPr>
          <a:xfrm>
            <a:off x="1667199" y="4269147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Ovale 14"/>
          <p:cNvSpPr/>
          <p:nvPr/>
        </p:nvSpPr>
        <p:spPr>
          <a:xfrm>
            <a:off x="1298953" y="4497049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6" name="Ovale 15"/>
          <p:cNvSpPr/>
          <p:nvPr/>
        </p:nvSpPr>
        <p:spPr>
          <a:xfrm>
            <a:off x="1660204" y="4619510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7" name="Ovale 16"/>
          <p:cNvSpPr/>
          <p:nvPr/>
        </p:nvSpPr>
        <p:spPr>
          <a:xfrm>
            <a:off x="1988798" y="4531178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8" name="Ovale 17"/>
          <p:cNvSpPr/>
          <p:nvPr/>
        </p:nvSpPr>
        <p:spPr>
          <a:xfrm>
            <a:off x="1460524" y="4887147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9" name="Ovale 18"/>
          <p:cNvSpPr/>
          <p:nvPr/>
        </p:nvSpPr>
        <p:spPr>
          <a:xfrm>
            <a:off x="2060798" y="4815147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0" name="Ovale 19"/>
          <p:cNvSpPr/>
          <p:nvPr/>
        </p:nvSpPr>
        <p:spPr>
          <a:xfrm>
            <a:off x="1804204" y="5047319"/>
            <a:ext cx="144000" cy="144000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1" name="CasellaDiTesto 20"/>
          <p:cNvSpPr txBox="1"/>
          <p:nvPr/>
        </p:nvSpPr>
        <p:spPr>
          <a:xfrm>
            <a:off x="160364" y="3544418"/>
            <a:ext cx="3276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Measurand</a:t>
            </a:r>
          </a:p>
          <a:p>
            <a:pPr algn="ctr"/>
            <a:r>
              <a:rPr lang="en-GB" dirty="0">
                <a:latin typeface="Aptos" panose="020B0004020202020204" pitchFamily="34" charset="0"/>
              </a:rPr>
              <a:t>(e.g., glucose concentration)</a:t>
            </a:r>
          </a:p>
        </p:txBody>
      </p:sp>
      <p:cxnSp>
        <p:nvCxnSpPr>
          <p:cNvPr id="23" name="Connettore 2 22"/>
          <p:cNvCxnSpPr>
            <a:endCxn id="11" idx="1"/>
          </p:cNvCxnSpPr>
          <p:nvPr/>
        </p:nvCxnSpPr>
        <p:spPr>
          <a:xfrm>
            <a:off x="2631674" y="4641047"/>
            <a:ext cx="73182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/>
          <p:cNvCxnSpPr>
            <a:stCxn id="11" idx="3"/>
            <a:endCxn id="12" idx="1"/>
          </p:cNvCxnSpPr>
          <p:nvPr/>
        </p:nvCxnSpPr>
        <p:spPr>
          <a:xfrm>
            <a:off x="5407140" y="4641048"/>
            <a:ext cx="17638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/>
          <p:cNvSpPr txBox="1"/>
          <p:nvPr/>
        </p:nvSpPr>
        <p:spPr>
          <a:xfrm>
            <a:off x="5034786" y="3590678"/>
            <a:ext cx="2508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Measurement (e.g., current in </a:t>
            </a:r>
            <a:r>
              <a:rPr lang="en-GB" dirty="0" err="1">
                <a:latin typeface="Aptos" panose="020B0004020202020204" pitchFamily="34" charset="0"/>
              </a:rPr>
              <a:t>pA</a:t>
            </a:r>
            <a:r>
              <a:rPr lang="en-GB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27" name="CasellaDiTesto 26"/>
          <p:cNvSpPr txBox="1"/>
          <p:nvPr/>
        </p:nvSpPr>
        <p:spPr>
          <a:xfrm>
            <a:off x="9163871" y="3544417"/>
            <a:ext cx="250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Glucose concentration mg/dl</a:t>
            </a:r>
          </a:p>
        </p:txBody>
      </p:sp>
      <p:cxnSp>
        <p:nvCxnSpPr>
          <p:cNvPr id="28" name="Connettore 2 27"/>
          <p:cNvCxnSpPr/>
          <p:nvPr/>
        </p:nvCxnSpPr>
        <p:spPr>
          <a:xfrm>
            <a:off x="9134801" y="4637607"/>
            <a:ext cx="158713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sellaDiTesto 28"/>
              <p:cNvSpPr txBox="1"/>
              <p:nvPr/>
            </p:nvSpPr>
            <p:spPr>
              <a:xfrm>
                <a:off x="9836866" y="4677987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29" name="CasellaDiTes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866" y="4677987"/>
                <a:ext cx="58129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asellaDiTesto 29"/>
              <p:cNvSpPr txBox="1"/>
              <p:nvPr/>
            </p:nvSpPr>
            <p:spPr>
              <a:xfrm>
                <a:off x="5949345" y="4648511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0" name="CasellaDiTesto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345" y="4648511"/>
                <a:ext cx="581297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2A18B52F-6D5A-D87B-34A2-216D821BB7F9}"/>
                  </a:ext>
                </a:extLst>
              </p:cNvPr>
              <p:cNvSpPr txBox="1"/>
              <p:nvPr/>
            </p:nvSpPr>
            <p:spPr>
              <a:xfrm>
                <a:off x="2603215" y="4687809"/>
                <a:ext cx="5777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2A18B52F-6D5A-D87B-34A2-216D821BB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15" y="4687809"/>
                <a:ext cx="5777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76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Common transfer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approximations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Linear transfer function approximation: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offset, b, is the output value of the sensor when no measurand is applied. It is the component of the output signal which does not depend on the measurand. </a:t>
            </a:r>
          </a:p>
          <a:p>
            <a:r>
              <a:rPr lang="en-US" sz="2000" dirty="0"/>
              <a:t>The slope, a, represents the </a:t>
            </a:r>
            <a:r>
              <a:rPr lang="en-US" sz="2000" b="1" dirty="0"/>
              <a:t>sensor sensitivity</a:t>
            </a:r>
            <a:r>
              <a:rPr lang="en-US" sz="2000" dirty="0"/>
              <a:t>, i.e., the change in the sensor output resulting from a unit change in the input measurand.</a:t>
            </a:r>
          </a:p>
          <a:p>
            <a:pPr marL="0" indent="0">
              <a:buNone/>
            </a:pPr>
            <a:r>
              <a:rPr lang="en-US" sz="2000" b="1" dirty="0"/>
              <a:t>Non-linear transfer function approximations: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/>
              <p:cNvSpPr/>
              <p:nvPr/>
            </p:nvSpPr>
            <p:spPr>
              <a:xfrm>
                <a:off x="5028657" y="1696979"/>
                <a:ext cx="209345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it-IT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Rettango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657" y="1696979"/>
                <a:ext cx="2093457" cy="400110"/>
              </a:xfrm>
              <a:prstGeom prst="rect">
                <a:avLst/>
              </a:prstGeom>
              <a:blipFill>
                <a:blip r:embed="rId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a 5"/>
              <p:cNvGraphicFramePr>
                <a:graphicFrameLocks noGrp="1"/>
              </p:cNvGraphicFramePr>
              <p:nvPr/>
            </p:nvGraphicFramePr>
            <p:xfrm>
              <a:off x="1685834" y="4087238"/>
              <a:ext cx="8128000" cy="2274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963882765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62997081"/>
                        </a:ext>
                      </a:extLst>
                    </a:gridCol>
                  </a:tblGrid>
                  <a:tr h="4498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Logarithmic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𝑙𝑛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80295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Exponential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0746979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Power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6045168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Second-order polynomial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0812989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Third-order polynomial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it-IT" sz="18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it-IT" sz="1800" dirty="0">
                            <a:latin typeface="Aptos" panose="020B00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70919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a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6595021"/>
                  </p:ext>
                </p:extLst>
              </p:nvPr>
            </p:nvGraphicFramePr>
            <p:xfrm>
              <a:off x="1685834" y="4087238"/>
              <a:ext cx="8128000" cy="2274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963882765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62997081"/>
                        </a:ext>
                      </a:extLst>
                    </a:gridCol>
                  </a:tblGrid>
                  <a:tr h="44987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Logarithmic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r="-313" b="-4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0295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Exponential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t="-100000" r="-313" b="-3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0746979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Power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t="-200000" r="-313" b="-2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6045168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Second-order polynomial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t="-300000" r="-313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0812989"/>
                      </a:ext>
                    </a:extLst>
                  </a:tr>
                  <a:tr h="4561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Aptos" panose="020B0004020202020204" pitchFamily="34" charset="0"/>
                              <a:ea typeface="+mn-ea"/>
                              <a:cs typeface="+mn-cs"/>
                            </a:rPr>
                            <a:t>Third-order polynomial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3" t="-400000" r="-313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919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42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Connettore diritto 27"/>
          <p:cNvCxnSpPr/>
          <p:nvPr/>
        </p:nvCxnSpPr>
        <p:spPr>
          <a:xfrm flipV="1">
            <a:off x="1095214" y="4042908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Calibration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274831"/>
            <a:ext cx="11368314" cy="2206843"/>
          </a:xfrm>
        </p:spPr>
        <p:txBody>
          <a:bodyPr>
            <a:normAutofit/>
          </a:bodyPr>
          <a:lstStyle/>
          <a:p>
            <a:r>
              <a:rPr lang="en-US" sz="2000" dirty="0"/>
              <a:t>The transfer function parameters, e.g., a and b in the linear transfer function, are in general unknown and must be estimated. </a:t>
            </a:r>
            <a:r>
              <a:rPr lang="en-US" sz="2000" dirty="0">
                <a:sym typeface="Wingdings" panose="05000000000000000000" pitchFamily="2" charset="2"/>
              </a:rPr>
              <a:t>This process is called </a:t>
            </a:r>
            <a:r>
              <a:rPr lang="en-US" sz="2000" b="1" dirty="0">
                <a:sym typeface="Wingdings" panose="05000000000000000000" pitchFamily="2" charset="2"/>
              </a:rPr>
              <a:t>calibration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</a:p>
          <a:p>
            <a:r>
              <a:rPr lang="en-US" sz="2000" dirty="0">
                <a:sym typeface="Wingdings" panose="05000000000000000000" pitchFamily="2" charset="2"/>
              </a:rPr>
              <a:t>If a set of known (</a:t>
            </a:r>
            <a:r>
              <a:rPr lang="en-US" sz="2000" dirty="0" err="1">
                <a:sym typeface="Wingdings" panose="05000000000000000000" pitchFamily="2" charset="2"/>
              </a:rPr>
              <a:t>x,y</a:t>
            </a:r>
            <a:r>
              <a:rPr lang="en-US" sz="2000" dirty="0">
                <a:sym typeface="Wingdings" panose="05000000000000000000" pitchFamily="2" charset="2"/>
              </a:rPr>
              <a:t>) paired values are available, estimation of </a:t>
            </a:r>
            <a:r>
              <a:rPr lang="en-US" sz="2000" dirty="0"/>
              <a:t>transfer function parameters can be performed by the least square approach.</a:t>
            </a:r>
          </a:p>
          <a:p>
            <a:r>
              <a:rPr lang="en-US" sz="2000" dirty="0"/>
              <a:t>For linear transfer function: </a:t>
            </a:r>
          </a:p>
          <a:p>
            <a:pPr marL="0" indent="0">
              <a:buNone/>
            </a:pPr>
            <a:endParaRPr lang="it-IT" dirty="0"/>
          </a:p>
          <a:p>
            <a:endParaRPr lang="en-GB" dirty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837587" y="3347592"/>
            <a:ext cx="3686628" cy="452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2000" b="1" dirty="0" err="1">
                <a:latin typeface="Aptos" panose="020B0004020202020204" pitchFamily="34" charset="0"/>
              </a:rPr>
              <a:t>Two-point</a:t>
            </a:r>
            <a:r>
              <a:rPr lang="it-IT" sz="2000" b="1" dirty="0">
                <a:latin typeface="Aptos" panose="020B0004020202020204" pitchFamily="34" charset="0"/>
              </a:rPr>
              <a:t> </a:t>
            </a:r>
            <a:r>
              <a:rPr lang="en-GB" sz="2000" b="1" dirty="0">
                <a:latin typeface="Aptos" panose="020B0004020202020204" pitchFamily="34" charset="0"/>
                <a:sym typeface="Wingdings" panose="05000000000000000000" pitchFamily="2" charset="2"/>
              </a:rPr>
              <a:t>calibration</a:t>
            </a:r>
            <a:endParaRPr lang="it-IT" b="1" dirty="0">
              <a:latin typeface="Aptos" panose="020B0004020202020204" pitchFamily="34" charset="0"/>
            </a:endParaRPr>
          </a:p>
          <a:p>
            <a:endParaRPr lang="en-GB" dirty="0">
              <a:latin typeface="Aptos" panose="020B0004020202020204" pitchFamily="34" charset="0"/>
            </a:endParaRPr>
          </a:p>
        </p:txBody>
      </p:sp>
      <p:cxnSp>
        <p:nvCxnSpPr>
          <p:cNvPr id="6" name="Connettore 2 5"/>
          <p:cNvCxnSpPr/>
          <p:nvPr/>
        </p:nvCxnSpPr>
        <p:spPr>
          <a:xfrm flipV="1">
            <a:off x="1095215" y="3640919"/>
            <a:ext cx="0" cy="2549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>
            <a:off x="1095215" y="6190489"/>
            <a:ext cx="30501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546938" y="3673576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38" y="3673576"/>
                <a:ext cx="581297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/>
              <p:cNvSpPr txBox="1"/>
              <p:nvPr/>
            </p:nvSpPr>
            <p:spPr>
              <a:xfrm>
                <a:off x="3622583" y="6190489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" name="CasellaDiTes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583" y="6190489"/>
                <a:ext cx="58129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e 12"/>
          <p:cNvSpPr/>
          <p:nvPr/>
        </p:nvSpPr>
        <p:spPr>
          <a:xfrm>
            <a:off x="1611198" y="5243431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4" name="Ovale 13"/>
          <p:cNvSpPr/>
          <p:nvPr/>
        </p:nvSpPr>
        <p:spPr>
          <a:xfrm>
            <a:off x="3298484" y="4248479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cxnSp>
        <p:nvCxnSpPr>
          <p:cNvPr id="16" name="Connettore diritto 15"/>
          <p:cNvCxnSpPr>
            <a:endCxn id="13" idx="2"/>
          </p:cNvCxnSpPr>
          <p:nvPr/>
        </p:nvCxnSpPr>
        <p:spPr>
          <a:xfrm>
            <a:off x="1095215" y="5296770"/>
            <a:ext cx="515983" cy="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>
            <a:endCxn id="14" idx="2"/>
          </p:cNvCxnSpPr>
          <p:nvPr/>
        </p:nvCxnSpPr>
        <p:spPr>
          <a:xfrm flipV="1">
            <a:off x="1095215" y="4301819"/>
            <a:ext cx="2203269" cy="1735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/>
          <p:cNvCxnSpPr>
            <a:endCxn id="14" idx="4"/>
          </p:cNvCxnSpPr>
          <p:nvPr/>
        </p:nvCxnSpPr>
        <p:spPr>
          <a:xfrm flipV="1">
            <a:off x="3352484" y="4355158"/>
            <a:ext cx="0" cy="183533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/>
          <p:cNvCxnSpPr>
            <a:stCxn id="13" idx="4"/>
          </p:cNvCxnSpPr>
          <p:nvPr/>
        </p:nvCxnSpPr>
        <p:spPr>
          <a:xfrm>
            <a:off x="1665198" y="5350110"/>
            <a:ext cx="0" cy="84037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ttangolo 30"/>
              <p:cNvSpPr/>
              <p:nvPr/>
            </p:nvSpPr>
            <p:spPr>
              <a:xfrm>
                <a:off x="3706812" y="3799985"/>
                <a:ext cx="1654812" cy="4165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it-IT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1" name="Rettangolo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812" y="3799985"/>
                <a:ext cx="1654812" cy="416589"/>
              </a:xfrm>
              <a:prstGeom prst="rect">
                <a:avLst/>
              </a:prstGeom>
              <a:blipFill>
                <a:blip r:embed="rId4"/>
                <a:stretch>
                  <a:fillRect t="-294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/>
              <p:cNvSpPr txBox="1"/>
              <p:nvPr/>
            </p:nvSpPr>
            <p:spPr>
              <a:xfrm>
                <a:off x="3054054" y="6160886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2" name="CasellaDiTesto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054" y="6160886"/>
                <a:ext cx="5812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sellaDiTesto 32"/>
              <p:cNvSpPr txBox="1"/>
              <p:nvPr/>
            </p:nvSpPr>
            <p:spPr>
              <a:xfrm>
                <a:off x="1393646" y="6143037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3" name="CasellaDiTesto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46" y="6143037"/>
                <a:ext cx="5812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sellaDiTesto 33"/>
              <p:cNvSpPr txBox="1"/>
              <p:nvPr/>
            </p:nvSpPr>
            <p:spPr>
              <a:xfrm>
                <a:off x="631779" y="5081320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4" name="CasellaDiTesto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79" y="5081320"/>
                <a:ext cx="581297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sellaDiTesto 34"/>
              <p:cNvSpPr txBox="1"/>
              <p:nvPr/>
            </p:nvSpPr>
            <p:spPr>
              <a:xfrm>
                <a:off x="641352" y="4112102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5" name="CasellaDiTesto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2" y="4112102"/>
                <a:ext cx="581297" cy="369332"/>
              </a:xfrm>
              <a:prstGeom prst="rect">
                <a:avLst/>
              </a:prstGeom>
              <a:blipFill>
                <a:blip r:embed="rId8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sellaDiTesto 35"/>
              <p:cNvSpPr txBox="1"/>
              <p:nvPr/>
            </p:nvSpPr>
            <p:spPr>
              <a:xfrm>
                <a:off x="4390830" y="4608459"/>
                <a:ext cx="1218923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6" name="CasellaDiTesto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830" y="4608459"/>
                <a:ext cx="1218923" cy="519629"/>
              </a:xfrm>
              <a:prstGeom prst="rect">
                <a:avLst/>
              </a:prstGeom>
              <a:blipFill>
                <a:blip r:embed="rId9"/>
                <a:stretch>
                  <a:fillRect l="-2062" t="-2381" r="-103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sellaDiTesto 36"/>
              <p:cNvSpPr txBox="1"/>
              <p:nvPr/>
            </p:nvSpPr>
            <p:spPr>
              <a:xfrm>
                <a:off x="4390830" y="5416933"/>
                <a:ext cx="2117887" cy="519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7" name="CasellaDiTesto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830" y="5416933"/>
                <a:ext cx="2117887" cy="519629"/>
              </a:xfrm>
              <a:prstGeom prst="rect">
                <a:avLst/>
              </a:prstGeom>
              <a:blipFill>
                <a:blip r:embed="rId10"/>
                <a:stretch>
                  <a:fillRect l="-2381" t="-2381" r="-595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egnaposto contenuto 2"/>
          <p:cNvSpPr txBox="1">
            <a:spLocks/>
          </p:cNvSpPr>
          <p:nvPr/>
        </p:nvSpPr>
        <p:spPr>
          <a:xfrm>
            <a:off x="7845787" y="3347592"/>
            <a:ext cx="3686628" cy="452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2000" b="1" dirty="0">
                <a:latin typeface="Aptos" panose="020B0004020202020204" pitchFamily="34" charset="0"/>
              </a:rPr>
              <a:t>Multiple-</a:t>
            </a:r>
            <a:r>
              <a:rPr lang="it-IT" sz="2000" b="1" dirty="0" err="1">
                <a:latin typeface="Aptos" panose="020B0004020202020204" pitchFamily="34" charset="0"/>
              </a:rPr>
              <a:t>point</a:t>
            </a:r>
            <a:r>
              <a:rPr lang="it-IT" sz="2000" b="1" dirty="0">
                <a:latin typeface="Aptos" panose="020B0004020202020204" pitchFamily="34" charset="0"/>
              </a:rPr>
              <a:t> </a:t>
            </a:r>
            <a:r>
              <a:rPr lang="en-GB" sz="2000" b="1" dirty="0">
                <a:latin typeface="Aptos" panose="020B0004020202020204" pitchFamily="34" charset="0"/>
                <a:sym typeface="Wingdings" panose="05000000000000000000" pitchFamily="2" charset="2"/>
              </a:rPr>
              <a:t>calibration</a:t>
            </a:r>
            <a:endParaRPr lang="it-IT" b="1" dirty="0">
              <a:latin typeface="Aptos" panose="020B0004020202020204" pitchFamily="34" charset="0"/>
            </a:endParaRPr>
          </a:p>
          <a:p>
            <a:endParaRPr lang="en-GB" dirty="0">
              <a:latin typeface="Aptos" panose="020B0004020202020204" pitchFamily="34" charset="0"/>
            </a:endParaRPr>
          </a:p>
        </p:txBody>
      </p:sp>
      <p:cxnSp>
        <p:nvCxnSpPr>
          <p:cNvPr id="39" name="Connettore diritto 38"/>
          <p:cNvCxnSpPr/>
          <p:nvPr/>
        </p:nvCxnSpPr>
        <p:spPr>
          <a:xfrm flipV="1">
            <a:off x="7845787" y="4087497"/>
            <a:ext cx="2677887" cy="159240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/>
          <p:cNvCxnSpPr/>
          <p:nvPr/>
        </p:nvCxnSpPr>
        <p:spPr>
          <a:xfrm flipV="1">
            <a:off x="7845788" y="3685508"/>
            <a:ext cx="0" cy="25495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/>
          <p:cNvCxnSpPr/>
          <p:nvPr/>
        </p:nvCxnSpPr>
        <p:spPr>
          <a:xfrm>
            <a:off x="7845788" y="6235078"/>
            <a:ext cx="30501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/>
              <p:cNvSpPr txBox="1"/>
              <p:nvPr/>
            </p:nvSpPr>
            <p:spPr>
              <a:xfrm>
                <a:off x="7297511" y="3718165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2" name="CasellaDiTesto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511" y="3718165"/>
                <a:ext cx="581297" cy="369332"/>
              </a:xfrm>
              <a:prstGeom prst="rect">
                <a:avLst/>
              </a:prstGeom>
              <a:blipFill>
                <a:blip r:embed="rId11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sellaDiTesto 42"/>
              <p:cNvSpPr txBox="1"/>
              <p:nvPr/>
            </p:nvSpPr>
            <p:spPr>
              <a:xfrm>
                <a:off x="10373156" y="6235078"/>
                <a:ext cx="581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3" name="CasellaDiTesto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156" y="6235078"/>
                <a:ext cx="58129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Ovale 43"/>
          <p:cNvSpPr/>
          <p:nvPr/>
        </p:nvSpPr>
        <p:spPr>
          <a:xfrm>
            <a:off x="8286066" y="4943713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45" name="Ovale 44"/>
          <p:cNvSpPr/>
          <p:nvPr/>
        </p:nvSpPr>
        <p:spPr>
          <a:xfrm>
            <a:off x="9995056" y="4528592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4" name="Ovale 53"/>
          <p:cNvSpPr/>
          <p:nvPr/>
        </p:nvSpPr>
        <p:spPr>
          <a:xfrm>
            <a:off x="9563684" y="4780052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5" name="Ovale 54"/>
          <p:cNvSpPr/>
          <p:nvPr/>
        </p:nvSpPr>
        <p:spPr>
          <a:xfrm>
            <a:off x="9208877" y="4551917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6" name="Ovale 55"/>
          <p:cNvSpPr/>
          <p:nvPr/>
        </p:nvSpPr>
        <p:spPr>
          <a:xfrm>
            <a:off x="8859413" y="4872062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7" name="Ovale 56"/>
          <p:cNvSpPr/>
          <p:nvPr/>
        </p:nvSpPr>
        <p:spPr>
          <a:xfrm>
            <a:off x="10265156" y="4041229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8" name="Ovale 57"/>
          <p:cNvSpPr/>
          <p:nvPr/>
        </p:nvSpPr>
        <p:spPr>
          <a:xfrm>
            <a:off x="8859413" y="5376923"/>
            <a:ext cx="108000" cy="106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ttangolo 58"/>
              <p:cNvSpPr/>
              <p:nvPr/>
            </p:nvSpPr>
            <p:spPr>
              <a:xfrm>
                <a:off x="10431693" y="3677979"/>
                <a:ext cx="1654812" cy="4165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it-IT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9" name="Rettangolo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693" y="3677979"/>
                <a:ext cx="1654812" cy="416589"/>
              </a:xfrm>
              <a:prstGeom prst="rect">
                <a:avLst/>
              </a:prstGeom>
              <a:blipFill>
                <a:blip r:embed="rId13"/>
                <a:stretch>
                  <a:fillRect t="-294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ttangolo 59"/>
              <p:cNvSpPr/>
              <p:nvPr/>
            </p:nvSpPr>
            <p:spPr>
              <a:xfrm>
                <a:off x="4012546" y="2531043"/>
                <a:ext cx="4381520" cy="9326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sz="20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it-IT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it-IT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0" name="Rettangolo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46" y="2531043"/>
                <a:ext cx="4381520" cy="932628"/>
              </a:xfrm>
              <a:prstGeom prst="rect">
                <a:avLst/>
              </a:prstGeom>
              <a:blipFill>
                <a:blip r:embed="rId14"/>
                <a:stretch>
                  <a:fillRect t="-104054" b="-15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9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Embedded processing </a:t>
            </a:r>
            <a:r>
              <a:rPr lang="it-IT" dirty="0" err="1"/>
              <a:t>unit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7230730" cy="4858203"/>
          </a:xfrm>
        </p:spPr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embedded</a:t>
            </a:r>
            <a:r>
              <a:rPr lang="it-IT" dirty="0"/>
              <a:t> processing </a:t>
            </a:r>
            <a:r>
              <a:rPr lang="it-IT" dirty="0" err="1"/>
              <a:t>unit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for: </a:t>
            </a:r>
          </a:p>
          <a:p>
            <a:pPr lvl="1"/>
            <a:r>
              <a:rPr lang="it-IT" dirty="0" err="1"/>
              <a:t>Performing</a:t>
            </a:r>
            <a:r>
              <a:rPr lang="it-IT" dirty="0"/>
              <a:t> </a:t>
            </a:r>
            <a:r>
              <a:rPr lang="it-IT" dirty="0" err="1"/>
              <a:t>local</a:t>
            </a:r>
            <a:r>
              <a:rPr lang="it-IT" dirty="0"/>
              <a:t> </a:t>
            </a:r>
            <a:r>
              <a:rPr lang="en-US" dirty="0"/>
              <a:t>processing of the measurements </a:t>
            </a:r>
          </a:p>
          <a:p>
            <a:pPr lvl="1"/>
            <a:r>
              <a:rPr lang="en-US" dirty="0"/>
              <a:t>Storing some data in a local memory</a:t>
            </a:r>
          </a:p>
          <a:p>
            <a:pPr lvl="1"/>
            <a:r>
              <a:rPr lang="en-US" dirty="0"/>
              <a:t>Sending the data to another device (e.g., a display device or a gateway device for IoT systems)</a:t>
            </a:r>
            <a:r>
              <a:rPr lang="it-IT" dirty="0"/>
              <a:t> 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15" y="3128210"/>
            <a:ext cx="3880987" cy="2923423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2111542" y="5200233"/>
            <a:ext cx="181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Sensor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3459080" y="6340860"/>
            <a:ext cx="3829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Embedded processing </a:t>
            </a:r>
            <a:r>
              <a:rPr lang="it-IT" sz="2000" dirty="0" err="1">
                <a:latin typeface="Aptos" panose="020B0004020202020204" pitchFamily="34" charset="0"/>
              </a:rPr>
              <a:t>unit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7" name="Connettore 2 6"/>
          <p:cNvCxnSpPr/>
          <p:nvPr/>
        </p:nvCxnSpPr>
        <p:spPr>
          <a:xfrm>
            <a:off x="3019926" y="5426460"/>
            <a:ext cx="908384" cy="1738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 flipH="1" flipV="1">
            <a:off x="4529889" y="5780695"/>
            <a:ext cx="222588" cy="5601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7757924" y="5292146"/>
            <a:ext cx="3633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Receiver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device</a:t>
            </a:r>
            <a:r>
              <a:rPr lang="it-IT" sz="2000" dirty="0">
                <a:latin typeface="Aptos" panose="020B0004020202020204" pitchFamily="34" charset="0"/>
              </a:rPr>
              <a:t> / Gateway </a:t>
            </a:r>
            <a:r>
              <a:rPr lang="it-IT" sz="2000" dirty="0" err="1">
                <a:latin typeface="Aptos" panose="020B0004020202020204" pitchFamily="34" charset="0"/>
              </a:rPr>
              <a:t>device</a:t>
            </a:r>
            <a:r>
              <a:rPr lang="it-IT" sz="2000" dirty="0">
                <a:latin typeface="Aptos" panose="020B0004020202020204" pitchFamily="34" charset="0"/>
              </a:rPr>
              <a:t> (for </a:t>
            </a:r>
            <a:r>
              <a:rPr lang="it-IT" sz="2000" dirty="0" err="1">
                <a:latin typeface="Aptos" panose="020B0004020202020204" pitchFamily="34" charset="0"/>
              </a:rPr>
              <a:t>IoT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devices</a:t>
            </a:r>
            <a:r>
              <a:rPr lang="it-IT" sz="2000" dirty="0">
                <a:latin typeface="Aptos" panose="020B0004020202020204" pitchFamily="34" charset="0"/>
              </a:rPr>
              <a:t>)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10" name="Connettore 2 9"/>
          <p:cNvCxnSpPr/>
          <p:nvPr/>
        </p:nvCxnSpPr>
        <p:spPr>
          <a:xfrm flipH="1" flipV="1">
            <a:off x="7387717" y="4758489"/>
            <a:ext cx="819829" cy="459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/>
          <p:cNvCxnSpPr/>
          <p:nvPr/>
        </p:nvCxnSpPr>
        <p:spPr>
          <a:xfrm flipH="1">
            <a:off x="6791826" y="5600343"/>
            <a:ext cx="1173079" cy="3996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/>
          <p:cNvSpPr txBox="1"/>
          <p:nvPr/>
        </p:nvSpPr>
        <p:spPr>
          <a:xfrm>
            <a:off x="8231359" y="1690437"/>
            <a:ext cx="3673642" cy="142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Three main operations: 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Aptos" panose="020B0004020202020204" pitchFamily="34" charset="0"/>
              </a:rPr>
              <a:t>Denoising</a:t>
            </a:r>
            <a:endParaRPr lang="en-US" sz="2000" dirty="0">
              <a:latin typeface="Aptos" panose="020B0004020202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Calibration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Fault detection</a:t>
            </a:r>
          </a:p>
        </p:txBody>
      </p:sp>
      <p:cxnSp>
        <p:nvCxnSpPr>
          <p:cNvPr id="13" name="Connettore 2 12"/>
          <p:cNvCxnSpPr/>
          <p:nvPr/>
        </p:nvCxnSpPr>
        <p:spPr>
          <a:xfrm flipV="1">
            <a:off x="6834032" y="1943100"/>
            <a:ext cx="136800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numero diapositiva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653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Denoising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1153433"/>
          </a:xfrm>
        </p:spPr>
        <p:txBody>
          <a:bodyPr>
            <a:normAutofit/>
          </a:bodyPr>
          <a:lstStyle/>
          <a:p>
            <a:r>
              <a:rPr lang="en-US" dirty="0"/>
              <a:t>Raw signals are often noisy: the signal of interest is corrupted by noise</a:t>
            </a:r>
          </a:p>
          <a:p>
            <a:r>
              <a:rPr lang="en-US" dirty="0"/>
              <a:t>Example: high-frequency noise on a CGM signal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" y="2354318"/>
            <a:ext cx="7690120" cy="40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22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Denoising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1153433"/>
          </a:xfrm>
        </p:spPr>
        <p:txBody>
          <a:bodyPr>
            <a:normAutofit/>
          </a:bodyPr>
          <a:lstStyle/>
          <a:p>
            <a:r>
              <a:rPr lang="en-US" dirty="0"/>
              <a:t>Raw signals are often noisy: the signal of interest is corrupted by noise </a:t>
            </a:r>
          </a:p>
          <a:p>
            <a:r>
              <a:rPr lang="en-US" dirty="0"/>
              <a:t>Example: low-frequency noise (e.g., due to movement) on an ECG signal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435" y="2514600"/>
            <a:ext cx="5157787" cy="4010270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5378115" y="2396107"/>
            <a:ext cx="253264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Aptos" panose="020B0004020202020204" pitchFamily="34" charset="0"/>
              </a:rPr>
              <a:t>Clean</a:t>
            </a:r>
            <a:r>
              <a:rPr lang="it-IT" sz="1600" dirty="0">
                <a:latin typeface="Aptos" panose="020B0004020202020204" pitchFamily="34" charset="0"/>
              </a:rPr>
              <a:t> ECG </a:t>
            </a:r>
            <a:r>
              <a:rPr lang="it-IT" sz="1600" dirty="0" err="1">
                <a:latin typeface="Aptos" panose="020B0004020202020204" pitchFamily="34" charset="0"/>
              </a:rPr>
              <a:t>signal</a:t>
            </a: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4313732" y="4460488"/>
            <a:ext cx="43774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Aptos" panose="020B0004020202020204" pitchFamily="34" charset="0"/>
              </a:rPr>
              <a:t>ECG </a:t>
            </a:r>
            <a:r>
              <a:rPr lang="it-IT" sz="1600" dirty="0" err="1">
                <a:latin typeface="Aptos" panose="020B0004020202020204" pitchFamily="34" charset="0"/>
              </a:rPr>
              <a:t>signal</a:t>
            </a:r>
            <a:r>
              <a:rPr lang="it-IT" sz="1600" dirty="0">
                <a:latin typeface="Aptos" panose="020B0004020202020204" pitchFamily="34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</a:rPr>
              <a:t>corrupted</a:t>
            </a:r>
            <a:r>
              <a:rPr lang="it-IT" sz="1600" dirty="0">
                <a:latin typeface="Aptos" panose="020B0004020202020204" pitchFamily="34" charset="0"/>
              </a:rPr>
              <a:t> by </a:t>
            </a:r>
            <a:r>
              <a:rPr lang="it-IT" sz="1600" dirty="0" err="1">
                <a:latin typeface="Aptos" panose="020B0004020202020204" pitchFamily="34" charset="0"/>
              </a:rPr>
              <a:t>low-freq</a:t>
            </a:r>
            <a:r>
              <a:rPr lang="it-IT" sz="1600" dirty="0">
                <a:latin typeface="Aptos" panose="020B0004020202020204" pitchFamily="34" charset="0"/>
              </a:rPr>
              <a:t>. </a:t>
            </a:r>
            <a:r>
              <a:rPr lang="it-IT" sz="1600" dirty="0" err="1">
                <a:latin typeface="Aptos" panose="020B0004020202020204" pitchFamily="34" charset="0"/>
              </a:rPr>
              <a:t>noise</a:t>
            </a:r>
            <a:endParaRPr lang="en-GB" sz="1600" dirty="0">
              <a:latin typeface="Aptos" panose="020B0004020202020204" pitchFamily="34" charset="0"/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0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Denoising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415771"/>
            <a:ext cx="11368314" cy="825912"/>
          </a:xfrm>
        </p:spPr>
        <p:txBody>
          <a:bodyPr>
            <a:normAutofit/>
          </a:bodyPr>
          <a:lstStyle/>
          <a:p>
            <a:r>
              <a:rPr lang="en-US" dirty="0"/>
              <a:t>The noise can be filtered by applying a denoising algorithm exploiting a digital filter.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99358" y="3165398"/>
            <a:ext cx="3025942" cy="1359568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 err="1">
                <a:latin typeface="Aptos" panose="020B0004020202020204" pitchFamily="34" charset="0"/>
              </a:rPr>
              <a:t>Denoising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algorithm</a:t>
            </a:r>
            <a:endParaRPr lang="it-IT" sz="2400" dirty="0">
              <a:latin typeface="Aptos" panose="020B0004020202020204" pitchFamily="34" charset="0"/>
            </a:endParaRPr>
          </a:p>
          <a:p>
            <a:pPr algn="ctr"/>
            <a:r>
              <a:rPr lang="it-IT" sz="2400" dirty="0">
                <a:latin typeface="Aptos" panose="020B0004020202020204" pitchFamily="34" charset="0"/>
              </a:rPr>
              <a:t>(</a:t>
            </a:r>
            <a:r>
              <a:rPr lang="it-IT" sz="2400" dirty="0" err="1">
                <a:latin typeface="Aptos" panose="020B0004020202020204" pitchFamily="34" charset="0"/>
              </a:rPr>
              <a:t>digital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filter</a:t>
            </a:r>
            <a:r>
              <a:rPr lang="it-IT" sz="2400" dirty="0">
                <a:latin typeface="Aptos" panose="020B0004020202020204" pitchFamily="34" charset="0"/>
              </a:rPr>
              <a:t>)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5" name="Freeform 374">
            <a:extLst>
              <a:ext uri="{FF2B5EF4-FFF2-40B4-BE49-F238E27FC236}">
                <a16:creationId xmlns:a16="http://schemas.microsoft.com/office/drawing/2014/main" id="{AF2C2861-40AC-A345-9BD7-1B27D50F8EAF}"/>
              </a:ext>
            </a:extLst>
          </p:cNvPr>
          <p:cNvSpPr/>
          <p:nvPr/>
        </p:nvSpPr>
        <p:spPr>
          <a:xfrm>
            <a:off x="1774659" y="2814693"/>
            <a:ext cx="1730902" cy="811094"/>
          </a:xfrm>
          <a:custGeom>
            <a:avLst/>
            <a:gdLst>
              <a:gd name="connsiteX0" fmla="*/ 0 w 1286633"/>
              <a:gd name="connsiteY0" fmla="*/ 436970 h 517890"/>
              <a:gd name="connsiteX1" fmla="*/ 16184 w 1286633"/>
              <a:gd name="connsiteY1" fmla="*/ 461246 h 517890"/>
              <a:gd name="connsiteX2" fmla="*/ 48552 w 1286633"/>
              <a:gd name="connsiteY2" fmla="*/ 493614 h 517890"/>
              <a:gd name="connsiteX3" fmla="*/ 56644 w 1286633"/>
              <a:gd name="connsiteY3" fmla="*/ 517890 h 517890"/>
              <a:gd name="connsiteX4" fmla="*/ 64736 w 1286633"/>
              <a:gd name="connsiteY4" fmla="*/ 485522 h 517890"/>
              <a:gd name="connsiteX5" fmla="*/ 72828 w 1286633"/>
              <a:gd name="connsiteY5" fmla="*/ 461246 h 517890"/>
              <a:gd name="connsiteX6" fmla="*/ 113288 w 1286633"/>
              <a:gd name="connsiteY6" fmla="*/ 485522 h 517890"/>
              <a:gd name="connsiteX7" fmla="*/ 161840 w 1286633"/>
              <a:gd name="connsiteY7" fmla="*/ 517890 h 517890"/>
              <a:gd name="connsiteX8" fmla="*/ 178025 w 1286633"/>
              <a:gd name="connsiteY8" fmla="*/ 436970 h 517890"/>
              <a:gd name="connsiteX9" fmla="*/ 186117 w 1286633"/>
              <a:gd name="connsiteY9" fmla="*/ 331773 h 517890"/>
              <a:gd name="connsiteX10" fmla="*/ 194209 w 1286633"/>
              <a:gd name="connsiteY10" fmla="*/ 307497 h 517890"/>
              <a:gd name="connsiteX11" fmla="*/ 202301 w 1286633"/>
              <a:gd name="connsiteY11" fmla="*/ 258945 h 517890"/>
              <a:gd name="connsiteX12" fmla="*/ 210393 w 1286633"/>
              <a:gd name="connsiteY12" fmla="*/ 283221 h 517890"/>
              <a:gd name="connsiteX13" fmla="*/ 234669 w 1286633"/>
              <a:gd name="connsiteY13" fmla="*/ 275129 h 517890"/>
              <a:gd name="connsiteX14" fmla="*/ 242761 w 1286633"/>
              <a:gd name="connsiteY14" fmla="*/ 145656 h 517890"/>
              <a:gd name="connsiteX15" fmla="*/ 250853 w 1286633"/>
              <a:gd name="connsiteY15" fmla="*/ 121380 h 517890"/>
              <a:gd name="connsiteX16" fmla="*/ 275129 w 1286633"/>
              <a:gd name="connsiteY16" fmla="*/ 137564 h 517890"/>
              <a:gd name="connsiteX17" fmla="*/ 267037 w 1286633"/>
              <a:gd name="connsiteY17" fmla="*/ 89012 h 517890"/>
              <a:gd name="connsiteX18" fmla="*/ 299405 w 1286633"/>
              <a:gd name="connsiteY18" fmla="*/ 0 h 517890"/>
              <a:gd name="connsiteX19" fmla="*/ 315589 w 1286633"/>
              <a:gd name="connsiteY19" fmla="*/ 24276 h 517890"/>
              <a:gd name="connsiteX20" fmla="*/ 323681 w 1286633"/>
              <a:gd name="connsiteY20" fmla="*/ 89012 h 517890"/>
              <a:gd name="connsiteX21" fmla="*/ 331773 w 1286633"/>
              <a:gd name="connsiteY21" fmla="*/ 113288 h 517890"/>
              <a:gd name="connsiteX22" fmla="*/ 339865 w 1286633"/>
              <a:gd name="connsiteY22" fmla="*/ 153748 h 517890"/>
              <a:gd name="connsiteX23" fmla="*/ 356049 w 1286633"/>
              <a:gd name="connsiteY23" fmla="*/ 169933 h 517890"/>
              <a:gd name="connsiteX24" fmla="*/ 380325 w 1286633"/>
              <a:gd name="connsiteY24" fmla="*/ 234669 h 517890"/>
              <a:gd name="connsiteX25" fmla="*/ 396509 w 1286633"/>
              <a:gd name="connsiteY25" fmla="*/ 315589 h 517890"/>
              <a:gd name="connsiteX26" fmla="*/ 412694 w 1286633"/>
              <a:gd name="connsiteY26" fmla="*/ 364141 h 517890"/>
              <a:gd name="connsiteX27" fmla="*/ 428878 w 1286633"/>
              <a:gd name="connsiteY27" fmla="*/ 145656 h 517890"/>
              <a:gd name="connsiteX28" fmla="*/ 445062 w 1286633"/>
              <a:gd name="connsiteY28" fmla="*/ 97104 h 517890"/>
              <a:gd name="connsiteX29" fmla="*/ 461246 w 1286633"/>
              <a:gd name="connsiteY29" fmla="*/ 145656 h 517890"/>
              <a:gd name="connsiteX30" fmla="*/ 477430 w 1286633"/>
              <a:gd name="connsiteY30" fmla="*/ 202301 h 517890"/>
              <a:gd name="connsiteX31" fmla="*/ 485522 w 1286633"/>
              <a:gd name="connsiteY31" fmla="*/ 323681 h 517890"/>
              <a:gd name="connsiteX32" fmla="*/ 509798 w 1286633"/>
              <a:gd name="connsiteY32" fmla="*/ 347957 h 517890"/>
              <a:gd name="connsiteX33" fmla="*/ 534074 w 1286633"/>
              <a:gd name="connsiteY33" fmla="*/ 396509 h 517890"/>
              <a:gd name="connsiteX34" fmla="*/ 550258 w 1286633"/>
              <a:gd name="connsiteY34" fmla="*/ 420786 h 517890"/>
              <a:gd name="connsiteX35" fmla="*/ 598810 w 1286633"/>
              <a:gd name="connsiteY35" fmla="*/ 436970 h 517890"/>
              <a:gd name="connsiteX36" fmla="*/ 614994 w 1286633"/>
              <a:gd name="connsiteY36" fmla="*/ 412694 h 517890"/>
              <a:gd name="connsiteX37" fmla="*/ 631178 w 1286633"/>
              <a:gd name="connsiteY37" fmla="*/ 356049 h 517890"/>
              <a:gd name="connsiteX38" fmla="*/ 671639 w 1286633"/>
              <a:gd name="connsiteY38" fmla="*/ 436970 h 517890"/>
              <a:gd name="connsiteX39" fmla="*/ 712099 w 1286633"/>
              <a:gd name="connsiteY39" fmla="*/ 485522 h 517890"/>
              <a:gd name="connsiteX40" fmla="*/ 736375 w 1286633"/>
              <a:gd name="connsiteY40" fmla="*/ 469338 h 517890"/>
              <a:gd name="connsiteX41" fmla="*/ 809203 w 1286633"/>
              <a:gd name="connsiteY41" fmla="*/ 501706 h 517890"/>
              <a:gd name="connsiteX42" fmla="*/ 890124 w 1286633"/>
              <a:gd name="connsiteY42" fmla="*/ 501706 h 517890"/>
              <a:gd name="connsiteX43" fmla="*/ 954860 w 1286633"/>
              <a:gd name="connsiteY43" fmla="*/ 485522 h 517890"/>
              <a:gd name="connsiteX44" fmla="*/ 1116701 w 1286633"/>
              <a:gd name="connsiteY44" fmla="*/ 477430 h 517890"/>
              <a:gd name="connsiteX45" fmla="*/ 1140977 w 1286633"/>
              <a:gd name="connsiteY45" fmla="*/ 453154 h 517890"/>
              <a:gd name="connsiteX46" fmla="*/ 1157161 w 1286633"/>
              <a:gd name="connsiteY46" fmla="*/ 445062 h 517890"/>
              <a:gd name="connsiteX47" fmla="*/ 1181437 w 1286633"/>
              <a:gd name="connsiteY47" fmla="*/ 436970 h 517890"/>
              <a:gd name="connsiteX48" fmla="*/ 1205713 w 1286633"/>
              <a:gd name="connsiteY48" fmla="*/ 420786 h 517890"/>
              <a:gd name="connsiteX49" fmla="*/ 1254265 w 1286633"/>
              <a:gd name="connsiteY49" fmla="*/ 412694 h 517890"/>
              <a:gd name="connsiteX50" fmla="*/ 1278541 w 1286633"/>
              <a:gd name="connsiteY50" fmla="*/ 404602 h 517890"/>
              <a:gd name="connsiteX51" fmla="*/ 1286633 w 1286633"/>
              <a:gd name="connsiteY51" fmla="*/ 380325 h 51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86633" h="517890">
                <a:moveTo>
                  <a:pt x="0" y="436970"/>
                </a:moveTo>
                <a:cubicBezTo>
                  <a:pt x="5395" y="445062"/>
                  <a:pt x="9855" y="453862"/>
                  <a:pt x="16184" y="461246"/>
                </a:cubicBezTo>
                <a:cubicBezTo>
                  <a:pt x="26114" y="472831"/>
                  <a:pt x="39683" y="481198"/>
                  <a:pt x="48552" y="493614"/>
                </a:cubicBezTo>
                <a:cubicBezTo>
                  <a:pt x="53510" y="500555"/>
                  <a:pt x="53947" y="509798"/>
                  <a:pt x="56644" y="517890"/>
                </a:cubicBezTo>
                <a:cubicBezTo>
                  <a:pt x="59341" y="507101"/>
                  <a:pt x="61681" y="496215"/>
                  <a:pt x="64736" y="485522"/>
                </a:cubicBezTo>
                <a:cubicBezTo>
                  <a:pt x="67079" y="477320"/>
                  <a:pt x="64298" y="461246"/>
                  <a:pt x="72828" y="461246"/>
                </a:cubicBezTo>
                <a:cubicBezTo>
                  <a:pt x="88556" y="461246"/>
                  <a:pt x="100019" y="477078"/>
                  <a:pt x="113288" y="485522"/>
                </a:cubicBezTo>
                <a:cubicBezTo>
                  <a:pt x="129698" y="495965"/>
                  <a:pt x="161840" y="517890"/>
                  <a:pt x="161840" y="517890"/>
                </a:cubicBezTo>
                <a:cubicBezTo>
                  <a:pt x="169631" y="486726"/>
                  <a:pt x="174418" y="471233"/>
                  <a:pt x="178025" y="436970"/>
                </a:cubicBezTo>
                <a:cubicBezTo>
                  <a:pt x="181707" y="401994"/>
                  <a:pt x="181755" y="366671"/>
                  <a:pt x="186117" y="331773"/>
                </a:cubicBezTo>
                <a:cubicBezTo>
                  <a:pt x="187175" y="323309"/>
                  <a:pt x="192359" y="315824"/>
                  <a:pt x="194209" y="307497"/>
                </a:cubicBezTo>
                <a:cubicBezTo>
                  <a:pt x="197768" y="291480"/>
                  <a:pt x="199604" y="275129"/>
                  <a:pt x="202301" y="258945"/>
                </a:cubicBezTo>
                <a:cubicBezTo>
                  <a:pt x="204998" y="267037"/>
                  <a:pt x="202764" y="279406"/>
                  <a:pt x="210393" y="283221"/>
                </a:cubicBezTo>
                <a:cubicBezTo>
                  <a:pt x="218022" y="287036"/>
                  <a:pt x="232715" y="283432"/>
                  <a:pt x="234669" y="275129"/>
                </a:cubicBezTo>
                <a:cubicBezTo>
                  <a:pt x="244573" y="233037"/>
                  <a:pt x="238234" y="188660"/>
                  <a:pt x="242761" y="145656"/>
                </a:cubicBezTo>
                <a:cubicBezTo>
                  <a:pt x="243654" y="137173"/>
                  <a:pt x="248156" y="129472"/>
                  <a:pt x="250853" y="121380"/>
                </a:cubicBezTo>
                <a:cubicBezTo>
                  <a:pt x="258945" y="126775"/>
                  <a:pt x="270780" y="146263"/>
                  <a:pt x="275129" y="137564"/>
                </a:cubicBezTo>
                <a:cubicBezTo>
                  <a:pt x="282467" y="122889"/>
                  <a:pt x="267037" y="105419"/>
                  <a:pt x="267037" y="89012"/>
                </a:cubicBezTo>
                <a:cubicBezTo>
                  <a:pt x="267037" y="2585"/>
                  <a:pt x="252226" y="15726"/>
                  <a:pt x="299405" y="0"/>
                </a:cubicBezTo>
                <a:cubicBezTo>
                  <a:pt x="304800" y="8092"/>
                  <a:pt x="313030" y="14893"/>
                  <a:pt x="315589" y="24276"/>
                </a:cubicBezTo>
                <a:cubicBezTo>
                  <a:pt x="321311" y="45256"/>
                  <a:pt x="319791" y="67616"/>
                  <a:pt x="323681" y="89012"/>
                </a:cubicBezTo>
                <a:cubicBezTo>
                  <a:pt x="325207" y="97404"/>
                  <a:pt x="329704" y="105013"/>
                  <a:pt x="331773" y="113288"/>
                </a:cubicBezTo>
                <a:cubicBezTo>
                  <a:pt x="335109" y="126631"/>
                  <a:pt x="334447" y="141106"/>
                  <a:pt x="339865" y="153748"/>
                </a:cubicBezTo>
                <a:cubicBezTo>
                  <a:pt x="342870" y="160761"/>
                  <a:pt x="350654" y="164538"/>
                  <a:pt x="356049" y="169933"/>
                </a:cubicBezTo>
                <a:cubicBezTo>
                  <a:pt x="376572" y="272550"/>
                  <a:pt x="349070" y="161741"/>
                  <a:pt x="380325" y="234669"/>
                </a:cubicBezTo>
                <a:cubicBezTo>
                  <a:pt x="388394" y="253498"/>
                  <a:pt x="392493" y="299524"/>
                  <a:pt x="396509" y="315589"/>
                </a:cubicBezTo>
                <a:cubicBezTo>
                  <a:pt x="400647" y="332139"/>
                  <a:pt x="412694" y="364141"/>
                  <a:pt x="412694" y="364141"/>
                </a:cubicBezTo>
                <a:cubicBezTo>
                  <a:pt x="443499" y="271725"/>
                  <a:pt x="403537" y="399070"/>
                  <a:pt x="428878" y="145656"/>
                </a:cubicBezTo>
                <a:cubicBezTo>
                  <a:pt x="430575" y="128681"/>
                  <a:pt x="445062" y="97104"/>
                  <a:pt x="445062" y="97104"/>
                </a:cubicBezTo>
                <a:cubicBezTo>
                  <a:pt x="450457" y="113288"/>
                  <a:pt x="457109" y="129106"/>
                  <a:pt x="461246" y="145656"/>
                </a:cubicBezTo>
                <a:cubicBezTo>
                  <a:pt x="471407" y="186300"/>
                  <a:pt x="465821" y="167474"/>
                  <a:pt x="477430" y="202301"/>
                </a:cubicBezTo>
                <a:cubicBezTo>
                  <a:pt x="480127" y="242761"/>
                  <a:pt x="476726" y="284097"/>
                  <a:pt x="485522" y="323681"/>
                </a:cubicBezTo>
                <a:cubicBezTo>
                  <a:pt x="488005" y="334852"/>
                  <a:pt x="503450" y="338435"/>
                  <a:pt x="509798" y="347957"/>
                </a:cubicBezTo>
                <a:cubicBezTo>
                  <a:pt x="519835" y="363012"/>
                  <a:pt x="525287" y="380692"/>
                  <a:pt x="534074" y="396509"/>
                </a:cubicBezTo>
                <a:cubicBezTo>
                  <a:pt x="538797" y="405011"/>
                  <a:pt x="542011" y="415631"/>
                  <a:pt x="550258" y="420786"/>
                </a:cubicBezTo>
                <a:cubicBezTo>
                  <a:pt x="564724" y="429828"/>
                  <a:pt x="598810" y="436970"/>
                  <a:pt x="598810" y="436970"/>
                </a:cubicBezTo>
                <a:cubicBezTo>
                  <a:pt x="604205" y="428878"/>
                  <a:pt x="610645" y="421393"/>
                  <a:pt x="614994" y="412694"/>
                </a:cubicBezTo>
                <a:cubicBezTo>
                  <a:pt x="620798" y="401086"/>
                  <a:pt x="628586" y="366418"/>
                  <a:pt x="631178" y="356049"/>
                </a:cubicBezTo>
                <a:cubicBezTo>
                  <a:pt x="651628" y="417397"/>
                  <a:pt x="637127" y="390954"/>
                  <a:pt x="671639" y="436970"/>
                </a:cubicBezTo>
                <a:cubicBezTo>
                  <a:pt x="678729" y="458239"/>
                  <a:pt x="681235" y="481113"/>
                  <a:pt x="712099" y="485522"/>
                </a:cubicBezTo>
                <a:cubicBezTo>
                  <a:pt x="721727" y="486897"/>
                  <a:pt x="728283" y="474733"/>
                  <a:pt x="736375" y="469338"/>
                </a:cubicBezTo>
                <a:cubicBezTo>
                  <a:pt x="794153" y="488597"/>
                  <a:pt x="770733" y="476059"/>
                  <a:pt x="809203" y="501706"/>
                </a:cubicBezTo>
                <a:cubicBezTo>
                  <a:pt x="884385" y="482910"/>
                  <a:pt x="790920" y="501706"/>
                  <a:pt x="890124" y="501706"/>
                </a:cubicBezTo>
                <a:cubicBezTo>
                  <a:pt x="997172" y="501706"/>
                  <a:pt x="881427" y="491907"/>
                  <a:pt x="954860" y="485522"/>
                </a:cubicBezTo>
                <a:cubicBezTo>
                  <a:pt x="1008671" y="480843"/>
                  <a:pt x="1062754" y="480127"/>
                  <a:pt x="1116701" y="477430"/>
                </a:cubicBezTo>
                <a:cubicBezTo>
                  <a:pt x="1124793" y="469338"/>
                  <a:pt x="1137358" y="464011"/>
                  <a:pt x="1140977" y="453154"/>
                </a:cubicBezTo>
                <a:cubicBezTo>
                  <a:pt x="1148084" y="431834"/>
                  <a:pt x="1104952" y="410256"/>
                  <a:pt x="1157161" y="445062"/>
                </a:cubicBezTo>
                <a:cubicBezTo>
                  <a:pt x="1165253" y="442365"/>
                  <a:pt x="1173808" y="440785"/>
                  <a:pt x="1181437" y="436970"/>
                </a:cubicBezTo>
                <a:cubicBezTo>
                  <a:pt x="1190136" y="432621"/>
                  <a:pt x="1196487" y="423861"/>
                  <a:pt x="1205713" y="420786"/>
                </a:cubicBezTo>
                <a:cubicBezTo>
                  <a:pt x="1221278" y="415598"/>
                  <a:pt x="1238248" y="416253"/>
                  <a:pt x="1254265" y="412694"/>
                </a:cubicBezTo>
                <a:cubicBezTo>
                  <a:pt x="1262592" y="410844"/>
                  <a:pt x="1270449" y="407299"/>
                  <a:pt x="1278541" y="404602"/>
                </a:cubicBezTo>
                <a:lnTo>
                  <a:pt x="1286633" y="380325"/>
                </a:ln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sp>
        <p:nvSpPr>
          <p:cNvPr id="6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9138879" y="2770469"/>
            <a:ext cx="1657820" cy="855318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86669" h="590549">
                <a:moveTo>
                  <a:pt x="0" y="576262"/>
                </a:moveTo>
                <a:cubicBezTo>
                  <a:pt x="42862" y="583405"/>
                  <a:pt x="85725" y="590549"/>
                  <a:pt x="114300" y="566737"/>
                </a:cubicBezTo>
                <a:cubicBezTo>
                  <a:pt x="142875" y="542925"/>
                  <a:pt x="155575" y="492124"/>
                  <a:pt x="171450" y="433387"/>
                </a:cubicBezTo>
                <a:cubicBezTo>
                  <a:pt x="187325" y="374650"/>
                  <a:pt x="195263" y="282574"/>
                  <a:pt x="209550" y="214312"/>
                </a:cubicBezTo>
                <a:cubicBezTo>
                  <a:pt x="223837" y="146050"/>
                  <a:pt x="234950" y="0"/>
                  <a:pt x="257175" y="23812"/>
                </a:cubicBezTo>
                <a:cubicBezTo>
                  <a:pt x="279400" y="47624"/>
                  <a:pt x="317500" y="330200"/>
                  <a:pt x="342900" y="357187"/>
                </a:cubicBezTo>
                <a:cubicBezTo>
                  <a:pt x="368300" y="384175"/>
                  <a:pt x="384175" y="174625"/>
                  <a:pt x="409575" y="185737"/>
                </a:cubicBezTo>
                <a:cubicBezTo>
                  <a:pt x="434975" y="196849"/>
                  <a:pt x="471488" y="381000"/>
                  <a:pt x="495300" y="423862"/>
                </a:cubicBezTo>
                <a:cubicBezTo>
                  <a:pt x="519113" y="466725"/>
                  <a:pt x="533400" y="442912"/>
                  <a:pt x="552450" y="442912"/>
                </a:cubicBezTo>
                <a:cubicBezTo>
                  <a:pt x="571500" y="442912"/>
                  <a:pt x="571500" y="403225"/>
                  <a:pt x="609600" y="423862"/>
                </a:cubicBezTo>
                <a:cubicBezTo>
                  <a:pt x="647700" y="444499"/>
                  <a:pt x="668205" y="554233"/>
                  <a:pt x="781050" y="566737"/>
                </a:cubicBezTo>
                <a:cubicBezTo>
                  <a:pt x="893895" y="579241"/>
                  <a:pt x="1133475" y="575607"/>
                  <a:pt x="1286669" y="498884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cxnSp>
        <p:nvCxnSpPr>
          <p:cNvPr id="7" name="Connettore 2 6"/>
          <p:cNvCxnSpPr/>
          <p:nvPr/>
        </p:nvCxnSpPr>
        <p:spPr>
          <a:xfrm flipV="1">
            <a:off x="2923034" y="3887292"/>
            <a:ext cx="159518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 flipV="1">
            <a:off x="7701576" y="3853202"/>
            <a:ext cx="159518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2273968" y="2326135"/>
            <a:ext cx="181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Noisy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signal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8881310" y="2329158"/>
            <a:ext cx="181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Clean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signal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11" name="Segnaposto contenuto 2"/>
          <p:cNvSpPr txBox="1">
            <a:spLocks/>
          </p:cNvSpPr>
          <p:nvPr/>
        </p:nvSpPr>
        <p:spPr>
          <a:xfrm>
            <a:off x="428172" y="4910776"/>
            <a:ext cx="5479333" cy="1153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latin typeface="Aptos" panose="020B0004020202020204" pitchFamily="34" charset="0"/>
              </a:rPr>
              <a:t>Non-causal filters</a:t>
            </a:r>
            <a:r>
              <a:rPr lang="en-US" dirty="0">
                <a:latin typeface="Aptos" panose="020B0004020202020204" pitchFamily="34" charset="0"/>
              </a:rPr>
              <a:t>: the filter output depends on past and future inputs </a:t>
            </a:r>
            <a:r>
              <a:rPr lang="en-US" dirty="0">
                <a:latin typeface="Aptos" panose="020B0004020202020204" pitchFamily="34" charset="0"/>
                <a:sym typeface="Wingdings" panose="05000000000000000000" pitchFamily="2" charset="2"/>
              </a:rPr>
              <a:t> for </a:t>
            </a:r>
            <a:r>
              <a:rPr lang="en-US" u="sng" dirty="0">
                <a:latin typeface="Aptos" panose="020B0004020202020204" pitchFamily="34" charset="0"/>
                <a:sym typeface="Wingdings" panose="05000000000000000000" pitchFamily="2" charset="2"/>
              </a:rPr>
              <a:t>offline</a:t>
            </a:r>
            <a:r>
              <a:rPr lang="en-US" dirty="0">
                <a:latin typeface="Aptos" panose="020B0004020202020204" pitchFamily="34" charset="0"/>
                <a:sym typeface="Wingdings" panose="05000000000000000000" pitchFamily="2" charset="2"/>
              </a:rPr>
              <a:t> use only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Segnaposto contenuto 2"/>
          <p:cNvSpPr txBox="1">
            <a:spLocks/>
          </p:cNvSpPr>
          <p:nvPr/>
        </p:nvSpPr>
        <p:spPr>
          <a:xfrm>
            <a:off x="6715897" y="4910776"/>
            <a:ext cx="5362833" cy="1462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latin typeface="Aptos" panose="020B0004020202020204" pitchFamily="34" charset="0"/>
              </a:rPr>
              <a:t>Causal filte</a:t>
            </a:r>
            <a:r>
              <a:rPr lang="en-US" dirty="0">
                <a:latin typeface="Aptos" panose="020B0004020202020204" pitchFamily="34" charset="0"/>
              </a:rPr>
              <a:t>rs: </a:t>
            </a:r>
            <a:r>
              <a:rPr lang="en-GB" dirty="0">
                <a:latin typeface="Aptos" panose="020B0004020202020204" pitchFamily="34" charset="0"/>
              </a:rPr>
              <a:t>the filter output depends only on past and present inputs </a:t>
            </a:r>
            <a:r>
              <a:rPr lang="en-GB" dirty="0">
                <a:latin typeface="Aptos" panose="020B0004020202020204" pitchFamily="34" charset="0"/>
                <a:sym typeface="Wingdings" panose="05000000000000000000" pitchFamily="2" charset="2"/>
              </a:rPr>
              <a:t> suitable for </a:t>
            </a:r>
            <a:r>
              <a:rPr lang="en-GB" u="sng" dirty="0">
                <a:latin typeface="Aptos" panose="020B0004020202020204" pitchFamily="34" charset="0"/>
                <a:sym typeface="Wingdings" panose="05000000000000000000" pitchFamily="2" charset="2"/>
              </a:rPr>
              <a:t>online</a:t>
            </a:r>
            <a:r>
              <a:rPr lang="en-GB" dirty="0">
                <a:latin typeface="Aptos" panose="020B0004020202020204" pitchFamily="34" charset="0"/>
                <a:sym typeface="Wingdings" panose="05000000000000000000" pitchFamily="2" charset="2"/>
              </a:rPr>
              <a:t> application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Segnaposto numero diapositiva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503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Fault </a:t>
            </a:r>
            <a:r>
              <a:rPr lang="it-IT" dirty="0" err="1"/>
              <a:t>detection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455727"/>
            <a:ext cx="5966550" cy="1561297"/>
          </a:xfrm>
        </p:spPr>
        <p:txBody>
          <a:bodyPr>
            <a:normAutofit/>
          </a:bodyPr>
          <a:lstStyle/>
          <a:p>
            <a:r>
              <a:rPr lang="en-US" dirty="0"/>
              <a:t>Detection of temporary sensor errors also called faults or artifacts</a:t>
            </a:r>
          </a:p>
          <a:p>
            <a:r>
              <a:rPr lang="en-US" dirty="0"/>
              <a:t>Example: pressure-induced signal suppression in a CGM signal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8512862" y="6359787"/>
            <a:ext cx="3185886" cy="365125"/>
          </a:xfrm>
        </p:spPr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  <p:grpSp>
        <p:nvGrpSpPr>
          <p:cNvPr id="7" name="Gruppo 6"/>
          <p:cNvGrpSpPr/>
          <p:nvPr/>
        </p:nvGrpSpPr>
        <p:grpSpPr>
          <a:xfrm>
            <a:off x="6366527" y="1211717"/>
            <a:ext cx="4096376" cy="2945663"/>
            <a:chOff x="3832329" y="2592806"/>
            <a:chExt cx="4560000" cy="3194384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9980C7DD-8EB6-41C0-8D33-09CA68DFEF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597"/>
            <a:stretch/>
          </p:blipFill>
          <p:spPr>
            <a:xfrm>
              <a:off x="3832329" y="2592806"/>
              <a:ext cx="4560000" cy="3194384"/>
            </a:xfrm>
            <a:prstGeom prst="rect">
              <a:avLst/>
            </a:prstGeom>
          </p:spPr>
        </p:pic>
        <p:sp>
          <p:nvSpPr>
            <p:cNvPr id="6" name="Rettangolo 5"/>
            <p:cNvSpPr/>
            <p:nvPr/>
          </p:nvSpPr>
          <p:spPr>
            <a:xfrm>
              <a:off x="7531768" y="5630779"/>
              <a:ext cx="553453" cy="1564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ptos" panose="020B0004020202020204" pitchFamily="34" charset="0"/>
              </a:endParaRPr>
            </a:p>
          </p:txBody>
        </p:sp>
      </p:grpSp>
      <p:sp>
        <p:nvSpPr>
          <p:cNvPr id="8" name="Rettangolo 7"/>
          <p:cNvSpPr/>
          <p:nvPr/>
        </p:nvSpPr>
        <p:spPr>
          <a:xfrm>
            <a:off x="2514860" y="4934928"/>
            <a:ext cx="1894608" cy="1359568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Fault </a:t>
            </a:r>
            <a:r>
              <a:rPr lang="it-IT" dirty="0" err="1">
                <a:latin typeface="Aptos" panose="020B0004020202020204" pitchFamily="34" charset="0"/>
              </a:rPr>
              <a:t>detection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algorithm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10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428172" y="4692824"/>
            <a:ext cx="1730010" cy="867919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42697" h="599249">
                <a:moveTo>
                  <a:pt x="0" y="552774"/>
                </a:moveTo>
                <a:cubicBezTo>
                  <a:pt x="42862" y="559917"/>
                  <a:pt x="85725" y="567061"/>
                  <a:pt x="114300" y="543249"/>
                </a:cubicBezTo>
                <a:cubicBezTo>
                  <a:pt x="142875" y="519437"/>
                  <a:pt x="155575" y="468636"/>
                  <a:pt x="171450" y="409899"/>
                </a:cubicBezTo>
                <a:cubicBezTo>
                  <a:pt x="187325" y="351162"/>
                  <a:pt x="195263" y="259086"/>
                  <a:pt x="209550" y="190824"/>
                </a:cubicBezTo>
                <a:cubicBezTo>
                  <a:pt x="223837" y="122562"/>
                  <a:pt x="232616" y="7663"/>
                  <a:pt x="257175" y="324"/>
                </a:cubicBezTo>
                <a:cubicBezTo>
                  <a:pt x="281735" y="-7015"/>
                  <a:pt x="326060" y="112187"/>
                  <a:pt x="356907" y="146789"/>
                </a:cubicBezTo>
                <a:cubicBezTo>
                  <a:pt x="387754" y="181392"/>
                  <a:pt x="408298" y="184366"/>
                  <a:pt x="442258" y="207939"/>
                </a:cubicBezTo>
                <a:cubicBezTo>
                  <a:pt x="476218" y="231512"/>
                  <a:pt x="539188" y="244673"/>
                  <a:pt x="560666" y="288228"/>
                </a:cubicBezTo>
                <a:cubicBezTo>
                  <a:pt x="582144" y="331783"/>
                  <a:pt x="548185" y="465806"/>
                  <a:pt x="571126" y="469267"/>
                </a:cubicBezTo>
                <a:cubicBezTo>
                  <a:pt x="594067" y="472728"/>
                  <a:pt x="622860" y="291128"/>
                  <a:pt x="698312" y="308996"/>
                </a:cubicBezTo>
                <a:cubicBezTo>
                  <a:pt x="773764" y="326864"/>
                  <a:pt x="910992" y="563974"/>
                  <a:pt x="1023837" y="576478"/>
                </a:cubicBezTo>
                <a:cubicBezTo>
                  <a:pt x="1136682" y="588982"/>
                  <a:pt x="1189503" y="631037"/>
                  <a:pt x="1342697" y="554314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cxnSp>
        <p:nvCxnSpPr>
          <p:cNvPr id="11" name="Connettore 2 10"/>
          <p:cNvCxnSpPr/>
          <p:nvPr/>
        </p:nvCxnSpPr>
        <p:spPr>
          <a:xfrm flipV="1">
            <a:off x="919671" y="5652935"/>
            <a:ext cx="159518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/>
          <p:cNvCxnSpPr>
            <a:stCxn id="8" idx="3"/>
            <a:endCxn id="15" idx="1"/>
          </p:cNvCxnSpPr>
          <p:nvPr/>
        </p:nvCxnSpPr>
        <p:spPr>
          <a:xfrm flipV="1">
            <a:off x="4409468" y="5594361"/>
            <a:ext cx="2489063" cy="2035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43724" y="4192755"/>
            <a:ext cx="254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Measured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signal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9071189" y="4192755"/>
            <a:ext cx="281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Reconstructed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signal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5" name="Rettangolo 14"/>
          <p:cNvSpPr/>
          <p:nvPr/>
        </p:nvSpPr>
        <p:spPr>
          <a:xfrm>
            <a:off x="6898531" y="4914577"/>
            <a:ext cx="2490537" cy="1359568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>
                <a:latin typeface="Aptos" panose="020B0004020202020204" pitchFamily="34" charset="0"/>
              </a:rPr>
              <a:t>Signal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reconstruction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algorithm</a:t>
            </a:r>
            <a:r>
              <a:rPr lang="it-IT" dirty="0">
                <a:latin typeface="Aptos" panose="020B0004020202020204" pitchFamily="34" charset="0"/>
              </a:rPr>
              <a:t> </a:t>
            </a:r>
          </a:p>
          <a:p>
            <a:pPr algn="ctr"/>
            <a:r>
              <a:rPr lang="it-IT" dirty="0">
                <a:latin typeface="Aptos" panose="020B0004020202020204" pitchFamily="34" charset="0"/>
              </a:rPr>
              <a:t>(e.g. </a:t>
            </a:r>
            <a:r>
              <a:rPr lang="it-IT" dirty="0" err="1">
                <a:latin typeface="Aptos" panose="020B0004020202020204" pitchFamily="34" charset="0"/>
              </a:rPr>
              <a:t>interpolation</a:t>
            </a:r>
            <a:r>
              <a:rPr lang="it-IT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21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4681679" y="4654676"/>
            <a:ext cx="722395" cy="810547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023837"/>
              <a:gd name="connsiteY0" fmla="*/ 552774 h 576478"/>
              <a:gd name="connsiteX1" fmla="*/ 114300 w 1023837"/>
              <a:gd name="connsiteY1" fmla="*/ 543249 h 576478"/>
              <a:gd name="connsiteX2" fmla="*/ 171450 w 1023837"/>
              <a:gd name="connsiteY2" fmla="*/ 409899 h 576478"/>
              <a:gd name="connsiteX3" fmla="*/ 209550 w 1023837"/>
              <a:gd name="connsiteY3" fmla="*/ 190824 h 576478"/>
              <a:gd name="connsiteX4" fmla="*/ 257175 w 1023837"/>
              <a:gd name="connsiteY4" fmla="*/ 324 h 576478"/>
              <a:gd name="connsiteX5" fmla="*/ 356907 w 1023837"/>
              <a:gd name="connsiteY5" fmla="*/ 146789 h 576478"/>
              <a:gd name="connsiteX6" fmla="*/ 442258 w 1023837"/>
              <a:gd name="connsiteY6" fmla="*/ 207939 h 576478"/>
              <a:gd name="connsiteX7" fmla="*/ 560666 w 1023837"/>
              <a:gd name="connsiteY7" fmla="*/ 288228 h 576478"/>
              <a:gd name="connsiteX8" fmla="*/ 571126 w 1023837"/>
              <a:gd name="connsiteY8" fmla="*/ 469267 h 576478"/>
              <a:gd name="connsiteX9" fmla="*/ 698312 w 1023837"/>
              <a:gd name="connsiteY9" fmla="*/ 308996 h 576478"/>
              <a:gd name="connsiteX10" fmla="*/ 1023837 w 1023837"/>
              <a:gd name="connsiteY10" fmla="*/ 576478 h 576478"/>
              <a:gd name="connsiteX0" fmla="*/ 0 w 698312"/>
              <a:gd name="connsiteY0" fmla="*/ 552774 h 559637"/>
              <a:gd name="connsiteX1" fmla="*/ 114300 w 698312"/>
              <a:gd name="connsiteY1" fmla="*/ 543249 h 559637"/>
              <a:gd name="connsiteX2" fmla="*/ 171450 w 698312"/>
              <a:gd name="connsiteY2" fmla="*/ 409899 h 559637"/>
              <a:gd name="connsiteX3" fmla="*/ 209550 w 698312"/>
              <a:gd name="connsiteY3" fmla="*/ 190824 h 559637"/>
              <a:gd name="connsiteX4" fmla="*/ 257175 w 698312"/>
              <a:gd name="connsiteY4" fmla="*/ 324 h 559637"/>
              <a:gd name="connsiteX5" fmla="*/ 356907 w 698312"/>
              <a:gd name="connsiteY5" fmla="*/ 146789 h 559637"/>
              <a:gd name="connsiteX6" fmla="*/ 442258 w 698312"/>
              <a:gd name="connsiteY6" fmla="*/ 207939 h 559637"/>
              <a:gd name="connsiteX7" fmla="*/ 560666 w 698312"/>
              <a:gd name="connsiteY7" fmla="*/ 288228 h 559637"/>
              <a:gd name="connsiteX8" fmla="*/ 571126 w 698312"/>
              <a:gd name="connsiteY8" fmla="*/ 469267 h 559637"/>
              <a:gd name="connsiteX9" fmla="*/ 698312 w 698312"/>
              <a:gd name="connsiteY9" fmla="*/ 308996 h 559637"/>
              <a:gd name="connsiteX0" fmla="*/ 0 w 571126"/>
              <a:gd name="connsiteY0" fmla="*/ 552774 h 559637"/>
              <a:gd name="connsiteX1" fmla="*/ 114300 w 571126"/>
              <a:gd name="connsiteY1" fmla="*/ 543249 h 559637"/>
              <a:gd name="connsiteX2" fmla="*/ 171450 w 571126"/>
              <a:gd name="connsiteY2" fmla="*/ 409899 h 559637"/>
              <a:gd name="connsiteX3" fmla="*/ 209550 w 571126"/>
              <a:gd name="connsiteY3" fmla="*/ 190824 h 559637"/>
              <a:gd name="connsiteX4" fmla="*/ 257175 w 571126"/>
              <a:gd name="connsiteY4" fmla="*/ 324 h 559637"/>
              <a:gd name="connsiteX5" fmla="*/ 356907 w 571126"/>
              <a:gd name="connsiteY5" fmla="*/ 146789 h 559637"/>
              <a:gd name="connsiteX6" fmla="*/ 442258 w 571126"/>
              <a:gd name="connsiteY6" fmla="*/ 207939 h 559637"/>
              <a:gd name="connsiteX7" fmla="*/ 560666 w 571126"/>
              <a:gd name="connsiteY7" fmla="*/ 288228 h 559637"/>
              <a:gd name="connsiteX8" fmla="*/ 571126 w 571126"/>
              <a:gd name="connsiteY8" fmla="*/ 469267 h 559637"/>
              <a:gd name="connsiteX0" fmla="*/ 0 w 560666"/>
              <a:gd name="connsiteY0" fmla="*/ 552774 h 559637"/>
              <a:gd name="connsiteX1" fmla="*/ 114300 w 560666"/>
              <a:gd name="connsiteY1" fmla="*/ 543249 h 559637"/>
              <a:gd name="connsiteX2" fmla="*/ 171450 w 560666"/>
              <a:gd name="connsiteY2" fmla="*/ 409899 h 559637"/>
              <a:gd name="connsiteX3" fmla="*/ 209550 w 560666"/>
              <a:gd name="connsiteY3" fmla="*/ 190824 h 559637"/>
              <a:gd name="connsiteX4" fmla="*/ 257175 w 560666"/>
              <a:gd name="connsiteY4" fmla="*/ 324 h 559637"/>
              <a:gd name="connsiteX5" fmla="*/ 356907 w 560666"/>
              <a:gd name="connsiteY5" fmla="*/ 146789 h 559637"/>
              <a:gd name="connsiteX6" fmla="*/ 442258 w 560666"/>
              <a:gd name="connsiteY6" fmla="*/ 207939 h 559637"/>
              <a:gd name="connsiteX7" fmla="*/ 560666 w 560666"/>
              <a:gd name="connsiteY7" fmla="*/ 288228 h 55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666" h="559637">
                <a:moveTo>
                  <a:pt x="0" y="552774"/>
                </a:moveTo>
                <a:cubicBezTo>
                  <a:pt x="42862" y="559917"/>
                  <a:pt x="85725" y="567061"/>
                  <a:pt x="114300" y="543249"/>
                </a:cubicBezTo>
                <a:cubicBezTo>
                  <a:pt x="142875" y="519437"/>
                  <a:pt x="155575" y="468636"/>
                  <a:pt x="171450" y="409899"/>
                </a:cubicBezTo>
                <a:cubicBezTo>
                  <a:pt x="187325" y="351162"/>
                  <a:pt x="195263" y="259086"/>
                  <a:pt x="209550" y="190824"/>
                </a:cubicBezTo>
                <a:cubicBezTo>
                  <a:pt x="223837" y="122562"/>
                  <a:pt x="232616" y="7663"/>
                  <a:pt x="257175" y="324"/>
                </a:cubicBezTo>
                <a:cubicBezTo>
                  <a:pt x="281735" y="-7015"/>
                  <a:pt x="326060" y="112187"/>
                  <a:pt x="356907" y="146789"/>
                </a:cubicBezTo>
                <a:cubicBezTo>
                  <a:pt x="387754" y="181392"/>
                  <a:pt x="408298" y="184366"/>
                  <a:pt x="442258" y="207939"/>
                </a:cubicBezTo>
                <a:cubicBezTo>
                  <a:pt x="476218" y="231512"/>
                  <a:pt x="539188" y="244673"/>
                  <a:pt x="560666" y="288228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sp>
        <p:nvSpPr>
          <p:cNvPr id="22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5564458" y="5106062"/>
            <a:ext cx="830264" cy="420387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228397"/>
              <a:gd name="connsiteY0" fmla="*/ 543249 h 599249"/>
              <a:gd name="connsiteX1" fmla="*/ 57150 w 1228397"/>
              <a:gd name="connsiteY1" fmla="*/ 409899 h 599249"/>
              <a:gd name="connsiteX2" fmla="*/ 95250 w 1228397"/>
              <a:gd name="connsiteY2" fmla="*/ 190824 h 599249"/>
              <a:gd name="connsiteX3" fmla="*/ 142875 w 1228397"/>
              <a:gd name="connsiteY3" fmla="*/ 324 h 599249"/>
              <a:gd name="connsiteX4" fmla="*/ 242607 w 1228397"/>
              <a:gd name="connsiteY4" fmla="*/ 146789 h 599249"/>
              <a:gd name="connsiteX5" fmla="*/ 327958 w 1228397"/>
              <a:gd name="connsiteY5" fmla="*/ 207939 h 599249"/>
              <a:gd name="connsiteX6" fmla="*/ 446366 w 1228397"/>
              <a:gd name="connsiteY6" fmla="*/ 288228 h 599249"/>
              <a:gd name="connsiteX7" fmla="*/ 456826 w 1228397"/>
              <a:gd name="connsiteY7" fmla="*/ 469267 h 599249"/>
              <a:gd name="connsiteX8" fmla="*/ 584012 w 1228397"/>
              <a:gd name="connsiteY8" fmla="*/ 308996 h 599249"/>
              <a:gd name="connsiteX9" fmla="*/ 909537 w 1228397"/>
              <a:gd name="connsiteY9" fmla="*/ 576478 h 599249"/>
              <a:gd name="connsiteX10" fmla="*/ 1228397 w 1228397"/>
              <a:gd name="connsiteY10" fmla="*/ 554314 h 599249"/>
              <a:gd name="connsiteX0" fmla="*/ 0 w 1171247"/>
              <a:gd name="connsiteY0" fmla="*/ 409899 h 599249"/>
              <a:gd name="connsiteX1" fmla="*/ 38100 w 1171247"/>
              <a:gd name="connsiteY1" fmla="*/ 190824 h 599249"/>
              <a:gd name="connsiteX2" fmla="*/ 85725 w 1171247"/>
              <a:gd name="connsiteY2" fmla="*/ 324 h 599249"/>
              <a:gd name="connsiteX3" fmla="*/ 185457 w 1171247"/>
              <a:gd name="connsiteY3" fmla="*/ 146789 h 599249"/>
              <a:gd name="connsiteX4" fmla="*/ 270808 w 1171247"/>
              <a:gd name="connsiteY4" fmla="*/ 207939 h 599249"/>
              <a:gd name="connsiteX5" fmla="*/ 389216 w 1171247"/>
              <a:gd name="connsiteY5" fmla="*/ 288228 h 599249"/>
              <a:gd name="connsiteX6" fmla="*/ 399676 w 1171247"/>
              <a:gd name="connsiteY6" fmla="*/ 469267 h 599249"/>
              <a:gd name="connsiteX7" fmla="*/ 526862 w 1171247"/>
              <a:gd name="connsiteY7" fmla="*/ 308996 h 599249"/>
              <a:gd name="connsiteX8" fmla="*/ 852387 w 1171247"/>
              <a:gd name="connsiteY8" fmla="*/ 576478 h 599249"/>
              <a:gd name="connsiteX9" fmla="*/ 1171247 w 1171247"/>
              <a:gd name="connsiteY9" fmla="*/ 554314 h 599249"/>
              <a:gd name="connsiteX0" fmla="*/ 0 w 1133147"/>
              <a:gd name="connsiteY0" fmla="*/ 190824 h 599249"/>
              <a:gd name="connsiteX1" fmla="*/ 47625 w 1133147"/>
              <a:gd name="connsiteY1" fmla="*/ 324 h 599249"/>
              <a:gd name="connsiteX2" fmla="*/ 147357 w 1133147"/>
              <a:gd name="connsiteY2" fmla="*/ 146789 h 599249"/>
              <a:gd name="connsiteX3" fmla="*/ 232708 w 1133147"/>
              <a:gd name="connsiteY3" fmla="*/ 207939 h 599249"/>
              <a:gd name="connsiteX4" fmla="*/ 351116 w 1133147"/>
              <a:gd name="connsiteY4" fmla="*/ 288228 h 599249"/>
              <a:gd name="connsiteX5" fmla="*/ 361576 w 1133147"/>
              <a:gd name="connsiteY5" fmla="*/ 469267 h 599249"/>
              <a:gd name="connsiteX6" fmla="*/ 488762 w 1133147"/>
              <a:gd name="connsiteY6" fmla="*/ 308996 h 599249"/>
              <a:gd name="connsiteX7" fmla="*/ 814287 w 1133147"/>
              <a:gd name="connsiteY7" fmla="*/ 576478 h 599249"/>
              <a:gd name="connsiteX8" fmla="*/ 1133147 w 1133147"/>
              <a:gd name="connsiteY8" fmla="*/ 554314 h 599249"/>
              <a:gd name="connsiteX0" fmla="*/ 0 w 1085522"/>
              <a:gd name="connsiteY0" fmla="*/ 324 h 599249"/>
              <a:gd name="connsiteX1" fmla="*/ 99732 w 1085522"/>
              <a:gd name="connsiteY1" fmla="*/ 146789 h 599249"/>
              <a:gd name="connsiteX2" fmla="*/ 185083 w 1085522"/>
              <a:gd name="connsiteY2" fmla="*/ 207939 h 599249"/>
              <a:gd name="connsiteX3" fmla="*/ 303491 w 1085522"/>
              <a:gd name="connsiteY3" fmla="*/ 288228 h 599249"/>
              <a:gd name="connsiteX4" fmla="*/ 313951 w 1085522"/>
              <a:gd name="connsiteY4" fmla="*/ 469267 h 599249"/>
              <a:gd name="connsiteX5" fmla="*/ 441137 w 1085522"/>
              <a:gd name="connsiteY5" fmla="*/ 308996 h 599249"/>
              <a:gd name="connsiteX6" fmla="*/ 766662 w 1085522"/>
              <a:gd name="connsiteY6" fmla="*/ 576478 h 599249"/>
              <a:gd name="connsiteX7" fmla="*/ 1085522 w 1085522"/>
              <a:gd name="connsiteY7" fmla="*/ 554314 h 599249"/>
              <a:gd name="connsiteX0" fmla="*/ 0 w 985790"/>
              <a:gd name="connsiteY0" fmla="*/ 0 h 452460"/>
              <a:gd name="connsiteX1" fmla="*/ 85351 w 985790"/>
              <a:gd name="connsiteY1" fmla="*/ 61150 h 452460"/>
              <a:gd name="connsiteX2" fmla="*/ 203759 w 985790"/>
              <a:gd name="connsiteY2" fmla="*/ 141439 h 452460"/>
              <a:gd name="connsiteX3" fmla="*/ 214219 w 985790"/>
              <a:gd name="connsiteY3" fmla="*/ 322478 h 452460"/>
              <a:gd name="connsiteX4" fmla="*/ 341405 w 985790"/>
              <a:gd name="connsiteY4" fmla="*/ 162207 h 452460"/>
              <a:gd name="connsiteX5" fmla="*/ 666930 w 985790"/>
              <a:gd name="connsiteY5" fmla="*/ 429689 h 452460"/>
              <a:gd name="connsiteX6" fmla="*/ 985790 w 985790"/>
              <a:gd name="connsiteY6" fmla="*/ 407525 h 452460"/>
              <a:gd name="connsiteX0" fmla="*/ 0 w 900439"/>
              <a:gd name="connsiteY0" fmla="*/ 0 h 391310"/>
              <a:gd name="connsiteX1" fmla="*/ 118408 w 900439"/>
              <a:gd name="connsiteY1" fmla="*/ 80289 h 391310"/>
              <a:gd name="connsiteX2" fmla="*/ 128868 w 900439"/>
              <a:gd name="connsiteY2" fmla="*/ 261328 h 391310"/>
              <a:gd name="connsiteX3" fmla="*/ 256054 w 900439"/>
              <a:gd name="connsiteY3" fmla="*/ 101057 h 391310"/>
              <a:gd name="connsiteX4" fmla="*/ 581579 w 900439"/>
              <a:gd name="connsiteY4" fmla="*/ 368539 h 391310"/>
              <a:gd name="connsiteX5" fmla="*/ 900439 w 900439"/>
              <a:gd name="connsiteY5" fmla="*/ 346375 h 391310"/>
              <a:gd name="connsiteX0" fmla="*/ 0 w 782031"/>
              <a:gd name="connsiteY0" fmla="*/ 0 h 311021"/>
              <a:gd name="connsiteX1" fmla="*/ 10460 w 782031"/>
              <a:gd name="connsiteY1" fmla="*/ 181039 h 311021"/>
              <a:gd name="connsiteX2" fmla="*/ 137646 w 782031"/>
              <a:gd name="connsiteY2" fmla="*/ 20768 h 311021"/>
              <a:gd name="connsiteX3" fmla="*/ 463171 w 782031"/>
              <a:gd name="connsiteY3" fmla="*/ 288250 h 311021"/>
              <a:gd name="connsiteX4" fmla="*/ 782031 w 782031"/>
              <a:gd name="connsiteY4" fmla="*/ 266086 h 311021"/>
              <a:gd name="connsiteX0" fmla="*/ 0 w 771571"/>
              <a:gd name="connsiteY0" fmla="*/ 161509 h 291491"/>
              <a:gd name="connsiteX1" fmla="*/ 127186 w 771571"/>
              <a:gd name="connsiteY1" fmla="*/ 1238 h 291491"/>
              <a:gd name="connsiteX2" fmla="*/ 452711 w 771571"/>
              <a:gd name="connsiteY2" fmla="*/ 268720 h 291491"/>
              <a:gd name="connsiteX3" fmla="*/ 771571 w 771571"/>
              <a:gd name="connsiteY3" fmla="*/ 246556 h 291491"/>
              <a:gd name="connsiteX0" fmla="*/ 0 w 644385"/>
              <a:gd name="connsiteY0" fmla="*/ 0 h 290253"/>
              <a:gd name="connsiteX1" fmla="*/ 325525 w 644385"/>
              <a:gd name="connsiteY1" fmla="*/ 267482 h 290253"/>
              <a:gd name="connsiteX2" fmla="*/ 644385 w 644385"/>
              <a:gd name="connsiteY2" fmla="*/ 245318 h 29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4385" h="290253">
                <a:moveTo>
                  <a:pt x="0" y="0"/>
                </a:moveTo>
                <a:cubicBezTo>
                  <a:pt x="75452" y="17868"/>
                  <a:pt x="212680" y="254978"/>
                  <a:pt x="325525" y="267482"/>
                </a:cubicBezTo>
                <a:cubicBezTo>
                  <a:pt x="438370" y="279986"/>
                  <a:pt x="491191" y="322041"/>
                  <a:pt x="644385" y="245318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4406171" y="4197704"/>
            <a:ext cx="298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Artifact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suppressed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25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9648161" y="4597462"/>
            <a:ext cx="722395" cy="810547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023837"/>
              <a:gd name="connsiteY0" fmla="*/ 552774 h 576478"/>
              <a:gd name="connsiteX1" fmla="*/ 114300 w 1023837"/>
              <a:gd name="connsiteY1" fmla="*/ 543249 h 576478"/>
              <a:gd name="connsiteX2" fmla="*/ 171450 w 1023837"/>
              <a:gd name="connsiteY2" fmla="*/ 409899 h 576478"/>
              <a:gd name="connsiteX3" fmla="*/ 209550 w 1023837"/>
              <a:gd name="connsiteY3" fmla="*/ 190824 h 576478"/>
              <a:gd name="connsiteX4" fmla="*/ 257175 w 1023837"/>
              <a:gd name="connsiteY4" fmla="*/ 324 h 576478"/>
              <a:gd name="connsiteX5" fmla="*/ 356907 w 1023837"/>
              <a:gd name="connsiteY5" fmla="*/ 146789 h 576478"/>
              <a:gd name="connsiteX6" fmla="*/ 442258 w 1023837"/>
              <a:gd name="connsiteY6" fmla="*/ 207939 h 576478"/>
              <a:gd name="connsiteX7" fmla="*/ 560666 w 1023837"/>
              <a:gd name="connsiteY7" fmla="*/ 288228 h 576478"/>
              <a:gd name="connsiteX8" fmla="*/ 571126 w 1023837"/>
              <a:gd name="connsiteY8" fmla="*/ 469267 h 576478"/>
              <a:gd name="connsiteX9" fmla="*/ 698312 w 1023837"/>
              <a:gd name="connsiteY9" fmla="*/ 308996 h 576478"/>
              <a:gd name="connsiteX10" fmla="*/ 1023837 w 1023837"/>
              <a:gd name="connsiteY10" fmla="*/ 576478 h 576478"/>
              <a:gd name="connsiteX0" fmla="*/ 0 w 698312"/>
              <a:gd name="connsiteY0" fmla="*/ 552774 h 559637"/>
              <a:gd name="connsiteX1" fmla="*/ 114300 w 698312"/>
              <a:gd name="connsiteY1" fmla="*/ 543249 h 559637"/>
              <a:gd name="connsiteX2" fmla="*/ 171450 w 698312"/>
              <a:gd name="connsiteY2" fmla="*/ 409899 h 559637"/>
              <a:gd name="connsiteX3" fmla="*/ 209550 w 698312"/>
              <a:gd name="connsiteY3" fmla="*/ 190824 h 559637"/>
              <a:gd name="connsiteX4" fmla="*/ 257175 w 698312"/>
              <a:gd name="connsiteY4" fmla="*/ 324 h 559637"/>
              <a:gd name="connsiteX5" fmla="*/ 356907 w 698312"/>
              <a:gd name="connsiteY5" fmla="*/ 146789 h 559637"/>
              <a:gd name="connsiteX6" fmla="*/ 442258 w 698312"/>
              <a:gd name="connsiteY6" fmla="*/ 207939 h 559637"/>
              <a:gd name="connsiteX7" fmla="*/ 560666 w 698312"/>
              <a:gd name="connsiteY7" fmla="*/ 288228 h 559637"/>
              <a:gd name="connsiteX8" fmla="*/ 571126 w 698312"/>
              <a:gd name="connsiteY8" fmla="*/ 469267 h 559637"/>
              <a:gd name="connsiteX9" fmla="*/ 698312 w 698312"/>
              <a:gd name="connsiteY9" fmla="*/ 308996 h 559637"/>
              <a:gd name="connsiteX0" fmla="*/ 0 w 571126"/>
              <a:gd name="connsiteY0" fmla="*/ 552774 h 559637"/>
              <a:gd name="connsiteX1" fmla="*/ 114300 w 571126"/>
              <a:gd name="connsiteY1" fmla="*/ 543249 h 559637"/>
              <a:gd name="connsiteX2" fmla="*/ 171450 w 571126"/>
              <a:gd name="connsiteY2" fmla="*/ 409899 h 559637"/>
              <a:gd name="connsiteX3" fmla="*/ 209550 w 571126"/>
              <a:gd name="connsiteY3" fmla="*/ 190824 h 559637"/>
              <a:gd name="connsiteX4" fmla="*/ 257175 w 571126"/>
              <a:gd name="connsiteY4" fmla="*/ 324 h 559637"/>
              <a:gd name="connsiteX5" fmla="*/ 356907 w 571126"/>
              <a:gd name="connsiteY5" fmla="*/ 146789 h 559637"/>
              <a:gd name="connsiteX6" fmla="*/ 442258 w 571126"/>
              <a:gd name="connsiteY6" fmla="*/ 207939 h 559637"/>
              <a:gd name="connsiteX7" fmla="*/ 560666 w 571126"/>
              <a:gd name="connsiteY7" fmla="*/ 288228 h 559637"/>
              <a:gd name="connsiteX8" fmla="*/ 571126 w 571126"/>
              <a:gd name="connsiteY8" fmla="*/ 469267 h 559637"/>
              <a:gd name="connsiteX0" fmla="*/ 0 w 560666"/>
              <a:gd name="connsiteY0" fmla="*/ 552774 h 559637"/>
              <a:gd name="connsiteX1" fmla="*/ 114300 w 560666"/>
              <a:gd name="connsiteY1" fmla="*/ 543249 h 559637"/>
              <a:gd name="connsiteX2" fmla="*/ 171450 w 560666"/>
              <a:gd name="connsiteY2" fmla="*/ 409899 h 559637"/>
              <a:gd name="connsiteX3" fmla="*/ 209550 w 560666"/>
              <a:gd name="connsiteY3" fmla="*/ 190824 h 559637"/>
              <a:gd name="connsiteX4" fmla="*/ 257175 w 560666"/>
              <a:gd name="connsiteY4" fmla="*/ 324 h 559637"/>
              <a:gd name="connsiteX5" fmla="*/ 356907 w 560666"/>
              <a:gd name="connsiteY5" fmla="*/ 146789 h 559637"/>
              <a:gd name="connsiteX6" fmla="*/ 442258 w 560666"/>
              <a:gd name="connsiteY6" fmla="*/ 207939 h 559637"/>
              <a:gd name="connsiteX7" fmla="*/ 560666 w 560666"/>
              <a:gd name="connsiteY7" fmla="*/ 288228 h 55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666" h="559637">
                <a:moveTo>
                  <a:pt x="0" y="552774"/>
                </a:moveTo>
                <a:cubicBezTo>
                  <a:pt x="42862" y="559917"/>
                  <a:pt x="85725" y="567061"/>
                  <a:pt x="114300" y="543249"/>
                </a:cubicBezTo>
                <a:cubicBezTo>
                  <a:pt x="142875" y="519437"/>
                  <a:pt x="155575" y="468636"/>
                  <a:pt x="171450" y="409899"/>
                </a:cubicBezTo>
                <a:cubicBezTo>
                  <a:pt x="187325" y="351162"/>
                  <a:pt x="195263" y="259086"/>
                  <a:pt x="209550" y="190824"/>
                </a:cubicBezTo>
                <a:cubicBezTo>
                  <a:pt x="223837" y="122562"/>
                  <a:pt x="232616" y="7663"/>
                  <a:pt x="257175" y="324"/>
                </a:cubicBezTo>
                <a:cubicBezTo>
                  <a:pt x="281735" y="-7015"/>
                  <a:pt x="326060" y="112187"/>
                  <a:pt x="356907" y="146789"/>
                </a:cubicBezTo>
                <a:cubicBezTo>
                  <a:pt x="387754" y="181392"/>
                  <a:pt x="408298" y="184366"/>
                  <a:pt x="442258" y="207939"/>
                </a:cubicBezTo>
                <a:cubicBezTo>
                  <a:pt x="476218" y="231512"/>
                  <a:pt x="539188" y="244673"/>
                  <a:pt x="560666" y="288228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sp>
        <p:nvSpPr>
          <p:cNvPr id="26" name="Freeform 355">
            <a:extLst>
              <a:ext uri="{FF2B5EF4-FFF2-40B4-BE49-F238E27FC236}">
                <a16:creationId xmlns:a16="http://schemas.microsoft.com/office/drawing/2014/main" id="{B55B2CBF-E488-CC48-A261-9017AE29DA85}"/>
              </a:ext>
            </a:extLst>
          </p:cNvPr>
          <p:cNvSpPr/>
          <p:nvPr/>
        </p:nvSpPr>
        <p:spPr>
          <a:xfrm>
            <a:off x="10561028" y="5059950"/>
            <a:ext cx="830264" cy="420387"/>
          </a:xfrm>
          <a:custGeom>
            <a:avLst/>
            <a:gdLst>
              <a:gd name="connsiteX0" fmla="*/ 0 w 1295400"/>
              <a:gd name="connsiteY0" fmla="*/ 576262 h 593725"/>
              <a:gd name="connsiteX1" fmla="*/ 114300 w 1295400"/>
              <a:gd name="connsiteY1" fmla="*/ 566737 h 593725"/>
              <a:gd name="connsiteX2" fmla="*/ 171450 w 1295400"/>
              <a:gd name="connsiteY2" fmla="*/ 433387 h 593725"/>
              <a:gd name="connsiteX3" fmla="*/ 209550 w 1295400"/>
              <a:gd name="connsiteY3" fmla="*/ 214312 h 593725"/>
              <a:gd name="connsiteX4" fmla="*/ 257175 w 1295400"/>
              <a:gd name="connsiteY4" fmla="*/ 23812 h 593725"/>
              <a:gd name="connsiteX5" fmla="*/ 342900 w 1295400"/>
              <a:gd name="connsiteY5" fmla="*/ 357187 h 593725"/>
              <a:gd name="connsiteX6" fmla="*/ 409575 w 1295400"/>
              <a:gd name="connsiteY6" fmla="*/ 185737 h 593725"/>
              <a:gd name="connsiteX7" fmla="*/ 495300 w 1295400"/>
              <a:gd name="connsiteY7" fmla="*/ 423862 h 593725"/>
              <a:gd name="connsiteX8" fmla="*/ 552450 w 1295400"/>
              <a:gd name="connsiteY8" fmla="*/ 442912 h 593725"/>
              <a:gd name="connsiteX9" fmla="*/ 609600 w 1295400"/>
              <a:gd name="connsiteY9" fmla="*/ 423862 h 593725"/>
              <a:gd name="connsiteX10" fmla="*/ 781050 w 1295400"/>
              <a:gd name="connsiteY10" fmla="*/ 566737 h 593725"/>
              <a:gd name="connsiteX11" fmla="*/ 1295400 w 1295400"/>
              <a:gd name="connsiteY11" fmla="*/ 585787 h 593725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76262 h 590549"/>
              <a:gd name="connsiteX1" fmla="*/ 114300 w 1286669"/>
              <a:gd name="connsiteY1" fmla="*/ 566737 h 590549"/>
              <a:gd name="connsiteX2" fmla="*/ 171450 w 1286669"/>
              <a:gd name="connsiteY2" fmla="*/ 433387 h 590549"/>
              <a:gd name="connsiteX3" fmla="*/ 209550 w 1286669"/>
              <a:gd name="connsiteY3" fmla="*/ 214312 h 590549"/>
              <a:gd name="connsiteX4" fmla="*/ 257175 w 1286669"/>
              <a:gd name="connsiteY4" fmla="*/ 23812 h 590549"/>
              <a:gd name="connsiteX5" fmla="*/ 342900 w 1286669"/>
              <a:gd name="connsiteY5" fmla="*/ 357187 h 590549"/>
              <a:gd name="connsiteX6" fmla="*/ 409575 w 1286669"/>
              <a:gd name="connsiteY6" fmla="*/ 185737 h 590549"/>
              <a:gd name="connsiteX7" fmla="*/ 495300 w 1286669"/>
              <a:gd name="connsiteY7" fmla="*/ 423862 h 590549"/>
              <a:gd name="connsiteX8" fmla="*/ 552450 w 1286669"/>
              <a:gd name="connsiteY8" fmla="*/ 442912 h 590549"/>
              <a:gd name="connsiteX9" fmla="*/ 609600 w 1286669"/>
              <a:gd name="connsiteY9" fmla="*/ 423862 h 590549"/>
              <a:gd name="connsiteX10" fmla="*/ 781050 w 1286669"/>
              <a:gd name="connsiteY10" fmla="*/ 566737 h 590549"/>
              <a:gd name="connsiteX11" fmla="*/ 1286669 w 1286669"/>
              <a:gd name="connsiteY11" fmla="*/ 498884 h 590549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495300 w 1286669"/>
              <a:gd name="connsiteY7" fmla="*/ 400357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552450 w 1286669"/>
              <a:gd name="connsiteY8" fmla="*/ 419407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607356 w 1286669"/>
              <a:gd name="connsiteY7" fmla="*/ 358822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609600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59620"/>
              <a:gd name="connsiteX1" fmla="*/ 114300 w 1286669"/>
              <a:gd name="connsiteY1" fmla="*/ 543232 h 559620"/>
              <a:gd name="connsiteX2" fmla="*/ 171450 w 1286669"/>
              <a:gd name="connsiteY2" fmla="*/ 409882 h 559620"/>
              <a:gd name="connsiteX3" fmla="*/ 209550 w 1286669"/>
              <a:gd name="connsiteY3" fmla="*/ 190807 h 559620"/>
              <a:gd name="connsiteX4" fmla="*/ 257175 w 1286669"/>
              <a:gd name="connsiteY4" fmla="*/ 307 h 559620"/>
              <a:gd name="connsiteX5" fmla="*/ 356907 w 1286669"/>
              <a:gd name="connsiteY5" fmla="*/ 146772 h 559620"/>
              <a:gd name="connsiteX6" fmla="*/ 409575 w 1286669"/>
              <a:gd name="connsiteY6" fmla="*/ 162232 h 559620"/>
              <a:gd name="connsiteX7" fmla="*/ 527983 w 1286669"/>
              <a:gd name="connsiteY7" fmla="*/ 288211 h 559620"/>
              <a:gd name="connsiteX8" fmla="*/ 659836 w 1286669"/>
              <a:gd name="connsiteY8" fmla="*/ 527400 h 559620"/>
              <a:gd name="connsiteX9" fmla="*/ 763677 w 1286669"/>
              <a:gd name="connsiteY9" fmla="*/ 400357 h 559620"/>
              <a:gd name="connsiteX10" fmla="*/ 781050 w 1286669"/>
              <a:gd name="connsiteY10" fmla="*/ 543232 h 559620"/>
              <a:gd name="connsiteX11" fmla="*/ 1286669 w 1286669"/>
              <a:gd name="connsiteY11" fmla="*/ 475379 h 559620"/>
              <a:gd name="connsiteX0" fmla="*/ 0 w 1286669"/>
              <a:gd name="connsiteY0" fmla="*/ 552757 h 578855"/>
              <a:gd name="connsiteX1" fmla="*/ 114300 w 1286669"/>
              <a:gd name="connsiteY1" fmla="*/ 543232 h 578855"/>
              <a:gd name="connsiteX2" fmla="*/ 171450 w 1286669"/>
              <a:gd name="connsiteY2" fmla="*/ 409882 h 578855"/>
              <a:gd name="connsiteX3" fmla="*/ 209550 w 1286669"/>
              <a:gd name="connsiteY3" fmla="*/ 190807 h 578855"/>
              <a:gd name="connsiteX4" fmla="*/ 257175 w 1286669"/>
              <a:gd name="connsiteY4" fmla="*/ 307 h 578855"/>
              <a:gd name="connsiteX5" fmla="*/ 356907 w 1286669"/>
              <a:gd name="connsiteY5" fmla="*/ 146772 h 578855"/>
              <a:gd name="connsiteX6" fmla="*/ 409575 w 1286669"/>
              <a:gd name="connsiteY6" fmla="*/ 162232 h 578855"/>
              <a:gd name="connsiteX7" fmla="*/ 527983 w 1286669"/>
              <a:gd name="connsiteY7" fmla="*/ 288211 h 578855"/>
              <a:gd name="connsiteX8" fmla="*/ 659836 w 1286669"/>
              <a:gd name="connsiteY8" fmla="*/ 527400 h 578855"/>
              <a:gd name="connsiteX9" fmla="*/ 763677 w 1286669"/>
              <a:gd name="connsiteY9" fmla="*/ 400357 h 578855"/>
              <a:gd name="connsiteX10" fmla="*/ 1023837 w 1286669"/>
              <a:gd name="connsiteY10" fmla="*/ 576461 h 578855"/>
              <a:gd name="connsiteX11" fmla="*/ 1286669 w 1286669"/>
              <a:gd name="connsiteY11" fmla="*/ 475379 h 578855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59836 w 1342697"/>
              <a:gd name="connsiteY8" fmla="*/ 527400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763677 w 1342697"/>
              <a:gd name="connsiteY9" fmla="*/ 400357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57 h 599232"/>
              <a:gd name="connsiteX1" fmla="*/ 114300 w 1342697"/>
              <a:gd name="connsiteY1" fmla="*/ 543232 h 599232"/>
              <a:gd name="connsiteX2" fmla="*/ 171450 w 1342697"/>
              <a:gd name="connsiteY2" fmla="*/ 409882 h 599232"/>
              <a:gd name="connsiteX3" fmla="*/ 209550 w 1342697"/>
              <a:gd name="connsiteY3" fmla="*/ 190807 h 599232"/>
              <a:gd name="connsiteX4" fmla="*/ 257175 w 1342697"/>
              <a:gd name="connsiteY4" fmla="*/ 307 h 599232"/>
              <a:gd name="connsiteX5" fmla="*/ 356907 w 1342697"/>
              <a:gd name="connsiteY5" fmla="*/ 146772 h 599232"/>
              <a:gd name="connsiteX6" fmla="*/ 409575 w 1342697"/>
              <a:gd name="connsiteY6" fmla="*/ 162232 h 599232"/>
              <a:gd name="connsiteX7" fmla="*/ 527983 w 1342697"/>
              <a:gd name="connsiteY7" fmla="*/ 288211 h 599232"/>
              <a:gd name="connsiteX8" fmla="*/ 603809 w 1342697"/>
              <a:gd name="connsiteY8" fmla="*/ 460943 h 599232"/>
              <a:gd name="connsiteX9" fmla="*/ 679635 w 1342697"/>
              <a:gd name="connsiteY9" fmla="*/ 354668 h 599232"/>
              <a:gd name="connsiteX10" fmla="*/ 1023837 w 1342697"/>
              <a:gd name="connsiteY10" fmla="*/ 576461 h 599232"/>
              <a:gd name="connsiteX11" fmla="*/ 1342697 w 1342697"/>
              <a:gd name="connsiteY11" fmla="*/ 554297 h 599232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79635 w 1342697"/>
              <a:gd name="connsiteY9" fmla="*/ 354685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603809 w 1342697"/>
              <a:gd name="connsiteY8" fmla="*/ 460960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27983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60959 w 1342697"/>
              <a:gd name="connsiteY9" fmla="*/ 317303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342697"/>
              <a:gd name="connsiteY0" fmla="*/ 552774 h 599249"/>
              <a:gd name="connsiteX1" fmla="*/ 114300 w 1342697"/>
              <a:gd name="connsiteY1" fmla="*/ 543249 h 599249"/>
              <a:gd name="connsiteX2" fmla="*/ 171450 w 1342697"/>
              <a:gd name="connsiteY2" fmla="*/ 409899 h 599249"/>
              <a:gd name="connsiteX3" fmla="*/ 209550 w 1342697"/>
              <a:gd name="connsiteY3" fmla="*/ 190824 h 599249"/>
              <a:gd name="connsiteX4" fmla="*/ 257175 w 1342697"/>
              <a:gd name="connsiteY4" fmla="*/ 324 h 599249"/>
              <a:gd name="connsiteX5" fmla="*/ 356907 w 1342697"/>
              <a:gd name="connsiteY5" fmla="*/ 146789 h 599249"/>
              <a:gd name="connsiteX6" fmla="*/ 442258 w 1342697"/>
              <a:gd name="connsiteY6" fmla="*/ 207939 h 599249"/>
              <a:gd name="connsiteX7" fmla="*/ 560666 w 1342697"/>
              <a:gd name="connsiteY7" fmla="*/ 288228 h 599249"/>
              <a:gd name="connsiteX8" fmla="*/ 571126 w 1342697"/>
              <a:gd name="connsiteY8" fmla="*/ 469267 h 599249"/>
              <a:gd name="connsiteX9" fmla="*/ 698312 w 1342697"/>
              <a:gd name="connsiteY9" fmla="*/ 308996 h 599249"/>
              <a:gd name="connsiteX10" fmla="*/ 1023837 w 1342697"/>
              <a:gd name="connsiteY10" fmla="*/ 576478 h 599249"/>
              <a:gd name="connsiteX11" fmla="*/ 1342697 w 1342697"/>
              <a:gd name="connsiteY11" fmla="*/ 554314 h 599249"/>
              <a:gd name="connsiteX0" fmla="*/ 0 w 1228397"/>
              <a:gd name="connsiteY0" fmla="*/ 543249 h 599249"/>
              <a:gd name="connsiteX1" fmla="*/ 57150 w 1228397"/>
              <a:gd name="connsiteY1" fmla="*/ 409899 h 599249"/>
              <a:gd name="connsiteX2" fmla="*/ 95250 w 1228397"/>
              <a:gd name="connsiteY2" fmla="*/ 190824 h 599249"/>
              <a:gd name="connsiteX3" fmla="*/ 142875 w 1228397"/>
              <a:gd name="connsiteY3" fmla="*/ 324 h 599249"/>
              <a:gd name="connsiteX4" fmla="*/ 242607 w 1228397"/>
              <a:gd name="connsiteY4" fmla="*/ 146789 h 599249"/>
              <a:gd name="connsiteX5" fmla="*/ 327958 w 1228397"/>
              <a:gd name="connsiteY5" fmla="*/ 207939 h 599249"/>
              <a:gd name="connsiteX6" fmla="*/ 446366 w 1228397"/>
              <a:gd name="connsiteY6" fmla="*/ 288228 h 599249"/>
              <a:gd name="connsiteX7" fmla="*/ 456826 w 1228397"/>
              <a:gd name="connsiteY7" fmla="*/ 469267 h 599249"/>
              <a:gd name="connsiteX8" fmla="*/ 584012 w 1228397"/>
              <a:gd name="connsiteY8" fmla="*/ 308996 h 599249"/>
              <a:gd name="connsiteX9" fmla="*/ 909537 w 1228397"/>
              <a:gd name="connsiteY9" fmla="*/ 576478 h 599249"/>
              <a:gd name="connsiteX10" fmla="*/ 1228397 w 1228397"/>
              <a:gd name="connsiteY10" fmla="*/ 554314 h 599249"/>
              <a:gd name="connsiteX0" fmla="*/ 0 w 1171247"/>
              <a:gd name="connsiteY0" fmla="*/ 409899 h 599249"/>
              <a:gd name="connsiteX1" fmla="*/ 38100 w 1171247"/>
              <a:gd name="connsiteY1" fmla="*/ 190824 h 599249"/>
              <a:gd name="connsiteX2" fmla="*/ 85725 w 1171247"/>
              <a:gd name="connsiteY2" fmla="*/ 324 h 599249"/>
              <a:gd name="connsiteX3" fmla="*/ 185457 w 1171247"/>
              <a:gd name="connsiteY3" fmla="*/ 146789 h 599249"/>
              <a:gd name="connsiteX4" fmla="*/ 270808 w 1171247"/>
              <a:gd name="connsiteY4" fmla="*/ 207939 h 599249"/>
              <a:gd name="connsiteX5" fmla="*/ 389216 w 1171247"/>
              <a:gd name="connsiteY5" fmla="*/ 288228 h 599249"/>
              <a:gd name="connsiteX6" fmla="*/ 399676 w 1171247"/>
              <a:gd name="connsiteY6" fmla="*/ 469267 h 599249"/>
              <a:gd name="connsiteX7" fmla="*/ 526862 w 1171247"/>
              <a:gd name="connsiteY7" fmla="*/ 308996 h 599249"/>
              <a:gd name="connsiteX8" fmla="*/ 852387 w 1171247"/>
              <a:gd name="connsiteY8" fmla="*/ 576478 h 599249"/>
              <a:gd name="connsiteX9" fmla="*/ 1171247 w 1171247"/>
              <a:gd name="connsiteY9" fmla="*/ 554314 h 599249"/>
              <a:gd name="connsiteX0" fmla="*/ 0 w 1133147"/>
              <a:gd name="connsiteY0" fmla="*/ 190824 h 599249"/>
              <a:gd name="connsiteX1" fmla="*/ 47625 w 1133147"/>
              <a:gd name="connsiteY1" fmla="*/ 324 h 599249"/>
              <a:gd name="connsiteX2" fmla="*/ 147357 w 1133147"/>
              <a:gd name="connsiteY2" fmla="*/ 146789 h 599249"/>
              <a:gd name="connsiteX3" fmla="*/ 232708 w 1133147"/>
              <a:gd name="connsiteY3" fmla="*/ 207939 h 599249"/>
              <a:gd name="connsiteX4" fmla="*/ 351116 w 1133147"/>
              <a:gd name="connsiteY4" fmla="*/ 288228 h 599249"/>
              <a:gd name="connsiteX5" fmla="*/ 361576 w 1133147"/>
              <a:gd name="connsiteY5" fmla="*/ 469267 h 599249"/>
              <a:gd name="connsiteX6" fmla="*/ 488762 w 1133147"/>
              <a:gd name="connsiteY6" fmla="*/ 308996 h 599249"/>
              <a:gd name="connsiteX7" fmla="*/ 814287 w 1133147"/>
              <a:gd name="connsiteY7" fmla="*/ 576478 h 599249"/>
              <a:gd name="connsiteX8" fmla="*/ 1133147 w 1133147"/>
              <a:gd name="connsiteY8" fmla="*/ 554314 h 599249"/>
              <a:gd name="connsiteX0" fmla="*/ 0 w 1085522"/>
              <a:gd name="connsiteY0" fmla="*/ 324 h 599249"/>
              <a:gd name="connsiteX1" fmla="*/ 99732 w 1085522"/>
              <a:gd name="connsiteY1" fmla="*/ 146789 h 599249"/>
              <a:gd name="connsiteX2" fmla="*/ 185083 w 1085522"/>
              <a:gd name="connsiteY2" fmla="*/ 207939 h 599249"/>
              <a:gd name="connsiteX3" fmla="*/ 303491 w 1085522"/>
              <a:gd name="connsiteY3" fmla="*/ 288228 h 599249"/>
              <a:gd name="connsiteX4" fmla="*/ 313951 w 1085522"/>
              <a:gd name="connsiteY4" fmla="*/ 469267 h 599249"/>
              <a:gd name="connsiteX5" fmla="*/ 441137 w 1085522"/>
              <a:gd name="connsiteY5" fmla="*/ 308996 h 599249"/>
              <a:gd name="connsiteX6" fmla="*/ 766662 w 1085522"/>
              <a:gd name="connsiteY6" fmla="*/ 576478 h 599249"/>
              <a:gd name="connsiteX7" fmla="*/ 1085522 w 1085522"/>
              <a:gd name="connsiteY7" fmla="*/ 554314 h 599249"/>
              <a:gd name="connsiteX0" fmla="*/ 0 w 985790"/>
              <a:gd name="connsiteY0" fmla="*/ 0 h 452460"/>
              <a:gd name="connsiteX1" fmla="*/ 85351 w 985790"/>
              <a:gd name="connsiteY1" fmla="*/ 61150 h 452460"/>
              <a:gd name="connsiteX2" fmla="*/ 203759 w 985790"/>
              <a:gd name="connsiteY2" fmla="*/ 141439 h 452460"/>
              <a:gd name="connsiteX3" fmla="*/ 214219 w 985790"/>
              <a:gd name="connsiteY3" fmla="*/ 322478 h 452460"/>
              <a:gd name="connsiteX4" fmla="*/ 341405 w 985790"/>
              <a:gd name="connsiteY4" fmla="*/ 162207 h 452460"/>
              <a:gd name="connsiteX5" fmla="*/ 666930 w 985790"/>
              <a:gd name="connsiteY5" fmla="*/ 429689 h 452460"/>
              <a:gd name="connsiteX6" fmla="*/ 985790 w 985790"/>
              <a:gd name="connsiteY6" fmla="*/ 407525 h 452460"/>
              <a:gd name="connsiteX0" fmla="*/ 0 w 900439"/>
              <a:gd name="connsiteY0" fmla="*/ 0 h 391310"/>
              <a:gd name="connsiteX1" fmla="*/ 118408 w 900439"/>
              <a:gd name="connsiteY1" fmla="*/ 80289 h 391310"/>
              <a:gd name="connsiteX2" fmla="*/ 128868 w 900439"/>
              <a:gd name="connsiteY2" fmla="*/ 261328 h 391310"/>
              <a:gd name="connsiteX3" fmla="*/ 256054 w 900439"/>
              <a:gd name="connsiteY3" fmla="*/ 101057 h 391310"/>
              <a:gd name="connsiteX4" fmla="*/ 581579 w 900439"/>
              <a:gd name="connsiteY4" fmla="*/ 368539 h 391310"/>
              <a:gd name="connsiteX5" fmla="*/ 900439 w 900439"/>
              <a:gd name="connsiteY5" fmla="*/ 346375 h 391310"/>
              <a:gd name="connsiteX0" fmla="*/ 0 w 782031"/>
              <a:gd name="connsiteY0" fmla="*/ 0 h 311021"/>
              <a:gd name="connsiteX1" fmla="*/ 10460 w 782031"/>
              <a:gd name="connsiteY1" fmla="*/ 181039 h 311021"/>
              <a:gd name="connsiteX2" fmla="*/ 137646 w 782031"/>
              <a:gd name="connsiteY2" fmla="*/ 20768 h 311021"/>
              <a:gd name="connsiteX3" fmla="*/ 463171 w 782031"/>
              <a:gd name="connsiteY3" fmla="*/ 288250 h 311021"/>
              <a:gd name="connsiteX4" fmla="*/ 782031 w 782031"/>
              <a:gd name="connsiteY4" fmla="*/ 266086 h 311021"/>
              <a:gd name="connsiteX0" fmla="*/ 0 w 771571"/>
              <a:gd name="connsiteY0" fmla="*/ 161509 h 291491"/>
              <a:gd name="connsiteX1" fmla="*/ 127186 w 771571"/>
              <a:gd name="connsiteY1" fmla="*/ 1238 h 291491"/>
              <a:gd name="connsiteX2" fmla="*/ 452711 w 771571"/>
              <a:gd name="connsiteY2" fmla="*/ 268720 h 291491"/>
              <a:gd name="connsiteX3" fmla="*/ 771571 w 771571"/>
              <a:gd name="connsiteY3" fmla="*/ 246556 h 291491"/>
              <a:gd name="connsiteX0" fmla="*/ 0 w 644385"/>
              <a:gd name="connsiteY0" fmla="*/ 0 h 290253"/>
              <a:gd name="connsiteX1" fmla="*/ 325525 w 644385"/>
              <a:gd name="connsiteY1" fmla="*/ 267482 h 290253"/>
              <a:gd name="connsiteX2" fmla="*/ 644385 w 644385"/>
              <a:gd name="connsiteY2" fmla="*/ 245318 h 29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4385" h="290253">
                <a:moveTo>
                  <a:pt x="0" y="0"/>
                </a:moveTo>
                <a:cubicBezTo>
                  <a:pt x="75452" y="17868"/>
                  <a:pt x="212680" y="254978"/>
                  <a:pt x="325525" y="267482"/>
                </a:cubicBezTo>
                <a:cubicBezTo>
                  <a:pt x="438370" y="279986"/>
                  <a:pt x="491191" y="322041"/>
                  <a:pt x="644385" y="245318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2000">
              <a:latin typeface="Aptos" panose="020B0004020202020204" pitchFamily="34" charset="0"/>
            </a:endParaRPr>
          </a:p>
        </p:txBody>
      </p:sp>
      <p:cxnSp>
        <p:nvCxnSpPr>
          <p:cNvPr id="28" name="Connettore 2 27"/>
          <p:cNvCxnSpPr>
            <a:stCxn id="15" idx="3"/>
          </p:cNvCxnSpPr>
          <p:nvPr/>
        </p:nvCxnSpPr>
        <p:spPr>
          <a:xfrm flipV="1">
            <a:off x="9389068" y="5588678"/>
            <a:ext cx="2159784" cy="568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igura a mano libera 36"/>
          <p:cNvSpPr/>
          <p:nvPr/>
        </p:nvSpPr>
        <p:spPr>
          <a:xfrm>
            <a:off x="10364778" y="5002816"/>
            <a:ext cx="196250" cy="58419"/>
          </a:xfrm>
          <a:custGeom>
            <a:avLst/>
            <a:gdLst>
              <a:gd name="connsiteX0" fmla="*/ 0 w 304800"/>
              <a:gd name="connsiteY0" fmla="*/ 0 h 152400"/>
              <a:gd name="connsiteX1" fmla="*/ 194734 w 304800"/>
              <a:gd name="connsiteY1" fmla="*/ 59267 h 152400"/>
              <a:gd name="connsiteX2" fmla="*/ 304800 w 304800"/>
              <a:gd name="connsiteY2" fmla="*/ 152400 h 152400"/>
              <a:gd name="connsiteX0" fmla="*/ 0 w 304800"/>
              <a:gd name="connsiteY0" fmla="*/ 0 h 152400"/>
              <a:gd name="connsiteX1" fmla="*/ 105834 w 304800"/>
              <a:gd name="connsiteY1" fmla="*/ 29634 h 152400"/>
              <a:gd name="connsiteX2" fmla="*/ 304800 w 304800"/>
              <a:gd name="connsiteY2" fmla="*/ 152400 h 152400"/>
              <a:gd name="connsiteX0" fmla="*/ 0 w 105834"/>
              <a:gd name="connsiteY0" fmla="*/ 0 h 29634"/>
              <a:gd name="connsiteX1" fmla="*/ 105834 w 105834"/>
              <a:gd name="connsiteY1" fmla="*/ 29634 h 29634"/>
              <a:gd name="connsiteX0" fmla="*/ 0 w 165101"/>
              <a:gd name="connsiteY0" fmla="*/ 0 h 55034"/>
              <a:gd name="connsiteX1" fmla="*/ 165101 w 165101"/>
              <a:gd name="connsiteY1" fmla="*/ 55034 h 55034"/>
              <a:gd name="connsiteX0" fmla="*/ 0 w 127022"/>
              <a:gd name="connsiteY0" fmla="*/ 0 h 34650"/>
              <a:gd name="connsiteX1" fmla="*/ 127022 w 127022"/>
              <a:gd name="connsiteY1" fmla="*/ 34650 h 34650"/>
              <a:gd name="connsiteX0" fmla="*/ 0 w 176523"/>
              <a:gd name="connsiteY0" fmla="*/ 0 h 70322"/>
              <a:gd name="connsiteX1" fmla="*/ 176523 w 176523"/>
              <a:gd name="connsiteY1" fmla="*/ 70322 h 70322"/>
              <a:gd name="connsiteX0" fmla="*/ 0 w 176523"/>
              <a:gd name="connsiteY0" fmla="*/ 0 h 70322"/>
              <a:gd name="connsiteX1" fmla="*/ 176523 w 176523"/>
              <a:gd name="connsiteY1" fmla="*/ 70322 h 7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523" h="70322">
                <a:moveTo>
                  <a:pt x="0" y="0"/>
                </a:moveTo>
                <a:cubicBezTo>
                  <a:pt x="98622" y="32221"/>
                  <a:pt x="125723" y="44922"/>
                  <a:pt x="176523" y="70322"/>
                </a:cubicBezTo>
              </a:path>
            </a:pathLst>
          </a:cu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59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systems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203609"/>
          </a:xfrm>
        </p:spPr>
        <p:txBody>
          <a:bodyPr>
            <a:normAutofit/>
          </a:bodyPr>
          <a:lstStyle/>
          <a:p>
            <a:r>
              <a:rPr lang="en-GB" dirty="0"/>
              <a:t>Wearable devices require a data transmission systems that </a:t>
            </a:r>
            <a:r>
              <a:rPr lang="en-GB" b="1" dirty="0"/>
              <a:t>wirelessly</a:t>
            </a:r>
            <a:r>
              <a:rPr lang="en-GB" dirty="0"/>
              <a:t> communicate between the sensing device and the receiver and/or gateway device (it can be the smartphone).</a:t>
            </a:r>
          </a:p>
          <a:p>
            <a:r>
              <a:rPr lang="en-GB" b="1" dirty="0"/>
              <a:t>Bluetooth communication </a:t>
            </a:r>
            <a:r>
              <a:rPr lang="en-GB" dirty="0"/>
              <a:t>is the primary choice because of its simplicity, low operation cost, compatibility with new smartphone technology, and simple hardware. Drawback: it requires high power consumption.</a:t>
            </a:r>
          </a:p>
          <a:p>
            <a:r>
              <a:rPr lang="it-IT" b="1" dirty="0" err="1"/>
              <a:t>Near</a:t>
            </a:r>
            <a:r>
              <a:rPr lang="it-IT" b="1" dirty="0"/>
              <a:t> field </a:t>
            </a:r>
            <a:r>
              <a:rPr lang="it-IT" b="1" dirty="0" err="1"/>
              <a:t>communication</a:t>
            </a:r>
            <a:r>
              <a:rPr lang="it-IT" b="1" dirty="0"/>
              <a:t> (NFC): </a:t>
            </a:r>
            <a:r>
              <a:rPr lang="en-GB" dirty="0"/>
              <a:t>a wireless communication technology that operates at a short distance (about 4 cm) and does not need the energy from the battery to transfer the data.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709" y="4618416"/>
            <a:ext cx="2743200" cy="1666875"/>
          </a:xfrm>
          <a:prstGeom prst="rect">
            <a:avLst/>
          </a:prstGeom>
        </p:spPr>
      </p:pic>
      <p:sp>
        <p:nvSpPr>
          <p:cNvPr id="5" name="Rettangolo 4"/>
          <p:cNvSpPr/>
          <p:nvPr/>
        </p:nvSpPr>
        <p:spPr>
          <a:xfrm>
            <a:off x="428172" y="4694551"/>
            <a:ext cx="8343537" cy="1882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Aptos" panose="020B0004020202020204" pitchFamily="34" charset="0"/>
              </a:rPr>
              <a:t>NFC tags can directly communicate with the smartphone equipped with the NFC modules.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Aptos" panose="020B0004020202020204" pitchFamily="34" charset="0"/>
              </a:rPr>
              <a:t>Bypassing the need for batteries, NFC enables ultrathin, ultraminiaturized designs for sensors, like a temporary transfer tattoo.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061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architecture of wearable </a:t>
            </a:r>
            <a:r>
              <a:rPr lang="en-US" dirty="0" err="1"/>
              <a:t>IoT</a:t>
            </a:r>
            <a:r>
              <a:rPr lang="en-US" dirty="0"/>
              <a:t> systems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586154" y="5457092"/>
            <a:ext cx="10861431" cy="1260000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658166" y="5902426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ptos" panose="020B0004020202020204" pitchFamily="34" charset="0"/>
              </a:rPr>
              <a:t>1. </a:t>
            </a:r>
            <a:r>
              <a:rPr lang="it-IT" b="1" dirty="0" err="1">
                <a:latin typeface="Aptos" panose="020B0004020202020204" pitchFamily="34" charset="0"/>
              </a:rPr>
              <a:t>Sensing</a:t>
            </a:r>
            <a:r>
              <a:rPr lang="it-IT" b="1" dirty="0">
                <a:latin typeface="Aptos" panose="020B0004020202020204" pitchFamily="34" charset="0"/>
              </a:rPr>
              <a:t> </a:t>
            </a:r>
            <a:r>
              <a:rPr lang="it-IT" b="1" dirty="0" err="1">
                <a:latin typeface="Aptos" panose="020B0004020202020204" pitchFamily="34" charset="0"/>
              </a:rPr>
              <a:t>layer</a:t>
            </a:r>
            <a:endParaRPr lang="en-GB" b="1" dirty="0">
              <a:latin typeface="Aptos" panose="020B0004020202020204" pitchFamily="34" charset="0"/>
            </a:endParaRPr>
          </a:p>
        </p:txBody>
      </p:sp>
      <p:sp>
        <p:nvSpPr>
          <p:cNvPr id="6" name="Rettangolo arrotondato 5"/>
          <p:cNvSpPr/>
          <p:nvPr/>
        </p:nvSpPr>
        <p:spPr>
          <a:xfrm>
            <a:off x="586154" y="4091374"/>
            <a:ext cx="10861431" cy="1260000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658166" y="4536708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ptos" panose="020B0004020202020204" pitchFamily="34" charset="0"/>
              </a:rPr>
              <a:t>2. Network </a:t>
            </a:r>
            <a:r>
              <a:rPr lang="it-IT" b="1" dirty="0" err="1">
                <a:latin typeface="Aptos" panose="020B0004020202020204" pitchFamily="34" charset="0"/>
              </a:rPr>
              <a:t>layer</a:t>
            </a:r>
            <a:endParaRPr lang="en-GB" b="1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/>
        </p:nvSpPr>
        <p:spPr>
          <a:xfrm>
            <a:off x="586153" y="2719790"/>
            <a:ext cx="10861431" cy="1260000"/>
          </a:xfrm>
          <a:prstGeom prst="round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666143" y="3037008"/>
            <a:ext cx="2804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ptos" panose="020B0004020202020204" pitchFamily="34" charset="0"/>
              </a:rPr>
              <a:t>3. Data </a:t>
            </a:r>
            <a:r>
              <a:rPr lang="it-IT" b="1" dirty="0" err="1">
                <a:latin typeface="Aptos" panose="020B0004020202020204" pitchFamily="34" charset="0"/>
              </a:rPr>
              <a:t>storing</a:t>
            </a:r>
            <a:r>
              <a:rPr lang="it-IT" b="1" dirty="0">
                <a:latin typeface="Aptos" panose="020B0004020202020204" pitchFamily="34" charset="0"/>
              </a:rPr>
              <a:t> and processing </a:t>
            </a:r>
            <a:r>
              <a:rPr lang="it-IT" b="1" dirty="0" err="1">
                <a:latin typeface="Aptos" panose="020B0004020202020204" pitchFamily="34" charset="0"/>
              </a:rPr>
              <a:t>layer</a:t>
            </a:r>
            <a:endParaRPr lang="en-GB" b="1" dirty="0">
              <a:latin typeface="Aptos" panose="020B0004020202020204" pitchFamily="34" charset="0"/>
            </a:endParaRPr>
          </a:p>
        </p:txBody>
      </p:sp>
      <p:sp>
        <p:nvSpPr>
          <p:cNvPr id="10" name="Rettangolo arrotondato 9"/>
          <p:cNvSpPr/>
          <p:nvPr/>
        </p:nvSpPr>
        <p:spPr>
          <a:xfrm>
            <a:off x="586153" y="1331674"/>
            <a:ext cx="10796954" cy="1260000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658166" y="1777008"/>
            <a:ext cx="2620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ptos" panose="020B0004020202020204" pitchFamily="34" charset="0"/>
              </a:rPr>
              <a:t>4. Application </a:t>
            </a:r>
            <a:r>
              <a:rPr lang="it-IT" b="1" dirty="0" err="1">
                <a:latin typeface="Aptos" panose="020B0004020202020204" pitchFamily="34" charset="0"/>
              </a:rPr>
              <a:t>layer</a:t>
            </a:r>
            <a:endParaRPr lang="en-GB" b="1" dirty="0">
              <a:latin typeface="Aptos" panose="020B0004020202020204" pitchFamily="34" charset="0"/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3206262" y="1488831"/>
            <a:ext cx="1453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Alerts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4654063" y="1488831"/>
            <a:ext cx="234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Decision-support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6998677" y="1488831"/>
            <a:ext cx="126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Event</a:t>
            </a:r>
            <a:r>
              <a:rPr lang="it-IT" dirty="0">
                <a:latin typeface="Aptos" panose="020B0004020202020204" pitchFamily="34" charset="0"/>
              </a:rPr>
              <a:t> log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8991601" y="1501647"/>
            <a:ext cx="208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Self-management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5701662" y="2801335"/>
            <a:ext cx="1922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Data </a:t>
            </a:r>
            <a:r>
              <a:rPr lang="it-IT" dirty="0" err="1">
                <a:latin typeface="Aptos" panose="020B0004020202020204" pitchFamily="34" charset="0"/>
              </a:rPr>
              <a:t>analyses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7" name="CasellaDiTesto 16"/>
          <p:cNvSpPr txBox="1"/>
          <p:nvPr/>
        </p:nvSpPr>
        <p:spPr>
          <a:xfrm>
            <a:off x="8302649" y="2811852"/>
            <a:ext cx="384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Aptos" panose="020B0004020202020204" pitchFamily="34" charset="0"/>
              </a:rPr>
              <a:t>Modeling</a:t>
            </a:r>
            <a:r>
              <a:rPr lang="it-IT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18" name="CasellaDiTesto 17"/>
          <p:cNvSpPr txBox="1"/>
          <p:nvPr/>
        </p:nvSpPr>
        <p:spPr>
          <a:xfrm>
            <a:off x="7527578" y="2808458"/>
            <a:ext cx="2819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Signal</a:t>
            </a:r>
            <a:r>
              <a:rPr lang="it-IT" dirty="0">
                <a:latin typeface="Aptos" panose="020B0004020202020204" pitchFamily="34" charset="0"/>
              </a:rPr>
              <a:t> processing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9" name="CasellaDiTesto 18"/>
          <p:cNvSpPr txBox="1"/>
          <p:nvPr/>
        </p:nvSpPr>
        <p:spPr>
          <a:xfrm>
            <a:off x="2642052" y="4178031"/>
            <a:ext cx="244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Gateway </a:t>
            </a:r>
            <a:r>
              <a:rPr lang="it-IT" dirty="0" err="1">
                <a:latin typeface="Aptos" panose="020B0004020202020204" pitchFamily="34" charset="0"/>
              </a:rPr>
              <a:t>device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5704075" y="4141499"/>
            <a:ext cx="192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WiFi</a:t>
            </a:r>
            <a:r>
              <a:rPr lang="it-IT" dirty="0">
                <a:latin typeface="Aptos" panose="020B0004020202020204" pitchFamily="34" charset="0"/>
              </a:rPr>
              <a:t>, </a:t>
            </a:r>
          </a:p>
          <a:p>
            <a:r>
              <a:rPr lang="it-IT" dirty="0">
                <a:latin typeface="Aptos" panose="020B0004020202020204" pitchFamily="34" charset="0"/>
              </a:rPr>
              <a:t>Router 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2" name="CasellaDiTesto 21"/>
          <p:cNvSpPr txBox="1"/>
          <p:nvPr/>
        </p:nvSpPr>
        <p:spPr>
          <a:xfrm>
            <a:off x="9174823" y="4234017"/>
            <a:ext cx="1922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Internet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6187264" y="5525689"/>
            <a:ext cx="1541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</a:rPr>
              <a:t>Sensors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3114146" y="5660879"/>
            <a:ext cx="2086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ptos" panose="020B0004020202020204" pitchFamily="34" charset="0"/>
              </a:rPr>
              <a:t>Activity </a:t>
            </a:r>
            <a:r>
              <a:rPr lang="it-IT" sz="1400" dirty="0" err="1">
                <a:latin typeface="Aptos" panose="020B0004020202020204" pitchFamily="34" charset="0"/>
              </a:rPr>
              <a:t>tracker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25" name="CasellaDiTesto 24"/>
          <p:cNvSpPr txBox="1"/>
          <p:nvPr/>
        </p:nvSpPr>
        <p:spPr>
          <a:xfrm>
            <a:off x="5068973" y="6332950"/>
            <a:ext cx="2086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ptos" panose="020B0004020202020204" pitchFamily="34" charset="0"/>
              </a:rPr>
              <a:t>Blood pressure </a:t>
            </a:r>
            <a:r>
              <a:rPr lang="it-IT" sz="1400" dirty="0" err="1">
                <a:latin typeface="Aptos" panose="020B0004020202020204" pitchFamily="34" charset="0"/>
              </a:rPr>
              <a:t>sensor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26" name="CasellaDiTesto 25"/>
          <p:cNvSpPr txBox="1"/>
          <p:nvPr/>
        </p:nvSpPr>
        <p:spPr>
          <a:xfrm>
            <a:off x="7728849" y="5701229"/>
            <a:ext cx="2086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ptos" panose="020B0004020202020204" pitchFamily="34" charset="0"/>
              </a:rPr>
              <a:t>ECG </a:t>
            </a:r>
            <a:r>
              <a:rPr lang="it-IT" sz="1400" dirty="0" err="1">
                <a:latin typeface="Aptos" panose="020B0004020202020204" pitchFamily="34" charset="0"/>
              </a:rPr>
              <a:t>sensor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27" name="CasellaDiTesto 26"/>
          <p:cNvSpPr txBox="1"/>
          <p:nvPr/>
        </p:nvSpPr>
        <p:spPr>
          <a:xfrm>
            <a:off x="9709775" y="6332949"/>
            <a:ext cx="2086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Aptos" panose="020B0004020202020204" pitchFamily="34" charset="0"/>
              </a:rPr>
              <a:t>Glucose</a:t>
            </a:r>
            <a:r>
              <a:rPr lang="it-IT" sz="1400" dirty="0">
                <a:latin typeface="Aptos" panose="020B0004020202020204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</a:rPr>
              <a:t>sensor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29" name="Nuvola 28"/>
          <p:cNvSpPr/>
          <p:nvPr/>
        </p:nvSpPr>
        <p:spPr>
          <a:xfrm>
            <a:off x="9087036" y="4595118"/>
            <a:ext cx="1148861" cy="468923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30" name="Freccia bidirezionale orizzontale 29"/>
          <p:cNvSpPr/>
          <p:nvPr/>
        </p:nvSpPr>
        <p:spPr>
          <a:xfrm>
            <a:off x="4317616" y="4744982"/>
            <a:ext cx="1226738" cy="169194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pic>
        <p:nvPicPr>
          <p:cNvPr id="32" name="Immagine 3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0" b="12302"/>
          <a:stretch/>
        </p:blipFill>
        <p:spPr>
          <a:xfrm>
            <a:off x="6568116" y="4163857"/>
            <a:ext cx="790166" cy="585025"/>
          </a:xfrm>
          <a:prstGeom prst="rect">
            <a:avLst/>
          </a:prstGeom>
        </p:spPr>
      </p:pic>
      <p:sp>
        <p:nvSpPr>
          <p:cNvPr id="34" name="CasellaDiTesto 33"/>
          <p:cNvSpPr txBox="1"/>
          <p:nvPr/>
        </p:nvSpPr>
        <p:spPr>
          <a:xfrm>
            <a:off x="5832653" y="4855596"/>
            <a:ext cx="75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GSM</a:t>
            </a:r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35" name="Immagine 3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3" b="9488"/>
          <a:stretch/>
        </p:blipFill>
        <p:spPr>
          <a:xfrm>
            <a:off x="6721426" y="4783171"/>
            <a:ext cx="510962" cy="487222"/>
          </a:xfrm>
          <a:prstGeom prst="rect">
            <a:avLst/>
          </a:prstGeom>
        </p:spPr>
      </p:pic>
      <p:pic>
        <p:nvPicPr>
          <p:cNvPr id="36" name="Immagine 3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888" y="4505560"/>
            <a:ext cx="791025" cy="791025"/>
          </a:xfrm>
          <a:prstGeom prst="rect">
            <a:avLst/>
          </a:prstGeom>
        </p:spPr>
      </p:pic>
      <p:pic>
        <p:nvPicPr>
          <p:cNvPr id="37" name="Immagine 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846" y="1788867"/>
            <a:ext cx="654524" cy="654524"/>
          </a:xfrm>
          <a:prstGeom prst="rect">
            <a:avLst/>
          </a:prstGeom>
        </p:spPr>
      </p:pic>
      <p:pic>
        <p:nvPicPr>
          <p:cNvPr id="38" name="Immagine 37"/>
          <p:cNvPicPr>
            <a:picLocks noChangeAspect="1"/>
          </p:cNvPicPr>
          <p:nvPr/>
        </p:nvPicPr>
        <p:blipFill rotWithShape="1"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 b="14795"/>
          <a:stretch/>
        </p:blipFill>
        <p:spPr>
          <a:xfrm>
            <a:off x="3308809" y="5959420"/>
            <a:ext cx="966237" cy="672070"/>
          </a:xfrm>
          <a:prstGeom prst="rect">
            <a:avLst/>
          </a:prstGeom>
        </p:spPr>
      </p:pic>
      <p:pic>
        <p:nvPicPr>
          <p:cNvPr id="39" name="Immagine 3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51" b="10889"/>
          <a:stretch/>
        </p:blipFill>
        <p:spPr>
          <a:xfrm>
            <a:off x="5261453" y="5725827"/>
            <a:ext cx="815078" cy="617508"/>
          </a:xfrm>
          <a:prstGeom prst="rect">
            <a:avLst/>
          </a:prstGeom>
        </p:spPr>
      </p:pic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8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8" t="11966" r="19396" b="26154"/>
          <a:stretch/>
        </p:blipFill>
        <p:spPr>
          <a:xfrm>
            <a:off x="7973057" y="5969126"/>
            <a:ext cx="577215" cy="623737"/>
          </a:xfrm>
          <a:prstGeom prst="rect">
            <a:avLst/>
          </a:prstGeom>
        </p:spPr>
      </p:pic>
      <p:pic>
        <p:nvPicPr>
          <p:cNvPr id="41" name="Immagine 40"/>
          <p:cNvPicPr>
            <a:picLocks noChangeAspect="1"/>
          </p:cNvPicPr>
          <p:nvPr/>
        </p:nvPicPr>
        <p:blipFill rotWithShape="1">
          <a:blip r:embed="rId9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9" r="13195"/>
          <a:stretch/>
        </p:blipFill>
        <p:spPr>
          <a:xfrm>
            <a:off x="9853211" y="5725826"/>
            <a:ext cx="1175410" cy="594235"/>
          </a:xfrm>
          <a:prstGeom prst="rect">
            <a:avLst/>
          </a:prstGeom>
        </p:spPr>
      </p:pic>
      <p:pic>
        <p:nvPicPr>
          <p:cNvPr id="42" name="Immagine 4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70"/>
          <a:stretch/>
        </p:blipFill>
        <p:spPr>
          <a:xfrm>
            <a:off x="6165335" y="3177790"/>
            <a:ext cx="738082" cy="631281"/>
          </a:xfrm>
          <a:prstGeom prst="rect">
            <a:avLst/>
          </a:prstGeom>
        </p:spPr>
      </p:pic>
      <p:pic>
        <p:nvPicPr>
          <p:cNvPr id="43" name="Immagine 42"/>
          <p:cNvPicPr>
            <a:picLocks noChangeAspect="1"/>
          </p:cNvPicPr>
          <p:nvPr/>
        </p:nvPicPr>
        <p:blipFill>
          <a:blip r:embed="rId11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204" y="3153651"/>
            <a:ext cx="1082830" cy="693804"/>
          </a:xfrm>
          <a:prstGeom prst="rect">
            <a:avLst/>
          </a:prstGeom>
        </p:spPr>
      </p:pic>
      <p:pic>
        <p:nvPicPr>
          <p:cNvPr id="44" name="Immagine 4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043" y="3240823"/>
            <a:ext cx="1190766" cy="567904"/>
          </a:xfrm>
          <a:prstGeom prst="rect">
            <a:avLst/>
          </a:prstGeom>
        </p:spPr>
      </p:pic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13" cstate="print">
            <a:biLevel thresh="75000"/>
          </a:blip>
          <a:srcRect l="5016" t="4758" r="50097" b="4943"/>
          <a:stretch>
            <a:fillRect/>
          </a:stretch>
        </p:blipFill>
        <p:spPr bwMode="auto">
          <a:xfrm>
            <a:off x="5510026" y="1846052"/>
            <a:ext cx="638548" cy="65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" name="Immagine 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846" y="1812020"/>
            <a:ext cx="725623" cy="725623"/>
          </a:xfrm>
          <a:prstGeom prst="rect">
            <a:avLst/>
          </a:prstGeom>
        </p:spPr>
      </p:pic>
      <p:pic>
        <p:nvPicPr>
          <p:cNvPr id="47" name="Immagine 46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4" t="6540" r="27640"/>
          <a:stretch/>
        </p:blipFill>
        <p:spPr>
          <a:xfrm>
            <a:off x="9655162" y="1833686"/>
            <a:ext cx="423584" cy="722471"/>
          </a:xfrm>
          <a:prstGeom prst="rect">
            <a:avLst/>
          </a:prstGeom>
        </p:spPr>
      </p:pic>
      <p:pic>
        <p:nvPicPr>
          <p:cNvPr id="48" name="Immagine 47"/>
          <p:cNvPicPr>
            <a:picLocks noChangeAspect="1"/>
          </p:cNvPicPr>
          <p:nvPr/>
        </p:nvPicPr>
        <p:blipFill rotWithShape="1">
          <a:blip r:embed="rId16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6" t="16998" r="18567" b="18788"/>
          <a:stretch/>
        </p:blipFill>
        <p:spPr>
          <a:xfrm>
            <a:off x="9727043" y="2044594"/>
            <a:ext cx="291353" cy="198495"/>
          </a:xfrm>
          <a:prstGeom prst="rect">
            <a:avLst/>
          </a:prstGeom>
        </p:spPr>
      </p:pic>
      <p:sp>
        <p:nvSpPr>
          <p:cNvPr id="51" name="Freccia bidirezionale orizzontale 50"/>
          <p:cNvSpPr/>
          <p:nvPr/>
        </p:nvSpPr>
        <p:spPr>
          <a:xfrm>
            <a:off x="7652240" y="4731501"/>
            <a:ext cx="1226738" cy="169194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pic>
        <p:nvPicPr>
          <p:cNvPr id="53" name="Immagine 52"/>
          <p:cNvPicPr>
            <a:picLocks noChangeAspect="1"/>
          </p:cNvPicPr>
          <p:nvPr/>
        </p:nvPicPr>
        <p:blipFill rotWithShape="1">
          <a:blip r:embed="rId17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6" r="37156" b="37692"/>
          <a:stretch/>
        </p:blipFill>
        <p:spPr>
          <a:xfrm>
            <a:off x="7301040" y="1809632"/>
            <a:ext cx="464960" cy="700322"/>
          </a:xfrm>
          <a:prstGeom prst="rect">
            <a:avLst/>
          </a:prstGeom>
        </p:spPr>
      </p:pic>
      <p:sp>
        <p:nvSpPr>
          <p:cNvPr id="49" name="CasellaDiTesto 48"/>
          <p:cNvSpPr txBox="1"/>
          <p:nvPr/>
        </p:nvSpPr>
        <p:spPr>
          <a:xfrm>
            <a:off x="3692770" y="2801335"/>
            <a:ext cx="1922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Database</a:t>
            </a:r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18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4" b="16165"/>
          <a:stretch/>
        </p:blipFill>
        <p:spPr>
          <a:xfrm>
            <a:off x="3733874" y="3112824"/>
            <a:ext cx="1017056" cy="784655"/>
          </a:xfrm>
          <a:prstGeom prst="rect">
            <a:avLst/>
          </a:prstGeom>
        </p:spPr>
      </p:pic>
      <p:sp>
        <p:nvSpPr>
          <p:cNvPr id="21" name="Segnaposto numero diapositiva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806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Sensing layer</a:t>
            </a:r>
          </a:p>
        </p:txBody>
      </p:sp>
      <p:sp>
        <p:nvSpPr>
          <p:cNvPr id="14" name="Segnaposto contenuto 13"/>
          <p:cNvSpPr>
            <a:spLocks noGrp="1"/>
          </p:cNvSpPr>
          <p:nvPr>
            <p:ph idx="1"/>
          </p:nvPr>
        </p:nvSpPr>
        <p:spPr>
          <a:xfrm>
            <a:off x="428172" y="1361167"/>
            <a:ext cx="8445664" cy="2639333"/>
          </a:xfrm>
        </p:spPr>
        <p:txBody>
          <a:bodyPr/>
          <a:lstStyle/>
          <a:p>
            <a:r>
              <a:rPr lang="en-US" dirty="0"/>
              <a:t>This layer includes sensors, which are responsible for: </a:t>
            </a:r>
          </a:p>
          <a:p>
            <a:pPr lvl="1"/>
            <a:r>
              <a:rPr lang="en-US" sz="2200" b="1" dirty="0"/>
              <a:t>Collecting the data </a:t>
            </a:r>
            <a:r>
              <a:rPr lang="en-US" sz="2200" dirty="0"/>
              <a:t>either directly from the body through contact sensors or from peripheral sensors providing indirect information of body and </a:t>
            </a:r>
            <a:r>
              <a:rPr lang="en-US" sz="2200" dirty="0" err="1"/>
              <a:t>behaviours</a:t>
            </a:r>
            <a:r>
              <a:rPr lang="en-US" sz="2200" dirty="0"/>
              <a:t> </a:t>
            </a:r>
          </a:p>
          <a:p>
            <a:pPr lvl="1"/>
            <a:r>
              <a:rPr lang="en-US" sz="2200" b="1" dirty="0"/>
              <a:t>Preparing the data </a:t>
            </a:r>
            <a:r>
              <a:rPr lang="en-US" sz="2200" dirty="0"/>
              <a:t>for on-board analysis, closed-loop feedback or remote transmission for more comprehensive analysis and storing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5" name="CasellaDiTesto 14"/>
          <p:cNvSpPr txBox="1"/>
          <p:nvPr/>
        </p:nvSpPr>
        <p:spPr>
          <a:xfrm>
            <a:off x="9221242" y="1671241"/>
            <a:ext cx="2086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ECG sensor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10508805" y="1688586"/>
            <a:ext cx="2086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Aptos" panose="020B0004020202020204" pitchFamily="34" charset="0"/>
              </a:rPr>
              <a:t>Glucose</a:t>
            </a:r>
            <a:r>
              <a:rPr lang="it-IT" sz="1400" dirty="0">
                <a:latin typeface="Aptos" panose="020B0004020202020204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</a:rPr>
              <a:t>sensor</a:t>
            </a:r>
            <a:endParaRPr lang="en-GB" sz="1400" dirty="0">
              <a:latin typeface="Aptos" panose="020B0004020202020204" pitchFamily="34" charset="0"/>
            </a:endParaRP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 rotWithShape="1"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8" t="11966" r="19396" b="26154"/>
          <a:stretch/>
        </p:blipFill>
        <p:spPr>
          <a:xfrm>
            <a:off x="9465450" y="1939138"/>
            <a:ext cx="577215" cy="623737"/>
          </a:xfrm>
          <a:prstGeom prst="rect">
            <a:avLst/>
          </a:prstGeom>
        </p:spPr>
      </p:pic>
      <p:pic>
        <p:nvPicPr>
          <p:cNvPr id="18" name="Immagine 17"/>
          <p:cNvPicPr>
            <a:picLocks noChangeAspect="1"/>
          </p:cNvPicPr>
          <p:nvPr/>
        </p:nvPicPr>
        <p:blipFill rotWithShape="1"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9" r="13195"/>
          <a:stretch/>
        </p:blipFill>
        <p:spPr>
          <a:xfrm>
            <a:off x="10543602" y="2013709"/>
            <a:ext cx="1175410" cy="594235"/>
          </a:xfrm>
          <a:prstGeom prst="rect">
            <a:avLst/>
          </a:prstGeom>
        </p:spPr>
      </p:pic>
      <p:sp>
        <p:nvSpPr>
          <p:cNvPr id="19" name="CasellaDiTesto 18"/>
          <p:cNvSpPr txBox="1"/>
          <p:nvPr/>
        </p:nvSpPr>
        <p:spPr>
          <a:xfrm>
            <a:off x="9500246" y="1284563"/>
            <a:ext cx="208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Contact sensors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9305555" y="2830772"/>
            <a:ext cx="2476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Peripheral sensors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8945041" y="3200104"/>
            <a:ext cx="1491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ptos" panose="020B0004020202020204" pitchFamily="34" charset="0"/>
              </a:rPr>
              <a:t>Step counter</a:t>
            </a:r>
          </a:p>
        </p:txBody>
      </p:sp>
      <p:sp>
        <p:nvSpPr>
          <p:cNvPr id="23" name="CasellaDiTesto 22"/>
          <p:cNvSpPr txBox="1"/>
          <p:nvPr/>
        </p:nvSpPr>
        <p:spPr>
          <a:xfrm>
            <a:off x="10181078" y="3206391"/>
            <a:ext cx="2086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latin typeface="Aptos" panose="020B0004020202020204" pitchFamily="34" charset="0"/>
              </a:rPr>
              <a:t>Microphone</a:t>
            </a:r>
            <a:r>
              <a:rPr lang="it-IT" sz="1400" dirty="0">
                <a:latin typeface="Aptos" panose="020B0004020202020204" pitchFamily="34" charset="0"/>
              </a:rPr>
              <a:t> and camera</a:t>
            </a:r>
            <a:endParaRPr lang="en-GB" sz="1400" dirty="0">
              <a:latin typeface="Aptos" panose="020B00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36" b="22879"/>
          <a:stretch/>
        </p:blipFill>
        <p:spPr>
          <a:xfrm>
            <a:off x="10740145" y="3705002"/>
            <a:ext cx="1043357" cy="659022"/>
          </a:xfrm>
          <a:prstGeom prst="rect">
            <a:avLst/>
          </a:prstGeom>
        </p:spPr>
      </p:pic>
      <p:sp>
        <p:nvSpPr>
          <p:cNvPr id="25" name="Segnaposto contenuto 13"/>
          <p:cNvSpPr txBox="1">
            <a:spLocks/>
          </p:cNvSpPr>
          <p:nvPr/>
        </p:nvSpPr>
        <p:spPr>
          <a:xfrm>
            <a:off x="428171" y="4000501"/>
            <a:ext cx="11257939" cy="2259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Key components of </a:t>
            </a:r>
            <a:r>
              <a:rPr lang="en-US" dirty="0" err="1">
                <a:latin typeface="Aptos" panose="020B0004020202020204" pitchFamily="34" charset="0"/>
              </a:rPr>
              <a:t>IoT</a:t>
            </a:r>
            <a:r>
              <a:rPr lang="en-US" dirty="0">
                <a:latin typeface="Aptos" panose="020B0004020202020204" pitchFamily="34" charset="0"/>
              </a:rPr>
              <a:t> wearable sensors: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Miniaturized </a:t>
            </a:r>
            <a:r>
              <a:rPr lang="en-US" sz="2200" b="1" dirty="0">
                <a:latin typeface="Aptos" panose="020B0004020202020204" pitchFamily="34" charset="0"/>
              </a:rPr>
              <a:t>sensor hardware</a:t>
            </a:r>
          </a:p>
          <a:p>
            <a:pPr lvl="1"/>
            <a:r>
              <a:rPr lang="en-US" sz="2200" b="1" dirty="0">
                <a:latin typeface="Aptos" panose="020B0004020202020204" pitchFamily="34" charset="0"/>
              </a:rPr>
              <a:t>Embedded processor </a:t>
            </a:r>
            <a:r>
              <a:rPr lang="en-US" sz="2200" dirty="0">
                <a:latin typeface="Aptos" panose="020B0004020202020204" pitchFamily="34" charset="0"/>
              </a:rPr>
              <a:t>with storage capabilities, power management and communication circuits</a:t>
            </a:r>
          </a:p>
          <a:p>
            <a:r>
              <a:rPr lang="en-US" dirty="0">
                <a:latin typeface="Aptos" panose="020B0004020202020204" pitchFamily="34" charset="0"/>
              </a:rPr>
              <a:t>Typically, limited computing power and storage capabilities. </a:t>
            </a: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6" name="Immagine 25"/>
          <p:cNvPicPr>
            <a:picLocks noChangeAspect="1"/>
          </p:cNvPicPr>
          <p:nvPr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07" b="11065"/>
          <a:stretch/>
        </p:blipFill>
        <p:spPr>
          <a:xfrm>
            <a:off x="9151653" y="3476463"/>
            <a:ext cx="1112944" cy="902841"/>
          </a:xfrm>
          <a:prstGeom prst="rect">
            <a:avLst/>
          </a:prstGeom>
        </p:spPr>
      </p:pic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68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2. Network </a:t>
            </a:r>
            <a:r>
              <a:rPr lang="it-IT" dirty="0" err="1"/>
              <a:t>layer</a:t>
            </a:r>
            <a:endParaRPr lang="en-GB" dirty="0"/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 more comprehensive data analysis and storage, the sensor layer need to transmit the data to </a:t>
            </a:r>
            <a:r>
              <a:rPr lang="en-US" b="1" dirty="0"/>
              <a:t>cloud computing servers </a:t>
            </a:r>
            <a:r>
              <a:rPr lang="en-US" dirty="0"/>
              <a:t>(remotely-located computing machines).</a:t>
            </a:r>
          </a:p>
          <a:p>
            <a:r>
              <a:rPr lang="en-US" dirty="0"/>
              <a:t>This transmission can be mediated by a companion device that serves as a </a:t>
            </a:r>
            <a:r>
              <a:rPr lang="en-US" b="1" dirty="0"/>
              <a:t>gateway</a:t>
            </a:r>
            <a:r>
              <a:rPr lang="en-US" dirty="0"/>
              <a:t>, i.e., it enables the information to flow from sensors to the cloud server.</a:t>
            </a:r>
          </a:p>
          <a:p>
            <a:pPr lvl="1"/>
            <a:r>
              <a:rPr lang="en-US" dirty="0"/>
              <a:t>Example of gateway devices: smartphones, tablets and PCs.</a:t>
            </a:r>
          </a:p>
          <a:p>
            <a:r>
              <a:rPr lang="en-US" dirty="0"/>
              <a:t>The communication must be </a:t>
            </a:r>
            <a:r>
              <a:rPr lang="en-US" b="1" dirty="0"/>
              <a:t>secured </a:t>
            </a:r>
            <a:r>
              <a:rPr lang="en-US" dirty="0"/>
              <a:t>through:</a:t>
            </a:r>
          </a:p>
          <a:p>
            <a:pPr lvl="2"/>
            <a:r>
              <a:rPr lang="en-US" dirty="0"/>
              <a:t>Authentication protocols for writing, modifying and accessing the data</a:t>
            </a:r>
          </a:p>
          <a:p>
            <a:pPr lvl="2"/>
            <a:r>
              <a:rPr lang="en-US" dirty="0"/>
              <a:t>Security and privacy protocols for preserving the data</a:t>
            </a:r>
          </a:p>
          <a:p>
            <a:endParaRPr lang="en-US" dirty="0"/>
          </a:p>
          <a:p>
            <a:endParaRPr lang="en-GB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 rotWithShape="1"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 b="14795"/>
          <a:stretch/>
        </p:blipFill>
        <p:spPr>
          <a:xfrm>
            <a:off x="1698883" y="5127778"/>
            <a:ext cx="1721102" cy="1197119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1942608" y="4709445"/>
            <a:ext cx="2086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Sensor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4685740" y="4649166"/>
            <a:ext cx="244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Aptos" panose="020B0004020202020204" pitchFamily="34" charset="0"/>
              </a:rPr>
              <a:t>Gateway </a:t>
            </a:r>
            <a:r>
              <a:rPr lang="it-IT" sz="2400" dirty="0" err="1">
                <a:latin typeface="Aptos" panose="020B0004020202020204" pitchFamily="34" charset="0"/>
              </a:rPr>
              <a:t>device</a:t>
            </a:r>
            <a:endParaRPr lang="en-GB" sz="2400" dirty="0">
              <a:latin typeface="Aptos" panose="020B0004020202020204" pitchFamily="34" charset="0"/>
            </a:endParaRPr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196" y="5163389"/>
            <a:ext cx="1123436" cy="1123436"/>
          </a:xfrm>
          <a:prstGeom prst="rect">
            <a:avLst/>
          </a:prstGeom>
        </p:spPr>
      </p:pic>
      <p:sp>
        <p:nvSpPr>
          <p:cNvPr id="10" name="Freccia bidirezionale orizzontale 9"/>
          <p:cNvSpPr/>
          <p:nvPr/>
        </p:nvSpPr>
        <p:spPr>
          <a:xfrm>
            <a:off x="7193103" y="5573270"/>
            <a:ext cx="1566825" cy="379817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9228096" y="4709445"/>
            <a:ext cx="2535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Aptos" panose="020B0004020202020204" pitchFamily="34" charset="0"/>
              </a:rPr>
              <a:t>Cloud</a:t>
            </a:r>
            <a:r>
              <a:rPr lang="it-IT" sz="2400" dirty="0">
                <a:latin typeface="Aptos" panose="020B0004020202020204" pitchFamily="34" charset="0"/>
              </a:rPr>
              <a:t> server</a:t>
            </a:r>
            <a:endParaRPr lang="en-GB" sz="2400" dirty="0">
              <a:latin typeface="Aptos" panose="020B0004020202020204" pitchFamily="34" charset="0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18" b="22879"/>
          <a:stretch/>
        </p:blipFill>
        <p:spPr>
          <a:xfrm>
            <a:off x="9228096" y="5171110"/>
            <a:ext cx="2067564" cy="1346548"/>
          </a:xfrm>
          <a:prstGeom prst="rect">
            <a:avLst/>
          </a:prstGeom>
        </p:spPr>
      </p:pic>
      <p:sp>
        <p:nvSpPr>
          <p:cNvPr id="15" name="CasellaDiTesto 14"/>
          <p:cNvSpPr txBox="1"/>
          <p:nvPr/>
        </p:nvSpPr>
        <p:spPr>
          <a:xfrm>
            <a:off x="2793530" y="6055993"/>
            <a:ext cx="244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Aptos" panose="020B0004020202020204" pitchFamily="34" charset="0"/>
              </a:rPr>
              <a:t>Bluetooth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6788783" y="6027003"/>
            <a:ext cx="24423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Aptos" panose="020B0004020202020204" pitchFamily="34" charset="0"/>
              </a:rPr>
              <a:t>WiFi</a:t>
            </a:r>
            <a:endParaRPr lang="it-IT" sz="2400" dirty="0">
              <a:latin typeface="Aptos" panose="020B0004020202020204" pitchFamily="34" charset="0"/>
            </a:endParaRPr>
          </a:p>
          <a:p>
            <a:pPr algn="ctr"/>
            <a:r>
              <a:rPr lang="it-IT" sz="2400" dirty="0">
                <a:latin typeface="Aptos" panose="020B0004020202020204" pitchFamily="34" charset="0"/>
              </a:rPr>
              <a:t>GSM</a:t>
            </a:r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12" name="Segnaposto numero diapositiva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  <p:sp>
        <p:nvSpPr>
          <p:cNvPr id="13" name="Freccia bidirezionale orizzontale 9">
            <a:extLst>
              <a:ext uri="{FF2B5EF4-FFF2-40B4-BE49-F238E27FC236}">
                <a16:creationId xmlns:a16="http://schemas.microsoft.com/office/drawing/2014/main" id="{069BCFC6-1A04-8AB0-138F-32E64868B15E}"/>
              </a:ext>
            </a:extLst>
          </p:cNvPr>
          <p:cNvSpPr/>
          <p:nvPr/>
        </p:nvSpPr>
        <p:spPr>
          <a:xfrm>
            <a:off x="3361043" y="5567796"/>
            <a:ext cx="1566825" cy="379817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97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storing and processing layer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Layer responsible for data storing and complex processing</a:t>
            </a:r>
          </a:p>
          <a:p>
            <a:endParaRPr lang="en-US" dirty="0"/>
          </a:p>
          <a:p>
            <a:r>
              <a:rPr lang="en-US" dirty="0"/>
              <a:t>Key components: </a:t>
            </a:r>
          </a:p>
          <a:p>
            <a:pPr lvl="1"/>
            <a:r>
              <a:rPr lang="en-US" b="1" dirty="0"/>
              <a:t>Database</a:t>
            </a:r>
            <a:r>
              <a:rPr lang="en-US" dirty="0"/>
              <a:t> for structured data storing</a:t>
            </a:r>
          </a:p>
          <a:p>
            <a:pPr lvl="2"/>
            <a:r>
              <a:rPr lang="en-US" dirty="0"/>
              <a:t>Data organized based on a specific data model (relational, hierarchical, object-oriented,…)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Algorithms </a:t>
            </a:r>
            <a:r>
              <a:rPr lang="en-US" dirty="0"/>
              <a:t>for data processing</a:t>
            </a:r>
            <a:endParaRPr lang="en-US" b="1" dirty="0"/>
          </a:p>
          <a:p>
            <a:pPr lvl="2"/>
            <a:r>
              <a:rPr lang="en-US" dirty="0"/>
              <a:t>Statistical analysis</a:t>
            </a:r>
          </a:p>
          <a:p>
            <a:pPr lvl="2"/>
            <a:r>
              <a:rPr lang="en-US" dirty="0"/>
              <a:t>Feature extraction (e.g., heart rate, calories expenditure, …)</a:t>
            </a:r>
          </a:p>
          <a:p>
            <a:pPr lvl="2"/>
            <a:r>
              <a:rPr lang="en-US" dirty="0"/>
              <a:t>Signal processing (e.g., filtering, artifact removal, …)</a:t>
            </a:r>
          </a:p>
          <a:p>
            <a:pPr lvl="2"/>
            <a:r>
              <a:rPr lang="en-US" dirty="0"/>
              <a:t>Data mining (e.g., cluster analysis, anomaly detection, sequential pattern extraction, …)</a:t>
            </a:r>
          </a:p>
          <a:p>
            <a:pPr lvl="2"/>
            <a:r>
              <a:rPr lang="en-US" dirty="0"/>
              <a:t>Data modeling (knowledge-based, data-driven or hybrid approaches)</a:t>
            </a:r>
          </a:p>
          <a:p>
            <a:pPr lvl="2"/>
            <a:r>
              <a:rPr lang="en-US" dirty="0"/>
              <a:t>Artificial intelligence (knowledge representation, machine learning, natural language processing, machine perception, automated planning, …)   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721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 storing and processing layer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Layer responsible for data storing and complex processing</a:t>
            </a:r>
          </a:p>
          <a:p>
            <a:endParaRPr lang="en-US" dirty="0"/>
          </a:p>
          <a:p>
            <a:r>
              <a:rPr lang="en-US" dirty="0"/>
              <a:t>Key components: </a:t>
            </a:r>
          </a:p>
          <a:p>
            <a:pPr lvl="1"/>
            <a:r>
              <a:rPr lang="en-US" b="1" dirty="0"/>
              <a:t>Database</a:t>
            </a:r>
            <a:r>
              <a:rPr lang="en-US" dirty="0"/>
              <a:t> for structured data storing</a:t>
            </a:r>
          </a:p>
          <a:p>
            <a:pPr lvl="2"/>
            <a:r>
              <a:rPr lang="en-US" dirty="0"/>
              <a:t>Data organized based on a specific data model (relational, hierarchical, object-oriented,…)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Algorithms </a:t>
            </a:r>
            <a:r>
              <a:rPr lang="en-US" dirty="0"/>
              <a:t>for data processing</a:t>
            </a:r>
            <a:endParaRPr lang="en-US" b="1" dirty="0"/>
          </a:p>
          <a:p>
            <a:pPr lvl="2"/>
            <a:r>
              <a:rPr lang="en-US" dirty="0"/>
              <a:t>Statistical analysis</a:t>
            </a:r>
          </a:p>
          <a:p>
            <a:pPr lvl="2"/>
            <a:r>
              <a:rPr lang="en-US" dirty="0"/>
              <a:t>Feature extraction (e.g., heart rate, calories expenditure, …)</a:t>
            </a:r>
          </a:p>
          <a:p>
            <a:pPr lvl="2"/>
            <a:r>
              <a:rPr lang="en-US" dirty="0"/>
              <a:t>Signal processing (e.g., filtering, artifact removal, …)</a:t>
            </a:r>
          </a:p>
          <a:p>
            <a:pPr lvl="2"/>
            <a:r>
              <a:rPr lang="en-US" dirty="0"/>
              <a:t>Data mining (e.g., cluster analysis, anomaly detection, sequential pattern extraction, …)</a:t>
            </a:r>
          </a:p>
          <a:p>
            <a:pPr lvl="2"/>
            <a:r>
              <a:rPr lang="en-US" dirty="0"/>
              <a:t>Data modeling (knowledge-based, data-driven or hybrid approaches)</a:t>
            </a:r>
          </a:p>
          <a:p>
            <a:pPr lvl="2"/>
            <a:r>
              <a:rPr lang="en-US" dirty="0"/>
              <a:t>Artificial intelligence (knowledge representation, machine learning, natural language processing, machine perception, automated planning, …)   </a:t>
            </a:r>
          </a:p>
        </p:txBody>
      </p:sp>
      <p:sp>
        <p:nvSpPr>
          <p:cNvPr id="2" name="Segnaposto numero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58F3DF7F-A0A0-2EBA-9A79-F1103A961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3058" y="2669060"/>
            <a:ext cx="12575058" cy="6512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420B5D-6854-0831-7228-34ECA5D9F499}"/>
              </a:ext>
            </a:extLst>
          </p:cNvPr>
          <p:cNvSpPr txBox="1"/>
          <p:nvPr/>
        </p:nvSpPr>
        <p:spPr>
          <a:xfrm>
            <a:off x="6655143" y="2170859"/>
            <a:ext cx="2469402" cy="369332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  <a:ea typeface="Palatino" pitchFamily="2" charset="77"/>
              </a:rPr>
              <a:t>Topic not covered</a:t>
            </a:r>
          </a:p>
        </p:txBody>
      </p:sp>
    </p:spTree>
    <p:extLst>
      <p:ext uri="{BB962C8B-B14F-4D97-AF65-F5344CB8AC3E}">
        <p14:creationId xmlns:p14="http://schemas.microsoft.com/office/powerpoint/2010/main" val="1585463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4. Application </a:t>
            </a:r>
            <a:r>
              <a:rPr lang="it-IT" dirty="0" err="1"/>
              <a:t>layer</a:t>
            </a:r>
            <a:endParaRPr lang="en-GB" dirty="0"/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Layer responsible for visualizing raw or processed data to end-users and for providing decision support to them through a software application</a:t>
            </a:r>
          </a:p>
          <a:p>
            <a:r>
              <a:rPr lang="it-IT" dirty="0" err="1"/>
              <a:t>Possible</a:t>
            </a:r>
            <a:r>
              <a:rPr lang="it-IT" dirty="0"/>
              <a:t> end-</a:t>
            </a:r>
            <a:r>
              <a:rPr lang="it-IT" dirty="0" err="1"/>
              <a:t>users</a:t>
            </a:r>
            <a:r>
              <a:rPr lang="it-IT" dirty="0"/>
              <a:t>: </a:t>
            </a:r>
            <a:r>
              <a:rPr lang="en-GB" dirty="0"/>
              <a:t>patients, physicians, caregivers, analysts, data managers, administrators, etc. </a:t>
            </a:r>
          </a:p>
          <a:p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applications</a:t>
            </a:r>
            <a:r>
              <a:rPr lang="it-IT" dirty="0"/>
              <a:t>:  </a:t>
            </a:r>
            <a:endParaRPr lang="en-GB" dirty="0"/>
          </a:p>
        </p:txBody>
      </p:sp>
      <p:sp>
        <p:nvSpPr>
          <p:cNvPr id="2" name="CasellaDiTesto 1"/>
          <p:cNvSpPr txBox="1"/>
          <p:nvPr/>
        </p:nvSpPr>
        <p:spPr>
          <a:xfrm>
            <a:off x="1089423" y="3528503"/>
            <a:ext cx="185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Mobile app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234008" y="3490095"/>
            <a:ext cx="185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Desktop app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9138209" y="3490095"/>
            <a:ext cx="185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Web app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4492293" y="5942369"/>
            <a:ext cx="3207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App installed in a computer. It can work offline. 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8386213" y="5847674"/>
            <a:ext cx="3317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App that runs on the browser.</a:t>
            </a:r>
          </a:p>
          <a:p>
            <a:pPr algn="ctr"/>
            <a:r>
              <a:rPr lang="en-US" dirty="0">
                <a:latin typeface="Aptos" panose="020B0004020202020204" pitchFamily="34" charset="0"/>
              </a:rPr>
              <a:t>Installation not required.  Internet access required.  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338171" y="5942370"/>
            <a:ext cx="4115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App installed in a mobile device (e.g. smartphone, smartwatch, tablet, etc.)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233" y="3954778"/>
            <a:ext cx="2457450" cy="186690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802" y="3970435"/>
            <a:ext cx="3173591" cy="1785145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3" t="7500" r="40526" b="4945"/>
          <a:stretch/>
        </p:blipFill>
        <p:spPr>
          <a:xfrm>
            <a:off x="1510537" y="3954778"/>
            <a:ext cx="1012951" cy="1800802"/>
          </a:xfrm>
          <a:prstGeom prst="rect">
            <a:avLst/>
          </a:prstGeom>
        </p:spPr>
      </p:pic>
      <p:sp>
        <p:nvSpPr>
          <p:cNvPr id="13" name="Segnaposto numero diapositiva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442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5155</TotalTime>
  <Words>2267</Words>
  <Application>Microsoft Macintosh PowerPoint</Application>
  <PresentationFormat>Widescreen</PresentationFormat>
  <Paragraphs>304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Arial</vt:lpstr>
      <vt:lpstr>Calibri</vt:lpstr>
      <vt:lpstr>Cambria Math</vt:lpstr>
      <vt:lpstr>Courier New</vt:lpstr>
      <vt:lpstr>Times New Roman</vt:lpstr>
      <vt:lpstr>Wingdings</vt:lpstr>
      <vt:lpstr>Tema di Office</vt:lpstr>
      <vt:lpstr>PowerPoint Presentation</vt:lpstr>
      <vt:lpstr>Wearable devices</vt:lpstr>
      <vt:lpstr>Wearable devices</vt:lpstr>
      <vt:lpstr>Definitions of sensor</vt:lpstr>
      <vt:lpstr>Classification of sensors based on their interaction with the measurand</vt:lpstr>
      <vt:lpstr>Classification of sensors based on their interaction with the measurand</vt:lpstr>
      <vt:lpstr>Classification of sensors based on their sensing technique</vt:lpstr>
      <vt:lpstr>Mechanical sensors</vt:lpstr>
      <vt:lpstr>Electrical sensors</vt:lpstr>
      <vt:lpstr>Optical sensors</vt:lpstr>
      <vt:lpstr>Chemical sensors</vt:lpstr>
      <vt:lpstr>Sensor characteristics</vt:lpstr>
      <vt:lpstr>Transfer function</vt:lpstr>
      <vt:lpstr>Inverse transfer function</vt:lpstr>
      <vt:lpstr>Common transfer function approximations</vt:lpstr>
      <vt:lpstr>Calibration</vt:lpstr>
      <vt:lpstr>Embedded processing unit</vt:lpstr>
      <vt:lpstr>Denoising</vt:lpstr>
      <vt:lpstr>Denoising</vt:lpstr>
      <vt:lpstr>Denoising</vt:lpstr>
      <vt:lpstr>Fault detection</vt:lpstr>
      <vt:lpstr>Communication systems</vt:lpstr>
      <vt:lpstr>The architecture of wearable IoT systems</vt:lpstr>
      <vt:lpstr>1. Sensing layer</vt:lpstr>
      <vt:lpstr>2. Network layer</vt:lpstr>
      <vt:lpstr>3. Data storing and processing layer</vt:lpstr>
      <vt:lpstr>3. Data storing and processing layer</vt:lpstr>
      <vt:lpstr>4. Application 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420</cp:revision>
  <dcterms:created xsi:type="dcterms:W3CDTF">2021-07-19T09:08:13Z</dcterms:created>
  <dcterms:modified xsi:type="dcterms:W3CDTF">2026-02-04T14:01:59Z</dcterms:modified>
</cp:coreProperties>
</file>