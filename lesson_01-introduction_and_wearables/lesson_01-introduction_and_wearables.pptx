
<file path=[Content_Types].xml><?xml version="1.0" encoding="utf-8"?>
<Types xmlns="http://schemas.openxmlformats.org/package/2006/content-types">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66" r:id="rId3"/>
    <p:sldId id="257" r:id="rId4"/>
    <p:sldId id="259" r:id="rId5"/>
    <p:sldId id="284" r:id="rId6"/>
    <p:sldId id="265" r:id="rId7"/>
    <p:sldId id="406" r:id="rId8"/>
    <p:sldId id="395" r:id="rId9"/>
    <p:sldId id="267" r:id="rId10"/>
    <p:sldId id="290" r:id="rId11"/>
    <p:sldId id="291" r:id="rId12"/>
    <p:sldId id="292" r:id="rId13"/>
    <p:sldId id="393" r:id="rId14"/>
    <p:sldId id="394" r:id="rId15"/>
    <p:sldId id="396" r:id="rId16"/>
    <p:sldId id="398" r:id="rId17"/>
    <p:sldId id="289" r:id="rId18"/>
    <p:sldId id="287" r:id="rId19"/>
    <p:sldId id="407" r:id="rId20"/>
    <p:sldId id="305" r:id="rId21"/>
    <p:sldId id="342" r:id="rId22"/>
    <p:sldId id="408" r:id="rId23"/>
    <p:sldId id="258" r:id="rId24"/>
    <p:sldId id="409" r:id="rId25"/>
    <p:sldId id="260" r:id="rId26"/>
    <p:sldId id="261" r:id="rId27"/>
    <p:sldId id="410" r:id="rId28"/>
    <p:sldId id="268" r:id="rId29"/>
    <p:sldId id="269" r:id="rId30"/>
    <p:sldId id="411" r:id="rId31"/>
    <p:sldId id="412" r:id="rId32"/>
    <p:sldId id="322" r:id="rId33"/>
    <p:sldId id="413" r:id="rId34"/>
    <p:sldId id="293" r:id="rId35"/>
    <p:sldId id="304" r:id="rId36"/>
    <p:sldId id="306" r:id="rId37"/>
    <p:sldId id="308" r:id="rId38"/>
    <p:sldId id="307" r:id="rId39"/>
    <p:sldId id="310" r:id="rId40"/>
    <p:sldId id="274" r:id="rId41"/>
    <p:sldId id="344" r:id="rId42"/>
    <p:sldId id="343" r:id="rId43"/>
    <p:sldId id="262" r:id="rId44"/>
    <p:sldId id="263" r:id="rId45"/>
    <p:sldId id="264" r:id="rId46"/>
    <p:sldId id="405" r:id="rId47"/>
    <p:sldId id="397" r:id="rId48"/>
    <p:sldId id="399" r:id="rId49"/>
    <p:sldId id="400" r:id="rId50"/>
    <p:sldId id="401" r:id="rId51"/>
    <p:sldId id="404" r:id="rId52"/>
    <p:sldId id="402" r:id="rId53"/>
    <p:sldId id="40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35" autoAdjust="0"/>
    <p:restoredTop sz="94678" autoAdjust="0"/>
  </p:normalViewPr>
  <p:slideViewPr>
    <p:cSldViewPr snapToGrid="0">
      <p:cViewPr varScale="1">
        <p:scale>
          <a:sx n="117" d="100"/>
          <a:sy n="117" d="100"/>
        </p:scale>
        <p:origin x="10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2-B02A-5C43-95B1-92A12F7B9586}"/>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38D-B34E-BB69-7C4027709352}"/>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3-B02A-5C43-95B1-92A12F7B9586}"/>
              </c:ext>
            </c:extLst>
          </c:dPt>
          <c:cat>
            <c:strRef>
              <c:f>Sheet1!$A$2:$A$4</c:f>
              <c:strCache>
                <c:ptCount val="3"/>
                <c:pt idx="0">
                  <c:v>Core functionalities</c:v>
                </c:pt>
                <c:pt idx="1">
                  <c:v>Additional functionalities</c:v>
                </c:pt>
                <c:pt idx="2">
                  <c:v>Quality of teamwork</c:v>
                </c:pt>
              </c:strCache>
            </c:strRef>
          </c:cat>
          <c:val>
            <c:numRef>
              <c:f>Sheet1!$B$2:$B$4</c:f>
              <c:numCache>
                <c:formatCode>General</c:formatCode>
                <c:ptCount val="3"/>
                <c:pt idx="0">
                  <c:v>40</c:v>
                </c:pt>
                <c:pt idx="1">
                  <c:v>50</c:v>
                </c:pt>
                <c:pt idx="2">
                  <c:v>10</c:v>
                </c:pt>
              </c:numCache>
            </c:numRef>
          </c:val>
          <c:extLst>
            <c:ext xmlns:c16="http://schemas.microsoft.com/office/drawing/2014/chart" uri="{C3380CC4-5D6E-409C-BE32-E72D297353CC}">
              <c16:uniqueId val="{00000000-B02A-5C43-95B1-92A12F7B958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FD464-F8EE-42BA-9BEF-F6DE8365F087}" type="datetimeFigureOut">
              <a:rPr lang="en-GB" smtClean="0"/>
              <a:t>24/02/2026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E2716-4F7E-4141-A218-58474614BAF2}" type="slidenum">
              <a:rPr lang="en-GB" smtClean="0"/>
              <a:t>‹#›</a:t>
            </a:fld>
            <a:endParaRPr lang="en-GB"/>
          </a:p>
        </p:txBody>
      </p:sp>
    </p:spTree>
    <p:extLst>
      <p:ext uri="{BB962C8B-B14F-4D97-AF65-F5344CB8AC3E}">
        <p14:creationId xmlns:p14="http://schemas.microsoft.com/office/powerpoint/2010/main" val="108019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38E2716-4F7E-4141-A218-58474614BAF2}" type="slidenum">
              <a:rPr lang="en-GB" smtClean="0"/>
              <a:t>1</a:t>
            </a:fld>
            <a:endParaRPr lang="en-GB"/>
          </a:p>
        </p:txBody>
      </p:sp>
    </p:spTree>
    <p:extLst>
      <p:ext uri="{BB962C8B-B14F-4D97-AF65-F5344CB8AC3E}">
        <p14:creationId xmlns:p14="http://schemas.microsoft.com/office/powerpoint/2010/main" val="233616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5</a:t>
            </a:fld>
            <a:endParaRPr lang="en-GB"/>
          </a:p>
        </p:txBody>
      </p:sp>
    </p:spTree>
    <p:extLst>
      <p:ext uri="{BB962C8B-B14F-4D97-AF65-F5344CB8AC3E}">
        <p14:creationId xmlns:p14="http://schemas.microsoft.com/office/powerpoint/2010/main" val="270728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6</a:t>
            </a:fld>
            <a:endParaRPr lang="en-GB"/>
          </a:p>
        </p:txBody>
      </p:sp>
    </p:spTree>
    <p:extLst>
      <p:ext uri="{BB962C8B-B14F-4D97-AF65-F5344CB8AC3E}">
        <p14:creationId xmlns:p14="http://schemas.microsoft.com/office/powerpoint/2010/main" val="2374988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7</a:t>
            </a:fld>
            <a:endParaRPr lang="en-GB"/>
          </a:p>
        </p:txBody>
      </p:sp>
    </p:spTree>
    <p:extLst>
      <p:ext uri="{BB962C8B-B14F-4D97-AF65-F5344CB8AC3E}">
        <p14:creationId xmlns:p14="http://schemas.microsoft.com/office/powerpoint/2010/main" val="1139963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8E5-24F4-E52C-E436-43E5C16AE35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982F3B4-3F24-F469-9DD1-C8C0DC5A48C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7446930-99A7-FD09-FDD6-41CC8FA31844}"/>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5BE85D59-4A0C-EA8E-DFB3-FA69D2ACF6EE}"/>
              </a:ext>
            </a:extLst>
          </p:cNvPr>
          <p:cNvSpPr>
            <a:spLocks noGrp="1"/>
          </p:cNvSpPr>
          <p:nvPr>
            <p:ph type="sldNum" sz="quarter" idx="10"/>
          </p:nvPr>
        </p:nvSpPr>
        <p:spPr/>
        <p:txBody>
          <a:bodyPr/>
          <a:lstStyle/>
          <a:p>
            <a:fld id="{338E2716-4F7E-4141-A218-58474614BAF2}" type="slidenum">
              <a:rPr lang="en-GB" smtClean="0"/>
              <a:t>8</a:t>
            </a:fld>
            <a:endParaRPr lang="en-GB"/>
          </a:p>
        </p:txBody>
      </p:sp>
    </p:spTree>
    <p:extLst>
      <p:ext uri="{BB962C8B-B14F-4D97-AF65-F5344CB8AC3E}">
        <p14:creationId xmlns:p14="http://schemas.microsoft.com/office/powerpoint/2010/main" val="974142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10</a:t>
            </a:fld>
            <a:endParaRPr lang="en-IT"/>
          </a:p>
        </p:txBody>
      </p:sp>
    </p:spTree>
    <p:extLst>
      <p:ext uri="{BB962C8B-B14F-4D97-AF65-F5344CB8AC3E}">
        <p14:creationId xmlns:p14="http://schemas.microsoft.com/office/powerpoint/2010/main" val="1348136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11</a:t>
            </a:fld>
            <a:endParaRPr lang="en-IT"/>
          </a:p>
        </p:txBody>
      </p:sp>
    </p:spTree>
    <p:extLst>
      <p:ext uri="{BB962C8B-B14F-4D97-AF65-F5344CB8AC3E}">
        <p14:creationId xmlns:p14="http://schemas.microsoft.com/office/powerpoint/2010/main" val="207794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12</a:t>
            </a:fld>
            <a:endParaRPr lang="en-IT"/>
          </a:p>
        </p:txBody>
      </p:sp>
    </p:spTree>
    <p:extLst>
      <p:ext uri="{BB962C8B-B14F-4D97-AF65-F5344CB8AC3E}">
        <p14:creationId xmlns:p14="http://schemas.microsoft.com/office/powerpoint/2010/main" val="478126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13</a:t>
            </a:fld>
            <a:endParaRPr lang="en-IT"/>
          </a:p>
        </p:txBody>
      </p:sp>
    </p:spTree>
    <p:extLst>
      <p:ext uri="{BB962C8B-B14F-4D97-AF65-F5344CB8AC3E}">
        <p14:creationId xmlns:p14="http://schemas.microsoft.com/office/powerpoint/2010/main" val="70362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14</a:t>
            </a:fld>
            <a:endParaRPr lang="en-IT"/>
          </a:p>
        </p:txBody>
      </p:sp>
    </p:spTree>
    <p:extLst>
      <p:ext uri="{BB962C8B-B14F-4D97-AF65-F5344CB8AC3E}">
        <p14:creationId xmlns:p14="http://schemas.microsoft.com/office/powerpoint/2010/main" val="460035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15</a:t>
            </a:fld>
            <a:endParaRPr lang="en-IT"/>
          </a:p>
        </p:txBody>
      </p:sp>
    </p:spTree>
    <p:extLst>
      <p:ext uri="{BB962C8B-B14F-4D97-AF65-F5344CB8AC3E}">
        <p14:creationId xmlns:p14="http://schemas.microsoft.com/office/powerpoint/2010/main" val="1010293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16</a:t>
            </a:fld>
            <a:endParaRPr lang="en-IT"/>
          </a:p>
        </p:txBody>
      </p:sp>
    </p:spTree>
    <p:extLst>
      <p:ext uri="{BB962C8B-B14F-4D97-AF65-F5344CB8AC3E}">
        <p14:creationId xmlns:p14="http://schemas.microsoft.com/office/powerpoint/2010/main" val="821716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290F-E0D5-C8C5-12F0-09B51033F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8ECD0-8E53-F0CF-BEC0-DD7B6B162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E8FD3-3AB9-EE2A-1FCA-B73DC835FB47}"/>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11FC2EA6-89B3-3D42-DF7D-42CB518FBC5C}"/>
              </a:ext>
            </a:extLst>
          </p:cNvPr>
          <p:cNvSpPr>
            <a:spLocks noGrp="1"/>
          </p:cNvSpPr>
          <p:nvPr>
            <p:ph type="sldNum" sz="quarter" idx="5"/>
          </p:nvPr>
        </p:nvSpPr>
        <p:spPr/>
        <p:txBody>
          <a:bodyPr/>
          <a:lstStyle/>
          <a:p>
            <a:fld id="{CC0F43FB-3F33-3F4B-9768-2FBED988F992}" type="slidenum">
              <a:rPr lang="en-IT" smtClean="0"/>
              <a:t>47</a:t>
            </a:fld>
            <a:endParaRPr lang="en-IT"/>
          </a:p>
        </p:txBody>
      </p:sp>
    </p:spTree>
    <p:extLst>
      <p:ext uri="{BB962C8B-B14F-4D97-AF65-F5344CB8AC3E}">
        <p14:creationId xmlns:p14="http://schemas.microsoft.com/office/powerpoint/2010/main" val="2626350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5345-7E91-77FE-9197-53232FC5E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3601C-43A2-A6B9-E888-8098B706F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758EC-9C2A-5E0B-EC62-2A02839271B4}"/>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5BB0AF41-181E-05A7-E073-D08E9A3082DB}"/>
              </a:ext>
            </a:extLst>
          </p:cNvPr>
          <p:cNvSpPr>
            <a:spLocks noGrp="1"/>
          </p:cNvSpPr>
          <p:nvPr>
            <p:ph type="sldNum" sz="quarter" idx="5"/>
          </p:nvPr>
        </p:nvSpPr>
        <p:spPr/>
        <p:txBody>
          <a:bodyPr/>
          <a:lstStyle/>
          <a:p>
            <a:fld id="{CC0F43FB-3F33-3F4B-9768-2FBED988F992}" type="slidenum">
              <a:rPr lang="en-IT" smtClean="0"/>
              <a:t>48</a:t>
            </a:fld>
            <a:endParaRPr lang="en-IT"/>
          </a:p>
        </p:txBody>
      </p:sp>
    </p:spTree>
    <p:extLst>
      <p:ext uri="{BB962C8B-B14F-4D97-AF65-F5344CB8AC3E}">
        <p14:creationId xmlns:p14="http://schemas.microsoft.com/office/powerpoint/2010/main" val="1171406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3903-7D18-6BD9-8E53-79E4BF5EF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FC42F-690D-B2D7-7FC9-A10EF92B0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48C0E-26DC-87A1-72D4-7D7E45DBEA2F}"/>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4BF35FC7-0A10-8E04-0B79-54752B92DEDC}"/>
              </a:ext>
            </a:extLst>
          </p:cNvPr>
          <p:cNvSpPr>
            <a:spLocks noGrp="1"/>
          </p:cNvSpPr>
          <p:nvPr>
            <p:ph type="sldNum" sz="quarter" idx="5"/>
          </p:nvPr>
        </p:nvSpPr>
        <p:spPr/>
        <p:txBody>
          <a:bodyPr/>
          <a:lstStyle/>
          <a:p>
            <a:fld id="{CC0F43FB-3F33-3F4B-9768-2FBED988F992}" type="slidenum">
              <a:rPr lang="en-IT" smtClean="0"/>
              <a:t>49</a:t>
            </a:fld>
            <a:endParaRPr lang="en-IT"/>
          </a:p>
        </p:txBody>
      </p:sp>
    </p:spTree>
    <p:extLst>
      <p:ext uri="{BB962C8B-B14F-4D97-AF65-F5344CB8AC3E}">
        <p14:creationId xmlns:p14="http://schemas.microsoft.com/office/powerpoint/2010/main" val="1337286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88884-7ADD-DBC7-B350-C09278DFC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5DDB8-7F15-D492-471C-88B537E8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2E5DD-70CC-D286-D1E2-9DC6C048E040}"/>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A8C55378-102A-C9E4-C484-869023C38904}"/>
              </a:ext>
            </a:extLst>
          </p:cNvPr>
          <p:cNvSpPr>
            <a:spLocks noGrp="1"/>
          </p:cNvSpPr>
          <p:nvPr>
            <p:ph type="sldNum" sz="quarter" idx="5"/>
          </p:nvPr>
        </p:nvSpPr>
        <p:spPr/>
        <p:txBody>
          <a:bodyPr/>
          <a:lstStyle/>
          <a:p>
            <a:fld id="{CC0F43FB-3F33-3F4B-9768-2FBED988F992}" type="slidenum">
              <a:rPr lang="en-IT" smtClean="0"/>
              <a:t>50</a:t>
            </a:fld>
            <a:endParaRPr lang="en-IT"/>
          </a:p>
        </p:txBody>
      </p:sp>
    </p:spTree>
    <p:extLst>
      <p:ext uri="{BB962C8B-B14F-4D97-AF65-F5344CB8AC3E}">
        <p14:creationId xmlns:p14="http://schemas.microsoft.com/office/powerpoint/2010/main" val="221194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D667-B35D-6CBB-3622-4D3256CC0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66AEB-122F-FD47-9C0E-B3212E061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09BA5-E836-BBEE-2AF3-430D720A9442}"/>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0ABF371C-CDE0-CDF2-C0C1-C317792AADE5}"/>
              </a:ext>
            </a:extLst>
          </p:cNvPr>
          <p:cNvSpPr>
            <a:spLocks noGrp="1"/>
          </p:cNvSpPr>
          <p:nvPr>
            <p:ph type="sldNum" sz="quarter" idx="5"/>
          </p:nvPr>
        </p:nvSpPr>
        <p:spPr/>
        <p:txBody>
          <a:bodyPr/>
          <a:lstStyle/>
          <a:p>
            <a:fld id="{CC0F43FB-3F33-3F4B-9768-2FBED988F992}" type="slidenum">
              <a:rPr lang="en-IT" smtClean="0"/>
              <a:t>51</a:t>
            </a:fld>
            <a:endParaRPr lang="en-IT"/>
          </a:p>
        </p:txBody>
      </p:sp>
    </p:spTree>
    <p:extLst>
      <p:ext uri="{BB962C8B-B14F-4D97-AF65-F5344CB8AC3E}">
        <p14:creationId xmlns:p14="http://schemas.microsoft.com/office/powerpoint/2010/main" val="311336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7186-9461-2346-CAA0-51B4A181C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467F3-563E-48F5-EF54-5D1B68F6D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2B57A-DA96-0C67-B460-A3AEE23F8D91}"/>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45E6C819-7AC6-8714-3926-7A7189BEC3D4}"/>
              </a:ext>
            </a:extLst>
          </p:cNvPr>
          <p:cNvSpPr>
            <a:spLocks noGrp="1"/>
          </p:cNvSpPr>
          <p:nvPr>
            <p:ph type="sldNum" sz="quarter" idx="5"/>
          </p:nvPr>
        </p:nvSpPr>
        <p:spPr/>
        <p:txBody>
          <a:bodyPr/>
          <a:lstStyle/>
          <a:p>
            <a:fld id="{CC0F43FB-3F33-3F4B-9768-2FBED988F992}" type="slidenum">
              <a:rPr lang="en-IT" smtClean="0"/>
              <a:t>52</a:t>
            </a:fld>
            <a:endParaRPr lang="en-IT"/>
          </a:p>
        </p:txBody>
      </p:sp>
    </p:spTree>
    <p:extLst>
      <p:ext uri="{BB962C8B-B14F-4D97-AF65-F5344CB8AC3E}">
        <p14:creationId xmlns:p14="http://schemas.microsoft.com/office/powerpoint/2010/main" val="281095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6D162-6DE4-C594-A1D9-43E680A91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618D1-FA34-850D-D737-00CE92CCB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D2DA9-693C-31FB-F555-69264F1F1794}"/>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9160BCB5-D64C-C8D4-4D7C-BD62331D017B}"/>
              </a:ext>
            </a:extLst>
          </p:cNvPr>
          <p:cNvSpPr>
            <a:spLocks noGrp="1"/>
          </p:cNvSpPr>
          <p:nvPr>
            <p:ph type="sldNum" sz="quarter" idx="5"/>
          </p:nvPr>
        </p:nvSpPr>
        <p:spPr/>
        <p:txBody>
          <a:bodyPr/>
          <a:lstStyle/>
          <a:p>
            <a:fld id="{CC0F43FB-3F33-3F4B-9768-2FBED988F992}" type="slidenum">
              <a:rPr lang="en-IT" smtClean="0"/>
              <a:t>53</a:t>
            </a:fld>
            <a:endParaRPr lang="en-IT"/>
          </a:p>
        </p:txBody>
      </p:sp>
    </p:spTree>
    <p:extLst>
      <p:ext uri="{BB962C8B-B14F-4D97-AF65-F5344CB8AC3E}">
        <p14:creationId xmlns:p14="http://schemas.microsoft.com/office/powerpoint/2010/main" val="797257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a:p>
            <a:pPr>
              <a:spcAft>
                <a:spcPts val="600"/>
              </a:spcAft>
            </a:pPr>
            <a:r>
              <a:rPr lang="it-IT" sz="280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gcappon.github.io/" TargetMode="External"/><Relationship Id="rId2" Type="http://schemas.openxmlformats.org/officeDocument/2006/relationships/hyperlink" Target="mailto:giacomo.cappon@unipd.it"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ithub.com/gcapp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hyperlink" Target="mailto:luca.cossu@phd.unipd.it" TargetMode="External"/><Relationship Id="rId7" Type="http://schemas.openxmlformats.org/officeDocument/2006/relationships/image" Target="../media/image27.png"/><Relationship Id="rId2" Type="http://schemas.openxmlformats.org/officeDocument/2006/relationships/image" Target="../media/image24.jp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jpg"/><Relationship Id="rId4" Type="http://schemas.openxmlformats.org/officeDocument/2006/relationships/hyperlink" Target="mailto:alberto.gastaldello.2@phd.unipd.i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1.xml"/><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1.jfif"/><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60.png"/><Relationship Id="rId3" Type="http://schemas.openxmlformats.org/officeDocument/2006/relationships/image" Target="../media/image160.png"/><Relationship Id="rId7" Type="http://schemas.openxmlformats.org/officeDocument/2006/relationships/image" Target="../media/image200.png"/><Relationship Id="rId12" Type="http://schemas.openxmlformats.org/officeDocument/2006/relationships/image" Target="../media/image25.png"/><Relationship Id="rId2" Type="http://schemas.openxmlformats.org/officeDocument/2006/relationships/image" Target="../media/image150.png"/><Relationship Id="rId1" Type="http://schemas.openxmlformats.org/officeDocument/2006/relationships/slideLayout" Target="../slideLayouts/slideLayout1.xml"/><Relationship Id="rId6" Type="http://schemas.openxmlformats.org/officeDocument/2006/relationships/image" Target="../media/image190.png"/><Relationship Id="rId11" Type="http://schemas.openxmlformats.org/officeDocument/2006/relationships/image" Target="../media/image24.png"/><Relationship Id="rId5" Type="http://schemas.openxmlformats.org/officeDocument/2006/relationships/image" Target="../media/image180.png"/><Relationship Id="rId10" Type="http://schemas.openxmlformats.org/officeDocument/2006/relationships/image" Target="../media/image230.png"/><Relationship Id="rId4" Type="http://schemas.openxmlformats.org/officeDocument/2006/relationships/image" Target="../media/image170.png"/><Relationship Id="rId9" Type="http://schemas.openxmlformats.org/officeDocument/2006/relationships/image" Target="../media/image220.png"/><Relationship Id="rId14" Type="http://schemas.openxmlformats.org/officeDocument/2006/relationships/image" Target="../media/image270.png"/></Relationships>
</file>

<file path=ppt/slides/_rels/slide3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6.jfi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53.jpeg"/><Relationship Id="rId13" Type="http://schemas.openxmlformats.org/officeDocument/2006/relationships/image" Target="../media/image58.jpeg"/><Relationship Id="rId18" Type="http://schemas.openxmlformats.org/officeDocument/2006/relationships/image" Target="../media/image63.jpeg"/><Relationship Id="rId3" Type="http://schemas.openxmlformats.org/officeDocument/2006/relationships/image" Target="../media/image48.jpeg"/><Relationship Id="rId7" Type="http://schemas.openxmlformats.org/officeDocument/2006/relationships/image" Target="../media/image52.jfif"/><Relationship Id="rId12" Type="http://schemas.openxmlformats.org/officeDocument/2006/relationships/image" Target="../media/image57.png"/><Relationship Id="rId17" Type="http://schemas.openxmlformats.org/officeDocument/2006/relationships/image" Target="../media/image62.jpeg"/><Relationship Id="rId2" Type="http://schemas.openxmlformats.org/officeDocument/2006/relationships/image" Target="../media/image47.png"/><Relationship Id="rId16" Type="http://schemas.openxmlformats.org/officeDocument/2006/relationships/image" Target="../media/image61.jpeg"/><Relationship Id="rId1" Type="http://schemas.openxmlformats.org/officeDocument/2006/relationships/slideLayout" Target="../slideLayouts/slideLayout1.xml"/><Relationship Id="rId6" Type="http://schemas.openxmlformats.org/officeDocument/2006/relationships/image" Target="../media/image51.jpeg"/><Relationship Id="rId11" Type="http://schemas.openxmlformats.org/officeDocument/2006/relationships/image" Target="../media/image56.jpe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jpeg"/><Relationship Id="rId4" Type="http://schemas.openxmlformats.org/officeDocument/2006/relationships/image" Target="../media/image49.png"/><Relationship Id="rId9" Type="http://schemas.openxmlformats.org/officeDocument/2006/relationships/image" Target="../media/image54.jpeg"/><Relationship Id="rId1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1.xml"/><Relationship Id="rId5" Type="http://schemas.openxmlformats.org/officeDocument/2006/relationships/image" Target="../media/image65.jpg"/><Relationship Id="rId4" Type="http://schemas.openxmlformats.org/officeDocument/2006/relationships/image" Target="../media/image64.jpe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jpeg"/><Relationship Id="rId1" Type="http://schemas.openxmlformats.org/officeDocument/2006/relationships/slideLayout" Target="../slideLayouts/slideLayout1.xml"/><Relationship Id="rId4" Type="http://schemas.openxmlformats.org/officeDocument/2006/relationships/image" Target="../media/image66.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67.jfif"/><Relationship Id="rId1" Type="http://schemas.openxmlformats.org/officeDocument/2006/relationships/slideLayout" Target="../slideLayouts/slideLayout1.xml"/><Relationship Id="rId4" Type="http://schemas.openxmlformats.org/officeDocument/2006/relationships/image" Target="../media/image6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it-IT" dirty="0" err="1"/>
              <a:t>Introduction</a:t>
            </a:r>
            <a:endParaRPr lang="en-GB" dirty="0"/>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dirty="0"/>
              <a:t>Who </a:t>
            </a:r>
            <a:r>
              <a:rPr lang="it-IT" dirty="0" err="1"/>
              <a:t>am</a:t>
            </a:r>
            <a:r>
              <a:rPr lang="it-IT" dirty="0"/>
              <a:t> I</a:t>
            </a:r>
            <a:endParaRPr lang="en-GB" dirty="0"/>
          </a:p>
        </p:txBody>
      </p:sp>
      <p:sp>
        <p:nvSpPr>
          <p:cNvPr id="4" name="Segnaposto contenuto 3"/>
          <p:cNvSpPr>
            <a:spLocks noGrp="1"/>
          </p:cNvSpPr>
          <p:nvPr>
            <p:ph idx="1"/>
          </p:nvPr>
        </p:nvSpPr>
        <p:spPr>
          <a:xfrm>
            <a:off x="428173" y="1361167"/>
            <a:ext cx="7460051" cy="4858203"/>
          </a:xfrm>
        </p:spPr>
        <p:txBody>
          <a:bodyPr/>
          <a:lstStyle/>
          <a:p>
            <a:r>
              <a:rPr lang="en-GB" b="1" dirty="0"/>
              <a:t>Giacomo Cappon</a:t>
            </a:r>
          </a:p>
          <a:p>
            <a:pPr lvl="1"/>
            <a:r>
              <a:rPr lang="en-GB" dirty="0"/>
              <a:t>Assistant Professor, Department of Information Engineering, University of Padova</a:t>
            </a:r>
          </a:p>
          <a:p>
            <a:pPr lvl="1"/>
            <a:r>
              <a:rPr lang="en-GB" dirty="0"/>
              <a:t>PhD in Information Engineering, curriculum Bioengineering</a:t>
            </a:r>
          </a:p>
          <a:p>
            <a:pPr lvl="1"/>
            <a:r>
              <a:rPr lang="en-GB" dirty="0"/>
              <a:t>Main research interests: signal processing; decision support systems; wearable sensors; digital health; ai for medicine</a:t>
            </a:r>
          </a:p>
          <a:p>
            <a:pPr marL="457200" lvl="1" indent="0">
              <a:buNone/>
            </a:pPr>
            <a:endParaRPr lang="en-GB" dirty="0"/>
          </a:p>
          <a:p>
            <a:r>
              <a:rPr lang="en-GB" dirty="0"/>
              <a:t>Contacts</a:t>
            </a:r>
          </a:p>
          <a:p>
            <a:pPr lvl="1"/>
            <a:r>
              <a:rPr lang="en-GB" dirty="0"/>
              <a:t>email: </a:t>
            </a:r>
            <a:r>
              <a:rPr lang="en-GB" dirty="0">
                <a:hlinkClick r:id="rId2"/>
              </a:rPr>
              <a:t>giacomo.cappon@unipd.it</a:t>
            </a:r>
            <a:endParaRPr lang="en-GB" dirty="0"/>
          </a:p>
          <a:p>
            <a:pPr lvl="1"/>
            <a:r>
              <a:rPr lang="en-GB" dirty="0"/>
              <a:t>personal website: </a:t>
            </a:r>
            <a:r>
              <a:rPr lang="en-GB" dirty="0">
                <a:hlinkClick r:id="rId3"/>
              </a:rPr>
              <a:t>https://gcappon.github.io</a:t>
            </a:r>
            <a:r>
              <a:rPr lang="en-GB" dirty="0"/>
              <a:t>  </a:t>
            </a:r>
          </a:p>
          <a:p>
            <a:pPr lvl="1"/>
            <a:r>
              <a:rPr lang="en-GB" dirty="0"/>
              <a:t>public repos: </a:t>
            </a:r>
            <a:r>
              <a:rPr lang="en-GB" dirty="0">
                <a:hlinkClick r:id="rId4"/>
              </a:rPr>
              <a:t>https://github.com/gcappon</a:t>
            </a:r>
            <a:r>
              <a:rPr lang="en-GB" dirty="0"/>
              <a:t> </a:t>
            </a:r>
          </a:p>
        </p:txBody>
      </p:sp>
      <p:pic>
        <p:nvPicPr>
          <p:cNvPr id="2" name="Immagin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7968" y="1724071"/>
            <a:ext cx="2168039" cy="2168039"/>
          </a:xfrm>
          <a:prstGeom prst="rect">
            <a:avLst/>
          </a:prstGeom>
        </p:spPr>
      </p:pic>
      <p:sp>
        <p:nvSpPr>
          <p:cNvPr id="6" name="Segnaposto numero diapositiva 5"/>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3666219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What is the course about?</a:t>
            </a:r>
          </a:p>
        </p:txBody>
      </p:sp>
      <p:sp>
        <p:nvSpPr>
          <p:cNvPr id="3" name="Segnaposto contenuto 2"/>
          <p:cNvSpPr>
            <a:spLocks noGrp="1"/>
          </p:cNvSpPr>
          <p:nvPr>
            <p:ph idx="1"/>
          </p:nvPr>
        </p:nvSpPr>
        <p:spPr>
          <a:xfrm>
            <a:off x="428172" y="1843433"/>
            <a:ext cx="9303657" cy="4858203"/>
          </a:xfrm>
        </p:spPr>
        <p:txBody>
          <a:bodyPr/>
          <a:lstStyle/>
          <a:p>
            <a:r>
              <a:rPr lang="en-US" b="1" dirty="0"/>
              <a:t>E-health</a:t>
            </a:r>
            <a:r>
              <a:rPr lang="en-US" dirty="0"/>
              <a:t> or </a:t>
            </a:r>
            <a:r>
              <a:rPr lang="en-US" b="1" dirty="0"/>
              <a:t>digital health</a:t>
            </a:r>
            <a:r>
              <a:rPr lang="en-US" dirty="0"/>
              <a:t>: The use of modern Information and Communication Technologies (ICT) to efficiently deliver all kinds of healthcare services</a:t>
            </a:r>
          </a:p>
          <a:p>
            <a:pPr lvl="1"/>
            <a:r>
              <a:rPr lang="en-US" dirty="0"/>
              <a:t>Examples: EHR, telemedicine systems</a:t>
            </a:r>
          </a:p>
          <a:p>
            <a:pPr lvl="1"/>
            <a:endParaRPr lang="en-US" dirty="0"/>
          </a:p>
          <a:p>
            <a:r>
              <a:rPr lang="en-US" b="1" dirty="0"/>
              <a:t>Wearables</a:t>
            </a:r>
            <a:r>
              <a:rPr lang="en-US" dirty="0"/>
              <a:t>: electronic devices worn close to and/or on the surface of the skin, which detect, analyze and transmit biomedical data, such as heart rate, activity, blood pressure, temperature, etc.</a:t>
            </a:r>
          </a:p>
          <a:p>
            <a:endParaRPr lang="en-US" b="1" dirty="0"/>
          </a:p>
          <a:p>
            <a:r>
              <a:rPr lang="en-US" b="1" dirty="0"/>
              <a:t>Internet-of-thing (</a:t>
            </a:r>
            <a:r>
              <a:rPr lang="en-US" b="1" dirty="0" err="1"/>
              <a:t>IoT</a:t>
            </a:r>
            <a:r>
              <a:rPr lang="en-US" b="1" dirty="0"/>
              <a:t>) wearables</a:t>
            </a:r>
            <a:r>
              <a:rPr lang="en-US" dirty="0"/>
              <a:t>: Wearables that connect and exchange data with other devices (wearable or not) and systems over the Internet or other communication networks</a:t>
            </a:r>
          </a:p>
          <a:p>
            <a:pPr lvl="1"/>
            <a:endParaRPr lang="en-GB" dirty="0"/>
          </a:p>
        </p:txBody>
      </p:sp>
      <p:sp>
        <p:nvSpPr>
          <p:cNvPr id="4" name="Ovale 3"/>
          <p:cNvSpPr/>
          <p:nvPr/>
        </p:nvSpPr>
        <p:spPr>
          <a:xfrm>
            <a:off x="9551443" y="1891972"/>
            <a:ext cx="2593910" cy="2603241"/>
          </a:xfrm>
          <a:prstGeom prst="ellipse">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5" name="Ovale 4"/>
          <p:cNvSpPr/>
          <p:nvPr/>
        </p:nvSpPr>
        <p:spPr>
          <a:xfrm>
            <a:off x="9887345" y="2381342"/>
            <a:ext cx="1980000" cy="1980000"/>
          </a:xfrm>
          <a:prstGeom prst="ellipse">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CasellaDiTesto 6"/>
          <p:cNvSpPr txBox="1"/>
          <p:nvPr/>
        </p:nvSpPr>
        <p:spPr>
          <a:xfrm>
            <a:off x="9841719" y="2001858"/>
            <a:ext cx="2013358" cy="369332"/>
          </a:xfrm>
          <a:prstGeom prst="rect">
            <a:avLst/>
          </a:prstGeom>
          <a:noFill/>
        </p:spPr>
        <p:txBody>
          <a:bodyPr wrap="square" rtlCol="0">
            <a:spAutoFit/>
          </a:bodyPr>
          <a:lstStyle/>
          <a:p>
            <a:pPr algn="ctr"/>
            <a:r>
              <a:rPr lang="it-IT" dirty="0">
                <a:latin typeface="Aptos" panose="020B0004020202020204" pitchFamily="34" charset="0"/>
              </a:rPr>
              <a:t>E-</a:t>
            </a:r>
            <a:r>
              <a:rPr lang="it-IT" dirty="0" err="1">
                <a:latin typeface="Aptos" panose="020B0004020202020204" pitchFamily="34" charset="0"/>
              </a:rPr>
              <a:t>health</a:t>
            </a:r>
            <a:endParaRPr lang="en-GB" dirty="0">
              <a:latin typeface="Aptos" panose="020B0004020202020204" pitchFamily="34" charset="0"/>
            </a:endParaRPr>
          </a:p>
        </p:txBody>
      </p:sp>
      <p:sp>
        <p:nvSpPr>
          <p:cNvPr id="8" name="CasellaDiTesto 7"/>
          <p:cNvSpPr txBox="1"/>
          <p:nvPr/>
        </p:nvSpPr>
        <p:spPr>
          <a:xfrm>
            <a:off x="9841719" y="2533138"/>
            <a:ext cx="2013358" cy="369332"/>
          </a:xfrm>
          <a:prstGeom prst="rect">
            <a:avLst/>
          </a:prstGeom>
          <a:noFill/>
        </p:spPr>
        <p:txBody>
          <a:bodyPr wrap="square" rtlCol="0">
            <a:spAutoFit/>
          </a:bodyPr>
          <a:lstStyle/>
          <a:p>
            <a:pPr algn="ctr"/>
            <a:r>
              <a:rPr lang="it-IT" dirty="0" err="1">
                <a:latin typeface="Aptos" panose="020B0004020202020204" pitchFamily="34" charset="0"/>
              </a:rPr>
              <a:t>Wearables</a:t>
            </a:r>
            <a:endParaRPr lang="en-GB" dirty="0">
              <a:latin typeface="Aptos" panose="020B0004020202020204" pitchFamily="34" charset="0"/>
            </a:endParaRPr>
          </a:p>
        </p:txBody>
      </p:sp>
      <p:grpSp>
        <p:nvGrpSpPr>
          <p:cNvPr id="11" name="Gruppo 10">
            <a:extLst>
              <a:ext uri="{FF2B5EF4-FFF2-40B4-BE49-F238E27FC236}">
                <a16:creationId xmlns:a16="http://schemas.microsoft.com/office/drawing/2014/main" id="{D185594D-6EAA-3F45-877F-0D678EDFDF5E}"/>
              </a:ext>
            </a:extLst>
          </p:cNvPr>
          <p:cNvGrpSpPr/>
          <p:nvPr/>
        </p:nvGrpSpPr>
        <p:grpSpPr>
          <a:xfrm>
            <a:off x="10137474" y="3036341"/>
            <a:ext cx="1467474" cy="1224000"/>
            <a:chOff x="9981958" y="2693250"/>
            <a:chExt cx="1467474" cy="1224000"/>
          </a:xfrm>
        </p:grpSpPr>
        <p:sp>
          <p:nvSpPr>
            <p:cNvPr id="6" name="Ovale 5"/>
            <p:cNvSpPr/>
            <p:nvPr/>
          </p:nvSpPr>
          <p:spPr>
            <a:xfrm>
              <a:off x="10109829" y="2693250"/>
              <a:ext cx="1224000" cy="1224000"/>
            </a:xfrm>
            <a:prstGeom prst="ellipse">
              <a:avLst/>
            </a:prstGeom>
            <a:solidFill>
              <a:srgbClr val="FFFF0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CasellaDiTesto 8"/>
            <p:cNvSpPr txBox="1"/>
            <p:nvPr/>
          </p:nvSpPr>
          <p:spPr>
            <a:xfrm>
              <a:off x="9981958" y="2946671"/>
              <a:ext cx="1467474" cy="646331"/>
            </a:xfrm>
            <a:prstGeom prst="rect">
              <a:avLst/>
            </a:prstGeom>
            <a:noFill/>
          </p:spPr>
          <p:txBody>
            <a:bodyPr wrap="square" rtlCol="0">
              <a:spAutoFit/>
            </a:bodyPr>
            <a:lstStyle/>
            <a:p>
              <a:pPr algn="ctr"/>
              <a:r>
                <a:rPr lang="it-IT" dirty="0" err="1">
                  <a:latin typeface="Aptos" panose="020B0004020202020204" pitchFamily="34" charset="0"/>
                </a:rPr>
                <a:t>IoT</a:t>
              </a:r>
              <a:r>
                <a:rPr lang="it-IT" dirty="0">
                  <a:latin typeface="Aptos" panose="020B0004020202020204" pitchFamily="34" charset="0"/>
                </a:rPr>
                <a:t> </a:t>
              </a:r>
              <a:r>
                <a:rPr lang="it-IT" dirty="0" err="1">
                  <a:latin typeface="Aptos" panose="020B0004020202020204" pitchFamily="34" charset="0"/>
                </a:rPr>
                <a:t>wearables</a:t>
              </a:r>
              <a:endParaRPr lang="en-GB" dirty="0">
                <a:latin typeface="Aptos" panose="020B0004020202020204" pitchFamily="34" charset="0"/>
              </a:endParaRPr>
            </a:p>
          </p:txBody>
        </p:sp>
      </p:grpSp>
      <p:sp>
        <p:nvSpPr>
          <p:cNvPr id="12" name="CasellaDiTesto 11"/>
          <p:cNvSpPr txBox="1"/>
          <p:nvPr/>
        </p:nvSpPr>
        <p:spPr>
          <a:xfrm>
            <a:off x="525463" y="1237255"/>
            <a:ext cx="9353725" cy="461665"/>
          </a:xfrm>
          <a:prstGeom prst="rect">
            <a:avLst/>
          </a:prstGeom>
          <a:noFill/>
        </p:spPr>
        <p:txBody>
          <a:bodyPr wrap="square" rtlCol="0">
            <a:spAutoFit/>
          </a:bodyPr>
          <a:lstStyle/>
          <a:p>
            <a:r>
              <a:rPr lang="en-US" sz="2400" b="1" dirty="0">
                <a:latin typeface="Aptos" panose="020B0004020202020204" pitchFamily="34" charset="0"/>
              </a:rPr>
              <a:t>Biomedical wearable technologies…</a:t>
            </a:r>
          </a:p>
        </p:txBody>
      </p:sp>
      <p:sp>
        <p:nvSpPr>
          <p:cNvPr id="10" name="Segnaposto numero diapositiva 9"/>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327674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What is the course about?</a:t>
            </a:r>
            <a:endParaRPr lang="en-GB" dirty="0"/>
          </a:p>
        </p:txBody>
      </p:sp>
      <p:sp>
        <p:nvSpPr>
          <p:cNvPr id="3" name="Segnaposto contenuto 2"/>
          <p:cNvSpPr>
            <a:spLocks noGrp="1"/>
          </p:cNvSpPr>
          <p:nvPr>
            <p:ph idx="1"/>
          </p:nvPr>
        </p:nvSpPr>
        <p:spPr>
          <a:xfrm>
            <a:off x="428172" y="1914007"/>
            <a:ext cx="11368314" cy="2941457"/>
          </a:xfrm>
        </p:spPr>
        <p:txBody>
          <a:bodyPr/>
          <a:lstStyle/>
          <a:p>
            <a:r>
              <a:rPr lang="en-US" dirty="0"/>
              <a:t>Our society is facing some important global health challenges</a:t>
            </a:r>
          </a:p>
          <a:p>
            <a:pPr lvl="1"/>
            <a:r>
              <a:rPr lang="en-US" b="1" dirty="0"/>
              <a:t>Lifestyle-related illnesses </a:t>
            </a:r>
            <a:r>
              <a:rPr lang="en-US" dirty="0"/>
              <a:t>driven by sedentary life, consumption of processed and fast foods, alcohol drinking and smoking</a:t>
            </a:r>
            <a:endParaRPr lang="en-US" b="1" dirty="0"/>
          </a:p>
          <a:p>
            <a:pPr lvl="2"/>
            <a:r>
              <a:rPr lang="en-US" dirty="0"/>
              <a:t>Need to change the paradigm of healthcare, from a mostly reactive system to a </a:t>
            </a:r>
            <a:r>
              <a:rPr lang="en-US" b="1" dirty="0"/>
              <a:t>proactive system</a:t>
            </a:r>
            <a:endParaRPr lang="en-US" dirty="0"/>
          </a:p>
          <a:p>
            <a:pPr lvl="1"/>
            <a:endParaRPr lang="en-US" dirty="0"/>
          </a:p>
          <a:p>
            <a:pPr lvl="1"/>
            <a:r>
              <a:rPr lang="en-US" b="1" dirty="0"/>
              <a:t>Population ageing</a:t>
            </a:r>
            <a:r>
              <a:rPr lang="en-US" dirty="0"/>
              <a:t> rises </a:t>
            </a:r>
            <a:r>
              <a:rPr lang="en-US" dirty="0">
                <a:sym typeface="Wingdings" panose="05000000000000000000" pitchFamily="2" charset="2"/>
              </a:rPr>
              <a:t>the demand of health services and the healthcare expenditure.</a:t>
            </a:r>
          </a:p>
          <a:p>
            <a:pPr lvl="2"/>
            <a:r>
              <a:rPr lang="en-US" dirty="0">
                <a:sym typeface="Wingdings" panose="05000000000000000000" pitchFamily="2" charset="2"/>
              </a:rPr>
              <a:t>Need to </a:t>
            </a:r>
            <a:r>
              <a:rPr lang="en-US" b="1" dirty="0">
                <a:sym typeface="Wingdings" panose="05000000000000000000" pitchFamily="2" charset="2"/>
              </a:rPr>
              <a:t>decentralizing the healthcare </a:t>
            </a:r>
          </a:p>
          <a:p>
            <a:pPr lvl="2"/>
            <a:r>
              <a:rPr lang="en-US" dirty="0">
                <a:sym typeface="Wingdings" panose="05000000000000000000" pitchFamily="2" charset="2"/>
              </a:rPr>
              <a:t>Covid-19 pandemic called for urgent delivery of healthcare at home</a:t>
            </a:r>
            <a:endParaRPr lang="en-US" dirty="0"/>
          </a:p>
        </p:txBody>
      </p:sp>
      <p:sp>
        <p:nvSpPr>
          <p:cNvPr id="5" name="CasellaDiTesto 4"/>
          <p:cNvSpPr txBox="1"/>
          <p:nvPr/>
        </p:nvSpPr>
        <p:spPr>
          <a:xfrm>
            <a:off x="525463" y="1237255"/>
            <a:ext cx="9353725" cy="461665"/>
          </a:xfrm>
          <a:prstGeom prst="rect">
            <a:avLst/>
          </a:prstGeom>
          <a:noFill/>
        </p:spPr>
        <p:txBody>
          <a:bodyPr wrap="square" rtlCol="0">
            <a:spAutoFit/>
          </a:bodyPr>
          <a:lstStyle/>
          <a:p>
            <a:r>
              <a:rPr lang="en-US" sz="2400" b="1" dirty="0">
                <a:latin typeface="Aptos" panose="020B0004020202020204" pitchFamily="34" charset="0"/>
              </a:rPr>
              <a:t>… for healthcare and wellbeing</a:t>
            </a:r>
          </a:p>
        </p:txBody>
      </p:sp>
      <p:sp>
        <p:nvSpPr>
          <p:cNvPr id="4" name="Rettangolo 3"/>
          <p:cNvSpPr/>
          <p:nvPr/>
        </p:nvSpPr>
        <p:spPr>
          <a:xfrm>
            <a:off x="411843" y="5003175"/>
            <a:ext cx="11368314" cy="935334"/>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ptos" panose="020B0004020202020204" pitchFamily="34" charset="0"/>
              </a:rPr>
              <a:t>Biomedical wearable technologies are fundamental to make healthcare scalable and accessible outside the hospital setting and deliver personalized and preventive health services</a:t>
            </a:r>
            <a:r>
              <a:rPr lang="en-US" sz="2400" b="1" dirty="0">
                <a:solidFill>
                  <a:schemeClr val="tx1"/>
                </a:solidFill>
                <a:latin typeface="Aptos" panose="020B0004020202020204" pitchFamily="34" charset="0"/>
              </a:rPr>
              <a:t>  </a:t>
            </a:r>
          </a:p>
        </p:txBody>
      </p:sp>
      <p:sp>
        <p:nvSpPr>
          <p:cNvPr id="6" name="Segnaposto numero diapositiva 5"/>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135071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Theory </a:t>
            </a:r>
            <a:r>
              <a:rPr lang="it-IT" dirty="0" err="1"/>
              <a:t>program</a:t>
            </a:r>
            <a:endParaRPr lang="en-GB" dirty="0"/>
          </a:p>
        </p:txBody>
      </p:sp>
      <p:sp>
        <p:nvSpPr>
          <p:cNvPr id="6" name="Segnaposto contenuto 5"/>
          <p:cNvSpPr>
            <a:spLocks noGrp="1"/>
          </p:cNvSpPr>
          <p:nvPr>
            <p:ph idx="1"/>
          </p:nvPr>
        </p:nvSpPr>
        <p:spPr/>
        <p:txBody>
          <a:bodyPr>
            <a:normAutofit/>
          </a:bodyPr>
          <a:lstStyle/>
          <a:p>
            <a:r>
              <a:rPr lang="en-GB" dirty="0"/>
              <a:t>The theoretical part of the course will cover the following:</a:t>
            </a:r>
          </a:p>
          <a:p>
            <a:pPr lvl="1"/>
            <a:r>
              <a:rPr lang="en-GB" dirty="0"/>
              <a:t>Wearable sensor technologies</a:t>
            </a:r>
          </a:p>
          <a:p>
            <a:pPr lvl="1"/>
            <a:r>
              <a:rPr lang="en-GB" dirty="0"/>
              <a:t>Health design thinking</a:t>
            </a:r>
          </a:p>
          <a:p>
            <a:pPr lvl="1"/>
            <a:r>
              <a:rPr lang="en-GB" dirty="0"/>
              <a:t>Elements of UI/UX Design</a:t>
            </a:r>
          </a:p>
          <a:p>
            <a:pPr lvl="1"/>
            <a:r>
              <a:rPr lang="en-GB" dirty="0"/>
              <a:t>Evaluation of app usability</a:t>
            </a:r>
          </a:p>
          <a:p>
            <a:pPr lvl="1"/>
            <a:r>
              <a:rPr lang="en-GB" dirty="0"/>
              <a:t>Fundamentals of network architectures and the HTTP communication protocol</a:t>
            </a:r>
          </a:p>
          <a:p>
            <a:pPr lvl="1"/>
            <a:r>
              <a:rPr lang="en-GB" dirty="0"/>
              <a:t>The representational state transfer (REST) paradigm</a:t>
            </a:r>
          </a:p>
          <a:p>
            <a:pPr lvl="1"/>
            <a:r>
              <a:rPr lang="en-GB" dirty="0"/>
              <a:t>Application programming interfaces (APIs)</a:t>
            </a:r>
          </a:p>
          <a:p>
            <a:pPr lvl="1"/>
            <a:r>
              <a:rPr lang="en-GB" dirty="0"/>
              <a:t>Elements of network security</a:t>
            </a:r>
          </a:p>
          <a:p>
            <a:pPr lvl="1"/>
            <a:r>
              <a:rPr lang="en-GB" dirty="0"/>
              <a:t>Authentication protocols</a:t>
            </a:r>
          </a:p>
          <a:p>
            <a:pPr lvl="1"/>
            <a:r>
              <a:rPr lang="en-GB" dirty="0"/>
              <a:t>Regulation for health data management</a:t>
            </a:r>
          </a:p>
          <a:p>
            <a:pPr lvl="1"/>
            <a:endParaRPr lang="it-IT" dirty="0"/>
          </a:p>
          <a:p>
            <a:endParaRPr lang="it-IT" dirty="0"/>
          </a:p>
          <a:p>
            <a:endParaRPr lang="it-IT" dirty="0"/>
          </a:p>
        </p:txBody>
      </p:sp>
      <p:sp>
        <p:nvSpPr>
          <p:cNvPr id="2" name="Segnaposto numero diapositiva 1"/>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142757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Lab </a:t>
            </a:r>
            <a:r>
              <a:rPr lang="it-IT" dirty="0" err="1"/>
              <a:t>program</a:t>
            </a:r>
            <a:endParaRPr lang="en-GB" dirty="0"/>
          </a:p>
        </p:txBody>
      </p:sp>
      <p:sp>
        <p:nvSpPr>
          <p:cNvPr id="6" name="Segnaposto contenuto 5"/>
          <p:cNvSpPr>
            <a:spLocks noGrp="1"/>
          </p:cNvSpPr>
          <p:nvPr>
            <p:ph idx="1"/>
          </p:nvPr>
        </p:nvSpPr>
        <p:spPr>
          <a:xfrm>
            <a:off x="428172" y="1361167"/>
            <a:ext cx="11368314" cy="4858203"/>
          </a:xfrm>
        </p:spPr>
        <p:txBody>
          <a:bodyPr>
            <a:normAutofit/>
          </a:bodyPr>
          <a:lstStyle/>
          <a:p>
            <a:r>
              <a:rPr lang="en-GB" dirty="0"/>
              <a:t>The laboratorial part of the course will cover the following: </a:t>
            </a:r>
          </a:p>
          <a:p>
            <a:pPr lvl="1"/>
            <a:r>
              <a:rPr lang="en-GB" dirty="0"/>
              <a:t>The Git version control system</a:t>
            </a:r>
          </a:p>
          <a:p>
            <a:pPr lvl="1"/>
            <a:r>
              <a:rPr lang="en-GB" dirty="0"/>
              <a:t>Dart programming language and the Flutter framework</a:t>
            </a:r>
          </a:p>
          <a:p>
            <a:pPr lvl="1"/>
            <a:r>
              <a:rPr lang="en-GB" dirty="0"/>
              <a:t>Building mobile/web applications in Flutter</a:t>
            </a:r>
          </a:p>
          <a:p>
            <a:pPr lvl="1"/>
            <a:r>
              <a:rPr lang="en-GB" dirty="0"/>
              <a:t>User Interface design</a:t>
            </a:r>
          </a:p>
          <a:p>
            <a:pPr lvl="1"/>
            <a:r>
              <a:rPr lang="en-GB" dirty="0"/>
              <a:t>Navigation</a:t>
            </a:r>
          </a:p>
          <a:p>
            <a:pPr lvl="1"/>
            <a:r>
              <a:rPr lang="en-GB" dirty="0"/>
              <a:t>State management</a:t>
            </a:r>
          </a:p>
          <a:p>
            <a:pPr lvl="1"/>
            <a:r>
              <a:rPr lang="en-GB" dirty="0"/>
              <a:t>Basic data persistence</a:t>
            </a:r>
          </a:p>
          <a:p>
            <a:pPr lvl="1"/>
            <a:r>
              <a:rPr lang="en-GB" dirty="0"/>
              <a:t>Networking</a:t>
            </a:r>
          </a:p>
          <a:p>
            <a:pPr lvl="1"/>
            <a:r>
              <a:rPr lang="en-GB" dirty="0"/>
              <a:t>Integrating AI models in mobile applications</a:t>
            </a:r>
          </a:p>
          <a:p>
            <a:pPr lvl="1"/>
            <a:endParaRPr lang="en-GB" dirty="0"/>
          </a:p>
          <a:p>
            <a:r>
              <a:rPr lang="en-GB" dirty="0"/>
              <a:t>Workshop…</a:t>
            </a:r>
          </a:p>
        </p:txBody>
      </p:sp>
      <p:sp>
        <p:nvSpPr>
          <p:cNvPr id="2" name="Segnaposto numero diapositiva 1"/>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1937597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Lab </a:t>
            </a:r>
            <a:r>
              <a:rPr lang="it-IT" dirty="0" err="1"/>
              <a:t>program</a:t>
            </a:r>
            <a:r>
              <a:rPr lang="it-IT" dirty="0"/>
              <a:t> - The workshop</a:t>
            </a:r>
            <a:endParaRPr lang="en-GB" dirty="0"/>
          </a:p>
        </p:txBody>
      </p:sp>
      <p:sp>
        <p:nvSpPr>
          <p:cNvPr id="6" name="Segnaposto contenuto 5"/>
          <p:cNvSpPr>
            <a:spLocks noGrp="1"/>
          </p:cNvSpPr>
          <p:nvPr>
            <p:ph idx="1"/>
          </p:nvPr>
        </p:nvSpPr>
        <p:spPr>
          <a:xfrm>
            <a:off x="428172" y="1361167"/>
            <a:ext cx="6016696" cy="5334907"/>
          </a:xfrm>
        </p:spPr>
        <p:txBody>
          <a:bodyPr>
            <a:normAutofit/>
          </a:bodyPr>
          <a:lstStyle/>
          <a:p>
            <a:r>
              <a:rPr lang="en-GB" dirty="0"/>
              <a:t>2-hours workshop where we will set up a fake clinical trial aimed at evaluating the cardiovascular tone in a cohort of healthy subjects using an experimental algorithm</a:t>
            </a:r>
          </a:p>
          <a:p>
            <a:endParaRPr lang="en-GB" dirty="0"/>
          </a:p>
          <a:p>
            <a:endParaRPr lang="en-GB" dirty="0"/>
          </a:p>
          <a:p>
            <a:endParaRPr lang="en-GB" dirty="0"/>
          </a:p>
          <a:p>
            <a:endParaRPr lang="en-GB" dirty="0"/>
          </a:p>
          <a:p>
            <a:endParaRPr lang="en-GB" dirty="0"/>
          </a:p>
          <a:p>
            <a:r>
              <a:rPr lang="en-GB" dirty="0"/>
              <a:t>The fastest 5 students to submit the right answer will get a +1 to the final evaluation.</a:t>
            </a:r>
          </a:p>
          <a:p>
            <a:endParaRPr lang="en-GB" dirty="0"/>
          </a:p>
          <a:p>
            <a:endParaRPr lang="en-GB" dirty="0"/>
          </a:p>
          <a:p>
            <a:pPr lvl="1"/>
            <a:endParaRPr lang="en-GB" dirty="0"/>
          </a:p>
        </p:txBody>
      </p:sp>
      <p:sp>
        <p:nvSpPr>
          <p:cNvPr id="2" name="Segnaposto numero diapositiva 1"/>
          <p:cNvSpPr>
            <a:spLocks noGrp="1"/>
          </p:cNvSpPr>
          <p:nvPr>
            <p:ph type="sldNum" sz="quarter" idx="12"/>
          </p:nvPr>
        </p:nvSpPr>
        <p:spPr/>
        <p:txBody>
          <a:bodyPr/>
          <a:lstStyle/>
          <a:p>
            <a:fld id="{31DE2C5B-556E-47B8-A792-024C2FCA4ACC}" type="slidenum">
              <a:rPr lang="en-GB" smtClean="0"/>
              <a:t>7</a:t>
            </a:fld>
            <a:endParaRPr lang="en-GB"/>
          </a:p>
        </p:txBody>
      </p:sp>
      <p:sp>
        <p:nvSpPr>
          <p:cNvPr id="3" name="Rectangle 2">
            <a:extLst>
              <a:ext uri="{FF2B5EF4-FFF2-40B4-BE49-F238E27FC236}">
                <a16:creationId xmlns:a16="http://schemas.microsoft.com/office/drawing/2014/main" id="{3CF01D30-25FF-A464-7F67-76360D9C81C7}"/>
              </a:ext>
            </a:extLst>
          </p:cNvPr>
          <p:cNvSpPr/>
          <p:nvPr/>
        </p:nvSpPr>
        <p:spPr>
          <a:xfrm>
            <a:off x="7338152" y="1407768"/>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1. Trial setup</a:t>
            </a:r>
          </a:p>
        </p:txBody>
      </p:sp>
      <p:sp>
        <p:nvSpPr>
          <p:cNvPr id="4" name="Rectangle 3">
            <a:extLst>
              <a:ext uri="{FF2B5EF4-FFF2-40B4-BE49-F238E27FC236}">
                <a16:creationId xmlns:a16="http://schemas.microsoft.com/office/drawing/2014/main" id="{F355DA76-C949-FBA7-F19B-B2681BEF76B6}"/>
              </a:ext>
            </a:extLst>
          </p:cNvPr>
          <p:cNvSpPr/>
          <p:nvPr/>
        </p:nvSpPr>
        <p:spPr>
          <a:xfrm>
            <a:off x="7338152" y="2530165"/>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2. Data collection using a wearable and an app</a:t>
            </a:r>
          </a:p>
        </p:txBody>
      </p:sp>
      <p:sp>
        <p:nvSpPr>
          <p:cNvPr id="7" name="Rectangle 6">
            <a:extLst>
              <a:ext uri="{FF2B5EF4-FFF2-40B4-BE49-F238E27FC236}">
                <a16:creationId xmlns:a16="http://schemas.microsoft.com/office/drawing/2014/main" id="{8DADA1B7-0CF8-E402-5B14-12803EF97505}"/>
              </a:ext>
            </a:extLst>
          </p:cNvPr>
          <p:cNvSpPr/>
          <p:nvPr/>
        </p:nvSpPr>
        <p:spPr>
          <a:xfrm>
            <a:off x="7338152" y="3652562"/>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3. Data preparation</a:t>
            </a:r>
          </a:p>
        </p:txBody>
      </p:sp>
      <p:sp>
        <p:nvSpPr>
          <p:cNvPr id="8" name="Rectangle 7">
            <a:extLst>
              <a:ext uri="{FF2B5EF4-FFF2-40B4-BE49-F238E27FC236}">
                <a16:creationId xmlns:a16="http://schemas.microsoft.com/office/drawing/2014/main" id="{BC309BBA-502D-E590-BBE2-4B6D25A82C3E}"/>
              </a:ext>
            </a:extLst>
          </p:cNvPr>
          <p:cNvSpPr/>
          <p:nvPr/>
        </p:nvSpPr>
        <p:spPr>
          <a:xfrm>
            <a:off x="7338152" y="4774959"/>
            <a:ext cx="2544896" cy="661012"/>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ptos" panose="020B0004020202020204" pitchFamily="34" charset="0"/>
                <a:ea typeface="Palatino" pitchFamily="2" charset="77"/>
              </a:rPr>
              <a:t>4. Data analysis</a:t>
            </a:r>
          </a:p>
        </p:txBody>
      </p:sp>
      <p:sp>
        <p:nvSpPr>
          <p:cNvPr id="9" name="Rectangle 8">
            <a:extLst>
              <a:ext uri="{FF2B5EF4-FFF2-40B4-BE49-F238E27FC236}">
                <a16:creationId xmlns:a16="http://schemas.microsoft.com/office/drawing/2014/main" id="{AB862AA0-B559-9687-D694-D4FC5179D012}"/>
              </a:ext>
            </a:extLst>
          </p:cNvPr>
          <p:cNvSpPr/>
          <p:nvPr/>
        </p:nvSpPr>
        <p:spPr>
          <a:xfrm>
            <a:off x="7338152" y="5897356"/>
            <a:ext cx="2544896" cy="661012"/>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ptos" panose="020B0004020202020204" pitchFamily="34" charset="0"/>
                <a:ea typeface="Palatino" pitchFamily="2" charset="77"/>
              </a:rPr>
              <a:t>5. Trial outcome</a:t>
            </a:r>
          </a:p>
        </p:txBody>
      </p:sp>
      <p:sp>
        <p:nvSpPr>
          <p:cNvPr id="10" name="Right Brace 9">
            <a:extLst>
              <a:ext uri="{FF2B5EF4-FFF2-40B4-BE49-F238E27FC236}">
                <a16:creationId xmlns:a16="http://schemas.microsoft.com/office/drawing/2014/main" id="{A4B60173-A7FE-F61A-37F8-6965F45032AD}"/>
              </a:ext>
            </a:extLst>
          </p:cNvPr>
          <p:cNvSpPr/>
          <p:nvPr/>
        </p:nvSpPr>
        <p:spPr>
          <a:xfrm>
            <a:off x="9883048" y="1712329"/>
            <a:ext cx="374574" cy="230252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11" name="Right Brace 10">
            <a:extLst>
              <a:ext uri="{FF2B5EF4-FFF2-40B4-BE49-F238E27FC236}">
                <a16:creationId xmlns:a16="http://schemas.microsoft.com/office/drawing/2014/main" id="{B96513B9-D6BA-F122-28A3-A160CC8970AE}"/>
              </a:ext>
            </a:extLst>
          </p:cNvPr>
          <p:cNvSpPr/>
          <p:nvPr/>
        </p:nvSpPr>
        <p:spPr>
          <a:xfrm>
            <a:off x="9883048" y="5050440"/>
            <a:ext cx="374574" cy="117742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12" name="Segnaposto contenuto 5">
            <a:extLst>
              <a:ext uri="{FF2B5EF4-FFF2-40B4-BE49-F238E27FC236}">
                <a16:creationId xmlns:a16="http://schemas.microsoft.com/office/drawing/2014/main" id="{92A8F913-F681-690D-F89A-A419783EDA5C}"/>
              </a:ext>
            </a:extLst>
          </p:cNvPr>
          <p:cNvSpPr txBox="1">
            <a:spLocks/>
          </p:cNvSpPr>
          <p:nvPr/>
        </p:nvSpPr>
        <p:spPr>
          <a:xfrm>
            <a:off x="10257622" y="2620671"/>
            <a:ext cx="1783178" cy="634087"/>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latin typeface="Aptos" panose="020B0004020202020204" pitchFamily="34" charset="0"/>
              </a:rPr>
              <a:t>Together</a:t>
            </a:r>
          </a:p>
          <a:p>
            <a:endParaRPr lang="en-GB" b="1" dirty="0">
              <a:latin typeface="Aptos" panose="020B0004020202020204" pitchFamily="34" charset="0"/>
            </a:endParaRPr>
          </a:p>
          <a:p>
            <a:pPr lvl="1"/>
            <a:endParaRPr lang="en-GB" b="1" dirty="0">
              <a:latin typeface="Aptos" panose="020B0004020202020204" pitchFamily="34" charset="0"/>
            </a:endParaRPr>
          </a:p>
        </p:txBody>
      </p:sp>
      <p:sp>
        <p:nvSpPr>
          <p:cNvPr id="13" name="Segnaposto contenuto 5">
            <a:extLst>
              <a:ext uri="{FF2B5EF4-FFF2-40B4-BE49-F238E27FC236}">
                <a16:creationId xmlns:a16="http://schemas.microsoft.com/office/drawing/2014/main" id="{3EB01B8C-F8AF-F744-BB5C-73A294321FE2}"/>
              </a:ext>
            </a:extLst>
          </p:cNvPr>
          <p:cNvSpPr txBox="1">
            <a:spLocks/>
          </p:cNvSpPr>
          <p:nvPr/>
        </p:nvSpPr>
        <p:spPr>
          <a:xfrm>
            <a:off x="10257621" y="5435971"/>
            <a:ext cx="1934379" cy="634087"/>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latin typeface="Aptos" panose="020B0004020202020204" pitchFamily="34" charset="0"/>
              </a:rPr>
              <a:t>Individually</a:t>
            </a:r>
          </a:p>
          <a:p>
            <a:endParaRPr lang="en-GB" b="1" dirty="0">
              <a:latin typeface="Aptos" panose="020B0004020202020204" pitchFamily="34" charset="0"/>
            </a:endParaRPr>
          </a:p>
          <a:p>
            <a:pPr lvl="1"/>
            <a:endParaRPr lang="en-GB" b="1" dirty="0">
              <a:latin typeface="Aptos" panose="020B0004020202020204" pitchFamily="34" charset="0"/>
            </a:endParaRPr>
          </a:p>
        </p:txBody>
      </p:sp>
      <p:pic>
        <p:nvPicPr>
          <p:cNvPr id="14" name="Picture 13">
            <a:extLst>
              <a:ext uri="{FF2B5EF4-FFF2-40B4-BE49-F238E27FC236}">
                <a16:creationId xmlns:a16="http://schemas.microsoft.com/office/drawing/2014/main" id="{1C16D7A5-7443-1C92-5FC5-BA46D95CE261}"/>
              </a:ext>
            </a:extLst>
          </p:cNvPr>
          <p:cNvPicPr>
            <a:picLocks noChangeAspect="1"/>
          </p:cNvPicPr>
          <p:nvPr/>
        </p:nvPicPr>
        <p:blipFill>
          <a:blip r:embed="rId3"/>
          <a:stretch>
            <a:fillRect/>
          </a:stretch>
        </p:blipFill>
        <p:spPr>
          <a:xfrm>
            <a:off x="428172" y="3191177"/>
            <a:ext cx="3166431" cy="1553530"/>
          </a:xfrm>
          <a:prstGeom prst="rect">
            <a:avLst/>
          </a:prstGeom>
        </p:spPr>
      </p:pic>
      <p:pic>
        <p:nvPicPr>
          <p:cNvPr id="16" name="Picture 15">
            <a:extLst>
              <a:ext uri="{FF2B5EF4-FFF2-40B4-BE49-F238E27FC236}">
                <a16:creationId xmlns:a16="http://schemas.microsoft.com/office/drawing/2014/main" id="{17A55369-27DD-6052-AADC-B0739FB8674D}"/>
              </a:ext>
            </a:extLst>
          </p:cNvPr>
          <p:cNvPicPr>
            <a:picLocks noChangeAspect="1"/>
          </p:cNvPicPr>
          <p:nvPr/>
        </p:nvPicPr>
        <p:blipFill>
          <a:blip r:embed="rId4"/>
          <a:stretch>
            <a:fillRect/>
          </a:stretch>
        </p:blipFill>
        <p:spPr>
          <a:xfrm>
            <a:off x="3754549" y="3219801"/>
            <a:ext cx="2690319" cy="1705979"/>
          </a:xfrm>
          <a:prstGeom prst="rect">
            <a:avLst/>
          </a:prstGeom>
        </p:spPr>
      </p:pic>
    </p:spTree>
    <p:extLst>
      <p:ext uri="{BB962C8B-B14F-4D97-AF65-F5344CB8AC3E}">
        <p14:creationId xmlns:p14="http://schemas.microsoft.com/office/powerpoint/2010/main" val="370780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4B114-5E3B-29B6-C5A1-5B8E5FC06E43}"/>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B7B345EF-7BA8-DC56-C69C-3B8D7E90FE63}"/>
              </a:ext>
            </a:extLst>
          </p:cNvPr>
          <p:cNvSpPr>
            <a:spLocks noGrp="1"/>
          </p:cNvSpPr>
          <p:nvPr>
            <p:ph type="title"/>
          </p:nvPr>
        </p:nvSpPr>
        <p:spPr/>
        <p:txBody>
          <a:bodyPr/>
          <a:lstStyle/>
          <a:p>
            <a:r>
              <a:rPr lang="it-IT" dirty="0" err="1"/>
              <a:t>Prerequisites</a:t>
            </a:r>
            <a:r>
              <a:rPr lang="it-IT" dirty="0"/>
              <a:t> &amp; End of class goals</a:t>
            </a:r>
            <a:endParaRPr lang="en-GB" dirty="0"/>
          </a:p>
        </p:txBody>
      </p:sp>
      <p:sp>
        <p:nvSpPr>
          <p:cNvPr id="6" name="Segnaposto contenuto 5">
            <a:extLst>
              <a:ext uri="{FF2B5EF4-FFF2-40B4-BE49-F238E27FC236}">
                <a16:creationId xmlns:a16="http://schemas.microsoft.com/office/drawing/2014/main" id="{47A8037C-40C4-E670-E0E2-3491F7A4BB2F}"/>
              </a:ext>
            </a:extLst>
          </p:cNvPr>
          <p:cNvSpPr>
            <a:spLocks noGrp="1"/>
          </p:cNvSpPr>
          <p:nvPr>
            <p:ph idx="1"/>
          </p:nvPr>
        </p:nvSpPr>
        <p:spPr/>
        <p:txBody>
          <a:bodyPr>
            <a:normAutofit/>
          </a:bodyPr>
          <a:lstStyle/>
          <a:p>
            <a:r>
              <a:rPr lang="en-GB" dirty="0"/>
              <a:t>Prerequisites</a:t>
            </a:r>
          </a:p>
          <a:p>
            <a:pPr lvl="1"/>
            <a:r>
              <a:rPr lang="en-GB" dirty="0"/>
              <a:t>Basic:</a:t>
            </a:r>
          </a:p>
          <a:p>
            <a:pPr lvl="2"/>
            <a:r>
              <a:rPr lang="en-GB" dirty="0"/>
              <a:t>Propension for programming, Python</a:t>
            </a:r>
          </a:p>
          <a:p>
            <a:pPr lvl="1"/>
            <a:r>
              <a:rPr lang="en-GB" dirty="0"/>
              <a:t>Preferable:</a:t>
            </a:r>
          </a:p>
          <a:p>
            <a:pPr lvl="2"/>
            <a:r>
              <a:rPr lang="en-GB" dirty="0"/>
              <a:t>Object-oriented programming</a:t>
            </a:r>
          </a:p>
          <a:p>
            <a:pPr lvl="2"/>
            <a:endParaRPr lang="en-GB" dirty="0"/>
          </a:p>
          <a:p>
            <a:pPr lvl="2"/>
            <a:endParaRPr lang="en-GB" dirty="0"/>
          </a:p>
          <a:p>
            <a:r>
              <a:rPr lang="en-GB" dirty="0"/>
              <a:t>End of class goals</a:t>
            </a:r>
          </a:p>
          <a:p>
            <a:pPr lvl="1"/>
            <a:r>
              <a:rPr lang="en-GB" dirty="0"/>
              <a:t>Knowing how wearable devices communicates to the end-user</a:t>
            </a:r>
          </a:p>
          <a:p>
            <a:pPr lvl="1"/>
            <a:r>
              <a:rPr lang="en-GB" dirty="0"/>
              <a:t>Designing digital solutions to enhance healthcare and well-being</a:t>
            </a:r>
          </a:p>
          <a:p>
            <a:pPr lvl="1"/>
            <a:r>
              <a:rPr lang="en-GB" dirty="0"/>
              <a:t>Developing a fully functioning mobile application </a:t>
            </a:r>
          </a:p>
          <a:p>
            <a:pPr lvl="2"/>
            <a:endParaRPr lang="en-GB" dirty="0"/>
          </a:p>
          <a:p>
            <a:pPr lvl="2"/>
            <a:endParaRPr lang="en-GB" dirty="0"/>
          </a:p>
        </p:txBody>
      </p:sp>
      <p:sp>
        <p:nvSpPr>
          <p:cNvPr id="2" name="Segnaposto numero diapositiva 1">
            <a:extLst>
              <a:ext uri="{FF2B5EF4-FFF2-40B4-BE49-F238E27FC236}">
                <a16:creationId xmlns:a16="http://schemas.microsoft.com/office/drawing/2014/main" id="{546F5AA3-F5BE-04C3-FA2A-41F4B0F7C155}"/>
              </a:ext>
            </a:extLst>
          </p:cNvPr>
          <p:cNvSpPr>
            <a:spLocks noGrp="1"/>
          </p:cNvSpPr>
          <p:nvPr>
            <p:ph type="sldNum" sz="quarter" idx="12"/>
          </p:nvPr>
        </p:nvSpPr>
        <p:spPr/>
        <p:txBody>
          <a:bodyPr/>
          <a:lstStyle/>
          <a:p>
            <a:fld id="{31DE2C5B-556E-47B8-A792-024C2FCA4ACC}" type="slidenum">
              <a:rPr lang="en-GB" smtClean="0"/>
              <a:t>8</a:t>
            </a:fld>
            <a:endParaRPr lang="en-GB"/>
          </a:p>
        </p:txBody>
      </p:sp>
      <p:pic>
        <p:nvPicPr>
          <p:cNvPr id="4" name="Graphic 3" descr="Web design outline">
            <a:extLst>
              <a:ext uri="{FF2B5EF4-FFF2-40B4-BE49-F238E27FC236}">
                <a16:creationId xmlns:a16="http://schemas.microsoft.com/office/drawing/2014/main" id="{393E78A7-8711-D8BA-9A6D-3E4B10149B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90165" y="1573149"/>
            <a:ext cx="1759527" cy="1759527"/>
          </a:xfrm>
          <a:prstGeom prst="rect">
            <a:avLst/>
          </a:prstGeom>
        </p:spPr>
      </p:pic>
      <p:pic>
        <p:nvPicPr>
          <p:cNvPr id="8" name="Graphic 7" descr="Bullseye outline">
            <a:extLst>
              <a:ext uri="{FF2B5EF4-FFF2-40B4-BE49-F238E27FC236}">
                <a16:creationId xmlns:a16="http://schemas.microsoft.com/office/drawing/2014/main" id="{E0D7932D-A883-7DBC-9E00-1FB64163EF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90165" y="4528333"/>
            <a:ext cx="1759527" cy="1759527"/>
          </a:xfrm>
          <a:prstGeom prst="rect">
            <a:avLst/>
          </a:prstGeom>
        </p:spPr>
      </p:pic>
    </p:spTree>
    <p:extLst>
      <p:ext uri="{BB962C8B-B14F-4D97-AF65-F5344CB8AC3E}">
        <p14:creationId xmlns:p14="http://schemas.microsoft.com/office/powerpoint/2010/main" val="3831029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exam</a:t>
            </a:r>
            <a:endParaRPr lang="en-GB" dirty="0"/>
          </a:p>
        </p:txBody>
      </p:sp>
      <p:sp>
        <p:nvSpPr>
          <p:cNvPr id="3" name="Segnaposto contenuto 2"/>
          <p:cNvSpPr>
            <a:spLocks noGrp="1"/>
          </p:cNvSpPr>
          <p:nvPr>
            <p:ph idx="1"/>
          </p:nvPr>
        </p:nvSpPr>
        <p:spPr>
          <a:xfrm>
            <a:off x="428172" y="1361166"/>
            <a:ext cx="11368314" cy="5242834"/>
          </a:xfrm>
        </p:spPr>
        <p:txBody>
          <a:bodyPr>
            <a:normAutofit/>
          </a:bodyPr>
          <a:lstStyle/>
          <a:p>
            <a:r>
              <a:rPr lang="en-US" b="1" dirty="0"/>
              <a:t>Written test</a:t>
            </a:r>
            <a:r>
              <a:rPr lang="en-US" dirty="0"/>
              <a:t>: Theory exam</a:t>
            </a:r>
          </a:p>
          <a:p>
            <a:pPr lvl="1"/>
            <a:r>
              <a:rPr lang="en-US" dirty="0"/>
              <a:t>4 open questions</a:t>
            </a:r>
          </a:p>
          <a:p>
            <a:pPr lvl="1"/>
            <a:r>
              <a:rPr lang="en-US" dirty="0"/>
              <a:t>Duration: 90 min</a:t>
            </a:r>
          </a:p>
          <a:p>
            <a:pPr lvl="1"/>
            <a:r>
              <a:rPr lang="en-US" dirty="0"/>
              <a:t>Max vote: 20/30</a:t>
            </a:r>
          </a:p>
          <a:p>
            <a:pPr lvl="1"/>
            <a:endParaRPr lang="en-US" dirty="0"/>
          </a:p>
          <a:p>
            <a:pPr lvl="1"/>
            <a:endParaRPr lang="en-US" dirty="0"/>
          </a:p>
          <a:p>
            <a:r>
              <a:rPr lang="en-US" b="1" dirty="0"/>
              <a:t>Project</a:t>
            </a:r>
            <a:r>
              <a:rPr lang="en-US" dirty="0"/>
              <a:t>: Development of an application that integrates and elaborates data from a smartwatch. To be done in groups of 3 students. </a:t>
            </a:r>
          </a:p>
          <a:p>
            <a:pPr lvl="1"/>
            <a:r>
              <a:rPr lang="en-US" dirty="0"/>
              <a:t>Duration of the discussion: 45 min (25 min presentation + 20 min Q&amp;A)</a:t>
            </a:r>
          </a:p>
          <a:p>
            <a:pPr lvl="1"/>
            <a:r>
              <a:rPr lang="en-US" dirty="0"/>
              <a:t>Max vote: 12/30</a:t>
            </a:r>
          </a:p>
          <a:p>
            <a:pPr lvl="1"/>
            <a:endParaRPr lang="en-US" dirty="0"/>
          </a:p>
          <a:p>
            <a:r>
              <a:rPr lang="en-US" b="1" dirty="0"/>
              <a:t>Final mark</a:t>
            </a:r>
            <a:r>
              <a:rPr lang="en-US" dirty="0"/>
              <a:t>: sum of the votes of the written test and the project.</a:t>
            </a:r>
          </a:p>
        </p:txBody>
      </p:sp>
      <p:sp>
        <p:nvSpPr>
          <p:cNvPr id="5" name="Rettangolo 4"/>
          <p:cNvSpPr/>
          <p:nvPr/>
        </p:nvSpPr>
        <p:spPr>
          <a:xfrm>
            <a:off x="6196411" y="1361166"/>
            <a:ext cx="5425956" cy="1574800"/>
          </a:xfrm>
          <a:prstGeom prst="rect">
            <a:avLst/>
          </a:prstGeom>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latin typeface="Aptos" panose="020B0004020202020204" pitchFamily="34" charset="0"/>
              </a:rPr>
              <a:t>Dates of the written test</a:t>
            </a:r>
            <a:endParaRPr lang="en-GB" dirty="0">
              <a:latin typeface="Aptos" panose="020B0004020202020204" pitchFamily="34" charset="0"/>
            </a:endParaRPr>
          </a:p>
          <a:p>
            <a:pPr marL="285750" indent="-285750">
              <a:buClr>
                <a:srgbClr val="00B050"/>
              </a:buClr>
              <a:buFont typeface="Wingdings" panose="05000000000000000000" pitchFamily="2" charset="2"/>
              <a:buChar char="§"/>
            </a:pPr>
            <a:r>
              <a:rPr lang="en-GB" dirty="0">
                <a:latin typeface="Aptos" panose="020B0004020202020204" pitchFamily="34" charset="0"/>
              </a:rPr>
              <a:t>First attempt: 18 Jun 2026, 14:00 (Room </a:t>
            </a:r>
            <a:r>
              <a:rPr lang="en-GB" dirty="0" err="1">
                <a:latin typeface="Aptos" panose="020B0004020202020204" pitchFamily="34" charset="0"/>
              </a:rPr>
              <a:t>Me+Ne</a:t>
            </a:r>
            <a:r>
              <a:rPr lang="en-GB" dirty="0">
                <a:latin typeface="Aptos" panose="020B0004020202020204" pitchFamily="34" charset="0"/>
              </a:rPr>
              <a:t>)</a:t>
            </a:r>
          </a:p>
          <a:p>
            <a:pPr marL="285750" indent="-285750">
              <a:buClr>
                <a:srgbClr val="00B050"/>
              </a:buClr>
              <a:buFont typeface="Wingdings" panose="05000000000000000000" pitchFamily="2" charset="2"/>
              <a:buChar char="§"/>
            </a:pPr>
            <a:r>
              <a:rPr lang="en-GB" dirty="0">
                <a:latin typeface="Aptos" panose="020B0004020202020204" pitchFamily="34" charset="0"/>
              </a:rPr>
              <a:t>Second round: 07 Jul 2026, 14:00 (Room De)</a:t>
            </a:r>
          </a:p>
          <a:p>
            <a:pPr marL="285750" indent="-285750">
              <a:buClr>
                <a:srgbClr val="00B050"/>
              </a:buClr>
              <a:buFont typeface="Wingdings" panose="05000000000000000000" pitchFamily="2" charset="2"/>
              <a:buChar char="§"/>
            </a:pPr>
            <a:r>
              <a:rPr lang="en-GB" dirty="0">
                <a:latin typeface="Aptos" panose="020B0004020202020204" pitchFamily="34" charset="0"/>
              </a:rPr>
              <a:t>Third round: 28 Aug 2026, 14:00 (Room De)</a:t>
            </a:r>
          </a:p>
          <a:p>
            <a:pPr marL="285750" indent="-285750">
              <a:buClr>
                <a:srgbClr val="00B050"/>
              </a:buClr>
              <a:buFont typeface="Wingdings" panose="05000000000000000000" pitchFamily="2" charset="2"/>
              <a:buChar char="§"/>
            </a:pPr>
            <a:r>
              <a:rPr lang="en-GB" dirty="0">
                <a:latin typeface="Aptos" panose="020B0004020202020204" pitchFamily="34" charset="0"/>
              </a:rPr>
              <a:t>Fourth round: 01 Feb 2027, 14:00 (Room Ee)</a:t>
            </a:r>
          </a:p>
        </p:txBody>
      </p:sp>
      <p:sp>
        <p:nvSpPr>
          <p:cNvPr id="6" name="Segnaposto numero diapositiva 5"/>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3047748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US" dirty="0"/>
              <a:t>Project: </a:t>
            </a:r>
            <a:r>
              <a:rPr lang="en-IT"/>
              <a:t>What’s the spirit here</a:t>
            </a:r>
            <a:endParaRPr lang="en-IT" dirty="0"/>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6"/>
            <a:ext cx="11368314" cy="5334907"/>
          </a:xfrm>
        </p:spPr>
        <p:txBody>
          <a:bodyPr>
            <a:normAutofit/>
          </a:bodyPr>
          <a:lstStyle/>
          <a:p>
            <a:r>
              <a:rPr lang="en-IT" dirty="0"/>
              <a:t>The goal is learning </a:t>
            </a:r>
            <a:r>
              <a:rPr lang="en-IT" b="1" dirty="0"/>
              <a:t>“How to </a:t>
            </a:r>
            <a:r>
              <a:rPr lang="en-IT" b="1"/>
              <a:t>do SOMETHING</a:t>
            </a:r>
            <a:r>
              <a:rPr lang="en-US" b="1" dirty="0"/>
              <a:t> ORIGINAL</a:t>
            </a:r>
            <a:r>
              <a:rPr lang="en-IT" b="1"/>
              <a:t> </a:t>
            </a:r>
            <a:r>
              <a:rPr lang="en-IT" b="1" dirty="0"/>
              <a:t>using wearable devices”</a:t>
            </a:r>
          </a:p>
          <a:p>
            <a:endParaRPr lang="en-IT" dirty="0"/>
          </a:p>
          <a:p>
            <a:r>
              <a:rPr lang="en-IT" dirty="0"/>
              <a:t>What </a:t>
            </a:r>
            <a:r>
              <a:rPr lang="en-IT" b="1" dirty="0"/>
              <a:t>I DO </a:t>
            </a:r>
            <a:r>
              <a:rPr lang="en-IT" dirty="0"/>
              <a:t>expect from you</a:t>
            </a:r>
          </a:p>
          <a:p>
            <a:pPr lvl="1"/>
            <a:r>
              <a:rPr lang="en-IT" dirty="0"/>
              <a:t>To use your imagination to create that SOMETHING</a:t>
            </a:r>
          </a:p>
          <a:p>
            <a:pPr lvl="1"/>
            <a:r>
              <a:rPr lang="en-IT" dirty="0"/>
              <a:t>To learn to build something from scratch</a:t>
            </a:r>
          </a:p>
          <a:p>
            <a:pPr lvl="1"/>
            <a:r>
              <a:rPr lang="en-IT" dirty="0"/>
              <a:t>To use code built by others </a:t>
            </a:r>
          </a:p>
          <a:p>
            <a:pPr lvl="1"/>
            <a:r>
              <a:rPr lang="en-IT" dirty="0"/>
              <a:t>To work together</a:t>
            </a:r>
          </a:p>
          <a:p>
            <a:pPr lvl="1"/>
            <a:r>
              <a:rPr lang="en-IT" dirty="0"/>
              <a:t>To use Google and StackOverflow</a:t>
            </a:r>
          </a:p>
          <a:p>
            <a:endParaRPr lang="en-IT" dirty="0"/>
          </a:p>
          <a:p>
            <a:r>
              <a:rPr lang="en-IT" dirty="0"/>
              <a:t>What </a:t>
            </a:r>
            <a:r>
              <a:rPr lang="en-IT" b="1" dirty="0"/>
              <a:t>I DO NOT </a:t>
            </a:r>
            <a:r>
              <a:rPr lang="en-IT" dirty="0"/>
              <a:t>expect from you</a:t>
            </a:r>
          </a:p>
          <a:p>
            <a:pPr lvl="1"/>
            <a:r>
              <a:rPr lang="en-IT" dirty="0"/>
              <a:t>To create the new Google </a:t>
            </a:r>
          </a:p>
          <a:p>
            <a:pPr lvl="1"/>
            <a:r>
              <a:rPr lang="en-IT" dirty="0"/>
              <a:t>To reinvent the wheel (copying others code is fine)</a:t>
            </a:r>
          </a:p>
          <a:p>
            <a:pPr lvl="1"/>
            <a:r>
              <a:rPr lang="en-IT" dirty="0"/>
              <a:t>To create extra complicated UI with animations </a:t>
            </a:r>
            <a:r>
              <a:rPr lang="en-IT"/>
              <a:t>and stuff</a:t>
            </a:r>
            <a:endParaRPr lang="en-IT" dirty="0"/>
          </a:p>
        </p:txBody>
      </p:sp>
      <p:sp>
        <p:nvSpPr>
          <p:cNvPr id="4" name="Slide Number Placeholder 3">
            <a:extLst>
              <a:ext uri="{FF2B5EF4-FFF2-40B4-BE49-F238E27FC236}">
                <a16:creationId xmlns:a16="http://schemas.microsoft.com/office/drawing/2014/main" id="{B8AB4CC2-5FCF-4B45-B2DB-81D138824661}"/>
              </a:ext>
            </a:extLst>
          </p:cNvPr>
          <p:cNvSpPr>
            <a:spLocks noGrp="1"/>
          </p:cNvSpPr>
          <p:nvPr>
            <p:ph type="sldNum" sz="quarter" idx="12"/>
          </p:nvPr>
        </p:nvSpPr>
        <p:spPr/>
        <p:txBody>
          <a:bodyPr/>
          <a:lstStyle/>
          <a:p>
            <a:fld id="{31DE2C5B-556E-47B8-A792-024C2FCA4ACC}" type="slidenum">
              <a:rPr lang="en-GB" smtClean="0"/>
              <a:t>10</a:t>
            </a:fld>
            <a:endParaRPr lang="en-GB" dirty="0"/>
          </a:p>
        </p:txBody>
      </p:sp>
    </p:spTree>
    <p:extLst>
      <p:ext uri="{BB962C8B-B14F-4D97-AF65-F5344CB8AC3E}">
        <p14:creationId xmlns:p14="http://schemas.microsoft.com/office/powerpoint/2010/main" val="441552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Project structure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lnSpcReduction="10000"/>
          </a:bodyPr>
          <a:lstStyle/>
          <a:p>
            <a:r>
              <a:rPr lang="en-IT" dirty="0"/>
              <a:t>The project consists of building an app for iOS or Android that collects user data from a wearable device through </a:t>
            </a:r>
            <a:r>
              <a:rPr lang="en-IT"/>
              <a:t>Web APIs, </a:t>
            </a:r>
            <a:r>
              <a:rPr lang="en-IT" dirty="0"/>
              <a:t>visualizes them, and does some tricks with them.</a:t>
            </a:r>
          </a:p>
          <a:p>
            <a:endParaRPr lang="en-IT" dirty="0"/>
          </a:p>
          <a:p>
            <a:r>
              <a:rPr lang="en-IT" dirty="0"/>
              <a:t>Core functionalities:</a:t>
            </a:r>
          </a:p>
          <a:p>
            <a:pPr lvl="1"/>
            <a:r>
              <a:rPr lang="en-US" dirty="0"/>
              <a:t>Correct app flow</a:t>
            </a:r>
          </a:p>
          <a:p>
            <a:pPr lvl="1"/>
            <a:r>
              <a:rPr lang="en-IT"/>
              <a:t>User </a:t>
            </a:r>
            <a:r>
              <a:rPr lang="en-IT" dirty="0"/>
              <a:t>authentication and management</a:t>
            </a:r>
          </a:p>
          <a:p>
            <a:pPr lvl="1"/>
            <a:r>
              <a:rPr lang="en-IT" dirty="0"/>
              <a:t>Data collection</a:t>
            </a:r>
          </a:p>
          <a:p>
            <a:pPr lvl="1"/>
            <a:r>
              <a:rPr lang="en-IT"/>
              <a:t>Data </a:t>
            </a:r>
            <a:r>
              <a:rPr lang="en-IT" dirty="0"/>
              <a:t>visualization and presentation</a:t>
            </a:r>
          </a:p>
          <a:p>
            <a:pPr lvl="1"/>
            <a:endParaRPr lang="en-IT" dirty="0"/>
          </a:p>
          <a:p>
            <a:r>
              <a:rPr lang="en-IT" dirty="0"/>
              <a:t>Additional fuctionalities </a:t>
            </a:r>
            <a:r>
              <a:rPr lang="en-IT" dirty="0">
                <a:sym typeface="Wingdings" pitchFamily="2" charset="2"/>
              </a:rPr>
              <a:t> It’s up to you! </a:t>
            </a:r>
            <a:br>
              <a:rPr lang="en-IT" dirty="0">
                <a:sym typeface="Wingdings" pitchFamily="2" charset="2"/>
              </a:rPr>
            </a:br>
            <a:r>
              <a:rPr lang="en-IT" dirty="0">
                <a:sym typeface="Wingdings" pitchFamily="2" charset="2"/>
              </a:rPr>
              <a:t>Some examples:</a:t>
            </a:r>
          </a:p>
          <a:p>
            <a:pPr lvl="1"/>
            <a:r>
              <a:rPr lang="en-IT" dirty="0">
                <a:sym typeface="Wingdings" pitchFamily="2" charset="2"/>
              </a:rPr>
              <a:t>Run some analysis on data and provide suggestions to the user</a:t>
            </a:r>
          </a:p>
          <a:p>
            <a:pPr lvl="1"/>
            <a:r>
              <a:rPr lang="en-IT" dirty="0">
                <a:sym typeface="Wingdings" pitchFamily="2" charset="2"/>
              </a:rPr>
              <a:t>Implement some literature algorithm</a:t>
            </a:r>
          </a:p>
          <a:p>
            <a:pPr lvl="1"/>
            <a:r>
              <a:rPr lang="en-IT" dirty="0"/>
              <a:t>…</a:t>
            </a:r>
          </a:p>
        </p:txBody>
      </p:sp>
      <p:pic>
        <p:nvPicPr>
          <p:cNvPr id="5" name="Graphic 4" descr="Smart Phone outline">
            <a:extLst>
              <a:ext uri="{FF2B5EF4-FFF2-40B4-BE49-F238E27FC236}">
                <a16:creationId xmlns:a16="http://schemas.microsoft.com/office/drawing/2014/main" id="{78A8D23E-0756-2147-ACC2-504D5D08A4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71265" y="2228532"/>
            <a:ext cx="2336041" cy="2336041"/>
          </a:xfrm>
          <a:prstGeom prst="rect">
            <a:avLst/>
          </a:prstGeom>
        </p:spPr>
      </p:pic>
      <p:pic>
        <p:nvPicPr>
          <p:cNvPr id="7" name="Graphic 6" descr="Internet Of Things outline">
            <a:extLst>
              <a:ext uri="{FF2B5EF4-FFF2-40B4-BE49-F238E27FC236}">
                <a16:creationId xmlns:a16="http://schemas.microsoft.com/office/drawing/2014/main" id="{ECADEE4B-11CF-4A4B-A5E4-ACAE7D850C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06344" y="2527792"/>
            <a:ext cx="1737519" cy="1737519"/>
          </a:xfrm>
          <a:prstGeom prst="rect">
            <a:avLst/>
          </a:prstGeom>
        </p:spPr>
      </p:pic>
      <p:pic>
        <p:nvPicPr>
          <p:cNvPr id="9" name="Graphic 8" descr="Ethernet outline">
            <a:extLst>
              <a:ext uri="{FF2B5EF4-FFF2-40B4-BE49-F238E27FC236}">
                <a16:creationId xmlns:a16="http://schemas.microsoft.com/office/drawing/2014/main" id="{E7678299-0C23-9D41-8D1F-9C0BD76AACF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43863" y="2863884"/>
            <a:ext cx="914400" cy="914400"/>
          </a:xfrm>
          <a:prstGeom prst="rect">
            <a:avLst/>
          </a:prstGeom>
        </p:spPr>
      </p:pic>
      <p:pic>
        <p:nvPicPr>
          <p:cNvPr id="11" name="Graphic 10" descr="Gears outline">
            <a:extLst>
              <a:ext uri="{FF2B5EF4-FFF2-40B4-BE49-F238E27FC236}">
                <a16:creationId xmlns:a16="http://schemas.microsoft.com/office/drawing/2014/main" id="{D0AA5189-336A-034D-9196-3F7957D7F26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82085" y="2939352"/>
            <a:ext cx="914400" cy="914400"/>
          </a:xfrm>
          <a:prstGeom prst="rect">
            <a:avLst/>
          </a:prstGeom>
        </p:spPr>
      </p:pic>
      <p:pic>
        <p:nvPicPr>
          <p:cNvPr id="12" name="Picture 11">
            <a:extLst>
              <a:ext uri="{FF2B5EF4-FFF2-40B4-BE49-F238E27FC236}">
                <a16:creationId xmlns:a16="http://schemas.microsoft.com/office/drawing/2014/main" id="{F9970AB4-79AF-DB44-BC6E-1792D58874FE}"/>
              </a:ext>
            </a:extLst>
          </p:cNvPr>
          <p:cNvPicPr>
            <a:picLocks noChangeAspect="1"/>
          </p:cNvPicPr>
          <p:nvPr/>
        </p:nvPicPr>
        <p:blipFill>
          <a:blip r:embed="rId11"/>
          <a:stretch>
            <a:fillRect/>
          </a:stretch>
        </p:blipFill>
        <p:spPr>
          <a:xfrm>
            <a:off x="8532206" y="4297379"/>
            <a:ext cx="1422400" cy="1422400"/>
          </a:xfrm>
          <a:prstGeom prst="rect">
            <a:avLst/>
          </a:prstGeom>
        </p:spPr>
      </p:pic>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11</a:t>
            </a:fld>
            <a:endParaRPr lang="en-GB" dirty="0"/>
          </a:p>
        </p:txBody>
      </p:sp>
    </p:spTree>
    <p:extLst>
      <p:ext uri="{BB962C8B-B14F-4D97-AF65-F5344CB8AC3E}">
        <p14:creationId xmlns:p14="http://schemas.microsoft.com/office/powerpoint/2010/main" val="2606831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Grading</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normAutofit/>
          </a:bodyPr>
          <a:lstStyle/>
          <a:p>
            <a:r>
              <a:rPr lang="en-IT" dirty="0"/>
              <a:t>W</a:t>
            </a:r>
            <a:r>
              <a:rPr lang="en-GB" dirty="0"/>
              <a:t>ha</a:t>
            </a:r>
            <a:r>
              <a:rPr lang="en-IT" dirty="0"/>
              <a:t>t are the grading criteria</a:t>
            </a:r>
          </a:p>
          <a:p>
            <a:pPr lvl="1"/>
            <a:r>
              <a:rPr lang="en-IT"/>
              <a:t>Compliance </a:t>
            </a:r>
            <a:r>
              <a:rPr lang="en-IT" dirty="0"/>
              <a:t>to </a:t>
            </a:r>
            <a:r>
              <a:rPr lang="en-IT"/>
              <a:t>core functionalities</a:t>
            </a:r>
            <a:endParaRPr lang="en-US" dirty="0"/>
          </a:p>
          <a:p>
            <a:pPr lvl="1"/>
            <a:r>
              <a:rPr lang="en-IT"/>
              <a:t>Originality of the additional feature</a:t>
            </a:r>
          </a:p>
          <a:p>
            <a:pPr lvl="1"/>
            <a:r>
              <a:rPr lang="en-IT"/>
              <a:t>Quality of teamwork </a:t>
            </a:r>
            <a:endParaRPr lang="en-IT" dirty="0"/>
          </a:p>
          <a:p>
            <a:pPr marL="0" indent="0">
              <a:buNone/>
            </a:pPr>
            <a:endParaRPr lang="en-IT" dirty="0"/>
          </a:p>
          <a:p>
            <a:r>
              <a:rPr lang="en-IT" dirty="0"/>
              <a:t>How much these criteria matter?</a:t>
            </a:r>
          </a:p>
          <a:p>
            <a:pPr lvl="1"/>
            <a:r>
              <a:rPr lang="en-IT" dirty="0"/>
              <a:t>Core functionalities</a:t>
            </a:r>
            <a:r>
              <a:rPr lang="en-IT"/>
              <a:t>: </a:t>
            </a:r>
            <a:r>
              <a:rPr lang="en-US" dirty="0"/>
              <a:t>40</a:t>
            </a:r>
            <a:r>
              <a:rPr lang="en-IT"/>
              <a:t>%</a:t>
            </a:r>
            <a:endParaRPr lang="en-IT" dirty="0"/>
          </a:p>
          <a:p>
            <a:pPr lvl="1"/>
            <a:r>
              <a:rPr lang="en-US" dirty="0"/>
              <a:t>A</a:t>
            </a:r>
            <a:r>
              <a:rPr lang="en-IT"/>
              <a:t>dditional </a:t>
            </a:r>
            <a:r>
              <a:rPr lang="en-IT" dirty="0"/>
              <a:t>app functionalities</a:t>
            </a:r>
            <a:r>
              <a:rPr lang="en-IT"/>
              <a:t>: </a:t>
            </a:r>
            <a:r>
              <a:rPr lang="en-US" dirty="0"/>
              <a:t>50</a:t>
            </a:r>
            <a:r>
              <a:rPr lang="en-IT"/>
              <a:t>%</a:t>
            </a:r>
            <a:endParaRPr lang="en-IT" dirty="0"/>
          </a:p>
          <a:p>
            <a:pPr lvl="1"/>
            <a:r>
              <a:rPr lang="en-IT" dirty="0"/>
              <a:t>Quality of teamwork</a:t>
            </a:r>
            <a:r>
              <a:rPr lang="en-IT"/>
              <a:t>: </a:t>
            </a:r>
            <a:r>
              <a:rPr lang="en-US" dirty="0"/>
              <a:t>10</a:t>
            </a:r>
            <a:r>
              <a:rPr lang="en-IT"/>
              <a:t>%</a:t>
            </a:r>
            <a:endParaRPr lang="en-IT" dirty="0"/>
          </a:p>
        </p:txBody>
      </p:sp>
      <p:graphicFrame>
        <p:nvGraphicFramePr>
          <p:cNvPr id="4" name="Chart 3">
            <a:extLst>
              <a:ext uri="{FF2B5EF4-FFF2-40B4-BE49-F238E27FC236}">
                <a16:creationId xmlns:a16="http://schemas.microsoft.com/office/drawing/2014/main" id="{2DB37CC9-83F2-9D40-9D73-29E50E4A90FF}"/>
              </a:ext>
            </a:extLst>
          </p:cNvPr>
          <p:cNvGraphicFramePr/>
          <p:nvPr>
            <p:extLst>
              <p:ext uri="{D42A27DB-BD31-4B8C-83A1-F6EECF244321}">
                <p14:modId xmlns:p14="http://schemas.microsoft.com/office/powerpoint/2010/main" val="2992050634"/>
              </p:ext>
            </p:extLst>
          </p:nvPr>
        </p:nvGraphicFramePr>
        <p:xfrm>
          <a:off x="6373504" y="1361168"/>
          <a:ext cx="5527344" cy="4858202"/>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a:extLst>
              <a:ext uri="{FF2B5EF4-FFF2-40B4-BE49-F238E27FC236}">
                <a16:creationId xmlns:a16="http://schemas.microsoft.com/office/drawing/2014/main" id="{1DF51094-64B1-C544-B8D7-90029F9E4D63}"/>
              </a:ext>
            </a:extLst>
          </p:cNvPr>
          <p:cNvSpPr>
            <a:spLocks noGrp="1"/>
          </p:cNvSpPr>
          <p:nvPr>
            <p:ph type="sldNum" sz="quarter" idx="12"/>
          </p:nvPr>
        </p:nvSpPr>
        <p:spPr/>
        <p:txBody>
          <a:bodyPr/>
          <a:lstStyle/>
          <a:p>
            <a:fld id="{31DE2C5B-556E-47B8-A792-024C2FCA4ACC}" type="slidenum">
              <a:rPr lang="en-GB" smtClean="0"/>
              <a:t>12</a:t>
            </a:fld>
            <a:endParaRPr lang="en-GB" dirty="0"/>
          </a:p>
        </p:txBody>
      </p:sp>
    </p:spTree>
    <p:extLst>
      <p:ext uri="{BB962C8B-B14F-4D97-AF65-F5344CB8AC3E}">
        <p14:creationId xmlns:p14="http://schemas.microsoft.com/office/powerpoint/2010/main" val="1812789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Choose your target</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Your app must represent a solution for the current SDGs (Sustainable Development Goals) targets</a:t>
            </a:r>
          </a:p>
          <a:p>
            <a:endParaRPr lang="en-IT" dirty="0"/>
          </a:p>
          <a:p>
            <a:r>
              <a:rPr lang="en-IT" dirty="0"/>
              <a:t>SDG are 17 topics representing the current </a:t>
            </a:r>
            <a:br>
              <a:rPr lang="en-IT" dirty="0"/>
            </a:br>
            <a:r>
              <a:rPr lang="en-IT" dirty="0"/>
              <a:t>big challenges humanity must face and solve</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13</a:t>
            </a:fld>
            <a:endParaRPr lang="en-GB" dirty="0"/>
          </a:p>
        </p:txBody>
      </p:sp>
      <p:pic>
        <p:nvPicPr>
          <p:cNvPr id="8" name="Picture 7" descr="Website&#10;&#10;Description automatically generated">
            <a:extLst>
              <a:ext uri="{FF2B5EF4-FFF2-40B4-BE49-F238E27FC236}">
                <a16:creationId xmlns:a16="http://schemas.microsoft.com/office/drawing/2014/main" id="{45CB5F36-C212-74E0-FA86-35977EC09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748" y="2112530"/>
            <a:ext cx="5023137" cy="4095891"/>
          </a:xfrm>
          <a:prstGeom prst="rect">
            <a:avLst/>
          </a:prstGeom>
        </p:spPr>
      </p:pic>
      <p:pic>
        <p:nvPicPr>
          <p:cNvPr id="1026" name="Picture 2">
            <a:extLst>
              <a:ext uri="{FF2B5EF4-FFF2-40B4-BE49-F238E27FC236}">
                <a16:creationId xmlns:a16="http://schemas.microsoft.com/office/drawing/2014/main" id="{22BB70CE-3C3B-1BC8-3337-D43BD9B1B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941" y="3429000"/>
            <a:ext cx="5331986" cy="324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041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Choose your target</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92500" lnSpcReduction="20000"/>
          </a:bodyPr>
          <a:lstStyle/>
          <a:p>
            <a:r>
              <a:rPr lang="en-IT" dirty="0"/>
              <a:t>These are the target you can choose from (see </a:t>
            </a:r>
            <a:r>
              <a:rPr lang="en-IT"/>
              <a:t>the </a:t>
            </a:r>
            <a:r>
              <a:rPr lang="en-US" dirty="0" err="1"/>
              <a:t>elearning</a:t>
            </a:r>
            <a:r>
              <a:rPr lang="en-IT"/>
              <a:t> </a:t>
            </a:r>
            <a:r>
              <a:rPr lang="en-IT" dirty="0"/>
              <a:t>page for more details):</a:t>
            </a:r>
          </a:p>
          <a:p>
            <a:endParaRPr lang="en-IT" dirty="0"/>
          </a:p>
          <a:p>
            <a:pPr lvl="1"/>
            <a:r>
              <a:rPr lang="en-GB" b="1" u="sng" dirty="0"/>
              <a:t>SDG 2: Target 2.2</a:t>
            </a:r>
            <a:r>
              <a:rPr lang="en-GB" dirty="0"/>
              <a:t> (By 2030, end all forms of malnutrition, including achieving, by 2025, the internationally agreed targets on stunting and wasting in children under 5 years of age, and address the nutritional needs of adolescent girls, pregnant and lactating women and older persons)</a:t>
            </a:r>
            <a:endParaRPr lang="en-IT" dirty="0"/>
          </a:p>
          <a:p>
            <a:pPr lvl="1"/>
            <a:r>
              <a:rPr lang="en-GB" b="1" u="sng" dirty="0"/>
              <a:t>SDG 2: Target 2.3</a:t>
            </a:r>
            <a:r>
              <a:rPr lang="en-GB" dirty="0"/>
              <a:t> (By 2030, double the agricultural productivity and incomes of small-scale food producers, in particular women, indigenous peoples, family farmers, pastoralists and fishers, including through secure and equal access to land, other productive resources and inputs, knowledge, financial services, markets and opportunities for value addition and non-farm employment)</a:t>
            </a:r>
          </a:p>
          <a:p>
            <a:pPr lvl="1"/>
            <a:r>
              <a:rPr lang="en-GB" b="1" u="sng" dirty="0"/>
              <a:t>SDG 3: Target 3.4 </a:t>
            </a:r>
            <a:r>
              <a:rPr lang="en-GB" dirty="0"/>
              <a:t>(By 2030, reduce by one third premature mortality from non-communicable diseases through prevention and treatment and promote mental health and well-being) </a:t>
            </a:r>
          </a:p>
          <a:p>
            <a:pPr lvl="1"/>
            <a:r>
              <a:rPr lang="en-GB" b="1" u="sng" dirty="0"/>
              <a:t>SDG 3: Target 3.5</a:t>
            </a:r>
            <a:r>
              <a:rPr lang="en-GB" dirty="0"/>
              <a:t> (Strengthen the prevention and treatment of substance abuse, including narcotic drug abuse and harmful use of alcohol)</a:t>
            </a:r>
          </a:p>
          <a:p>
            <a:pPr lvl="1"/>
            <a:r>
              <a:rPr lang="en-GB" b="1" u="sng" dirty="0"/>
              <a:t>SDG 4: Target 4.7 </a:t>
            </a:r>
            <a:r>
              <a:rPr lang="en-GB" dirty="0"/>
              <a:t>(By 2030, ensure that all learners acquire the knowledge and skills needed to promote sustainable development, including, among others, through education for sustainable development and sustainable lifestyles, human rights, gender equality, promotion of a culture of peace and non-violence, global citizenship and appreciation of cultural diversity and of culture’s contribution to sustainable development) </a:t>
            </a:r>
          </a:p>
          <a:p>
            <a:pPr lvl="1"/>
            <a:r>
              <a:rPr lang="en-GB" b="1" u="sng" dirty="0"/>
              <a:t>SDG 8: Target 8.9 </a:t>
            </a:r>
            <a:r>
              <a:rPr lang="en-GB" dirty="0"/>
              <a:t>(By 2030, devise and implement policies to promote sustainable tourism that creates jobs and promotes local culture and products)</a:t>
            </a:r>
            <a:endParaRPr lang="en-IT" dirty="0"/>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14</a:t>
            </a:fld>
            <a:endParaRPr lang="en-GB" dirty="0"/>
          </a:p>
        </p:txBody>
      </p:sp>
    </p:spTree>
    <p:extLst>
      <p:ext uri="{BB962C8B-B14F-4D97-AF65-F5344CB8AC3E}">
        <p14:creationId xmlns:p14="http://schemas.microsoft.com/office/powerpoint/2010/main" val="4043247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Data source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92500" lnSpcReduction="10000"/>
          </a:bodyPr>
          <a:lstStyle/>
          <a:p>
            <a:endParaRPr lang="en-IT" dirty="0"/>
          </a:p>
          <a:p>
            <a:r>
              <a:rPr lang="en-IT" dirty="0"/>
              <a:t>Data that you will use are collected by me using a Fitbit Versa 2</a:t>
            </a:r>
          </a:p>
          <a:p>
            <a:endParaRPr lang="en-IT" dirty="0"/>
          </a:p>
          <a:p>
            <a:r>
              <a:rPr lang="en-IT" dirty="0"/>
              <a:t>Data are available starting from 09/02 and will be collected up </a:t>
            </a:r>
            <a:r>
              <a:rPr lang="en-IT"/>
              <a:t>to 30/11</a:t>
            </a:r>
            <a:endParaRPr lang="en-US" dirty="0"/>
          </a:p>
          <a:p>
            <a:endParaRPr lang="en-US" dirty="0"/>
          </a:p>
          <a:p>
            <a:r>
              <a:rPr lang="en-US" dirty="0"/>
              <a:t>The following data “types” are included(see mor details in the Appendix)</a:t>
            </a:r>
            <a:r>
              <a:rPr lang="en-IT"/>
              <a:t>:</a:t>
            </a:r>
            <a:endParaRPr lang="en-IT" dirty="0"/>
          </a:p>
          <a:p>
            <a:pPr lvl="1"/>
            <a:r>
              <a:rPr lang="en-IT" dirty="0"/>
              <a:t>Calories</a:t>
            </a:r>
          </a:p>
          <a:p>
            <a:pPr lvl="1"/>
            <a:r>
              <a:rPr lang="en-IT" dirty="0"/>
              <a:t>Distance</a:t>
            </a:r>
          </a:p>
          <a:p>
            <a:pPr lvl="1"/>
            <a:r>
              <a:rPr lang="en-IT" dirty="0"/>
              <a:t>Exercise sessions</a:t>
            </a:r>
          </a:p>
          <a:p>
            <a:pPr lvl="1"/>
            <a:r>
              <a:rPr lang="en-IT" dirty="0"/>
              <a:t>Heart rate</a:t>
            </a:r>
          </a:p>
          <a:p>
            <a:pPr lvl="1"/>
            <a:r>
              <a:rPr lang="en-IT" dirty="0"/>
              <a:t>Resting heart rate (Estimated)</a:t>
            </a:r>
          </a:p>
          <a:p>
            <a:pPr lvl="1"/>
            <a:r>
              <a:rPr lang="en-IT" dirty="0"/>
              <a:t>Sleep</a:t>
            </a:r>
          </a:p>
          <a:p>
            <a:pPr lvl="1"/>
            <a:r>
              <a:rPr lang="en-IT"/>
              <a:t>Steps</a:t>
            </a:r>
            <a:endParaRPr lang="en-US" dirty="0"/>
          </a:p>
          <a:p>
            <a:pPr lvl="1"/>
            <a:endParaRPr lang="en-IT" dirty="0"/>
          </a:p>
          <a:p>
            <a:r>
              <a:rPr lang="en-IT" dirty="0"/>
              <a:t>Your project must use at least 1 type of data</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15</a:t>
            </a:fld>
            <a:endParaRPr lang="en-GB" dirty="0"/>
          </a:p>
        </p:txBody>
      </p:sp>
      <p:pic>
        <p:nvPicPr>
          <p:cNvPr id="9" name="Picture 8">
            <a:extLst>
              <a:ext uri="{FF2B5EF4-FFF2-40B4-BE49-F238E27FC236}">
                <a16:creationId xmlns:a16="http://schemas.microsoft.com/office/drawing/2014/main" id="{7C73BE74-2A1A-858A-D7FE-ED2AFECA5AFE}"/>
              </a:ext>
            </a:extLst>
          </p:cNvPr>
          <p:cNvPicPr>
            <a:picLocks noChangeAspect="1"/>
          </p:cNvPicPr>
          <p:nvPr/>
        </p:nvPicPr>
        <p:blipFill>
          <a:blip r:embed="rId3"/>
          <a:stretch>
            <a:fillRect/>
          </a:stretch>
        </p:blipFill>
        <p:spPr>
          <a:xfrm>
            <a:off x="8784760" y="3965924"/>
            <a:ext cx="2438746" cy="2572988"/>
          </a:xfrm>
          <a:prstGeom prst="rect">
            <a:avLst/>
          </a:prstGeom>
        </p:spPr>
      </p:pic>
    </p:spTree>
    <p:extLst>
      <p:ext uri="{BB962C8B-B14F-4D97-AF65-F5344CB8AC3E}">
        <p14:creationId xmlns:p14="http://schemas.microsoft.com/office/powerpoint/2010/main" val="2877378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How to get data - The IMPACT backend</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16</a:t>
            </a:fld>
            <a:endParaRPr lang="en-GB" dirty="0"/>
          </a:p>
        </p:txBody>
      </p:sp>
      <p:pic>
        <p:nvPicPr>
          <p:cNvPr id="6" name="Picture 5" descr="A picture containing text&#10;&#10;Description automatically generated">
            <a:extLst>
              <a:ext uri="{FF2B5EF4-FFF2-40B4-BE49-F238E27FC236}">
                <a16:creationId xmlns:a16="http://schemas.microsoft.com/office/drawing/2014/main" id="{68B4606E-6CE4-3D5F-4F4A-F88148AE3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2948" y="1981579"/>
            <a:ext cx="2435304" cy="1718017"/>
          </a:xfrm>
          <a:prstGeom prst="rect">
            <a:avLst/>
          </a:prstGeom>
          <a:ln w="38100">
            <a:solidFill>
              <a:srgbClr val="C00000"/>
            </a:solidFill>
          </a:ln>
        </p:spPr>
      </p:pic>
      <p:sp>
        <p:nvSpPr>
          <p:cNvPr id="8" name="Content Placeholder 2">
            <a:extLst>
              <a:ext uri="{FF2B5EF4-FFF2-40B4-BE49-F238E27FC236}">
                <a16:creationId xmlns:a16="http://schemas.microsoft.com/office/drawing/2014/main" id="{D49FCE54-4F42-AAF9-4E62-B5F5431C2580}"/>
              </a:ext>
            </a:extLst>
          </p:cNvPr>
          <p:cNvSpPr txBox="1">
            <a:spLocks/>
          </p:cNvSpPr>
          <p:nvPr/>
        </p:nvSpPr>
        <p:spPr>
          <a:xfrm>
            <a:off x="6900652" y="3841420"/>
            <a:ext cx="3329616" cy="465985"/>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600" b="1" dirty="0">
                <a:solidFill>
                  <a:srgbClr val="C00000"/>
                </a:solidFill>
                <a:latin typeface="Aptos" panose="020B0004020202020204" pitchFamily="34" charset="0"/>
              </a:rPr>
              <a:t>https://impact.dei.unipd.it/bwthw/</a:t>
            </a:r>
          </a:p>
        </p:txBody>
      </p:sp>
      <p:grpSp>
        <p:nvGrpSpPr>
          <p:cNvPr id="12" name="Group 11">
            <a:extLst>
              <a:ext uri="{FF2B5EF4-FFF2-40B4-BE49-F238E27FC236}">
                <a16:creationId xmlns:a16="http://schemas.microsoft.com/office/drawing/2014/main" id="{D03EB194-617E-B58E-CE96-0B1F4BE0E372}"/>
              </a:ext>
            </a:extLst>
          </p:cNvPr>
          <p:cNvGrpSpPr/>
          <p:nvPr/>
        </p:nvGrpSpPr>
        <p:grpSpPr>
          <a:xfrm>
            <a:off x="1770295" y="1241872"/>
            <a:ext cx="3276939" cy="3147039"/>
            <a:chOff x="0" y="1584963"/>
            <a:chExt cx="2102029" cy="2102029"/>
          </a:xfrm>
        </p:grpSpPr>
        <p:pic>
          <p:nvPicPr>
            <p:cNvPr id="10" name="Graphic 9" descr="Smart Phone outline">
              <a:extLst>
                <a:ext uri="{FF2B5EF4-FFF2-40B4-BE49-F238E27FC236}">
                  <a16:creationId xmlns:a16="http://schemas.microsoft.com/office/drawing/2014/main" id="{CA2DCB31-A77D-BD86-E4B0-289F26710D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1584963"/>
              <a:ext cx="2102029" cy="2102029"/>
            </a:xfrm>
            <a:prstGeom prst="rect">
              <a:avLst/>
            </a:prstGeom>
          </p:spPr>
        </p:pic>
        <p:pic>
          <p:nvPicPr>
            <p:cNvPr id="11" name="Picture 10">
              <a:extLst>
                <a:ext uri="{FF2B5EF4-FFF2-40B4-BE49-F238E27FC236}">
                  <a16:creationId xmlns:a16="http://schemas.microsoft.com/office/drawing/2014/main" id="{E43A3C7F-BD6D-E717-036E-1B0293D02D3C}"/>
                </a:ext>
              </a:extLst>
            </p:cNvPr>
            <p:cNvPicPr>
              <a:picLocks noChangeAspect="1"/>
            </p:cNvPicPr>
            <p:nvPr/>
          </p:nvPicPr>
          <p:blipFill>
            <a:blip r:embed="rId6"/>
            <a:stretch>
              <a:fillRect/>
            </a:stretch>
          </p:blipFill>
          <p:spPr>
            <a:xfrm>
              <a:off x="735199" y="2175669"/>
              <a:ext cx="623644" cy="920618"/>
            </a:xfrm>
            <a:prstGeom prst="rect">
              <a:avLst/>
            </a:prstGeom>
          </p:spPr>
        </p:pic>
      </p:grpSp>
      <p:sp>
        <p:nvSpPr>
          <p:cNvPr id="5" name="Content Placeholder 2">
            <a:extLst>
              <a:ext uri="{FF2B5EF4-FFF2-40B4-BE49-F238E27FC236}">
                <a16:creationId xmlns:a16="http://schemas.microsoft.com/office/drawing/2014/main" id="{97D0427E-0CA4-C141-376F-AF9F36ED64FD}"/>
              </a:ext>
            </a:extLst>
          </p:cNvPr>
          <p:cNvSpPr txBox="1">
            <a:spLocks/>
          </p:cNvSpPr>
          <p:nvPr/>
        </p:nvSpPr>
        <p:spPr>
          <a:xfrm>
            <a:off x="2396167" y="4523058"/>
            <a:ext cx="1869879" cy="55463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2800" u="sng" dirty="0">
                <a:latin typeface="Aptos" panose="020B0004020202020204" pitchFamily="34" charset="0"/>
              </a:rPr>
              <a:t>Your app</a:t>
            </a:r>
          </a:p>
        </p:txBody>
      </p:sp>
      <p:sp>
        <p:nvSpPr>
          <p:cNvPr id="15" name="Content Placeholder 2">
            <a:extLst>
              <a:ext uri="{FF2B5EF4-FFF2-40B4-BE49-F238E27FC236}">
                <a16:creationId xmlns:a16="http://schemas.microsoft.com/office/drawing/2014/main" id="{C213B210-5478-AFD9-1176-62D107898216}"/>
              </a:ext>
            </a:extLst>
          </p:cNvPr>
          <p:cNvSpPr txBox="1">
            <a:spLocks/>
          </p:cNvSpPr>
          <p:nvPr/>
        </p:nvSpPr>
        <p:spPr>
          <a:xfrm>
            <a:off x="4332148" y="2295394"/>
            <a:ext cx="2890093" cy="554632"/>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2000" b="1">
                <a:latin typeface="Aptos" panose="020B0004020202020204" pitchFamily="34" charset="0"/>
              </a:rPr>
              <a:t>HTTP </a:t>
            </a:r>
            <a:r>
              <a:rPr lang="en-IT" sz="2000" b="1" dirty="0">
                <a:latin typeface="Aptos" panose="020B0004020202020204" pitchFamily="34" charset="0"/>
              </a:rPr>
              <a:t>requests/responses</a:t>
            </a:r>
          </a:p>
        </p:txBody>
      </p:sp>
      <p:cxnSp>
        <p:nvCxnSpPr>
          <p:cNvPr id="16" name="Straight Arrow Connector 15">
            <a:extLst>
              <a:ext uri="{FF2B5EF4-FFF2-40B4-BE49-F238E27FC236}">
                <a16:creationId xmlns:a16="http://schemas.microsoft.com/office/drawing/2014/main" id="{E7006254-DE4F-A533-1A17-D61DFBB68069}"/>
              </a:ext>
            </a:extLst>
          </p:cNvPr>
          <p:cNvCxnSpPr>
            <a:cxnSpLocks/>
          </p:cNvCxnSpPr>
          <p:nvPr/>
        </p:nvCxnSpPr>
        <p:spPr>
          <a:xfrm>
            <a:off x="4727543" y="3075061"/>
            <a:ext cx="209930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9122E6D7-845C-B8D8-5DC2-04CEF680E74E}"/>
              </a:ext>
            </a:extLst>
          </p:cNvPr>
          <p:cNvCxnSpPr>
            <a:cxnSpLocks/>
          </p:cNvCxnSpPr>
          <p:nvPr/>
        </p:nvCxnSpPr>
        <p:spPr>
          <a:xfrm flipH="1">
            <a:off x="4664557" y="3300097"/>
            <a:ext cx="2162290" cy="219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7" name="Content Placeholder 2">
            <a:extLst>
              <a:ext uri="{FF2B5EF4-FFF2-40B4-BE49-F238E27FC236}">
                <a16:creationId xmlns:a16="http://schemas.microsoft.com/office/drawing/2014/main" id="{2D70811A-5CAC-6350-9FA8-6A9C7D940D8D}"/>
              </a:ext>
            </a:extLst>
          </p:cNvPr>
          <p:cNvSpPr txBox="1">
            <a:spLocks/>
          </p:cNvSpPr>
          <p:nvPr/>
        </p:nvSpPr>
        <p:spPr>
          <a:xfrm>
            <a:off x="669231" y="5685760"/>
            <a:ext cx="11127255" cy="871564"/>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T" dirty="0">
                <a:latin typeface="Aptos" panose="020B0004020202020204" pitchFamily="34" charset="0"/>
              </a:rPr>
              <a:t>You will be provided with credentials (different for each group) and learn how to get </a:t>
            </a:r>
            <a:r>
              <a:rPr lang="en-IT">
                <a:latin typeface="Aptos" panose="020B0004020202020204" pitchFamily="34" charset="0"/>
              </a:rPr>
              <a:t>data </a:t>
            </a:r>
            <a:r>
              <a:rPr lang="en-US" dirty="0">
                <a:latin typeface="Aptos" panose="020B0004020202020204" pitchFamily="34" charset="0"/>
              </a:rPr>
              <a:t>during the lab </a:t>
            </a:r>
            <a:r>
              <a:rPr lang="en-IT">
                <a:latin typeface="Aptos" panose="020B0004020202020204" pitchFamily="34" charset="0"/>
              </a:rPr>
              <a:t>lesson</a:t>
            </a:r>
            <a:r>
              <a:rPr lang="en-US" dirty="0">
                <a:latin typeface="Aptos" panose="020B0004020202020204" pitchFamily="34" charset="0"/>
              </a:rPr>
              <a:t>s</a:t>
            </a:r>
            <a:endParaRPr lang="en-IT" dirty="0">
              <a:latin typeface="Aptos" panose="020B0004020202020204" pitchFamily="34" charset="0"/>
            </a:endParaRPr>
          </a:p>
        </p:txBody>
      </p:sp>
    </p:spTree>
    <p:extLst>
      <p:ext uri="{BB962C8B-B14F-4D97-AF65-F5344CB8AC3E}">
        <p14:creationId xmlns:p14="http://schemas.microsoft.com/office/powerpoint/2010/main" val="1807656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Optional tutoring activities</a:t>
            </a:r>
            <a:endParaRPr lang="en-GB" dirty="0"/>
          </a:p>
        </p:txBody>
      </p:sp>
      <p:sp>
        <p:nvSpPr>
          <p:cNvPr id="3" name="Segnaposto contenuto 2"/>
          <p:cNvSpPr>
            <a:spLocks noGrp="1"/>
          </p:cNvSpPr>
          <p:nvPr>
            <p:ph idx="1"/>
          </p:nvPr>
        </p:nvSpPr>
        <p:spPr>
          <a:xfrm>
            <a:off x="428170" y="1361166"/>
            <a:ext cx="11763829" cy="618539"/>
          </a:xfrm>
        </p:spPr>
        <p:txBody>
          <a:bodyPr>
            <a:normAutofit fontScale="92500"/>
          </a:bodyPr>
          <a:lstStyle/>
          <a:p>
            <a:r>
              <a:rPr lang="en-US" dirty="0"/>
              <a:t>Need help? They are here to cover your back with answers and optional tutoring activities</a:t>
            </a:r>
          </a:p>
        </p:txBody>
      </p:sp>
      <p:sp>
        <p:nvSpPr>
          <p:cNvPr id="5" name="Rettangolo 4"/>
          <p:cNvSpPr/>
          <p:nvPr/>
        </p:nvSpPr>
        <p:spPr>
          <a:xfrm>
            <a:off x="5486400" y="1979705"/>
            <a:ext cx="6011917" cy="4716369"/>
          </a:xfrm>
          <a:prstGeom prst="rect">
            <a:avLst/>
          </a:prstGeom>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GB" b="1" dirty="0">
                <a:latin typeface="Aptos" panose="020B0004020202020204" pitchFamily="34" charset="0"/>
              </a:rPr>
              <a:t>Calendar of the optional tutoring activities</a:t>
            </a:r>
          </a:p>
          <a:p>
            <a:pPr algn="ctr"/>
            <a:endParaRPr lang="en-GB"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17</a:t>
            </a:fld>
            <a:endParaRPr lang="en-GB" dirty="0"/>
          </a:p>
        </p:txBody>
      </p:sp>
      <p:pic>
        <p:nvPicPr>
          <p:cNvPr id="4" name="Google Shape;98;p9" descr="Immagine che contiene Viso umano, persona, Fronte, Mento&#10;&#10;Descrizione generata automaticamente">
            <a:extLst>
              <a:ext uri="{FF2B5EF4-FFF2-40B4-BE49-F238E27FC236}">
                <a16:creationId xmlns:a16="http://schemas.microsoft.com/office/drawing/2014/main" id="{C73A1938-85C6-DC14-C277-6C82B5875B84}"/>
              </a:ext>
            </a:extLst>
          </p:cNvPr>
          <p:cNvPicPr preferRelativeResize="0">
            <a:picLocks noChangeAspect="1"/>
          </p:cNvPicPr>
          <p:nvPr/>
        </p:nvPicPr>
        <p:blipFill rotWithShape="1">
          <a:blip r:embed="rId2">
            <a:alphaModFix/>
          </a:blip>
          <a:srcRect t="-517"/>
          <a:stretch/>
        </p:blipFill>
        <p:spPr>
          <a:xfrm>
            <a:off x="428172" y="2149203"/>
            <a:ext cx="1659658" cy="1985014"/>
          </a:xfrm>
          <a:prstGeom prst="rect">
            <a:avLst/>
          </a:prstGeom>
          <a:noFill/>
          <a:ln>
            <a:noFill/>
          </a:ln>
        </p:spPr>
      </p:pic>
      <p:sp>
        <p:nvSpPr>
          <p:cNvPr id="8" name="Segnaposto contenuto 2">
            <a:extLst>
              <a:ext uri="{FF2B5EF4-FFF2-40B4-BE49-F238E27FC236}">
                <a16:creationId xmlns:a16="http://schemas.microsoft.com/office/drawing/2014/main" id="{702BA522-6E01-F8A9-9985-C031C76C2B43}"/>
              </a:ext>
            </a:extLst>
          </p:cNvPr>
          <p:cNvSpPr txBox="1">
            <a:spLocks/>
          </p:cNvSpPr>
          <p:nvPr/>
        </p:nvSpPr>
        <p:spPr>
          <a:xfrm>
            <a:off x="2190045" y="2996119"/>
            <a:ext cx="7197083" cy="351830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Aptos" panose="020B0004020202020204" pitchFamily="34" charset="0"/>
              </a:rPr>
              <a:t>Luca Cossu</a:t>
            </a:r>
          </a:p>
          <a:p>
            <a:pPr marL="0" indent="0">
              <a:buNone/>
            </a:pPr>
            <a:r>
              <a:rPr lang="en-US" sz="1600" dirty="0">
                <a:solidFill>
                  <a:srgbClr val="C00000"/>
                </a:solidFill>
                <a:latin typeface="Aptos" panose="020B0004020202020204" pitchFamily="34" charset="0"/>
                <a:hlinkClick r:id="rId3">
                  <a:extLst>
                    <a:ext uri="{A12FA001-AC4F-418D-AE19-62706E023703}">
                      <ahyp:hlinkClr xmlns:ahyp="http://schemas.microsoft.com/office/drawing/2018/hyperlinkcolor" val="tx"/>
                    </a:ext>
                  </a:extLst>
                </a:hlinkClick>
              </a:rPr>
              <a:t>luca.cossu@phd.unipd.it</a:t>
            </a:r>
            <a:r>
              <a:rPr lang="en-US" sz="1600" dirty="0">
                <a:solidFill>
                  <a:srgbClr val="C00000"/>
                </a:solidFill>
                <a:latin typeface="Aptos" panose="020B0004020202020204" pitchFamily="34" charset="0"/>
              </a:rPr>
              <a:t> </a:t>
            </a:r>
          </a:p>
          <a:p>
            <a:endParaRPr lang="en-US" sz="1600" dirty="0">
              <a:latin typeface="Aptos" panose="020B0004020202020204" pitchFamily="34" charset="0"/>
            </a:endParaRPr>
          </a:p>
          <a:p>
            <a:endParaRPr lang="en-US" sz="1600" dirty="0">
              <a:latin typeface="Aptos" panose="020B0004020202020204" pitchFamily="34" charset="0"/>
            </a:endParaRPr>
          </a:p>
          <a:p>
            <a:endParaRPr lang="en-US" sz="1600" dirty="0">
              <a:latin typeface="Aptos" panose="020B0004020202020204" pitchFamily="34" charset="0"/>
            </a:endParaRPr>
          </a:p>
          <a:p>
            <a:r>
              <a:rPr lang="en-US" sz="1600" dirty="0">
                <a:latin typeface="Aptos" panose="020B0004020202020204" pitchFamily="34" charset="0"/>
              </a:rPr>
              <a:t>Alberto </a:t>
            </a:r>
            <a:r>
              <a:rPr lang="en-US" sz="1600" dirty="0" err="1">
                <a:latin typeface="Aptos" panose="020B0004020202020204" pitchFamily="34" charset="0"/>
              </a:rPr>
              <a:t>Gastaldello</a:t>
            </a:r>
            <a:endParaRPr lang="en-US" sz="1600" dirty="0">
              <a:solidFill>
                <a:srgbClr val="C00000"/>
              </a:solidFill>
              <a:latin typeface="Aptos" panose="020B0004020202020204" pitchFamily="34" charset="0"/>
            </a:endParaRPr>
          </a:p>
          <a:p>
            <a:pPr marL="0" indent="0">
              <a:buNone/>
            </a:pPr>
            <a:r>
              <a:rPr lang="en-US" sz="1600" dirty="0">
                <a:solidFill>
                  <a:srgbClr val="C00000"/>
                </a:solidFill>
                <a:latin typeface="Aptos" panose="020B0004020202020204" pitchFamily="34" charset="0"/>
                <a:hlinkClick r:id="rId4">
                  <a:extLst>
                    <a:ext uri="{A12FA001-AC4F-418D-AE19-62706E023703}">
                      <ahyp:hlinkClr xmlns:ahyp="http://schemas.microsoft.com/office/drawing/2018/hyperlinkcolor" val="tx"/>
                    </a:ext>
                  </a:extLst>
                </a:hlinkClick>
              </a:rPr>
              <a:t>alberto.gastaldello.2@phd.unipd.it</a:t>
            </a:r>
            <a:r>
              <a:rPr lang="en-US" sz="1600" dirty="0">
                <a:solidFill>
                  <a:srgbClr val="C00000"/>
                </a:solidFill>
                <a:latin typeface="Aptos" panose="020B0004020202020204" pitchFamily="34" charset="0"/>
              </a:rPr>
              <a:t> </a:t>
            </a:r>
            <a:br>
              <a:rPr lang="en-US" sz="1600" dirty="0">
                <a:latin typeface="Aptos" panose="020B0004020202020204" pitchFamily="34" charset="0"/>
              </a:rPr>
            </a:br>
            <a:endParaRPr lang="en-US" sz="1600" dirty="0">
              <a:latin typeface="Aptos" panose="020B0004020202020204" pitchFamily="34" charset="0"/>
            </a:endParaRPr>
          </a:p>
          <a:p>
            <a:endParaRPr lang="en-US" sz="1600" dirty="0">
              <a:latin typeface="Aptos" panose="020B0004020202020204" pitchFamily="34" charset="0"/>
            </a:endParaRPr>
          </a:p>
          <a:p>
            <a:endParaRPr lang="en-US" sz="1600" dirty="0">
              <a:latin typeface="Aptos" panose="020B0004020202020204" pitchFamily="34" charset="0"/>
            </a:endParaRPr>
          </a:p>
        </p:txBody>
      </p:sp>
      <p:pic>
        <p:nvPicPr>
          <p:cNvPr id="13" name="Picture 12" descr="A person wearing glasses and a blue jacket&#10;&#10;AI-generated content may be incorrect.">
            <a:extLst>
              <a:ext uri="{FF2B5EF4-FFF2-40B4-BE49-F238E27FC236}">
                <a16:creationId xmlns:a16="http://schemas.microsoft.com/office/drawing/2014/main" id="{988E4DF5-823B-DB3E-BE13-A68FBC5CC80A}"/>
              </a:ext>
            </a:extLst>
          </p:cNvPr>
          <p:cNvPicPr>
            <a:picLocks noChangeAspect="1"/>
          </p:cNvPicPr>
          <p:nvPr/>
        </p:nvPicPr>
        <p:blipFill>
          <a:blip r:embed="rId5">
            <a:extLst>
              <a:ext uri="{28A0092B-C50C-407E-A947-70E740481C1C}">
                <a14:useLocalDpi xmlns:a14="http://schemas.microsoft.com/office/drawing/2010/main" val="0"/>
              </a:ext>
            </a:extLst>
          </a:blip>
          <a:srcRect l="20234" t="7515" r="17055" b="32838"/>
          <a:stretch/>
        </p:blipFill>
        <p:spPr>
          <a:xfrm>
            <a:off x="428169" y="4347633"/>
            <a:ext cx="1663677" cy="1656714"/>
          </a:xfrm>
          <a:prstGeom prst="rect">
            <a:avLst/>
          </a:prstGeom>
        </p:spPr>
      </p:pic>
      <p:pic>
        <p:nvPicPr>
          <p:cNvPr id="10" name="Picture 9" descr="A table with a number of times&#10;&#10;AI-generated content may be incorrect.">
            <a:extLst>
              <a:ext uri="{FF2B5EF4-FFF2-40B4-BE49-F238E27FC236}">
                <a16:creationId xmlns:a16="http://schemas.microsoft.com/office/drawing/2014/main" id="{6D8901ED-AAF2-810D-ED1E-801923CDF0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10084" y="2421101"/>
            <a:ext cx="5059127" cy="2065561"/>
          </a:xfrm>
          <a:prstGeom prst="rect">
            <a:avLst/>
          </a:prstGeom>
        </p:spPr>
      </p:pic>
      <p:pic>
        <p:nvPicPr>
          <p:cNvPr id="12" name="Picture 11" descr="A table with a number of times&#10;&#10;AI-generated content may be incorrect.">
            <a:extLst>
              <a:ext uri="{FF2B5EF4-FFF2-40B4-BE49-F238E27FC236}">
                <a16:creationId xmlns:a16="http://schemas.microsoft.com/office/drawing/2014/main" id="{69F3B04B-96C8-520A-BE47-C708B58530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0084" y="4571579"/>
            <a:ext cx="5059127" cy="2033669"/>
          </a:xfrm>
          <a:prstGeom prst="rect">
            <a:avLst/>
          </a:prstGeom>
        </p:spPr>
      </p:pic>
      <p:sp>
        <p:nvSpPr>
          <p:cNvPr id="15" name="TextBox 14">
            <a:extLst>
              <a:ext uri="{FF2B5EF4-FFF2-40B4-BE49-F238E27FC236}">
                <a16:creationId xmlns:a16="http://schemas.microsoft.com/office/drawing/2014/main" id="{CECC7E39-DE01-FD2D-9134-EF6D23F51238}"/>
              </a:ext>
            </a:extLst>
          </p:cNvPr>
          <p:cNvSpPr txBox="1"/>
          <p:nvPr/>
        </p:nvSpPr>
        <p:spPr>
          <a:xfrm>
            <a:off x="5562600" y="4332689"/>
            <a:ext cx="6096000" cy="369332"/>
          </a:xfrm>
          <a:prstGeom prst="rect">
            <a:avLst/>
          </a:prstGeom>
          <a:noFill/>
        </p:spPr>
        <p:txBody>
          <a:bodyPr wrap="square">
            <a:spAutoFit/>
          </a:bodyPr>
          <a:lstStyle/>
          <a:p>
            <a:r>
              <a:rPr lang="en-US" b="1" dirty="0">
                <a:solidFill>
                  <a:srgbClr val="C00000"/>
                </a:solidFill>
              </a:rPr>
              <a:t>OR</a:t>
            </a:r>
          </a:p>
        </p:txBody>
      </p:sp>
    </p:spTree>
    <p:extLst>
      <p:ext uri="{BB962C8B-B14F-4D97-AF65-F5344CB8AC3E}">
        <p14:creationId xmlns:p14="http://schemas.microsoft.com/office/powerpoint/2010/main" val="3733545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Discord</a:t>
            </a:r>
            <a:r>
              <a:rPr lang="it-IT" dirty="0"/>
              <a:t> server</a:t>
            </a:r>
            <a:endParaRPr lang="en-GB" dirty="0"/>
          </a:p>
        </p:txBody>
      </p:sp>
      <p:sp>
        <p:nvSpPr>
          <p:cNvPr id="3" name="Segnaposto contenuto 2"/>
          <p:cNvSpPr>
            <a:spLocks noGrp="1"/>
          </p:cNvSpPr>
          <p:nvPr>
            <p:ph idx="1"/>
          </p:nvPr>
        </p:nvSpPr>
        <p:spPr>
          <a:xfrm>
            <a:off x="428172" y="4078014"/>
            <a:ext cx="11368314" cy="2525986"/>
          </a:xfrm>
        </p:spPr>
        <p:txBody>
          <a:bodyPr>
            <a:normAutofit/>
          </a:bodyPr>
          <a:lstStyle/>
          <a:p>
            <a:r>
              <a:rPr lang="en-US" dirty="0"/>
              <a:t>Join the Discord server to get in touch and ask questions</a:t>
            </a:r>
          </a:p>
          <a:p>
            <a:endParaRPr lang="en-US" dirty="0"/>
          </a:p>
          <a:p>
            <a:r>
              <a:rPr lang="en-US" b="1" dirty="0"/>
              <a:t>Link: </a:t>
            </a:r>
            <a:r>
              <a:rPr lang="en-US" b="1" dirty="0">
                <a:solidFill>
                  <a:srgbClr val="C00000"/>
                </a:solidFill>
              </a:rPr>
              <a:t>https://</a:t>
            </a:r>
            <a:r>
              <a:rPr lang="en-US" b="1" dirty="0" err="1">
                <a:solidFill>
                  <a:srgbClr val="C00000"/>
                </a:solidFill>
              </a:rPr>
              <a:t>discord.gg</a:t>
            </a:r>
            <a:r>
              <a:rPr lang="en-US" b="1" dirty="0">
                <a:solidFill>
                  <a:srgbClr val="C00000"/>
                </a:solidFill>
              </a:rPr>
              <a:t>/j76A3D27bm</a:t>
            </a:r>
          </a:p>
        </p:txBody>
      </p:sp>
      <p:sp>
        <p:nvSpPr>
          <p:cNvPr id="6" name="Segnaposto numero diapositiva 5"/>
          <p:cNvSpPr>
            <a:spLocks noGrp="1"/>
          </p:cNvSpPr>
          <p:nvPr>
            <p:ph type="sldNum" sz="quarter" idx="12"/>
          </p:nvPr>
        </p:nvSpPr>
        <p:spPr/>
        <p:txBody>
          <a:bodyPr/>
          <a:lstStyle/>
          <a:p>
            <a:fld id="{31DE2C5B-556E-47B8-A792-024C2FCA4ACC}" type="slidenum">
              <a:rPr lang="en-GB" smtClean="0"/>
              <a:t>18</a:t>
            </a:fld>
            <a:endParaRPr lang="en-GB"/>
          </a:p>
        </p:txBody>
      </p:sp>
      <p:pic>
        <p:nvPicPr>
          <p:cNvPr id="8" name="Picture 7" descr="A logo with text on it&#10;&#10;Description automatically generated">
            <a:extLst>
              <a:ext uri="{FF2B5EF4-FFF2-40B4-BE49-F238E27FC236}">
                <a16:creationId xmlns:a16="http://schemas.microsoft.com/office/drawing/2014/main" id="{7B03028D-19EA-9E88-FA17-669E796A6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927" y="1563794"/>
            <a:ext cx="1865206" cy="1865206"/>
          </a:xfrm>
          <a:prstGeom prst="rect">
            <a:avLst/>
          </a:prstGeom>
          <a:ln>
            <a:solidFill>
              <a:srgbClr val="C00000"/>
            </a:solidFill>
          </a:ln>
        </p:spPr>
      </p:pic>
      <p:pic>
        <p:nvPicPr>
          <p:cNvPr id="1026" name="Picture 2" descr="Discord Proxy - Altri proxy - FineProxy.org">
            <a:extLst>
              <a:ext uri="{FF2B5EF4-FFF2-40B4-BE49-F238E27FC236}">
                <a16:creationId xmlns:a16="http://schemas.microsoft.com/office/drawing/2014/main" id="{25AECF0B-2128-FA74-A95A-7A0E6938F9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085" y="1788281"/>
            <a:ext cx="1865206" cy="1416231"/>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Add with solid fill">
            <a:extLst>
              <a:ext uri="{FF2B5EF4-FFF2-40B4-BE49-F238E27FC236}">
                <a16:creationId xmlns:a16="http://schemas.microsoft.com/office/drawing/2014/main" id="{5C0821A2-37BC-BAFE-EED5-38C7E19F32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0009" y="2272850"/>
            <a:ext cx="457200" cy="457200"/>
          </a:xfrm>
          <a:prstGeom prst="rect">
            <a:avLst/>
          </a:prstGeom>
        </p:spPr>
      </p:pic>
      <p:pic>
        <p:nvPicPr>
          <p:cNvPr id="9" name="Picture 8" descr="A qr code with a white background&#10;&#10;Description automatically generated">
            <a:extLst>
              <a:ext uri="{FF2B5EF4-FFF2-40B4-BE49-F238E27FC236}">
                <a16:creationId xmlns:a16="http://schemas.microsoft.com/office/drawing/2014/main" id="{90046EB7-6187-6A4A-1324-88C6CC67B1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90172" y="3492858"/>
            <a:ext cx="2426741" cy="2426741"/>
          </a:xfrm>
          <a:prstGeom prst="rect">
            <a:avLst/>
          </a:prstGeom>
        </p:spPr>
      </p:pic>
    </p:spTree>
    <p:extLst>
      <p:ext uri="{BB962C8B-B14F-4D97-AF65-F5344CB8AC3E}">
        <p14:creationId xmlns:p14="http://schemas.microsoft.com/office/powerpoint/2010/main" val="2237953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Wearables</a:t>
            </a:r>
          </a:p>
        </p:txBody>
      </p:sp>
    </p:spTree>
    <p:extLst>
      <p:ext uri="{BB962C8B-B14F-4D97-AF65-F5344CB8AC3E}">
        <p14:creationId xmlns:p14="http://schemas.microsoft.com/office/powerpoint/2010/main" val="1291204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Wearable devices</a:t>
            </a:r>
            <a:endParaRPr lang="en-GB"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20</a:t>
            </a:fld>
            <a:endParaRPr lang="en-GB"/>
          </a:p>
        </p:txBody>
      </p:sp>
      <p:pic>
        <p:nvPicPr>
          <p:cNvPr id="13" name="Graphic 12" descr="Question Mark with solid fill">
            <a:extLst>
              <a:ext uri="{FF2B5EF4-FFF2-40B4-BE49-F238E27FC236}">
                <a16:creationId xmlns:a16="http://schemas.microsoft.com/office/drawing/2014/main" id="{4C0D0C33-19F8-64FD-6211-D7AE54CC4C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429" y="1943100"/>
            <a:ext cx="2971800" cy="2971800"/>
          </a:xfrm>
          <a:prstGeom prst="rect">
            <a:avLst/>
          </a:prstGeom>
        </p:spPr>
      </p:pic>
    </p:spTree>
    <p:extLst>
      <p:ext uri="{BB962C8B-B14F-4D97-AF65-F5344CB8AC3E}">
        <p14:creationId xmlns:p14="http://schemas.microsoft.com/office/powerpoint/2010/main" val="2937209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724C-4992-46CC-AB18-117ED0CDA8C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25152AF-A11C-214E-454E-DC5F273FF3FE}"/>
              </a:ext>
            </a:extLst>
          </p:cNvPr>
          <p:cNvSpPr>
            <a:spLocks noGrp="1"/>
          </p:cNvSpPr>
          <p:nvPr>
            <p:ph type="title"/>
          </p:nvPr>
        </p:nvSpPr>
        <p:spPr/>
        <p:txBody>
          <a:bodyPr/>
          <a:lstStyle/>
          <a:p>
            <a:r>
              <a:rPr lang="it-IT" dirty="0"/>
              <a:t>Wearable devices</a:t>
            </a:r>
            <a:endParaRPr lang="en-GB" dirty="0"/>
          </a:p>
        </p:txBody>
      </p:sp>
      <p:sp>
        <p:nvSpPr>
          <p:cNvPr id="3" name="Segnaposto contenuto 2">
            <a:extLst>
              <a:ext uri="{FF2B5EF4-FFF2-40B4-BE49-F238E27FC236}">
                <a16:creationId xmlns:a16="http://schemas.microsoft.com/office/drawing/2014/main" id="{109674D2-C3BC-DCFF-6FC7-AB8BB39E05AB}"/>
              </a:ext>
            </a:extLst>
          </p:cNvPr>
          <p:cNvSpPr>
            <a:spLocks noGrp="1"/>
          </p:cNvSpPr>
          <p:nvPr>
            <p:ph idx="1"/>
          </p:nvPr>
        </p:nvSpPr>
        <p:spPr/>
        <p:txBody>
          <a:bodyPr/>
          <a:lstStyle/>
          <a:p>
            <a:r>
              <a:rPr lang="en-US" dirty="0"/>
              <a:t>A wearable device is a device that can be used for sensing physiological parameters or signals which generally include two components: </a:t>
            </a:r>
          </a:p>
          <a:p>
            <a:pPr lvl="1"/>
            <a:r>
              <a:rPr lang="en-US" dirty="0"/>
              <a:t>A </a:t>
            </a:r>
            <a:r>
              <a:rPr lang="en-US" b="1" dirty="0"/>
              <a:t>sensor</a:t>
            </a:r>
            <a:r>
              <a:rPr lang="en-US" dirty="0"/>
              <a:t> that measures the physical quantity of interest (measurand)</a:t>
            </a:r>
          </a:p>
          <a:p>
            <a:pPr lvl="1"/>
            <a:r>
              <a:rPr lang="en-US" dirty="0"/>
              <a:t>An </a:t>
            </a:r>
            <a:r>
              <a:rPr lang="en-US" b="1" dirty="0"/>
              <a:t>embedded processing unit </a:t>
            </a:r>
            <a:r>
              <a:rPr lang="en-US" dirty="0"/>
              <a:t>that does some initial processing of the measurements and either stores them in a memory or sends them to another device</a:t>
            </a:r>
          </a:p>
        </p:txBody>
      </p:sp>
      <p:pic>
        <p:nvPicPr>
          <p:cNvPr id="4" name="Immagine 3">
            <a:extLst>
              <a:ext uri="{FF2B5EF4-FFF2-40B4-BE49-F238E27FC236}">
                <a16:creationId xmlns:a16="http://schemas.microsoft.com/office/drawing/2014/main" id="{4E43E8E2-0638-2F36-5D2E-8F64BA322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7915" y="3128210"/>
            <a:ext cx="3880987" cy="2923423"/>
          </a:xfrm>
          <a:prstGeom prst="rect">
            <a:avLst/>
          </a:prstGeom>
        </p:spPr>
      </p:pic>
      <p:sp>
        <p:nvSpPr>
          <p:cNvPr id="5" name="CasellaDiTesto 4">
            <a:extLst>
              <a:ext uri="{FF2B5EF4-FFF2-40B4-BE49-F238E27FC236}">
                <a16:creationId xmlns:a16="http://schemas.microsoft.com/office/drawing/2014/main" id="{BE4FF99B-DDF3-7715-8C39-3DBD135AEB92}"/>
              </a:ext>
            </a:extLst>
          </p:cNvPr>
          <p:cNvSpPr txBox="1"/>
          <p:nvPr/>
        </p:nvSpPr>
        <p:spPr>
          <a:xfrm>
            <a:off x="2111542" y="5200233"/>
            <a:ext cx="1816768" cy="400110"/>
          </a:xfrm>
          <a:prstGeom prst="rect">
            <a:avLst/>
          </a:prstGeom>
          <a:noFill/>
        </p:spPr>
        <p:txBody>
          <a:bodyPr wrap="square" rtlCol="0">
            <a:spAutoFit/>
          </a:bodyPr>
          <a:lstStyle/>
          <a:p>
            <a:r>
              <a:rPr lang="it-IT" sz="2000" dirty="0">
                <a:latin typeface="Aptos" panose="020B0004020202020204" pitchFamily="34" charset="0"/>
              </a:rPr>
              <a:t>Sensor</a:t>
            </a:r>
            <a:endParaRPr lang="en-GB" sz="2400" dirty="0">
              <a:latin typeface="Aptos" panose="020B0004020202020204" pitchFamily="34" charset="0"/>
            </a:endParaRPr>
          </a:p>
        </p:txBody>
      </p:sp>
      <p:sp>
        <p:nvSpPr>
          <p:cNvPr id="6" name="CasellaDiTesto 5">
            <a:extLst>
              <a:ext uri="{FF2B5EF4-FFF2-40B4-BE49-F238E27FC236}">
                <a16:creationId xmlns:a16="http://schemas.microsoft.com/office/drawing/2014/main" id="{144964D7-A87F-722F-A3B4-BAE1D6E15310}"/>
              </a:ext>
            </a:extLst>
          </p:cNvPr>
          <p:cNvSpPr txBox="1"/>
          <p:nvPr/>
        </p:nvSpPr>
        <p:spPr>
          <a:xfrm>
            <a:off x="3459080" y="6340860"/>
            <a:ext cx="3829750" cy="400110"/>
          </a:xfrm>
          <a:prstGeom prst="rect">
            <a:avLst/>
          </a:prstGeom>
          <a:noFill/>
        </p:spPr>
        <p:txBody>
          <a:bodyPr wrap="square" rtlCol="0">
            <a:spAutoFit/>
          </a:bodyPr>
          <a:lstStyle/>
          <a:p>
            <a:r>
              <a:rPr lang="it-IT" sz="2000" dirty="0">
                <a:latin typeface="Aptos" panose="020B0004020202020204" pitchFamily="34" charset="0"/>
              </a:rPr>
              <a:t>Embedded processing </a:t>
            </a:r>
            <a:r>
              <a:rPr lang="it-IT" sz="2000" dirty="0" err="1">
                <a:latin typeface="Aptos" panose="020B0004020202020204" pitchFamily="34" charset="0"/>
              </a:rPr>
              <a:t>unit</a:t>
            </a:r>
            <a:endParaRPr lang="en-GB" sz="2000" dirty="0">
              <a:latin typeface="Aptos" panose="020B0004020202020204" pitchFamily="34" charset="0"/>
            </a:endParaRPr>
          </a:p>
        </p:txBody>
      </p:sp>
      <p:cxnSp>
        <p:nvCxnSpPr>
          <p:cNvPr id="8" name="Connettore 2 7">
            <a:extLst>
              <a:ext uri="{FF2B5EF4-FFF2-40B4-BE49-F238E27FC236}">
                <a16:creationId xmlns:a16="http://schemas.microsoft.com/office/drawing/2014/main" id="{7EF671FC-FF09-A524-D041-782D5BF63C1E}"/>
              </a:ext>
            </a:extLst>
          </p:cNvPr>
          <p:cNvCxnSpPr/>
          <p:nvPr/>
        </p:nvCxnSpPr>
        <p:spPr>
          <a:xfrm>
            <a:off x="3019926" y="5426460"/>
            <a:ext cx="908384" cy="1738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ttore 2 9">
            <a:extLst>
              <a:ext uri="{FF2B5EF4-FFF2-40B4-BE49-F238E27FC236}">
                <a16:creationId xmlns:a16="http://schemas.microsoft.com/office/drawing/2014/main" id="{569DFA70-C72C-402F-5438-12A8FD70DF3D}"/>
              </a:ext>
            </a:extLst>
          </p:cNvPr>
          <p:cNvCxnSpPr/>
          <p:nvPr/>
        </p:nvCxnSpPr>
        <p:spPr>
          <a:xfrm flipH="1" flipV="1">
            <a:off x="4529889" y="5780695"/>
            <a:ext cx="222588" cy="5601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E1ECA4AC-1CFA-BA9A-B592-FEA7A43FC2F7}"/>
              </a:ext>
            </a:extLst>
          </p:cNvPr>
          <p:cNvSpPr txBox="1"/>
          <p:nvPr/>
        </p:nvSpPr>
        <p:spPr>
          <a:xfrm>
            <a:off x="7757924" y="5292146"/>
            <a:ext cx="3633537" cy="707886"/>
          </a:xfrm>
          <a:prstGeom prst="rect">
            <a:avLst/>
          </a:prstGeom>
          <a:noFill/>
        </p:spPr>
        <p:txBody>
          <a:bodyPr wrap="square" rtlCol="0">
            <a:spAutoFit/>
          </a:bodyPr>
          <a:lstStyle/>
          <a:p>
            <a:pPr algn="ctr"/>
            <a:r>
              <a:rPr lang="it-IT" sz="2000" dirty="0" err="1">
                <a:latin typeface="Aptos" panose="020B0004020202020204" pitchFamily="34" charset="0"/>
              </a:rPr>
              <a:t>Receiver</a:t>
            </a:r>
            <a:r>
              <a:rPr lang="it-IT" sz="2000" dirty="0">
                <a:latin typeface="Aptos" panose="020B0004020202020204" pitchFamily="34" charset="0"/>
              </a:rPr>
              <a:t> </a:t>
            </a:r>
            <a:r>
              <a:rPr lang="it-IT" sz="2000" dirty="0" err="1">
                <a:latin typeface="Aptos" panose="020B0004020202020204" pitchFamily="34" charset="0"/>
              </a:rPr>
              <a:t>device</a:t>
            </a:r>
            <a:r>
              <a:rPr lang="it-IT" sz="2000" dirty="0">
                <a:latin typeface="Aptos" panose="020B0004020202020204" pitchFamily="34" charset="0"/>
              </a:rPr>
              <a:t> / Gateway </a:t>
            </a:r>
            <a:r>
              <a:rPr lang="it-IT" sz="2000" dirty="0" err="1">
                <a:latin typeface="Aptos" panose="020B0004020202020204" pitchFamily="34" charset="0"/>
              </a:rPr>
              <a:t>device</a:t>
            </a:r>
            <a:r>
              <a:rPr lang="it-IT" sz="2000" dirty="0">
                <a:latin typeface="Aptos" panose="020B0004020202020204" pitchFamily="34" charset="0"/>
              </a:rPr>
              <a:t> (for </a:t>
            </a:r>
            <a:r>
              <a:rPr lang="it-IT" sz="2000" dirty="0" err="1">
                <a:latin typeface="Aptos" panose="020B0004020202020204" pitchFamily="34" charset="0"/>
              </a:rPr>
              <a:t>IoT</a:t>
            </a:r>
            <a:r>
              <a:rPr lang="it-IT" sz="2000" dirty="0">
                <a:latin typeface="Aptos" panose="020B0004020202020204" pitchFamily="34" charset="0"/>
              </a:rPr>
              <a:t> </a:t>
            </a:r>
            <a:r>
              <a:rPr lang="it-IT" sz="2000" dirty="0" err="1">
                <a:latin typeface="Aptos" panose="020B0004020202020204" pitchFamily="34" charset="0"/>
              </a:rPr>
              <a:t>devices</a:t>
            </a:r>
            <a:r>
              <a:rPr lang="it-IT" sz="2000" dirty="0">
                <a:latin typeface="Aptos" panose="020B0004020202020204" pitchFamily="34" charset="0"/>
              </a:rPr>
              <a:t>)</a:t>
            </a:r>
            <a:endParaRPr lang="en-GB" sz="2000" dirty="0">
              <a:latin typeface="Aptos" panose="020B0004020202020204" pitchFamily="34" charset="0"/>
            </a:endParaRPr>
          </a:p>
        </p:txBody>
      </p:sp>
      <p:cxnSp>
        <p:nvCxnSpPr>
          <p:cNvPr id="18" name="Connettore 2 17">
            <a:extLst>
              <a:ext uri="{FF2B5EF4-FFF2-40B4-BE49-F238E27FC236}">
                <a16:creationId xmlns:a16="http://schemas.microsoft.com/office/drawing/2014/main" id="{C409CF95-79EF-92C1-CAD5-4E02BACFE921}"/>
              </a:ext>
            </a:extLst>
          </p:cNvPr>
          <p:cNvCxnSpPr/>
          <p:nvPr/>
        </p:nvCxnSpPr>
        <p:spPr>
          <a:xfrm flipH="1" flipV="1">
            <a:off x="7387717" y="4758489"/>
            <a:ext cx="819829" cy="45979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08046405-9C15-C913-99A0-45118AB640E9}"/>
              </a:ext>
            </a:extLst>
          </p:cNvPr>
          <p:cNvCxnSpPr/>
          <p:nvPr/>
        </p:nvCxnSpPr>
        <p:spPr>
          <a:xfrm flipH="1">
            <a:off x="6791826" y="5600343"/>
            <a:ext cx="1173079" cy="3996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Segnaposto numero diapositiva 6">
            <a:extLst>
              <a:ext uri="{FF2B5EF4-FFF2-40B4-BE49-F238E27FC236}">
                <a16:creationId xmlns:a16="http://schemas.microsoft.com/office/drawing/2014/main" id="{525B4596-FD0D-8713-FA7D-7E75E7BC3CE0}"/>
              </a:ext>
            </a:extLst>
          </p:cNvPr>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1604811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Definitions of sensor</a:t>
            </a:r>
          </a:p>
        </p:txBody>
      </p:sp>
      <p:sp>
        <p:nvSpPr>
          <p:cNvPr id="3" name="Segnaposto contenuto 2"/>
          <p:cNvSpPr>
            <a:spLocks noGrp="1"/>
          </p:cNvSpPr>
          <p:nvPr>
            <p:ph idx="1"/>
          </p:nvPr>
        </p:nvSpPr>
        <p:spPr/>
        <p:txBody>
          <a:bodyPr/>
          <a:lstStyle/>
          <a:p>
            <a:r>
              <a:rPr lang="en-GB" dirty="0"/>
              <a:t>“A sensor generally refers to a device that converts a physical measure into a signal that is read by an observer or by an instrument” (Chen et al., 2012)</a:t>
            </a:r>
          </a:p>
          <a:p>
            <a:pPr marL="0" indent="0">
              <a:buNone/>
            </a:pPr>
            <a:endParaRPr lang="it-IT" i="1" dirty="0"/>
          </a:p>
        </p:txBody>
      </p:sp>
      <p:pic>
        <p:nvPicPr>
          <p:cNvPr id="4" name="Immagine 3"/>
          <p:cNvPicPr>
            <a:picLocks noChangeAspect="1"/>
          </p:cNvPicPr>
          <p:nvPr/>
        </p:nvPicPr>
        <p:blipFill rotWithShape="1">
          <a:blip r:embed="rId2">
            <a:extLst>
              <a:ext uri="{28A0092B-C50C-407E-A947-70E740481C1C}">
                <a14:useLocalDpi xmlns:a14="http://schemas.microsoft.com/office/drawing/2010/main" val="0"/>
              </a:ext>
            </a:extLst>
          </a:blip>
          <a:srcRect t="3612" b="8996"/>
          <a:stretch/>
        </p:blipFill>
        <p:spPr>
          <a:xfrm>
            <a:off x="2594772" y="2302905"/>
            <a:ext cx="8573243" cy="3856074"/>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22</a:t>
            </a:fld>
            <a:endParaRPr lang="en-GB"/>
          </a:p>
        </p:txBody>
      </p:sp>
      <p:sp>
        <p:nvSpPr>
          <p:cNvPr id="6" name="CasellaDiTesto 5">
            <a:extLst>
              <a:ext uri="{FF2B5EF4-FFF2-40B4-BE49-F238E27FC236}">
                <a16:creationId xmlns:a16="http://schemas.microsoft.com/office/drawing/2014/main" id="{431F721B-3DF4-B54A-5E62-2240AEFE985C}"/>
              </a:ext>
            </a:extLst>
          </p:cNvPr>
          <p:cNvSpPr txBox="1"/>
          <p:nvPr/>
        </p:nvSpPr>
        <p:spPr>
          <a:xfrm>
            <a:off x="1404075" y="4030887"/>
            <a:ext cx="1816768" cy="400110"/>
          </a:xfrm>
          <a:prstGeom prst="rect">
            <a:avLst/>
          </a:prstGeom>
          <a:noFill/>
        </p:spPr>
        <p:txBody>
          <a:bodyPr wrap="square" rtlCol="0">
            <a:spAutoFit/>
          </a:bodyPr>
          <a:lstStyle/>
          <a:p>
            <a:r>
              <a:rPr lang="it-IT" sz="2000" dirty="0" err="1">
                <a:latin typeface="Aptos" panose="020B0004020202020204" pitchFamily="34" charset="0"/>
              </a:rPr>
              <a:t>Measurand</a:t>
            </a:r>
            <a:endParaRPr lang="en-GB" sz="2400" dirty="0">
              <a:latin typeface="Aptos" panose="020B0004020202020204" pitchFamily="34" charset="0"/>
            </a:endParaRPr>
          </a:p>
        </p:txBody>
      </p:sp>
    </p:spTree>
    <p:extLst>
      <p:ext uri="{BB962C8B-B14F-4D97-AF65-F5344CB8AC3E}">
        <p14:creationId xmlns:p14="http://schemas.microsoft.com/office/powerpoint/2010/main" val="1664532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interaction with the measurand</a:t>
            </a:r>
          </a:p>
        </p:txBody>
      </p:sp>
      <p:sp>
        <p:nvSpPr>
          <p:cNvPr id="3" name="Segnaposto contenuto 2"/>
          <p:cNvSpPr>
            <a:spLocks noGrp="1"/>
          </p:cNvSpPr>
          <p:nvPr>
            <p:ph idx="1"/>
          </p:nvPr>
        </p:nvSpPr>
        <p:spPr>
          <a:xfrm>
            <a:off x="428172" y="1361168"/>
            <a:ext cx="11368314" cy="2236472"/>
          </a:xfrm>
        </p:spPr>
        <p:txBody>
          <a:bodyPr/>
          <a:lstStyle/>
          <a:p>
            <a:pPr marL="0" indent="0">
              <a:buNone/>
            </a:pPr>
            <a:r>
              <a:rPr lang="en-US" b="1" dirty="0"/>
              <a:t>Contact sensor</a:t>
            </a:r>
            <a:r>
              <a:rPr lang="en-US" dirty="0"/>
              <a:t>: sensors requiring physical contact with the measurand. </a:t>
            </a:r>
          </a:p>
          <a:p>
            <a:r>
              <a:rPr lang="en-US" dirty="0"/>
              <a:t>Their deployment obviously perturbs the state of the subject to some degree. </a:t>
            </a:r>
          </a:p>
          <a:p>
            <a:pPr lvl="1"/>
            <a:r>
              <a:rPr lang="en-US" dirty="0"/>
              <a:t>Comfort and biocompatibility are important considerations</a:t>
            </a:r>
          </a:p>
          <a:p>
            <a:pPr lvl="1"/>
            <a:r>
              <a:rPr lang="en-US" dirty="0"/>
              <a:t>Response time determined by the speed at which the measurand is transported to the measurement site.</a:t>
            </a:r>
          </a:p>
          <a:p>
            <a:pPr lvl="1"/>
            <a:r>
              <a:rPr lang="en-US" dirty="0"/>
              <a:t>Poor contact can result in signal noise and the introduction of signal artifacts.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23</a:t>
            </a:fld>
            <a:endParaRPr lang="en-GB" dirty="0"/>
          </a:p>
        </p:txBody>
      </p:sp>
      <p:sp>
        <p:nvSpPr>
          <p:cNvPr id="6" name="CasellaDiTesto 5">
            <a:extLst>
              <a:ext uri="{FF2B5EF4-FFF2-40B4-BE49-F238E27FC236}">
                <a16:creationId xmlns:a16="http://schemas.microsoft.com/office/drawing/2014/main" id="{1830490A-B86C-B995-848F-ABDA55CC078C}"/>
              </a:ext>
            </a:extLst>
          </p:cNvPr>
          <p:cNvSpPr txBox="1"/>
          <p:nvPr/>
        </p:nvSpPr>
        <p:spPr>
          <a:xfrm>
            <a:off x="0" y="3800964"/>
            <a:ext cx="3674464" cy="646331"/>
          </a:xfrm>
          <a:prstGeom prst="rect">
            <a:avLst/>
          </a:prstGeom>
          <a:noFill/>
        </p:spPr>
        <p:txBody>
          <a:bodyPr wrap="square">
            <a:spAutoFit/>
          </a:bodyPr>
          <a:lstStyle/>
          <a:p>
            <a:pPr lvl="1" algn="ctr"/>
            <a:r>
              <a:rPr lang="en-US" b="1" dirty="0">
                <a:latin typeface="Aptos" panose="020B0004020202020204" pitchFamily="34" charset="0"/>
              </a:rPr>
              <a:t>Invasive</a:t>
            </a:r>
            <a:r>
              <a:rPr lang="en-US" dirty="0">
                <a:latin typeface="Aptos" panose="020B0004020202020204" pitchFamily="34" charset="0"/>
              </a:rPr>
              <a:t>: sensors inserted into human body</a:t>
            </a:r>
          </a:p>
        </p:txBody>
      </p:sp>
      <p:sp>
        <p:nvSpPr>
          <p:cNvPr id="8" name="CasellaDiTesto 7">
            <a:extLst>
              <a:ext uri="{FF2B5EF4-FFF2-40B4-BE49-F238E27FC236}">
                <a16:creationId xmlns:a16="http://schemas.microsoft.com/office/drawing/2014/main" id="{4A8B36B2-F1C9-E63F-139B-426DC755771F}"/>
              </a:ext>
            </a:extLst>
          </p:cNvPr>
          <p:cNvSpPr txBox="1"/>
          <p:nvPr/>
        </p:nvSpPr>
        <p:spPr>
          <a:xfrm>
            <a:off x="3674464" y="3800964"/>
            <a:ext cx="4013320" cy="923330"/>
          </a:xfrm>
          <a:prstGeom prst="rect">
            <a:avLst/>
          </a:prstGeom>
          <a:noFill/>
        </p:spPr>
        <p:txBody>
          <a:bodyPr wrap="square">
            <a:spAutoFit/>
          </a:bodyPr>
          <a:lstStyle/>
          <a:p>
            <a:pPr lvl="1" algn="ctr"/>
            <a:r>
              <a:rPr lang="en-US" b="1" dirty="0">
                <a:latin typeface="Aptos" panose="020B0004020202020204" pitchFamily="34" charset="0"/>
              </a:rPr>
              <a:t>Minimally-invasive</a:t>
            </a:r>
            <a:r>
              <a:rPr lang="en-US" dirty="0">
                <a:latin typeface="Aptos" panose="020B0004020202020204" pitchFamily="34" charset="0"/>
              </a:rPr>
              <a:t>: patch-type devices on the skin that monitor interstitial fluids</a:t>
            </a:r>
          </a:p>
        </p:txBody>
      </p:sp>
      <p:sp>
        <p:nvSpPr>
          <p:cNvPr id="10" name="CasellaDiTesto 9">
            <a:extLst>
              <a:ext uri="{FF2B5EF4-FFF2-40B4-BE49-F238E27FC236}">
                <a16:creationId xmlns:a16="http://schemas.microsoft.com/office/drawing/2014/main" id="{2AA344A4-4377-A842-F523-E7DD800C12C6}"/>
              </a:ext>
            </a:extLst>
          </p:cNvPr>
          <p:cNvSpPr txBox="1"/>
          <p:nvPr/>
        </p:nvSpPr>
        <p:spPr>
          <a:xfrm>
            <a:off x="7862340" y="3800964"/>
            <a:ext cx="3833733" cy="923330"/>
          </a:xfrm>
          <a:prstGeom prst="rect">
            <a:avLst/>
          </a:prstGeom>
          <a:noFill/>
        </p:spPr>
        <p:txBody>
          <a:bodyPr wrap="square">
            <a:spAutoFit/>
          </a:bodyPr>
          <a:lstStyle/>
          <a:p>
            <a:pPr lvl="1" algn="ctr"/>
            <a:r>
              <a:rPr lang="en-US" b="1" dirty="0">
                <a:latin typeface="Aptos" panose="020B0004020202020204" pitchFamily="34" charset="0"/>
              </a:rPr>
              <a:t>Non-invasive</a:t>
            </a:r>
            <a:r>
              <a:rPr lang="en-US" dirty="0">
                <a:latin typeface="Aptos" panose="020B0004020202020204" pitchFamily="34" charset="0"/>
              </a:rPr>
              <a:t>: sensors that simply have contact with the skin without effect</a:t>
            </a:r>
          </a:p>
        </p:txBody>
      </p:sp>
      <p:pic>
        <p:nvPicPr>
          <p:cNvPr id="12" name="Immagine 11">
            <a:extLst>
              <a:ext uri="{FF2B5EF4-FFF2-40B4-BE49-F238E27FC236}">
                <a16:creationId xmlns:a16="http://schemas.microsoft.com/office/drawing/2014/main" id="{60E6C369-1898-71CA-970F-46ACDC1B14FB}"/>
              </a:ext>
            </a:extLst>
          </p:cNvPr>
          <p:cNvPicPr>
            <a:picLocks noChangeAspect="1"/>
          </p:cNvPicPr>
          <p:nvPr/>
        </p:nvPicPr>
        <p:blipFill rotWithShape="1">
          <a:blip r:embed="rId2">
            <a:extLst>
              <a:ext uri="{28A0092B-C50C-407E-A947-70E740481C1C}">
                <a14:useLocalDpi xmlns:a14="http://schemas.microsoft.com/office/drawing/2010/main" val="0"/>
              </a:ext>
            </a:extLst>
          </a:blip>
          <a:srcRect l="32869" t="10273" b="36176"/>
          <a:stretch/>
        </p:blipFill>
        <p:spPr>
          <a:xfrm>
            <a:off x="0" y="4647555"/>
            <a:ext cx="4092315" cy="1698554"/>
          </a:xfrm>
          <a:prstGeom prst="rect">
            <a:avLst/>
          </a:prstGeom>
        </p:spPr>
      </p:pic>
      <p:pic>
        <p:nvPicPr>
          <p:cNvPr id="13" name="Immagine 12">
            <a:extLst>
              <a:ext uri="{FF2B5EF4-FFF2-40B4-BE49-F238E27FC236}">
                <a16:creationId xmlns:a16="http://schemas.microsoft.com/office/drawing/2014/main" id="{915DF58C-9F65-47B3-16CA-7A4F6D6A0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086" y="4853427"/>
            <a:ext cx="2808486" cy="1600837"/>
          </a:xfrm>
          <a:prstGeom prst="rect">
            <a:avLst/>
          </a:prstGeom>
        </p:spPr>
      </p:pic>
      <p:pic>
        <p:nvPicPr>
          <p:cNvPr id="15" name="Immagine 14" descr="Immagine che contiene accessorio, caso, borsa&#10;&#10;Descrizione generata automaticamente">
            <a:extLst>
              <a:ext uri="{FF2B5EF4-FFF2-40B4-BE49-F238E27FC236}">
                <a16:creationId xmlns:a16="http://schemas.microsoft.com/office/drawing/2014/main" id="{37314837-7D03-43FA-ED93-27CF9F343DDB}"/>
              </a:ext>
            </a:extLst>
          </p:cNvPr>
          <p:cNvPicPr>
            <a:picLocks noChangeAspect="1"/>
          </p:cNvPicPr>
          <p:nvPr/>
        </p:nvPicPr>
        <p:blipFill rotWithShape="1">
          <a:blip r:embed="rId4">
            <a:extLst>
              <a:ext uri="{28A0092B-C50C-407E-A947-70E740481C1C}">
                <a14:useLocalDpi xmlns:a14="http://schemas.microsoft.com/office/drawing/2010/main" val="0"/>
              </a:ext>
            </a:extLst>
          </a:blip>
          <a:srcRect l="18206" r="32370"/>
          <a:stretch/>
        </p:blipFill>
        <p:spPr>
          <a:xfrm>
            <a:off x="9180480" y="4818944"/>
            <a:ext cx="1649913" cy="1877130"/>
          </a:xfrm>
          <a:prstGeom prst="rect">
            <a:avLst/>
          </a:prstGeom>
        </p:spPr>
      </p:pic>
    </p:spTree>
    <p:extLst>
      <p:ext uri="{BB962C8B-B14F-4D97-AF65-F5344CB8AC3E}">
        <p14:creationId xmlns:p14="http://schemas.microsoft.com/office/powerpoint/2010/main" val="3510883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interaction with the measurand</a:t>
            </a:r>
          </a:p>
        </p:txBody>
      </p:sp>
      <p:sp>
        <p:nvSpPr>
          <p:cNvPr id="3" name="Segnaposto contenuto 2"/>
          <p:cNvSpPr>
            <a:spLocks noGrp="1"/>
          </p:cNvSpPr>
          <p:nvPr>
            <p:ph idx="1"/>
          </p:nvPr>
        </p:nvSpPr>
        <p:spPr/>
        <p:txBody>
          <a:bodyPr>
            <a:normAutofit/>
          </a:bodyPr>
          <a:lstStyle/>
          <a:p>
            <a:pPr marL="0" indent="0">
              <a:buNone/>
            </a:pPr>
            <a:r>
              <a:rPr lang="en-US" b="1" dirty="0"/>
              <a:t>Non-contact sensors</a:t>
            </a:r>
            <a:r>
              <a:rPr lang="en-US" dirty="0"/>
              <a:t>: do not require direct contact with the measurand.</a:t>
            </a:r>
          </a:p>
          <a:p>
            <a:r>
              <a:rPr lang="en-US" dirty="0"/>
              <a:t>Minimum perturbation of the subject</a:t>
            </a:r>
          </a:p>
          <a:p>
            <a:r>
              <a:rPr lang="en-US" dirty="0"/>
              <a:t>Generally used in ambient sensing applications</a:t>
            </a:r>
          </a:p>
          <a:p>
            <a:r>
              <a:rPr lang="en-US" dirty="0"/>
              <a:t>Example: infrared thermometer </a:t>
            </a:r>
          </a:p>
          <a:p>
            <a:endParaRPr lang="en-US" dirty="0"/>
          </a:p>
          <a:p>
            <a:pPr marL="0" indent="0">
              <a:buNone/>
            </a:pPr>
            <a:r>
              <a:rPr lang="en-US" b="1" dirty="0"/>
              <a:t>Sample based sensors</a:t>
            </a:r>
            <a:r>
              <a:rPr lang="en-US" dirty="0"/>
              <a:t>: </a:t>
            </a:r>
            <a:r>
              <a:rPr lang="en-GB" dirty="0"/>
              <a:t>require an invasive collection of a sample of the person to be monitored by a human or automated sampling system. </a:t>
            </a:r>
          </a:p>
          <a:p>
            <a:r>
              <a:rPr lang="en-US" dirty="0"/>
              <a:t>The collected samples are analyzed using sensors or laboratory-based analytical instrumentation</a:t>
            </a:r>
          </a:p>
          <a:p>
            <a:r>
              <a:rPr lang="en-GB" dirty="0"/>
              <a:t>Common approach in healthcare (e.g. monitoring cholesterol)</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2090775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sensing technique</a:t>
            </a:r>
            <a:endParaRPr lang="en-GB" dirty="0"/>
          </a:p>
        </p:txBody>
      </p:sp>
      <p:sp>
        <p:nvSpPr>
          <p:cNvPr id="3" name="Segnaposto contenuto 2"/>
          <p:cNvSpPr>
            <a:spLocks noGrp="1"/>
          </p:cNvSpPr>
          <p:nvPr>
            <p:ph idx="1"/>
          </p:nvPr>
        </p:nvSpPr>
        <p:spPr/>
        <p:txBody>
          <a:bodyPr>
            <a:normAutofit/>
          </a:bodyPr>
          <a:lstStyle/>
          <a:p>
            <a:r>
              <a:rPr lang="en-US" dirty="0"/>
              <a:t>Mechanical sensors</a:t>
            </a:r>
          </a:p>
          <a:p>
            <a:endParaRPr lang="en-US" dirty="0"/>
          </a:p>
          <a:p>
            <a:r>
              <a:rPr lang="en-US" dirty="0"/>
              <a:t>Electrical sensors</a:t>
            </a:r>
          </a:p>
          <a:p>
            <a:endParaRPr lang="en-US" dirty="0"/>
          </a:p>
          <a:p>
            <a:r>
              <a:rPr lang="en-US" dirty="0"/>
              <a:t>Optical sensors</a:t>
            </a:r>
          </a:p>
          <a:p>
            <a:endParaRPr lang="en-US" dirty="0"/>
          </a:p>
          <a:p>
            <a:r>
              <a:rPr lang="en-US" dirty="0"/>
              <a:t>Chemical sensors</a:t>
            </a:r>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25</a:t>
            </a:fld>
            <a:endParaRPr lang="en-GB"/>
          </a:p>
        </p:txBody>
      </p:sp>
    </p:spTree>
    <p:extLst>
      <p:ext uri="{BB962C8B-B14F-4D97-AF65-F5344CB8AC3E}">
        <p14:creationId xmlns:p14="http://schemas.microsoft.com/office/powerpoint/2010/main" val="402875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Mechanical sensors</a:t>
            </a:r>
          </a:p>
        </p:txBody>
      </p:sp>
      <p:sp>
        <p:nvSpPr>
          <p:cNvPr id="3" name="Segnaposto contenuto 2"/>
          <p:cNvSpPr>
            <a:spLocks noGrp="1"/>
          </p:cNvSpPr>
          <p:nvPr>
            <p:ph idx="1"/>
          </p:nvPr>
        </p:nvSpPr>
        <p:spPr>
          <a:xfrm>
            <a:off x="428172" y="1361167"/>
            <a:ext cx="11368314" cy="5360308"/>
          </a:xfrm>
        </p:spPr>
        <p:txBody>
          <a:bodyPr>
            <a:normAutofit/>
          </a:bodyPr>
          <a:lstStyle/>
          <a:p>
            <a:r>
              <a:rPr lang="en-US" b="1" dirty="0"/>
              <a:t>Mechanical sensors </a:t>
            </a:r>
            <a:r>
              <a:rPr lang="en-US" dirty="0"/>
              <a:t>detect some form of mechanical deformation of a material, in response to the measurand (input), and translate it to an electrical, optical, magnetic or thermal signal (output). </a:t>
            </a:r>
          </a:p>
          <a:p>
            <a:endParaRPr lang="en-US" dirty="0"/>
          </a:p>
          <a:p>
            <a:r>
              <a:rPr lang="en-US" b="1" dirty="0"/>
              <a:t>Electromechanical sensors</a:t>
            </a:r>
            <a:r>
              <a:rPr lang="en-US" dirty="0"/>
              <a:t>: </a:t>
            </a:r>
          </a:p>
          <a:p>
            <a:endParaRPr lang="en-US" dirty="0"/>
          </a:p>
          <a:p>
            <a:pPr marL="0" indent="0">
              <a:buNone/>
            </a:pPr>
            <a:endParaRPr lang="en-US" dirty="0"/>
          </a:p>
          <a:p>
            <a:r>
              <a:rPr lang="en-US" dirty="0"/>
              <a:t>Types of electromechanical sensing techniques: </a:t>
            </a:r>
          </a:p>
          <a:p>
            <a:pPr lvl="1"/>
            <a:r>
              <a:rPr lang="en-US" sz="2400" dirty="0" err="1"/>
              <a:t>Piezoresistive</a:t>
            </a:r>
            <a:r>
              <a:rPr lang="en-US" sz="2400" dirty="0"/>
              <a:t> sensors</a:t>
            </a:r>
          </a:p>
          <a:p>
            <a:pPr lvl="1"/>
            <a:r>
              <a:rPr lang="en-US" sz="2400" dirty="0"/>
              <a:t>Capacitive sensors</a:t>
            </a:r>
          </a:p>
          <a:p>
            <a:pPr lvl="1"/>
            <a:r>
              <a:rPr lang="en-US" sz="2400" dirty="0" err="1"/>
              <a:t>Iontronic</a:t>
            </a:r>
            <a:r>
              <a:rPr lang="en-US" sz="2400" dirty="0"/>
              <a:t> sensors</a:t>
            </a:r>
          </a:p>
          <a:p>
            <a:pPr lvl="1"/>
            <a:r>
              <a:rPr lang="en-US" sz="2400" dirty="0"/>
              <a:t>Piezoelectric sensors</a:t>
            </a:r>
          </a:p>
          <a:p>
            <a:pPr marL="0" indent="0">
              <a:buNone/>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sp>
        <p:nvSpPr>
          <p:cNvPr id="8" name="CasellaDiTesto 7">
            <a:extLst>
              <a:ext uri="{FF2B5EF4-FFF2-40B4-BE49-F238E27FC236}">
                <a16:creationId xmlns:a16="http://schemas.microsoft.com/office/drawing/2014/main" id="{29C43F0E-32F8-3FDA-25F7-41625A6955E8}"/>
              </a:ext>
            </a:extLst>
          </p:cNvPr>
          <p:cNvSpPr txBox="1"/>
          <p:nvPr/>
        </p:nvSpPr>
        <p:spPr>
          <a:xfrm>
            <a:off x="225476" y="3361065"/>
            <a:ext cx="3674464" cy="461665"/>
          </a:xfrm>
          <a:prstGeom prst="rect">
            <a:avLst/>
          </a:prstGeom>
          <a:noFill/>
        </p:spPr>
        <p:txBody>
          <a:bodyPr wrap="square">
            <a:spAutoFit/>
          </a:bodyPr>
          <a:lstStyle/>
          <a:p>
            <a:pPr lvl="1" algn="ctr"/>
            <a:r>
              <a:rPr lang="en-US" sz="2400" dirty="0">
                <a:latin typeface="Aptos" panose="020B0004020202020204" pitchFamily="34" charset="0"/>
              </a:rPr>
              <a:t>Measurand</a:t>
            </a:r>
          </a:p>
        </p:txBody>
      </p:sp>
      <p:sp>
        <p:nvSpPr>
          <p:cNvPr id="9" name="CasellaDiTesto 8">
            <a:extLst>
              <a:ext uri="{FF2B5EF4-FFF2-40B4-BE49-F238E27FC236}">
                <a16:creationId xmlns:a16="http://schemas.microsoft.com/office/drawing/2014/main" id="{D916B566-B321-5D26-C9C2-9006D9C14CA8}"/>
              </a:ext>
            </a:extLst>
          </p:cNvPr>
          <p:cNvSpPr txBox="1"/>
          <p:nvPr/>
        </p:nvSpPr>
        <p:spPr>
          <a:xfrm>
            <a:off x="3728948" y="3370587"/>
            <a:ext cx="4179758" cy="461665"/>
          </a:xfrm>
          <a:prstGeom prst="rect">
            <a:avLst/>
          </a:prstGeom>
          <a:noFill/>
        </p:spPr>
        <p:txBody>
          <a:bodyPr wrap="square">
            <a:spAutoFit/>
          </a:bodyPr>
          <a:lstStyle/>
          <a:p>
            <a:pPr lvl="1" algn="ctr"/>
            <a:r>
              <a:rPr lang="en-US" sz="2400" dirty="0">
                <a:latin typeface="Aptos" panose="020B0004020202020204" pitchFamily="34" charset="0"/>
              </a:rPr>
              <a:t>Mechanical deformation</a:t>
            </a:r>
          </a:p>
        </p:txBody>
      </p:sp>
      <p:sp>
        <p:nvSpPr>
          <p:cNvPr id="10" name="CasellaDiTesto 9">
            <a:extLst>
              <a:ext uri="{FF2B5EF4-FFF2-40B4-BE49-F238E27FC236}">
                <a16:creationId xmlns:a16="http://schemas.microsoft.com/office/drawing/2014/main" id="{D2D87F5C-8B2D-1B4D-A7B9-69F068431A79}"/>
              </a:ext>
            </a:extLst>
          </p:cNvPr>
          <p:cNvSpPr txBox="1"/>
          <p:nvPr/>
        </p:nvSpPr>
        <p:spPr>
          <a:xfrm>
            <a:off x="8015364" y="3361066"/>
            <a:ext cx="3674464" cy="461665"/>
          </a:xfrm>
          <a:prstGeom prst="rect">
            <a:avLst/>
          </a:prstGeom>
          <a:noFill/>
        </p:spPr>
        <p:txBody>
          <a:bodyPr wrap="square">
            <a:spAutoFit/>
          </a:bodyPr>
          <a:lstStyle/>
          <a:p>
            <a:pPr lvl="1" algn="ctr"/>
            <a:r>
              <a:rPr lang="en-US" sz="2400" dirty="0">
                <a:latin typeface="Aptos" panose="020B0004020202020204" pitchFamily="34" charset="0"/>
              </a:rPr>
              <a:t>Electrical signal</a:t>
            </a:r>
          </a:p>
        </p:txBody>
      </p:sp>
      <p:cxnSp>
        <p:nvCxnSpPr>
          <p:cNvPr id="12" name="Connettore 2 11">
            <a:extLst>
              <a:ext uri="{FF2B5EF4-FFF2-40B4-BE49-F238E27FC236}">
                <a16:creationId xmlns:a16="http://schemas.microsoft.com/office/drawing/2014/main" id="{E2433C35-D8F1-8441-6226-16A5A12FF337}"/>
              </a:ext>
            </a:extLst>
          </p:cNvPr>
          <p:cNvCxnSpPr>
            <a:cxnSpLocks/>
          </p:cNvCxnSpPr>
          <p:nvPr/>
        </p:nvCxnSpPr>
        <p:spPr>
          <a:xfrm>
            <a:off x="3200402" y="3591897"/>
            <a:ext cx="1049312"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9261AA50-0448-7492-3586-8D817AB1B174}"/>
              </a:ext>
            </a:extLst>
          </p:cNvPr>
          <p:cNvCxnSpPr>
            <a:cxnSpLocks/>
          </p:cNvCxnSpPr>
          <p:nvPr/>
        </p:nvCxnSpPr>
        <p:spPr>
          <a:xfrm>
            <a:off x="7879826" y="3601420"/>
            <a:ext cx="1049312"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584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4414" y="1623788"/>
            <a:ext cx="2207586" cy="1471724"/>
          </a:xfrm>
          <a:prstGeom prst="rect">
            <a:avLst/>
          </a:prstGeom>
        </p:spPr>
      </p:pic>
      <p:sp>
        <p:nvSpPr>
          <p:cNvPr id="2" name="Titolo 1"/>
          <p:cNvSpPr>
            <a:spLocks noGrp="1"/>
          </p:cNvSpPr>
          <p:nvPr>
            <p:ph type="title"/>
          </p:nvPr>
        </p:nvSpPr>
        <p:spPr/>
        <p:txBody>
          <a:bodyPr/>
          <a:lstStyle/>
          <a:p>
            <a:r>
              <a:rPr lang="en-US" dirty="0"/>
              <a:t>Electrical sensors</a:t>
            </a:r>
          </a:p>
        </p:txBody>
      </p:sp>
      <p:sp>
        <p:nvSpPr>
          <p:cNvPr id="3" name="Segnaposto contenuto 2"/>
          <p:cNvSpPr>
            <a:spLocks noGrp="1"/>
          </p:cNvSpPr>
          <p:nvPr>
            <p:ph idx="1"/>
          </p:nvPr>
        </p:nvSpPr>
        <p:spPr>
          <a:xfrm>
            <a:off x="428172" y="1361167"/>
            <a:ext cx="10544628" cy="5716289"/>
          </a:xfrm>
        </p:spPr>
        <p:txBody>
          <a:bodyPr>
            <a:normAutofit/>
          </a:bodyPr>
          <a:lstStyle/>
          <a:p>
            <a:r>
              <a:rPr lang="en-US" sz="2000" b="1" dirty="0"/>
              <a:t>Electrical sensors</a:t>
            </a:r>
            <a:r>
              <a:rPr lang="en-US" sz="2000" dirty="0"/>
              <a:t>: on-skin electrodes that measure a change in electrical resistance or the electrical charge of the skin.</a:t>
            </a:r>
          </a:p>
          <a:p>
            <a:r>
              <a:rPr lang="en-US" sz="2000" dirty="0"/>
              <a:t>Good electrical contact with skin is required.</a:t>
            </a:r>
          </a:p>
          <a:p>
            <a:r>
              <a:rPr lang="en-US" sz="2000" b="1" dirty="0"/>
              <a:t>Wet electrodes: </a:t>
            </a:r>
            <a:r>
              <a:rPr lang="en-US" sz="2000" dirty="0"/>
              <a:t>solid conductive pad interfaced to the skin via an electrolyte gel that minimizes the impedance of skin by hydrating it and forming a conformal electrical contact with its textured surface.</a:t>
            </a:r>
          </a:p>
          <a:p>
            <a:r>
              <a:rPr lang="en-US" sz="2000" b="1" dirty="0"/>
              <a:t>Dry electrodes: </a:t>
            </a:r>
            <a:r>
              <a:rPr lang="en-US" sz="2000" dirty="0"/>
              <a:t>direct contact with the skin, sensible to movement artifacts.</a:t>
            </a:r>
          </a:p>
          <a:p>
            <a:r>
              <a:rPr lang="en-US" sz="2000" dirty="0"/>
              <a:t>Skin electrodes allow to collect high-fidelity measurements of a broad range of physiologically relevant biopotentials: </a:t>
            </a:r>
          </a:p>
          <a:p>
            <a:pPr lvl="1"/>
            <a:r>
              <a:rPr lang="en-US" sz="1800" dirty="0"/>
              <a:t>electrocardiogram (ECG)</a:t>
            </a:r>
          </a:p>
          <a:p>
            <a:pPr lvl="1"/>
            <a:r>
              <a:rPr lang="en-US" sz="1800" dirty="0"/>
              <a:t>electroencephalogram (EEG)</a:t>
            </a:r>
          </a:p>
          <a:p>
            <a:pPr lvl="1"/>
            <a:r>
              <a:rPr lang="en-US" sz="1800" dirty="0"/>
              <a:t>electromyogram (EMG)</a:t>
            </a:r>
          </a:p>
          <a:p>
            <a:pPr lvl="1"/>
            <a:r>
              <a:rPr lang="en-US" sz="1800" dirty="0"/>
              <a:t>electrooculogram (EOG)</a:t>
            </a:r>
          </a:p>
          <a:p>
            <a:pPr lvl="1"/>
            <a:r>
              <a:rPr lang="en-US" sz="1800" dirty="0"/>
              <a:t>electroretinogram (ERG)</a:t>
            </a:r>
          </a:p>
          <a:p>
            <a:pPr lvl="1"/>
            <a:r>
              <a:rPr lang="en-US" sz="1800" dirty="0"/>
              <a:t>galvanic skin response (GSR), also known as skin impedance or electrodermal activity (EDA)</a:t>
            </a:r>
          </a:p>
        </p:txBody>
      </p:sp>
      <p:pic>
        <p:nvPicPr>
          <p:cNvPr id="5" name="Immagin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8660" y="3569774"/>
            <a:ext cx="1475168" cy="1641384"/>
          </a:xfrm>
          <a:prstGeom prst="rect">
            <a:avLst/>
          </a:prstGeom>
        </p:spPr>
      </p:pic>
      <p:sp>
        <p:nvSpPr>
          <p:cNvPr id="6" name="Segnaposto numero diapositiva 5"/>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3093127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Optical </a:t>
            </a:r>
            <a:r>
              <a:rPr lang="it-IT" dirty="0" err="1"/>
              <a:t>sensors</a:t>
            </a:r>
            <a:endParaRPr lang="en-GB" dirty="0"/>
          </a:p>
        </p:txBody>
      </p:sp>
      <p:sp>
        <p:nvSpPr>
          <p:cNvPr id="3" name="Segnaposto contenuto 2"/>
          <p:cNvSpPr>
            <a:spLocks noGrp="1"/>
          </p:cNvSpPr>
          <p:nvPr>
            <p:ph idx="1"/>
          </p:nvPr>
        </p:nvSpPr>
        <p:spPr>
          <a:xfrm>
            <a:off x="428172" y="1361167"/>
            <a:ext cx="11368314" cy="5177996"/>
          </a:xfrm>
        </p:spPr>
        <p:txBody>
          <a:bodyPr>
            <a:normAutofit/>
          </a:bodyPr>
          <a:lstStyle/>
          <a:p>
            <a:r>
              <a:rPr lang="en-US" sz="2200" b="1" dirty="0"/>
              <a:t>Electro-optical sensors </a:t>
            </a:r>
            <a:r>
              <a:rPr lang="en-US" sz="2200" dirty="0"/>
              <a:t>detect light and convert it to an electrical signal</a:t>
            </a:r>
          </a:p>
          <a:p>
            <a:pPr lvl="1"/>
            <a:r>
              <a:rPr lang="en-GB" sz="2200" i="1" dirty="0"/>
              <a:t>Photoconductive</a:t>
            </a:r>
            <a:r>
              <a:rPr lang="en-GB" sz="2200" dirty="0"/>
              <a:t> devices convert a change of incident light into a change of resistance.</a:t>
            </a:r>
          </a:p>
          <a:p>
            <a:pPr lvl="1"/>
            <a:r>
              <a:rPr lang="en-GB" sz="2200" i="1" dirty="0"/>
              <a:t>Photovoltaics </a:t>
            </a:r>
            <a:r>
              <a:rPr lang="en-GB" sz="2200" dirty="0"/>
              <a:t>(solar cells) convert an amount of incident light into an output voltage.</a:t>
            </a:r>
          </a:p>
          <a:p>
            <a:pPr lvl="1"/>
            <a:r>
              <a:rPr lang="en-GB" sz="2200" i="1" dirty="0"/>
              <a:t>Photodiodes</a:t>
            </a:r>
            <a:r>
              <a:rPr lang="en-GB" sz="2200" dirty="0"/>
              <a:t> and </a:t>
            </a:r>
            <a:r>
              <a:rPr lang="en-GB" sz="2200" i="1" dirty="0"/>
              <a:t>phototransistor</a:t>
            </a:r>
            <a:r>
              <a:rPr lang="en-GB" sz="2200" dirty="0"/>
              <a:t> convert an amount of incident light into an output current.</a:t>
            </a:r>
            <a:endParaRPr lang="en-US" sz="2200" dirty="0"/>
          </a:p>
          <a:p>
            <a:r>
              <a:rPr lang="en-US" sz="2200" u="sng" dirty="0"/>
              <a:t>Operating principle of wearable optical sensors</a:t>
            </a:r>
            <a:r>
              <a:rPr lang="en-US" sz="2200" dirty="0"/>
              <a:t>: a light source introduces light into the body and based on how much the light is absorbed or reflected, measurements related to the body tissue are derived. </a:t>
            </a:r>
          </a:p>
          <a:p>
            <a:r>
              <a:rPr lang="en-US" sz="2200" dirty="0"/>
              <a:t>The wavelength of light sources can range from UV to deep infrared, depending on needed penetration depth and the absorption peak for the relevant sensing application.</a:t>
            </a:r>
          </a:p>
          <a:p>
            <a:r>
              <a:rPr lang="en-US" sz="2200" dirty="0"/>
              <a:t>Commonly used for monitoring of heart rate and blood oxygenation.</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4079546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Chemical</a:t>
            </a:r>
            <a:r>
              <a:rPr lang="it-IT" dirty="0"/>
              <a:t> </a:t>
            </a:r>
            <a:r>
              <a:rPr lang="it-IT" dirty="0" err="1"/>
              <a:t>sensors</a:t>
            </a:r>
            <a:endParaRPr lang="en-GB" dirty="0"/>
          </a:p>
        </p:txBody>
      </p:sp>
      <p:sp>
        <p:nvSpPr>
          <p:cNvPr id="3" name="Segnaposto contenuto 2"/>
          <p:cNvSpPr>
            <a:spLocks noGrp="1"/>
          </p:cNvSpPr>
          <p:nvPr>
            <p:ph idx="1"/>
          </p:nvPr>
        </p:nvSpPr>
        <p:spPr>
          <a:xfrm>
            <a:off x="4606966" y="1335577"/>
            <a:ext cx="7335652" cy="5667895"/>
          </a:xfrm>
        </p:spPr>
        <p:txBody>
          <a:bodyPr>
            <a:normAutofit/>
          </a:bodyPr>
          <a:lstStyle/>
          <a:p>
            <a:r>
              <a:rPr lang="en-US" sz="2200" dirty="0"/>
              <a:t>They quantify chemical markers, or </a:t>
            </a:r>
            <a:r>
              <a:rPr lang="en-US" sz="2200" dirty="0" err="1"/>
              <a:t>analytes</a:t>
            </a:r>
            <a:r>
              <a:rPr lang="en-US" sz="2200" dirty="0"/>
              <a:t>, in biological fluids and convert this information in an optical (</a:t>
            </a:r>
            <a:r>
              <a:rPr lang="en-US" sz="2200" b="1" dirty="0" err="1"/>
              <a:t>optochemical</a:t>
            </a:r>
            <a:r>
              <a:rPr lang="en-US" sz="2200" b="1" dirty="0"/>
              <a:t> sensor</a:t>
            </a:r>
            <a:r>
              <a:rPr lang="en-US" sz="2200" dirty="0"/>
              <a:t>) or electrical signal (</a:t>
            </a:r>
            <a:r>
              <a:rPr lang="en-US" sz="2200" b="1" dirty="0"/>
              <a:t>electrochemical sensor</a:t>
            </a:r>
            <a:r>
              <a:rPr lang="en-US" sz="2200" dirty="0"/>
              <a:t>). </a:t>
            </a:r>
          </a:p>
          <a:p>
            <a:r>
              <a:rPr lang="en-US" sz="2200" dirty="0"/>
              <a:t>Require direct chemical interaction with the biomarker (contact sensors).</a:t>
            </a:r>
          </a:p>
          <a:p>
            <a:r>
              <a:rPr lang="en-GB" sz="2200" dirty="0"/>
              <a:t>Wearable chemical sensors use non-invasive or minimally-invasive techniques to measure analytes in </a:t>
            </a:r>
            <a:r>
              <a:rPr lang="en-GB" sz="2200" b="1" dirty="0"/>
              <a:t>alternative</a:t>
            </a:r>
            <a:r>
              <a:rPr lang="en-GB" sz="2200" dirty="0"/>
              <a:t> </a:t>
            </a:r>
            <a:r>
              <a:rPr lang="en-GB" sz="2200" b="1" dirty="0"/>
              <a:t>biofluids</a:t>
            </a:r>
            <a:r>
              <a:rPr lang="en-GB" sz="2200" dirty="0"/>
              <a:t> instead of invasive blood sampling. </a:t>
            </a:r>
          </a:p>
          <a:p>
            <a:pPr lvl="1"/>
            <a:r>
              <a:rPr lang="en-US" sz="2200" dirty="0"/>
              <a:t>Biofluids secreted by the body (saliva, sweat, tears) </a:t>
            </a:r>
          </a:p>
          <a:p>
            <a:pPr lvl="1"/>
            <a:r>
              <a:rPr lang="en-US" sz="2200" dirty="0"/>
              <a:t>Interstitial fluid reached through minimally-invasive sensors or by reverse iontophoresis</a:t>
            </a:r>
          </a:p>
        </p:txBody>
      </p:sp>
      <p:pic>
        <p:nvPicPr>
          <p:cNvPr id="4" name="Immagin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90" y="1409736"/>
            <a:ext cx="4455885" cy="4455885"/>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29</a:t>
            </a:fld>
            <a:endParaRPr lang="en-GB" dirty="0"/>
          </a:p>
        </p:txBody>
      </p:sp>
    </p:spTree>
    <p:extLst>
      <p:ext uri="{BB962C8B-B14F-4D97-AF65-F5344CB8AC3E}">
        <p14:creationId xmlns:p14="http://schemas.microsoft.com/office/powerpoint/2010/main" val="2901366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Sensor </a:t>
            </a:r>
            <a:r>
              <a:rPr lang="it-IT" dirty="0" err="1"/>
              <a:t>characteristics</a:t>
            </a:r>
            <a:endParaRPr lang="en-GB" dirty="0"/>
          </a:p>
        </p:txBody>
      </p:sp>
      <p:sp>
        <p:nvSpPr>
          <p:cNvPr id="3" name="Segnaposto contenuto 2"/>
          <p:cNvSpPr>
            <a:spLocks noGrp="1"/>
          </p:cNvSpPr>
          <p:nvPr>
            <p:ph idx="1"/>
          </p:nvPr>
        </p:nvSpPr>
        <p:spPr/>
        <p:txBody>
          <a:bodyPr>
            <a:normAutofit/>
          </a:bodyPr>
          <a:lstStyle/>
          <a:p>
            <a:r>
              <a:rPr lang="en-GB" dirty="0"/>
              <a:t>To truly understand sensors, and how sensors that measure the same </a:t>
            </a:r>
            <a:r>
              <a:rPr lang="en-GB" dirty="0" err="1"/>
              <a:t>measurand</a:t>
            </a:r>
            <a:r>
              <a:rPr lang="en-GB" dirty="0"/>
              <a:t> can differ, it is necessary to understand sensor performance characteristics, which are reported in </a:t>
            </a:r>
            <a:r>
              <a:rPr lang="en-GB" b="1" dirty="0"/>
              <a:t>specifications</a:t>
            </a:r>
            <a:r>
              <a:rPr lang="en-GB" dirty="0"/>
              <a:t> (specs) or </a:t>
            </a:r>
            <a:r>
              <a:rPr lang="en-GB" b="1" dirty="0"/>
              <a:t>datasheet</a:t>
            </a:r>
            <a:r>
              <a:rPr lang="en-GB" dirty="0"/>
              <a:t>.</a:t>
            </a:r>
          </a:p>
          <a:p>
            <a:pPr lvl="1">
              <a:lnSpc>
                <a:spcPct val="100000"/>
              </a:lnSpc>
              <a:spcBef>
                <a:spcPts val="1200"/>
              </a:spcBef>
            </a:pPr>
            <a:r>
              <a:rPr lang="en-GB" sz="2400" u="sng" dirty="0"/>
              <a:t>Systematic characteristics</a:t>
            </a:r>
            <a:r>
              <a:rPr lang="en-GB" sz="2400" dirty="0"/>
              <a:t>: those which can be exactly quantified by mathematical or graphical means; </a:t>
            </a:r>
          </a:p>
          <a:p>
            <a:pPr lvl="1">
              <a:lnSpc>
                <a:spcPct val="100000"/>
              </a:lnSpc>
              <a:spcBef>
                <a:spcPts val="1200"/>
              </a:spcBef>
            </a:pPr>
            <a:r>
              <a:rPr lang="en-GB" sz="2400" u="sng" dirty="0"/>
              <a:t>Statistical characteristics</a:t>
            </a:r>
            <a:r>
              <a:rPr lang="en-GB" sz="2400" dirty="0"/>
              <a:t>: those which cannot be exactly quantified;</a:t>
            </a:r>
          </a:p>
          <a:p>
            <a:pPr lvl="1">
              <a:lnSpc>
                <a:spcPct val="100000"/>
              </a:lnSpc>
              <a:spcBef>
                <a:spcPts val="1200"/>
              </a:spcBef>
            </a:pPr>
            <a:r>
              <a:rPr lang="en-GB" sz="2400" u="sng" dirty="0"/>
              <a:t>Dynamic characteristics</a:t>
            </a:r>
            <a:r>
              <a:rPr lang="en-GB" sz="2400" dirty="0"/>
              <a:t>: those characterizing the ways in which an element responds to sudden input changes.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2693429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Transfer </a:t>
            </a:r>
            <a:r>
              <a:rPr lang="it-IT" dirty="0" err="1"/>
              <a:t>function</a:t>
            </a:r>
            <a:endParaRPr lang="en-GB"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428172" y="1361167"/>
                <a:ext cx="11368314" cy="4533941"/>
              </a:xfrm>
            </p:spPr>
            <p:txBody>
              <a:bodyPr>
                <a:noAutofit/>
              </a:bodyPr>
              <a:lstStyle/>
              <a:p>
                <a:r>
                  <a:rPr lang="en-US" dirty="0"/>
                  <a:t>A function </a:t>
                </a:r>
                <a:r>
                  <a:rPr lang="en-US" i="1" dirty="0"/>
                  <a:t>f</a:t>
                </a:r>
                <a:r>
                  <a:rPr lang="en-US" dirty="0"/>
                  <a:t> that describes the relationship between the </a:t>
                </a:r>
                <a:r>
                  <a:rPr lang="en-US" dirty="0" err="1"/>
                  <a:t>measurand</a:t>
                </a:r>
                <a:r>
                  <a:rPr lang="en-US" dirty="0"/>
                  <a:t> and the output signal (electrical or optical).</a:t>
                </a:r>
              </a:p>
              <a:p>
                <a:pPr marL="0" indent="0">
                  <a:buNone/>
                </a:pPr>
                <a:endParaRPr lang="en-US" dirty="0"/>
              </a:p>
              <a:p>
                <a:pPr marL="0" indent="0">
                  <a:buNone/>
                </a:pPr>
                <a:endParaRPr lang="en-US" dirty="0"/>
              </a:p>
              <a:p>
                <a:pPr marL="0" indent="0">
                  <a:buNone/>
                </a:pPr>
                <a:endParaRPr lang="en-US" dirty="0"/>
              </a:p>
              <a:p>
                <a:r>
                  <a:rPr lang="en-US" dirty="0"/>
                  <a:t>Represented in specs as a table of values, a graph, or a mathematical formula.</a:t>
                </a:r>
              </a:p>
              <a:p>
                <a:r>
                  <a:rPr lang="en-US" dirty="0"/>
                  <a:t>Typically the actual transfer function is complex </a:t>
                </a:r>
                <a:r>
                  <a:rPr lang="en-US" dirty="0">
                    <a:sym typeface="Wingdings" panose="05000000000000000000" pitchFamily="2" charset="2"/>
                  </a:rPr>
                  <a:t> the transfer function is approximated by a simpler linear or non-linear function, F(.), which can be mathematically expressed as a formula.</a:t>
                </a:r>
              </a:p>
              <a:p>
                <a:pPr marL="0" indent="0" algn="ctr">
                  <a:buNone/>
                </a:pP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𝑒</m:t>
                    </m:r>
                  </m:oMath>
                </a14:m>
                <a:r>
                  <a:rPr lang="en-US" dirty="0"/>
                  <a:t>	   e = approximation error</a:t>
                </a:r>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428172" y="1361167"/>
                <a:ext cx="11368314" cy="4533941"/>
              </a:xfrm>
              <a:blipFill>
                <a:blip r:embed="rId2"/>
                <a:stretch>
                  <a:fillRect l="-670" t="-1955" r="-893"/>
                </a:stretch>
              </a:blipFill>
            </p:spPr>
            <p:txBody>
              <a:bodyPr/>
              <a:lstStyle/>
              <a:p>
                <a:r>
                  <a:rPr lang="en-US">
                    <a:noFill/>
                  </a:rPr>
                  <a:t> </a:t>
                </a:r>
              </a:p>
            </p:txBody>
          </p:sp>
        </mc:Fallback>
      </mc:AlternateContent>
      <p:cxnSp>
        <p:nvCxnSpPr>
          <p:cNvPr id="5" name="Connettore 2 4"/>
          <p:cNvCxnSpPr>
            <a:cxnSpLocks/>
          </p:cNvCxnSpPr>
          <p:nvPr/>
        </p:nvCxnSpPr>
        <p:spPr>
          <a:xfrm flipH="1">
            <a:off x="5011292" y="2386388"/>
            <a:ext cx="523335" cy="4061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CasellaDiTesto 5"/>
          <p:cNvSpPr txBox="1"/>
          <p:nvPr/>
        </p:nvSpPr>
        <p:spPr>
          <a:xfrm>
            <a:off x="2458579" y="2576848"/>
            <a:ext cx="2793043" cy="830997"/>
          </a:xfrm>
          <a:prstGeom prst="rect">
            <a:avLst/>
          </a:prstGeom>
          <a:noFill/>
        </p:spPr>
        <p:txBody>
          <a:bodyPr wrap="square" rtlCol="0">
            <a:spAutoFit/>
          </a:bodyPr>
          <a:lstStyle/>
          <a:p>
            <a:r>
              <a:rPr lang="it-IT" sz="2400" dirty="0">
                <a:latin typeface="Aptos" panose="020B0004020202020204" pitchFamily="34" charset="0"/>
              </a:rPr>
              <a:t>Output </a:t>
            </a:r>
            <a:r>
              <a:rPr lang="it-IT" sz="2400" dirty="0" err="1">
                <a:latin typeface="Aptos" panose="020B0004020202020204" pitchFamily="34" charset="0"/>
              </a:rPr>
              <a:t>electrical</a:t>
            </a:r>
            <a:r>
              <a:rPr lang="it-IT" sz="2400" dirty="0">
                <a:latin typeface="Aptos" panose="020B0004020202020204" pitchFamily="34" charset="0"/>
              </a:rPr>
              <a:t> (or </a:t>
            </a:r>
            <a:r>
              <a:rPr lang="it-IT" sz="2400" dirty="0" err="1">
                <a:latin typeface="Aptos" panose="020B0004020202020204" pitchFamily="34" charset="0"/>
              </a:rPr>
              <a:t>optical</a:t>
            </a:r>
            <a:r>
              <a:rPr lang="it-IT" sz="2400" dirty="0">
                <a:latin typeface="Aptos" panose="020B0004020202020204" pitchFamily="34" charset="0"/>
              </a:rPr>
              <a:t>) </a:t>
            </a:r>
            <a:r>
              <a:rPr lang="it-IT" sz="2400" dirty="0" err="1">
                <a:latin typeface="Aptos" panose="020B0004020202020204" pitchFamily="34" charset="0"/>
              </a:rPr>
              <a:t>signal</a:t>
            </a:r>
            <a:endParaRPr lang="en-GB" sz="2400" dirty="0">
              <a:latin typeface="Aptos" panose="020B0004020202020204" pitchFamily="34" charset="0"/>
            </a:endParaRPr>
          </a:p>
        </p:txBody>
      </p:sp>
      <p:sp>
        <p:nvSpPr>
          <p:cNvPr id="7" name="CasellaDiTesto 6"/>
          <p:cNvSpPr txBox="1"/>
          <p:nvPr/>
        </p:nvSpPr>
        <p:spPr>
          <a:xfrm>
            <a:off x="6966986" y="2725386"/>
            <a:ext cx="2312126" cy="461665"/>
          </a:xfrm>
          <a:prstGeom prst="rect">
            <a:avLst/>
          </a:prstGeom>
          <a:noFill/>
        </p:spPr>
        <p:txBody>
          <a:bodyPr wrap="square" rtlCol="0">
            <a:spAutoFit/>
          </a:bodyPr>
          <a:lstStyle/>
          <a:p>
            <a:r>
              <a:rPr lang="it-IT" sz="2400" dirty="0" err="1">
                <a:latin typeface="Aptos" panose="020B0004020202020204" pitchFamily="34" charset="0"/>
              </a:rPr>
              <a:t>Measurand</a:t>
            </a:r>
            <a:endParaRPr lang="en-GB" sz="2400" dirty="0">
              <a:latin typeface="Aptos" panose="020B0004020202020204" pitchFamily="34" charset="0"/>
            </a:endParaRPr>
          </a:p>
        </p:txBody>
      </p:sp>
      <p:cxnSp>
        <p:nvCxnSpPr>
          <p:cNvPr id="8" name="Connettore 2 7"/>
          <p:cNvCxnSpPr>
            <a:cxnSpLocks/>
          </p:cNvCxnSpPr>
          <p:nvPr/>
        </p:nvCxnSpPr>
        <p:spPr>
          <a:xfrm>
            <a:off x="6565392" y="2386388"/>
            <a:ext cx="475790" cy="3902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ttangolo 34"/>
              <p:cNvSpPr/>
              <p:nvPr/>
            </p:nvSpPr>
            <p:spPr>
              <a:xfrm>
                <a:off x="5440133" y="1991833"/>
                <a:ext cx="143879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400" i="1">
                          <a:latin typeface="Cambria Math" panose="02040503050406030204" pitchFamily="18" charset="0"/>
                        </a:rPr>
                        <m:t>𝑦</m:t>
                      </m:r>
                      <m:r>
                        <a:rPr lang="it-IT" sz="2400" i="1">
                          <a:latin typeface="Cambria Math" panose="02040503050406030204" pitchFamily="18" charset="0"/>
                        </a:rPr>
                        <m:t>=</m:t>
                      </m:r>
                      <m:r>
                        <a:rPr lang="it-IT" sz="2400" i="1">
                          <a:latin typeface="Cambria Math" panose="02040503050406030204" pitchFamily="18" charset="0"/>
                        </a:rPr>
                        <m:t>𝑓</m:t>
                      </m:r>
                      <m:r>
                        <a:rPr lang="it-IT" sz="2400" i="1">
                          <a:latin typeface="Cambria Math" panose="02040503050406030204" pitchFamily="18" charset="0"/>
                        </a:rPr>
                        <m:t>(</m:t>
                      </m:r>
                      <m:r>
                        <a:rPr lang="it-IT" sz="2400" i="1">
                          <a:latin typeface="Cambria Math" panose="02040503050406030204" pitchFamily="18" charset="0"/>
                        </a:rPr>
                        <m:t>𝑥</m:t>
                      </m:r>
                      <m:r>
                        <a:rPr lang="it-IT" sz="2400" i="1">
                          <a:latin typeface="Cambria Math" panose="02040503050406030204" pitchFamily="18" charset="0"/>
                        </a:rPr>
                        <m:t>)</m:t>
                      </m:r>
                    </m:oMath>
                  </m:oMathPara>
                </a14:m>
                <a:endParaRPr lang="it-IT" sz="2400" dirty="0">
                  <a:latin typeface="Aptos" panose="020B0004020202020204" pitchFamily="34" charset="0"/>
                </a:endParaRPr>
              </a:p>
            </p:txBody>
          </p:sp>
        </mc:Choice>
        <mc:Fallback xmlns="">
          <p:sp>
            <p:nvSpPr>
              <p:cNvPr id="35" name="Rettangolo 34"/>
              <p:cNvSpPr>
                <a:spLocks noRot="1" noChangeAspect="1" noMove="1" noResize="1" noEditPoints="1" noAdjustHandles="1" noChangeArrowheads="1" noChangeShapeType="1" noTextEdit="1"/>
              </p:cNvSpPr>
              <p:nvPr/>
            </p:nvSpPr>
            <p:spPr>
              <a:xfrm>
                <a:off x="5440133" y="1991833"/>
                <a:ext cx="1438792" cy="461665"/>
              </a:xfrm>
              <a:prstGeom prst="rect">
                <a:avLst/>
              </a:prstGeom>
              <a:blipFill>
                <a:blip r:embed="rId3"/>
                <a:stretch>
                  <a:fillRect r="-877" b="-16216"/>
                </a:stretch>
              </a:blipFill>
            </p:spPr>
            <p:txBody>
              <a:bodyPr/>
              <a:lstStyle/>
              <a:p>
                <a:r>
                  <a:rPr lang="en-US">
                    <a:noFill/>
                  </a:rPr>
                  <a:t> </a:t>
                </a:r>
              </a:p>
            </p:txBody>
          </p:sp>
        </mc:Fallback>
      </mc:AlternateContent>
      <p:sp>
        <p:nvSpPr>
          <p:cNvPr id="4" name="Segnaposto numero diapositiva 3"/>
          <p:cNvSpPr>
            <a:spLocks noGrp="1"/>
          </p:cNvSpPr>
          <p:nvPr>
            <p:ph type="sldNum" sz="quarter" idx="12"/>
          </p:nvPr>
        </p:nvSpPr>
        <p:spPr/>
        <p:txBody>
          <a:bodyPr/>
          <a:lstStyle/>
          <a:p>
            <a:fld id="{31DE2C5B-556E-47B8-A792-024C2FCA4ACC}" type="slidenum">
              <a:rPr lang="en-GB" smtClean="0"/>
              <a:t>31</a:t>
            </a:fld>
            <a:endParaRPr lang="en-GB" dirty="0"/>
          </a:p>
        </p:txBody>
      </p:sp>
    </p:spTree>
    <p:extLst>
      <p:ext uri="{BB962C8B-B14F-4D97-AF65-F5344CB8AC3E}">
        <p14:creationId xmlns:p14="http://schemas.microsoft.com/office/powerpoint/2010/main" val="1384654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Inverse transfer </a:t>
            </a:r>
            <a:r>
              <a:rPr lang="it-IT" dirty="0" err="1"/>
              <a:t>function</a:t>
            </a:r>
            <a:endParaRPr lang="en-GB" dirty="0"/>
          </a:p>
        </p:txBody>
      </p:sp>
      <p:sp>
        <p:nvSpPr>
          <p:cNvPr id="3" name="Segnaposto contenuto 2"/>
          <p:cNvSpPr>
            <a:spLocks noGrp="1"/>
          </p:cNvSpPr>
          <p:nvPr>
            <p:ph idx="1"/>
          </p:nvPr>
        </p:nvSpPr>
        <p:spPr>
          <a:xfrm>
            <a:off x="428172" y="1411185"/>
            <a:ext cx="11244283" cy="1499796"/>
          </a:xfrm>
        </p:spPr>
        <p:txBody>
          <a:bodyPr>
            <a:normAutofit/>
          </a:bodyPr>
          <a:lstStyle/>
          <a:p>
            <a:r>
              <a:rPr lang="en-US" dirty="0"/>
              <a:t>The embedded processing unit of the sensor device applies the inverse of F(.), F</a:t>
            </a:r>
            <a:r>
              <a:rPr lang="en-US" baseline="30000" dirty="0"/>
              <a:t>-1</a:t>
            </a:r>
            <a:r>
              <a:rPr lang="en-US" dirty="0"/>
              <a:t>(.), to convert the electrical signal generated by the sensing technique to output measurements in the same domain of the measurand.</a:t>
            </a:r>
          </a:p>
        </p:txBody>
      </p:sp>
      <p:sp>
        <p:nvSpPr>
          <p:cNvPr id="11" name="Rettangolo 10"/>
          <p:cNvSpPr/>
          <p:nvPr/>
        </p:nvSpPr>
        <p:spPr>
          <a:xfrm>
            <a:off x="3363501" y="4213239"/>
            <a:ext cx="2043639" cy="855617"/>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latin typeface="Aptos" panose="020B0004020202020204" pitchFamily="34" charset="0"/>
              </a:rPr>
              <a:t>Sensor</a:t>
            </a:r>
          </a:p>
        </p:txBody>
      </p:sp>
      <p:sp>
        <p:nvSpPr>
          <p:cNvPr id="12" name="Rettangolo 11"/>
          <p:cNvSpPr/>
          <p:nvPr/>
        </p:nvSpPr>
        <p:spPr>
          <a:xfrm>
            <a:off x="7166117" y="4077870"/>
            <a:ext cx="1963784" cy="1194616"/>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latin typeface="Aptos" panose="020B0004020202020204" pitchFamily="34" charset="0"/>
              </a:rPr>
              <a:t>Approximated inverse transfer function</a:t>
            </a:r>
          </a:p>
          <a:p>
            <a:pPr algn="ctr"/>
            <a:r>
              <a:rPr lang="en-GB" dirty="0">
                <a:latin typeface="Aptos" panose="020B0004020202020204" pitchFamily="34" charset="0"/>
              </a:rPr>
              <a:t>F</a:t>
            </a:r>
            <a:r>
              <a:rPr lang="en-GB" baseline="30000" dirty="0">
                <a:latin typeface="Aptos" panose="020B0004020202020204" pitchFamily="34" charset="0"/>
              </a:rPr>
              <a:t>-1</a:t>
            </a:r>
            <a:r>
              <a:rPr lang="en-GB" dirty="0">
                <a:latin typeface="Aptos" panose="020B0004020202020204" pitchFamily="34" charset="0"/>
              </a:rPr>
              <a:t>(y)</a:t>
            </a:r>
          </a:p>
        </p:txBody>
      </p:sp>
      <p:sp>
        <p:nvSpPr>
          <p:cNvPr id="14" name="Ovale 13"/>
          <p:cNvSpPr/>
          <p:nvPr/>
        </p:nvSpPr>
        <p:spPr>
          <a:xfrm>
            <a:off x="1667199" y="4269147"/>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15" name="Ovale 14"/>
          <p:cNvSpPr/>
          <p:nvPr/>
        </p:nvSpPr>
        <p:spPr>
          <a:xfrm>
            <a:off x="1298953" y="4497049"/>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16" name="Ovale 15"/>
          <p:cNvSpPr/>
          <p:nvPr/>
        </p:nvSpPr>
        <p:spPr>
          <a:xfrm>
            <a:off x="1660204" y="4619510"/>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17" name="Ovale 16"/>
          <p:cNvSpPr/>
          <p:nvPr/>
        </p:nvSpPr>
        <p:spPr>
          <a:xfrm>
            <a:off x="1988798" y="4531178"/>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18" name="Ovale 17"/>
          <p:cNvSpPr/>
          <p:nvPr/>
        </p:nvSpPr>
        <p:spPr>
          <a:xfrm>
            <a:off x="1460524" y="4887147"/>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19" name="Ovale 18"/>
          <p:cNvSpPr/>
          <p:nvPr/>
        </p:nvSpPr>
        <p:spPr>
          <a:xfrm>
            <a:off x="2060798" y="4815147"/>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20" name="Ovale 19"/>
          <p:cNvSpPr/>
          <p:nvPr/>
        </p:nvSpPr>
        <p:spPr>
          <a:xfrm>
            <a:off x="1804204" y="5047319"/>
            <a:ext cx="144000" cy="144000"/>
          </a:xfrm>
          <a:prstGeom prst="ellipse">
            <a:avLst/>
          </a:prstGeom>
          <a:solidFill>
            <a:schemeClr val="accent2"/>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latin typeface="Aptos" panose="020B0004020202020204" pitchFamily="34" charset="0"/>
            </a:endParaRPr>
          </a:p>
        </p:txBody>
      </p:sp>
      <p:sp>
        <p:nvSpPr>
          <p:cNvPr id="21" name="CasellaDiTesto 20"/>
          <p:cNvSpPr txBox="1"/>
          <p:nvPr/>
        </p:nvSpPr>
        <p:spPr>
          <a:xfrm>
            <a:off x="160364" y="3544418"/>
            <a:ext cx="3276207" cy="646331"/>
          </a:xfrm>
          <a:prstGeom prst="rect">
            <a:avLst/>
          </a:prstGeom>
          <a:noFill/>
        </p:spPr>
        <p:txBody>
          <a:bodyPr wrap="square" rtlCol="0">
            <a:spAutoFit/>
          </a:bodyPr>
          <a:lstStyle/>
          <a:p>
            <a:pPr algn="ctr"/>
            <a:r>
              <a:rPr lang="en-GB" dirty="0">
                <a:latin typeface="Aptos" panose="020B0004020202020204" pitchFamily="34" charset="0"/>
              </a:rPr>
              <a:t>Measurand</a:t>
            </a:r>
          </a:p>
          <a:p>
            <a:pPr algn="ctr"/>
            <a:r>
              <a:rPr lang="en-GB" dirty="0">
                <a:latin typeface="Aptos" panose="020B0004020202020204" pitchFamily="34" charset="0"/>
              </a:rPr>
              <a:t>(e.g., glucose concentration)</a:t>
            </a:r>
          </a:p>
        </p:txBody>
      </p:sp>
      <p:cxnSp>
        <p:nvCxnSpPr>
          <p:cNvPr id="23" name="Connettore 2 22"/>
          <p:cNvCxnSpPr>
            <a:endCxn id="11" idx="1"/>
          </p:cNvCxnSpPr>
          <p:nvPr/>
        </p:nvCxnSpPr>
        <p:spPr>
          <a:xfrm>
            <a:off x="2631674" y="4641047"/>
            <a:ext cx="73182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ttore 2 23"/>
          <p:cNvCxnSpPr>
            <a:stCxn id="11" idx="3"/>
            <a:endCxn id="12" idx="1"/>
          </p:cNvCxnSpPr>
          <p:nvPr/>
        </p:nvCxnSpPr>
        <p:spPr>
          <a:xfrm>
            <a:off x="5407140" y="4641048"/>
            <a:ext cx="176387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sellaDiTesto 25"/>
          <p:cNvSpPr txBox="1"/>
          <p:nvPr/>
        </p:nvSpPr>
        <p:spPr>
          <a:xfrm>
            <a:off x="5034786" y="3590678"/>
            <a:ext cx="2508583" cy="646331"/>
          </a:xfrm>
          <a:prstGeom prst="rect">
            <a:avLst/>
          </a:prstGeom>
          <a:noFill/>
        </p:spPr>
        <p:txBody>
          <a:bodyPr wrap="square" rtlCol="0">
            <a:spAutoFit/>
          </a:bodyPr>
          <a:lstStyle/>
          <a:p>
            <a:pPr algn="ctr"/>
            <a:r>
              <a:rPr lang="en-GB" dirty="0">
                <a:latin typeface="Aptos" panose="020B0004020202020204" pitchFamily="34" charset="0"/>
              </a:rPr>
              <a:t>Measurement (e.g., current in </a:t>
            </a:r>
            <a:r>
              <a:rPr lang="en-GB" dirty="0" err="1">
                <a:latin typeface="Aptos" panose="020B0004020202020204" pitchFamily="34" charset="0"/>
              </a:rPr>
              <a:t>pA</a:t>
            </a:r>
            <a:r>
              <a:rPr lang="en-GB" dirty="0">
                <a:latin typeface="Aptos" panose="020B0004020202020204" pitchFamily="34" charset="0"/>
              </a:rPr>
              <a:t>)</a:t>
            </a:r>
          </a:p>
        </p:txBody>
      </p:sp>
      <p:sp>
        <p:nvSpPr>
          <p:cNvPr id="27" name="CasellaDiTesto 26"/>
          <p:cNvSpPr txBox="1"/>
          <p:nvPr/>
        </p:nvSpPr>
        <p:spPr>
          <a:xfrm>
            <a:off x="9163871" y="3544417"/>
            <a:ext cx="2508584" cy="646331"/>
          </a:xfrm>
          <a:prstGeom prst="rect">
            <a:avLst/>
          </a:prstGeom>
          <a:noFill/>
        </p:spPr>
        <p:txBody>
          <a:bodyPr wrap="square" rtlCol="0">
            <a:spAutoFit/>
          </a:bodyPr>
          <a:lstStyle/>
          <a:p>
            <a:pPr algn="ctr"/>
            <a:r>
              <a:rPr lang="en-GB" dirty="0">
                <a:latin typeface="Aptos" panose="020B0004020202020204" pitchFamily="34" charset="0"/>
              </a:rPr>
              <a:t>Glucose concentration mg/dl</a:t>
            </a:r>
          </a:p>
        </p:txBody>
      </p:sp>
      <p:cxnSp>
        <p:nvCxnSpPr>
          <p:cNvPr id="28" name="Connettore 2 27"/>
          <p:cNvCxnSpPr/>
          <p:nvPr/>
        </p:nvCxnSpPr>
        <p:spPr>
          <a:xfrm>
            <a:off x="9134801" y="4637607"/>
            <a:ext cx="1587137" cy="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asellaDiTesto 28"/>
              <p:cNvSpPr txBox="1"/>
              <p:nvPr/>
            </p:nvSpPr>
            <p:spPr>
              <a:xfrm>
                <a:off x="9836866" y="4677987"/>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oMath>
                  </m:oMathPara>
                </a14:m>
                <a:endParaRPr lang="en-GB" dirty="0">
                  <a:latin typeface="Aptos" panose="020B0004020202020204" pitchFamily="34" charset="0"/>
                </a:endParaRPr>
              </a:p>
            </p:txBody>
          </p:sp>
        </mc:Choice>
        <mc:Fallback xmlns="">
          <p:sp>
            <p:nvSpPr>
              <p:cNvPr id="29" name="CasellaDiTesto 28"/>
              <p:cNvSpPr txBox="1">
                <a:spLocks noRot="1" noChangeAspect="1" noMove="1" noResize="1" noEditPoints="1" noAdjustHandles="1" noChangeArrowheads="1" noChangeShapeType="1" noTextEdit="1"/>
              </p:cNvSpPr>
              <p:nvPr/>
            </p:nvSpPr>
            <p:spPr>
              <a:xfrm>
                <a:off x="9836866" y="4677987"/>
                <a:ext cx="581297"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asellaDiTesto 29"/>
              <p:cNvSpPr txBox="1"/>
              <p:nvPr/>
            </p:nvSpPr>
            <p:spPr>
              <a:xfrm>
                <a:off x="5949345" y="4648511"/>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latin typeface="Aptos" panose="020B0004020202020204" pitchFamily="34" charset="0"/>
                </a:endParaRPr>
              </a:p>
            </p:txBody>
          </p:sp>
        </mc:Choice>
        <mc:Fallback xmlns="">
          <p:sp>
            <p:nvSpPr>
              <p:cNvPr id="30" name="CasellaDiTesto 29"/>
              <p:cNvSpPr txBox="1">
                <a:spLocks noRot="1" noChangeAspect="1" noMove="1" noResize="1" noEditPoints="1" noAdjustHandles="1" noChangeArrowheads="1" noChangeShapeType="1" noTextEdit="1"/>
              </p:cNvSpPr>
              <p:nvPr/>
            </p:nvSpPr>
            <p:spPr>
              <a:xfrm>
                <a:off x="5949345" y="4648511"/>
                <a:ext cx="581297" cy="369332"/>
              </a:xfrm>
              <a:prstGeom prst="rect">
                <a:avLst/>
              </a:prstGeom>
              <a:blipFill>
                <a:blip r:embed="rId3"/>
                <a:stretch>
                  <a:fillRect b="-6667"/>
                </a:stretch>
              </a:blipFill>
            </p:spPr>
            <p:txBody>
              <a:bodyPr/>
              <a:lstStyle/>
              <a:p>
                <a:r>
                  <a:rPr lang="en-US">
                    <a:noFill/>
                  </a:rPr>
                  <a:t> </a:t>
                </a:r>
              </a:p>
            </p:txBody>
          </p:sp>
        </mc:Fallback>
      </mc:AlternateContent>
      <p:sp>
        <p:nvSpPr>
          <p:cNvPr id="4" name="Segnaposto numero diapositiva 3"/>
          <p:cNvSpPr>
            <a:spLocks noGrp="1"/>
          </p:cNvSpPr>
          <p:nvPr>
            <p:ph type="sldNum" sz="quarter" idx="12"/>
          </p:nvPr>
        </p:nvSpPr>
        <p:spPr/>
        <p:txBody>
          <a:bodyPr/>
          <a:lstStyle/>
          <a:p>
            <a:fld id="{31DE2C5B-556E-47B8-A792-024C2FCA4ACC}" type="slidenum">
              <a:rPr lang="en-GB" smtClean="0"/>
              <a:t>32</a:t>
            </a:fld>
            <a:endParaRPr lang="en-GB"/>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2A18B52F-6D5A-D87B-34A2-216D821BB7F9}"/>
                  </a:ext>
                </a:extLst>
              </p:cNvPr>
              <p:cNvSpPr txBox="1"/>
              <p:nvPr/>
            </p:nvSpPr>
            <p:spPr>
              <a:xfrm>
                <a:off x="2603215" y="4687809"/>
                <a:ext cx="5777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𝑥</m:t>
                      </m:r>
                    </m:oMath>
                  </m:oMathPara>
                </a14:m>
                <a:endParaRPr lang="en-GB" dirty="0">
                  <a:latin typeface="Aptos" panose="020B0004020202020204" pitchFamily="34" charset="0"/>
                </a:endParaRPr>
              </a:p>
            </p:txBody>
          </p:sp>
        </mc:Choice>
        <mc:Fallback xmlns="">
          <p:sp>
            <p:nvSpPr>
              <p:cNvPr id="5" name="CasellaDiTesto 4">
                <a:extLst>
                  <a:ext uri="{FF2B5EF4-FFF2-40B4-BE49-F238E27FC236}">
                    <a16:creationId xmlns:a16="http://schemas.microsoft.com/office/drawing/2014/main" id="{2A18B52F-6D5A-D87B-34A2-216D821BB7F9}"/>
                  </a:ext>
                </a:extLst>
              </p:cNvPr>
              <p:cNvSpPr txBox="1">
                <a:spLocks noRot="1" noChangeAspect="1" noMove="1" noResize="1" noEditPoints="1" noAdjustHandles="1" noChangeArrowheads="1" noChangeShapeType="1" noTextEdit="1"/>
              </p:cNvSpPr>
              <p:nvPr/>
            </p:nvSpPr>
            <p:spPr>
              <a:xfrm>
                <a:off x="2603215" y="4687809"/>
                <a:ext cx="577742"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1076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Common transfer </a:t>
            </a:r>
            <a:r>
              <a:rPr lang="it-IT" dirty="0" err="1"/>
              <a:t>function</a:t>
            </a:r>
            <a:r>
              <a:rPr lang="it-IT" dirty="0"/>
              <a:t> </a:t>
            </a:r>
            <a:r>
              <a:rPr lang="it-IT" dirty="0" err="1"/>
              <a:t>approximations</a:t>
            </a:r>
            <a:endParaRPr lang="en-GB" dirty="0"/>
          </a:p>
        </p:txBody>
      </p:sp>
      <p:sp>
        <p:nvSpPr>
          <p:cNvPr id="3" name="Segnaposto contenuto 2"/>
          <p:cNvSpPr>
            <a:spLocks noGrp="1"/>
          </p:cNvSpPr>
          <p:nvPr>
            <p:ph idx="1"/>
          </p:nvPr>
        </p:nvSpPr>
        <p:spPr/>
        <p:txBody>
          <a:bodyPr>
            <a:normAutofit/>
          </a:bodyPr>
          <a:lstStyle/>
          <a:p>
            <a:pPr marL="0" indent="0">
              <a:buNone/>
            </a:pPr>
            <a:r>
              <a:rPr lang="en-US" sz="2000" b="1" dirty="0"/>
              <a:t>Linear transfer function approximation:</a:t>
            </a:r>
          </a:p>
          <a:p>
            <a:pPr marL="0" indent="0">
              <a:buNone/>
            </a:pPr>
            <a:endParaRPr lang="en-US" sz="2000" dirty="0"/>
          </a:p>
          <a:p>
            <a:r>
              <a:rPr lang="en-US" sz="2000" dirty="0"/>
              <a:t>The offset, b, is the output value of the sensor when no measurand is applied. It is the component of the output signal which does not depend on the measurand. </a:t>
            </a:r>
          </a:p>
          <a:p>
            <a:r>
              <a:rPr lang="en-US" sz="2000" dirty="0"/>
              <a:t>The slope, a, represents the </a:t>
            </a:r>
            <a:r>
              <a:rPr lang="en-US" sz="2000" b="1" dirty="0"/>
              <a:t>sensor sensitivity</a:t>
            </a:r>
            <a:r>
              <a:rPr lang="en-US" sz="2000" dirty="0"/>
              <a:t>, i.e., the change in the sensor output resulting from a unit change in the input measurand.</a:t>
            </a:r>
          </a:p>
          <a:p>
            <a:pPr marL="0" indent="0">
              <a:buNone/>
            </a:pPr>
            <a:r>
              <a:rPr lang="en-US" sz="2000" b="1" dirty="0"/>
              <a:t>Non-linear transfer function approximations: </a:t>
            </a:r>
          </a:p>
        </p:txBody>
      </p:sp>
      <mc:AlternateContent xmlns:mc="http://schemas.openxmlformats.org/markup-compatibility/2006" xmlns:a14="http://schemas.microsoft.com/office/drawing/2010/main">
        <mc:Choice Requires="a14">
          <p:sp>
            <p:nvSpPr>
              <p:cNvPr id="4" name="Rettangolo 3"/>
              <p:cNvSpPr/>
              <p:nvPr/>
            </p:nvSpPr>
            <p:spPr>
              <a:xfrm>
                <a:off x="5028657" y="1696979"/>
                <a:ext cx="209345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𝑦</m:t>
                      </m:r>
                      <m:r>
                        <a:rPr lang="it-IT" sz="2000" i="1" smtClean="0">
                          <a:latin typeface="Cambria Math" panose="02040503050406030204" pitchFamily="18" charset="0"/>
                        </a:rPr>
                        <m:t>=</m:t>
                      </m:r>
                      <m:r>
                        <a:rPr lang="it-IT" sz="2000" b="0" i="1" smtClean="0">
                          <a:latin typeface="Cambria Math" panose="02040503050406030204" pitchFamily="18" charset="0"/>
                        </a:rPr>
                        <m:t>𝑎</m:t>
                      </m:r>
                      <m:r>
                        <a:rPr lang="it-IT" sz="2000" b="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𝑥</m:t>
                      </m:r>
                      <m:r>
                        <a:rPr lang="it-IT" sz="2000" b="0" i="1" smtClean="0">
                          <a:latin typeface="Cambria Math" panose="02040503050406030204" pitchFamily="18" charset="0"/>
                        </a:rPr>
                        <m:t>+</m:t>
                      </m:r>
                      <m:r>
                        <a:rPr lang="it-IT" sz="2000" b="0" i="1" smtClean="0">
                          <a:latin typeface="Cambria Math" panose="02040503050406030204" pitchFamily="18" charset="0"/>
                        </a:rPr>
                        <m:t>𝑏</m:t>
                      </m:r>
                      <m:r>
                        <a:rPr lang="it-IT" sz="2000" b="0" i="1" smtClean="0">
                          <a:latin typeface="Cambria Math" panose="02040503050406030204" pitchFamily="18" charset="0"/>
                        </a:rPr>
                        <m:t>+</m:t>
                      </m:r>
                      <m:r>
                        <a:rPr lang="it-IT" sz="2000" b="0" i="1" smtClean="0">
                          <a:latin typeface="Cambria Math" panose="02040503050406030204" pitchFamily="18" charset="0"/>
                        </a:rPr>
                        <m:t>𝑒</m:t>
                      </m:r>
                    </m:oMath>
                  </m:oMathPara>
                </a14:m>
                <a:endParaRPr lang="it-IT" sz="2000" dirty="0">
                  <a:latin typeface="Aptos" panose="020B0004020202020204" pitchFamily="34" charset="0"/>
                </a:endParaRPr>
              </a:p>
            </p:txBody>
          </p:sp>
        </mc:Choice>
        <mc:Fallback xmlns="">
          <p:sp>
            <p:nvSpPr>
              <p:cNvPr id="4" name="Rettangolo 3"/>
              <p:cNvSpPr>
                <a:spLocks noRot="1" noChangeAspect="1" noMove="1" noResize="1" noEditPoints="1" noAdjustHandles="1" noChangeArrowheads="1" noChangeShapeType="1" noTextEdit="1"/>
              </p:cNvSpPr>
              <p:nvPr/>
            </p:nvSpPr>
            <p:spPr>
              <a:xfrm>
                <a:off x="5028657" y="1696979"/>
                <a:ext cx="2093457" cy="400110"/>
              </a:xfrm>
              <a:prstGeom prst="rect">
                <a:avLst/>
              </a:prstGeom>
              <a:blipFill>
                <a:blip r:embed="rId2"/>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ella 5"/>
              <p:cNvGraphicFramePr>
                <a:graphicFrameLocks noGrp="1"/>
              </p:cNvGraphicFramePr>
              <p:nvPr/>
            </p:nvGraphicFramePr>
            <p:xfrm>
              <a:off x="1685834" y="4087238"/>
              <a:ext cx="8128000" cy="227437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1963882765"/>
                        </a:ext>
                      </a:extLst>
                    </a:gridCol>
                    <a:gridCol w="4064000">
                      <a:extLst>
                        <a:ext uri="{9D8B030D-6E8A-4147-A177-3AD203B41FA5}">
                          <a16:colId xmlns:a16="http://schemas.microsoft.com/office/drawing/2014/main" val="3562997081"/>
                        </a:ext>
                      </a:extLst>
                    </a:gridCol>
                  </a:tblGrid>
                  <a:tr h="449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Logarithmic function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𝑦</m:t>
                                </m:r>
                                <m:r>
                                  <a:rPr lang="it-IT" sz="180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rPr>
                                  <m:t>+</m:t>
                                </m:r>
                                <m:r>
                                  <a:rPr lang="it-IT" sz="1800" b="0" i="1" smtClean="0">
                                    <a:latin typeface="Cambria Math" panose="02040503050406030204" pitchFamily="18" charset="0"/>
                                  </a:rPr>
                                  <m:t>𝑏</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rPr>
                                  <m:t>𝑙𝑛</m:t>
                                </m:r>
                                <m:r>
                                  <a:rPr lang="it-IT" sz="1800" b="0" i="1" smtClean="0">
                                    <a:latin typeface="Cambria Math" panose="02040503050406030204" pitchFamily="18" charset="0"/>
                                  </a:rPr>
                                  <m:t>(</m:t>
                                </m:r>
                                <m:r>
                                  <a:rPr lang="it-IT" sz="1800" b="0" i="1" smtClean="0">
                                    <a:latin typeface="Cambria Math" panose="02040503050406030204" pitchFamily="18" charset="0"/>
                                  </a:rPr>
                                  <m:t>𝑥</m:t>
                                </m:r>
                                <m:r>
                                  <a:rPr lang="it-IT" sz="1800" b="0" i="1" smtClean="0">
                                    <a:latin typeface="Cambria Math" panose="02040503050406030204" pitchFamily="18" charset="0"/>
                                  </a:rPr>
                                  <m:t>)+</m:t>
                                </m:r>
                                <m:r>
                                  <a:rPr lang="it-IT" sz="1800" b="0" i="1" smtClean="0">
                                    <a:latin typeface="Cambria Math" panose="02040503050406030204" pitchFamily="18" charset="0"/>
                                  </a:rPr>
                                  <m:t>𝑒</m:t>
                                </m:r>
                              </m:oMath>
                            </m:oMathPara>
                          </a14:m>
                          <a:endParaRPr lang="it-IT" sz="1800" dirty="0">
                            <a:latin typeface="Aptos" panose="020B0004020202020204" pitchFamily="34" charset="0"/>
                          </a:endParaRPr>
                        </a:p>
                      </a:txBody>
                      <a:tcPr anchor="ctr"/>
                    </a:tc>
                    <a:extLst>
                      <a:ext uri="{0D108BD9-81ED-4DB2-BD59-A6C34878D82A}">
                        <a16:rowId xmlns:a16="http://schemas.microsoft.com/office/drawing/2014/main" val="18580295"/>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Exponential function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𝑦</m:t>
                                </m:r>
                                <m:r>
                                  <a:rPr lang="it-IT" sz="180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ea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𝑒</m:t>
                                    </m:r>
                                  </m:e>
                                  <m:sup>
                                    <m:r>
                                      <a:rPr lang="it-IT" sz="1800" b="0" i="1" smtClean="0">
                                        <a:latin typeface="Cambria Math" panose="02040503050406030204" pitchFamily="18" charset="0"/>
                                        <a:ea typeface="Cambria Math" panose="02040503050406030204" pitchFamily="18" charset="0"/>
                                      </a:rPr>
                                      <m:t>𝑘</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𝑥</m:t>
                                    </m:r>
                                  </m:sup>
                                </m:sSup>
                                <m:r>
                                  <a:rPr lang="it-IT" sz="1800" b="0" i="1" smtClean="0">
                                    <a:latin typeface="Cambria Math" panose="02040503050406030204" pitchFamily="18" charset="0"/>
                                  </a:rPr>
                                  <m:t>+</m:t>
                                </m:r>
                                <m:r>
                                  <a:rPr lang="it-IT" sz="1800" b="0" i="1" smtClean="0">
                                    <a:latin typeface="Cambria Math" panose="02040503050406030204" pitchFamily="18" charset="0"/>
                                  </a:rPr>
                                  <m:t>𝑒</m:t>
                                </m:r>
                              </m:oMath>
                            </m:oMathPara>
                          </a14:m>
                          <a:endParaRPr lang="it-IT" sz="1800" dirty="0">
                            <a:latin typeface="Aptos" panose="020B0004020202020204" pitchFamily="34" charset="0"/>
                          </a:endParaRPr>
                        </a:p>
                      </a:txBody>
                      <a:tcPr anchor="ctr"/>
                    </a:tc>
                    <a:extLst>
                      <a:ext uri="{0D108BD9-81ED-4DB2-BD59-A6C34878D82A}">
                        <a16:rowId xmlns:a16="http://schemas.microsoft.com/office/drawing/2014/main" val="2770746979"/>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Power function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𝑦</m:t>
                                </m:r>
                                <m:r>
                                  <a:rPr lang="it-IT" sz="180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rPr>
                                  <m:t>+</m:t>
                                </m:r>
                                <m:r>
                                  <a:rPr lang="it-IT" sz="1800" b="0" i="1" smtClean="0">
                                    <a:latin typeface="Cambria Math" panose="02040503050406030204" pitchFamily="18" charset="0"/>
                                  </a:rPr>
                                  <m:t>𝑏</m:t>
                                </m:r>
                                <m:r>
                                  <a:rPr lang="it-IT" sz="1800" b="0" i="1" smtClean="0">
                                    <a:latin typeface="Cambria Math" panose="02040503050406030204" pitchFamily="18" charset="0"/>
                                    <a:ea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𝑥</m:t>
                                    </m:r>
                                  </m:e>
                                  <m:sup>
                                    <m:r>
                                      <a:rPr lang="it-IT" sz="1800" b="0" i="1" smtClean="0">
                                        <a:latin typeface="Cambria Math" panose="02040503050406030204" pitchFamily="18" charset="0"/>
                                        <a:ea typeface="Cambria Math" panose="02040503050406030204" pitchFamily="18" charset="0"/>
                                      </a:rPr>
                                      <m:t>𝑘</m:t>
                                    </m:r>
                                  </m:sup>
                                </m:sSup>
                                <m:r>
                                  <a:rPr lang="it-IT" sz="1800" b="0" i="1" smtClean="0">
                                    <a:latin typeface="Cambria Math" panose="02040503050406030204" pitchFamily="18" charset="0"/>
                                  </a:rPr>
                                  <m:t>+</m:t>
                                </m:r>
                                <m:r>
                                  <a:rPr lang="it-IT" sz="1800" b="0" i="1" smtClean="0">
                                    <a:latin typeface="Cambria Math" panose="02040503050406030204" pitchFamily="18" charset="0"/>
                                  </a:rPr>
                                  <m:t>𝑒</m:t>
                                </m:r>
                              </m:oMath>
                            </m:oMathPara>
                          </a14:m>
                          <a:endParaRPr lang="it-IT" sz="1800" dirty="0">
                            <a:latin typeface="Aptos" panose="020B0004020202020204" pitchFamily="34" charset="0"/>
                          </a:endParaRPr>
                        </a:p>
                      </a:txBody>
                      <a:tcPr anchor="ctr"/>
                    </a:tc>
                    <a:extLst>
                      <a:ext uri="{0D108BD9-81ED-4DB2-BD59-A6C34878D82A}">
                        <a16:rowId xmlns:a16="http://schemas.microsoft.com/office/drawing/2014/main" val="3806045168"/>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Second-order polynomial function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𝑦</m:t>
                                </m:r>
                                <m:r>
                                  <a:rPr lang="it-IT" sz="180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ea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𝑥</m:t>
                                    </m:r>
                                  </m:e>
                                  <m:sup>
                                    <m:r>
                                      <a:rPr lang="it-IT" sz="1800" b="0" i="1" smtClean="0">
                                        <a:latin typeface="Cambria Math" panose="02040503050406030204" pitchFamily="18" charset="0"/>
                                        <a:ea typeface="Cambria Math" panose="02040503050406030204" pitchFamily="18" charset="0"/>
                                      </a:rPr>
                                      <m:t>2</m:t>
                                    </m:r>
                                  </m:sup>
                                </m:sSup>
                                <m:r>
                                  <a:rPr lang="it-IT" sz="1800" b="0" i="1" smtClean="0">
                                    <a:latin typeface="Cambria Math" panose="02040503050406030204" pitchFamily="18" charset="0"/>
                                  </a:rPr>
                                  <m:t>+</m:t>
                                </m:r>
                                <m:r>
                                  <a:rPr lang="it-IT" sz="1800" b="0" i="1" smtClean="0">
                                    <a:latin typeface="Cambria Math" panose="02040503050406030204" pitchFamily="18" charset="0"/>
                                  </a:rPr>
                                  <m:t>𝑏</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𝑥</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𝑐</m:t>
                                </m:r>
                                <m:r>
                                  <a:rPr lang="it-IT" sz="1800" b="0" i="1" smtClean="0">
                                    <a:latin typeface="Cambria Math" panose="02040503050406030204" pitchFamily="18" charset="0"/>
                                  </a:rPr>
                                  <m:t>+</m:t>
                                </m:r>
                                <m:r>
                                  <a:rPr lang="it-IT" sz="1800" b="0" i="1" smtClean="0">
                                    <a:latin typeface="Cambria Math" panose="02040503050406030204" pitchFamily="18" charset="0"/>
                                  </a:rPr>
                                  <m:t>𝑒</m:t>
                                </m:r>
                              </m:oMath>
                            </m:oMathPara>
                          </a14:m>
                          <a:endParaRPr lang="it-IT" sz="1800" dirty="0">
                            <a:latin typeface="Aptos" panose="020B0004020202020204" pitchFamily="34" charset="0"/>
                          </a:endParaRPr>
                        </a:p>
                      </a:txBody>
                      <a:tcPr anchor="ctr"/>
                    </a:tc>
                    <a:extLst>
                      <a:ext uri="{0D108BD9-81ED-4DB2-BD59-A6C34878D82A}">
                        <a16:rowId xmlns:a16="http://schemas.microsoft.com/office/drawing/2014/main" val="1900812989"/>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Third-order polynomial function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𝑦</m:t>
                                </m:r>
                                <m:r>
                                  <a:rPr lang="it-IT" sz="180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ea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𝑥</m:t>
                                    </m:r>
                                  </m:e>
                                  <m:sup>
                                    <m:r>
                                      <a:rPr lang="it-IT" sz="1800" b="0" i="1" smtClean="0">
                                        <a:latin typeface="Cambria Math" panose="02040503050406030204" pitchFamily="18" charset="0"/>
                                        <a:ea typeface="Cambria Math" panose="02040503050406030204" pitchFamily="18" charset="0"/>
                                      </a:rPr>
                                      <m:t>3</m:t>
                                    </m:r>
                                  </m:sup>
                                </m:sSup>
                                <m:r>
                                  <a:rPr lang="it-IT" sz="1800" b="0" i="1" smtClean="0">
                                    <a:latin typeface="Cambria Math" panose="02040503050406030204" pitchFamily="18" charset="0"/>
                                  </a:rPr>
                                  <m:t>+</m:t>
                                </m:r>
                                <m:r>
                                  <a:rPr lang="it-IT" sz="1800" b="0" i="1" smtClean="0">
                                    <a:latin typeface="Cambria Math" panose="02040503050406030204" pitchFamily="18" charset="0"/>
                                  </a:rPr>
                                  <m:t>𝑏</m:t>
                                </m:r>
                                <m:r>
                                  <a:rPr lang="it-IT" sz="1800" b="0" i="1" smtClean="0">
                                    <a:latin typeface="Cambria Math" panose="02040503050406030204" pitchFamily="18" charset="0"/>
                                    <a:ea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𝑥</m:t>
                                    </m:r>
                                  </m:e>
                                  <m:sup>
                                    <m:r>
                                      <a:rPr lang="it-IT" sz="1800" b="0" i="1" smtClean="0">
                                        <a:latin typeface="Cambria Math" panose="02040503050406030204" pitchFamily="18" charset="0"/>
                                        <a:ea typeface="Cambria Math" panose="02040503050406030204" pitchFamily="18" charset="0"/>
                                      </a:rPr>
                                      <m:t>2</m:t>
                                    </m:r>
                                  </m:sup>
                                </m:sSup>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𝑐</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𝑥</m:t>
                                </m:r>
                                <m:r>
                                  <a:rPr lang="it-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𝑑</m:t>
                                </m:r>
                                <m:r>
                                  <a:rPr lang="it-IT" sz="1800" b="0" i="1" smtClean="0">
                                    <a:latin typeface="Cambria Math" panose="02040503050406030204" pitchFamily="18" charset="0"/>
                                  </a:rPr>
                                  <m:t>+</m:t>
                                </m:r>
                                <m:r>
                                  <a:rPr lang="it-IT" sz="1800" b="0" i="1" smtClean="0">
                                    <a:latin typeface="Cambria Math" panose="02040503050406030204" pitchFamily="18" charset="0"/>
                                  </a:rPr>
                                  <m:t>𝑒</m:t>
                                </m:r>
                              </m:oMath>
                            </m:oMathPara>
                          </a14:m>
                          <a:endParaRPr lang="it-IT" sz="1800" dirty="0">
                            <a:latin typeface="Aptos" panose="020B0004020202020204" pitchFamily="34" charset="0"/>
                          </a:endParaRPr>
                        </a:p>
                      </a:txBody>
                      <a:tcPr anchor="ctr"/>
                    </a:tc>
                    <a:extLst>
                      <a:ext uri="{0D108BD9-81ED-4DB2-BD59-A6C34878D82A}">
                        <a16:rowId xmlns:a16="http://schemas.microsoft.com/office/drawing/2014/main" val="67091995"/>
                      </a:ext>
                    </a:extLst>
                  </a:tr>
                </a:tbl>
              </a:graphicData>
            </a:graphic>
          </p:graphicFrame>
        </mc:Choice>
        <mc:Fallback xmlns="">
          <p:graphicFrame>
            <p:nvGraphicFramePr>
              <p:cNvPr id="6" name="Tabella 5"/>
              <p:cNvGraphicFramePr>
                <a:graphicFrameLocks noGrp="1"/>
              </p:cNvGraphicFramePr>
              <p:nvPr>
                <p:extLst>
                  <p:ext uri="{D42A27DB-BD31-4B8C-83A1-F6EECF244321}">
                    <p14:modId xmlns:p14="http://schemas.microsoft.com/office/powerpoint/2010/main" val="3556595021"/>
                  </p:ext>
                </p:extLst>
              </p:nvPr>
            </p:nvGraphicFramePr>
            <p:xfrm>
              <a:off x="1685834" y="4087238"/>
              <a:ext cx="8128000" cy="227437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1963882765"/>
                        </a:ext>
                      </a:extLst>
                    </a:gridCol>
                    <a:gridCol w="4064000">
                      <a:extLst>
                        <a:ext uri="{9D8B030D-6E8A-4147-A177-3AD203B41FA5}">
                          <a16:colId xmlns:a16="http://schemas.microsoft.com/office/drawing/2014/main" val="3562997081"/>
                        </a:ext>
                      </a:extLst>
                    </a:gridCol>
                  </a:tblGrid>
                  <a:tr h="449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Logarithmic function</a:t>
                          </a:r>
                        </a:p>
                      </a:txBody>
                      <a:tcPr anchor="ctr"/>
                    </a:tc>
                    <a:tc>
                      <a:txBody>
                        <a:bodyPr/>
                        <a:lstStyle/>
                        <a:p>
                          <a:endParaRPr lang="en-US"/>
                        </a:p>
                      </a:txBody>
                      <a:tcPr anchor="ctr">
                        <a:blipFill>
                          <a:blip r:embed="rId3"/>
                          <a:stretch>
                            <a:fillRect l="-100313" r="-313" b="-413889"/>
                          </a:stretch>
                        </a:blipFill>
                      </a:tcPr>
                    </a:tc>
                    <a:extLst>
                      <a:ext uri="{0D108BD9-81ED-4DB2-BD59-A6C34878D82A}">
                        <a16:rowId xmlns:a16="http://schemas.microsoft.com/office/drawing/2014/main" val="18580295"/>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Exponential function</a:t>
                          </a:r>
                        </a:p>
                      </a:txBody>
                      <a:tcPr anchor="ctr"/>
                    </a:tc>
                    <a:tc>
                      <a:txBody>
                        <a:bodyPr/>
                        <a:lstStyle/>
                        <a:p>
                          <a:endParaRPr lang="en-US"/>
                        </a:p>
                      </a:txBody>
                      <a:tcPr anchor="ctr">
                        <a:blipFill>
                          <a:blip r:embed="rId3"/>
                          <a:stretch>
                            <a:fillRect l="-100313" t="-100000" r="-313" b="-313889"/>
                          </a:stretch>
                        </a:blipFill>
                      </a:tcPr>
                    </a:tc>
                    <a:extLst>
                      <a:ext uri="{0D108BD9-81ED-4DB2-BD59-A6C34878D82A}">
                        <a16:rowId xmlns:a16="http://schemas.microsoft.com/office/drawing/2014/main" val="2770746979"/>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Power function</a:t>
                          </a:r>
                        </a:p>
                      </a:txBody>
                      <a:tcPr anchor="ctr"/>
                    </a:tc>
                    <a:tc>
                      <a:txBody>
                        <a:bodyPr/>
                        <a:lstStyle/>
                        <a:p>
                          <a:endParaRPr lang="en-US"/>
                        </a:p>
                      </a:txBody>
                      <a:tcPr anchor="ctr">
                        <a:blipFill>
                          <a:blip r:embed="rId3"/>
                          <a:stretch>
                            <a:fillRect l="-100313" t="-200000" r="-313" b="-213889"/>
                          </a:stretch>
                        </a:blipFill>
                      </a:tcPr>
                    </a:tc>
                    <a:extLst>
                      <a:ext uri="{0D108BD9-81ED-4DB2-BD59-A6C34878D82A}">
                        <a16:rowId xmlns:a16="http://schemas.microsoft.com/office/drawing/2014/main" val="3806045168"/>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Second-order polynomial function</a:t>
                          </a:r>
                        </a:p>
                      </a:txBody>
                      <a:tcPr anchor="ctr"/>
                    </a:tc>
                    <a:tc>
                      <a:txBody>
                        <a:bodyPr/>
                        <a:lstStyle/>
                        <a:p>
                          <a:endParaRPr lang="en-US"/>
                        </a:p>
                      </a:txBody>
                      <a:tcPr anchor="ctr">
                        <a:blipFill>
                          <a:blip r:embed="rId3"/>
                          <a:stretch>
                            <a:fillRect l="-100313" t="-300000" r="-313" b="-113889"/>
                          </a:stretch>
                        </a:blipFill>
                      </a:tcPr>
                    </a:tc>
                    <a:extLst>
                      <a:ext uri="{0D108BD9-81ED-4DB2-BD59-A6C34878D82A}">
                        <a16:rowId xmlns:a16="http://schemas.microsoft.com/office/drawing/2014/main" val="1900812989"/>
                      </a:ext>
                    </a:extLst>
                  </a:tr>
                  <a:tr h="45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Aptos" panose="020B0004020202020204" pitchFamily="34" charset="0"/>
                              <a:ea typeface="+mn-ea"/>
                              <a:cs typeface="+mn-cs"/>
                            </a:rPr>
                            <a:t>Third-order polynomial function</a:t>
                          </a:r>
                        </a:p>
                      </a:txBody>
                      <a:tcPr anchor="ctr"/>
                    </a:tc>
                    <a:tc>
                      <a:txBody>
                        <a:bodyPr/>
                        <a:lstStyle/>
                        <a:p>
                          <a:endParaRPr lang="en-US"/>
                        </a:p>
                      </a:txBody>
                      <a:tcPr anchor="ctr">
                        <a:blipFill>
                          <a:blip r:embed="rId3"/>
                          <a:stretch>
                            <a:fillRect l="-100313" t="-400000" r="-313" b="-13889"/>
                          </a:stretch>
                        </a:blipFill>
                      </a:tcPr>
                    </a:tc>
                    <a:extLst>
                      <a:ext uri="{0D108BD9-81ED-4DB2-BD59-A6C34878D82A}">
                        <a16:rowId xmlns:a16="http://schemas.microsoft.com/office/drawing/2014/main" val="67091995"/>
                      </a:ext>
                    </a:extLst>
                  </a:tr>
                </a:tbl>
              </a:graphicData>
            </a:graphic>
          </p:graphicFrame>
        </mc:Fallback>
      </mc:AlternateContent>
      <p:sp>
        <p:nvSpPr>
          <p:cNvPr id="5" name="Segnaposto numero diapositiva 4"/>
          <p:cNvSpPr>
            <a:spLocks noGrp="1"/>
          </p:cNvSpPr>
          <p:nvPr>
            <p:ph type="sldNum" sz="quarter" idx="12"/>
          </p:nvPr>
        </p:nvSpPr>
        <p:spPr/>
        <p:txBody>
          <a:bodyPr/>
          <a:lstStyle/>
          <a:p>
            <a:fld id="{31DE2C5B-556E-47B8-A792-024C2FCA4ACC}" type="slidenum">
              <a:rPr lang="en-GB" smtClean="0"/>
              <a:t>33</a:t>
            </a:fld>
            <a:endParaRPr lang="en-GB"/>
          </a:p>
        </p:txBody>
      </p:sp>
    </p:spTree>
    <p:extLst>
      <p:ext uri="{BB962C8B-B14F-4D97-AF65-F5344CB8AC3E}">
        <p14:creationId xmlns:p14="http://schemas.microsoft.com/office/powerpoint/2010/main" val="121642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Connettore diritto 27"/>
          <p:cNvCxnSpPr/>
          <p:nvPr/>
        </p:nvCxnSpPr>
        <p:spPr>
          <a:xfrm flipV="1">
            <a:off x="1095214" y="4042908"/>
            <a:ext cx="2677887" cy="1592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olo 1"/>
          <p:cNvSpPr>
            <a:spLocks noGrp="1"/>
          </p:cNvSpPr>
          <p:nvPr>
            <p:ph type="title"/>
          </p:nvPr>
        </p:nvSpPr>
        <p:spPr/>
        <p:txBody>
          <a:bodyPr/>
          <a:lstStyle/>
          <a:p>
            <a:r>
              <a:rPr lang="it-IT" dirty="0" err="1"/>
              <a:t>Calibration</a:t>
            </a:r>
            <a:endParaRPr lang="en-GB" dirty="0"/>
          </a:p>
        </p:txBody>
      </p:sp>
      <p:sp>
        <p:nvSpPr>
          <p:cNvPr id="3" name="Segnaposto contenuto 2"/>
          <p:cNvSpPr>
            <a:spLocks noGrp="1"/>
          </p:cNvSpPr>
          <p:nvPr>
            <p:ph idx="1"/>
          </p:nvPr>
        </p:nvSpPr>
        <p:spPr>
          <a:xfrm>
            <a:off x="428172" y="1274831"/>
            <a:ext cx="11368314" cy="2206843"/>
          </a:xfrm>
        </p:spPr>
        <p:txBody>
          <a:bodyPr>
            <a:normAutofit/>
          </a:bodyPr>
          <a:lstStyle/>
          <a:p>
            <a:r>
              <a:rPr lang="en-US" sz="2000" dirty="0"/>
              <a:t>The transfer function parameters, e.g., a and b in the linear transfer function, are in general unknown and must be estimated. </a:t>
            </a:r>
            <a:r>
              <a:rPr lang="en-US" sz="2000" dirty="0">
                <a:sym typeface="Wingdings" panose="05000000000000000000" pitchFamily="2" charset="2"/>
              </a:rPr>
              <a:t>This process is called </a:t>
            </a:r>
            <a:r>
              <a:rPr lang="en-US" sz="2000" b="1" dirty="0">
                <a:sym typeface="Wingdings" panose="05000000000000000000" pitchFamily="2" charset="2"/>
              </a:rPr>
              <a:t>calibration</a:t>
            </a:r>
            <a:r>
              <a:rPr lang="en-US" sz="2000" dirty="0">
                <a:sym typeface="Wingdings" panose="05000000000000000000" pitchFamily="2" charset="2"/>
              </a:rPr>
              <a:t>.</a:t>
            </a:r>
          </a:p>
          <a:p>
            <a:r>
              <a:rPr lang="en-US" sz="2000" dirty="0">
                <a:sym typeface="Wingdings" panose="05000000000000000000" pitchFamily="2" charset="2"/>
              </a:rPr>
              <a:t>If a set of known (</a:t>
            </a:r>
            <a:r>
              <a:rPr lang="en-US" sz="2000" dirty="0" err="1">
                <a:sym typeface="Wingdings" panose="05000000000000000000" pitchFamily="2" charset="2"/>
              </a:rPr>
              <a:t>x,y</a:t>
            </a:r>
            <a:r>
              <a:rPr lang="en-US" sz="2000" dirty="0">
                <a:sym typeface="Wingdings" panose="05000000000000000000" pitchFamily="2" charset="2"/>
              </a:rPr>
              <a:t>) paired values are available, estimation of </a:t>
            </a:r>
            <a:r>
              <a:rPr lang="en-US" sz="2000" dirty="0"/>
              <a:t>transfer function parameters can be performed by the least square approach.</a:t>
            </a:r>
          </a:p>
          <a:p>
            <a:r>
              <a:rPr lang="en-US" sz="2000" dirty="0"/>
              <a:t>For linear transfer function: </a:t>
            </a:r>
          </a:p>
          <a:p>
            <a:pPr marL="0" indent="0">
              <a:buNone/>
            </a:pPr>
            <a:endParaRPr lang="it-IT" dirty="0"/>
          </a:p>
          <a:p>
            <a:endParaRPr lang="en-GB" dirty="0"/>
          </a:p>
        </p:txBody>
      </p:sp>
      <p:sp>
        <p:nvSpPr>
          <p:cNvPr id="4" name="Segnaposto contenuto 2"/>
          <p:cNvSpPr txBox="1">
            <a:spLocks/>
          </p:cNvSpPr>
          <p:nvPr/>
        </p:nvSpPr>
        <p:spPr>
          <a:xfrm>
            <a:off x="837587" y="3347592"/>
            <a:ext cx="3686628" cy="45239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2000" b="1" dirty="0" err="1">
                <a:latin typeface="Aptos" panose="020B0004020202020204" pitchFamily="34" charset="0"/>
              </a:rPr>
              <a:t>Two-point</a:t>
            </a:r>
            <a:r>
              <a:rPr lang="it-IT" sz="2000" b="1" dirty="0">
                <a:latin typeface="Aptos" panose="020B0004020202020204" pitchFamily="34" charset="0"/>
              </a:rPr>
              <a:t> </a:t>
            </a:r>
            <a:r>
              <a:rPr lang="en-GB" sz="2000" b="1" dirty="0">
                <a:latin typeface="Aptos" panose="020B0004020202020204" pitchFamily="34" charset="0"/>
                <a:sym typeface="Wingdings" panose="05000000000000000000" pitchFamily="2" charset="2"/>
              </a:rPr>
              <a:t>calibration</a:t>
            </a:r>
            <a:endParaRPr lang="it-IT" b="1" dirty="0">
              <a:latin typeface="Aptos" panose="020B0004020202020204" pitchFamily="34" charset="0"/>
            </a:endParaRPr>
          </a:p>
          <a:p>
            <a:endParaRPr lang="en-GB" dirty="0">
              <a:latin typeface="Aptos" panose="020B0004020202020204" pitchFamily="34" charset="0"/>
            </a:endParaRPr>
          </a:p>
        </p:txBody>
      </p:sp>
      <p:cxnSp>
        <p:nvCxnSpPr>
          <p:cNvPr id="6" name="Connettore 2 5"/>
          <p:cNvCxnSpPr/>
          <p:nvPr/>
        </p:nvCxnSpPr>
        <p:spPr>
          <a:xfrm flipV="1">
            <a:off x="1095215" y="3640919"/>
            <a:ext cx="0" cy="25495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p:cNvCxnSpPr/>
          <p:nvPr/>
        </p:nvCxnSpPr>
        <p:spPr>
          <a:xfrm>
            <a:off x="1095215" y="6190489"/>
            <a:ext cx="30501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asellaDiTesto 10"/>
              <p:cNvSpPr txBox="1"/>
              <p:nvPr/>
            </p:nvSpPr>
            <p:spPr>
              <a:xfrm>
                <a:off x="546938" y="3673576"/>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𝑦</m:t>
                      </m:r>
                    </m:oMath>
                  </m:oMathPara>
                </a14:m>
                <a:endParaRPr lang="en-GB" dirty="0">
                  <a:latin typeface="Aptos" panose="020B0004020202020204" pitchFamily="34" charset="0"/>
                </a:endParaRPr>
              </a:p>
            </p:txBody>
          </p:sp>
        </mc:Choice>
        <mc:Fallback xmlns="">
          <p:sp>
            <p:nvSpPr>
              <p:cNvPr id="11" name="CasellaDiTesto 10"/>
              <p:cNvSpPr txBox="1">
                <a:spLocks noRot="1" noChangeAspect="1" noMove="1" noResize="1" noEditPoints="1" noAdjustHandles="1" noChangeArrowheads="1" noChangeShapeType="1" noTextEdit="1"/>
              </p:cNvSpPr>
              <p:nvPr/>
            </p:nvSpPr>
            <p:spPr>
              <a:xfrm>
                <a:off x="546938" y="3673576"/>
                <a:ext cx="581297" cy="369332"/>
              </a:xfrm>
              <a:prstGeom prst="rect">
                <a:avLst/>
              </a:prstGeom>
              <a:blipFill>
                <a:blip r:embed="rId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asellaDiTesto 11"/>
              <p:cNvSpPr txBox="1"/>
              <p:nvPr/>
            </p:nvSpPr>
            <p:spPr>
              <a:xfrm>
                <a:off x="3622583" y="6190489"/>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𝑥</m:t>
                      </m:r>
                    </m:oMath>
                  </m:oMathPara>
                </a14:m>
                <a:endParaRPr lang="en-GB" dirty="0">
                  <a:latin typeface="Aptos" panose="020B0004020202020204" pitchFamily="34" charset="0"/>
                </a:endParaRPr>
              </a:p>
            </p:txBody>
          </p:sp>
        </mc:Choice>
        <mc:Fallback xmlns="">
          <p:sp>
            <p:nvSpPr>
              <p:cNvPr id="12" name="CasellaDiTesto 11"/>
              <p:cNvSpPr txBox="1">
                <a:spLocks noRot="1" noChangeAspect="1" noMove="1" noResize="1" noEditPoints="1" noAdjustHandles="1" noChangeArrowheads="1" noChangeShapeType="1" noTextEdit="1"/>
              </p:cNvSpPr>
              <p:nvPr/>
            </p:nvSpPr>
            <p:spPr>
              <a:xfrm>
                <a:off x="3622583" y="6190489"/>
                <a:ext cx="581297" cy="369332"/>
              </a:xfrm>
              <a:prstGeom prst="rect">
                <a:avLst/>
              </a:prstGeom>
              <a:blipFill>
                <a:blip r:embed="rId3"/>
                <a:stretch>
                  <a:fillRect/>
                </a:stretch>
              </a:blipFill>
            </p:spPr>
            <p:txBody>
              <a:bodyPr/>
              <a:lstStyle/>
              <a:p>
                <a:r>
                  <a:rPr lang="en-US">
                    <a:noFill/>
                  </a:rPr>
                  <a:t> </a:t>
                </a:r>
              </a:p>
            </p:txBody>
          </p:sp>
        </mc:Fallback>
      </mc:AlternateContent>
      <p:sp>
        <p:nvSpPr>
          <p:cNvPr id="13" name="Ovale 12"/>
          <p:cNvSpPr/>
          <p:nvPr/>
        </p:nvSpPr>
        <p:spPr>
          <a:xfrm>
            <a:off x="1611198" y="5243431"/>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4" name="Ovale 13"/>
          <p:cNvSpPr/>
          <p:nvPr/>
        </p:nvSpPr>
        <p:spPr>
          <a:xfrm>
            <a:off x="3298484" y="4248479"/>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cxnSp>
        <p:nvCxnSpPr>
          <p:cNvPr id="16" name="Connettore diritto 15"/>
          <p:cNvCxnSpPr>
            <a:endCxn id="13" idx="2"/>
          </p:cNvCxnSpPr>
          <p:nvPr/>
        </p:nvCxnSpPr>
        <p:spPr>
          <a:xfrm>
            <a:off x="1095215" y="5296770"/>
            <a:ext cx="515983" cy="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Connettore diritto 16"/>
          <p:cNvCxnSpPr>
            <a:endCxn id="14" idx="2"/>
          </p:cNvCxnSpPr>
          <p:nvPr/>
        </p:nvCxnSpPr>
        <p:spPr>
          <a:xfrm flipV="1">
            <a:off x="1095215" y="4301819"/>
            <a:ext cx="2203269" cy="1735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nettore diritto 20"/>
          <p:cNvCxnSpPr>
            <a:endCxn id="14" idx="4"/>
          </p:cNvCxnSpPr>
          <p:nvPr/>
        </p:nvCxnSpPr>
        <p:spPr>
          <a:xfrm flipV="1">
            <a:off x="3352484" y="4355158"/>
            <a:ext cx="0" cy="18353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nettore diritto 23"/>
          <p:cNvCxnSpPr>
            <a:stCxn id="13" idx="4"/>
          </p:cNvCxnSpPr>
          <p:nvPr/>
        </p:nvCxnSpPr>
        <p:spPr>
          <a:xfrm>
            <a:off x="1665198" y="5350110"/>
            <a:ext cx="0" cy="84037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ttangolo 30"/>
              <p:cNvSpPr/>
              <p:nvPr/>
            </p:nvSpPr>
            <p:spPr>
              <a:xfrm>
                <a:off x="3706812" y="3799985"/>
                <a:ext cx="1654812" cy="4165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𝑦</m:t>
                      </m:r>
                      <m:r>
                        <a:rPr lang="it-IT" sz="2000" i="1" smtClean="0">
                          <a:latin typeface="Cambria Math" panose="02040503050406030204" pitchFamily="18" charset="0"/>
                        </a:rPr>
                        <m:t>=</m:t>
                      </m:r>
                      <m:acc>
                        <m:accPr>
                          <m:chr m:val="̂"/>
                          <m:ctrlPr>
                            <a:rPr lang="it-IT" sz="2000" i="1" smtClean="0">
                              <a:latin typeface="Cambria Math" panose="02040503050406030204" pitchFamily="18" charset="0"/>
                            </a:rPr>
                          </m:ctrlPr>
                        </m:accPr>
                        <m:e>
                          <m:r>
                            <a:rPr lang="it-IT" sz="2000" b="0" i="1" smtClean="0">
                              <a:latin typeface="Cambria Math" panose="02040503050406030204" pitchFamily="18" charset="0"/>
                            </a:rPr>
                            <m:t>𝑎</m:t>
                          </m:r>
                        </m:e>
                      </m:acc>
                      <m:r>
                        <a:rPr lang="it-IT" sz="2000" b="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𝑥</m:t>
                      </m:r>
                      <m:r>
                        <a:rPr lang="it-IT" sz="2000" b="0" i="1" smtClean="0">
                          <a:latin typeface="Cambria Math" panose="02040503050406030204" pitchFamily="18" charset="0"/>
                        </a:rPr>
                        <m:t>+</m:t>
                      </m:r>
                      <m:acc>
                        <m:accPr>
                          <m:chr m:val="̂"/>
                          <m:ctrlPr>
                            <a:rPr lang="it-IT" sz="2000" b="0" i="1" smtClean="0">
                              <a:latin typeface="Cambria Math" panose="02040503050406030204" pitchFamily="18" charset="0"/>
                            </a:rPr>
                          </m:ctrlPr>
                        </m:accPr>
                        <m:e>
                          <m:r>
                            <a:rPr lang="it-IT" sz="2000" b="0" i="1" smtClean="0">
                              <a:latin typeface="Cambria Math" panose="02040503050406030204" pitchFamily="18" charset="0"/>
                            </a:rPr>
                            <m:t>𝑏</m:t>
                          </m:r>
                        </m:e>
                      </m:acc>
                    </m:oMath>
                  </m:oMathPara>
                </a14:m>
                <a:endParaRPr lang="it-IT" sz="2000" dirty="0">
                  <a:latin typeface="Aptos" panose="020B0004020202020204" pitchFamily="34" charset="0"/>
                </a:endParaRPr>
              </a:p>
            </p:txBody>
          </p:sp>
        </mc:Choice>
        <mc:Fallback xmlns="">
          <p:sp>
            <p:nvSpPr>
              <p:cNvPr id="31" name="Rettangolo 30"/>
              <p:cNvSpPr>
                <a:spLocks noRot="1" noChangeAspect="1" noMove="1" noResize="1" noEditPoints="1" noAdjustHandles="1" noChangeArrowheads="1" noChangeShapeType="1" noTextEdit="1"/>
              </p:cNvSpPr>
              <p:nvPr/>
            </p:nvSpPr>
            <p:spPr>
              <a:xfrm>
                <a:off x="3706812" y="3799985"/>
                <a:ext cx="1654812" cy="416589"/>
              </a:xfrm>
              <a:prstGeom prst="rect">
                <a:avLst/>
              </a:prstGeom>
              <a:blipFill>
                <a:blip r:embed="rId4"/>
                <a:stretch>
                  <a:fillRect t="-2941"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asellaDiTesto 31"/>
              <p:cNvSpPr txBox="1"/>
              <p:nvPr/>
            </p:nvSpPr>
            <p:spPr>
              <a:xfrm>
                <a:off x="3054054" y="6160886"/>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2</m:t>
                          </m:r>
                        </m:sub>
                      </m:sSub>
                    </m:oMath>
                  </m:oMathPara>
                </a14:m>
                <a:endParaRPr lang="en-GB" dirty="0">
                  <a:latin typeface="Aptos" panose="020B0004020202020204" pitchFamily="34" charset="0"/>
                </a:endParaRPr>
              </a:p>
            </p:txBody>
          </p:sp>
        </mc:Choice>
        <mc:Fallback xmlns="">
          <p:sp>
            <p:nvSpPr>
              <p:cNvPr id="32" name="CasellaDiTesto 31"/>
              <p:cNvSpPr txBox="1">
                <a:spLocks noRot="1" noChangeAspect="1" noMove="1" noResize="1" noEditPoints="1" noAdjustHandles="1" noChangeArrowheads="1" noChangeShapeType="1" noTextEdit="1"/>
              </p:cNvSpPr>
              <p:nvPr/>
            </p:nvSpPr>
            <p:spPr>
              <a:xfrm>
                <a:off x="3054054" y="6160886"/>
                <a:ext cx="58129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asellaDiTesto 32"/>
              <p:cNvSpPr txBox="1"/>
              <p:nvPr/>
            </p:nvSpPr>
            <p:spPr>
              <a:xfrm>
                <a:off x="1393646" y="6143037"/>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1</m:t>
                          </m:r>
                        </m:sub>
                      </m:sSub>
                    </m:oMath>
                  </m:oMathPara>
                </a14:m>
                <a:endParaRPr lang="en-GB" dirty="0">
                  <a:latin typeface="Aptos" panose="020B0004020202020204" pitchFamily="34" charset="0"/>
                </a:endParaRPr>
              </a:p>
            </p:txBody>
          </p:sp>
        </mc:Choice>
        <mc:Fallback xmlns="">
          <p:sp>
            <p:nvSpPr>
              <p:cNvPr id="33" name="CasellaDiTesto 32"/>
              <p:cNvSpPr txBox="1">
                <a:spLocks noRot="1" noChangeAspect="1" noMove="1" noResize="1" noEditPoints="1" noAdjustHandles="1" noChangeArrowheads="1" noChangeShapeType="1" noTextEdit="1"/>
              </p:cNvSpPr>
              <p:nvPr/>
            </p:nvSpPr>
            <p:spPr>
              <a:xfrm>
                <a:off x="1393646" y="6143037"/>
                <a:ext cx="58129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asellaDiTesto 33"/>
              <p:cNvSpPr txBox="1"/>
              <p:nvPr/>
            </p:nvSpPr>
            <p:spPr>
              <a:xfrm>
                <a:off x="631779" y="5081320"/>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1</m:t>
                          </m:r>
                        </m:sub>
                      </m:sSub>
                    </m:oMath>
                  </m:oMathPara>
                </a14:m>
                <a:endParaRPr lang="en-GB" dirty="0">
                  <a:latin typeface="Aptos" panose="020B0004020202020204" pitchFamily="34" charset="0"/>
                </a:endParaRPr>
              </a:p>
            </p:txBody>
          </p:sp>
        </mc:Choice>
        <mc:Fallback xmlns="">
          <p:sp>
            <p:nvSpPr>
              <p:cNvPr id="34" name="CasellaDiTesto 33"/>
              <p:cNvSpPr txBox="1">
                <a:spLocks noRot="1" noChangeAspect="1" noMove="1" noResize="1" noEditPoints="1" noAdjustHandles="1" noChangeArrowheads="1" noChangeShapeType="1" noTextEdit="1"/>
              </p:cNvSpPr>
              <p:nvPr/>
            </p:nvSpPr>
            <p:spPr>
              <a:xfrm>
                <a:off x="631779" y="5081320"/>
                <a:ext cx="581297" cy="369332"/>
              </a:xfrm>
              <a:prstGeom prst="rect">
                <a:avLst/>
              </a:prstGeom>
              <a:blipFill>
                <a:blip r:embed="rId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CasellaDiTesto 34"/>
              <p:cNvSpPr txBox="1"/>
              <p:nvPr/>
            </p:nvSpPr>
            <p:spPr>
              <a:xfrm>
                <a:off x="641352" y="4112102"/>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2</m:t>
                          </m:r>
                        </m:sub>
                      </m:sSub>
                    </m:oMath>
                  </m:oMathPara>
                </a14:m>
                <a:endParaRPr lang="en-GB" dirty="0">
                  <a:latin typeface="Aptos" panose="020B0004020202020204" pitchFamily="34" charset="0"/>
                </a:endParaRPr>
              </a:p>
            </p:txBody>
          </p:sp>
        </mc:Choice>
        <mc:Fallback xmlns="">
          <p:sp>
            <p:nvSpPr>
              <p:cNvPr id="35" name="CasellaDiTesto 34"/>
              <p:cNvSpPr txBox="1">
                <a:spLocks noRot="1" noChangeAspect="1" noMove="1" noResize="1" noEditPoints="1" noAdjustHandles="1" noChangeArrowheads="1" noChangeShapeType="1" noTextEdit="1"/>
              </p:cNvSpPr>
              <p:nvPr/>
            </p:nvSpPr>
            <p:spPr>
              <a:xfrm>
                <a:off x="641352" y="4112102"/>
                <a:ext cx="581297" cy="369332"/>
              </a:xfrm>
              <a:prstGeom prst="rect">
                <a:avLst/>
              </a:prstGeom>
              <a:blipFill>
                <a:blip r:embed="rId8"/>
                <a:stretch>
                  <a:fillRect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CasellaDiTesto 35"/>
              <p:cNvSpPr txBox="1"/>
              <p:nvPr/>
            </p:nvSpPr>
            <p:spPr>
              <a:xfrm>
                <a:off x="4390830" y="4608459"/>
                <a:ext cx="1218923" cy="519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it-IT" b="0" i="1" smtClean="0">
                              <a:latin typeface="Cambria Math" panose="02040503050406030204" pitchFamily="18" charset="0"/>
                            </a:rPr>
                            <m:t>𝑎</m:t>
                          </m:r>
                        </m:e>
                      </m:acc>
                      <m:r>
                        <a:rPr lang="it-IT" b="0" i="1" smtClean="0">
                          <a:latin typeface="Cambria Math" panose="02040503050406030204" pitchFamily="18" charset="0"/>
                        </a:rPr>
                        <m:t>=</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2</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1</m:t>
                              </m:r>
                            </m:sub>
                          </m:sSub>
                        </m:num>
                        <m:den>
                          <m:sSub>
                            <m:sSubPr>
                              <m:ctrlPr>
                                <a:rPr lang="it-IT" i="1">
                                  <a:latin typeface="Cambria Math" panose="02040503050406030204" pitchFamily="18" charset="0"/>
                                </a:rPr>
                              </m:ctrlPr>
                            </m:sSubPr>
                            <m:e>
                              <m:r>
                                <a:rPr lang="it-IT" b="0" i="1" smtClean="0">
                                  <a:latin typeface="Cambria Math" panose="02040503050406030204" pitchFamily="18" charset="0"/>
                                </a:rPr>
                                <m:t>𝑥</m:t>
                              </m:r>
                            </m:e>
                            <m:sub>
                              <m:r>
                                <a:rPr lang="it-IT" i="1">
                                  <a:latin typeface="Cambria Math" panose="02040503050406030204" pitchFamily="18" charset="0"/>
                                </a:rPr>
                                <m:t>2</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𝑥</m:t>
                              </m:r>
                            </m:e>
                            <m:sub>
                              <m:r>
                                <a:rPr lang="it-IT" i="1">
                                  <a:latin typeface="Cambria Math" panose="02040503050406030204" pitchFamily="18" charset="0"/>
                                </a:rPr>
                                <m:t>1</m:t>
                              </m:r>
                            </m:sub>
                          </m:sSub>
                        </m:den>
                      </m:f>
                    </m:oMath>
                  </m:oMathPara>
                </a14:m>
                <a:endParaRPr lang="en-GB" dirty="0">
                  <a:latin typeface="Aptos" panose="020B0004020202020204" pitchFamily="34" charset="0"/>
                </a:endParaRPr>
              </a:p>
            </p:txBody>
          </p:sp>
        </mc:Choice>
        <mc:Fallback xmlns="">
          <p:sp>
            <p:nvSpPr>
              <p:cNvPr id="36" name="CasellaDiTesto 35"/>
              <p:cNvSpPr txBox="1">
                <a:spLocks noRot="1" noChangeAspect="1" noMove="1" noResize="1" noEditPoints="1" noAdjustHandles="1" noChangeArrowheads="1" noChangeShapeType="1" noTextEdit="1"/>
              </p:cNvSpPr>
              <p:nvPr/>
            </p:nvSpPr>
            <p:spPr>
              <a:xfrm>
                <a:off x="4390830" y="4608459"/>
                <a:ext cx="1218923" cy="519629"/>
              </a:xfrm>
              <a:prstGeom prst="rect">
                <a:avLst/>
              </a:prstGeom>
              <a:blipFill>
                <a:blip r:embed="rId9"/>
                <a:stretch>
                  <a:fillRect l="-2062" t="-2381" r="-1031"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CasellaDiTesto 36"/>
              <p:cNvSpPr txBox="1"/>
              <p:nvPr/>
            </p:nvSpPr>
            <p:spPr>
              <a:xfrm>
                <a:off x="4390830" y="5416933"/>
                <a:ext cx="2117887" cy="519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it-IT" b="0" i="1" smtClean="0">
                              <a:latin typeface="Cambria Math" panose="02040503050406030204" pitchFamily="18" charset="0"/>
                            </a:rPr>
                            <m:t>𝑏</m:t>
                          </m:r>
                        </m:e>
                      </m:acc>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𝑦</m:t>
                          </m:r>
                        </m:e>
                        <m:sub>
                          <m:r>
                            <a:rPr lang="it-IT" i="1">
                              <a:latin typeface="Cambria Math" panose="02040503050406030204" pitchFamily="18" charset="0"/>
                            </a:rPr>
                            <m:t>2</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2</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1</m:t>
                              </m:r>
                            </m:sub>
                          </m:sSub>
                        </m:num>
                        <m:den>
                          <m:sSub>
                            <m:sSubPr>
                              <m:ctrlPr>
                                <a:rPr lang="it-IT" i="1">
                                  <a:latin typeface="Cambria Math" panose="02040503050406030204" pitchFamily="18" charset="0"/>
                                </a:rPr>
                              </m:ctrlPr>
                            </m:sSubPr>
                            <m:e>
                              <m:r>
                                <a:rPr lang="it-IT" b="0" i="1" smtClean="0">
                                  <a:latin typeface="Cambria Math" panose="02040503050406030204" pitchFamily="18" charset="0"/>
                                </a:rPr>
                                <m:t>𝑥</m:t>
                              </m:r>
                            </m:e>
                            <m:sub>
                              <m:r>
                                <a:rPr lang="it-IT" i="1">
                                  <a:latin typeface="Cambria Math" panose="02040503050406030204" pitchFamily="18" charset="0"/>
                                </a:rPr>
                                <m:t>2</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𝑥</m:t>
                              </m:r>
                            </m:e>
                            <m:sub>
                              <m:r>
                                <a:rPr lang="it-IT" i="1">
                                  <a:latin typeface="Cambria Math" panose="02040503050406030204" pitchFamily="18" charset="0"/>
                                </a:rPr>
                                <m:t>1</m:t>
                              </m:r>
                            </m:sub>
                          </m:sSub>
                        </m:den>
                      </m:f>
                      <m:sSub>
                        <m:sSubPr>
                          <m:ctrlPr>
                            <a:rPr lang="it-IT" i="1">
                              <a:latin typeface="Cambria Math" panose="02040503050406030204" pitchFamily="18" charset="0"/>
                            </a:rPr>
                          </m:ctrlPr>
                        </m:sSubPr>
                        <m:e>
                          <m:r>
                            <a:rPr lang="it-IT" i="1" smtClean="0">
                              <a:latin typeface="Cambria Math" panose="02040503050406030204" pitchFamily="18" charset="0"/>
                              <a:ea typeface="Cambria Math" panose="02040503050406030204" pitchFamily="18" charset="0"/>
                            </a:rPr>
                            <m:t>∙</m:t>
                          </m:r>
                          <m:r>
                            <a:rPr lang="it-IT" i="1">
                              <a:latin typeface="Cambria Math" panose="02040503050406030204" pitchFamily="18" charset="0"/>
                            </a:rPr>
                            <m:t>𝑥</m:t>
                          </m:r>
                        </m:e>
                        <m:sub>
                          <m:r>
                            <a:rPr lang="it-IT" i="1">
                              <a:latin typeface="Cambria Math" panose="02040503050406030204" pitchFamily="18" charset="0"/>
                            </a:rPr>
                            <m:t>2</m:t>
                          </m:r>
                        </m:sub>
                      </m:sSub>
                    </m:oMath>
                  </m:oMathPara>
                </a14:m>
                <a:endParaRPr lang="en-GB" dirty="0">
                  <a:latin typeface="Aptos" panose="020B0004020202020204" pitchFamily="34" charset="0"/>
                </a:endParaRPr>
              </a:p>
            </p:txBody>
          </p:sp>
        </mc:Choice>
        <mc:Fallback xmlns="">
          <p:sp>
            <p:nvSpPr>
              <p:cNvPr id="37" name="CasellaDiTesto 36"/>
              <p:cNvSpPr txBox="1">
                <a:spLocks noRot="1" noChangeAspect="1" noMove="1" noResize="1" noEditPoints="1" noAdjustHandles="1" noChangeArrowheads="1" noChangeShapeType="1" noTextEdit="1"/>
              </p:cNvSpPr>
              <p:nvPr/>
            </p:nvSpPr>
            <p:spPr>
              <a:xfrm>
                <a:off x="4390830" y="5416933"/>
                <a:ext cx="2117887" cy="519629"/>
              </a:xfrm>
              <a:prstGeom prst="rect">
                <a:avLst/>
              </a:prstGeom>
              <a:blipFill>
                <a:blip r:embed="rId10"/>
                <a:stretch>
                  <a:fillRect l="-2381" t="-2381" r="-595" b="-9524"/>
                </a:stretch>
              </a:blipFill>
            </p:spPr>
            <p:txBody>
              <a:bodyPr/>
              <a:lstStyle/>
              <a:p>
                <a:r>
                  <a:rPr lang="en-US">
                    <a:noFill/>
                  </a:rPr>
                  <a:t> </a:t>
                </a:r>
              </a:p>
            </p:txBody>
          </p:sp>
        </mc:Fallback>
      </mc:AlternateContent>
      <p:sp>
        <p:nvSpPr>
          <p:cNvPr id="38" name="Segnaposto contenuto 2"/>
          <p:cNvSpPr txBox="1">
            <a:spLocks/>
          </p:cNvSpPr>
          <p:nvPr/>
        </p:nvSpPr>
        <p:spPr>
          <a:xfrm>
            <a:off x="7845787" y="3347592"/>
            <a:ext cx="3686628" cy="45239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2000" b="1" dirty="0">
                <a:latin typeface="Aptos" panose="020B0004020202020204" pitchFamily="34" charset="0"/>
              </a:rPr>
              <a:t>Multiple-</a:t>
            </a:r>
            <a:r>
              <a:rPr lang="it-IT" sz="2000" b="1" dirty="0" err="1">
                <a:latin typeface="Aptos" panose="020B0004020202020204" pitchFamily="34" charset="0"/>
              </a:rPr>
              <a:t>point</a:t>
            </a:r>
            <a:r>
              <a:rPr lang="it-IT" sz="2000" b="1" dirty="0">
                <a:latin typeface="Aptos" panose="020B0004020202020204" pitchFamily="34" charset="0"/>
              </a:rPr>
              <a:t> </a:t>
            </a:r>
            <a:r>
              <a:rPr lang="en-GB" sz="2000" b="1" dirty="0">
                <a:latin typeface="Aptos" panose="020B0004020202020204" pitchFamily="34" charset="0"/>
                <a:sym typeface="Wingdings" panose="05000000000000000000" pitchFamily="2" charset="2"/>
              </a:rPr>
              <a:t>calibration</a:t>
            </a:r>
            <a:endParaRPr lang="it-IT" b="1" dirty="0">
              <a:latin typeface="Aptos" panose="020B0004020202020204" pitchFamily="34" charset="0"/>
            </a:endParaRPr>
          </a:p>
          <a:p>
            <a:endParaRPr lang="en-GB" dirty="0">
              <a:latin typeface="Aptos" panose="020B0004020202020204" pitchFamily="34" charset="0"/>
            </a:endParaRPr>
          </a:p>
        </p:txBody>
      </p:sp>
      <p:cxnSp>
        <p:nvCxnSpPr>
          <p:cNvPr id="39" name="Connettore diritto 38"/>
          <p:cNvCxnSpPr/>
          <p:nvPr/>
        </p:nvCxnSpPr>
        <p:spPr>
          <a:xfrm flipV="1">
            <a:off x="7845787" y="4087497"/>
            <a:ext cx="2677887" cy="1592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nettore 2 39"/>
          <p:cNvCxnSpPr/>
          <p:nvPr/>
        </p:nvCxnSpPr>
        <p:spPr>
          <a:xfrm flipV="1">
            <a:off x="7845788" y="3685508"/>
            <a:ext cx="0" cy="25495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ttore 2 40"/>
          <p:cNvCxnSpPr/>
          <p:nvPr/>
        </p:nvCxnSpPr>
        <p:spPr>
          <a:xfrm>
            <a:off x="7845788" y="6235078"/>
            <a:ext cx="30501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CasellaDiTesto 41"/>
              <p:cNvSpPr txBox="1"/>
              <p:nvPr/>
            </p:nvSpPr>
            <p:spPr>
              <a:xfrm>
                <a:off x="7297511" y="3718165"/>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𝑦</m:t>
                      </m:r>
                    </m:oMath>
                  </m:oMathPara>
                </a14:m>
                <a:endParaRPr lang="en-GB" dirty="0">
                  <a:latin typeface="Aptos" panose="020B0004020202020204" pitchFamily="34" charset="0"/>
                </a:endParaRPr>
              </a:p>
            </p:txBody>
          </p:sp>
        </mc:Choice>
        <mc:Fallback xmlns="">
          <p:sp>
            <p:nvSpPr>
              <p:cNvPr id="42" name="CasellaDiTesto 41"/>
              <p:cNvSpPr txBox="1">
                <a:spLocks noRot="1" noChangeAspect="1" noMove="1" noResize="1" noEditPoints="1" noAdjustHandles="1" noChangeArrowheads="1" noChangeShapeType="1" noTextEdit="1"/>
              </p:cNvSpPr>
              <p:nvPr/>
            </p:nvSpPr>
            <p:spPr>
              <a:xfrm>
                <a:off x="7297511" y="3718165"/>
                <a:ext cx="581297" cy="369332"/>
              </a:xfrm>
              <a:prstGeom prst="rect">
                <a:avLst/>
              </a:prstGeom>
              <a:blipFill>
                <a:blip r:embed="rId11"/>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CasellaDiTesto 42"/>
              <p:cNvSpPr txBox="1"/>
              <p:nvPr/>
            </p:nvSpPr>
            <p:spPr>
              <a:xfrm>
                <a:off x="10373156" y="6235078"/>
                <a:ext cx="5812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𝑥</m:t>
                      </m:r>
                    </m:oMath>
                  </m:oMathPara>
                </a14:m>
                <a:endParaRPr lang="en-GB" dirty="0">
                  <a:latin typeface="Aptos" panose="020B0004020202020204" pitchFamily="34" charset="0"/>
                </a:endParaRPr>
              </a:p>
            </p:txBody>
          </p:sp>
        </mc:Choice>
        <mc:Fallback xmlns="">
          <p:sp>
            <p:nvSpPr>
              <p:cNvPr id="43" name="CasellaDiTesto 42"/>
              <p:cNvSpPr txBox="1">
                <a:spLocks noRot="1" noChangeAspect="1" noMove="1" noResize="1" noEditPoints="1" noAdjustHandles="1" noChangeArrowheads="1" noChangeShapeType="1" noTextEdit="1"/>
              </p:cNvSpPr>
              <p:nvPr/>
            </p:nvSpPr>
            <p:spPr>
              <a:xfrm>
                <a:off x="10373156" y="6235078"/>
                <a:ext cx="581297" cy="369332"/>
              </a:xfrm>
              <a:prstGeom prst="rect">
                <a:avLst/>
              </a:prstGeom>
              <a:blipFill>
                <a:blip r:embed="rId12"/>
                <a:stretch>
                  <a:fillRect/>
                </a:stretch>
              </a:blipFill>
            </p:spPr>
            <p:txBody>
              <a:bodyPr/>
              <a:lstStyle/>
              <a:p>
                <a:r>
                  <a:rPr lang="en-US">
                    <a:noFill/>
                  </a:rPr>
                  <a:t> </a:t>
                </a:r>
              </a:p>
            </p:txBody>
          </p:sp>
        </mc:Fallback>
      </mc:AlternateContent>
      <p:sp>
        <p:nvSpPr>
          <p:cNvPr id="44" name="Ovale 43"/>
          <p:cNvSpPr/>
          <p:nvPr/>
        </p:nvSpPr>
        <p:spPr>
          <a:xfrm>
            <a:off x="8286066" y="4943713"/>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45" name="Ovale 44"/>
          <p:cNvSpPr/>
          <p:nvPr/>
        </p:nvSpPr>
        <p:spPr>
          <a:xfrm>
            <a:off x="9995056" y="4528592"/>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4" name="Ovale 53"/>
          <p:cNvSpPr/>
          <p:nvPr/>
        </p:nvSpPr>
        <p:spPr>
          <a:xfrm>
            <a:off x="9563684" y="4780052"/>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5" name="Ovale 54"/>
          <p:cNvSpPr/>
          <p:nvPr/>
        </p:nvSpPr>
        <p:spPr>
          <a:xfrm>
            <a:off x="9208877" y="4551917"/>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6" name="Ovale 55"/>
          <p:cNvSpPr/>
          <p:nvPr/>
        </p:nvSpPr>
        <p:spPr>
          <a:xfrm>
            <a:off x="8859413" y="4872062"/>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7" name="Ovale 56"/>
          <p:cNvSpPr/>
          <p:nvPr/>
        </p:nvSpPr>
        <p:spPr>
          <a:xfrm>
            <a:off x="10265156" y="4041229"/>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8" name="Ovale 57"/>
          <p:cNvSpPr/>
          <p:nvPr/>
        </p:nvSpPr>
        <p:spPr>
          <a:xfrm>
            <a:off x="8859413" y="5376923"/>
            <a:ext cx="108000" cy="1066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mc:AlternateContent xmlns:mc="http://schemas.openxmlformats.org/markup-compatibility/2006" xmlns:a14="http://schemas.microsoft.com/office/drawing/2010/main">
        <mc:Choice Requires="a14">
          <p:sp>
            <p:nvSpPr>
              <p:cNvPr id="59" name="Rettangolo 58"/>
              <p:cNvSpPr/>
              <p:nvPr/>
            </p:nvSpPr>
            <p:spPr>
              <a:xfrm>
                <a:off x="10431693" y="3677979"/>
                <a:ext cx="1654812" cy="4165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𝑦</m:t>
                      </m:r>
                      <m:r>
                        <a:rPr lang="it-IT" sz="2000" i="1" smtClean="0">
                          <a:latin typeface="Cambria Math" panose="02040503050406030204" pitchFamily="18" charset="0"/>
                        </a:rPr>
                        <m:t>=</m:t>
                      </m:r>
                      <m:acc>
                        <m:accPr>
                          <m:chr m:val="̂"/>
                          <m:ctrlPr>
                            <a:rPr lang="it-IT" sz="2000" i="1" smtClean="0">
                              <a:latin typeface="Cambria Math" panose="02040503050406030204" pitchFamily="18" charset="0"/>
                            </a:rPr>
                          </m:ctrlPr>
                        </m:accPr>
                        <m:e>
                          <m:r>
                            <a:rPr lang="it-IT" sz="2000" b="0" i="1" smtClean="0">
                              <a:latin typeface="Cambria Math" panose="02040503050406030204" pitchFamily="18" charset="0"/>
                            </a:rPr>
                            <m:t>𝑎</m:t>
                          </m:r>
                        </m:e>
                      </m:acc>
                      <m:r>
                        <a:rPr lang="it-IT" sz="2000" b="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𝑥</m:t>
                      </m:r>
                      <m:r>
                        <a:rPr lang="it-IT" sz="2000" b="0" i="1" smtClean="0">
                          <a:latin typeface="Cambria Math" panose="02040503050406030204" pitchFamily="18" charset="0"/>
                        </a:rPr>
                        <m:t>+</m:t>
                      </m:r>
                      <m:acc>
                        <m:accPr>
                          <m:chr m:val="̂"/>
                          <m:ctrlPr>
                            <a:rPr lang="it-IT" sz="2000" b="0" i="1" smtClean="0">
                              <a:latin typeface="Cambria Math" panose="02040503050406030204" pitchFamily="18" charset="0"/>
                            </a:rPr>
                          </m:ctrlPr>
                        </m:accPr>
                        <m:e>
                          <m:r>
                            <a:rPr lang="it-IT" sz="2000" b="0" i="1" smtClean="0">
                              <a:latin typeface="Cambria Math" panose="02040503050406030204" pitchFamily="18" charset="0"/>
                            </a:rPr>
                            <m:t>𝑏</m:t>
                          </m:r>
                        </m:e>
                      </m:acc>
                    </m:oMath>
                  </m:oMathPara>
                </a14:m>
                <a:endParaRPr lang="it-IT" sz="2000" dirty="0">
                  <a:latin typeface="Aptos" panose="020B0004020202020204" pitchFamily="34" charset="0"/>
                </a:endParaRPr>
              </a:p>
            </p:txBody>
          </p:sp>
        </mc:Choice>
        <mc:Fallback xmlns="">
          <p:sp>
            <p:nvSpPr>
              <p:cNvPr id="59" name="Rettangolo 58"/>
              <p:cNvSpPr>
                <a:spLocks noRot="1" noChangeAspect="1" noMove="1" noResize="1" noEditPoints="1" noAdjustHandles="1" noChangeArrowheads="1" noChangeShapeType="1" noTextEdit="1"/>
              </p:cNvSpPr>
              <p:nvPr/>
            </p:nvSpPr>
            <p:spPr>
              <a:xfrm>
                <a:off x="10431693" y="3677979"/>
                <a:ext cx="1654812" cy="416589"/>
              </a:xfrm>
              <a:prstGeom prst="rect">
                <a:avLst/>
              </a:prstGeom>
              <a:blipFill>
                <a:blip r:embed="rId13"/>
                <a:stretch>
                  <a:fillRect t="-2941"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ttangolo 59"/>
              <p:cNvSpPr/>
              <p:nvPr/>
            </p:nvSpPr>
            <p:spPr>
              <a:xfrm>
                <a:off x="4012546" y="2531043"/>
                <a:ext cx="4381520"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acc>
                        <m:accPr>
                          <m:chr m:val="̂"/>
                          <m:ctrlPr>
                            <a:rPr lang="it-IT" sz="2000" i="1">
                              <a:latin typeface="Cambria Math" panose="02040503050406030204" pitchFamily="18" charset="0"/>
                            </a:rPr>
                          </m:ctrlPr>
                        </m:accPr>
                        <m:e>
                          <m:r>
                            <a:rPr lang="it-IT" sz="2000" i="1">
                              <a:latin typeface="Cambria Math" panose="02040503050406030204" pitchFamily="18" charset="0"/>
                            </a:rPr>
                            <m:t>𝑎</m:t>
                          </m:r>
                        </m:e>
                      </m:acc>
                      <m:r>
                        <a:rPr lang="it-IT" sz="2000" b="0" i="1" smtClean="0">
                          <a:latin typeface="Cambria Math" panose="02040503050406030204" pitchFamily="18" charset="0"/>
                        </a:rPr>
                        <m:t>,</m:t>
                      </m:r>
                      <m:acc>
                        <m:accPr>
                          <m:chr m:val="̂"/>
                          <m:ctrlPr>
                            <a:rPr lang="it-IT" sz="2000" i="1">
                              <a:latin typeface="Cambria Math" panose="02040503050406030204" pitchFamily="18" charset="0"/>
                            </a:rPr>
                          </m:ctrlPr>
                        </m:accPr>
                        <m:e>
                          <m:r>
                            <a:rPr lang="it-IT" sz="2000" b="0" i="1" smtClean="0">
                              <a:latin typeface="Cambria Math" panose="02040503050406030204" pitchFamily="18" charset="0"/>
                            </a:rPr>
                            <m:t>𝑏</m:t>
                          </m:r>
                        </m:e>
                      </m:acc>
                      <m:r>
                        <a:rPr lang="it-IT" sz="2000" b="0" i="1" smtClean="0">
                          <a:latin typeface="Cambria Math" panose="02040503050406030204" pitchFamily="18" charset="0"/>
                        </a:rPr>
                        <m:t>)</m:t>
                      </m:r>
                      <m:r>
                        <a:rPr lang="it-IT" sz="2000" i="1" smtClean="0">
                          <a:latin typeface="Cambria Math" panose="02040503050406030204" pitchFamily="18" charset="0"/>
                        </a:rPr>
                        <m:t>=</m:t>
                      </m:r>
                      <m:func>
                        <m:funcPr>
                          <m:ctrlPr>
                            <a:rPr lang="it-IT" sz="2000" i="1" smtClean="0">
                              <a:latin typeface="Cambria Math" panose="02040503050406030204" pitchFamily="18" charset="0"/>
                            </a:rPr>
                          </m:ctrlPr>
                        </m:funcPr>
                        <m:fName>
                          <m:limLow>
                            <m:limLowPr>
                              <m:ctrlPr>
                                <a:rPr lang="it-IT" sz="2000" i="1" smtClean="0">
                                  <a:latin typeface="Cambria Math" panose="02040503050406030204" pitchFamily="18" charset="0"/>
                                </a:rPr>
                              </m:ctrlPr>
                            </m:limLowPr>
                            <m:e>
                              <m:r>
                                <m:rPr>
                                  <m:sty m:val="p"/>
                                </m:rPr>
                                <a:rPr lang="it-IT" sz="2000" b="0" i="0" smtClean="0">
                                  <a:latin typeface="Cambria Math" panose="02040503050406030204" pitchFamily="18" charset="0"/>
                                </a:rPr>
                                <m:t>arg</m:t>
                              </m:r>
                              <m:r>
                                <m:rPr>
                                  <m:sty m:val="p"/>
                                </m:rPr>
                                <a:rPr lang="it-IT" sz="2000" i="0" smtClean="0">
                                  <a:latin typeface="Cambria Math" panose="02040503050406030204" pitchFamily="18" charset="0"/>
                                </a:rPr>
                                <m:t>min</m:t>
                              </m:r>
                            </m:e>
                            <m:lim>
                              <m:r>
                                <a:rPr lang="it-IT" sz="2000" b="0" i="1" smtClean="0">
                                  <a:latin typeface="Cambria Math" panose="02040503050406030204" pitchFamily="18" charset="0"/>
                                </a:rPr>
                                <m:t>𝑎</m:t>
                              </m:r>
                              <m:r>
                                <a:rPr lang="it-IT" sz="2000" b="0" i="1" smtClean="0">
                                  <a:latin typeface="Cambria Math" panose="02040503050406030204" pitchFamily="18" charset="0"/>
                                </a:rPr>
                                <m:t>,</m:t>
                              </m:r>
                              <m:r>
                                <a:rPr lang="it-IT" sz="2000" b="0" i="1" smtClean="0">
                                  <a:latin typeface="Cambria Math" panose="02040503050406030204" pitchFamily="18" charset="0"/>
                                </a:rPr>
                                <m:t>𝑏</m:t>
                              </m:r>
                            </m:lim>
                          </m:limLow>
                        </m:fName>
                        <m:e>
                          <m:nary>
                            <m:naryPr>
                              <m:chr m:val="∑"/>
                              <m:ctrlPr>
                                <a:rPr lang="it-IT" sz="2000" i="1" smtClean="0">
                                  <a:latin typeface="Cambria Math" panose="02040503050406030204" pitchFamily="18" charset="0"/>
                                </a:rPr>
                              </m:ctrlPr>
                            </m:naryPr>
                            <m:sub>
                              <m:r>
                                <m:rPr>
                                  <m:brk m:alnAt="23"/>
                                </m:rPr>
                                <a:rPr lang="it-IT" sz="2000" b="0" i="1" smtClean="0">
                                  <a:latin typeface="Cambria Math" panose="02040503050406030204" pitchFamily="18" charset="0"/>
                                </a:rPr>
                                <m:t>𝑖</m:t>
                              </m:r>
                              <m:r>
                                <a:rPr lang="it-IT" sz="2000" b="0" i="1" smtClean="0">
                                  <a:latin typeface="Cambria Math" panose="02040503050406030204" pitchFamily="18" charset="0"/>
                                </a:rPr>
                                <m:t>=1</m:t>
                              </m:r>
                            </m:sub>
                            <m:sup>
                              <m:r>
                                <a:rPr lang="it-IT" sz="2000" b="0" i="1" smtClean="0">
                                  <a:latin typeface="Cambria Math" panose="02040503050406030204" pitchFamily="18" charset="0"/>
                                </a:rPr>
                                <m:t>𝑛</m:t>
                              </m:r>
                            </m:sup>
                            <m:e>
                              <m:sSup>
                                <m:sSupPr>
                                  <m:ctrlPr>
                                    <a:rPr lang="it-IT" sz="2000" i="1" smtClean="0">
                                      <a:latin typeface="Cambria Math" panose="02040503050406030204" pitchFamily="18" charset="0"/>
                                    </a:rPr>
                                  </m:ctrlPr>
                                </m:sSupPr>
                                <m:e>
                                  <m:d>
                                    <m:dPr>
                                      <m:begChr m:val="["/>
                                      <m:endChr m:val="]"/>
                                      <m:ctrlPr>
                                        <a:rPr lang="it-IT" sz="2000" i="1" smtClean="0">
                                          <a:latin typeface="Cambria Math" panose="02040503050406030204" pitchFamily="18" charset="0"/>
                                        </a:rPr>
                                      </m:ctrlPr>
                                    </m:dPr>
                                    <m:e>
                                      <m:sSub>
                                        <m:sSubPr>
                                          <m:ctrlPr>
                                            <a:rPr lang="it-IT" sz="2000" i="1">
                                              <a:latin typeface="Cambria Math" panose="02040503050406030204" pitchFamily="18" charset="0"/>
                                            </a:rPr>
                                          </m:ctrlPr>
                                        </m:sSubPr>
                                        <m:e>
                                          <m:r>
                                            <a:rPr lang="it-IT" sz="2000" i="1">
                                              <a:latin typeface="Cambria Math" panose="02040503050406030204" pitchFamily="18" charset="0"/>
                                            </a:rPr>
                                            <m:t>𝑦</m:t>
                                          </m:r>
                                        </m:e>
                                        <m:sub>
                                          <m:r>
                                            <a:rPr lang="it-IT" sz="2000" i="1">
                                              <a:latin typeface="Cambria Math" panose="02040503050406030204" pitchFamily="18" charset="0"/>
                                            </a:rPr>
                                            <m:t>𝑖</m:t>
                                          </m:r>
                                        </m:sub>
                                      </m:sSub>
                                      <m:r>
                                        <a:rPr lang="it-IT" sz="2000" b="0" i="1" smtClean="0">
                                          <a:latin typeface="Cambria Math" panose="02040503050406030204" pitchFamily="18" charset="0"/>
                                        </a:rPr>
                                        <m:t>−</m:t>
                                      </m:r>
                                      <m:r>
                                        <a:rPr lang="it-IT" sz="2000" i="1">
                                          <a:latin typeface="Cambria Math" panose="02040503050406030204" pitchFamily="18" charset="0"/>
                                        </a:rPr>
                                        <m:t>(</m:t>
                                      </m:r>
                                      <m:r>
                                        <a:rPr lang="it-IT" sz="2000" i="1">
                                          <a:latin typeface="Cambria Math" panose="02040503050406030204" pitchFamily="18" charset="0"/>
                                        </a:rPr>
                                        <m:t>𝑎</m:t>
                                      </m:r>
                                      <m:r>
                                        <a:rPr lang="it-IT" sz="2000" i="1">
                                          <a:latin typeface="Cambria Math" panose="02040503050406030204" pitchFamily="18" charset="0"/>
                                          <a:ea typeface="Cambria Math" panose="02040503050406030204" pitchFamily="18" charset="0"/>
                                        </a:rPr>
                                        <m:t>∙</m:t>
                                      </m:r>
                                      <m:sSub>
                                        <m:sSubPr>
                                          <m:ctrlPr>
                                            <a:rPr lang="it-IT" sz="2000" i="1">
                                              <a:latin typeface="Cambria Math" panose="02040503050406030204" pitchFamily="18" charset="0"/>
                                              <a:ea typeface="Cambria Math" panose="02040503050406030204" pitchFamily="18" charset="0"/>
                                            </a:rPr>
                                          </m:ctrlPr>
                                        </m:sSubPr>
                                        <m:e>
                                          <m:r>
                                            <a:rPr lang="it-IT" sz="2000" i="1">
                                              <a:latin typeface="Cambria Math" panose="02040503050406030204" pitchFamily="18" charset="0"/>
                                              <a:ea typeface="Cambria Math" panose="02040503050406030204" pitchFamily="18" charset="0"/>
                                            </a:rPr>
                                            <m:t>𝑥</m:t>
                                          </m:r>
                                        </m:e>
                                        <m:sub>
                                          <m:r>
                                            <a:rPr lang="it-IT" sz="2000" i="1">
                                              <a:latin typeface="Cambria Math" panose="02040503050406030204" pitchFamily="18" charset="0"/>
                                              <a:ea typeface="Cambria Math" panose="02040503050406030204" pitchFamily="18" charset="0"/>
                                            </a:rPr>
                                            <m:t>𝑖</m:t>
                                          </m:r>
                                        </m:sub>
                                      </m:sSub>
                                      <m:r>
                                        <a:rPr lang="it-IT" sz="2000" i="1">
                                          <a:latin typeface="Cambria Math" panose="02040503050406030204" pitchFamily="18" charset="0"/>
                                        </a:rPr>
                                        <m:t>+</m:t>
                                      </m:r>
                                      <m:r>
                                        <a:rPr lang="it-IT" sz="2000" i="1">
                                          <a:latin typeface="Cambria Math" panose="02040503050406030204" pitchFamily="18" charset="0"/>
                                        </a:rPr>
                                        <m:t>𝑏</m:t>
                                      </m:r>
                                      <m:r>
                                        <a:rPr lang="it-IT" sz="2000" i="1">
                                          <a:latin typeface="Cambria Math" panose="02040503050406030204" pitchFamily="18" charset="0"/>
                                        </a:rPr>
                                        <m:t>)</m:t>
                                      </m:r>
                                    </m:e>
                                  </m:d>
                                </m:e>
                                <m:sup>
                                  <m:r>
                                    <a:rPr lang="it-IT" sz="2000" b="0" i="1" smtClean="0">
                                      <a:latin typeface="Cambria Math" panose="02040503050406030204" pitchFamily="18" charset="0"/>
                                    </a:rPr>
                                    <m:t>2</m:t>
                                  </m:r>
                                </m:sup>
                              </m:sSup>
                            </m:e>
                          </m:nary>
                        </m:e>
                      </m:func>
                    </m:oMath>
                  </m:oMathPara>
                </a14:m>
                <a:endParaRPr lang="it-IT" sz="2000" dirty="0">
                  <a:latin typeface="Aptos" panose="020B0004020202020204" pitchFamily="34" charset="0"/>
                </a:endParaRPr>
              </a:p>
            </p:txBody>
          </p:sp>
        </mc:Choice>
        <mc:Fallback xmlns="">
          <p:sp>
            <p:nvSpPr>
              <p:cNvPr id="60" name="Rettangolo 59"/>
              <p:cNvSpPr>
                <a:spLocks noRot="1" noChangeAspect="1" noMove="1" noResize="1" noEditPoints="1" noAdjustHandles="1" noChangeArrowheads="1" noChangeShapeType="1" noTextEdit="1"/>
              </p:cNvSpPr>
              <p:nvPr/>
            </p:nvSpPr>
            <p:spPr>
              <a:xfrm>
                <a:off x="4012546" y="2531043"/>
                <a:ext cx="4381520" cy="932628"/>
              </a:xfrm>
              <a:prstGeom prst="rect">
                <a:avLst/>
              </a:prstGeom>
              <a:blipFill>
                <a:blip r:embed="rId14"/>
                <a:stretch>
                  <a:fillRect t="-104054" b="-158108"/>
                </a:stretch>
              </a:blipFill>
            </p:spPr>
            <p:txBody>
              <a:bodyPr/>
              <a:lstStyle/>
              <a:p>
                <a:r>
                  <a:rPr lang="en-US">
                    <a:noFill/>
                  </a:rPr>
                  <a:t> </a:t>
                </a:r>
              </a:p>
            </p:txBody>
          </p:sp>
        </mc:Fallback>
      </mc:AlternateContent>
      <p:sp>
        <p:nvSpPr>
          <p:cNvPr id="5" name="Segnaposto numero diapositiva 4"/>
          <p:cNvSpPr>
            <a:spLocks noGrp="1"/>
          </p:cNvSpPr>
          <p:nvPr>
            <p:ph type="sldNum" sz="quarter" idx="12"/>
          </p:nvPr>
        </p:nvSpPr>
        <p:spPr/>
        <p:txBody>
          <a:bodyPr/>
          <a:lstStyle/>
          <a:p>
            <a:fld id="{31DE2C5B-556E-47B8-A792-024C2FCA4ACC}" type="slidenum">
              <a:rPr lang="en-GB" smtClean="0"/>
              <a:t>34</a:t>
            </a:fld>
            <a:endParaRPr lang="en-GB"/>
          </a:p>
        </p:txBody>
      </p:sp>
    </p:spTree>
    <p:extLst>
      <p:ext uri="{BB962C8B-B14F-4D97-AF65-F5344CB8AC3E}">
        <p14:creationId xmlns:p14="http://schemas.microsoft.com/office/powerpoint/2010/main" val="3908469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Embedded processing </a:t>
            </a:r>
            <a:r>
              <a:rPr lang="it-IT" dirty="0" err="1"/>
              <a:t>unit</a:t>
            </a:r>
            <a:endParaRPr lang="en-GB" dirty="0"/>
          </a:p>
        </p:txBody>
      </p:sp>
      <p:sp>
        <p:nvSpPr>
          <p:cNvPr id="3" name="Segnaposto contenuto 2"/>
          <p:cNvSpPr>
            <a:spLocks noGrp="1"/>
          </p:cNvSpPr>
          <p:nvPr>
            <p:ph idx="1"/>
          </p:nvPr>
        </p:nvSpPr>
        <p:spPr>
          <a:xfrm>
            <a:off x="428172" y="1361167"/>
            <a:ext cx="7230730" cy="4858203"/>
          </a:xfrm>
        </p:spPr>
        <p:txBody>
          <a:bodyPr/>
          <a:lstStyle/>
          <a:p>
            <a:r>
              <a:rPr lang="it-IT" dirty="0"/>
              <a:t>The </a:t>
            </a:r>
            <a:r>
              <a:rPr lang="it-IT" dirty="0" err="1"/>
              <a:t>embedded</a:t>
            </a:r>
            <a:r>
              <a:rPr lang="it-IT" dirty="0"/>
              <a:t> processing </a:t>
            </a:r>
            <a:r>
              <a:rPr lang="it-IT" dirty="0" err="1"/>
              <a:t>unit</a:t>
            </a:r>
            <a:r>
              <a:rPr lang="it-IT" dirty="0"/>
              <a:t> </a:t>
            </a:r>
            <a:r>
              <a:rPr lang="it-IT" dirty="0" err="1"/>
              <a:t>is</a:t>
            </a:r>
            <a:r>
              <a:rPr lang="it-IT" dirty="0"/>
              <a:t> </a:t>
            </a:r>
            <a:r>
              <a:rPr lang="it-IT" dirty="0" err="1"/>
              <a:t>responsible</a:t>
            </a:r>
            <a:r>
              <a:rPr lang="it-IT" dirty="0"/>
              <a:t> for: </a:t>
            </a:r>
          </a:p>
          <a:p>
            <a:pPr lvl="1"/>
            <a:r>
              <a:rPr lang="it-IT" dirty="0" err="1"/>
              <a:t>Performing</a:t>
            </a:r>
            <a:r>
              <a:rPr lang="it-IT" dirty="0"/>
              <a:t> </a:t>
            </a:r>
            <a:r>
              <a:rPr lang="it-IT" dirty="0" err="1"/>
              <a:t>local</a:t>
            </a:r>
            <a:r>
              <a:rPr lang="it-IT" dirty="0"/>
              <a:t> </a:t>
            </a:r>
            <a:r>
              <a:rPr lang="en-US" dirty="0"/>
              <a:t>processing of the measurements </a:t>
            </a:r>
          </a:p>
          <a:p>
            <a:pPr lvl="1"/>
            <a:r>
              <a:rPr lang="en-US" dirty="0"/>
              <a:t>Storing some data in a local memory</a:t>
            </a:r>
          </a:p>
          <a:p>
            <a:pPr lvl="1"/>
            <a:r>
              <a:rPr lang="en-US" dirty="0"/>
              <a:t>Sending the data to another device (e.g., a display device or a gateway device for IoT systems)</a:t>
            </a:r>
            <a:r>
              <a:rPr lang="it-IT" dirty="0"/>
              <a:t> </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7915" y="3128210"/>
            <a:ext cx="3880987" cy="2923423"/>
          </a:xfrm>
          <a:prstGeom prst="rect">
            <a:avLst/>
          </a:prstGeom>
        </p:spPr>
      </p:pic>
      <p:sp>
        <p:nvSpPr>
          <p:cNvPr id="5" name="CasellaDiTesto 4"/>
          <p:cNvSpPr txBox="1"/>
          <p:nvPr/>
        </p:nvSpPr>
        <p:spPr>
          <a:xfrm>
            <a:off x="2111542" y="5200233"/>
            <a:ext cx="1816768" cy="400110"/>
          </a:xfrm>
          <a:prstGeom prst="rect">
            <a:avLst/>
          </a:prstGeom>
          <a:noFill/>
        </p:spPr>
        <p:txBody>
          <a:bodyPr wrap="square" rtlCol="0">
            <a:spAutoFit/>
          </a:bodyPr>
          <a:lstStyle/>
          <a:p>
            <a:r>
              <a:rPr lang="it-IT" sz="2000" dirty="0">
                <a:latin typeface="Aptos" panose="020B0004020202020204" pitchFamily="34" charset="0"/>
              </a:rPr>
              <a:t>Sensor</a:t>
            </a:r>
            <a:endParaRPr lang="en-GB" sz="2400" dirty="0">
              <a:latin typeface="Aptos" panose="020B0004020202020204" pitchFamily="34" charset="0"/>
            </a:endParaRPr>
          </a:p>
        </p:txBody>
      </p:sp>
      <p:sp>
        <p:nvSpPr>
          <p:cNvPr id="6" name="CasellaDiTesto 5"/>
          <p:cNvSpPr txBox="1"/>
          <p:nvPr/>
        </p:nvSpPr>
        <p:spPr>
          <a:xfrm>
            <a:off x="3459080" y="6340860"/>
            <a:ext cx="3829750" cy="400110"/>
          </a:xfrm>
          <a:prstGeom prst="rect">
            <a:avLst/>
          </a:prstGeom>
          <a:noFill/>
        </p:spPr>
        <p:txBody>
          <a:bodyPr wrap="square" rtlCol="0">
            <a:spAutoFit/>
          </a:bodyPr>
          <a:lstStyle/>
          <a:p>
            <a:r>
              <a:rPr lang="it-IT" sz="2000" dirty="0">
                <a:latin typeface="Aptos" panose="020B0004020202020204" pitchFamily="34" charset="0"/>
              </a:rPr>
              <a:t>Embedded processing </a:t>
            </a:r>
            <a:r>
              <a:rPr lang="it-IT" sz="2000" dirty="0" err="1">
                <a:latin typeface="Aptos" panose="020B0004020202020204" pitchFamily="34" charset="0"/>
              </a:rPr>
              <a:t>unit</a:t>
            </a:r>
            <a:endParaRPr lang="en-GB" sz="2000" dirty="0">
              <a:latin typeface="Aptos" panose="020B0004020202020204" pitchFamily="34" charset="0"/>
            </a:endParaRPr>
          </a:p>
        </p:txBody>
      </p:sp>
      <p:cxnSp>
        <p:nvCxnSpPr>
          <p:cNvPr id="7" name="Connettore 2 6"/>
          <p:cNvCxnSpPr/>
          <p:nvPr/>
        </p:nvCxnSpPr>
        <p:spPr>
          <a:xfrm>
            <a:off x="3019926" y="5426460"/>
            <a:ext cx="908384" cy="1738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p:cNvCxnSpPr/>
          <p:nvPr/>
        </p:nvCxnSpPr>
        <p:spPr>
          <a:xfrm flipH="1" flipV="1">
            <a:off x="4529889" y="5780695"/>
            <a:ext cx="222588" cy="5601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asellaDiTesto 8"/>
          <p:cNvSpPr txBox="1"/>
          <p:nvPr/>
        </p:nvSpPr>
        <p:spPr>
          <a:xfrm>
            <a:off x="7757924" y="5292146"/>
            <a:ext cx="3633537" cy="707886"/>
          </a:xfrm>
          <a:prstGeom prst="rect">
            <a:avLst/>
          </a:prstGeom>
          <a:noFill/>
        </p:spPr>
        <p:txBody>
          <a:bodyPr wrap="square" rtlCol="0">
            <a:spAutoFit/>
          </a:bodyPr>
          <a:lstStyle/>
          <a:p>
            <a:pPr algn="ctr"/>
            <a:r>
              <a:rPr lang="it-IT" sz="2000" dirty="0" err="1">
                <a:latin typeface="Aptos" panose="020B0004020202020204" pitchFamily="34" charset="0"/>
              </a:rPr>
              <a:t>Receiver</a:t>
            </a:r>
            <a:r>
              <a:rPr lang="it-IT" sz="2000" dirty="0">
                <a:latin typeface="Aptos" panose="020B0004020202020204" pitchFamily="34" charset="0"/>
              </a:rPr>
              <a:t> </a:t>
            </a:r>
            <a:r>
              <a:rPr lang="it-IT" sz="2000" dirty="0" err="1">
                <a:latin typeface="Aptos" panose="020B0004020202020204" pitchFamily="34" charset="0"/>
              </a:rPr>
              <a:t>device</a:t>
            </a:r>
            <a:r>
              <a:rPr lang="it-IT" sz="2000" dirty="0">
                <a:latin typeface="Aptos" panose="020B0004020202020204" pitchFamily="34" charset="0"/>
              </a:rPr>
              <a:t> / Gateway </a:t>
            </a:r>
            <a:r>
              <a:rPr lang="it-IT" sz="2000" dirty="0" err="1">
                <a:latin typeface="Aptos" panose="020B0004020202020204" pitchFamily="34" charset="0"/>
              </a:rPr>
              <a:t>device</a:t>
            </a:r>
            <a:r>
              <a:rPr lang="it-IT" sz="2000" dirty="0">
                <a:latin typeface="Aptos" panose="020B0004020202020204" pitchFamily="34" charset="0"/>
              </a:rPr>
              <a:t> (for </a:t>
            </a:r>
            <a:r>
              <a:rPr lang="it-IT" sz="2000" dirty="0" err="1">
                <a:latin typeface="Aptos" panose="020B0004020202020204" pitchFamily="34" charset="0"/>
              </a:rPr>
              <a:t>IoT</a:t>
            </a:r>
            <a:r>
              <a:rPr lang="it-IT" sz="2000" dirty="0">
                <a:latin typeface="Aptos" panose="020B0004020202020204" pitchFamily="34" charset="0"/>
              </a:rPr>
              <a:t> </a:t>
            </a:r>
            <a:r>
              <a:rPr lang="it-IT" sz="2000" dirty="0" err="1">
                <a:latin typeface="Aptos" panose="020B0004020202020204" pitchFamily="34" charset="0"/>
              </a:rPr>
              <a:t>devices</a:t>
            </a:r>
            <a:r>
              <a:rPr lang="it-IT" sz="2000" dirty="0">
                <a:latin typeface="Aptos" panose="020B0004020202020204" pitchFamily="34" charset="0"/>
              </a:rPr>
              <a:t>)</a:t>
            </a:r>
            <a:endParaRPr lang="en-GB" sz="2000" dirty="0">
              <a:latin typeface="Aptos" panose="020B0004020202020204" pitchFamily="34" charset="0"/>
            </a:endParaRPr>
          </a:p>
        </p:txBody>
      </p:sp>
      <p:cxnSp>
        <p:nvCxnSpPr>
          <p:cNvPr id="10" name="Connettore 2 9"/>
          <p:cNvCxnSpPr/>
          <p:nvPr/>
        </p:nvCxnSpPr>
        <p:spPr>
          <a:xfrm flipH="1" flipV="1">
            <a:off x="7387717" y="4758489"/>
            <a:ext cx="819829" cy="45979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p:nvPr/>
        </p:nvCxnSpPr>
        <p:spPr>
          <a:xfrm flipH="1">
            <a:off x="6791826" y="5600343"/>
            <a:ext cx="1173079" cy="3996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CasellaDiTesto 11"/>
          <p:cNvSpPr txBox="1"/>
          <p:nvPr/>
        </p:nvSpPr>
        <p:spPr>
          <a:xfrm>
            <a:off x="8231359" y="1690437"/>
            <a:ext cx="3673642" cy="1423467"/>
          </a:xfrm>
          <a:prstGeom prst="rect">
            <a:avLst/>
          </a:prstGeom>
          <a:noFill/>
        </p:spPr>
        <p:txBody>
          <a:bodyPr wrap="square" rtlCol="0">
            <a:spAutoFit/>
          </a:bodyPr>
          <a:lstStyle/>
          <a:p>
            <a:r>
              <a:rPr lang="en-US" sz="2000" dirty="0">
                <a:latin typeface="Aptos" panose="020B0004020202020204" pitchFamily="34" charset="0"/>
              </a:rPr>
              <a:t>Three main operations: </a:t>
            </a:r>
          </a:p>
          <a:p>
            <a:pPr marL="228600" indent="-228600">
              <a:lnSpc>
                <a:spcPct val="90000"/>
              </a:lnSpc>
              <a:spcBef>
                <a:spcPts val="500"/>
              </a:spcBef>
              <a:buClr>
                <a:srgbClr val="00B050"/>
              </a:buClr>
              <a:buFont typeface="Wingdings" panose="05000000000000000000" pitchFamily="2" charset="2"/>
              <a:buChar char="§"/>
            </a:pPr>
            <a:r>
              <a:rPr lang="en-US" sz="2000" dirty="0" err="1">
                <a:latin typeface="Aptos" panose="020B0004020202020204" pitchFamily="34" charset="0"/>
              </a:rPr>
              <a:t>Denoising</a:t>
            </a:r>
            <a:endParaRPr lang="en-US" sz="2000" dirty="0">
              <a:latin typeface="Aptos" panose="020B0004020202020204" pitchFamily="34" charset="0"/>
            </a:endParaRPr>
          </a:p>
          <a:p>
            <a:pPr marL="228600" indent="-228600">
              <a:lnSpc>
                <a:spcPct val="90000"/>
              </a:lnSpc>
              <a:spcBef>
                <a:spcPts val="500"/>
              </a:spcBef>
              <a:buClr>
                <a:srgbClr val="00B050"/>
              </a:buClr>
              <a:buFont typeface="Wingdings" panose="05000000000000000000" pitchFamily="2" charset="2"/>
              <a:buChar char="§"/>
            </a:pPr>
            <a:r>
              <a:rPr lang="en-US" sz="2000" dirty="0">
                <a:latin typeface="Aptos" panose="020B0004020202020204" pitchFamily="34" charset="0"/>
              </a:rPr>
              <a:t>Calibration</a:t>
            </a:r>
          </a:p>
          <a:p>
            <a:pPr marL="228600" indent="-228600">
              <a:lnSpc>
                <a:spcPct val="90000"/>
              </a:lnSpc>
              <a:spcBef>
                <a:spcPts val="500"/>
              </a:spcBef>
              <a:buClr>
                <a:srgbClr val="00B050"/>
              </a:buClr>
              <a:buFont typeface="Wingdings" panose="05000000000000000000" pitchFamily="2" charset="2"/>
              <a:buChar char="§"/>
            </a:pPr>
            <a:r>
              <a:rPr lang="en-US" sz="2000" dirty="0">
                <a:latin typeface="Aptos" panose="020B0004020202020204" pitchFamily="34" charset="0"/>
              </a:rPr>
              <a:t>Fault detection</a:t>
            </a:r>
          </a:p>
        </p:txBody>
      </p:sp>
      <p:cxnSp>
        <p:nvCxnSpPr>
          <p:cNvPr id="13" name="Connettore 2 12"/>
          <p:cNvCxnSpPr/>
          <p:nvPr/>
        </p:nvCxnSpPr>
        <p:spPr>
          <a:xfrm flipV="1">
            <a:off x="6834032" y="1943100"/>
            <a:ext cx="1368000"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Segnaposto numero diapositiva 13"/>
          <p:cNvSpPr>
            <a:spLocks noGrp="1"/>
          </p:cNvSpPr>
          <p:nvPr>
            <p:ph type="sldNum" sz="quarter" idx="12"/>
          </p:nvPr>
        </p:nvSpPr>
        <p:spPr/>
        <p:txBody>
          <a:bodyPr/>
          <a:lstStyle/>
          <a:p>
            <a:fld id="{31DE2C5B-556E-47B8-A792-024C2FCA4ACC}" type="slidenum">
              <a:rPr lang="en-GB" smtClean="0"/>
              <a:t>35</a:t>
            </a:fld>
            <a:endParaRPr lang="en-GB"/>
          </a:p>
        </p:txBody>
      </p:sp>
    </p:spTree>
    <p:extLst>
      <p:ext uri="{BB962C8B-B14F-4D97-AF65-F5344CB8AC3E}">
        <p14:creationId xmlns:p14="http://schemas.microsoft.com/office/powerpoint/2010/main" val="3370653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Denoising</a:t>
            </a:r>
            <a:endParaRPr lang="en-GB" dirty="0"/>
          </a:p>
        </p:txBody>
      </p:sp>
      <p:sp>
        <p:nvSpPr>
          <p:cNvPr id="3" name="Segnaposto contenuto 2"/>
          <p:cNvSpPr>
            <a:spLocks noGrp="1"/>
          </p:cNvSpPr>
          <p:nvPr>
            <p:ph idx="1"/>
          </p:nvPr>
        </p:nvSpPr>
        <p:spPr>
          <a:xfrm>
            <a:off x="428172" y="1361167"/>
            <a:ext cx="11368314" cy="1153433"/>
          </a:xfrm>
        </p:spPr>
        <p:txBody>
          <a:bodyPr>
            <a:normAutofit/>
          </a:bodyPr>
          <a:lstStyle/>
          <a:p>
            <a:r>
              <a:rPr lang="en-US" dirty="0"/>
              <a:t>Raw signals are often noisy: the signal of interest is corrupted by noise</a:t>
            </a:r>
          </a:p>
          <a:p>
            <a:r>
              <a:rPr lang="en-US" dirty="0"/>
              <a:t>Example: high-frequency noise on a CGM signal</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36</a:t>
            </a:fld>
            <a:endParaRPr lang="en-GB"/>
          </a:p>
        </p:txBody>
      </p:sp>
      <p:pic>
        <p:nvPicPr>
          <p:cNvPr id="6" name="Immagin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7031" y="2354318"/>
            <a:ext cx="7690120" cy="4002032"/>
          </a:xfrm>
          <a:prstGeom prst="rect">
            <a:avLst/>
          </a:prstGeom>
        </p:spPr>
      </p:pic>
    </p:spTree>
    <p:extLst>
      <p:ext uri="{BB962C8B-B14F-4D97-AF65-F5344CB8AC3E}">
        <p14:creationId xmlns:p14="http://schemas.microsoft.com/office/powerpoint/2010/main" val="1572922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Denoising</a:t>
            </a:r>
            <a:endParaRPr lang="en-GB" dirty="0"/>
          </a:p>
        </p:txBody>
      </p:sp>
      <p:sp>
        <p:nvSpPr>
          <p:cNvPr id="3" name="Segnaposto contenuto 2"/>
          <p:cNvSpPr>
            <a:spLocks noGrp="1"/>
          </p:cNvSpPr>
          <p:nvPr>
            <p:ph idx="1"/>
          </p:nvPr>
        </p:nvSpPr>
        <p:spPr>
          <a:xfrm>
            <a:off x="428172" y="1361167"/>
            <a:ext cx="11368314" cy="1153433"/>
          </a:xfrm>
        </p:spPr>
        <p:txBody>
          <a:bodyPr>
            <a:normAutofit/>
          </a:bodyPr>
          <a:lstStyle/>
          <a:p>
            <a:r>
              <a:rPr lang="en-US" dirty="0"/>
              <a:t>Raw signals are often noisy: the signal of interest is corrupted by noise </a:t>
            </a:r>
          </a:p>
          <a:p>
            <a:r>
              <a:rPr lang="en-US" dirty="0"/>
              <a:t>Example: low-frequency noise (e.g., due to movement) on an ECG signal</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3435" y="2514600"/>
            <a:ext cx="5157787" cy="4010270"/>
          </a:xfrm>
          <a:prstGeom prst="rect">
            <a:avLst/>
          </a:prstGeom>
        </p:spPr>
      </p:pic>
      <p:sp>
        <p:nvSpPr>
          <p:cNvPr id="5" name="CasellaDiTesto 4"/>
          <p:cNvSpPr txBox="1"/>
          <p:nvPr/>
        </p:nvSpPr>
        <p:spPr>
          <a:xfrm>
            <a:off x="5378115" y="2396107"/>
            <a:ext cx="2532647" cy="338554"/>
          </a:xfrm>
          <a:prstGeom prst="rect">
            <a:avLst/>
          </a:prstGeom>
          <a:solidFill>
            <a:schemeClr val="bg1"/>
          </a:solidFill>
        </p:spPr>
        <p:txBody>
          <a:bodyPr wrap="square" rtlCol="0">
            <a:spAutoFit/>
          </a:bodyPr>
          <a:lstStyle/>
          <a:p>
            <a:r>
              <a:rPr lang="it-IT" sz="1600" dirty="0" err="1">
                <a:latin typeface="Aptos" panose="020B0004020202020204" pitchFamily="34" charset="0"/>
              </a:rPr>
              <a:t>Clean</a:t>
            </a:r>
            <a:r>
              <a:rPr lang="it-IT" sz="1600" dirty="0">
                <a:latin typeface="Aptos" panose="020B0004020202020204" pitchFamily="34" charset="0"/>
              </a:rPr>
              <a:t> ECG </a:t>
            </a:r>
            <a:r>
              <a:rPr lang="it-IT" sz="1600" dirty="0" err="1">
                <a:latin typeface="Aptos" panose="020B0004020202020204" pitchFamily="34" charset="0"/>
              </a:rPr>
              <a:t>signal</a:t>
            </a:r>
            <a:endParaRPr lang="en-GB" sz="1600" dirty="0">
              <a:latin typeface="Aptos" panose="020B0004020202020204" pitchFamily="34" charset="0"/>
            </a:endParaRPr>
          </a:p>
        </p:txBody>
      </p:sp>
      <p:sp>
        <p:nvSpPr>
          <p:cNvPr id="6" name="CasellaDiTesto 5"/>
          <p:cNvSpPr txBox="1"/>
          <p:nvPr/>
        </p:nvSpPr>
        <p:spPr>
          <a:xfrm>
            <a:off x="4313732" y="4460488"/>
            <a:ext cx="4377490" cy="338554"/>
          </a:xfrm>
          <a:prstGeom prst="rect">
            <a:avLst/>
          </a:prstGeom>
          <a:solidFill>
            <a:schemeClr val="bg1"/>
          </a:solidFill>
        </p:spPr>
        <p:txBody>
          <a:bodyPr wrap="square" rtlCol="0">
            <a:spAutoFit/>
          </a:bodyPr>
          <a:lstStyle/>
          <a:p>
            <a:r>
              <a:rPr lang="it-IT" sz="1600" dirty="0">
                <a:latin typeface="Aptos" panose="020B0004020202020204" pitchFamily="34" charset="0"/>
              </a:rPr>
              <a:t>ECG </a:t>
            </a:r>
            <a:r>
              <a:rPr lang="it-IT" sz="1600" dirty="0" err="1">
                <a:latin typeface="Aptos" panose="020B0004020202020204" pitchFamily="34" charset="0"/>
              </a:rPr>
              <a:t>signal</a:t>
            </a:r>
            <a:r>
              <a:rPr lang="it-IT" sz="1600" dirty="0">
                <a:latin typeface="Aptos" panose="020B0004020202020204" pitchFamily="34" charset="0"/>
              </a:rPr>
              <a:t> </a:t>
            </a:r>
            <a:r>
              <a:rPr lang="it-IT" sz="1600" dirty="0" err="1">
                <a:latin typeface="Aptos" panose="020B0004020202020204" pitchFamily="34" charset="0"/>
              </a:rPr>
              <a:t>corrupted</a:t>
            </a:r>
            <a:r>
              <a:rPr lang="it-IT" sz="1600" dirty="0">
                <a:latin typeface="Aptos" panose="020B0004020202020204" pitchFamily="34" charset="0"/>
              </a:rPr>
              <a:t> by </a:t>
            </a:r>
            <a:r>
              <a:rPr lang="it-IT" sz="1600" dirty="0" err="1">
                <a:latin typeface="Aptos" panose="020B0004020202020204" pitchFamily="34" charset="0"/>
              </a:rPr>
              <a:t>low-freq</a:t>
            </a:r>
            <a:r>
              <a:rPr lang="it-IT" sz="1600" dirty="0">
                <a:latin typeface="Aptos" panose="020B0004020202020204" pitchFamily="34" charset="0"/>
              </a:rPr>
              <a:t>. </a:t>
            </a:r>
            <a:r>
              <a:rPr lang="it-IT" sz="1600" dirty="0" err="1">
                <a:latin typeface="Aptos" panose="020B0004020202020204" pitchFamily="34" charset="0"/>
              </a:rPr>
              <a:t>noise</a:t>
            </a:r>
            <a:endParaRPr lang="en-GB" sz="1600" dirty="0">
              <a:latin typeface="Aptos" panose="020B0004020202020204" pitchFamily="34" charset="0"/>
            </a:endParaRPr>
          </a:p>
        </p:txBody>
      </p:sp>
      <p:sp>
        <p:nvSpPr>
          <p:cNvPr id="7" name="Segnaposto numero diapositiva 6"/>
          <p:cNvSpPr>
            <a:spLocks noGrp="1"/>
          </p:cNvSpPr>
          <p:nvPr>
            <p:ph type="sldNum" sz="quarter" idx="12"/>
          </p:nvPr>
        </p:nvSpPr>
        <p:spPr/>
        <p:txBody>
          <a:bodyPr/>
          <a:lstStyle/>
          <a:p>
            <a:fld id="{31DE2C5B-556E-47B8-A792-024C2FCA4ACC}" type="slidenum">
              <a:rPr lang="en-GB" smtClean="0"/>
              <a:t>37</a:t>
            </a:fld>
            <a:endParaRPr lang="en-GB"/>
          </a:p>
        </p:txBody>
      </p:sp>
    </p:spTree>
    <p:extLst>
      <p:ext uri="{BB962C8B-B14F-4D97-AF65-F5344CB8AC3E}">
        <p14:creationId xmlns:p14="http://schemas.microsoft.com/office/powerpoint/2010/main" val="3564004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Denoising</a:t>
            </a:r>
            <a:endParaRPr lang="en-GB" dirty="0"/>
          </a:p>
        </p:txBody>
      </p:sp>
      <p:sp>
        <p:nvSpPr>
          <p:cNvPr id="3" name="Segnaposto contenuto 2"/>
          <p:cNvSpPr>
            <a:spLocks noGrp="1"/>
          </p:cNvSpPr>
          <p:nvPr>
            <p:ph idx="1"/>
          </p:nvPr>
        </p:nvSpPr>
        <p:spPr>
          <a:xfrm>
            <a:off x="428172" y="1415771"/>
            <a:ext cx="11368314" cy="825912"/>
          </a:xfrm>
        </p:spPr>
        <p:txBody>
          <a:bodyPr>
            <a:normAutofit/>
          </a:bodyPr>
          <a:lstStyle/>
          <a:p>
            <a:r>
              <a:rPr lang="en-US" dirty="0"/>
              <a:t>The noise can be filtered by applying a denoising algorithm exploiting a digital filter.</a:t>
            </a:r>
          </a:p>
        </p:txBody>
      </p:sp>
      <p:sp>
        <p:nvSpPr>
          <p:cNvPr id="4" name="Rettangolo 3"/>
          <p:cNvSpPr/>
          <p:nvPr/>
        </p:nvSpPr>
        <p:spPr>
          <a:xfrm>
            <a:off x="4599358" y="3165398"/>
            <a:ext cx="3025942" cy="1359568"/>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400" dirty="0" err="1">
                <a:latin typeface="Aptos" panose="020B0004020202020204" pitchFamily="34" charset="0"/>
              </a:rPr>
              <a:t>Denoising</a:t>
            </a:r>
            <a:r>
              <a:rPr lang="it-IT" sz="2400" dirty="0">
                <a:latin typeface="Aptos" panose="020B0004020202020204" pitchFamily="34" charset="0"/>
              </a:rPr>
              <a:t> </a:t>
            </a:r>
            <a:r>
              <a:rPr lang="it-IT" sz="2400" dirty="0" err="1">
                <a:latin typeface="Aptos" panose="020B0004020202020204" pitchFamily="34" charset="0"/>
              </a:rPr>
              <a:t>algorithm</a:t>
            </a:r>
            <a:endParaRPr lang="it-IT" sz="2400" dirty="0">
              <a:latin typeface="Aptos" panose="020B0004020202020204" pitchFamily="34" charset="0"/>
            </a:endParaRPr>
          </a:p>
          <a:p>
            <a:pPr algn="ctr"/>
            <a:r>
              <a:rPr lang="it-IT" sz="2400" dirty="0">
                <a:latin typeface="Aptos" panose="020B0004020202020204" pitchFamily="34" charset="0"/>
              </a:rPr>
              <a:t>(</a:t>
            </a:r>
            <a:r>
              <a:rPr lang="it-IT" sz="2400" dirty="0" err="1">
                <a:latin typeface="Aptos" panose="020B0004020202020204" pitchFamily="34" charset="0"/>
              </a:rPr>
              <a:t>digital</a:t>
            </a:r>
            <a:r>
              <a:rPr lang="it-IT" sz="2400" dirty="0">
                <a:latin typeface="Aptos" panose="020B0004020202020204" pitchFamily="34" charset="0"/>
              </a:rPr>
              <a:t> </a:t>
            </a:r>
            <a:r>
              <a:rPr lang="it-IT" sz="2400" dirty="0" err="1">
                <a:latin typeface="Aptos" panose="020B0004020202020204" pitchFamily="34" charset="0"/>
              </a:rPr>
              <a:t>filter</a:t>
            </a:r>
            <a:r>
              <a:rPr lang="it-IT" sz="2400" dirty="0">
                <a:latin typeface="Aptos" panose="020B0004020202020204" pitchFamily="34" charset="0"/>
              </a:rPr>
              <a:t>)</a:t>
            </a:r>
            <a:endParaRPr lang="en-GB" sz="2400" dirty="0">
              <a:latin typeface="Aptos" panose="020B0004020202020204" pitchFamily="34" charset="0"/>
            </a:endParaRPr>
          </a:p>
        </p:txBody>
      </p:sp>
      <p:sp>
        <p:nvSpPr>
          <p:cNvPr id="5" name="Freeform 374">
            <a:extLst>
              <a:ext uri="{FF2B5EF4-FFF2-40B4-BE49-F238E27FC236}">
                <a16:creationId xmlns:a16="http://schemas.microsoft.com/office/drawing/2014/main" id="{AF2C2861-40AC-A345-9BD7-1B27D50F8EAF}"/>
              </a:ext>
            </a:extLst>
          </p:cNvPr>
          <p:cNvSpPr/>
          <p:nvPr/>
        </p:nvSpPr>
        <p:spPr>
          <a:xfrm>
            <a:off x="1774659" y="2814693"/>
            <a:ext cx="1730902" cy="811094"/>
          </a:xfrm>
          <a:custGeom>
            <a:avLst/>
            <a:gdLst>
              <a:gd name="connsiteX0" fmla="*/ 0 w 1286633"/>
              <a:gd name="connsiteY0" fmla="*/ 436970 h 517890"/>
              <a:gd name="connsiteX1" fmla="*/ 16184 w 1286633"/>
              <a:gd name="connsiteY1" fmla="*/ 461246 h 517890"/>
              <a:gd name="connsiteX2" fmla="*/ 48552 w 1286633"/>
              <a:gd name="connsiteY2" fmla="*/ 493614 h 517890"/>
              <a:gd name="connsiteX3" fmla="*/ 56644 w 1286633"/>
              <a:gd name="connsiteY3" fmla="*/ 517890 h 517890"/>
              <a:gd name="connsiteX4" fmla="*/ 64736 w 1286633"/>
              <a:gd name="connsiteY4" fmla="*/ 485522 h 517890"/>
              <a:gd name="connsiteX5" fmla="*/ 72828 w 1286633"/>
              <a:gd name="connsiteY5" fmla="*/ 461246 h 517890"/>
              <a:gd name="connsiteX6" fmla="*/ 113288 w 1286633"/>
              <a:gd name="connsiteY6" fmla="*/ 485522 h 517890"/>
              <a:gd name="connsiteX7" fmla="*/ 161840 w 1286633"/>
              <a:gd name="connsiteY7" fmla="*/ 517890 h 517890"/>
              <a:gd name="connsiteX8" fmla="*/ 178025 w 1286633"/>
              <a:gd name="connsiteY8" fmla="*/ 436970 h 517890"/>
              <a:gd name="connsiteX9" fmla="*/ 186117 w 1286633"/>
              <a:gd name="connsiteY9" fmla="*/ 331773 h 517890"/>
              <a:gd name="connsiteX10" fmla="*/ 194209 w 1286633"/>
              <a:gd name="connsiteY10" fmla="*/ 307497 h 517890"/>
              <a:gd name="connsiteX11" fmla="*/ 202301 w 1286633"/>
              <a:gd name="connsiteY11" fmla="*/ 258945 h 517890"/>
              <a:gd name="connsiteX12" fmla="*/ 210393 w 1286633"/>
              <a:gd name="connsiteY12" fmla="*/ 283221 h 517890"/>
              <a:gd name="connsiteX13" fmla="*/ 234669 w 1286633"/>
              <a:gd name="connsiteY13" fmla="*/ 275129 h 517890"/>
              <a:gd name="connsiteX14" fmla="*/ 242761 w 1286633"/>
              <a:gd name="connsiteY14" fmla="*/ 145656 h 517890"/>
              <a:gd name="connsiteX15" fmla="*/ 250853 w 1286633"/>
              <a:gd name="connsiteY15" fmla="*/ 121380 h 517890"/>
              <a:gd name="connsiteX16" fmla="*/ 275129 w 1286633"/>
              <a:gd name="connsiteY16" fmla="*/ 137564 h 517890"/>
              <a:gd name="connsiteX17" fmla="*/ 267037 w 1286633"/>
              <a:gd name="connsiteY17" fmla="*/ 89012 h 517890"/>
              <a:gd name="connsiteX18" fmla="*/ 299405 w 1286633"/>
              <a:gd name="connsiteY18" fmla="*/ 0 h 517890"/>
              <a:gd name="connsiteX19" fmla="*/ 315589 w 1286633"/>
              <a:gd name="connsiteY19" fmla="*/ 24276 h 517890"/>
              <a:gd name="connsiteX20" fmla="*/ 323681 w 1286633"/>
              <a:gd name="connsiteY20" fmla="*/ 89012 h 517890"/>
              <a:gd name="connsiteX21" fmla="*/ 331773 w 1286633"/>
              <a:gd name="connsiteY21" fmla="*/ 113288 h 517890"/>
              <a:gd name="connsiteX22" fmla="*/ 339865 w 1286633"/>
              <a:gd name="connsiteY22" fmla="*/ 153748 h 517890"/>
              <a:gd name="connsiteX23" fmla="*/ 356049 w 1286633"/>
              <a:gd name="connsiteY23" fmla="*/ 169933 h 517890"/>
              <a:gd name="connsiteX24" fmla="*/ 380325 w 1286633"/>
              <a:gd name="connsiteY24" fmla="*/ 234669 h 517890"/>
              <a:gd name="connsiteX25" fmla="*/ 396509 w 1286633"/>
              <a:gd name="connsiteY25" fmla="*/ 315589 h 517890"/>
              <a:gd name="connsiteX26" fmla="*/ 412694 w 1286633"/>
              <a:gd name="connsiteY26" fmla="*/ 364141 h 517890"/>
              <a:gd name="connsiteX27" fmla="*/ 428878 w 1286633"/>
              <a:gd name="connsiteY27" fmla="*/ 145656 h 517890"/>
              <a:gd name="connsiteX28" fmla="*/ 445062 w 1286633"/>
              <a:gd name="connsiteY28" fmla="*/ 97104 h 517890"/>
              <a:gd name="connsiteX29" fmla="*/ 461246 w 1286633"/>
              <a:gd name="connsiteY29" fmla="*/ 145656 h 517890"/>
              <a:gd name="connsiteX30" fmla="*/ 477430 w 1286633"/>
              <a:gd name="connsiteY30" fmla="*/ 202301 h 517890"/>
              <a:gd name="connsiteX31" fmla="*/ 485522 w 1286633"/>
              <a:gd name="connsiteY31" fmla="*/ 323681 h 517890"/>
              <a:gd name="connsiteX32" fmla="*/ 509798 w 1286633"/>
              <a:gd name="connsiteY32" fmla="*/ 347957 h 517890"/>
              <a:gd name="connsiteX33" fmla="*/ 534074 w 1286633"/>
              <a:gd name="connsiteY33" fmla="*/ 396509 h 517890"/>
              <a:gd name="connsiteX34" fmla="*/ 550258 w 1286633"/>
              <a:gd name="connsiteY34" fmla="*/ 420786 h 517890"/>
              <a:gd name="connsiteX35" fmla="*/ 598810 w 1286633"/>
              <a:gd name="connsiteY35" fmla="*/ 436970 h 517890"/>
              <a:gd name="connsiteX36" fmla="*/ 614994 w 1286633"/>
              <a:gd name="connsiteY36" fmla="*/ 412694 h 517890"/>
              <a:gd name="connsiteX37" fmla="*/ 631178 w 1286633"/>
              <a:gd name="connsiteY37" fmla="*/ 356049 h 517890"/>
              <a:gd name="connsiteX38" fmla="*/ 671639 w 1286633"/>
              <a:gd name="connsiteY38" fmla="*/ 436970 h 517890"/>
              <a:gd name="connsiteX39" fmla="*/ 712099 w 1286633"/>
              <a:gd name="connsiteY39" fmla="*/ 485522 h 517890"/>
              <a:gd name="connsiteX40" fmla="*/ 736375 w 1286633"/>
              <a:gd name="connsiteY40" fmla="*/ 469338 h 517890"/>
              <a:gd name="connsiteX41" fmla="*/ 809203 w 1286633"/>
              <a:gd name="connsiteY41" fmla="*/ 501706 h 517890"/>
              <a:gd name="connsiteX42" fmla="*/ 890124 w 1286633"/>
              <a:gd name="connsiteY42" fmla="*/ 501706 h 517890"/>
              <a:gd name="connsiteX43" fmla="*/ 954860 w 1286633"/>
              <a:gd name="connsiteY43" fmla="*/ 485522 h 517890"/>
              <a:gd name="connsiteX44" fmla="*/ 1116701 w 1286633"/>
              <a:gd name="connsiteY44" fmla="*/ 477430 h 517890"/>
              <a:gd name="connsiteX45" fmla="*/ 1140977 w 1286633"/>
              <a:gd name="connsiteY45" fmla="*/ 453154 h 517890"/>
              <a:gd name="connsiteX46" fmla="*/ 1157161 w 1286633"/>
              <a:gd name="connsiteY46" fmla="*/ 445062 h 517890"/>
              <a:gd name="connsiteX47" fmla="*/ 1181437 w 1286633"/>
              <a:gd name="connsiteY47" fmla="*/ 436970 h 517890"/>
              <a:gd name="connsiteX48" fmla="*/ 1205713 w 1286633"/>
              <a:gd name="connsiteY48" fmla="*/ 420786 h 517890"/>
              <a:gd name="connsiteX49" fmla="*/ 1254265 w 1286633"/>
              <a:gd name="connsiteY49" fmla="*/ 412694 h 517890"/>
              <a:gd name="connsiteX50" fmla="*/ 1278541 w 1286633"/>
              <a:gd name="connsiteY50" fmla="*/ 404602 h 517890"/>
              <a:gd name="connsiteX51" fmla="*/ 1286633 w 1286633"/>
              <a:gd name="connsiteY51" fmla="*/ 380325 h 5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86633" h="517890">
                <a:moveTo>
                  <a:pt x="0" y="436970"/>
                </a:moveTo>
                <a:cubicBezTo>
                  <a:pt x="5395" y="445062"/>
                  <a:pt x="9855" y="453862"/>
                  <a:pt x="16184" y="461246"/>
                </a:cubicBezTo>
                <a:cubicBezTo>
                  <a:pt x="26114" y="472831"/>
                  <a:pt x="39683" y="481198"/>
                  <a:pt x="48552" y="493614"/>
                </a:cubicBezTo>
                <a:cubicBezTo>
                  <a:pt x="53510" y="500555"/>
                  <a:pt x="53947" y="509798"/>
                  <a:pt x="56644" y="517890"/>
                </a:cubicBezTo>
                <a:cubicBezTo>
                  <a:pt x="59341" y="507101"/>
                  <a:pt x="61681" y="496215"/>
                  <a:pt x="64736" y="485522"/>
                </a:cubicBezTo>
                <a:cubicBezTo>
                  <a:pt x="67079" y="477320"/>
                  <a:pt x="64298" y="461246"/>
                  <a:pt x="72828" y="461246"/>
                </a:cubicBezTo>
                <a:cubicBezTo>
                  <a:pt x="88556" y="461246"/>
                  <a:pt x="100019" y="477078"/>
                  <a:pt x="113288" y="485522"/>
                </a:cubicBezTo>
                <a:cubicBezTo>
                  <a:pt x="129698" y="495965"/>
                  <a:pt x="161840" y="517890"/>
                  <a:pt x="161840" y="517890"/>
                </a:cubicBezTo>
                <a:cubicBezTo>
                  <a:pt x="169631" y="486726"/>
                  <a:pt x="174418" y="471233"/>
                  <a:pt x="178025" y="436970"/>
                </a:cubicBezTo>
                <a:cubicBezTo>
                  <a:pt x="181707" y="401994"/>
                  <a:pt x="181755" y="366671"/>
                  <a:pt x="186117" y="331773"/>
                </a:cubicBezTo>
                <a:cubicBezTo>
                  <a:pt x="187175" y="323309"/>
                  <a:pt x="192359" y="315824"/>
                  <a:pt x="194209" y="307497"/>
                </a:cubicBezTo>
                <a:cubicBezTo>
                  <a:pt x="197768" y="291480"/>
                  <a:pt x="199604" y="275129"/>
                  <a:pt x="202301" y="258945"/>
                </a:cubicBezTo>
                <a:cubicBezTo>
                  <a:pt x="204998" y="267037"/>
                  <a:pt x="202764" y="279406"/>
                  <a:pt x="210393" y="283221"/>
                </a:cubicBezTo>
                <a:cubicBezTo>
                  <a:pt x="218022" y="287036"/>
                  <a:pt x="232715" y="283432"/>
                  <a:pt x="234669" y="275129"/>
                </a:cubicBezTo>
                <a:cubicBezTo>
                  <a:pt x="244573" y="233037"/>
                  <a:pt x="238234" y="188660"/>
                  <a:pt x="242761" y="145656"/>
                </a:cubicBezTo>
                <a:cubicBezTo>
                  <a:pt x="243654" y="137173"/>
                  <a:pt x="248156" y="129472"/>
                  <a:pt x="250853" y="121380"/>
                </a:cubicBezTo>
                <a:cubicBezTo>
                  <a:pt x="258945" y="126775"/>
                  <a:pt x="270780" y="146263"/>
                  <a:pt x="275129" y="137564"/>
                </a:cubicBezTo>
                <a:cubicBezTo>
                  <a:pt x="282467" y="122889"/>
                  <a:pt x="267037" y="105419"/>
                  <a:pt x="267037" y="89012"/>
                </a:cubicBezTo>
                <a:cubicBezTo>
                  <a:pt x="267037" y="2585"/>
                  <a:pt x="252226" y="15726"/>
                  <a:pt x="299405" y="0"/>
                </a:cubicBezTo>
                <a:cubicBezTo>
                  <a:pt x="304800" y="8092"/>
                  <a:pt x="313030" y="14893"/>
                  <a:pt x="315589" y="24276"/>
                </a:cubicBezTo>
                <a:cubicBezTo>
                  <a:pt x="321311" y="45256"/>
                  <a:pt x="319791" y="67616"/>
                  <a:pt x="323681" y="89012"/>
                </a:cubicBezTo>
                <a:cubicBezTo>
                  <a:pt x="325207" y="97404"/>
                  <a:pt x="329704" y="105013"/>
                  <a:pt x="331773" y="113288"/>
                </a:cubicBezTo>
                <a:cubicBezTo>
                  <a:pt x="335109" y="126631"/>
                  <a:pt x="334447" y="141106"/>
                  <a:pt x="339865" y="153748"/>
                </a:cubicBezTo>
                <a:cubicBezTo>
                  <a:pt x="342870" y="160761"/>
                  <a:pt x="350654" y="164538"/>
                  <a:pt x="356049" y="169933"/>
                </a:cubicBezTo>
                <a:cubicBezTo>
                  <a:pt x="376572" y="272550"/>
                  <a:pt x="349070" y="161741"/>
                  <a:pt x="380325" y="234669"/>
                </a:cubicBezTo>
                <a:cubicBezTo>
                  <a:pt x="388394" y="253498"/>
                  <a:pt x="392493" y="299524"/>
                  <a:pt x="396509" y="315589"/>
                </a:cubicBezTo>
                <a:cubicBezTo>
                  <a:pt x="400647" y="332139"/>
                  <a:pt x="412694" y="364141"/>
                  <a:pt x="412694" y="364141"/>
                </a:cubicBezTo>
                <a:cubicBezTo>
                  <a:pt x="443499" y="271725"/>
                  <a:pt x="403537" y="399070"/>
                  <a:pt x="428878" y="145656"/>
                </a:cubicBezTo>
                <a:cubicBezTo>
                  <a:pt x="430575" y="128681"/>
                  <a:pt x="445062" y="97104"/>
                  <a:pt x="445062" y="97104"/>
                </a:cubicBezTo>
                <a:cubicBezTo>
                  <a:pt x="450457" y="113288"/>
                  <a:pt x="457109" y="129106"/>
                  <a:pt x="461246" y="145656"/>
                </a:cubicBezTo>
                <a:cubicBezTo>
                  <a:pt x="471407" y="186300"/>
                  <a:pt x="465821" y="167474"/>
                  <a:pt x="477430" y="202301"/>
                </a:cubicBezTo>
                <a:cubicBezTo>
                  <a:pt x="480127" y="242761"/>
                  <a:pt x="476726" y="284097"/>
                  <a:pt x="485522" y="323681"/>
                </a:cubicBezTo>
                <a:cubicBezTo>
                  <a:pt x="488005" y="334852"/>
                  <a:pt x="503450" y="338435"/>
                  <a:pt x="509798" y="347957"/>
                </a:cubicBezTo>
                <a:cubicBezTo>
                  <a:pt x="519835" y="363012"/>
                  <a:pt x="525287" y="380692"/>
                  <a:pt x="534074" y="396509"/>
                </a:cubicBezTo>
                <a:cubicBezTo>
                  <a:pt x="538797" y="405011"/>
                  <a:pt x="542011" y="415631"/>
                  <a:pt x="550258" y="420786"/>
                </a:cubicBezTo>
                <a:cubicBezTo>
                  <a:pt x="564724" y="429828"/>
                  <a:pt x="598810" y="436970"/>
                  <a:pt x="598810" y="436970"/>
                </a:cubicBezTo>
                <a:cubicBezTo>
                  <a:pt x="604205" y="428878"/>
                  <a:pt x="610645" y="421393"/>
                  <a:pt x="614994" y="412694"/>
                </a:cubicBezTo>
                <a:cubicBezTo>
                  <a:pt x="620798" y="401086"/>
                  <a:pt x="628586" y="366418"/>
                  <a:pt x="631178" y="356049"/>
                </a:cubicBezTo>
                <a:cubicBezTo>
                  <a:pt x="651628" y="417397"/>
                  <a:pt x="637127" y="390954"/>
                  <a:pt x="671639" y="436970"/>
                </a:cubicBezTo>
                <a:cubicBezTo>
                  <a:pt x="678729" y="458239"/>
                  <a:pt x="681235" y="481113"/>
                  <a:pt x="712099" y="485522"/>
                </a:cubicBezTo>
                <a:cubicBezTo>
                  <a:pt x="721727" y="486897"/>
                  <a:pt x="728283" y="474733"/>
                  <a:pt x="736375" y="469338"/>
                </a:cubicBezTo>
                <a:cubicBezTo>
                  <a:pt x="794153" y="488597"/>
                  <a:pt x="770733" y="476059"/>
                  <a:pt x="809203" y="501706"/>
                </a:cubicBezTo>
                <a:cubicBezTo>
                  <a:pt x="884385" y="482910"/>
                  <a:pt x="790920" y="501706"/>
                  <a:pt x="890124" y="501706"/>
                </a:cubicBezTo>
                <a:cubicBezTo>
                  <a:pt x="997172" y="501706"/>
                  <a:pt x="881427" y="491907"/>
                  <a:pt x="954860" y="485522"/>
                </a:cubicBezTo>
                <a:cubicBezTo>
                  <a:pt x="1008671" y="480843"/>
                  <a:pt x="1062754" y="480127"/>
                  <a:pt x="1116701" y="477430"/>
                </a:cubicBezTo>
                <a:cubicBezTo>
                  <a:pt x="1124793" y="469338"/>
                  <a:pt x="1137358" y="464011"/>
                  <a:pt x="1140977" y="453154"/>
                </a:cubicBezTo>
                <a:cubicBezTo>
                  <a:pt x="1148084" y="431834"/>
                  <a:pt x="1104952" y="410256"/>
                  <a:pt x="1157161" y="445062"/>
                </a:cubicBezTo>
                <a:cubicBezTo>
                  <a:pt x="1165253" y="442365"/>
                  <a:pt x="1173808" y="440785"/>
                  <a:pt x="1181437" y="436970"/>
                </a:cubicBezTo>
                <a:cubicBezTo>
                  <a:pt x="1190136" y="432621"/>
                  <a:pt x="1196487" y="423861"/>
                  <a:pt x="1205713" y="420786"/>
                </a:cubicBezTo>
                <a:cubicBezTo>
                  <a:pt x="1221278" y="415598"/>
                  <a:pt x="1238248" y="416253"/>
                  <a:pt x="1254265" y="412694"/>
                </a:cubicBezTo>
                <a:cubicBezTo>
                  <a:pt x="1262592" y="410844"/>
                  <a:pt x="1270449" y="407299"/>
                  <a:pt x="1278541" y="404602"/>
                </a:cubicBezTo>
                <a:lnTo>
                  <a:pt x="1286633" y="380325"/>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sp>
        <p:nvSpPr>
          <p:cNvPr id="6" name="Freeform 355">
            <a:extLst>
              <a:ext uri="{FF2B5EF4-FFF2-40B4-BE49-F238E27FC236}">
                <a16:creationId xmlns:a16="http://schemas.microsoft.com/office/drawing/2014/main" id="{B55B2CBF-E488-CC48-A261-9017AE29DA85}"/>
              </a:ext>
            </a:extLst>
          </p:cNvPr>
          <p:cNvSpPr/>
          <p:nvPr/>
        </p:nvSpPr>
        <p:spPr>
          <a:xfrm>
            <a:off x="9138879" y="2770469"/>
            <a:ext cx="1657820" cy="855318"/>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86669" h="590549">
                <a:moveTo>
                  <a:pt x="0" y="576262"/>
                </a:moveTo>
                <a:cubicBezTo>
                  <a:pt x="42862" y="583405"/>
                  <a:pt x="85725" y="590549"/>
                  <a:pt x="114300" y="566737"/>
                </a:cubicBezTo>
                <a:cubicBezTo>
                  <a:pt x="142875" y="542925"/>
                  <a:pt x="155575" y="492124"/>
                  <a:pt x="171450" y="433387"/>
                </a:cubicBezTo>
                <a:cubicBezTo>
                  <a:pt x="187325" y="374650"/>
                  <a:pt x="195263" y="282574"/>
                  <a:pt x="209550" y="214312"/>
                </a:cubicBezTo>
                <a:cubicBezTo>
                  <a:pt x="223837" y="146050"/>
                  <a:pt x="234950" y="0"/>
                  <a:pt x="257175" y="23812"/>
                </a:cubicBezTo>
                <a:cubicBezTo>
                  <a:pt x="279400" y="47624"/>
                  <a:pt x="317500" y="330200"/>
                  <a:pt x="342900" y="357187"/>
                </a:cubicBezTo>
                <a:cubicBezTo>
                  <a:pt x="368300" y="384175"/>
                  <a:pt x="384175" y="174625"/>
                  <a:pt x="409575" y="185737"/>
                </a:cubicBezTo>
                <a:cubicBezTo>
                  <a:pt x="434975" y="196849"/>
                  <a:pt x="471488" y="381000"/>
                  <a:pt x="495300" y="423862"/>
                </a:cubicBezTo>
                <a:cubicBezTo>
                  <a:pt x="519113" y="466725"/>
                  <a:pt x="533400" y="442912"/>
                  <a:pt x="552450" y="442912"/>
                </a:cubicBezTo>
                <a:cubicBezTo>
                  <a:pt x="571500" y="442912"/>
                  <a:pt x="571500" y="403225"/>
                  <a:pt x="609600" y="423862"/>
                </a:cubicBezTo>
                <a:cubicBezTo>
                  <a:pt x="647700" y="444499"/>
                  <a:pt x="668205" y="554233"/>
                  <a:pt x="781050" y="566737"/>
                </a:cubicBezTo>
                <a:cubicBezTo>
                  <a:pt x="893895" y="579241"/>
                  <a:pt x="1133475" y="575607"/>
                  <a:pt x="1286669" y="498884"/>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cxnSp>
        <p:nvCxnSpPr>
          <p:cNvPr id="7" name="Connettore 2 6"/>
          <p:cNvCxnSpPr/>
          <p:nvPr/>
        </p:nvCxnSpPr>
        <p:spPr>
          <a:xfrm flipV="1">
            <a:off x="2923034" y="3887292"/>
            <a:ext cx="1595189"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p:cNvCxnSpPr/>
          <p:nvPr/>
        </p:nvCxnSpPr>
        <p:spPr>
          <a:xfrm flipV="1">
            <a:off x="7701576" y="3853202"/>
            <a:ext cx="1595189"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CasellaDiTesto 8"/>
          <p:cNvSpPr txBox="1"/>
          <p:nvPr/>
        </p:nvSpPr>
        <p:spPr>
          <a:xfrm>
            <a:off x="2273968" y="2326135"/>
            <a:ext cx="1816768" cy="400110"/>
          </a:xfrm>
          <a:prstGeom prst="rect">
            <a:avLst/>
          </a:prstGeom>
          <a:noFill/>
        </p:spPr>
        <p:txBody>
          <a:bodyPr wrap="square" rtlCol="0">
            <a:spAutoFit/>
          </a:bodyPr>
          <a:lstStyle/>
          <a:p>
            <a:r>
              <a:rPr lang="it-IT" sz="2000" dirty="0" err="1">
                <a:latin typeface="Aptos" panose="020B0004020202020204" pitchFamily="34" charset="0"/>
              </a:rPr>
              <a:t>Noisy</a:t>
            </a:r>
            <a:r>
              <a:rPr lang="it-IT" sz="2000" dirty="0">
                <a:latin typeface="Aptos" panose="020B0004020202020204" pitchFamily="34" charset="0"/>
              </a:rPr>
              <a:t> </a:t>
            </a:r>
            <a:r>
              <a:rPr lang="it-IT" sz="2000" dirty="0" err="1">
                <a:latin typeface="Aptos" panose="020B0004020202020204" pitchFamily="34" charset="0"/>
              </a:rPr>
              <a:t>signal</a:t>
            </a:r>
            <a:endParaRPr lang="en-GB" sz="2400" dirty="0">
              <a:latin typeface="Aptos" panose="020B0004020202020204" pitchFamily="34" charset="0"/>
            </a:endParaRPr>
          </a:p>
        </p:txBody>
      </p:sp>
      <p:sp>
        <p:nvSpPr>
          <p:cNvPr id="10" name="CasellaDiTesto 9"/>
          <p:cNvSpPr txBox="1"/>
          <p:nvPr/>
        </p:nvSpPr>
        <p:spPr>
          <a:xfrm>
            <a:off x="8881310" y="2329158"/>
            <a:ext cx="1816768" cy="400110"/>
          </a:xfrm>
          <a:prstGeom prst="rect">
            <a:avLst/>
          </a:prstGeom>
          <a:noFill/>
        </p:spPr>
        <p:txBody>
          <a:bodyPr wrap="square" rtlCol="0">
            <a:spAutoFit/>
          </a:bodyPr>
          <a:lstStyle/>
          <a:p>
            <a:r>
              <a:rPr lang="it-IT" sz="2000" dirty="0" err="1">
                <a:latin typeface="Aptos" panose="020B0004020202020204" pitchFamily="34" charset="0"/>
              </a:rPr>
              <a:t>Clean</a:t>
            </a:r>
            <a:r>
              <a:rPr lang="it-IT" sz="2000" dirty="0">
                <a:latin typeface="Aptos" panose="020B0004020202020204" pitchFamily="34" charset="0"/>
              </a:rPr>
              <a:t> </a:t>
            </a:r>
            <a:r>
              <a:rPr lang="it-IT" sz="2000" dirty="0" err="1">
                <a:latin typeface="Aptos" panose="020B0004020202020204" pitchFamily="34" charset="0"/>
              </a:rPr>
              <a:t>signal</a:t>
            </a:r>
            <a:endParaRPr lang="en-GB" sz="2400" dirty="0">
              <a:latin typeface="Aptos" panose="020B0004020202020204" pitchFamily="34" charset="0"/>
            </a:endParaRPr>
          </a:p>
        </p:txBody>
      </p:sp>
      <p:sp>
        <p:nvSpPr>
          <p:cNvPr id="11" name="Segnaposto contenuto 2"/>
          <p:cNvSpPr txBox="1">
            <a:spLocks/>
          </p:cNvSpPr>
          <p:nvPr/>
        </p:nvSpPr>
        <p:spPr>
          <a:xfrm>
            <a:off x="428172" y="4910776"/>
            <a:ext cx="5479333" cy="115343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latin typeface="Aptos" panose="020B0004020202020204" pitchFamily="34" charset="0"/>
              </a:rPr>
              <a:t>Non-causal filters</a:t>
            </a:r>
            <a:r>
              <a:rPr lang="en-US" dirty="0">
                <a:latin typeface="Aptos" panose="020B0004020202020204" pitchFamily="34" charset="0"/>
              </a:rPr>
              <a:t>: the filter output depends on past and future inputs </a:t>
            </a:r>
            <a:r>
              <a:rPr lang="en-US" dirty="0">
                <a:latin typeface="Aptos" panose="020B0004020202020204" pitchFamily="34" charset="0"/>
                <a:sym typeface="Wingdings" panose="05000000000000000000" pitchFamily="2" charset="2"/>
              </a:rPr>
              <a:t> for </a:t>
            </a:r>
            <a:r>
              <a:rPr lang="en-US" u="sng" dirty="0">
                <a:latin typeface="Aptos" panose="020B0004020202020204" pitchFamily="34" charset="0"/>
                <a:sym typeface="Wingdings" panose="05000000000000000000" pitchFamily="2" charset="2"/>
              </a:rPr>
              <a:t>offline</a:t>
            </a:r>
            <a:r>
              <a:rPr lang="en-US" dirty="0">
                <a:latin typeface="Aptos" panose="020B0004020202020204" pitchFamily="34" charset="0"/>
                <a:sym typeface="Wingdings" panose="05000000000000000000" pitchFamily="2" charset="2"/>
              </a:rPr>
              <a:t> use only</a:t>
            </a:r>
            <a:endParaRPr lang="en-US" dirty="0">
              <a:latin typeface="Aptos" panose="020B0004020202020204" pitchFamily="34" charset="0"/>
            </a:endParaRPr>
          </a:p>
          <a:p>
            <a:endParaRPr lang="en-US" dirty="0">
              <a:latin typeface="Aptos" panose="020B0004020202020204" pitchFamily="34" charset="0"/>
            </a:endParaRPr>
          </a:p>
        </p:txBody>
      </p:sp>
      <p:sp>
        <p:nvSpPr>
          <p:cNvPr id="12" name="Segnaposto contenuto 2"/>
          <p:cNvSpPr txBox="1">
            <a:spLocks/>
          </p:cNvSpPr>
          <p:nvPr/>
        </p:nvSpPr>
        <p:spPr>
          <a:xfrm>
            <a:off x="6715897" y="4910776"/>
            <a:ext cx="5362833" cy="146262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latin typeface="Aptos" panose="020B0004020202020204" pitchFamily="34" charset="0"/>
              </a:rPr>
              <a:t>Causal filte</a:t>
            </a:r>
            <a:r>
              <a:rPr lang="en-US" dirty="0">
                <a:latin typeface="Aptos" panose="020B0004020202020204" pitchFamily="34" charset="0"/>
              </a:rPr>
              <a:t>rs: </a:t>
            </a:r>
            <a:r>
              <a:rPr lang="en-GB" dirty="0">
                <a:latin typeface="Aptos" panose="020B0004020202020204" pitchFamily="34" charset="0"/>
              </a:rPr>
              <a:t>the filter output depends only on past and present inputs </a:t>
            </a:r>
            <a:r>
              <a:rPr lang="en-GB" dirty="0">
                <a:latin typeface="Aptos" panose="020B0004020202020204" pitchFamily="34" charset="0"/>
                <a:sym typeface="Wingdings" panose="05000000000000000000" pitchFamily="2" charset="2"/>
              </a:rPr>
              <a:t> suitable for </a:t>
            </a:r>
            <a:r>
              <a:rPr lang="en-GB" u="sng" dirty="0">
                <a:latin typeface="Aptos" panose="020B0004020202020204" pitchFamily="34" charset="0"/>
                <a:sym typeface="Wingdings" panose="05000000000000000000" pitchFamily="2" charset="2"/>
              </a:rPr>
              <a:t>online</a:t>
            </a:r>
            <a:r>
              <a:rPr lang="en-GB" dirty="0">
                <a:latin typeface="Aptos" panose="020B0004020202020204" pitchFamily="34" charset="0"/>
                <a:sym typeface="Wingdings" panose="05000000000000000000" pitchFamily="2" charset="2"/>
              </a:rPr>
              <a:t> application</a:t>
            </a:r>
            <a:endParaRPr lang="en-US" dirty="0">
              <a:latin typeface="Aptos" panose="020B0004020202020204" pitchFamily="34" charset="0"/>
            </a:endParaRPr>
          </a:p>
          <a:p>
            <a:endParaRPr lang="en-US" dirty="0">
              <a:latin typeface="Aptos" panose="020B0004020202020204" pitchFamily="34" charset="0"/>
            </a:endParaRPr>
          </a:p>
        </p:txBody>
      </p:sp>
      <p:sp>
        <p:nvSpPr>
          <p:cNvPr id="13" name="Segnaposto numero diapositiva 12"/>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3225503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Fault </a:t>
            </a:r>
            <a:r>
              <a:rPr lang="it-IT" dirty="0" err="1"/>
              <a:t>detection</a:t>
            </a:r>
            <a:endParaRPr lang="en-GB" dirty="0"/>
          </a:p>
        </p:txBody>
      </p:sp>
      <p:sp>
        <p:nvSpPr>
          <p:cNvPr id="3" name="Segnaposto contenuto 2"/>
          <p:cNvSpPr>
            <a:spLocks noGrp="1"/>
          </p:cNvSpPr>
          <p:nvPr>
            <p:ph idx="1"/>
          </p:nvPr>
        </p:nvSpPr>
        <p:spPr>
          <a:xfrm>
            <a:off x="428172" y="1455727"/>
            <a:ext cx="5966550" cy="1561297"/>
          </a:xfrm>
        </p:spPr>
        <p:txBody>
          <a:bodyPr>
            <a:normAutofit/>
          </a:bodyPr>
          <a:lstStyle/>
          <a:p>
            <a:r>
              <a:rPr lang="en-US" dirty="0"/>
              <a:t>Detection of temporary sensor errors also called faults or artifacts</a:t>
            </a:r>
          </a:p>
          <a:p>
            <a:r>
              <a:rPr lang="en-US" dirty="0"/>
              <a:t>Example: pressure-induced signal suppression in a CGM signal</a:t>
            </a:r>
          </a:p>
        </p:txBody>
      </p:sp>
      <p:sp>
        <p:nvSpPr>
          <p:cNvPr id="4" name="Segnaposto numero diapositiva 3"/>
          <p:cNvSpPr>
            <a:spLocks noGrp="1"/>
          </p:cNvSpPr>
          <p:nvPr>
            <p:ph type="sldNum" sz="quarter" idx="12"/>
          </p:nvPr>
        </p:nvSpPr>
        <p:spPr>
          <a:xfrm>
            <a:off x="8512862" y="6359787"/>
            <a:ext cx="3185886" cy="365125"/>
          </a:xfrm>
        </p:spPr>
        <p:txBody>
          <a:bodyPr/>
          <a:lstStyle/>
          <a:p>
            <a:fld id="{31DE2C5B-556E-47B8-A792-024C2FCA4ACC}" type="slidenum">
              <a:rPr lang="en-GB" smtClean="0"/>
              <a:t>39</a:t>
            </a:fld>
            <a:endParaRPr lang="en-GB"/>
          </a:p>
        </p:txBody>
      </p:sp>
      <p:grpSp>
        <p:nvGrpSpPr>
          <p:cNvPr id="7" name="Gruppo 6"/>
          <p:cNvGrpSpPr/>
          <p:nvPr/>
        </p:nvGrpSpPr>
        <p:grpSpPr>
          <a:xfrm>
            <a:off x="6366527" y="1211717"/>
            <a:ext cx="4096376" cy="2945663"/>
            <a:chOff x="3832329" y="2592806"/>
            <a:chExt cx="4560000" cy="3194384"/>
          </a:xfrm>
        </p:grpSpPr>
        <p:pic>
          <p:nvPicPr>
            <p:cNvPr id="5" name="Immagine 4">
              <a:extLst>
                <a:ext uri="{FF2B5EF4-FFF2-40B4-BE49-F238E27FC236}">
                  <a16:creationId xmlns:a16="http://schemas.microsoft.com/office/drawing/2014/main" id="{9980C7DD-8EB6-41C0-8D33-09CA68DFEFB4}"/>
                </a:ext>
              </a:extLst>
            </p:cNvPr>
            <p:cNvPicPr>
              <a:picLocks noChangeAspect="1"/>
            </p:cNvPicPr>
            <p:nvPr/>
          </p:nvPicPr>
          <p:blipFill rotWithShape="1">
            <a:blip r:embed="rId2"/>
            <a:srcRect t="6597"/>
            <a:stretch/>
          </p:blipFill>
          <p:spPr>
            <a:xfrm>
              <a:off x="3832329" y="2592806"/>
              <a:ext cx="4560000" cy="3194384"/>
            </a:xfrm>
            <a:prstGeom prst="rect">
              <a:avLst/>
            </a:prstGeom>
          </p:spPr>
        </p:pic>
        <p:sp>
          <p:nvSpPr>
            <p:cNvPr id="6" name="Rettangolo 5"/>
            <p:cNvSpPr/>
            <p:nvPr/>
          </p:nvSpPr>
          <p:spPr>
            <a:xfrm>
              <a:off x="7531768" y="5630779"/>
              <a:ext cx="553453" cy="1564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grpSp>
      <p:sp>
        <p:nvSpPr>
          <p:cNvPr id="8" name="Rettangolo 7"/>
          <p:cNvSpPr/>
          <p:nvPr/>
        </p:nvSpPr>
        <p:spPr>
          <a:xfrm>
            <a:off x="2514860" y="4934928"/>
            <a:ext cx="1894608" cy="1359568"/>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Fault </a:t>
            </a:r>
            <a:r>
              <a:rPr lang="it-IT" dirty="0" err="1">
                <a:latin typeface="Aptos" panose="020B0004020202020204" pitchFamily="34" charset="0"/>
              </a:rPr>
              <a:t>detection</a:t>
            </a:r>
            <a:r>
              <a:rPr lang="it-IT" dirty="0">
                <a:latin typeface="Aptos" panose="020B0004020202020204" pitchFamily="34" charset="0"/>
              </a:rPr>
              <a:t> </a:t>
            </a:r>
            <a:r>
              <a:rPr lang="it-IT" dirty="0" err="1">
                <a:latin typeface="Aptos" panose="020B0004020202020204" pitchFamily="34" charset="0"/>
              </a:rPr>
              <a:t>algorithm</a:t>
            </a:r>
            <a:endParaRPr lang="it-IT" dirty="0">
              <a:latin typeface="Aptos" panose="020B0004020202020204" pitchFamily="34" charset="0"/>
            </a:endParaRPr>
          </a:p>
        </p:txBody>
      </p:sp>
      <p:sp>
        <p:nvSpPr>
          <p:cNvPr id="10" name="Freeform 355">
            <a:extLst>
              <a:ext uri="{FF2B5EF4-FFF2-40B4-BE49-F238E27FC236}">
                <a16:creationId xmlns:a16="http://schemas.microsoft.com/office/drawing/2014/main" id="{B55B2CBF-E488-CC48-A261-9017AE29DA85}"/>
              </a:ext>
            </a:extLst>
          </p:cNvPr>
          <p:cNvSpPr/>
          <p:nvPr/>
        </p:nvSpPr>
        <p:spPr>
          <a:xfrm>
            <a:off x="428172" y="4692824"/>
            <a:ext cx="1730010" cy="867919"/>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495300 w 1286669"/>
              <a:gd name="connsiteY7" fmla="*/ 400357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763677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78855"/>
              <a:gd name="connsiteX1" fmla="*/ 114300 w 1286669"/>
              <a:gd name="connsiteY1" fmla="*/ 543232 h 578855"/>
              <a:gd name="connsiteX2" fmla="*/ 171450 w 1286669"/>
              <a:gd name="connsiteY2" fmla="*/ 409882 h 578855"/>
              <a:gd name="connsiteX3" fmla="*/ 209550 w 1286669"/>
              <a:gd name="connsiteY3" fmla="*/ 190807 h 578855"/>
              <a:gd name="connsiteX4" fmla="*/ 257175 w 1286669"/>
              <a:gd name="connsiteY4" fmla="*/ 307 h 578855"/>
              <a:gd name="connsiteX5" fmla="*/ 356907 w 1286669"/>
              <a:gd name="connsiteY5" fmla="*/ 146772 h 578855"/>
              <a:gd name="connsiteX6" fmla="*/ 409575 w 1286669"/>
              <a:gd name="connsiteY6" fmla="*/ 162232 h 578855"/>
              <a:gd name="connsiteX7" fmla="*/ 527983 w 1286669"/>
              <a:gd name="connsiteY7" fmla="*/ 288211 h 578855"/>
              <a:gd name="connsiteX8" fmla="*/ 659836 w 1286669"/>
              <a:gd name="connsiteY8" fmla="*/ 527400 h 578855"/>
              <a:gd name="connsiteX9" fmla="*/ 763677 w 1286669"/>
              <a:gd name="connsiteY9" fmla="*/ 400357 h 578855"/>
              <a:gd name="connsiteX10" fmla="*/ 1023837 w 1286669"/>
              <a:gd name="connsiteY10" fmla="*/ 576461 h 578855"/>
              <a:gd name="connsiteX11" fmla="*/ 1286669 w 1286669"/>
              <a:gd name="connsiteY11" fmla="*/ 475379 h 578855"/>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59836 w 1342697"/>
              <a:gd name="connsiteY8" fmla="*/ 527400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679635 w 1342697"/>
              <a:gd name="connsiteY9" fmla="*/ 354668 h 599232"/>
              <a:gd name="connsiteX10" fmla="*/ 1023837 w 1342697"/>
              <a:gd name="connsiteY10" fmla="*/ 576461 h 599232"/>
              <a:gd name="connsiteX11" fmla="*/ 1342697 w 1342697"/>
              <a:gd name="connsiteY11" fmla="*/ 554297 h 599232"/>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79635 w 1342697"/>
              <a:gd name="connsiteY9" fmla="*/ 354685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98312 w 1342697"/>
              <a:gd name="connsiteY9" fmla="*/ 308996 h 599249"/>
              <a:gd name="connsiteX10" fmla="*/ 1023837 w 1342697"/>
              <a:gd name="connsiteY10" fmla="*/ 576478 h 599249"/>
              <a:gd name="connsiteX11" fmla="*/ 1342697 w 1342697"/>
              <a:gd name="connsiteY11" fmla="*/ 554314 h 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42697" h="599249">
                <a:moveTo>
                  <a:pt x="0" y="552774"/>
                </a:moveTo>
                <a:cubicBezTo>
                  <a:pt x="42862" y="559917"/>
                  <a:pt x="85725" y="567061"/>
                  <a:pt x="114300" y="543249"/>
                </a:cubicBezTo>
                <a:cubicBezTo>
                  <a:pt x="142875" y="519437"/>
                  <a:pt x="155575" y="468636"/>
                  <a:pt x="171450" y="409899"/>
                </a:cubicBezTo>
                <a:cubicBezTo>
                  <a:pt x="187325" y="351162"/>
                  <a:pt x="195263" y="259086"/>
                  <a:pt x="209550" y="190824"/>
                </a:cubicBezTo>
                <a:cubicBezTo>
                  <a:pt x="223837" y="122562"/>
                  <a:pt x="232616" y="7663"/>
                  <a:pt x="257175" y="324"/>
                </a:cubicBezTo>
                <a:cubicBezTo>
                  <a:pt x="281735" y="-7015"/>
                  <a:pt x="326060" y="112187"/>
                  <a:pt x="356907" y="146789"/>
                </a:cubicBezTo>
                <a:cubicBezTo>
                  <a:pt x="387754" y="181392"/>
                  <a:pt x="408298" y="184366"/>
                  <a:pt x="442258" y="207939"/>
                </a:cubicBezTo>
                <a:cubicBezTo>
                  <a:pt x="476218" y="231512"/>
                  <a:pt x="539188" y="244673"/>
                  <a:pt x="560666" y="288228"/>
                </a:cubicBezTo>
                <a:cubicBezTo>
                  <a:pt x="582144" y="331783"/>
                  <a:pt x="548185" y="465806"/>
                  <a:pt x="571126" y="469267"/>
                </a:cubicBezTo>
                <a:cubicBezTo>
                  <a:pt x="594067" y="472728"/>
                  <a:pt x="622860" y="291128"/>
                  <a:pt x="698312" y="308996"/>
                </a:cubicBezTo>
                <a:cubicBezTo>
                  <a:pt x="773764" y="326864"/>
                  <a:pt x="910992" y="563974"/>
                  <a:pt x="1023837" y="576478"/>
                </a:cubicBezTo>
                <a:cubicBezTo>
                  <a:pt x="1136682" y="588982"/>
                  <a:pt x="1189503" y="631037"/>
                  <a:pt x="1342697" y="554314"/>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cxnSp>
        <p:nvCxnSpPr>
          <p:cNvPr id="11" name="Connettore 2 10"/>
          <p:cNvCxnSpPr/>
          <p:nvPr/>
        </p:nvCxnSpPr>
        <p:spPr>
          <a:xfrm flipV="1">
            <a:off x="919671" y="5652935"/>
            <a:ext cx="1595189"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p:cNvCxnSpPr>
            <a:stCxn id="8" idx="3"/>
            <a:endCxn id="15" idx="1"/>
          </p:cNvCxnSpPr>
          <p:nvPr/>
        </p:nvCxnSpPr>
        <p:spPr>
          <a:xfrm flipV="1">
            <a:off x="4409468" y="5594361"/>
            <a:ext cx="2489063" cy="2035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CasellaDiTesto 12"/>
          <p:cNvSpPr txBox="1"/>
          <p:nvPr/>
        </p:nvSpPr>
        <p:spPr>
          <a:xfrm>
            <a:off x="443724" y="4192755"/>
            <a:ext cx="2547082" cy="369332"/>
          </a:xfrm>
          <a:prstGeom prst="rect">
            <a:avLst/>
          </a:prstGeom>
          <a:noFill/>
        </p:spPr>
        <p:txBody>
          <a:bodyPr wrap="square" rtlCol="0">
            <a:spAutoFit/>
          </a:bodyPr>
          <a:lstStyle/>
          <a:p>
            <a:r>
              <a:rPr lang="it-IT" dirty="0" err="1">
                <a:latin typeface="Aptos" panose="020B0004020202020204" pitchFamily="34" charset="0"/>
              </a:rPr>
              <a:t>Measured</a:t>
            </a:r>
            <a:r>
              <a:rPr lang="it-IT" dirty="0">
                <a:latin typeface="Aptos" panose="020B0004020202020204" pitchFamily="34" charset="0"/>
              </a:rPr>
              <a:t> </a:t>
            </a:r>
            <a:r>
              <a:rPr lang="it-IT" dirty="0" err="1">
                <a:latin typeface="Aptos" panose="020B0004020202020204" pitchFamily="34" charset="0"/>
              </a:rPr>
              <a:t>signal</a:t>
            </a:r>
            <a:endParaRPr lang="en-GB" sz="2000" dirty="0">
              <a:latin typeface="Aptos" panose="020B0004020202020204" pitchFamily="34" charset="0"/>
            </a:endParaRPr>
          </a:p>
        </p:txBody>
      </p:sp>
      <p:sp>
        <p:nvSpPr>
          <p:cNvPr id="14" name="CasellaDiTesto 13"/>
          <p:cNvSpPr txBox="1"/>
          <p:nvPr/>
        </p:nvSpPr>
        <p:spPr>
          <a:xfrm>
            <a:off x="9071189" y="4192755"/>
            <a:ext cx="2813355" cy="369332"/>
          </a:xfrm>
          <a:prstGeom prst="rect">
            <a:avLst/>
          </a:prstGeom>
          <a:noFill/>
        </p:spPr>
        <p:txBody>
          <a:bodyPr wrap="square" rtlCol="0">
            <a:spAutoFit/>
          </a:bodyPr>
          <a:lstStyle/>
          <a:p>
            <a:r>
              <a:rPr lang="it-IT" dirty="0" err="1">
                <a:latin typeface="Aptos" panose="020B0004020202020204" pitchFamily="34" charset="0"/>
              </a:rPr>
              <a:t>Reconstructed</a:t>
            </a:r>
            <a:r>
              <a:rPr lang="it-IT" dirty="0">
                <a:latin typeface="Aptos" panose="020B0004020202020204" pitchFamily="34" charset="0"/>
              </a:rPr>
              <a:t> </a:t>
            </a:r>
            <a:r>
              <a:rPr lang="it-IT" dirty="0" err="1">
                <a:latin typeface="Aptos" panose="020B0004020202020204" pitchFamily="34" charset="0"/>
              </a:rPr>
              <a:t>signal</a:t>
            </a:r>
            <a:endParaRPr lang="en-GB" sz="2000" dirty="0">
              <a:latin typeface="Aptos" panose="020B0004020202020204" pitchFamily="34" charset="0"/>
            </a:endParaRPr>
          </a:p>
        </p:txBody>
      </p:sp>
      <p:sp>
        <p:nvSpPr>
          <p:cNvPr id="15" name="Rettangolo 14"/>
          <p:cNvSpPr/>
          <p:nvPr/>
        </p:nvSpPr>
        <p:spPr>
          <a:xfrm>
            <a:off x="6898531" y="4914577"/>
            <a:ext cx="2490537" cy="1359568"/>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latin typeface="Aptos" panose="020B0004020202020204" pitchFamily="34" charset="0"/>
              </a:rPr>
              <a:t>Signal</a:t>
            </a:r>
            <a:r>
              <a:rPr lang="it-IT" dirty="0">
                <a:latin typeface="Aptos" panose="020B0004020202020204" pitchFamily="34" charset="0"/>
              </a:rPr>
              <a:t> </a:t>
            </a:r>
            <a:r>
              <a:rPr lang="it-IT" dirty="0" err="1">
                <a:latin typeface="Aptos" panose="020B0004020202020204" pitchFamily="34" charset="0"/>
              </a:rPr>
              <a:t>reconstruction</a:t>
            </a:r>
            <a:r>
              <a:rPr lang="it-IT" dirty="0">
                <a:latin typeface="Aptos" panose="020B0004020202020204" pitchFamily="34" charset="0"/>
              </a:rPr>
              <a:t> </a:t>
            </a:r>
            <a:r>
              <a:rPr lang="it-IT" dirty="0" err="1">
                <a:latin typeface="Aptos" panose="020B0004020202020204" pitchFamily="34" charset="0"/>
              </a:rPr>
              <a:t>algorithm</a:t>
            </a:r>
            <a:r>
              <a:rPr lang="it-IT" dirty="0">
                <a:latin typeface="Aptos" panose="020B0004020202020204" pitchFamily="34" charset="0"/>
              </a:rPr>
              <a:t> </a:t>
            </a:r>
          </a:p>
          <a:p>
            <a:pPr algn="ctr"/>
            <a:r>
              <a:rPr lang="it-IT" dirty="0">
                <a:latin typeface="Aptos" panose="020B0004020202020204" pitchFamily="34" charset="0"/>
              </a:rPr>
              <a:t>(e.g. </a:t>
            </a:r>
            <a:r>
              <a:rPr lang="it-IT" dirty="0" err="1">
                <a:latin typeface="Aptos" panose="020B0004020202020204" pitchFamily="34" charset="0"/>
              </a:rPr>
              <a:t>interpolation</a:t>
            </a:r>
            <a:r>
              <a:rPr lang="it-IT" dirty="0">
                <a:latin typeface="Aptos" panose="020B0004020202020204" pitchFamily="34" charset="0"/>
              </a:rPr>
              <a:t>)</a:t>
            </a:r>
          </a:p>
        </p:txBody>
      </p:sp>
      <p:sp>
        <p:nvSpPr>
          <p:cNvPr id="21" name="Freeform 355">
            <a:extLst>
              <a:ext uri="{FF2B5EF4-FFF2-40B4-BE49-F238E27FC236}">
                <a16:creationId xmlns:a16="http://schemas.microsoft.com/office/drawing/2014/main" id="{B55B2CBF-E488-CC48-A261-9017AE29DA85}"/>
              </a:ext>
            </a:extLst>
          </p:cNvPr>
          <p:cNvSpPr/>
          <p:nvPr/>
        </p:nvSpPr>
        <p:spPr>
          <a:xfrm>
            <a:off x="4681679" y="4654676"/>
            <a:ext cx="722395" cy="810547"/>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495300 w 1286669"/>
              <a:gd name="connsiteY7" fmla="*/ 400357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763677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78855"/>
              <a:gd name="connsiteX1" fmla="*/ 114300 w 1286669"/>
              <a:gd name="connsiteY1" fmla="*/ 543232 h 578855"/>
              <a:gd name="connsiteX2" fmla="*/ 171450 w 1286669"/>
              <a:gd name="connsiteY2" fmla="*/ 409882 h 578855"/>
              <a:gd name="connsiteX3" fmla="*/ 209550 w 1286669"/>
              <a:gd name="connsiteY3" fmla="*/ 190807 h 578855"/>
              <a:gd name="connsiteX4" fmla="*/ 257175 w 1286669"/>
              <a:gd name="connsiteY4" fmla="*/ 307 h 578855"/>
              <a:gd name="connsiteX5" fmla="*/ 356907 w 1286669"/>
              <a:gd name="connsiteY5" fmla="*/ 146772 h 578855"/>
              <a:gd name="connsiteX6" fmla="*/ 409575 w 1286669"/>
              <a:gd name="connsiteY6" fmla="*/ 162232 h 578855"/>
              <a:gd name="connsiteX7" fmla="*/ 527983 w 1286669"/>
              <a:gd name="connsiteY7" fmla="*/ 288211 h 578855"/>
              <a:gd name="connsiteX8" fmla="*/ 659836 w 1286669"/>
              <a:gd name="connsiteY8" fmla="*/ 527400 h 578855"/>
              <a:gd name="connsiteX9" fmla="*/ 763677 w 1286669"/>
              <a:gd name="connsiteY9" fmla="*/ 400357 h 578855"/>
              <a:gd name="connsiteX10" fmla="*/ 1023837 w 1286669"/>
              <a:gd name="connsiteY10" fmla="*/ 576461 h 578855"/>
              <a:gd name="connsiteX11" fmla="*/ 1286669 w 1286669"/>
              <a:gd name="connsiteY11" fmla="*/ 475379 h 578855"/>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59836 w 1342697"/>
              <a:gd name="connsiteY8" fmla="*/ 527400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679635 w 1342697"/>
              <a:gd name="connsiteY9" fmla="*/ 354668 h 599232"/>
              <a:gd name="connsiteX10" fmla="*/ 1023837 w 1342697"/>
              <a:gd name="connsiteY10" fmla="*/ 576461 h 599232"/>
              <a:gd name="connsiteX11" fmla="*/ 1342697 w 1342697"/>
              <a:gd name="connsiteY11" fmla="*/ 554297 h 599232"/>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79635 w 1342697"/>
              <a:gd name="connsiteY9" fmla="*/ 354685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98312 w 1342697"/>
              <a:gd name="connsiteY9" fmla="*/ 308996 h 599249"/>
              <a:gd name="connsiteX10" fmla="*/ 1023837 w 1342697"/>
              <a:gd name="connsiteY10" fmla="*/ 576478 h 599249"/>
              <a:gd name="connsiteX11" fmla="*/ 1342697 w 1342697"/>
              <a:gd name="connsiteY11" fmla="*/ 554314 h 599249"/>
              <a:gd name="connsiteX0" fmla="*/ 0 w 1023837"/>
              <a:gd name="connsiteY0" fmla="*/ 552774 h 576478"/>
              <a:gd name="connsiteX1" fmla="*/ 114300 w 1023837"/>
              <a:gd name="connsiteY1" fmla="*/ 543249 h 576478"/>
              <a:gd name="connsiteX2" fmla="*/ 171450 w 1023837"/>
              <a:gd name="connsiteY2" fmla="*/ 409899 h 576478"/>
              <a:gd name="connsiteX3" fmla="*/ 209550 w 1023837"/>
              <a:gd name="connsiteY3" fmla="*/ 190824 h 576478"/>
              <a:gd name="connsiteX4" fmla="*/ 257175 w 1023837"/>
              <a:gd name="connsiteY4" fmla="*/ 324 h 576478"/>
              <a:gd name="connsiteX5" fmla="*/ 356907 w 1023837"/>
              <a:gd name="connsiteY5" fmla="*/ 146789 h 576478"/>
              <a:gd name="connsiteX6" fmla="*/ 442258 w 1023837"/>
              <a:gd name="connsiteY6" fmla="*/ 207939 h 576478"/>
              <a:gd name="connsiteX7" fmla="*/ 560666 w 1023837"/>
              <a:gd name="connsiteY7" fmla="*/ 288228 h 576478"/>
              <a:gd name="connsiteX8" fmla="*/ 571126 w 1023837"/>
              <a:gd name="connsiteY8" fmla="*/ 469267 h 576478"/>
              <a:gd name="connsiteX9" fmla="*/ 698312 w 1023837"/>
              <a:gd name="connsiteY9" fmla="*/ 308996 h 576478"/>
              <a:gd name="connsiteX10" fmla="*/ 1023837 w 1023837"/>
              <a:gd name="connsiteY10" fmla="*/ 576478 h 576478"/>
              <a:gd name="connsiteX0" fmla="*/ 0 w 698312"/>
              <a:gd name="connsiteY0" fmla="*/ 552774 h 559637"/>
              <a:gd name="connsiteX1" fmla="*/ 114300 w 698312"/>
              <a:gd name="connsiteY1" fmla="*/ 543249 h 559637"/>
              <a:gd name="connsiteX2" fmla="*/ 171450 w 698312"/>
              <a:gd name="connsiteY2" fmla="*/ 409899 h 559637"/>
              <a:gd name="connsiteX3" fmla="*/ 209550 w 698312"/>
              <a:gd name="connsiteY3" fmla="*/ 190824 h 559637"/>
              <a:gd name="connsiteX4" fmla="*/ 257175 w 698312"/>
              <a:gd name="connsiteY4" fmla="*/ 324 h 559637"/>
              <a:gd name="connsiteX5" fmla="*/ 356907 w 698312"/>
              <a:gd name="connsiteY5" fmla="*/ 146789 h 559637"/>
              <a:gd name="connsiteX6" fmla="*/ 442258 w 698312"/>
              <a:gd name="connsiteY6" fmla="*/ 207939 h 559637"/>
              <a:gd name="connsiteX7" fmla="*/ 560666 w 698312"/>
              <a:gd name="connsiteY7" fmla="*/ 288228 h 559637"/>
              <a:gd name="connsiteX8" fmla="*/ 571126 w 698312"/>
              <a:gd name="connsiteY8" fmla="*/ 469267 h 559637"/>
              <a:gd name="connsiteX9" fmla="*/ 698312 w 698312"/>
              <a:gd name="connsiteY9" fmla="*/ 308996 h 559637"/>
              <a:gd name="connsiteX0" fmla="*/ 0 w 571126"/>
              <a:gd name="connsiteY0" fmla="*/ 552774 h 559637"/>
              <a:gd name="connsiteX1" fmla="*/ 114300 w 571126"/>
              <a:gd name="connsiteY1" fmla="*/ 543249 h 559637"/>
              <a:gd name="connsiteX2" fmla="*/ 171450 w 571126"/>
              <a:gd name="connsiteY2" fmla="*/ 409899 h 559637"/>
              <a:gd name="connsiteX3" fmla="*/ 209550 w 571126"/>
              <a:gd name="connsiteY3" fmla="*/ 190824 h 559637"/>
              <a:gd name="connsiteX4" fmla="*/ 257175 w 571126"/>
              <a:gd name="connsiteY4" fmla="*/ 324 h 559637"/>
              <a:gd name="connsiteX5" fmla="*/ 356907 w 571126"/>
              <a:gd name="connsiteY5" fmla="*/ 146789 h 559637"/>
              <a:gd name="connsiteX6" fmla="*/ 442258 w 571126"/>
              <a:gd name="connsiteY6" fmla="*/ 207939 h 559637"/>
              <a:gd name="connsiteX7" fmla="*/ 560666 w 571126"/>
              <a:gd name="connsiteY7" fmla="*/ 288228 h 559637"/>
              <a:gd name="connsiteX8" fmla="*/ 571126 w 571126"/>
              <a:gd name="connsiteY8" fmla="*/ 469267 h 559637"/>
              <a:gd name="connsiteX0" fmla="*/ 0 w 560666"/>
              <a:gd name="connsiteY0" fmla="*/ 552774 h 559637"/>
              <a:gd name="connsiteX1" fmla="*/ 114300 w 560666"/>
              <a:gd name="connsiteY1" fmla="*/ 543249 h 559637"/>
              <a:gd name="connsiteX2" fmla="*/ 171450 w 560666"/>
              <a:gd name="connsiteY2" fmla="*/ 409899 h 559637"/>
              <a:gd name="connsiteX3" fmla="*/ 209550 w 560666"/>
              <a:gd name="connsiteY3" fmla="*/ 190824 h 559637"/>
              <a:gd name="connsiteX4" fmla="*/ 257175 w 560666"/>
              <a:gd name="connsiteY4" fmla="*/ 324 h 559637"/>
              <a:gd name="connsiteX5" fmla="*/ 356907 w 560666"/>
              <a:gd name="connsiteY5" fmla="*/ 146789 h 559637"/>
              <a:gd name="connsiteX6" fmla="*/ 442258 w 560666"/>
              <a:gd name="connsiteY6" fmla="*/ 207939 h 559637"/>
              <a:gd name="connsiteX7" fmla="*/ 560666 w 560666"/>
              <a:gd name="connsiteY7" fmla="*/ 288228 h 55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0666" h="559637">
                <a:moveTo>
                  <a:pt x="0" y="552774"/>
                </a:moveTo>
                <a:cubicBezTo>
                  <a:pt x="42862" y="559917"/>
                  <a:pt x="85725" y="567061"/>
                  <a:pt x="114300" y="543249"/>
                </a:cubicBezTo>
                <a:cubicBezTo>
                  <a:pt x="142875" y="519437"/>
                  <a:pt x="155575" y="468636"/>
                  <a:pt x="171450" y="409899"/>
                </a:cubicBezTo>
                <a:cubicBezTo>
                  <a:pt x="187325" y="351162"/>
                  <a:pt x="195263" y="259086"/>
                  <a:pt x="209550" y="190824"/>
                </a:cubicBezTo>
                <a:cubicBezTo>
                  <a:pt x="223837" y="122562"/>
                  <a:pt x="232616" y="7663"/>
                  <a:pt x="257175" y="324"/>
                </a:cubicBezTo>
                <a:cubicBezTo>
                  <a:pt x="281735" y="-7015"/>
                  <a:pt x="326060" y="112187"/>
                  <a:pt x="356907" y="146789"/>
                </a:cubicBezTo>
                <a:cubicBezTo>
                  <a:pt x="387754" y="181392"/>
                  <a:pt x="408298" y="184366"/>
                  <a:pt x="442258" y="207939"/>
                </a:cubicBezTo>
                <a:cubicBezTo>
                  <a:pt x="476218" y="231512"/>
                  <a:pt x="539188" y="244673"/>
                  <a:pt x="560666" y="288228"/>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sp>
        <p:nvSpPr>
          <p:cNvPr id="22" name="Freeform 355">
            <a:extLst>
              <a:ext uri="{FF2B5EF4-FFF2-40B4-BE49-F238E27FC236}">
                <a16:creationId xmlns:a16="http://schemas.microsoft.com/office/drawing/2014/main" id="{B55B2CBF-E488-CC48-A261-9017AE29DA85}"/>
              </a:ext>
            </a:extLst>
          </p:cNvPr>
          <p:cNvSpPr/>
          <p:nvPr/>
        </p:nvSpPr>
        <p:spPr>
          <a:xfrm>
            <a:off x="5564458" y="5106062"/>
            <a:ext cx="830264" cy="420387"/>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495300 w 1286669"/>
              <a:gd name="connsiteY7" fmla="*/ 400357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763677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78855"/>
              <a:gd name="connsiteX1" fmla="*/ 114300 w 1286669"/>
              <a:gd name="connsiteY1" fmla="*/ 543232 h 578855"/>
              <a:gd name="connsiteX2" fmla="*/ 171450 w 1286669"/>
              <a:gd name="connsiteY2" fmla="*/ 409882 h 578855"/>
              <a:gd name="connsiteX3" fmla="*/ 209550 w 1286669"/>
              <a:gd name="connsiteY3" fmla="*/ 190807 h 578855"/>
              <a:gd name="connsiteX4" fmla="*/ 257175 w 1286669"/>
              <a:gd name="connsiteY4" fmla="*/ 307 h 578855"/>
              <a:gd name="connsiteX5" fmla="*/ 356907 w 1286669"/>
              <a:gd name="connsiteY5" fmla="*/ 146772 h 578855"/>
              <a:gd name="connsiteX6" fmla="*/ 409575 w 1286669"/>
              <a:gd name="connsiteY6" fmla="*/ 162232 h 578855"/>
              <a:gd name="connsiteX7" fmla="*/ 527983 w 1286669"/>
              <a:gd name="connsiteY7" fmla="*/ 288211 h 578855"/>
              <a:gd name="connsiteX8" fmla="*/ 659836 w 1286669"/>
              <a:gd name="connsiteY8" fmla="*/ 527400 h 578855"/>
              <a:gd name="connsiteX9" fmla="*/ 763677 w 1286669"/>
              <a:gd name="connsiteY9" fmla="*/ 400357 h 578855"/>
              <a:gd name="connsiteX10" fmla="*/ 1023837 w 1286669"/>
              <a:gd name="connsiteY10" fmla="*/ 576461 h 578855"/>
              <a:gd name="connsiteX11" fmla="*/ 1286669 w 1286669"/>
              <a:gd name="connsiteY11" fmla="*/ 475379 h 578855"/>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59836 w 1342697"/>
              <a:gd name="connsiteY8" fmla="*/ 527400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679635 w 1342697"/>
              <a:gd name="connsiteY9" fmla="*/ 354668 h 599232"/>
              <a:gd name="connsiteX10" fmla="*/ 1023837 w 1342697"/>
              <a:gd name="connsiteY10" fmla="*/ 576461 h 599232"/>
              <a:gd name="connsiteX11" fmla="*/ 1342697 w 1342697"/>
              <a:gd name="connsiteY11" fmla="*/ 554297 h 599232"/>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79635 w 1342697"/>
              <a:gd name="connsiteY9" fmla="*/ 354685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98312 w 1342697"/>
              <a:gd name="connsiteY9" fmla="*/ 308996 h 599249"/>
              <a:gd name="connsiteX10" fmla="*/ 1023837 w 1342697"/>
              <a:gd name="connsiteY10" fmla="*/ 576478 h 599249"/>
              <a:gd name="connsiteX11" fmla="*/ 1342697 w 1342697"/>
              <a:gd name="connsiteY11" fmla="*/ 554314 h 599249"/>
              <a:gd name="connsiteX0" fmla="*/ 0 w 1228397"/>
              <a:gd name="connsiteY0" fmla="*/ 543249 h 599249"/>
              <a:gd name="connsiteX1" fmla="*/ 57150 w 1228397"/>
              <a:gd name="connsiteY1" fmla="*/ 409899 h 599249"/>
              <a:gd name="connsiteX2" fmla="*/ 95250 w 1228397"/>
              <a:gd name="connsiteY2" fmla="*/ 190824 h 599249"/>
              <a:gd name="connsiteX3" fmla="*/ 142875 w 1228397"/>
              <a:gd name="connsiteY3" fmla="*/ 324 h 599249"/>
              <a:gd name="connsiteX4" fmla="*/ 242607 w 1228397"/>
              <a:gd name="connsiteY4" fmla="*/ 146789 h 599249"/>
              <a:gd name="connsiteX5" fmla="*/ 327958 w 1228397"/>
              <a:gd name="connsiteY5" fmla="*/ 207939 h 599249"/>
              <a:gd name="connsiteX6" fmla="*/ 446366 w 1228397"/>
              <a:gd name="connsiteY6" fmla="*/ 288228 h 599249"/>
              <a:gd name="connsiteX7" fmla="*/ 456826 w 1228397"/>
              <a:gd name="connsiteY7" fmla="*/ 469267 h 599249"/>
              <a:gd name="connsiteX8" fmla="*/ 584012 w 1228397"/>
              <a:gd name="connsiteY8" fmla="*/ 308996 h 599249"/>
              <a:gd name="connsiteX9" fmla="*/ 909537 w 1228397"/>
              <a:gd name="connsiteY9" fmla="*/ 576478 h 599249"/>
              <a:gd name="connsiteX10" fmla="*/ 1228397 w 1228397"/>
              <a:gd name="connsiteY10" fmla="*/ 554314 h 599249"/>
              <a:gd name="connsiteX0" fmla="*/ 0 w 1171247"/>
              <a:gd name="connsiteY0" fmla="*/ 409899 h 599249"/>
              <a:gd name="connsiteX1" fmla="*/ 38100 w 1171247"/>
              <a:gd name="connsiteY1" fmla="*/ 190824 h 599249"/>
              <a:gd name="connsiteX2" fmla="*/ 85725 w 1171247"/>
              <a:gd name="connsiteY2" fmla="*/ 324 h 599249"/>
              <a:gd name="connsiteX3" fmla="*/ 185457 w 1171247"/>
              <a:gd name="connsiteY3" fmla="*/ 146789 h 599249"/>
              <a:gd name="connsiteX4" fmla="*/ 270808 w 1171247"/>
              <a:gd name="connsiteY4" fmla="*/ 207939 h 599249"/>
              <a:gd name="connsiteX5" fmla="*/ 389216 w 1171247"/>
              <a:gd name="connsiteY5" fmla="*/ 288228 h 599249"/>
              <a:gd name="connsiteX6" fmla="*/ 399676 w 1171247"/>
              <a:gd name="connsiteY6" fmla="*/ 469267 h 599249"/>
              <a:gd name="connsiteX7" fmla="*/ 526862 w 1171247"/>
              <a:gd name="connsiteY7" fmla="*/ 308996 h 599249"/>
              <a:gd name="connsiteX8" fmla="*/ 852387 w 1171247"/>
              <a:gd name="connsiteY8" fmla="*/ 576478 h 599249"/>
              <a:gd name="connsiteX9" fmla="*/ 1171247 w 1171247"/>
              <a:gd name="connsiteY9" fmla="*/ 554314 h 599249"/>
              <a:gd name="connsiteX0" fmla="*/ 0 w 1133147"/>
              <a:gd name="connsiteY0" fmla="*/ 190824 h 599249"/>
              <a:gd name="connsiteX1" fmla="*/ 47625 w 1133147"/>
              <a:gd name="connsiteY1" fmla="*/ 324 h 599249"/>
              <a:gd name="connsiteX2" fmla="*/ 147357 w 1133147"/>
              <a:gd name="connsiteY2" fmla="*/ 146789 h 599249"/>
              <a:gd name="connsiteX3" fmla="*/ 232708 w 1133147"/>
              <a:gd name="connsiteY3" fmla="*/ 207939 h 599249"/>
              <a:gd name="connsiteX4" fmla="*/ 351116 w 1133147"/>
              <a:gd name="connsiteY4" fmla="*/ 288228 h 599249"/>
              <a:gd name="connsiteX5" fmla="*/ 361576 w 1133147"/>
              <a:gd name="connsiteY5" fmla="*/ 469267 h 599249"/>
              <a:gd name="connsiteX6" fmla="*/ 488762 w 1133147"/>
              <a:gd name="connsiteY6" fmla="*/ 308996 h 599249"/>
              <a:gd name="connsiteX7" fmla="*/ 814287 w 1133147"/>
              <a:gd name="connsiteY7" fmla="*/ 576478 h 599249"/>
              <a:gd name="connsiteX8" fmla="*/ 1133147 w 1133147"/>
              <a:gd name="connsiteY8" fmla="*/ 554314 h 599249"/>
              <a:gd name="connsiteX0" fmla="*/ 0 w 1085522"/>
              <a:gd name="connsiteY0" fmla="*/ 324 h 599249"/>
              <a:gd name="connsiteX1" fmla="*/ 99732 w 1085522"/>
              <a:gd name="connsiteY1" fmla="*/ 146789 h 599249"/>
              <a:gd name="connsiteX2" fmla="*/ 185083 w 1085522"/>
              <a:gd name="connsiteY2" fmla="*/ 207939 h 599249"/>
              <a:gd name="connsiteX3" fmla="*/ 303491 w 1085522"/>
              <a:gd name="connsiteY3" fmla="*/ 288228 h 599249"/>
              <a:gd name="connsiteX4" fmla="*/ 313951 w 1085522"/>
              <a:gd name="connsiteY4" fmla="*/ 469267 h 599249"/>
              <a:gd name="connsiteX5" fmla="*/ 441137 w 1085522"/>
              <a:gd name="connsiteY5" fmla="*/ 308996 h 599249"/>
              <a:gd name="connsiteX6" fmla="*/ 766662 w 1085522"/>
              <a:gd name="connsiteY6" fmla="*/ 576478 h 599249"/>
              <a:gd name="connsiteX7" fmla="*/ 1085522 w 1085522"/>
              <a:gd name="connsiteY7" fmla="*/ 554314 h 599249"/>
              <a:gd name="connsiteX0" fmla="*/ 0 w 985790"/>
              <a:gd name="connsiteY0" fmla="*/ 0 h 452460"/>
              <a:gd name="connsiteX1" fmla="*/ 85351 w 985790"/>
              <a:gd name="connsiteY1" fmla="*/ 61150 h 452460"/>
              <a:gd name="connsiteX2" fmla="*/ 203759 w 985790"/>
              <a:gd name="connsiteY2" fmla="*/ 141439 h 452460"/>
              <a:gd name="connsiteX3" fmla="*/ 214219 w 985790"/>
              <a:gd name="connsiteY3" fmla="*/ 322478 h 452460"/>
              <a:gd name="connsiteX4" fmla="*/ 341405 w 985790"/>
              <a:gd name="connsiteY4" fmla="*/ 162207 h 452460"/>
              <a:gd name="connsiteX5" fmla="*/ 666930 w 985790"/>
              <a:gd name="connsiteY5" fmla="*/ 429689 h 452460"/>
              <a:gd name="connsiteX6" fmla="*/ 985790 w 985790"/>
              <a:gd name="connsiteY6" fmla="*/ 407525 h 452460"/>
              <a:gd name="connsiteX0" fmla="*/ 0 w 900439"/>
              <a:gd name="connsiteY0" fmla="*/ 0 h 391310"/>
              <a:gd name="connsiteX1" fmla="*/ 118408 w 900439"/>
              <a:gd name="connsiteY1" fmla="*/ 80289 h 391310"/>
              <a:gd name="connsiteX2" fmla="*/ 128868 w 900439"/>
              <a:gd name="connsiteY2" fmla="*/ 261328 h 391310"/>
              <a:gd name="connsiteX3" fmla="*/ 256054 w 900439"/>
              <a:gd name="connsiteY3" fmla="*/ 101057 h 391310"/>
              <a:gd name="connsiteX4" fmla="*/ 581579 w 900439"/>
              <a:gd name="connsiteY4" fmla="*/ 368539 h 391310"/>
              <a:gd name="connsiteX5" fmla="*/ 900439 w 900439"/>
              <a:gd name="connsiteY5" fmla="*/ 346375 h 391310"/>
              <a:gd name="connsiteX0" fmla="*/ 0 w 782031"/>
              <a:gd name="connsiteY0" fmla="*/ 0 h 311021"/>
              <a:gd name="connsiteX1" fmla="*/ 10460 w 782031"/>
              <a:gd name="connsiteY1" fmla="*/ 181039 h 311021"/>
              <a:gd name="connsiteX2" fmla="*/ 137646 w 782031"/>
              <a:gd name="connsiteY2" fmla="*/ 20768 h 311021"/>
              <a:gd name="connsiteX3" fmla="*/ 463171 w 782031"/>
              <a:gd name="connsiteY3" fmla="*/ 288250 h 311021"/>
              <a:gd name="connsiteX4" fmla="*/ 782031 w 782031"/>
              <a:gd name="connsiteY4" fmla="*/ 266086 h 311021"/>
              <a:gd name="connsiteX0" fmla="*/ 0 w 771571"/>
              <a:gd name="connsiteY0" fmla="*/ 161509 h 291491"/>
              <a:gd name="connsiteX1" fmla="*/ 127186 w 771571"/>
              <a:gd name="connsiteY1" fmla="*/ 1238 h 291491"/>
              <a:gd name="connsiteX2" fmla="*/ 452711 w 771571"/>
              <a:gd name="connsiteY2" fmla="*/ 268720 h 291491"/>
              <a:gd name="connsiteX3" fmla="*/ 771571 w 771571"/>
              <a:gd name="connsiteY3" fmla="*/ 246556 h 291491"/>
              <a:gd name="connsiteX0" fmla="*/ 0 w 644385"/>
              <a:gd name="connsiteY0" fmla="*/ 0 h 290253"/>
              <a:gd name="connsiteX1" fmla="*/ 325525 w 644385"/>
              <a:gd name="connsiteY1" fmla="*/ 267482 h 290253"/>
              <a:gd name="connsiteX2" fmla="*/ 644385 w 644385"/>
              <a:gd name="connsiteY2" fmla="*/ 245318 h 290253"/>
            </a:gdLst>
            <a:ahLst/>
            <a:cxnLst>
              <a:cxn ang="0">
                <a:pos x="connsiteX0" y="connsiteY0"/>
              </a:cxn>
              <a:cxn ang="0">
                <a:pos x="connsiteX1" y="connsiteY1"/>
              </a:cxn>
              <a:cxn ang="0">
                <a:pos x="connsiteX2" y="connsiteY2"/>
              </a:cxn>
            </a:cxnLst>
            <a:rect l="l" t="t" r="r" b="b"/>
            <a:pathLst>
              <a:path w="644385" h="290253">
                <a:moveTo>
                  <a:pt x="0" y="0"/>
                </a:moveTo>
                <a:cubicBezTo>
                  <a:pt x="75452" y="17868"/>
                  <a:pt x="212680" y="254978"/>
                  <a:pt x="325525" y="267482"/>
                </a:cubicBezTo>
                <a:cubicBezTo>
                  <a:pt x="438370" y="279986"/>
                  <a:pt x="491191" y="322041"/>
                  <a:pt x="644385" y="245318"/>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sp>
        <p:nvSpPr>
          <p:cNvPr id="24" name="CasellaDiTesto 23"/>
          <p:cNvSpPr txBox="1"/>
          <p:nvPr/>
        </p:nvSpPr>
        <p:spPr>
          <a:xfrm>
            <a:off x="4406171" y="4197704"/>
            <a:ext cx="2985953" cy="369332"/>
          </a:xfrm>
          <a:prstGeom prst="rect">
            <a:avLst/>
          </a:prstGeom>
          <a:noFill/>
        </p:spPr>
        <p:txBody>
          <a:bodyPr wrap="square" rtlCol="0">
            <a:spAutoFit/>
          </a:bodyPr>
          <a:lstStyle/>
          <a:p>
            <a:r>
              <a:rPr lang="it-IT" dirty="0" err="1">
                <a:latin typeface="Aptos" panose="020B0004020202020204" pitchFamily="34" charset="0"/>
              </a:rPr>
              <a:t>Artifact</a:t>
            </a:r>
            <a:r>
              <a:rPr lang="it-IT" dirty="0">
                <a:latin typeface="Aptos" panose="020B0004020202020204" pitchFamily="34" charset="0"/>
              </a:rPr>
              <a:t> </a:t>
            </a:r>
            <a:r>
              <a:rPr lang="it-IT" dirty="0" err="1">
                <a:latin typeface="Aptos" panose="020B0004020202020204" pitchFamily="34" charset="0"/>
              </a:rPr>
              <a:t>suppressed</a:t>
            </a:r>
            <a:endParaRPr lang="en-GB" sz="2000" dirty="0">
              <a:latin typeface="Aptos" panose="020B0004020202020204" pitchFamily="34" charset="0"/>
            </a:endParaRPr>
          </a:p>
        </p:txBody>
      </p:sp>
      <p:sp>
        <p:nvSpPr>
          <p:cNvPr id="25" name="Freeform 355">
            <a:extLst>
              <a:ext uri="{FF2B5EF4-FFF2-40B4-BE49-F238E27FC236}">
                <a16:creationId xmlns:a16="http://schemas.microsoft.com/office/drawing/2014/main" id="{B55B2CBF-E488-CC48-A261-9017AE29DA85}"/>
              </a:ext>
            </a:extLst>
          </p:cNvPr>
          <p:cNvSpPr/>
          <p:nvPr/>
        </p:nvSpPr>
        <p:spPr>
          <a:xfrm>
            <a:off x="9648161" y="4597462"/>
            <a:ext cx="722395" cy="810547"/>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495300 w 1286669"/>
              <a:gd name="connsiteY7" fmla="*/ 400357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763677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78855"/>
              <a:gd name="connsiteX1" fmla="*/ 114300 w 1286669"/>
              <a:gd name="connsiteY1" fmla="*/ 543232 h 578855"/>
              <a:gd name="connsiteX2" fmla="*/ 171450 w 1286669"/>
              <a:gd name="connsiteY2" fmla="*/ 409882 h 578855"/>
              <a:gd name="connsiteX3" fmla="*/ 209550 w 1286669"/>
              <a:gd name="connsiteY3" fmla="*/ 190807 h 578855"/>
              <a:gd name="connsiteX4" fmla="*/ 257175 w 1286669"/>
              <a:gd name="connsiteY4" fmla="*/ 307 h 578855"/>
              <a:gd name="connsiteX5" fmla="*/ 356907 w 1286669"/>
              <a:gd name="connsiteY5" fmla="*/ 146772 h 578855"/>
              <a:gd name="connsiteX6" fmla="*/ 409575 w 1286669"/>
              <a:gd name="connsiteY6" fmla="*/ 162232 h 578855"/>
              <a:gd name="connsiteX7" fmla="*/ 527983 w 1286669"/>
              <a:gd name="connsiteY7" fmla="*/ 288211 h 578855"/>
              <a:gd name="connsiteX8" fmla="*/ 659836 w 1286669"/>
              <a:gd name="connsiteY8" fmla="*/ 527400 h 578855"/>
              <a:gd name="connsiteX9" fmla="*/ 763677 w 1286669"/>
              <a:gd name="connsiteY9" fmla="*/ 400357 h 578855"/>
              <a:gd name="connsiteX10" fmla="*/ 1023837 w 1286669"/>
              <a:gd name="connsiteY10" fmla="*/ 576461 h 578855"/>
              <a:gd name="connsiteX11" fmla="*/ 1286669 w 1286669"/>
              <a:gd name="connsiteY11" fmla="*/ 475379 h 578855"/>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59836 w 1342697"/>
              <a:gd name="connsiteY8" fmla="*/ 527400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679635 w 1342697"/>
              <a:gd name="connsiteY9" fmla="*/ 354668 h 599232"/>
              <a:gd name="connsiteX10" fmla="*/ 1023837 w 1342697"/>
              <a:gd name="connsiteY10" fmla="*/ 576461 h 599232"/>
              <a:gd name="connsiteX11" fmla="*/ 1342697 w 1342697"/>
              <a:gd name="connsiteY11" fmla="*/ 554297 h 599232"/>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79635 w 1342697"/>
              <a:gd name="connsiteY9" fmla="*/ 354685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98312 w 1342697"/>
              <a:gd name="connsiteY9" fmla="*/ 308996 h 599249"/>
              <a:gd name="connsiteX10" fmla="*/ 1023837 w 1342697"/>
              <a:gd name="connsiteY10" fmla="*/ 576478 h 599249"/>
              <a:gd name="connsiteX11" fmla="*/ 1342697 w 1342697"/>
              <a:gd name="connsiteY11" fmla="*/ 554314 h 599249"/>
              <a:gd name="connsiteX0" fmla="*/ 0 w 1023837"/>
              <a:gd name="connsiteY0" fmla="*/ 552774 h 576478"/>
              <a:gd name="connsiteX1" fmla="*/ 114300 w 1023837"/>
              <a:gd name="connsiteY1" fmla="*/ 543249 h 576478"/>
              <a:gd name="connsiteX2" fmla="*/ 171450 w 1023837"/>
              <a:gd name="connsiteY2" fmla="*/ 409899 h 576478"/>
              <a:gd name="connsiteX3" fmla="*/ 209550 w 1023837"/>
              <a:gd name="connsiteY3" fmla="*/ 190824 h 576478"/>
              <a:gd name="connsiteX4" fmla="*/ 257175 w 1023837"/>
              <a:gd name="connsiteY4" fmla="*/ 324 h 576478"/>
              <a:gd name="connsiteX5" fmla="*/ 356907 w 1023837"/>
              <a:gd name="connsiteY5" fmla="*/ 146789 h 576478"/>
              <a:gd name="connsiteX6" fmla="*/ 442258 w 1023837"/>
              <a:gd name="connsiteY6" fmla="*/ 207939 h 576478"/>
              <a:gd name="connsiteX7" fmla="*/ 560666 w 1023837"/>
              <a:gd name="connsiteY7" fmla="*/ 288228 h 576478"/>
              <a:gd name="connsiteX8" fmla="*/ 571126 w 1023837"/>
              <a:gd name="connsiteY8" fmla="*/ 469267 h 576478"/>
              <a:gd name="connsiteX9" fmla="*/ 698312 w 1023837"/>
              <a:gd name="connsiteY9" fmla="*/ 308996 h 576478"/>
              <a:gd name="connsiteX10" fmla="*/ 1023837 w 1023837"/>
              <a:gd name="connsiteY10" fmla="*/ 576478 h 576478"/>
              <a:gd name="connsiteX0" fmla="*/ 0 w 698312"/>
              <a:gd name="connsiteY0" fmla="*/ 552774 h 559637"/>
              <a:gd name="connsiteX1" fmla="*/ 114300 w 698312"/>
              <a:gd name="connsiteY1" fmla="*/ 543249 h 559637"/>
              <a:gd name="connsiteX2" fmla="*/ 171450 w 698312"/>
              <a:gd name="connsiteY2" fmla="*/ 409899 h 559637"/>
              <a:gd name="connsiteX3" fmla="*/ 209550 w 698312"/>
              <a:gd name="connsiteY3" fmla="*/ 190824 h 559637"/>
              <a:gd name="connsiteX4" fmla="*/ 257175 w 698312"/>
              <a:gd name="connsiteY4" fmla="*/ 324 h 559637"/>
              <a:gd name="connsiteX5" fmla="*/ 356907 w 698312"/>
              <a:gd name="connsiteY5" fmla="*/ 146789 h 559637"/>
              <a:gd name="connsiteX6" fmla="*/ 442258 w 698312"/>
              <a:gd name="connsiteY6" fmla="*/ 207939 h 559637"/>
              <a:gd name="connsiteX7" fmla="*/ 560666 w 698312"/>
              <a:gd name="connsiteY7" fmla="*/ 288228 h 559637"/>
              <a:gd name="connsiteX8" fmla="*/ 571126 w 698312"/>
              <a:gd name="connsiteY8" fmla="*/ 469267 h 559637"/>
              <a:gd name="connsiteX9" fmla="*/ 698312 w 698312"/>
              <a:gd name="connsiteY9" fmla="*/ 308996 h 559637"/>
              <a:gd name="connsiteX0" fmla="*/ 0 w 571126"/>
              <a:gd name="connsiteY0" fmla="*/ 552774 h 559637"/>
              <a:gd name="connsiteX1" fmla="*/ 114300 w 571126"/>
              <a:gd name="connsiteY1" fmla="*/ 543249 h 559637"/>
              <a:gd name="connsiteX2" fmla="*/ 171450 w 571126"/>
              <a:gd name="connsiteY2" fmla="*/ 409899 h 559637"/>
              <a:gd name="connsiteX3" fmla="*/ 209550 w 571126"/>
              <a:gd name="connsiteY3" fmla="*/ 190824 h 559637"/>
              <a:gd name="connsiteX4" fmla="*/ 257175 w 571126"/>
              <a:gd name="connsiteY4" fmla="*/ 324 h 559637"/>
              <a:gd name="connsiteX5" fmla="*/ 356907 w 571126"/>
              <a:gd name="connsiteY5" fmla="*/ 146789 h 559637"/>
              <a:gd name="connsiteX6" fmla="*/ 442258 w 571126"/>
              <a:gd name="connsiteY6" fmla="*/ 207939 h 559637"/>
              <a:gd name="connsiteX7" fmla="*/ 560666 w 571126"/>
              <a:gd name="connsiteY7" fmla="*/ 288228 h 559637"/>
              <a:gd name="connsiteX8" fmla="*/ 571126 w 571126"/>
              <a:gd name="connsiteY8" fmla="*/ 469267 h 559637"/>
              <a:gd name="connsiteX0" fmla="*/ 0 w 560666"/>
              <a:gd name="connsiteY0" fmla="*/ 552774 h 559637"/>
              <a:gd name="connsiteX1" fmla="*/ 114300 w 560666"/>
              <a:gd name="connsiteY1" fmla="*/ 543249 h 559637"/>
              <a:gd name="connsiteX2" fmla="*/ 171450 w 560666"/>
              <a:gd name="connsiteY2" fmla="*/ 409899 h 559637"/>
              <a:gd name="connsiteX3" fmla="*/ 209550 w 560666"/>
              <a:gd name="connsiteY3" fmla="*/ 190824 h 559637"/>
              <a:gd name="connsiteX4" fmla="*/ 257175 w 560666"/>
              <a:gd name="connsiteY4" fmla="*/ 324 h 559637"/>
              <a:gd name="connsiteX5" fmla="*/ 356907 w 560666"/>
              <a:gd name="connsiteY5" fmla="*/ 146789 h 559637"/>
              <a:gd name="connsiteX6" fmla="*/ 442258 w 560666"/>
              <a:gd name="connsiteY6" fmla="*/ 207939 h 559637"/>
              <a:gd name="connsiteX7" fmla="*/ 560666 w 560666"/>
              <a:gd name="connsiteY7" fmla="*/ 288228 h 559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0666" h="559637">
                <a:moveTo>
                  <a:pt x="0" y="552774"/>
                </a:moveTo>
                <a:cubicBezTo>
                  <a:pt x="42862" y="559917"/>
                  <a:pt x="85725" y="567061"/>
                  <a:pt x="114300" y="543249"/>
                </a:cubicBezTo>
                <a:cubicBezTo>
                  <a:pt x="142875" y="519437"/>
                  <a:pt x="155575" y="468636"/>
                  <a:pt x="171450" y="409899"/>
                </a:cubicBezTo>
                <a:cubicBezTo>
                  <a:pt x="187325" y="351162"/>
                  <a:pt x="195263" y="259086"/>
                  <a:pt x="209550" y="190824"/>
                </a:cubicBezTo>
                <a:cubicBezTo>
                  <a:pt x="223837" y="122562"/>
                  <a:pt x="232616" y="7663"/>
                  <a:pt x="257175" y="324"/>
                </a:cubicBezTo>
                <a:cubicBezTo>
                  <a:pt x="281735" y="-7015"/>
                  <a:pt x="326060" y="112187"/>
                  <a:pt x="356907" y="146789"/>
                </a:cubicBezTo>
                <a:cubicBezTo>
                  <a:pt x="387754" y="181392"/>
                  <a:pt x="408298" y="184366"/>
                  <a:pt x="442258" y="207939"/>
                </a:cubicBezTo>
                <a:cubicBezTo>
                  <a:pt x="476218" y="231512"/>
                  <a:pt x="539188" y="244673"/>
                  <a:pt x="560666" y="288228"/>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sp>
        <p:nvSpPr>
          <p:cNvPr id="26" name="Freeform 355">
            <a:extLst>
              <a:ext uri="{FF2B5EF4-FFF2-40B4-BE49-F238E27FC236}">
                <a16:creationId xmlns:a16="http://schemas.microsoft.com/office/drawing/2014/main" id="{B55B2CBF-E488-CC48-A261-9017AE29DA85}"/>
              </a:ext>
            </a:extLst>
          </p:cNvPr>
          <p:cNvSpPr/>
          <p:nvPr/>
        </p:nvSpPr>
        <p:spPr>
          <a:xfrm>
            <a:off x="10561028" y="5059950"/>
            <a:ext cx="830264" cy="420387"/>
          </a:xfrm>
          <a:custGeom>
            <a:avLst/>
            <a:gdLst>
              <a:gd name="connsiteX0" fmla="*/ 0 w 1295400"/>
              <a:gd name="connsiteY0" fmla="*/ 576262 h 593725"/>
              <a:gd name="connsiteX1" fmla="*/ 114300 w 1295400"/>
              <a:gd name="connsiteY1" fmla="*/ 566737 h 593725"/>
              <a:gd name="connsiteX2" fmla="*/ 171450 w 1295400"/>
              <a:gd name="connsiteY2" fmla="*/ 433387 h 593725"/>
              <a:gd name="connsiteX3" fmla="*/ 209550 w 1295400"/>
              <a:gd name="connsiteY3" fmla="*/ 214312 h 593725"/>
              <a:gd name="connsiteX4" fmla="*/ 257175 w 1295400"/>
              <a:gd name="connsiteY4" fmla="*/ 23812 h 593725"/>
              <a:gd name="connsiteX5" fmla="*/ 342900 w 1295400"/>
              <a:gd name="connsiteY5" fmla="*/ 357187 h 593725"/>
              <a:gd name="connsiteX6" fmla="*/ 409575 w 1295400"/>
              <a:gd name="connsiteY6" fmla="*/ 185737 h 593725"/>
              <a:gd name="connsiteX7" fmla="*/ 495300 w 1295400"/>
              <a:gd name="connsiteY7" fmla="*/ 423862 h 593725"/>
              <a:gd name="connsiteX8" fmla="*/ 552450 w 1295400"/>
              <a:gd name="connsiteY8" fmla="*/ 442912 h 593725"/>
              <a:gd name="connsiteX9" fmla="*/ 609600 w 1295400"/>
              <a:gd name="connsiteY9" fmla="*/ 423862 h 593725"/>
              <a:gd name="connsiteX10" fmla="*/ 781050 w 1295400"/>
              <a:gd name="connsiteY10" fmla="*/ 566737 h 593725"/>
              <a:gd name="connsiteX11" fmla="*/ 1295400 w 1295400"/>
              <a:gd name="connsiteY11" fmla="*/ 585787 h 593725"/>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76262 h 590549"/>
              <a:gd name="connsiteX1" fmla="*/ 114300 w 1286669"/>
              <a:gd name="connsiteY1" fmla="*/ 566737 h 590549"/>
              <a:gd name="connsiteX2" fmla="*/ 171450 w 1286669"/>
              <a:gd name="connsiteY2" fmla="*/ 433387 h 590549"/>
              <a:gd name="connsiteX3" fmla="*/ 209550 w 1286669"/>
              <a:gd name="connsiteY3" fmla="*/ 214312 h 590549"/>
              <a:gd name="connsiteX4" fmla="*/ 257175 w 1286669"/>
              <a:gd name="connsiteY4" fmla="*/ 23812 h 590549"/>
              <a:gd name="connsiteX5" fmla="*/ 342900 w 1286669"/>
              <a:gd name="connsiteY5" fmla="*/ 357187 h 590549"/>
              <a:gd name="connsiteX6" fmla="*/ 409575 w 1286669"/>
              <a:gd name="connsiteY6" fmla="*/ 185737 h 590549"/>
              <a:gd name="connsiteX7" fmla="*/ 495300 w 1286669"/>
              <a:gd name="connsiteY7" fmla="*/ 423862 h 590549"/>
              <a:gd name="connsiteX8" fmla="*/ 552450 w 1286669"/>
              <a:gd name="connsiteY8" fmla="*/ 442912 h 590549"/>
              <a:gd name="connsiteX9" fmla="*/ 609600 w 1286669"/>
              <a:gd name="connsiteY9" fmla="*/ 423862 h 590549"/>
              <a:gd name="connsiteX10" fmla="*/ 781050 w 1286669"/>
              <a:gd name="connsiteY10" fmla="*/ 566737 h 590549"/>
              <a:gd name="connsiteX11" fmla="*/ 1286669 w 1286669"/>
              <a:gd name="connsiteY11" fmla="*/ 498884 h 590549"/>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495300 w 1286669"/>
              <a:gd name="connsiteY7" fmla="*/ 400357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552450 w 1286669"/>
              <a:gd name="connsiteY8" fmla="*/ 419407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607356 w 1286669"/>
              <a:gd name="connsiteY7" fmla="*/ 358822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609600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59620"/>
              <a:gd name="connsiteX1" fmla="*/ 114300 w 1286669"/>
              <a:gd name="connsiteY1" fmla="*/ 543232 h 559620"/>
              <a:gd name="connsiteX2" fmla="*/ 171450 w 1286669"/>
              <a:gd name="connsiteY2" fmla="*/ 409882 h 559620"/>
              <a:gd name="connsiteX3" fmla="*/ 209550 w 1286669"/>
              <a:gd name="connsiteY3" fmla="*/ 190807 h 559620"/>
              <a:gd name="connsiteX4" fmla="*/ 257175 w 1286669"/>
              <a:gd name="connsiteY4" fmla="*/ 307 h 559620"/>
              <a:gd name="connsiteX5" fmla="*/ 356907 w 1286669"/>
              <a:gd name="connsiteY5" fmla="*/ 146772 h 559620"/>
              <a:gd name="connsiteX6" fmla="*/ 409575 w 1286669"/>
              <a:gd name="connsiteY6" fmla="*/ 162232 h 559620"/>
              <a:gd name="connsiteX7" fmla="*/ 527983 w 1286669"/>
              <a:gd name="connsiteY7" fmla="*/ 288211 h 559620"/>
              <a:gd name="connsiteX8" fmla="*/ 659836 w 1286669"/>
              <a:gd name="connsiteY8" fmla="*/ 527400 h 559620"/>
              <a:gd name="connsiteX9" fmla="*/ 763677 w 1286669"/>
              <a:gd name="connsiteY9" fmla="*/ 400357 h 559620"/>
              <a:gd name="connsiteX10" fmla="*/ 781050 w 1286669"/>
              <a:gd name="connsiteY10" fmla="*/ 543232 h 559620"/>
              <a:gd name="connsiteX11" fmla="*/ 1286669 w 1286669"/>
              <a:gd name="connsiteY11" fmla="*/ 475379 h 559620"/>
              <a:gd name="connsiteX0" fmla="*/ 0 w 1286669"/>
              <a:gd name="connsiteY0" fmla="*/ 552757 h 578855"/>
              <a:gd name="connsiteX1" fmla="*/ 114300 w 1286669"/>
              <a:gd name="connsiteY1" fmla="*/ 543232 h 578855"/>
              <a:gd name="connsiteX2" fmla="*/ 171450 w 1286669"/>
              <a:gd name="connsiteY2" fmla="*/ 409882 h 578855"/>
              <a:gd name="connsiteX3" fmla="*/ 209550 w 1286669"/>
              <a:gd name="connsiteY3" fmla="*/ 190807 h 578855"/>
              <a:gd name="connsiteX4" fmla="*/ 257175 w 1286669"/>
              <a:gd name="connsiteY4" fmla="*/ 307 h 578855"/>
              <a:gd name="connsiteX5" fmla="*/ 356907 w 1286669"/>
              <a:gd name="connsiteY5" fmla="*/ 146772 h 578855"/>
              <a:gd name="connsiteX6" fmla="*/ 409575 w 1286669"/>
              <a:gd name="connsiteY6" fmla="*/ 162232 h 578855"/>
              <a:gd name="connsiteX7" fmla="*/ 527983 w 1286669"/>
              <a:gd name="connsiteY7" fmla="*/ 288211 h 578855"/>
              <a:gd name="connsiteX8" fmla="*/ 659836 w 1286669"/>
              <a:gd name="connsiteY8" fmla="*/ 527400 h 578855"/>
              <a:gd name="connsiteX9" fmla="*/ 763677 w 1286669"/>
              <a:gd name="connsiteY9" fmla="*/ 400357 h 578855"/>
              <a:gd name="connsiteX10" fmla="*/ 1023837 w 1286669"/>
              <a:gd name="connsiteY10" fmla="*/ 576461 h 578855"/>
              <a:gd name="connsiteX11" fmla="*/ 1286669 w 1286669"/>
              <a:gd name="connsiteY11" fmla="*/ 475379 h 578855"/>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59836 w 1342697"/>
              <a:gd name="connsiteY8" fmla="*/ 527400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763677 w 1342697"/>
              <a:gd name="connsiteY9" fmla="*/ 400357 h 599232"/>
              <a:gd name="connsiteX10" fmla="*/ 1023837 w 1342697"/>
              <a:gd name="connsiteY10" fmla="*/ 576461 h 599232"/>
              <a:gd name="connsiteX11" fmla="*/ 1342697 w 1342697"/>
              <a:gd name="connsiteY11" fmla="*/ 554297 h 599232"/>
              <a:gd name="connsiteX0" fmla="*/ 0 w 1342697"/>
              <a:gd name="connsiteY0" fmla="*/ 552757 h 599232"/>
              <a:gd name="connsiteX1" fmla="*/ 114300 w 1342697"/>
              <a:gd name="connsiteY1" fmla="*/ 543232 h 599232"/>
              <a:gd name="connsiteX2" fmla="*/ 171450 w 1342697"/>
              <a:gd name="connsiteY2" fmla="*/ 409882 h 599232"/>
              <a:gd name="connsiteX3" fmla="*/ 209550 w 1342697"/>
              <a:gd name="connsiteY3" fmla="*/ 190807 h 599232"/>
              <a:gd name="connsiteX4" fmla="*/ 257175 w 1342697"/>
              <a:gd name="connsiteY4" fmla="*/ 307 h 599232"/>
              <a:gd name="connsiteX5" fmla="*/ 356907 w 1342697"/>
              <a:gd name="connsiteY5" fmla="*/ 146772 h 599232"/>
              <a:gd name="connsiteX6" fmla="*/ 409575 w 1342697"/>
              <a:gd name="connsiteY6" fmla="*/ 162232 h 599232"/>
              <a:gd name="connsiteX7" fmla="*/ 527983 w 1342697"/>
              <a:gd name="connsiteY7" fmla="*/ 288211 h 599232"/>
              <a:gd name="connsiteX8" fmla="*/ 603809 w 1342697"/>
              <a:gd name="connsiteY8" fmla="*/ 460943 h 599232"/>
              <a:gd name="connsiteX9" fmla="*/ 679635 w 1342697"/>
              <a:gd name="connsiteY9" fmla="*/ 354668 h 599232"/>
              <a:gd name="connsiteX10" fmla="*/ 1023837 w 1342697"/>
              <a:gd name="connsiteY10" fmla="*/ 576461 h 599232"/>
              <a:gd name="connsiteX11" fmla="*/ 1342697 w 1342697"/>
              <a:gd name="connsiteY11" fmla="*/ 554297 h 599232"/>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79635 w 1342697"/>
              <a:gd name="connsiteY9" fmla="*/ 354685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603809 w 1342697"/>
              <a:gd name="connsiteY8" fmla="*/ 460960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27983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60959 w 1342697"/>
              <a:gd name="connsiteY9" fmla="*/ 317303 h 599249"/>
              <a:gd name="connsiteX10" fmla="*/ 1023837 w 1342697"/>
              <a:gd name="connsiteY10" fmla="*/ 576478 h 599249"/>
              <a:gd name="connsiteX11" fmla="*/ 1342697 w 1342697"/>
              <a:gd name="connsiteY11" fmla="*/ 554314 h 599249"/>
              <a:gd name="connsiteX0" fmla="*/ 0 w 1342697"/>
              <a:gd name="connsiteY0" fmla="*/ 552774 h 599249"/>
              <a:gd name="connsiteX1" fmla="*/ 114300 w 1342697"/>
              <a:gd name="connsiteY1" fmla="*/ 543249 h 599249"/>
              <a:gd name="connsiteX2" fmla="*/ 171450 w 1342697"/>
              <a:gd name="connsiteY2" fmla="*/ 409899 h 599249"/>
              <a:gd name="connsiteX3" fmla="*/ 209550 w 1342697"/>
              <a:gd name="connsiteY3" fmla="*/ 190824 h 599249"/>
              <a:gd name="connsiteX4" fmla="*/ 257175 w 1342697"/>
              <a:gd name="connsiteY4" fmla="*/ 324 h 599249"/>
              <a:gd name="connsiteX5" fmla="*/ 356907 w 1342697"/>
              <a:gd name="connsiteY5" fmla="*/ 146789 h 599249"/>
              <a:gd name="connsiteX6" fmla="*/ 442258 w 1342697"/>
              <a:gd name="connsiteY6" fmla="*/ 207939 h 599249"/>
              <a:gd name="connsiteX7" fmla="*/ 560666 w 1342697"/>
              <a:gd name="connsiteY7" fmla="*/ 288228 h 599249"/>
              <a:gd name="connsiteX8" fmla="*/ 571126 w 1342697"/>
              <a:gd name="connsiteY8" fmla="*/ 469267 h 599249"/>
              <a:gd name="connsiteX9" fmla="*/ 698312 w 1342697"/>
              <a:gd name="connsiteY9" fmla="*/ 308996 h 599249"/>
              <a:gd name="connsiteX10" fmla="*/ 1023837 w 1342697"/>
              <a:gd name="connsiteY10" fmla="*/ 576478 h 599249"/>
              <a:gd name="connsiteX11" fmla="*/ 1342697 w 1342697"/>
              <a:gd name="connsiteY11" fmla="*/ 554314 h 599249"/>
              <a:gd name="connsiteX0" fmla="*/ 0 w 1228397"/>
              <a:gd name="connsiteY0" fmla="*/ 543249 h 599249"/>
              <a:gd name="connsiteX1" fmla="*/ 57150 w 1228397"/>
              <a:gd name="connsiteY1" fmla="*/ 409899 h 599249"/>
              <a:gd name="connsiteX2" fmla="*/ 95250 w 1228397"/>
              <a:gd name="connsiteY2" fmla="*/ 190824 h 599249"/>
              <a:gd name="connsiteX3" fmla="*/ 142875 w 1228397"/>
              <a:gd name="connsiteY3" fmla="*/ 324 h 599249"/>
              <a:gd name="connsiteX4" fmla="*/ 242607 w 1228397"/>
              <a:gd name="connsiteY4" fmla="*/ 146789 h 599249"/>
              <a:gd name="connsiteX5" fmla="*/ 327958 w 1228397"/>
              <a:gd name="connsiteY5" fmla="*/ 207939 h 599249"/>
              <a:gd name="connsiteX6" fmla="*/ 446366 w 1228397"/>
              <a:gd name="connsiteY6" fmla="*/ 288228 h 599249"/>
              <a:gd name="connsiteX7" fmla="*/ 456826 w 1228397"/>
              <a:gd name="connsiteY7" fmla="*/ 469267 h 599249"/>
              <a:gd name="connsiteX8" fmla="*/ 584012 w 1228397"/>
              <a:gd name="connsiteY8" fmla="*/ 308996 h 599249"/>
              <a:gd name="connsiteX9" fmla="*/ 909537 w 1228397"/>
              <a:gd name="connsiteY9" fmla="*/ 576478 h 599249"/>
              <a:gd name="connsiteX10" fmla="*/ 1228397 w 1228397"/>
              <a:gd name="connsiteY10" fmla="*/ 554314 h 599249"/>
              <a:gd name="connsiteX0" fmla="*/ 0 w 1171247"/>
              <a:gd name="connsiteY0" fmla="*/ 409899 h 599249"/>
              <a:gd name="connsiteX1" fmla="*/ 38100 w 1171247"/>
              <a:gd name="connsiteY1" fmla="*/ 190824 h 599249"/>
              <a:gd name="connsiteX2" fmla="*/ 85725 w 1171247"/>
              <a:gd name="connsiteY2" fmla="*/ 324 h 599249"/>
              <a:gd name="connsiteX3" fmla="*/ 185457 w 1171247"/>
              <a:gd name="connsiteY3" fmla="*/ 146789 h 599249"/>
              <a:gd name="connsiteX4" fmla="*/ 270808 w 1171247"/>
              <a:gd name="connsiteY4" fmla="*/ 207939 h 599249"/>
              <a:gd name="connsiteX5" fmla="*/ 389216 w 1171247"/>
              <a:gd name="connsiteY5" fmla="*/ 288228 h 599249"/>
              <a:gd name="connsiteX6" fmla="*/ 399676 w 1171247"/>
              <a:gd name="connsiteY6" fmla="*/ 469267 h 599249"/>
              <a:gd name="connsiteX7" fmla="*/ 526862 w 1171247"/>
              <a:gd name="connsiteY7" fmla="*/ 308996 h 599249"/>
              <a:gd name="connsiteX8" fmla="*/ 852387 w 1171247"/>
              <a:gd name="connsiteY8" fmla="*/ 576478 h 599249"/>
              <a:gd name="connsiteX9" fmla="*/ 1171247 w 1171247"/>
              <a:gd name="connsiteY9" fmla="*/ 554314 h 599249"/>
              <a:gd name="connsiteX0" fmla="*/ 0 w 1133147"/>
              <a:gd name="connsiteY0" fmla="*/ 190824 h 599249"/>
              <a:gd name="connsiteX1" fmla="*/ 47625 w 1133147"/>
              <a:gd name="connsiteY1" fmla="*/ 324 h 599249"/>
              <a:gd name="connsiteX2" fmla="*/ 147357 w 1133147"/>
              <a:gd name="connsiteY2" fmla="*/ 146789 h 599249"/>
              <a:gd name="connsiteX3" fmla="*/ 232708 w 1133147"/>
              <a:gd name="connsiteY3" fmla="*/ 207939 h 599249"/>
              <a:gd name="connsiteX4" fmla="*/ 351116 w 1133147"/>
              <a:gd name="connsiteY4" fmla="*/ 288228 h 599249"/>
              <a:gd name="connsiteX5" fmla="*/ 361576 w 1133147"/>
              <a:gd name="connsiteY5" fmla="*/ 469267 h 599249"/>
              <a:gd name="connsiteX6" fmla="*/ 488762 w 1133147"/>
              <a:gd name="connsiteY6" fmla="*/ 308996 h 599249"/>
              <a:gd name="connsiteX7" fmla="*/ 814287 w 1133147"/>
              <a:gd name="connsiteY7" fmla="*/ 576478 h 599249"/>
              <a:gd name="connsiteX8" fmla="*/ 1133147 w 1133147"/>
              <a:gd name="connsiteY8" fmla="*/ 554314 h 599249"/>
              <a:gd name="connsiteX0" fmla="*/ 0 w 1085522"/>
              <a:gd name="connsiteY0" fmla="*/ 324 h 599249"/>
              <a:gd name="connsiteX1" fmla="*/ 99732 w 1085522"/>
              <a:gd name="connsiteY1" fmla="*/ 146789 h 599249"/>
              <a:gd name="connsiteX2" fmla="*/ 185083 w 1085522"/>
              <a:gd name="connsiteY2" fmla="*/ 207939 h 599249"/>
              <a:gd name="connsiteX3" fmla="*/ 303491 w 1085522"/>
              <a:gd name="connsiteY3" fmla="*/ 288228 h 599249"/>
              <a:gd name="connsiteX4" fmla="*/ 313951 w 1085522"/>
              <a:gd name="connsiteY4" fmla="*/ 469267 h 599249"/>
              <a:gd name="connsiteX5" fmla="*/ 441137 w 1085522"/>
              <a:gd name="connsiteY5" fmla="*/ 308996 h 599249"/>
              <a:gd name="connsiteX6" fmla="*/ 766662 w 1085522"/>
              <a:gd name="connsiteY6" fmla="*/ 576478 h 599249"/>
              <a:gd name="connsiteX7" fmla="*/ 1085522 w 1085522"/>
              <a:gd name="connsiteY7" fmla="*/ 554314 h 599249"/>
              <a:gd name="connsiteX0" fmla="*/ 0 w 985790"/>
              <a:gd name="connsiteY0" fmla="*/ 0 h 452460"/>
              <a:gd name="connsiteX1" fmla="*/ 85351 w 985790"/>
              <a:gd name="connsiteY1" fmla="*/ 61150 h 452460"/>
              <a:gd name="connsiteX2" fmla="*/ 203759 w 985790"/>
              <a:gd name="connsiteY2" fmla="*/ 141439 h 452460"/>
              <a:gd name="connsiteX3" fmla="*/ 214219 w 985790"/>
              <a:gd name="connsiteY3" fmla="*/ 322478 h 452460"/>
              <a:gd name="connsiteX4" fmla="*/ 341405 w 985790"/>
              <a:gd name="connsiteY4" fmla="*/ 162207 h 452460"/>
              <a:gd name="connsiteX5" fmla="*/ 666930 w 985790"/>
              <a:gd name="connsiteY5" fmla="*/ 429689 h 452460"/>
              <a:gd name="connsiteX6" fmla="*/ 985790 w 985790"/>
              <a:gd name="connsiteY6" fmla="*/ 407525 h 452460"/>
              <a:gd name="connsiteX0" fmla="*/ 0 w 900439"/>
              <a:gd name="connsiteY0" fmla="*/ 0 h 391310"/>
              <a:gd name="connsiteX1" fmla="*/ 118408 w 900439"/>
              <a:gd name="connsiteY1" fmla="*/ 80289 h 391310"/>
              <a:gd name="connsiteX2" fmla="*/ 128868 w 900439"/>
              <a:gd name="connsiteY2" fmla="*/ 261328 h 391310"/>
              <a:gd name="connsiteX3" fmla="*/ 256054 w 900439"/>
              <a:gd name="connsiteY3" fmla="*/ 101057 h 391310"/>
              <a:gd name="connsiteX4" fmla="*/ 581579 w 900439"/>
              <a:gd name="connsiteY4" fmla="*/ 368539 h 391310"/>
              <a:gd name="connsiteX5" fmla="*/ 900439 w 900439"/>
              <a:gd name="connsiteY5" fmla="*/ 346375 h 391310"/>
              <a:gd name="connsiteX0" fmla="*/ 0 w 782031"/>
              <a:gd name="connsiteY0" fmla="*/ 0 h 311021"/>
              <a:gd name="connsiteX1" fmla="*/ 10460 w 782031"/>
              <a:gd name="connsiteY1" fmla="*/ 181039 h 311021"/>
              <a:gd name="connsiteX2" fmla="*/ 137646 w 782031"/>
              <a:gd name="connsiteY2" fmla="*/ 20768 h 311021"/>
              <a:gd name="connsiteX3" fmla="*/ 463171 w 782031"/>
              <a:gd name="connsiteY3" fmla="*/ 288250 h 311021"/>
              <a:gd name="connsiteX4" fmla="*/ 782031 w 782031"/>
              <a:gd name="connsiteY4" fmla="*/ 266086 h 311021"/>
              <a:gd name="connsiteX0" fmla="*/ 0 w 771571"/>
              <a:gd name="connsiteY0" fmla="*/ 161509 h 291491"/>
              <a:gd name="connsiteX1" fmla="*/ 127186 w 771571"/>
              <a:gd name="connsiteY1" fmla="*/ 1238 h 291491"/>
              <a:gd name="connsiteX2" fmla="*/ 452711 w 771571"/>
              <a:gd name="connsiteY2" fmla="*/ 268720 h 291491"/>
              <a:gd name="connsiteX3" fmla="*/ 771571 w 771571"/>
              <a:gd name="connsiteY3" fmla="*/ 246556 h 291491"/>
              <a:gd name="connsiteX0" fmla="*/ 0 w 644385"/>
              <a:gd name="connsiteY0" fmla="*/ 0 h 290253"/>
              <a:gd name="connsiteX1" fmla="*/ 325525 w 644385"/>
              <a:gd name="connsiteY1" fmla="*/ 267482 h 290253"/>
              <a:gd name="connsiteX2" fmla="*/ 644385 w 644385"/>
              <a:gd name="connsiteY2" fmla="*/ 245318 h 290253"/>
            </a:gdLst>
            <a:ahLst/>
            <a:cxnLst>
              <a:cxn ang="0">
                <a:pos x="connsiteX0" y="connsiteY0"/>
              </a:cxn>
              <a:cxn ang="0">
                <a:pos x="connsiteX1" y="connsiteY1"/>
              </a:cxn>
              <a:cxn ang="0">
                <a:pos x="connsiteX2" y="connsiteY2"/>
              </a:cxn>
            </a:cxnLst>
            <a:rect l="l" t="t" r="r" b="b"/>
            <a:pathLst>
              <a:path w="644385" h="290253">
                <a:moveTo>
                  <a:pt x="0" y="0"/>
                </a:moveTo>
                <a:cubicBezTo>
                  <a:pt x="75452" y="17868"/>
                  <a:pt x="212680" y="254978"/>
                  <a:pt x="325525" y="267482"/>
                </a:cubicBezTo>
                <a:cubicBezTo>
                  <a:pt x="438370" y="279986"/>
                  <a:pt x="491191" y="322041"/>
                  <a:pt x="644385" y="245318"/>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sz="2000">
              <a:latin typeface="Aptos" panose="020B0004020202020204" pitchFamily="34" charset="0"/>
            </a:endParaRPr>
          </a:p>
        </p:txBody>
      </p:sp>
      <p:cxnSp>
        <p:nvCxnSpPr>
          <p:cNvPr id="28" name="Connettore 2 27"/>
          <p:cNvCxnSpPr>
            <a:stCxn id="15" idx="3"/>
          </p:cNvCxnSpPr>
          <p:nvPr/>
        </p:nvCxnSpPr>
        <p:spPr>
          <a:xfrm flipV="1">
            <a:off x="9389068" y="5588678"/>
            <a:ext cx="2159784" cy="5683"/>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Figura a mano libera 36"/>
          <p:cNvSpPr/>
          <p:nvPr/>
        </p:nvSpPr>
        <p:spPr>
          <a:xfrm>
            <a:off x="10364778" y="5002816"/>
            <a:ext cx="196250" cy="58419"/>
          </a:xfrm>
          <a:custGeom>
            <a:avLst/>
            <a:gdLst>
              <a:gd name="connsiteX0" fmla="*/ 0 w 304800"/>
              <a:gd name="connsiteY0" fmla="*/ 0 h 152400"/>
              <a:gd name="connsiteX1" fmla="*/ 194734 w 304800"/>
              <a:gd name="connsiteY1" fmla="*/ 59267 h 152400"/>
              <a:gd name="connsiteX2" fmla="*/ 304800 w 304800"/>
              <a:gd name="connsiteY2" fmla="*/ 152400 h 152400"/>
              <a:gd name="connsiteX0" fmla="*/ 0 w 304800"/>
              <a:gd name="connsiteY0" fmla="*/ 0 h 152400"/>
              <a:gd name="connsiteX1" fmla="*/ 105834 w 304800"/>
              <a:gd name="connsiteY1" fmla="*/ 29634 h 152400"/>
              <a:gd name="connsiteX2" fmla="*/ 304800 w 304800"/>
              <a:gd name="connsiteY2" fmla="*/ 152400 h 152400"/>
              <a:gd name="connsiteX0" fmla="*/ 0 w 105834"/>
              <a:gd name="connsiteY0" fmla="*/ 0 h 29634"/>
              <a:gd name="connsiteX1" fmla="*/ 105834 w 105834"/>
              <a:gd name="connsiteY1" fmla="*/ 29634 h 29634"/>
              <a:gd name="connsiteX0" fmla="*/ 0 w 165101"/>
              <a:gd name="connsiteY0" fmla="*/ 0 h 55034"/>
              <a:gd name="connsiteX1" fmla="*/ 165101 w 165101"/>
              <a:gd name="connsiteY1" fmla="*/ 55034 h 55034"/>
              <a:gd name="connsiteX0" fmla="*/ 0 w 127022"/>
              <a:gd name="connsiteY0" fmla="*/ 0 h 34650"/>
              <a:gd name="connsiteX1" fmla="*/ 127022 w 127022"/>
              <a:gd name="connsiteY1" fmla="*/ 34650 h 34650"/>
              <a:gd name="connsiteX0" fmla="*/ 0 w 176523"/>
              <a:gd name="connsiteY0" fmla="*/ 0 h 70322"/>
              <a:gd name="connsiteX1" fmla="*/ 176523 w 176523"/>
              <a:gd name="connsiteY1" fmla="*/ 70322 h 70322"/>
              <a:gd name="connsiteX0" fmla="*/ 0 w 176523"/>
              <a:gd name="connsiteY0" fmla="*/ 0 h 70322"/>
              <a:gd name="connsiteX1" fmla="*/ 176523 w 176523"/>
              <a:gd name="connsiteY1" fmla="*/ 70322 h 70322"/>
            </a:gdLst>
            <a:ahLst/>
            <a:cxnLst>
              <a:cxn ang="0">
                <a:pos x="connsiteX0" y="connsiteY0"/>
              </a:cxn>
              <a:cxn ang="0">
                <a:pos x="connsiteX1" y="connsiteY1"/>
              </a:cxn>
            </a:cxnLst>
            <a:rect l="l" t="t" r="r" b="b"/>
            <a:pathLst>
              <a:path w="176523" h="70322">
                <a:moveTo>
                  <a:pt x="0" y="0"/>
                </a:moveTo>
                <a:cubicBezTo>
                  <a:pt x="98622" y="32221"/>
                  <a:pt x="125723" y="44922"/>
                  <a:pt x="176523" y="70322"/>
                </a:cubicBezTo>
              </a:path>
            </a:pathLst>
          </a:cu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Tree>
    <p:extLst>
      <p:ext uri="{BB962C8B-B14F-4D97-AF65-F5344CB8AC3E}">
        <p14:creationId xmlns:p14="http://schemas.microsoft.com/office/powerpoint/2010/main" val="325159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Communication</a:t>
            </a:r>
            <a:r>
              <a:rPr lang="it-IT" dirty="0"/>
              <a:t> </a:t>
            </a:r>
            <a:r>
              <a:rPr lang="it-IT" dirty="0" err="1"/>
              <a:t>systems</a:t>
            </a:r>
            <a:endParaRPr lang="en-GB" dirty="0"/>
          </a:p>
        </p:txBody>
      </p:sp>
      <p:sp>
        <p:nvSpPr>
          <p:cNvPr id="3" name="Segnaposto contenuto 2"/>
          <p:cNvSpPr>
            <a:spLocks noGrp="1"/>
          </p:cNvSpPr>
          <p:nvPr>
            <p:ph idx="1"/>
          </p:nvPr>
        </p:nvSpPr>
        <p:spPr>
          <a:xfrm>
            <a:off x="428172" y="1361167"/>
            <a:ext cx="11368314" cy="4203609"/>
          </a:xfrm>
        </p:spPr>
        <p:txBody>
          <a:bodyPr>
            <a:normAutofit/>
          </a:bodyPr>
          <a:lstStyle/>
          <a:p>
            <a:r>
              <a:rPr lang="en-GB" dirty="0"/>
              <a:t>Wearable devices require a data transmission systems that </a:t>
            </a:r>
            <a:r>
              <a:rPr lang="en-GB" b="1" dirty="0"/>
              <a:t>wirelessly</a:t>
            </a:r>
            <a:r>
              <a:rPr lang="en-GB" dirty="0"/>
              <a:t> communicate between the sensing device and the receiver and/or gateway device (it can be the smartphone).</a:t>
            </a:r>
          </a:p>
          <a:p>
            <a:r>
              <a:rPr lang="en-GB" b="1" dirty="0"/>
              <a:t>Bluetooth communication </a:t>
            </a:r>
            <a:r>
              <a:rPr lang="en-GB" dirty="0"/>
              <a:t>is the primary choice because of its simplicity, low operation cost, compatibility with new smartphone technology, and simple hardware. Drawback: it requires high power consumption.</a:t>
            </a:r>
          </a:p>
          <a:p>
            <a:r>
              <a:rPr lang="it-IT" b="1" dirty="0" err="1"/>
              <a:t>Near</a:t>
            </a:r>
            <a:r>
              <a:rPr lang="it-IT" b="1" dirty="0"/>
              <a:t> field </a:t>
            </a:r>
            <a:r>
              <a:rPr lang="it-IT" b="1" dirty="0" err="1"/>
              <a:t>communication</a:t>
            </a:r>
            <a:r>
              <a:rPr lang="it-IT" b="1" dirty="0"/>
              <a:t> (NFC): </a:t>
            </a:r>
            <a:r>
              <a:rPr lang="en-GB" dirty="0"/>
              <a:t>a wireless communication technology that operates at a short distance (about 4 cm) and does not need the energy from the battery to transfer the data.</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1709" y="4618416"/>
            <a:ext cx="2743200" cy="1666875"/>
          </a:xfrm>
          <a:prstGeom prst="rect">
            <a:avLst/>
          </a:prstGeom>
        </p:spPr>
      </p:pic>
      <p:sp>
        <p:nvSpPr>
          <p:cNvPr id="5" name="Rettangolo 4"/>
          <p:cNvSpPr/>
          <p:nvPr/>
        </p:nvSpPr>
        <p:spPr>
          <a:xfrm>
            <a:off x="428172" y="4694551"/>
            <a:ext cx="8343537" cy="1882567"/>
          </a:xfrm>
          <a:prstGeom prst="rect">
            <a:avLst/>
          </a:prstGeom>
        </p:spPr>
        <p:txBody>
          <a:bodyPr wrap="square">
            <a:spAutoFit/>
          </a:bodyPr>
          <a:lstStyle/>
          <a:p>
            <a:pPr marL="342900" indent="-342900">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NFC tags can directly communicate with the smartphone equipped with the NFC modules.</a:t>
            </a:r>
          </a:p>
          <a:p>
            <a:pPr marL="342900" indent="-342900">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Bypassing the need for batteries, NFC enables ultrathin, ultraminiaturized designs for sensors, like a temporary transfer tattoo.</a:t>
            </a:r>
          </a:p>
        </p:txBody>
      </p:sp>
      <p:sp>
        <p:nvSpPr>
          <p:cNvPr id="6" name="Segnaposto numero diapositiva 5"/>
          <p:cNvSpPr>
            <a:spLocks noGrp="1"/>
          </p:cNvSpPr>
          <p:nvPr>
            <p:ph type="sldNum" sz="quarter" idx="12"/>
          </p:nvPr>
        </p:nvSpPr>
        <p:spPr/>
        <p:txBody>
          <a:bodyPr/>
          <a:lstStyle/>
          <a:p>
            <a:fld id="{31DE2C5B-556E-47B8-A792-024C2FCA4ACC}" type="slidenum">
              <a:rPr lang="en-GB" smtClean="0"/>
              <a:t>40</a:t>
            </a:fld>
            <a:endParaRPr lang="en-GB"/>
          </a:p>
        </p:txBody>
      </p:sp>
      <p:sp>
        <p:nvSpPr>
          <p:cNvPr id="7" name="TextBox 6">
            <a:extLst>
              <a:ext uri="{FF2B5EF4-FFF2-40B4-BE49-F238E27FC236}">
                <a16:creationId xmlns:a16="http://schemas.microsoft.com/office/drawing/2014/main" id="{4BD8C450-B45C-0736-C38D-46DFB8158F21}"/>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003061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The architecture of wearable </a:t>
            </a:r>
            <a:r>
              <a:rPr lang="en-US" dirty="0" err="1"/>
              <a:t>IoT</a:t>
            </a:r>
            <a:r>
              <a:rPr lang="en-US" dirty="0"/>
              <a:t> systems</a:t>
            </a:r>
          </a:p>
        </p:txBody>
      </p:sp>
      <p:sp>
        <p:nvSpPr>
          <p:cNvPr id="4" name="Rettangolo arrotondato 3"/>
          <p:cNvSpPr/>
          <p:nvPr/>
        </p:nvSpPr>
        <p:spPr>
          <a:xfrm>
            <a:off x="586154" y="5457092"/>
            <a:ext cx="10861431" cy="1260000"/>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 name="CasellaDiTesto 4"/>
          <p:cNvSpPr txBox="1"/>
          <p:nvPr/>
        </p:nvSpPr>
        <p:spPr>
          <a:xfrm>
            <a:off x="658166" y="5902426"/>
            <a:ext cx="2620108" cy="369332"/>
          </a:xfrm>
          <a:prstGeom prst="rect">
            <a:avLst/>
          </a:prstGeom>
          <a:noFill/>
        </p:spPr>
        <p:txBody>
          <a:bodyPr wrap="square" rtlCol="0">
            <a:spAutoFit/>
          </a:bodyPr>
          <a:lstStyle/>
          <a:p>
            <a:r>
              <a:rPr lang="it-IT" b="1" dirty="0">
                <a:latin typeface="Aptos" panose="020B0004020202020204" pitchFamily="34" charset="0"/>
              </a:rPr>
              <a:t>1. </a:t>
            </a:r>
            <a:r>
              <a:rPr lang="it-IT" b="1" dirty="0" err="1">
                <a:latin typeface="Aptos" panose="020B0004020202020204" pitchFamily="34" charset="0"/>
              </a:rPr>
              <a:t>Sensing</a:t>
            </a:r>
            <a:r>
              <a:rPr lang="it-IT" b="1" dirty="0">
                <a:latin typeface="Aptos" panose="020B0004020202020204" pitchFamily="34" charset="0"/>
              </a:rPr>
              <a:t> </a:t>
            </a:r>
            <a:r>
              <a:rPr lang="it-IT" b="1" dirty="0" err="1">
                <a:latin typeface="Aptos" panose="020B0004020202020204" pitchFamily="34" charset="0"/>
              </a:rPr>
              <a:t>layer</a:t>
            </a:r>
            <a:endParaRPr lang="en-GB" b="1" dirty="0">
              <a:latin typeface="Aptos" panose="020B0004020202020204" pitchFamily="34" charset="0"/>
            </a:endParaRPr>
          </a:p>
        </p:txBody>
      </p:sp>
      <p:sp>
        <p:nvSpPr>
          <p:cNvPr id="6" name="Rettangolo arrotondato 5"/>
          <p:cNvSpPr/>
          <p:nvPr/>
        </p:nvSpPr>
        <p:spPr>
          <a:xfrm>
            <a:off x="586154" y="4091374"/>
            <a:ext cx="10861431" cy="1260000"/>
          </a:xfrm>
          <a:prstGeom prst="round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CasellaDiTesto 6"/>
          <p:cNvSpPr txBox="1"/>
          <p:nvPr/>
        </p:nvSpPr>
        <p:spPr>
          <a:xfrm>
            <a:off x="658166" y="4536708"/>
            <a:ext cx="2620108" cy="369332"/>
          </a:xfrm>
          <a:prstGeom prst="rect">
            <a:avLst/>
          </a:prstGeom>
          <a:noFill/>
        </p:spPr>
        <p:txBody>
          <a:bodyPr wrap="square" rtlCol="0">
            <a:spAutoFit/>
          </a:bodyPr>
          <a:lstStyle/>
          <a:p>
            <a:r>
              <a:rPr lang="it-IT" b="1" dirty="0">
                <a:latin typeface="Aptos" panose="020B0004020202020204" pitchFamily="34" charset="0"/>
              </a:rPr>
              <a:t>2. Network </a:t>
            </a:r>
            <a:r>
              <a:rPr lang="it-IT" b="1" dirty="0" err="1">
                <a:latin typeface="Aptos" panose="020B0004020202020204" pitchFamily="34" charset="0"/>
              </a:rPr>
              <a:t>layer</a:t>
            </a:r>
            <a:endParaRPr lang="en-GB" b="1" dirty="0">
              <a:latin typeface="Aptos" panose="020B0004020202020204" pitchFamily="34" charset="0"/>
            </a:endParaRPr>
          </a:p>
        </p:txBody>
      </p:sp>
      <p:sp>
        <p:nvSpPr>
          <p:cNvPr id="8" name="Rettangolo arrotondato 7"/>
          <p:cNvSpPr/>
          <p:nvPr/>
        </p:nvSpPr>
        <p:spPr>
          <a:xfrm>
            <a:off x="586153" y="2719790"/>
            <a:ext cx="10861431" cy="1260000"/>
          </a:xfrm>
          <a:prstGeom prst="round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9" name="CasellaDiTesto 8"/>
          <p:cNvSpPr txBox="1"/>
          <p:nvPr/>
        </p:nvSpPr>
        <p:spPr>
          <a:xfrm>
            <a:off x="666143" y="3037008"/>
            <a:ext cx="2804745" cy="646331"/>
          </a:xfrm>
          <a:prstGeom prst="rect">
            <a:avLst/>
          </a:prstGeom>
          <a:noFill/>
        </p:spPr>
        <p:txBody>
          <a:bodyPr wrap="square" rtlCol="0">
            <a:spAutoFit/>
          </a:bodyPr>
          <a:lstStyle/>
          <a:p>
            <a:r>
              <a:rPr lang="it-IT" b="1" dirty="0">
                <a:latin typeface="Aptos" panose="020B0004020202020204" pitchFamily="34" charset="0"/>
              </a:rPr>
              <a:t>3. Data </a:t>
            </a:r>
            <a:r>
              <a:rPr lang="it-IT" b="1" dirty="0" err="1">
                <a:latin typeface="Aptos" panose="020B0004020202020204" pitchFamily="34" charset="0"/>
              </a:rPr>
              <a:t>storing</a:t>
            </a:r>
            <a:r>
              <a:rPr lang="it-IT" b="1" dirty="0">
                <a:latin typeface="Aptos" panose="020B0004020202020204" pitchFamily="34" charset="0"/>
              </a:rPr>
              <a:t> and processing </a:t>
            </a:r>
            <a:r>
              <a:rPr lang="it-IT" b="1" dirty="0" err="1">
                <a:latin typeface="Aptos" panose="020B0004020202020204" pitchFamily="34" charset="0"/>
              </a:rPr>
              <a:t>layer</a:t>
            </a:r>
            <a:endParaRPr lang="en-GB" b="1" dirty="0">
              <a:latin typeface="Aptos" panose="020B0004020202020204" pitchFamily="34" charset="0"/>
            </a:endParaRPr>
          </a:p>
        </p:txBody>
      </p:sp>
      <p:sp>
        <p:nvSpPr>
          <p:cNvPr id="10" name="Rettangolo arrotondato 9"/>
          <p:cNvSpPr/>
          <p:nvPr/>
        </p:nvSpPr>
        <p:spPr>
          <a:xfrm>
            <a:off x="586153" y="1331674"/>
            <a:ext cx="10796954" cy="1260000"/>
          </a:xfrm>
          <a:prstGeom prst="roundRect">
            <a:avLst/>
          </a:prstGeom>
          <a:no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1" name="CasellaDiTesto 10"/>
          <p:cNvSpPr txBox="1"/>
          <p:nvPr/>
        </p:nvSpPr>
        <p:spPr>
          <a:xfrm>
            <a:off x="658166" y="1777008"/>
            <a:ext cx="2620108" cy="369332"/>
          </a:xfrm>
          <a:prstGeom prst="rect">
            <a:avLst/>
          </a:prstGeom>
          <a:noFill/>
        </p:spPr>
        <p:txBody>
          <a:bodyPr wrap="square" rtlCol="0">
            <a:spAutoFit/>
          </a:bodyPr>
          <a:lstStyle/>
          <a:p>
            <a:r>
              <a:rPr lang="it-IT" b="1" dirty="0">
                <a:latin typeface="Aptos" panose="020B0004020202020204" pitchFamily="34" charset="0"/>
              </a:rPr>
              <a:t>4. Application </a:t>
            </a:r>
            <a:r>
              <a:rPr lang="it-IT" b="1" dirty="0" err="1">
                <a:latin typeface="Aptos" panose="020B0004020202020204" pitchFamily="34" charset="0"/>
              </a:rPr>
              <a:t>layer</a:t>
            </a:r>
            <a:endParaRPr lang="en-GB" b="1" dirty="0">
              <a:latin typeface="Aptos" panose="020B0004020202020204" pitchFamily="34" charset="0"/>
            </a:endParaRPr>
          </a:p>
        </p:txBody>
      </p:sp>
      <p:sp>
        <p:nvSpPr>
          <p:cNvPr id="12" name="CasellaDiTesto 11"/>
          <p:cNvSpPr txBox="1"/>
          <p:nvPr/>
        </p:nvSpPr>
        <p:spPr>
          <a:xfrm>
            <a:off x="3206262" y="1488831"/>
            <a:ext cx="1453661" cy="369332"/>
          </a:xfrm>
          <a:prstGeom prst="rect">
            <a:avLst/>
          </a:prstGeom>
          <a:noFill/>
        </p:spPr>
        <p:txBody>
          <a:bodyPr wrap="square" rtlCol="0">
            <a:spAutoFit/>
          </a:bodyPr>
          <a:lstStyle/>
          <a:p>
            <a:r>
              <a:rPr lang="it-IT" dirty="0">
                <a:latin typeface="Aptos" panose="020B0004020202020204" pitchFamily="34" charset="0"/>
              </a:rPr>
              <a:t>Alerts</a:t>
            </a:r>
            <a:endParaRPr lang="en-GB" dirty="0">
              <a:latin typeface="Aptos" panose="020B0004020202020204" pitchFamily="34" charset="0"/>
            </a:endParaRPr>
          </a:p>
        </p:txBody>
      </p:sp>
      <p:sp>
        <p:nvSpPr>
          <p:cNvPr id="13" name="CasellaDiTesto 12"/>
          <p:cNvSpPr txBox="1"/>
          <p:nvPr/>
        </p:nvSpPr>
        <p:spPr>
          <a:xfrm>
            <a:off x="4654063" y="1488831"/>
            <a:ext cx="2344614" cy="369332"/>
          </a:xfrm>
          <a:prstGeom prst="rect">
            <a:avLst/>
          </a:prstGeom>
          <a:noFill/>
        </p:spPr>
        <p:txBody>
          <a:bodyPr wrap="square" rtlCol="0">
            <a:spAutoFit/>
          </a:bodyPr>
          <a:lstStyle/>
          <a:p>
            <a:r>
              <a:rPr lang="it-IT" dirty="0" err="1">
                <a:latin typeface="Aptos" panose="020B0004020202020204" pitchFamily="34" charset="0"/>
              </a:rPr>
              <a:t>Decision-support</a:t>
            </a:r>
            <a:endParaRPr lang="en-GB" dirty="0">
              <a:latin typeface="Aptos" panose="020B0004020202020204" pitchFamily="34" charset="0"/>
            </a:endParaRPr>
          </a:p>
        </p:txBody>
      </p:sp>
      <p:sp>
        <p:nvSpPr>
          <p:cNvPr id="14" name="CasellaDiTesto 13"/>
          <p:cNvSpPr txBox="1"/>
          <p:nvPr/>
        </p:nvSpPr>
        <p:spPr>
          <a:xfrm>
            <a:off x="6998677" y="1488831"/>
            <a:ext cx="1260231" cy="369332"/>
          </a:xfrm>
          <a:prstGeom prst="rect">
            <a:avLst/>
          </a:prstGeom>
          <a:noFill/>
        </p:spPr>
        <p:txBody>
          <a:bodyPr wrap="square" rtlCol="0">
            <a:spAutoFit/>
          </a:bodyPr>
          <a:lstStyle/>
          <a:p>
            <a:r>
              <a:rPr lang="it-IT" dirty="0" err="1">
                <a:latin typeface="Aptos" panose="020B0004020202020204" pitchFamily="34" charset="0"/>
              </a:rPr>
              <a:t>Event</a:t>
            </a:r>
            <a:r>
              <a:rPr lang="it-IT" dirty="0">
                <a:latin typeface="Aptos" panose="020B0004020202020204" pitchFamily="34" charset="0"/>
              </a:rPr>
              <a:t> log</a:t>
            </a:r>
            <a:endParaRPr lang="en-GB" dirty="0">
              <a:latin typeface="Aptos" panose="020B0004020202020204" pitchFamily="34" charset="0"/>
            </a:endParaRPr>
          </a:p>
        </p:txBody>
      </p:sp>
      <p:sp>
        <p:nvSpPr>
          <p:cNvPr id="15" name="CasellaDiTesto 14"/>
          <p:cNvSpPr txBox="1"/>
          <p:nvPr/>
        </p:nvSpPr>
        <p:spPr>
          <a:xfrm>
            <a:off x="8991601" y="1501647"/>
            <a:ext cx="2086707" cy="369332"/>
          </a:xfrm>
          <a:prstGeom prst="rect">
            <a:avLst/>
          </a:prstGeom>
          <a:noFill/>
        </p:spPr>
        <p:txBody>
          <a:bodyPr wrap="square" rtlCol="0">
            <a:spAutoFit/>
          </a:bodyPr>
          <a:lstStyle/>
          <a:p>
            <a:r>
              <a:rPr lang="it-IT" dirty="0">
                <a:latin typeface="Aptos" panose="020B0004020202020204" pitchFamily="34" charset="0"/>
              </a:rPr>
              <a:t>Self-management</a:t>
            </a:r>
            <a:endParaRPr lang="en-GB" dirty="0">
              <a:latin typeface="Aptos" panose="020B0004020202020204" pitchFamily="34" charset="0"/>
            </a:endParaRPr>
          </a:p>
        </p:txBody>
      </p:sp>
      <p:sp>
        <p:nvSpPr>
          <p:cNvPr id="16" name="CasellaDiTesto 15"/>
          <p:cNvSpPr txBox="1"/>
          <p:nvPr/>
        </p:nvSpPr>
        <p:spPr>
          <a:xfrm>
            <a:off x="5701662" y="2801335"/>
            <a:ext cx="1922585" cy="369332"/>
          </a:xfrm>
          <a:prstGeom prst="rect">
            <a:avLst/>
          </a:prstGeom>
          <a:noFill/>
        </p:spPr>
        <p:txBody>
          <a:bodyPr wrap="square" rtlCol="0">
            <a:spAutoFit/>
          </a:bodyPr>
          <a:lstStyle/>
          <a:p>
            <a:r>
              <a:rPr lang="it-IT" dirty="0">
                <a:latin typeface="Aptos" panose="020B0004020202020204" pitchFamily="34" charset="0"/>
              </a:rPr>
              <a:t>Data </a:t>
            </a:r>
            <a:r>
              <a:rPr lang="it-IT" dirty="0" err="1">
                <a:latin typeface="Aptos" panose="020B0004020202020204" pitchFamily="34" charset="0"/>
              </a:rPr>
              <a:t>analyses</a:t>
            </a:r>
            <a:endParaRPr lang="en-GB" dirty="0">
              <a:latin typeface="Aptos" panose="020B0004020202020204" pitchFamily="34" charset="0"/>
            </a:endParaRPr>
          </a:p>
        </p:txBody>
      </p:sp>
      <p:sp>
        <p:nvSpPr>
          <p:cNvPr id="17" name="CasellaDiTesto 16"/>
          <p:cNvSpPr txBox="1"/>
          <p:nvPr/>
        </p:nvSpPr>
        <p:spPr>
          <a:xfrm>
            <a:off x="8302649" y="2811852"/>
            <a:ext cx="3845171" cy="369332"/>
          </a:xfrm>
          <a:prstGeom prst="rect">
            <a:avLst/>
          </a:prstGeom>
          <a:noFill/>
        </p:spPr>
        <p:txBody>
          <a:bodyPr wrap="square" rtlCol="0">
            <a:spAutoFit/>
          </a:bodyPr>
          <a:lstStyle/>
          <a:p>
            <a:pPr algn="ctr"/>
            <a:r>
              <a:rPr lang="it-IT" dirty="0" err="1">
                <a:latin typeface="Aptos" panose="020B0004020202020204" pitchFamily="34" charset="0"/>
              </a:rPr>
              <a:t>Modeling</a:t>
            </a:r>
            <a:r>
              <a:rPr lang="it-IT" dirty="0">
                <a:latin typeface="Aptos" panose="020B0004020202020204" pitchFamily="34" charset="0"/>
              </a:rPr>
              <a:t> </a:t>
            </a:r>
          </a:p>
        </p:txBody>
      </p:sp>
      <p:sp>
        <p:nvSpPr>
          <p:cNvPr id="18" name="CasellaDiTesto 17"/>
          <p:cNvSpPr txBox="1"/>
          <p:nvPr/>
        </p:nvSpPr>
        <p:spPr>
          <a:xfrm>
            <a:off x="7527578" y="2808458"/>
            <a:ext cx="2819399" cy="369332"/>
          </a:xfrm>
          <a:prstGeom prst="rect">
            <a:avLst/>
          </a:prstGeom>
          <a:noFill/>
        </p:spPr>
        <p:txBody>
          <a:bodyPr wrap="square" rtlCol="0">
            <a:spAutoFit/>
          </a:bodyPr>
          <a:lstStyle/>
          <a:p>
            <a:r>
              <a:rPr lang="it-IT" dirty="0" err="1">
                <a:latin typeface="Aptos" panose="020B0004020202020204" pitchFamily="34" charset="0"/>
              </a:rPr>
              <a:t>Signal</a:t>
            </a:r>
            <a:r>
              <a:rPr lang="it-IT" dirty="0">
                <a:latin typeface="Aptos" panose="020B0004020202020204" pitchFamily="34" charset="0"/>
              </a:rPr>
              <a:t> processing</a:t>
            </a:r>
            <a:endParaRPr lang="en-GB" dirty="0">
              <a:latin typeface="Aptos" panose="020B0004020202020204" pitchFamily="34" charset="0"/>
            </a:endParaRPr>
          </a:p>
        </p:txBody>
      </p:sp>
      <p:sp>
        <p:nvSpPr>
          <p:cNvPr id="19" name="CasellaDiTesto 18"/>
          <p:cNvSpPr txBox="1"/>
          <p:nvPr/>
        </p:nvSpPr>
        <p:spPr>
          <a:xfrm>
            <a:off x="2642052" y="4178031"/>
            <a:ext cx="2442348" cy="369332"/>
          </a:xfrm>
          <a:prstGeom prst="rect">
            <a:avLst/>
          </a:prstGeom>
          <a:noFill/>
        </p:spPr>
        <p:txBody>
          <a:bodyPr wrap="square" rtlCol="0">
            <a:spAutoFit/>
          </a:bodyPr>
          <a:lstStyle/>
          <a:p>
            <a:pPr algn="ctr"/>
            <a:r>
              <a:rPr lang="it-IT" dirty="0">
                <a:latin typeface="Aptos" panose="020B0004020202020204" pitchFamily="34" charset="0"/>
              </a:rPr>
              <a:t>Gateway </a:t>
            </a:r>
            <a:r>
              <a:rPr lang="it-IT" dirty="0" err="1">
                <a:latin typeface="Aptos" panose="020B0004020202020204" pitchFamily="34" charset="0"/>
              </a:rPr>
              <a:t>device</a:t>
            </a:r>
            <a:endParaRPr lang="en-GB" dirty="0">
              <a:latin typeface="Aptos" panose="020B0004020202020204" pitchFamily="34" charset="0"/>
            </a:endParaRPr>
          </a:p>
        </p:txBody>
      </p:sp>
      <p:sp>
        <p:nvSpPr>
          <p:cNvPr id="20" name="CasellaDiTesto 19"/>
          <p:cNvSpPr txBox="1"/>
          <p:nvPr/>
        </p:nvSpPr>
        <p:spPr>
          <a:xfrm>
            <a:off x="5704075" y="4141499"/>
            <a:ext cx="1922585" cy="646331"/>
          </a:xfrm>
          <a:prstGeom prst="rect">
            <a:avLst/>
          </a:prstGeom>
          <a:noFill/>
        </p:spPr>
        <p:txBody>
          <a:bodyPr wrap="square" rtlCol="0">
            <a:spAutoFit/>
          </a:bodyPr>
          <a:lstStyle/>
          <a:p>
            <a:r>
              <a:rPr lang="it-IT" dirty="0" err="1">
                <a:latin typeface="Aptos" panose="020B0004020202020204" pitchFamily="34" charset="0"/>
              </a:rPr>
              <a:t>WiFi</a:t>
            </a:r>
            <a:r>
              <a:rPr lang="it-IT" dirty="0">
                <a:latin typeface="Aptos" panose="020B0004020202020204" pitchFamily="34" charset="0"/>
              </a:rPr>
              <a:t>, </a:t>
            </a:r>
          </a:p>
          <a:p>
            <a:r>
              <a:rPr lang="it-IT" dirty="0">
                <a:latin typeface="Aptos" panose="020B0004020202020204" pitchFamily="34" charset="0"/>
              </a:rPr>
              <a:t>Router </a:t>
            </a:r>
            <a:endParaRPr lang="en-GB" dirty="0">
              <a:latin typeface="Aptos" panose="020B0004020202020204" pitchFamily="34" charset="0"/>
            </a:endParaRPr>
          </a:p>
        </p:txBody>
      </p:sp>
      <p:sp>
        <p:nvSpPr>
          <p:cNvPr id="22" name="CasellaDiTesto 21"/>
          <p:cNvSpPr txBox="1"/>
          <p:nvPr/>
        </p:nvSpPr>
        <p:spPr>
          <a:xfrm>
            <a:off x="9174823" y="4234017"/>
            <a:ext cx="1922585" cy="369332"/>
          </a:xfrm>
          <a:prstGeom prst="rect">
            <a:avLst/>
          </a:prstGeom>
          <a:noFill/>
        </p:spPr>
        <p:txBody>
          <a:bodyPr wrap="square" rtlCol="0">
            <a:spAutoFit/>
          </a:bodyPr>
          <a:lstStyle/>
          <a:p>
            <a:r>
              <a:rPr lang="it-IT" dirty="0">
                <a:latin typeface="Aptos" panose="020B0004020202020204" pitchFamily="34" charset="0"/>
              </a:rPr>
              <a:t>Internet</a:t>
            </a:r>
            <a:endParaRPr lang="en-GB" dirty="0">
              <a:latin typeface="Aptos" panose="020B0004020202020204" pitchFamily="34" charset="0"/>
            </a:endParaRPr>
          </a:p>
        </p:txBody>
      </p:sp>
      <p:sp>
        <p:nvSpPr>
          <p:cNvPr id="23" name="CasellaDiTesto 22"/>
          <p:cNvSpPr txBox="1"/>
          <p:nvPr/>
        </p:nvSpPr>
        <p:spPr>
          <a:xfrm>
            <a:off x="6187264" y="5525689"/>
            <a:ext cx="1541585" cy="369332"/>
          </a:xfrm>
          <a:prstGeom prst="rect">
            <a:avLst/>
          </a:prstGeom>
          <a:noFill/>
        </p:spPr>
        <p:txBody>
          <a:bodyPr wrap="square" rtlCol="0">
            <a:spAutoFit/>
          </a:bodyPr>
          <a:lstStyle/>
          <a:p>
            <a:r>
              <a:rPr lang="it-IT" dirty="0" err="1">
                <a:latin typeface="Aptos" panose="020B0004020202020204" pitchFamily="34" charset="0"/>
              </a:rPr>
              <a:t>Sensors</a:t>
            </a:r>
            <a:endParaRPr lang="en-GB" sz="2400" dirty="0">
              <a:latin typeface="Aptos" panose="020B0004020202020204" pitchFamily="34" charset="0"/>
            </a:endParaRPr>
          </a:p>
        </p:txBody>
      </p:sp>
      <p:sp>
        <p:nvSpPr>
          <p:cNvPr id="24" name="CasellaDiTesto 23"/>
          <p:cNvSpPr txBox="1"/>
          <p:nvPr/>
        </p:nvSpPr>
        <p:spPr>
          <a:xfrm>
            <a:off x="3114146" y="5660879"/>
            <a:ext cx="2086711" cy="307777"/>
          </a:xfrm>
          <a:prstGeom prst="rect">
            <a:avLst/>
          </a:prstGeom>
          <a:noFill/>
        </p:spPr>
        <p:txBody>
          <a:bodyPr wrap="square" rtlCol="0">
            <a:spAutoFit/>
          </a:bodyPr>
          <a:lstStyle/>
          <a:p>
            <a:r>
              <a:rPr lang="it-IT" sz="1400" dirty="0">
                <a:latin typeface="Aptos" panose="020B0004020202020204" pitchFamily="34" charset="0"/>
              </a:rPr>
              <a:t>Activity </a:t>
            </a:r>
            <a:r>
              <a:rPr lang="it-IT" sz="1400" dirty="0" err="1">
                <a:latin typeface="Aptos" panose="020B0004020202020204" pitchFamily="34" charset="0"/>
              </a:rPr>
              <a:t>tracker</a:t>
            </a:r>
            <a:endParaRPr lang="en-GB" sz="1400" dirty="0">
              <a:latin typeface="Aptos" panose="020B0004020202020204" pitchFamily="34" charset="0"/>
            </a:endParaRPr>
          </a:p>
        </p:txBody>
      </p:sp>
      <p:sp>
        <p:nvSpPr>
          <p:cNvPr id="25" name="CasellaDiTesto 24"/>
          <p:cNvSpPr txBox="1"/>
          <p:nvPr/>
        </p:nvSpPr>
        <p:spPr>
          <a:xfrm>
            <a:off x="5068973" y="6332950"/>
            <a:ext cx="2086711" cy="307777"/>
          </a:xfrm>
          <a:prstGeom prst="rect">
            <a:avLst/>
          </a:prstGeom>
          <a:noFill/>
        </p:spPr>
        <p:txBody>
          <a:bodyPr wrap="square" rtlCol="0">
            <a:spAutoFit/>
          </a:bodyPr>
          <a:lstStyle/>
          <a:p>
            <a:r>
              <a:rPr lang="it-IT" sz="1400" dirty="0">
                <a:latin typeface="Aptos" panose="020B0004020202020204" pitchFamily="34" charset="0"/>
              </a:rPr>
              <a:t>Blood pressure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6" name="CasellaDiTesto 25"/>
          <p:cNvSpPr txBox="1"/>
          <p:nvPr/>
        </p:nvSpPr>
        <p:spPr>
          <a:xfrm>
            <a:off x="7728849" y="5701229"/>
            <a:ext cx="2086711" cy="307777"/>
          </a:xfrm>
          <a:prstGeom prst="rect">
            <a:avLst/>
          </a:prstGeom>
          <a:noFill/>
        </p:spPr>
        <p:txBody>
          <a:bodyPr wrap="square" rtlCol="0">
            <a:spAutoFit/>
          </a:bodyPr>
          <a:lstStyle/>
          <a:p>
            <a:r>
              <a:rPr lang="it-IT" sz="1400" dirty="0">
                <a:latin typeface="Aptos" panose="020B0004020202020204" pitchFamily="34" charset="0"/>
              </a:rPr>
              <a:t>ECG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7" name="CasellaDiTesto 26"/>
          <p:cNvSpPr txBox="1"/>
          <p:nvPr/>
        </p:nvSpPr>
        <p:spPr>
          <a:xfrm>
            <a:off x="9709775" y="6332949"/>
            <a:ext cx="2086711" cy="307777"/>
          </a:xfrm>
          <a:prstGeom prst="rect">
            <a:avLst/>
          </a:prstGeom>
          <a:noFill/>
        </p:spPr>
        <p:txBody>
          <a:bodyPr wrap="square" rtlCol="0">
            <a:spAutoFit/>
          </a:bodyPr>
          <a:lstStyle/>
          <a:p>
            <a:r>
              <a:rPr lang="it-IT" sz="1400" dirty="0" err="1">
                <a:latin typeface="Aptos" panose="020B0004020202020204" pitchFamily="34" charset="0"/>
              </a:rPr>
              <a:t>Glucose</a:t>
            </a:r>
            <a:r>
              <a:rPr lang="it-IT" sz="1400" dirty="0">
                <a:latin typeface="Aptos" panose="020B0004020202020204" pitchFamily="34" charset="0"/>
              </a:rPr>
              <a:t>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9" name="Nuvola 28"/>
          <p:cNvSpPr/>
          <p:nvPr/>
        </p:nvSpPr>
        <p:spPr>
          <a:xfrm>
            <a:off x="9087036" y="4595118"/>
            <a:ext cx="1148861" cy="468923"/>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latin typeface="Aptos" panose="020B0004020202020204" pitchFamily="34" charset="0"/>
            </a:endParaRPr>
          </a:p>
        </p:txBody>
      </p:sp>
      <p:sp>
        <p:nvSpPr>
          <p:cNvPr id="30" name="Freccia bidirezionale orizzontale 29"/>
          <p:cNvSpPr/>
          <p:nvPr/>
        </p:nvSpPr>
        <p:spPr>
          <a:xfrm>
            <a:off x="4317616" y="4744982"/>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32" name="Immagine 31"/>
          <p:cNvPicPr>
            <a:picLocks noChangeAspect="1"/>
          </p:cNvPicPr>
          <p:nvPr/>
        </p:nvPicPr>
        <p:blipFill rotWithShape="1">
          <a:blip r:embed="rId2" cstate="print">
            <a:extLst>
              <a:ext uri="{28A0092B-C50C-407E-A947-70E740481C1C}">
                <a14:useLocalDpi xmlns:a14="http://schemas.microsoft.com/office/drawing/2010/main" val="0"/>
              </a:ext>
            </a:extLst>
          </a:blip>
          <a:srcRect t="13660" b="12302"/>
          <a:stretch/>
        </p:blipFill>
        <p:spPr>
          <a:xfrm>
            <a:off x="6568116" y="4163857"/>
            <a:ext cx="790166" cy="585025"/>
          </a:xfrm>
          <a:prstGeom prst="rect">
            <a:avLst/>
          </a:prstGeom>
        </p:spPr>
      </p:pic>
      <p:sp>
        <p:nvSpPr>
          <p:cNvPr id="34" name="CasellaDiTesto 33"/>
          <p:cNvSpPr txBox="1"/>
          <p:nvPr/>
        </p:nvSpPr>
        <p:spPr>
          <a:xfrm>
            <a:off x="5832653" y="4855596"/>
            <a:ext cx="751125" cy="369332"/>
          </a:xfrm>
          <a:prstGeom prst="rect">
            <a:avLst/>
          </a:prstGeom>
          <a:noFill/>
        </p:spPr>
        <p:txBody>
          <a:bodyPr wrap="square" rtlCol="0">
            <a:spAutoFit/>
          </a:bodyPr>
          <a:lstStyle/>
          <a:p>
            <a:r>
              <a:rPr lang="it-IT" dirty="0">
                <a:latin typeface="Aptos" panose="020B0004020202020204" pitchFamily="34" charset="0"/>
              </a:rPr>
              <a:t>GSM</a:t>
            </a:r>
            <a:endParaRPr lang="en-GB" dirty="0">
              <a:latin typeface="Aptos" panose="020B0004020202020204" pitchFamily="34" charset="0"/>
            </a:endParaRPr>
          </a:p>
        </p:txBody>
      </p:sp>
      <p:pic>
        <p:nvPicPr>
          <p:cNvPr id="35" name="Immagine 34"/>
          <p:cNvPicPr>
            <a:picLocks noChangeAspect="1"/>
          </p:cNvPicPr>
          <p:nvPr/>
        </p:nvPicPr>
        <p:blipFill rotWithShape="1">
          <a:blip r:embed="rId3" cstate="print">
            <a:extLst>
              <a:ext uri="{28A0092B-C50C-407E-A947-70E740481C1C}">
                <a14:useLocalDpi xmlns:a14="http://schemas.microsoft.com/office/drawing/2010/main" val="0"/>
              </a:ext>
            </a:extLst>
          </a:blip>
          <a:srcRect t="2223" b="9488"/>
          <a:stretch/>
        </p:blipFill>
        <p:spPr>
          <a:xfrm>
            <a:off x="6721426" y="4783171"/>
            <a:ext cx="510962" cy="487222"/>
          </a:xfrm>
          <a:prstGeom prst="rect">
            <a:avLst/>
          </a:prstGeom>
        </p:spPr>
      </p:pic>
      <p:pic>
        <p:nvPicPr>
          <p:cNvPr id="36" name="Immagin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0888" y="4505560"/>
            <a:ext cx="791025" cy="791025"/>
          </a:xfrm>
          <a:prstGeom prst="rect">
            <a:avLst/>
          </a:prstGeom>
        </p:spPr>
      </p:pic>
      <p:pic>
        <p:nvPicPr>
          <p:cNvPr id="37" name="Immagine 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6846" y="1788867"/>
            <a:ext cx="654524" cy="654524"/>
          </a:xfrm>
          <a:prstGeom prst="rect">
            <a:avLst/>
          </a:prstGeom>
        </p:spPr>
      </p:pic>
      <p:pic>
        <p:nvPicPr>
          <p:cNvPr id="38" name="Immagine 37"/>
          <p:cNvPicPr>
            <a:picLocks noChangeAspect="1"/>
          </p:cNvPicPr>
          <p:nvPr/>
        </p:nvPicPr>
        <p:blipFill rotWithShape="1">
          <a:blip r:embed="rId6" cstate="print">
            <a:biLevel thresh="75000"/>
            <a:extLst>
              <a:ext uri="{28A0092B-C50C-407E-A947-70E740481C1C}">
                <a14:useLocalDpi xmlns:a14="http://schemas.microsoft.com/office/drawing/2010/main" val="0"/>
              </a:ext>
            </a:extLst>
          </a:blip>
          <a:srcRect t="15649" b="14795"/>
          <a:stretch/>
        </p:blipFill>
        <p:spPr>
          <a:xfrm>
            <a:off x="3308809" y="5959420"/>
            <a:ext cx="966237" cy="672070"/>
          </a:xfrm>
          <a:prstGeom prst="rect">
            <a:avLst/>
          </a:prstGeom>
        </p:spPr>
      </p:pic>
      <p:pic>
        <p:nvPicPr>
          <p:cNvPr id="39" name="Immagine 38"/>
          <p:cNvPicPr>
            <a:picLocks noChangeAspect="1"/>
          </p:cNvPicPr>
          <p:nvPr/>
        </p:nvPicPr>
        <p:blipFill rotWithShape="1">
          <a:blip r:embed="rId7" cstate="print">
            <a:extLst>
              <a:ext uri="{28A0092B-C50C-407E-A947-70E740481C1C}">
                <a14:useLocalDpi xmlns:a14="http://schemas.microsoft.com/office/drawing/2010/main" val="0"/>
              </a:ext>
            </a:extLst>
          </a:blip>
          <a:srcRect t="13351" b="10889"/>
          <a:stretch/>
        </p:blipFill>
        <p:spPr>
          <a:xfrm>
            <a:off x="5261453" y="5725827"/>
            <a:ext cx="815078" cy="617508"/>
          </a:xfrm>
          <a:prstGeom prst="rect">
            <a:avLst/>
          </a:prstGeom>
        </p:spPr>
      </p:pic>
      <p:pic>
        <p:nvPicPr>
          <p:cNvPr id="40" name="Immagine 39"/>
          <p:cNvPicPr>
            <a:picLocks noChangeAspect="1"/>
          </p:cNvPicPr>
          <p:nvPr/>
        </p:nvPicPr>
        <p:blipFill rotWithShape="1">
          <a:blip r:embed="rId8" cstate="print">
            <a:biLevel thresh="75000"/>
            <a:extLst>
              <a:ext uri="{28A0092B-C50C-407E-A947-70E740481C1C}">
                <a14:useLocalDpi xmlns:a14="http://schemas.microsoft.com/office/drawing/2010/main" val="0"/>
              </a:ext>
            </a:extLst>
          </a:blip>
          <a:srcRect l="20118" t="11966" r="19396" b="26154"/>
          <a:stretch/>
        </p:blipFill>
        <p:spPr>
          <a:xfrm>
            <a:off x="7973057" y="5969126"/>
            <a:ext cx="577215" cy="623737"/>
          </a:xfrm>
          <a:prstGeom prst="rect">
            <a:avLst/>
          </a:prstGeom>
        </p:spPr>
      </p:pic>
      <p:pic>
        <p:nvPicPr>
          <p:cNvPr id="41" name="Immagine 40"/>
          <p:cNvPicPr>
            <a:picLocks noChangeAspect="1"/>
          </p:cNvPicPr>
          <p:nvPr/>
        </p:nvPicPr>
        <p:blipFill rotWithShape="1">
          <a:blip r:embed="rId9" cstate="print">
            <a:biLevel thresh="50000"/>
            <a:extLst>
              <a:ext uri="{28A0092B-C50C-407E-A947-70E740481C1C}">
                <a14:useLocalDpi xmlns:a14="http://schemas.microsoft.com/office/drawing/2010/main" val="0"/>
              </a:ext>
            </a:extLst>
          </a:blip>
          <a:srcRect l="11349" r="13195"/>
          <a:stretch/>
        </p:blipFill>
        <p:spPr>
          <a:xfrm>
            <a:off x="9853211" y="5725826"/>
            <a:ext cx="1175410" cy="594235"/>
          </a:xfrm>
          <a:prstGeom prst="rect">
            <a:avLst/>
          </a:prstGeom>
        </p:spPr>
      </p:pic>
      <p:pic>
        <p:nvPicPr>
          <p:cNvPr id="42" name="Immagine 41"/>
          <p:cNvPicPr>
            <a:picLocks noChangeAspect="1"/>
          </p:cNvPicPr>
          <p:nvPr/>
        </p:nvPicPr>
        <p:blipFill rotWithShape="1">
          <a:blip r:embed="rId10" cstate="print">
            <a:extLst>
              <a:ext uri="{28A0092B-C50C-407E-A947-70E740481C1C}">
                <a14:useLocalDpi xmlns:a14="http://schemas.microsoft.com/office/drawing/2010/main" val="0"/>
              </a:ext>
            </a:extLst>
          </a:blip>
          <a:srcRect t="14470"/>
          <a:stretch/>
        </p:blipFill>
        <p:spPr>
          <a:xfrm>
            <a:off x="6165335" y="3177790"/>
            <a:ext cx="738082" cy="631281"/>
          </a:xfrm>
          <a:prstGeom prst="rect">
            <a:avLst/>
          </a:prstGeom>
        </p:spPr>
      </p:pic>
      <p:pic>
        <p:nvPicPr>
          <p:cNvPr id="43" name="Immagine 42"/>
          <p:cNvPicPr>
            <a:picLocks noChangeAspect="1"/>
          </p:cNvPicPr>
          <p:nvPr/>
        </p:nvPicPr>
        <p:blipFill>
          <a:blip r:embed="rId11" cstate="print">
            <a:biLevel thresh="75000"/>
            <a:extLst>
              <a:ext uri="{28A0092B-C50C-407E-A947-70E740481C1C}">
                <a14:useLocalDpi xmlns:a14="http://schemas.microsoft.com/office/drawing/2010/main" val="0"/>
              </a:ext>
            </a:extLst>
          </a:blip>
          <a:stretch>
            <a:fillRect/>
          </a:stretch>
        </p:blipFill>
        <p:spPr>
          <a:xfrm>
            <a:off x="7883204" y="3153651"/>
            <a:ext cx="1082830" cy="693804"/>
          </a:xfrm>
          <a:prstGeom prst="rect">
            <a:avLst/>
          </a:prstGeom>
        </p:spPr>
      </p:pic>
      <p:pic>
        <p:nvPicPr>
          <p:cNvPr id="44" name="Immagine 4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727043" y="3240823"/>
            <a:ext cx="1190766" cy="567904"/>
          </a:xfrm>
          <a:prstGeom prst="rect">
            <a:avLst/>
          </a:prstGeom>
        </p:spPr>
      </p:pic>
      <p:pic>
        <p:nvPicPr>
          <p:cNvPr id="45" name="Picture 2"/>
          <p:cNvPicPr>
            <a:picLocks noChangeAspect="1" noChangeArrowheads="1"/>
          </p:cNvPicPr>
          <p:nvPr/>
        </p:nvPicPr>
        <p:blipFill>
          <a:blip r:embed="rId13" cstate="print">
            <a:biLevel thresh="75000"/>
          </a:blip>
          <a:srcRect l="5016" t="4758" r="50097" b="4943"/>
          <a:stretch>
            <a:fillRect/>
          </a:stretch>
        </p:blipFill>
        <p:spPr bwMode="auto">
          <a:xfrm>
            <a:off x="5510026" y="1846052"/>
            <a:ext cx="638548" cy="657936"/>
          </a:xfrm>
          <a:prstGeom prst="rect">
            <a:avLst/>
          </a:prstGeom>
          <a:noFill/>
          <a:ln w="9525">
            <a:noFill/>
            <a:miter lim="800000"/>
            <a:headEnd/>
            <a:tailEnd/>
          </a:ln>
          <a:effectLst/>
        </p:spPr>
      </p:pic>
      <p:pic>
        <p:nvPicPr>
          <p:cNvPr id="46" name="Immagine 4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57846" y="1812020"/>
            <a:ext cx="725623" cy="725623"/>
          </a:xfrm>
          <a:prstGeom prst="rect">
            <a:avLst/>
          </a:prstGeom>
        </p:spPr>
      </p:pic>
      <p:pic>
        <p:nvPicPr>
          <p:cNvPr id="47" name="Immagine 46"/>
          <p:cNvPicPr>
            <a:picLocks noChangeAspect="1"/>
          </p:cNvPicPr>
          <p:nvPr/>
        </p:nvPicPr>
        <p:blipFill rotWithShape="1">
          <a:blip r:embed="rId15" cstate="print">
            <a:extLst>
              <a:ext uri="{28A0092B-C50C-407E-A947-70E740481C1C}">
                <a14:useLocalDpi xmlns:a14="http://schemas.microsoft.com/office/drawing/2010/main" val="0"/>
              </a:ext>
            </a:extLst>
          </a:blip>
          <a:srcRect l="28374" t="6540" r="27640"/>
          <a:stretch/>
        </p:blipFill>
        <p:spPr>
          <a:xfrm>
            <a:off x="9655162" y="1833686"/>
            <a:ext cx="423584" cy="722471"/>
          </a:xfrm>
          <a:prstGeom prst="rect">
            <a:avLst/>
          </a:prstGeom>
        </p:spPr>
      </p:pic>
      <p:pic>
        <p:nvPicPr>
          <p:cNvPr id="48" name="Immagine 47"/>
          <p:cNvPicPr>
            <a:picLocks noChangeAspect="1"/>
          </p:cNvPicPr>
          <p:nvPr/>
        </p:nvPicPr>
        <p:blipFill rotWithShape="1">
          <a:blip r:embed="rId16" cstate="print">
            <a:duotone>
              <a:schemeClr val="accent3">
                <a:shade val="45000"/>
                <a:satMod val="135000"/>
              </a:schemeClr>
              <a:prstClr val="white"/>
            </a:duotone>
            <a:extLst>
              <a:ext uri="{28A0092B-C50C-407E-A947-70E740481C1C}">
                <a14:useLocalDpi xmlns:a14="http://schemas.microsoft.com/office/drawing/2010/main" val="0"/>
              </a:ext>
            </a:extLst>
          </a:blip>
          <a:srcRect l="18566" t="16998" r="18567" b="18788"/>
          <a:stretch/>
        </p:blipFill>
        <p:spPr>
          <a:xfrm>
            <a:off x="9727043" y="2044594"/>
            <a:ext cx="291353" cy="198495"/>
          </a:xfrm>
          <a:prstGeom prst="rect">
            <a:avLst/>
          </a:prstGeom>
        </p:spPr>
      </p:pic>
      <p:sp>
        <p:nvSpPr>
          <p:cNvPr id="51" name="Freccia bidirezionale orizzontale 50"/>
          <p:cNvSpPr/>
          <p:nvPr/>
        </p:nvSpPr>
        <p:spPr>
          <a:xfrm>
            <a:off x="7652240" y="4731501"/>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53" name="Immagine 52"/>
          <p:cNvPicPr>
            <a:picLocks noChangeAspect="1"/>
          </p:cNvPicPr>
          <p:nvPr/>
        </p:nvPicPr>
        <p:blipFill rotWithShape="1">
          <a:blip r:embed="rId17" cstate="print">
            <a:biLevel thresh="75000"/>
            <a:extLst>
              <a:ext uri="{28A0092B-C50C-407E-A947-70E740481C1C}">
                <a14:useLocalDpi xmlns:a14="http://schemas.microsoft.com/office/drawing/2010/main" val="0"/>
              </a:ext>
            </a:extLst>
          </a:blip>
          <a:srcRect l="32956" r="37156" b="37692"/>
          <a:stretch/>
        </p:blipFill>
        <p:spPr>
          <a:xfrm>
            <a:off x="7301040" y="1809632"/>
            <a:ext cx="464960" cy="700322"/>
          </a:xfrm>
          <a:prstGeom prst="rect">
            <a:avLst/>
          </a:prstGeom>
        </p:spPr>
      </p:pic>
      <p:sp>
        <p:nvSpPr>
          <p:cNvPr id="49" name="CasellaDiTesto 48"/>
          <p:cNvSpPr txBox="1"/>
          <p:nvPr/>
        </p:nvSpPr>
        <p:spPr>
          <a:xfrm>
            <a:off x="3692770" y="2801335"/>
            <a:ext cx="1922585" cy="369332"/>
          </a:xfrm>
          <a:prstGeom prst="rect">
            <a:avLst/>
          </a:prstGeom>
          <a:noFill/>
        </p:spPr>
        <p:txBody>
          <a:bodyPr wrap="square" rtlCol="0">
            <a:spAutoFit/>
          </a:bodyPr>
          <a:lstStyle/>
          <a:p>
            <a:r>
              <a:rPr lang="it-IT" dirty="0">
                <a:latin typeface="Aptos" panose="020B0004020202020204" pitchFamily="34" charset="0"/>
              </a:rPr>
              <a:t>Database</a:t>
            </a:r>
            <a:endParaRPr lang="en-GB" dirty="0">
              <a:latin typeface="Aptos" panose="020B0004020202020204" pitchFamily="34" charset="0"/>
            </a:endParaRPr>
          </a:p>
        </p:txBody>
      </p:sp>
      <p:pic>
        <p:nvPicPr>
          <p:cNvPr id="3" name="Immagine 2"/>
          <p:cNvPicPr>
            <a:picLocks noChangeAspect="1"/>
          </p:cNvPicPr>
          <p:nvPr/>
        </p:nvPicPr>
        <p:blipFill rotWithShape="1">
          <a:blip r:embed="rId18" cstate="print">
            <a:biLevel thresh="75000"/>
            <a:extLst>
              <a:ext uri="{28A0092B-C50C-407E-A947-70E740481C1C}">
                <a14:useLocalDpi xmlns:a14="http://schemas.microsoft.com/office/drawing/2010/main" val="0"/>
              </a:ext>
            </a:extLst>
          </a:blip>
          <a:srcRect t="10794" b="16165"/>
          <a:stretch/>
        </p:blipFill>
        <p:spPr>
          <a:xfrm>
            <a:off x="3733874" y="3112824"/>
            <a:ext cx="1017056" cy="784655"/>
          </a:xfrm>
          <a:prstGeom prst="rect">
            <a:avLst/>
          </a:prstGeom>
        </p:spPr>
      </p:pic>
      <p:sp>
        <p:nvSpPr>
          <p:cNvPr id="21" name="Segnaposto numero diapositiva 20"/>
          <p:cNvSpPr>
            <a:spLocks noGrp="1"/>
          </p:cNvSpPr>
          <p:nvPr>
            <p:ph type="sldNum" sz="quarter" idx="12"/>
          </p:nvPr>
        </p:nvSpPr>
        <p:spPr/>
        <p:txBody>
          <a:bodyPr/>
          <a:lstStyle/>
          <a:p>
            <a:fld id="{31DE2C5B-556E-47B8-A792-024C2FCA4ACC}" type="slidenum">
              <a:rPr lang="en-GB" smtClean="0"/>
              <a:t>41</a:t>
            </a:fld>
            <a:endParaRPr lang="en-GB"/>
          </a:p>
        </p:txBody>
      </p:sp>
    </p:spTree>
    <p:extLst>
      <p:ext uri="{BB962C8B-B14F-4D97-AF65-F5344CB8AC3E}">
        <p14:creationId xmlns:p14="http://schemas.microsoft.com/office/powerpoint/2010/main" val="1983806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1. Sensing layer</a:t>
            </a:r>
          </a:p>
        </p:txBody>
      </p:sp>
      <p:sp>
        <p:nvSpPr>
          <p:cNvPr id="14" name="Segnaposto contenuto 13"/>
          <p:cNvSpPr>
            <a:spLocks noGrp="1"/>
          </p:cNvSpPr>
          <p:nvPr>
            <p:ph idx="1"/>
          </p:nvPr>
        </p:nvSpPr>
        <p:spPr>
          <a:xfrm>
            <a:off x="428172" y="1361167"/>
            <a:ext cx="8445664" cy="2639333"/>
          </a:xfrm>
        </p:spPr>
        <p:txBody>
          <a:bodyPr/>
          <a:lstStyle/>
          <a:p>
            <a:r>
              <a:rPr lang="en-US" dirty="0"/>
              <a:t>This layer includes sensors, which are responsible for: </a:t>
            </a:r>
          </a:p>
          <a:p>
            <a:pPr lvl="1"/>
            <a:r>
              <a:rPr lang="en-US" sz="2200" b="1" dirty="0"/>
              <a:t>Collecting the data </a:t>
            </a:r>
            <a:r>
              <a:rPr lang="en-US" sz="2200" dirty="0"/>
              <a:t>either directly from the body through contact sensors or from peripheral sensors providing indirect information of body and </a:t>
            </a:r>
            <a:r>
              <a:rPr lang="en-US" sz="2200" dirty="0" err="1"/>
              <a:t>behaviours</a:t>
            </a:r>
            <a:r>
              <a:rPr lang="en-US" sz="2200" dirty="0"/>
              <a:t> </a:t>
            </a:r>
          </a:p>
          <a:p>
            <a:pPr lvl="1"/>
            <a:r>
              <a:rPr lang="en-US" sz="2200" b="1" dirty="0"/>
              <a:t>Preparing the data </a:t>
            </a:r>
            <a:r>
              <a:rPr lang="en-US" sz="2200" dirty="0"/>
              <a:t>for on-board analysis, closed-loop feedback or remote transmission for more comprehensive analysis and storing </a:t>
            </a:r>
          </a:p>
          <a:p>
            <a:pPr marL="457200" lvl="1" indent="0">
              <a:buNone/>
            </a:pPr>
            <a:endParaRPr lang="en-US" dirty="0"/>
          </a:p>
          <a:p>
            <a:pPr lvl="1"/>
            <a:endParaRPr lang="en-US" dirty="0"/>
          </a:p>
          <a:p>
            <a:pPr lvl="1"/>
            <a:endParaRPr lang="en-US" dirty="0"/>
          </a:p>
        </p:txBody>
      </p:sp>
      <p:sp>
        <p:nvSpPr>
          <p:cNvPr id="15" name="CasellaDiTesto 14"/>
          <p:cNvSpPr txBox="1"/>
          <p:nvPr/>
        </p:nvSpPr>
        <p:spPr>
          <a:xfrm>
            <a:off x="9221242" y="1671241"/>
            <a:ext cx="2086711" cy="307777"/>
          </a:xfrm>
          <a:prstGeom prst="rect">
            <a:avLst/>
          </a:prstGeom>
          <a:noFill/>
        </p:spPr>
        <p:txBody>
          <a:bodyPr wrap="square" rtlCol="0">
            <a:spAutoFit/>
          </a:bodyPr>
          <a:lstStyle/>
          <a:p>
            <a:r>
              <a:rPr lang="en-US" sz="1400" dirty="0">
                <a:latin typeface="Aptos" panose="020B0004020202020204" pitchFamily="34" charset="0"/>
              </a:rPr>
              <a:t>ECG sensor</a:t>
            </a:r>
          </a:p>
        </p:txBody>
      </p:sp>
      <p:sp>
        <p:nvSpPr>
          <p:cNvPr id="16" name="CasellaDiTesto 15"/>
          <p:cNvSpPr txBox="1"/>
          <p:nvPr/>
        </p:nvSpPr>
        <p:spPr>
          <a:xfrm>
            <a:off x="10508805" y="1688586"/>
            <a:ext cx="2086711" cy="307777"/>
          </a:xfrm>
          <a:prstGeom prst="rect">
            <a:avLst/>
          </a:prstGeom>
          <a:noFill/>
        </p:spPr>
        <p:txBody>
          <a:bodyPr wrap="square" rtlCol="0">
            <a:spAutoFit/>
          </a:bodyPr>
          <a:lstStyle/>
          <a:p>
            <a:r>
              <a:rPr lang="it-IT" sz="1400" dirty="0" err="1">
                <a:latin typeface="Aptos" panose="020B0004020202020204" pitchFamily="34" charset="0"/>
              </a:rPr>
              <a:t>Glucose</a:t>
            </a:r>
            <a:r>
              <a:rPr lang="it-IT" sz="1400" dirty="0">
                <a:latin typeface="Aptos" panose="020B0004020202020204" pitchFamily="34" charset="0"/>
              </a:rPr>
              <a:t> </a:t>
            </a:r>
            <a:r>
              <a:rPr lang="it-IT" sz="1400" dirty="0" err="1">
                <a:latin typeface="Aptos" panose="020B0004020202020204" pitchFamily="34" charset="0"/>
              </a:rPr>
              <a:t>sensor</a:t>
            </a:r>
            <a:endParaRPr lang="en-GB" sz="1400" dirty="0">
              <a:latin typeface="Aptos" panose="020B0004020202020204" pitchFamily="34" charset="0"/>
            </a:endParaRPr>
          </a:p>
        </p:txBody>
      </p:sp>
      <p:pic>
        <p:nvPicPr>
          <p:cNvPr id="17" name="Immagine 16"/>
          <p:cNvPicPr>
            <a:picLocks noChangeAspect="1"/>
          </p:cNvPicPr>
          <p:nvPr/>
        </p:nvPicPr>
        <p:blipFill rotWithShape="1">
          <a:blip r:embed="rId2" cstate="print">
            <a:biLevel thresh="75000"/>
            <a:extLst>
              <a:ext uri="{28A0092B-C50C-407E-A947-70E740481C1C}">
                <a14:useLocalDpi xmlns:a14="http://schemas.microsoft.com/office/drawing/2010/main" val="0"/>
              </a:ext>
            </a:extLst>
          </a:blip>
          <a:srcRect l="20118" t="11966" r="19396" b="26154"/>
          <a:stretch/>
        </p:blipFill>
        <p:spPr>
          <a:xfrm>
            <a:off x="9465450" y="1939138"/>
            <a:ext cx="577215" cy="623737"/>
          </a:xfrm>
          <a:prstGeom prst="rect">
            <a:avLst/>
          </a:prstGeom>
        </p:spPr>
      </p:pic>
      <p:pic>
        <p:nvPicPr>
          <p:cNvPr id="18" name="Immagine 17"/>
          <p:cNvPicPr>
            <a:picLocks noChangeAspect="1"/>
          </p:cNvPicPr>
          <p:nvPr/>
        </p:nvPicPr>
        <p:blipFill rotWithShape="1">
          <a:blip r:embed="rId3" cstate="print">
            <a:biLevel thresh="50000"/>
            <a:extLst>
              <a:ext uri="{28A0092B-C50C-407E-A947-70E740481C1C}">
                <a14:useLocalDpi xmlns:a14="http://schemas.microsoft.com/office/drawing/2010/main" val="0"/>
              </a:ext>
            </a:extLst>
          </a:blip>
          <a:srcRect l="11349" r="13195"/>
          <a:stretch/>
        </p:blipFill>
        <p:spPr>
          <a:xfrm>
            <a:off x="10543602" y="2013709"/>
            <a:ext cx="1175410" cy="594235"/>
          </a:xfrm>
          <a:prstGeom prst="rect">
            <a:avLst/>
          </a:prstGeom>
        </p:spPr>
      </p:pic>
      <p:sp>
        <p:nvSpPr>
          <p:cNvPr id="19" name="CasellaDiTesto 18"/>
          <p:cNvSpPr txBox="1"/>
          <p:nvPr/>
        </p:nvSpPr>
        <p:spPr>
          <a:xfrm>
            <a:off x="9500246" y="1284563"/>
            <a:ext cx="2086711" cy="369332"/>
          </a:xfrm>
          <a:prstGeom prst="rect">
            <a:avLst/>
          </a:prstGeom>
          <a:noFill/>
        </p:spPr>
        <p:txBody>
          <a:bodyPr wrap="square" rtlCol="0">
            <a:spAutoFit/>
          </a:bodyPr>
          <a:lstStyle/>
          <a:p>
            <a:r>
              <a:rPr lang="en-US" b="1" dirty="0">
                <a:latin typeface="Aptos" panose="020B0004020202020204" pitchFamily="34" charset="0"/>
              </a:rPr>
              <a:t>Contact sensors</a:t>
            </a:r>
          </a:p>
        </p:txBody>
      </p:sp>
      <p:sp>
        <p:nvSpPr>
          <p:cNvPr id="20" name="CasellaDiTesto 19"/>
          <p:cNvSpPr txBox="1"/>
          <p:nvPr/>
        </p:nvSpPr>
        <p:spPr>
          <a:xfrm>
            <a:off x="9305555" y="2830772"/>
            <a:ext cx="2476091" cy="369332"/>
          </a:xfrm>
          <a:prstGeom prst="rect">
            <a:avLst/>
          </a:prstGeom>
          <a:noFill/>
        </p:spPr>
        <p:txBody>
          <a:bodyPr wrap="square" rtlCol="0">
            <a:spAutoFit/>
          </a:bodyPr>
          <a:lstStyle/>
          <a:p>
            <a:r>
              <a:rPr lang="en-US" b="1" dirty="0">
                <a:latin typeface="Aptos" panose="020B0004020202020204" pitchFamily="34" charset="0"/>
              </a:rPr>
              <a:t>Peripheral sensors</a:t>
            </a:r>
          </a:p>
        </p:txBody>
      </p:sp>
      <p:sp>
        <p:nvSpPr>
          <p:cNvPr id="21" name="CasellaDiTesto 20"/>
          <p:cNvSpPr txBox="1"/>
          <p:nvPr/>
        </p:nvSpPr>
        <p:spPr>
          <a:xfrm>
            <a:off x="8945041" y="3200104"/>
            <a:ext cx="1491792" cy="307777"/>
          </a:xfrm>
          <a:prstGeom prst="rect">
            <a:avLst/>
          </a:prstGeom>
          <a:noFill/>
        </p:spPr>
        <p:txBody>
          <a:bodyPr wrap="square" rtlCol="0">
            <a:spAutoFit/>
          </a:bodyPr>
          <a:lstStyle/>
          <a:p>
            <a:pPr algn="ctr"/>
            <a:r>
              <a:rPr lang="en-US" sz="1400" dirty="0">
                <a:latin typeface="Aptos" panose="020B0004020202020204" pitchFamily="34" charset="0"/>
              </a:rPr>
              <a:t>Step counter</a:t>
            </a:r>
          </a:p>
        </p:txBody>
      </p:sp>
      <p:sp>
        <p:nvSpPr>
          <p:cNvPr id="23" name="CasellaDiTesto 22"/>
          <p:cNvSpPr txBox="1"/>
          <p:nvPr/>
        </p:nvSpPr>
        <p:spPr>
          <a:xfrm>
            <a:off x="10181078" y="3206391"/>
            <a:ext cx="2086711" cy="307777"/>
          </a:xfrm>
          <a:prstGeom prst="rect">
            <a:avLst/>
          </a:prstGeom>
          <a:noFill/>
        </p:spPr>
        <p:txBody>
          <a:bodyPr wrap="square" rtlCol="0">
            <a:spAutoFit/>
          </a:bodyPr>
          <a:lstStyle/>
          <a:p>
            <a:pPr algn="ctr"/>
            <a:r>
              <a:rPr lang="it-IT" sz="1400" dirty="0" err="1">
                <a:latin typeface="Aptos" panose="020B0004020202020204" pitchFamily="34" charset="0"/>
              </a:rPr>
              <a:t>Microphone</a:t>
            </a:r>
            <a:r>
              <a:rPr lang="it-IT" sz="1400" dirty="0">
                <a:latin typeface="Aptos" panose="020B0004020202020204" pitchFamily="34" charset="0"/>
              </a:rPr>
              <a:t> and camera</a:t>
            </a:r>
            <a:endParaRPr lang="en-GB" sz="1400" dirty="0">
              <a:latin typeface="Aptos" panose="020B0004020202020204" pitchFamily="34" charset="0"/>
            </a:endParaRPr>
          </a:p>
        </p:txBody>
      </p:sp>
      <p:pic>
        <p:nvPicPr>
          <p:cNvPr id="5" name="Immagine 4"/>
          <p:cNvPicPr>
            <a:picLocks noChangeAspect="1"/>
          </p:cNvPicPr>
          <p:nvPr/>
        </p:nvPicPr>
        <p:blipFill rotWithShape="1">
          <a:blip r:embed="rId4" cstate="print">
            <a:extLst>
              <a:ext uri="{28A0092B-C50C-407E-A947-70E740481C1C}">
                <a14:useLocalDpi xmlns:a14="http://schemas.microsoft.com/office/drawing/2010/main" val="0"/>
              </a:ext>
            </a:extLst>
          </a:blip>
          <a:srcRect t="18636" b="22879"/>
          <a:stretch/>
        </p:blipFill>
        <p:spPr>
          <a:xfrm>
            <a:off x="10740145" y="3705002"/>
            <a:ext cx="1043357" cy="659022"/>
          </a:xfrm>
          <a:prstGeom prst="rect">
            <a:avLst/>
          </a:prstGeom>
        </p:spPr>
      </p:pic>
      <p:sp>
        <p:nvSpPr>
          <p:cNvPr id="25" name="Segnaposto contenuto 13"/>
          <p:cNvSpPr txBox="1">
            <a:spLocks/>
          </p:cNvSpPr>
          <p:nvPr/>
        </p:nvSpPr>
        <p:spPr>
          <a:xfrm>
            <a:off x="428171" y="4000501"/>
            <a:ext cx="11257939" cy="225919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ptos" panose="020B0004020202020204" pitchFamily="34" charset="0"/>
              </a:rPr>
              <a:t>Key components of </a:t>
            </a:r>
            <a:r>
              <a:rPr lang="en-US" dirty="0" err="1">
                <a:latin typeface="Aptos" panose="020B0004020202020204" pitchFamily="34" charset="0"/>
              </a:rPr>
              <a:t>IoT</a:t>
            </a:r>
            <a:r>
              <a:rPr lang="en-US" dirty="0">
                <a:latin typeface="Aptos" panose="020B0004020202020204" pitchFamily="34" charset="0"/>
              </a:rPr>
              <a:t> wearable sensors:</a:t>
            </a:r>
          </a:p>
          <a:p>
            <a:pPr lvl="1"/>
            <a:r>
              <a:rPr lang="en-US" sz="2200" dirty="0">
                <a:latin typeface="Aptos" panose="020B0004020202020204" pitchFamily="34" charset="0"/>
              </a:rPr>
              <a:t>Miniaturized </a:t>
            </a:r>
            <a:r>
              <a:rPr lang="en-US" sz="2200" b="1" dirty="0">
                <a:latin typeface="Aptos" panose="020B0004020202020204" pitchFamily="34" charset="0"/>
              </a:rPr>
              <a:t>sensor hardware</a:t>
            </a:r>
          </a:p>
          <a:p>
            <a:pPr lvl="1"/>
            <a:r>
              <a:rPr lang="en-US" sz="2200" b="1" dirty="0">
                <a:latin typeface="Aptos" panose="020B0004020202020204" pitchFamily="34" charset="0"/>
              </a:rPr>
              <a:t>Embedded processor </a:t>
            </a:r>
            <a:r>
              <a:rPr lang="en-US" sz="2200" dirty="0">
                <a:latin typeface="Aptos" panose="020B0004020202020204" pitchFamily="34" charset="0"/>
              </a:rPr>
              <a:t>with storage capabilities, power management and communication circuits</a:t>
            </a:r>
          </a:p>
          <a:p>
            <a:r>
              <a:rPr lang="en-US" dirty="0">
                <a:latin typeface="Aptos" panose="020B0004020202020204" pitchFamily="34" charset="0"/>
              </a:rPr>
              <a:t>Typically, limited computing power and storage capabilities. </a:t>
            </a:r>
          </a:p>
          <a:p>
            <a:pPr lvl="1"/>
            <a:endParaRPr lang="en-US" dirty="0">
              <a:latin typeface="Aptos" panose="020B0004020202020204" pitchFamily="34" charset="0"/>
            </a:endParaRPr>
          </a:p>
          <a:p>
            <a:pPr lvl="1"/>
            <a:endParaRPr lang="en-US" dirty="0">
              <a:latin typeface="Aptos" panose="020B0004020202020204" pitchFamily="34" charset="0"/>
            </a:endParaRPr>
          </a:p>
        </p:txBody>
      </p:sp>
      <p:pic>
        <p:nvPicPr>
          <p:cNvPr id="26" name="Immagine 25"/>
          <p:cNvPicPr>
            <a:picLocks noChangeAspect="1"/>
          </p:cNvPicPr>
          <p:nvPr/>
        </p:nvPicPr>
        <p:blipFill rotWithShape="1">
          <a:blip r:embed="rId5">
            <a:biLevel thresh="75000"/>
            <a:extLst>
              <a:ext uri="{28A0092B-C50C-407E-A947-70E740481C1C}">
                <a14:useLocalDpi xmlns:a14="http://schemas.microsoft.com/office/drawing/2010/main" val="0"/>
              </a:ext>
            </a:extLst>
          </a:blip>
          <a:srcRect t="11707" b="11065"/>
          <a:stretch/>
        </p:blipFill>
        <p:spPr>
          <a:xfrm>
            <a:off x="9151653" y="3476463"/>
            <a:ext cx="1112944" cy="902841"/>
          </a:xfrm>
          <a:prstGeom prst="rect">
            <a:avLst/>
          </a:prstGeom>
        </p:spPr>
      </p:pic>
      <p:sp>
        <p:nvSpPr>
          <p:cNvPr id="3" name="Segnaposto numero diapositiva 2"/>
          <p:cNvSpPr>
            <a:spLocks noGrp="1"/>
          </p:cNvSpPr>
          <p:nvPr>
            <p:ph type="sldNum" sz="quarter" idx="12"/>
          </p:nvPr>
        </p:nvSpPr>
        <p:spPr/>
        <p:txBody>
          <a:bodyPr/>
          <a:lstStyle/>
          <a:p>
            <a:fld id="{31DE2C5B-556E-47B8-A792-024C2FCA4ACC}" type="slidenum">
              <a:rPr lang="en-GB" smtClean="0"/>
              <a:t>42</a:t>
            </a:fld>
            <a:endParaRPr lang="en-GB"/>
          </a:p>
        </p:txBody>
      </p:sp>
    </p:spTree>
    <p:extLst>
      <p:ext uri="{BB962C8B-B14F-4D97-AF65-F5344CB8AC3E}">
        <p14:creationId xmlns:p14="http://schemas.microsoft.com/office/powerpoint/2010/main" val="363068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2. Network </a:t>
            </a:r>
            <a:r>
              <a:rPr lang="it-IT" dirty="0" err="1"/>
              <a:t>layer</a:t>
            </a:r>
            <a:endParaRPr lang="en-GB" dirty="0"/>
          </a:p>
        </p:txBody>
      </p:sp>
      <p:sp>
        <p:nvSpPr>
          <p:cNvPr id="6" name="Segnaposto contenuto 5"/>
          <p:cNvSpPr>
            <a:spLocks noGrp="1"/>
          </p:cNvSpPr>
          <p:nvPr>
            <p:ph idx="1"/>
          </p:nvPr>
        </p:nvSpPr>
        <p:spPr/>
        <p:txBody>
          <a:bodyPr/>
          <a:lstStyle/>
          <a:p>
            <a:r>
              <a:rPr lang="en-US" dirty="0"/>
              <a:t>Fore more comprehensive data analysis and storage, the sensor layer need to transmit the data to </a:t>
            </a:r>
            <a:r>
              <a:rPr lang="en-US" b="1" dirty="0"/>
              <a:t>cloud computing servers </a:t>
            </a:r>
            <a:r>
              <a:rPr lang="en-US" dirty="0"/>
              <a:t>(remotely-located computing machines).</a:t>
            </a:r>
          </a:p>
          <a:p>
            <a:r>
              <a:rPr lang="en-US" dirty="0"/>
              <a:t>This transmission can be mediated by a companion device that serves as a </a:t>
            </a:r>
            <a:r>
              <a:rPr lang="en-US" b="1" dirty="0"/>
              <a:t>gateway</a:t>
            </a:r>
            <a:r>
              <a:rPr lang="en-US" dirty="0"/>
              <a:t>, i.e., it enables the information to flow from sensors to the cloud server.</a:t>
            </a:r>
          </a:p>
          <a:p>
            <a:pPr lvl="1"/>
            <a:r>
              <a:rPr lang="en-US" dirty="0"/>
              <a:t>Example of gateway devices: smartphones, tablets and PCs.</a:t>
            </a:r>
          </a:p>
          <a:p>
            <a:r>
              <a:rPr lang="en-US" dirty="0"/>
              <a:t>The communication must be </a:t>
            </a:r>
            <a:r>
              <a:rPr lang="en-US" b="1" dirty="0"/>
              <a:t>secured </a:t>
            </a:r>
            <a:r>
              <a:rPr lang="en-US" dirty="0"/>
              <a:t>through:</a:t>
            </a:r>
          </a:p>
          <a:p>
            <a:pPr lvl="2"/>
            <a:r>
              <a:rPr lang="en-US" dirty="0"/>
              <a:t>Authentication protocols for writing, modifying and accessing the data</a:t>
            </a:r>
          </a:p>
          <a:p>
            <a:pPr lvl="2"/>
            <a:r>
              <a:rPr lang="en-US" dirty="0"/>
              <a:t>Security and privacy protocols for preserving the data</a:t>
            </a:r>
          </a:p>
          <a:p>
            <a:endParaRPr lang="en-US" dirty="0"/>
          </a:p>
          <a:p>
            <a:endParaRPr lang="en-GB" dirty="0"/>
          </a:p>
        </p:txBody>
      </p:sp>
      <p:pic>
        <p:nvPicPr>
          <p:cNvPr id="4" name="Immagine 3"/>
          <p:cNvPicPr>
            <a:picLocks noChangeAspect="1"/>
          </p:cNvPicPr>
          <p:nvPr/>
        </p:nvPicPr>
        <p:blipFill rotWithShape="1">
          <a:blip r:embed="rId2" cstate="print">
            <a:biLevel thresh="75000"/>
            <a:extLst>
              <a:ext uri="{28A0092B-C50C-407E-A947-70E740481C1C}">
                <a14:useLocalDpi xmlns:a14="http://schemas.microsoft.com/office/drawing/2010/main" val="0"/>
              </a:ext>
            </a:extLst>
          </a:blip>
          <a:srcRect t="15649" b="14795"/>
          <a:stretch/>
        </p:blipFill>
        <p:spPr>
          <a:xfrm>
            <a:off x="1698883" y="5127778"/>
            <a:ext cx="1721102" cy="1197119"/>
          </a:xfrm>
          <a:prstGeom prst="rect">
            <a:avLst/>
          </a:prstGeom>
        </p:spPr>
      </p:pic>
      <p:sp>
        <p:nvSpPr>
          <p:cNvPr id="7" name="CasellaDiTesto 6"/>
          <p:cNvSpPr txBox="1"/>
          <p:nvPr/>
        </p:nvSpPr>
        <p:spPr>
          <a:xfrm>
            <a:off x="1942608" y="4709445"/>
            <a:ext cx="2086711" cy="461665"/>
          </a:xfrm>
          <a:prstGeom prst="rect">
            <a:avLst/>
          </a:prstGeom>
          <a:noFill/>
        </p:spPr>
        <p:txBody>
          <a:bodyPr wrap="square" rtlCol="0">
            <a:spAutoFit/>
          </a:bodyPr>
          <a:lstStyle/>
          <a:p>
            <a:r>
              <a:rPr lang="en-US" sz="2400" dirty="0">
                <a:latin typeface="Aptos" panose="020B0004020202020204" pitchFamily="34" charset="0"/>
              </a:rPr>
              <a:t>Sensor</a:t>
            </a:r>
          </a:p>
        </p:txBody>
      </p:sp>
      <p:sp>
        <p:nvSpPr>
          <p:cNvPr id="8" name="CasellaDiTesto 7"/>
          <p:cNvSpPr txBox="1"/>
          <p:nvPr/>
        </p:nvSpPr>
        <p:spPr>
          <a:xfrm>
            <a:off x="4685740" y="4649166"/>
            <a:ext cx="2442348" cy="461665"/>
          </a:xfrm>
          <a:prstGeom prst="rect">
            <a:avLst/>
          </a:prstGeom>
          <a:noFill/>
        </p:spPr>
        <p:txBody>
          <a:bodyPr wrap="square" rtlCol="0">
            <a:spAutoFit/>
          </a:bodyPr>
          <a:lstStyle/>
          <a:p>
            <a:pPr algn="ctr"/>
            <a:r>
              <a:rPr lang="it-IT" sz="2400" dirty="0">
                <a:latin typeface="Aptos" panose="020B0004020202020204" pitchFamily="34" charset="0"/>
              </a:rPr>
              <a:t>Gateway </a:t>
            </a:r>
            <a:r>
              <a:rPr lang="it-IT" sz="2400" dirty="0" err="1">
                <a:latin typeface="Aptos" panose="020B0004020202020204" pitchFamily="34" charset="0"/>
              </a:rPr>
              <a:t>device</a:t>
            </a:r>
            <a:endParaRPr lang="en-GB" sz="2400" dirty="0">
              <a:latin typeface="Aptos" panose="020B0004020202020204" pitchFamily="34" charset="0"/>
            </a:endParaRPr>
          </a:p>
        </p:txBody>
      </p:sp>
      <p:pic>
        <p:nvPicPr>
          <p:cNvPr id="9" name="Immagin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45196" y="5163389"/>
            <a:ext cx="1123436" cy="1123436"/>
          </a:xfrm>
          <a:prstGeom prst="rect">
            <a:avLst/>
          </a:prstGeom>
        </p:spPr>
      </p:pic>
      <p:sp>
        <p:nvSpPr>
          <p:cNvPr id="10" name="Freccia bidirezionale orizzontale 9"/>
          <p:cNvSpPr/>
          <p:nvPr/>
        </p:nvSpPr>
        <p:spPr>
          <a:xfrm>
            <a:off x="7193103" y="5573270"/>
            <a:ext cx="1566825" cy="379817"/>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1" name="CasellaDiTesto 10"/>
          <p:cNvSpPr txBox="1"/>
          <p:nvPr/>
        </p:nvSpPr>
        <p:spPr>
          <a:xfrm>
            <a:off x="9228096" y="4709445"/>
            <a:ext cx="2535732" cy="461665"/>
          </a:xfrm>
          <a:prstGeom prst="rect">
            <a:avLst/>
          </a:prstGeom>
          <a:noFill/>
        </p:spPr>
        <p:txBody>
          <a:bodyPr wrap="square" rtlCol="0">
            <a:spAutoFit/>
          </a:bodyPr>
          <a:lstStyle/>
          <a:p>
            <a:r>
              <a:rPr lang="it-IT" sz="2400" dirty="0" err="1">
                <a:latin typeface="Aptos" panose="020B0004020202020204" pitchFamily="34" charset="0"/>
              </a:rPr>
              <a:t>Cloud</a:t>
            </a:r>
            <a:r>
              <a:rPr lang="it-IT" sz="2400" dirty="0">
                <a:latin typeface="Aptos" panose="020B0004020202020204" pitchFamily="34" charset="0"/>
              </a:rPr>
              <a:t> server</a:t>
            </a:r>
            <a:endParaRPr lang="en-GB" sz="2400" dirty="0">
              <a:latin typeface="Aptos" panose="020B0004020202020204" pitchFamily="34" charset="0"/>
            </a:endParaRPr>
          </a:p>
        </p:txBody>
      </p:sp>
      <p:pic>
        <p:nvPicPr>
          <p:cNvPr id="2" name="Immagine 1"/>
          <p:cNvPicPr>
            <a:picLocks noChangeAspect="1"/>
          </p:cNvPicPr>
          <p:nvPr/>
        </p:nvPicPr>
        <p:blipFill rotWithShape="1">
          <a:blip r:embed="rId4" cstate="print">
            <a:extLst>
              <a:ext uri="{28A0092B-C50C-407E-A947-70E740481C1C}">
                <a14:useLocalDpi xmlns:a14="http://schemas.microsoft.com/office/drawing/2010/main" val="0"/>
              </a:ext>
            </a:extLst>
          </a:blip>
          <a:srcRect t="16818" b="22879"/>
          <a:stretch/>
        </p:blipFill>
        <p:spPr>
          <a:xfrm>
            <a:off x="9228096" y="5171110"/>
            <a:ext cx="2067564" cy="1346548"/>
          </a:xfrm>
          <a:prstGeom prst="rect">
            <a:avLst/>
          </a:prstGeom>
        </p:spPr>
      </p:pic>
      <p:sp>
        <p:nvSpPr>
          <p:cNvPr id="15" name="CasellaDiTesto 14"/>
          <p:cNvSpPr txBox="1"/>
          <p:nvPr/>
        </p:nvSpPr>
        <p:spPr>
          <a:xfrm>
            <a:off x="2793530" y="6055993"/>
            <a:ext cx="2442348" cy="461665"/>
          </a:xfrm>
          <a:prstGeom prst="rect">
            <a:avLst/>
          </a:prstGeom>
          <a:noFill/>
        </p:spPr>
        <p:txBody>
          <a:bodyPr wrap="square" rtlCol="0">
            <a:spAutoFit/>
          </a:bodyPr>
          <a:lstStyle/>
          <a:p>
            <a:pPr algn="ctr"/>
            <a:r>
              <a:rPr lang="it-IT" sz="2400" dirty="0">
                <a:latin typeface="Aptos" panose="020B0004020202020204" pitchFamily="34" charset="0"/>
              </a:rPr>
              <a:t>Bluetooth</a:t>
            </a:r>
            <a:endParaRPr lang="en-GB" sz="2400" dirty="0">
              <a:latin typeface="Aptos" panose="020B0004020202020204" pitchFamily="34" charset="0"/>
            </a:endParaRPr>
          </a:p>
        </p:txBody>
      </p:sp>
      <p:sp>
        <p:nvSpPr>
          <p:cNvPr id="16" name="CasellaDiTesto 15"/>
          <p:cNvSpPr txBox="1"/>
          <p:nvPr/>
        </p:nvSpPr>
        <p:spPr>
          <a:xfrm>
            <a:off x="6788783" y="6027003"/>
            <a:ext cx="2442348" cy="830997"/>
          </a:xfrm>
          <a:prstGeom prst="rect">
            <a:avLst/>
          </a:prstGeom>
          <a:noFill/>
        </p:spPr>
        <p:txBody>
          <a:bodyPr wrap="square" rtlCol="0">
            <a:spAutoFit/>
          </a:bodyPr>
          <a:lstStyle/>
          <a:p>
            <a:pPr algn="ctr"/>
            <a:r>
              <a:rPr lang="it-IT" sz="2400" dirty="0" err="1">
                <a:latin typeface="Aptos" panose="020B0004020202020204" pitchFamily="34" charset="0"/>
              </a:rPr>
              <a:t>WiFi</a:t>
            </a:r>
            <a:endParaRPr lang="it-IT" sz="2400" dirty="0">
              <a:latin typeface="Aptos" panose="020B0004020202020204" pitchFamily="34" charset="0"/>
            </a:endParaRPr>
          </a:p>
          <a:p>
            <a:pPr algn="ctr"/>
            <a:r>
              <a:rPr lang="it-IT" sz="2400" dirty="0">
                <a:latin typeface="Aptos" panose="020B0004020202020204" pitchFamily="34" charset="0"/>
              </a:rPr>
              <a:t>GSM</a:t>
            </a:r>
            <a:endParaRPr lang="en-GB" sz="2400" dirty="0">
              <a:latin typeface="Aptos" panose="020B0004020202020204" pitchFamily="34" charset="0"/>
            </a:endParaRPr>
          </a:p>
        </p:txBody>
      </p:sp>
      <p:sp>
        <p:nvSpPr>
          <p:cNvPr id="12" name="Segnaposto numero diapositiva 11"/>
          <p:cNvSpPr>
            <a:spLocks noGrp="1"/>
          </p:cNvSpPr>
          <p:nvPr>
            <p:ph type="sldNum" sz="quarter" idx="12"/>
          </p:nvPr>
        </p:nvSpPr>
        <p:spPr/>
        <p:txBody>
          <a:bodyPr/>
          <a:lstStyle/>
          <a:p>
            <a:fld id="{31DE2C5B-556E-47B8-A792-024C2FCA4ACC}" type="slidenum">
              <a:rPr lang="en-GB" smtClean="0"/>
              <a:t>43</a:t>
            </a:fld>
            <a:endParaRPr lang="en-GB"/>
          </a:p>
        </p:txBody>
      </p:sp>
      <p:sp>
        <p:nvSpPr>
          <p:cNvPr id="13" name="Freccia bidirezionale orizzontale 9">
            <a:extLst>
              <a:ext uri="{FF2B5EF4-FFF2-40B4-BE49-F238E27FC236}">
                <a16:creationId xmlns:a16="http://schemas.microsoft.com/office/drawing/2014/main" id="{069BCFC6-1A04-8AB0-138F-32E64868B15E}"/>
              </a:ext>
            </a:extLst>
          </p:cNvPr>
          <p:cNvSpPr/>
          <p:nvPr/>
        </p:nvSpPr>
        <p:spPr>
          <a:xfrm>
            <a:off x="3361043" y="5567796"/>
            <a:ext cx="1566825" cy="379817"/>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Tree>
    <p:extLst>
      <p:ext uri="{BB962C8B-B14F-4D97-AF65-F5344CB8AC3E}">
        <p14:creationId xmlns:p14="http://schemas.microsoft.com/office/powerpoint/2010/main" val="21460970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en-US" dirty="0"/>
              <a:t>3. Data storing and processing layer</a:t>
            </a:r>
          </a:p>
        </p:txBody>
      </p:sp>
      <p:sp>
        <p:nvSpPr>
          <p:cNvPr id="6" name="Segnaposto contenuto 5"/>
          <p:cNvSpPr>
            <a:spLocks noGrp="1"/>
          </p:cNvSpPr>
          <p:nvPr>
            <p:ph idx="1"/>
          </p:nvPr>
        </p:nvSpPr>
        <p:spPr/>
        <p:txBody>
          <a:bodyPr>
            <a:normAutofit/>
          </a:bodyPr>
          <a:lstStyle/>
          <a:p>
            <a:r>
              <a:rPr lang="en-US" dirty="0"/>
              <a:t>Layer responsible for data storing and complex processing</a:t>
            </a:r>
          </a:p>
          <a:p>
            <a:endParaRPr lang="en-US" dirty="0"/>
          </a:p>
          <a:p>
            <a:r>
              <a:rPr lang="en-US" dirty="0"/>
              <a:t>Key components: </a:t>
            </a:r>
          </a:p>
          <a:p>
            <a:pPr lvl="1"/>
            <a:r>
              <a:rPr lang="en-US" b="1" dirty="0"/>
              <a:t>Database</a:t>
            </a:r>
            <a:r>
              <a:rPr lang="en-US" dirty="0"/>
              <a:t> for structured data storing</a:t>
            </a:r>
          </a:p>
          <a:p>
            <a:pPr lvl="2"/>
            <a:r>
              <a:rPr lang="en-US" dirty="0"/>
              <a:t>Data organized based on a specific data model (relational, hierarchical, object-oriented,…)</a:t>
            </a:r>
          </a:p>
          <a:p>
            <a:pPr lvl="2"/>
            <a:endParaRPr lang="en-US" dirty="0"/>
          </a:p>
          <a:p>
            <a:pPr lvl="1"/>
            <a:r>
              <a:rPr lang="en-US" b="1" dirty="0"/>
              <a:t>Algorithms </a:t>
            </a:r>
            <a:r>
              <a:rPr lang="en-US" dirty="0"/>
              <a:t>for data processing</a:t>
            </a:r>
            <a:endParaRPr lang="en-US" b="1" dirty="0"/>
          </a:p>
          <a:p>
            <a:pPr lvl="2"/>
            <a:r>
              <a:rPr lang="en-US" dirty="0"/>
              <a:t>Statistical analysis</a:t>
            </a:r>
          </a:p>
          <a:p>
            <a:pPr lvl="2"/>
            <a:r>
              <a:rPr lang="en-US" dirty="0"/>
              <a:t>Feature extraction (e.g., heart rate, calories expenditure, …)</a:t>
            </a:r>
          </a:p>
          <a:p>
            <a:pPr lvl="2"/>
            <a:r>
              <a:rPr lang="en-US" dirty="0"/>
              <a:t>Signal processing (e.g., filtering, artifact removal, …)</a:t>
            </a:r>
          </a:p>
          <a:p>
            <a:pPr lvl="2"/>
            <a:r>
              <a:rPr lang="en-US" dirty="0"/>
              <a:t>Data mining (e.g., cluster analysis, anomaly detection, sequential pattern extraction, …)</a:t>
            </a:r>
          </a:p>
          <a:p>
            <a:pPr lvl="2"/>
            <a:r>
              <a:rPr lang="en-US" dirty="0"/>
              <a:t>Data modeling (knowledge-based, data-driven or hybrid approaches)</a:t>
            </a:r>
          </a:p>
          <a:p>
            <a:pPr lvl="2"/>
            <a:r>
              <a:rPr lang="en-US" dirty="0"/>
              <a:t>Artificial intelligence (knowledge representation, machine learning, natural language processing, machine perception, automated planning, …)   </a:t>
            </a:r>
          </a:p>
        </p:txBody>
      </p:sp>
      <p:sp>
        <p:nvSpPr>
          <p:cNvPr id="2" name="Segnaposto numero diapositiva 1"/>
          <p:cNvSpPr>
            <a:spLocks noGrp="1"/>
          </p:cNvSpPr>
          <p:nvPr>
            <p:ph type="sldNum" sz="quarter" idx="12"/>
          </p:nvPr>
        </p:nvSpPr>
        <p:spPr/>
        <p:txBody>
          <a:bodyPr/>
          <a:lstStyle/>
          <a:p>
            <a:fld id="{31DE2C5B-556E-47B8-A792-024C2FCA4ACC}" type="slidenum">
              <a:rPr lang="en-GB" smtClean="0"/>
              <a:t>44</a:t>
            </a:fld>
            <a:endParaRPr lang="en-GB"/>
          </a:p>
        </p:txBody>
      </p:sp>
    </p:spTree>
    <p:extLst>
      <p:ext uri="{BB962C8B-B14F-4D97-AF65-F5344CB8AC3E}">
        <p14:creationId xmlns:p14="http://schemas.microsoft.com/office/powerpoint/2010/main" val="2889721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4. Application </a:t>
            </a:r>
            <a:r>
              <a:rPr lang="it-IT" dirty="0" err="1"/>
              <a:t>layer</a:t>
            </a:r>
            <a:endParaRPr lang="en-GB" dirty="0"/>
          </a:p>
        </p:txBody>
      </p:sp>
      <p:sp>
        <p:nvSpPr>
          <p:cNvPr id="6" name="Segnaposto contenuto 5"/>
          <p:cNvSpPr>
            <a:spLocks noGrp="1"/>
          </p:cNvSpPr>
          <p:nvPr>
            <p:ph idx="1"/>
          </p:nvPr>
        </p:nvSpPr>
        <p:spPr/>
        <p:txBody>
          <a:bodyPr/>
          <a:lstStyle/>
          <a:p>
            <a:r>
              <a:rPr lang="en-GB" dirty="0"/>
              <a:t>Layer responsible for visualizing raw or processed data to end-users and for providing decision support to them through a software application</a:t>
            </a:r>
          </a:p>
          <a:p>
            <a:r>
              <a:rPr lang="it-IT" dirty="0" err="1"/>
              <a:t>Possible</a:t>
            </a:r>
            <a:r>
              <a:rPr lang="it-IT" dirty="0"/>
              <a:t> end-</a:t>
            </a:r>
            <a:r>
              <a:rPr lang="it-IT" dirty="0" err="1"/>
              <a:t>users</a:t>
            </a:r>
            <a:r>
              <a:rPr lang="it-IT" dirty="0"/>
              <a:t>: </a:t>
            </a:r>
            <a:r>
              <a:rPr lang="en-GB" dirty="0"/>
              <a:t>patients, physicians, caregivers, analysts, data managers, administrators, etc. </a:t>
            </a:r>
          </a:p>
          <a:p>
            <a:r>
              <a:rPr lang="it-IT" dirty="0" err="1"/>
              <a:t>Possible</a:t>
            </a:r>
            <a:r>
              <a:rPr lang="it-IT" dirty="0"/>
              <a:t> </a:t>
            </a:r>
            <a:r>
              <a:rPr lang="it-IT" dirty="0" err="1"/>
              <a:t>types</a:t>
            </a:r>
            <a:r>
              <a:rPr lang="it-IT" dirty="0"/>
              <a:t> of </a:t>
            </a:r>
            <a:r>
              <a:rPr lang="it-IT" dirty="0" err="1"/>
              <a:t>applications</a:t>
            </a:r>
            <a:r>
              <a:rPr lang="it-IT" dirty="0"/>
              <a:t>:  </a:t>
            </a:r>
            <a:endParaRPr lang="en-GB" dirty="0"/>
          </a:p>
        </p:txBody>
      </p:sp>
      <p:sp>
        <p:nvSpPr>
          <p:cNvPr id="2" name="CasellaDiTesto 1"/>
          <p:cNvSpPr txBox="1"/>
          <p:nvPr/>
        </p:nvSpPr>
        <p:spPr>
          <a:xfrm>
            <a:off x="1089423" y="3528503"/>
            <a:ext cx="1855177" cy="369332"/>
          </a:xfrm>
          <a:prstGeom prst="rect">
            <a:avLst/>
          </a:prstGeom>
          <a:noFill/>
        </p:spPr>
        <p:txBody>
          <a:bodyPr wrap="square" rtlCol="0">
            <a:spAutoFit/>
          </a:bodyPr>
          <a:lstStyle/>
          <a:p>
            <a:pPr algn="ctr"/>
            <a:r>
              <a:rPr lang="en-US" b="1" dirty="0">
                <a:latin typeface="Aptos" panose="020B0004020202020204" pitchFamily="34" charset="0"/>
              </a:rPr>
              <a:t>Mobile app</a:t>
            </a:r>
          </a:p>
        </p:txBody>
      </p:sp>
      <p:sp>
        <p:nvSpPr>
          <p:cNvPr id="7" name="CasellaDiTesto 6"/>
          <p:cNvSpPr txBox="1"/>
          <p:nvPr/>
        </p:nvSpPr>
        <p:spPr>
          <a:xfrm>
            <a:off x="5234008" y="3490095"/>
            <a:ext cx="1855177" cy="369332"/>
          </a:xfrm>
          <a:prstGeom prst="rect">
            <a:avLst/>
          </a:prstGeom>
          <a:noFill/>
        </p:spPr>
        <p:txBody>
          <a:bodyPr wrap="square" rtlCol="0">
            <a:spAutoFit/>
          </a:bodyPr>
          <a:lstStyle/>
          <a:p>
            <a:pPr algn="ctr"/>
            <a:r>
              <a:rPr lang="en-US" b="1" dirty="0">
                <a:latin typeface="Aptos" panose="020B0004020202020204" pitchFamily="34" charset="0"/>
              </a:rPr>
              <a:t>Desktop app</a:t>
            </a:r>
          </a:p>
        </p:txBody>
      </p:sp>
      <p:sp>
        <p:nvSpPr>
          <p:cNvPr id="8" name="CasellaDiTesto 7"/>
          <p:cNvSpPr txBox="1"/>
          <p:nvPr/>
        </p:nvSpPr>
        <p:spPr>
          <a:xfrm>
            <a:off x="9138209" y="3490095"/>
            <a:ext cx="1855177" cy="369332"/>
          </a:xfrm>
          <a:prstGeom prst="rect">
            <a:avLst/>
          </a:prstGeom>
          <a:noFill/>
        </p:spPr>
        <p:txBody>
          <a:bodyPr wrap="square" rtlCol="0">
            <a:spAutoFit/>
          </a:bodyPr>
          <a:lstStyle/>
          <a:p>
            <a:pPr algn="ctr"/>
            <a:r>
              <a:rPr lang="en-US" b="1" dirty="0">
                <a:latin typeface="Aptos" panose="020B0004020202020204" pitchFamily="34" charset="0"/>
              </a:rPr>
              <a:t>Web app</a:t>
            </a:r>
          </a:p>
        </p:txBody>
      </p:sp>
      <p:sp>
        <p:nvSpPr>
          <p:cNvPr id="9" name="CasellaDiTesto 8"/>
          <p:cNvSpPr txBox="1"/>
          <p:nvPr/>
        </p:nvSpPr>
        <p:spPr>
          <a:xfrm>
            <a:off x="4492293" y="5942369"/>
            <a:ext cx="3207414" cy="646331"/>
          </a:xfrm>
          <a:prstGeom prst="rect">
            <a:avLst/>
          </a:prstGeom>
          <a:noFill/>
        </p:spPr>
        <p:txBody>
          <a:bodyPr wrap="square" rtlCol="0">
            <a:spAutoFit/>
          </a:bodyPr>
          <a:lstStyle/>
          <a:p>
            <a:pPr algn="ctr"/>
            <a:r>
              <a:rPr lang="en-US" dirty="0">
                <a:latin typeface="Aptos" panose="020B0004020202020204" pitchFamily="34" charset="0"/>
              </a:rPr>
              <a:t>App installed in a computer. It can work offline. </a:t>
            </a:r>
          </a:p>
        </p:txBody>
      </p:sp>
      <p:sp>
        <p:nvSpPr>
          <p:cNvPr id="10" name="CasellaDiTesto 9"/>
          <p:cNvSpPr txBox="1"/>
          <p:nvPr/>
        </p:nvSpPr>
        <p:spPr>
          <a:xfrm>
            <a:off x="8386213" y="5847674"/>
            <a:ext cx="3317491" cy="923330"/>
          </a:xfrm>
          <a:prstGeom prst="rect">
            <a:avLst/>
          </a:prstGeom>
          <a:noFill/>
        </p:spPr>
        <p:txBody>
          <a:bodyPr wrap="square" rtlCol="0">
            <a:spAutoFit/>
          </a:bodyPr>
          <a:lstStyle/>
          <a:p>
            <a:pPr algn="ctr"/>
            <a:r>
              <a:rPr lang="en-US" dirty="0">
                <a:latin typeface="Aptos" panose="020B0004020202020204" pitchFamily="34" charset="0"/>
              </a:rPr>
              <a:t>App that runs on the browser.</a:t>
            </a:r>
          </a:p>
          <a:p>
            <a:pPr algn="ctr"/>
            <a:r>
              <a:rPr lang="en-US" dirty="0">
                <a:latin typeface="Aptos" panose="020B0004020202020204" pitchFamily="34" charset="0"/>
              </a:rPr>
              <a:t>Installation not required.  Internet access required.  </a:t>
            </a:r>
          </a:p>
        </p:txBody>
      </p:sp>
      <p:sp>
        <p:nvSpPr>
          <p:cNvPr id="11" name="CasellaDiTesto 10"/>
          <p:cNvSpPr txBox="1"/>
          <p:nvPr/>
        </p:nvSpPr>
        <p:spPr>
          <a:xfrm>
            <a:off x="338171" y="5942370"/>
            <a:ext cx="4115305" cy="646331"/>
          </a:xfrm>
          <a:prstGeom prst="rect">
            <a:avLst/>
          </a:prstGeom>
          <a:noFill/>
        </p:spPr>
        <p:txBody>
          <a:bodyPr wrap="square" rtlCol="0">
            <a:spAutoFit/>
          </a:bodyPr>
          <a:lstStyle/>
          <a:p>
            <a:r>
              <a:rPr lang="en-US" dirty="0">
                <a:latin typeface="Aptos" panose="020B0004020202020204" pitchFamily="34" charset="0"/>
              </a:rPr>
              <a:t>App installed in a mobile device (e.g. smartphone, smartwatch, tablet, etc.)</a:t>
            </a:r>
          </a:p>
        </p:txBody>
      </p:sp>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6233" y="3954778"/>
            <a:ext cx="2457450" cy="1866900"/>
          </a:xfrm>
          <a:prstGeom prst="rect">
            <a:avLst/>
          </a:prstGeom>
        </p:spPr>
      </p:pic>
      <p:pic>
        <p:nvPicPr>
          <p:cNvPr id="4" name="Immagin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802" y="3970435"/>
            <a:ext cx="3173591" cy="1785145"/>
          </a:xfrm>
          <a:prstGeom prst="rect">
            <a:avLst/>
          </a:prstGeom>
        </p:spPr>
      </p:pic>
      <p:pic>
        <p:nvPicPr>
          <p:cNvPr id="12" name="Immagine 11"/>
          <p:cNvPicPr>
            <a:picLocks noChangeAspect="1"/>
          </p:cNvPicPr>
          <p:nvPr/>
        </p:nvPicPr>
        <p:blipFill rotWithShape="1">
          <a:blip r:embed="rId4" cstate="print">
            <a:extLst>
              <a:ext uri="{28A0092B-C50C-407E-A947-70E740481C1C}">
                <a14:useLocalDpi xmlns:a14="http://schemas.microsoft.com/office/drawing/2010/main" val="0"/>
              </a:ext>
            </a:extLst>
          </a:blip>
          <a:srcRect l="5613" t="7500" r="40526" b="4945"/>
          <a:stretch/>
        </p:blipFill>
        <p:spPr>
          <a:xfrm>
            <a:off x="1510537" y="3954778"/>
            <a:ext cx="1012951" cy="1800802"/>
          </a:xfrm>
          <a:prstGeom prst="rect">
            <a:avLst/>
          </a:prstGeom>
        </p:spPr>
      </p:pic>
      <p:sp>
        <p:nvSpPr>
          <p:cNvPr id="13" name="Segnaposto numero diapositiva 12"/>
          <p:cNvSpPr>
            <a:spLocks noGrp="1"/>
          </p:cNvSpPr>
          <p:nvPr>
            <p:ph type="sldNum" sz="quarter" idx="12"/>
          </p:nvPr>
        </p:nvSpPr>
        <p:spPr/>
        <p:txBody>
          <a:bodyPr/>
          <a:lstStyle/>
          <a:p>
            <a:fld id="{31DE2C5B-556E-47B8-A792-024C2FCA4ACC}" type="slidenum">
              <a:rPr lang="en-GB" smtClean="0"/>
              <a:t>45</a:t>
            </a:fld>
            <a:endParaRPr lang="en-GB"/>
          </a:p>
        </p:txBody>
      </p:sp>
    </p:spTree>
    <p:extLst>
      <p:ext uri="{BB962C8B-B14F-4D97-AF65-F5344CB8AC3E}">
        <p14:creationId xmlns:p14="http://schemas.microsoft.com/office/powerpoint/2010/main" val="3984442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6AAEF-8625-52E6-E8E7-EF8FFBCAAA1A}"/>
              </a:ext>
            </a:extLst>
          </p:cNvPr>
          <p:cNvSpPr>
            <a:spLocks noGrp="1"/>
          </p:cNvSpPr>
          <p:nvPr>
            <p:ph type="title"/>
          </p:nvPr>
        </p:nvSpPr>
        <p:spPr>
          <a:xfrm>
            <a:off x="411843" y="2976019"/>
            <a:ext cx="11368314" cy="905962"/>
          </a:xfrm>
        </p:spPr>
        <p:txBody>
          <a:bodyPr/>
          <a:lstStyle/>
          <a:p>
            <a:r>
              <a:rPr lang="en-US" b="1" dirty="0"/>
              <a:t>Appendix: Data source characteristics</a:t>
            </a:r>
          </a:p>
        </p:txBody>
      </p:sp>
      <p:sp>
        <p:nvSpPr>
          <p:cNvPr id="3" name="Slide Number Placeholder 2">
            <a:extLst>
              <a:ext uri="{FF2B5EF4-FFF2-40B4-BE49-F238E27FC236}">
                <a16:creationId xmlns:a16="http://schemas.microsoft.com/office/drawing/2014/main" id="{F9C5482D-A2CA-D94D-3900-2094D80D8C30}"/>
              </a:ext>
            </a:extLst>
          </p:cNvPr>
          <p:cNvSpPr>
            <a:spLocks noGrp="1"/>
          </p:cNvSpPr>
          <p:nvPr>
            <p:ph type="sldNum" sz="quarter" idx="12"/>
          </p:nvPr>
        </p:nvSpPr>
        <p:spPr/>
        <p:txBody>
          <a:bodyPr/>
          <a:lstStyle/>
          <a:p>
            <a:fld id="{31DE2C5B-556E-47B8-A792-024C2FCA4ACC}" type="slidenum">
              <a:rPr lang="en-GB" smtClean="0"/>
              <a:t>46</a:t>
            </a:fld>
            <a:endParaRPr lang="en-GB"/>
          </a:p>
        </p:txBody>
      </p:sp>
    </p:spTree>
    <p:extLst>
      <p:ext uri="{BB962C8B-B14F-4D97-AF65-F5344CB8AC3E}">
        <p14:creationId xmlns:p14="http://schemas.microsoft.com/office/powerpoint/2010/main" val="34668946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F51E-8FDB-A631-111D-A98948085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95913-D3C1-2185-09CA-C067F5AD2581}"/>
              </a:ext>
            </a:extLst>
          </p:cNvPr>
          <p:cNvSpPr>
            <a:spLocks noGrp="1"/>
          </p:cNvSpPr>
          <p:nvPr>
            <p:ph type="title"/>
          </p:nvPr>
        </p:nvSpPr>
        <p:spPr/>
        <p:txBody>
          <a:bodyPr>
            <a:normAutofit/>
          </a:bodyPr>
          <a:lstStyle/>
          <a:p>
            <a:r>
              <a:rPr lang="en-IT" dirty="0"/>
              <a:t>Focus on data – Calories</a:t>
            </a:r>
          </a:p>
        </p:txBody>
      </p:sp>
      <p:sp>
        <p:nvSpPr>
          <p:cNvPr id="3" name="Content Placeholder 2">
            <a:extLst>
              <a:ext uri="{FF2B5EF4-FFF2-40B4-BE49-F238E27FC236}">
                <a16:creationId xmlns:a16="http://schemas.microsoft.com/office/drawing/2014/main" id="{E9461580-0C76-6E1B-35D9-99ABB8E43F66}"/>
              </a:ext>
            </a:extLst>
          </p:cNvPr>
          <p:cNvSpPr>
            <a:spLocks noGrp="1"/>
          </p:cNvSpPr>
          <p:nvPr>
            <p:ph idx="1"/>
          </p:nvPr>
        </p:nvSpPr>
        <p:spPr>
          <a:xfrm>
            <a:off x="428172" y="1361167"/>
            <a:ext cx="11368314" cy="5334907"/>
          </a:xfrm>
        </p:spPr>
        <p:txBody>
          <a:bodyPr>
            <a:normAutofit/>
          </a:bodyPr>
          <a:lstStyle/>
          <a:p>
            <a:r>
              <a:rPr lang="en-IT" sz="2000" dirty="0"/>
              <a:t>Calories: a list with 1 data point exactly every minute</a:t>
            </a:r>
          </a:p>
          <a:p>
            <a:endParaRPr lang="en-IT" sz="2000" dirty="0"/>
          </a:p>
          <a:p>
            <a:r>
              <a:rPr lang="en-IT" sz="2000" dirty="0"/>
              <a:t>Fields meaning:</a:t>
            </a:r>
          </a:p>
          <a:p>
            <a:pPr lvl="1"/>
            <a:r>
              <a:rPr lang="en-IT" sz="1600" dirty="0"/>
              <a:t>time: timestamp (hh:mm:ss format) of the calory entry</a:t>
            </a:r>
          </a:p>
          <a:p>
            <a:pPr lvl="1"/>
            <a:r>
              <a:rPr lang="en-IT" sz="1600" dirty="0"/>
              <a:t>value: the calories spent during the last 1 minute (rest + active) </a:t>
            </a:r>
          </a:p>
          <a:p>
            <a:endParaRPr lang="en-IT" sz="2000" dirty="0"/>
          </a:p>
        </p:txBody>
      </p:sp>
      <p:sp>
        <p:nvSpPr>
          <p:cNvPr id="4" name="Slide Number Placeholder 3">
            <a:extLst>
              <a:ext uri="{FF2B5EF4-FFF2-40B4-BE49-F238E27FC236}">
                <a16:creationId xmlns:a16="http://schemas.microsoft.com/office/drawing/2014/main" id="{902C8FE7-AA71-B123-6BAF-FC9E9D5C5090}"/>
              </a:ext>
            </a:extLst>
          </p:cNvPr>
          <p:cNvSpPr>
            <a:spLocks noGrp="1"/>
          </p:cNvSpPr>
          <p:nvPr>
            <p:ph type="sldNum" sz="quarter" idx="12"/>
          </p:nvPr>
        </p:nvSpPr>
        <p:spPr/>
        <p:txBody>
          <a:bodyPr/>
          <a:lstStyle/>
          <a:p>
            <a:fld id="{31DE2C5B-556E-47B8-A792-024C2FCA4ACC}" type="slidenum">
              <a:rPr lang="en-GB" smtClean="0"/>
              <a:t>47</a:t>
            </a:fld>
            <a:endParaRPr lang="en-GB" dirty="0"/>
          </a:p>
        </p:txBody>
      </p:sp>
      <p:sp>
        <p:nvSpPr>
          <p:cNvPr id="6" name="TextBox 5">
            <a:extLst>
              <a:ext uri="{FF2B5EF4-FFF2-40B4-BE49-F238E27FC236}">
                <a16:creationId xmlns:a16="http://schemas.microsoft.com/office/drawing/2014/main" id="{1790FD65-3233-2F69-DE65-99A055CE03AE}"/>
              </a:ext>
            </a:extLst>
          </p:cNvPr>
          <p:cNvSpPr txBox="1"/>
          <p:nvPr/>
        </p:nvSpPr>
        <p:spPr>
          <a:xfrm>
            <a:off x="8715154" y="1835712"/>
            <a:ext cx="6097348" cy="4385816"/>
          </a:xfrm>
          <a:prstGeom prst="rect">
            <a:avLst/>
          </a:prstGeom>
          <a:noFill/>
        </p:spPr>
        <p:txBody>
          <a:bodyPr wrap="square">
            <a:spAutoFit/>
          </a:bodyPr>
          <a:lstStyle/>
          <a:p>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"00:00:00",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"00:01:00",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"00:02:00",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"00:03:00",</a:t>
            </a:r>
          </a:p>
          <a:p>
            <a:pPr lvl="1"/>
            <a:r>
              <a:rPr lang="en-GB" sz="900" b="0" dirty="0">
                <a:effectLst/>
                <a:latin typeface="Menlo" panose="020B0609030804020204" pitchFamily="49" charset="0"/>
              </a:rPr>
              <a:t>"value": "1.55"</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"00:04:00",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"00:05:00",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"00:06:00",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dirty="0">
                <a:latin typeface="Menlo" panose="020B0609030804020204" pitchFamily="49" charset="0"/>
              </a:rPr>
              <a:t>...</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32636984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64DB3-B37E-D011-0310-FD08C2B42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16089-BEB9-3578-250A-C353009BD458}"/>
              </a:ext>
            </a:extLst>
          </p:cNvPr>
          <p:cNvSpPr>
            <a:spLocks noGrp="1"/>
          </p:cNvSpPr>
          <p:nvPr>
            <p:ph type="title"/>
          </p:nvPr>
        </p:nvSpPr>
        <p:spPr/>
        <p:txBody>
          <a:bodyPr>
            <a:normAutofit/>
          </a:bodyPr>
          <a:lstStyle/>
          <a:p>
            <a:r>
              <a:rPr lang="en-IT" dirty="0"/>
              <a:t>Focus on data – Distance</a:t>
            </a:r>
          </a:p>
        </p:txBody>
      </p:sp>
      <p:sp>
        <p:nvSpPr>
          <p:cNvPr id="3" name="Content Placeholder 2">
            <a:extLst>
              <a:ext uri="{FF2B5EF4-FFF2-40B4-BE49-F238E27FC236}">
                <a16:creationId xmlns:a16="http://schemas.microsoft.com/office/drawing/2014/main" id="{642E4448-5F0F-B53B-4ED1-7825A1240CDD}"/>
              </a:ext>
            </a:extLst>
          </p:cNvPr>
          <p:cNvSpPr>
            <a:spLocks noGrp="1"/>
          </p:cNvSpPr>
          <p:nvPr>
            <p:ph idx="1"/>
          </p:nvPr>
        </p:nvSpPr>
        <p:spPr>
          <a:xfrm>
            <a:off x="428172" y="1361167"/>
            <a:ext cx="11368314" cy="5334907"/>
          </a:xfrm>
        </p:spPr>
        <p:txBody>
          <a:bodyPr>
            <a:normAutofit/>
          </a:bodyPr>
          <a:lstStyle/>
          <a:p>
            <a:r>
              <a:rPr lang="en-IT" sz="2000" dirty="0"/>
              <a:t>Distance: a list with 1 data point every minute or more depending on</a:t>
            </a:r>
            <a:br>
              <a:rPr lang="en-IT" sz="2000" dirty="0"/>
            </a:br>
            <a:r>
              <a:rPr lang="en-IT" sz="2000" dirty="0"/>
              <a:t>user’s movement</a:t>
            </a:r>
            <a:br>
              <a:rPr lang="en-IT" sz="2000" dirty="0"/>
            </a:br>
            <a:endParaRPr lang="en-IT" sz="2000" dirty="0"/>
          </a:p>
          <a:p>
            <a:endParaRPr lang="en-IT" sz="2000" dirty="0"/>
          </a:p>
          <a:p>
            <a:r>
              <a:rPr lang="en-IT" sz="2000" dirty="0"/>
              <a:t>Fields meaning:</a:t>
            </a:r>
          </a:p>
          <a:p>
            <a:pPr lvl="1"/>
            <a:r>
              <a:rPr lang="en-IT" sz="1600" dirty="0"/>
              <a:t>time: timestamp (hh:mm:ss format) of the distance entry</a:t>
            </a:r>
          </a:p>
          <a:p>
            <a:pPr lvl="1"/>
            <a:r>
              <a:rPr lang="en-IT" sz="1600" dirty="0"/>
              <a:t>value: the distance travelled between the last timestamp and now (in cm) </a:t>
            </a:r>
          </a:p>
          <a:p>
            <a:endParaRPr lang="en-IT" sz="2000" dirty="0"/>
          </a:p>
        </p:txBody>
      </p:sp>
      <p:sp>
        <p:nvSpPr>
          <p:cNvPr id="4" name="Slide Number Placeholder 3">
            <a:extLst>
              <a:ext uri="{FF2B5EF4-FFF2-40B4-BE49-F238E27FC236}">
                <a16:creationId xmlns:a16="http://schemas.microsoft.com/office/drawing/2014/main" id="{AB4C7DF1-254B-7A12-0344-96AD5B0851F3}"/>
              </a:ext>
            </a:extLst>
          </p:cNvPr>
          <p:cNvSpPr>
            <a:spLocks noGrp="1"/>
          </p:cNvSpPr>
          <p:nvPr>
            <p:ph type="sldNum" sz="quarter" idx="12"/>
          </p:nvPr>
        </p:nvSpPr>
        <p:spPr/>
        <p:txBody>
          <a:bodyPr/>
          <a:lstStyle/>
          <a:p>
            <a:fld id="{31DE2C5B-556E-47B8-A792-024C2FCA4ACC}" type="slidenum">
              <a:rPr lang="en-GB" smtClean="0"/>
              <a:t>48</a:t>
            </a:fld>
            <a:endParaRPr lang="en-GB" dirty="0"/>
          </a:p>
        </p:txBody>
      </p:sp>
      <p:sp>
        <p:nvSpPr>
          <p:cNvPr id="6" name="TextBox 5">
            <a:extLst>
              <a:ext uri="{FF2B5EF4-FFF2-40B4-BE49-F238E27FC236}">
                <a16:creationId xmlns:a16="http://schemas.microsoft.com/office/drawing/2014/main" id="{05DB0565-29C5-F926-427A-E01302ECC515}"/>
              </a:ext>
            </a:extLst>
          </p:cNvPr>
          <p:cNvSpPr txBox="1"/>
          <p:nvPr/>
        </p:nvSpPr>
        <p:spPr>
          <a:xfrm>
            <a:off x="9460264" y="1558713"/>
            <a:ext cx="6097348" cy="4939814"/>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"00:03:00",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"00:50:00",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"01:28:00",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"01:32:00",</a:t>
            </a:r>
          </a:p>
          <a:p>
            <a:r>
              <a:rPr lang="en-GB" sz="900" b="0" dirty="0">
                <a:effectLst/>
                <a:latin typeface="Menlo" panose="020B0609030804020204" pitchFamily="49" charset="0"/>
              </a:rPr>
              <a:t>        "value": "1440"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"01:33:00",</a:t>
            </a:r>
          </a:p>
          <a:p>
            <a:r>
              <a:rPr lang="en-GB" sz="900" b="0" dirty="0">
                <a:effectLst/>
                <a:latin typeface="Menlo" panose="020B0609030804020204" pitchFamily="49" charset="0"/>
              </a:rPr>
              <a:t>        "value": "3110"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"01:34:00",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"01:53:00",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"03:09:00",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dirty="0">
                <a:latin typeface="Menlo" panose="020B0609030804020204" pitchFamily="49" charset="0"/>
              </a:rPr>
              <a:t>    ...</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19717762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E98FD-CDA6-816C-3231-5FA37E39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64660-769E-2BDE-6E45-60C431EB616A}"/>
              </a:ext>
            </a:extLst>
          </p:cNvPr>
          <p:cNvSpPr>
            <a:spLocks noGrp="1"/>
          </p:cNvSpPr>
          <p:nvPr>
            <p:ph type="title"/>
          </p:nvPr>
        </p:nvSpPr>
        <p:spPr/>
        <p:txBody>
          <a:bodyPr>
            <a:normAutofit/>
          </a:bodyPr>
          <a:lstStyle/>
          <a:p>
            <a:r>
              <a:rPr lang="en-IT" dirty="0"/>
              <a:t>Focus on data – Steps</a:t>
            </a:r>
          </a:p>
        </p:txBody>
      </p:sp>
      <p:sp>
        <p:nvSpPr>
          <p:cNvPr id="3" name="Content Placeholder 2">
            <a:extLst>
              <a:ext uri="{FF2B5EF4-FFF2-40B4-BE49-F238E27FC236}">
                <a16:creationId xmlns:a16="http://schemas.microsoft.com/office/drawing/2014/main" id="{B2DC9E2E-3F22-779F-EB84-70672512EDCB}"/>
              </a:ext>
            </a:extLst>
          </p:cNvPr>
          <p:cNvSpPr>
            <a:spLocks noGrp="1"/>
          </p:cNvSpPr>
          <p:nvPr>
            <p:ph idx="1"/>
          </p:nvPr>
        </p:nvSpPr>
        <p:spPr>
          <a:xfrm>
            <a:off x="428172" y="1361167"/>
            <a:ext cx="11368314" cy="5334907"/>
          </a:xfrm>
        </p:spPr>
        <p:txBody>
          <a:bodyPr>
            <a:normAutofit/>
          </a:bodyPr>
          <a:lstStyle/>
          <a:p>
            <a:r>
              <a:rPr lang="en-IT" sz="2000" dirty="0"/>
              <a:t>Steps: a list with 1 data point every minute or more depending on</a:t>
            </a:r>
            <a:br>
              <a:rPr lang="en-IT" sz="2000" dirty="0"/>
            </a:br>
            <a:r>
              <a:rPr lang="en-IT" sz="2000" dirty="0"/>
              <a:t>user’s movement</a:t>
            </a:r>
            <a:br>
              <a:rPr lang="en-IT" sz="2000" dirty="0"/>
            </a:br>
            <a:endParaRPr lang="en-IT" sz="2000" dirty="0"/>
          </a:p>
          <a:p>
            <a:endParaRPr lang="en-IT" sz="2000" dirty="0"/>
          </a:p>
          <a:p>
            <a:r>
              <a:rPr lang="en-IT" sz="2000" dirty="0"/>
              <a:t>Fields meaning:</a:t>
            </a:r>
          </a:p>
          <a:p>
            <a:pPr lvl="1"/>
            <a:r>
              <a:rPr lang="en-IT" sz="1600" dirty="0"/>
              <a:t>time: timestamp (hh:mm:ss format) of the step entry</a:t>
            </a:r>
          </a:p>
          <a:p>
            <a:pPr lvl="1"/>
            <a:r>
              <a:rPr lang="en-IT" sz="1600" dirty="0"/>
              <a:t>value: the number of steps done between the last timestamp and now </a:t>
            </a:r>
          </a:p>
          <a:p>
            <a:pPr lvl="1"/>
            <a:endParaRPr lang="en-IT" sz="1600" dirty="0"/>
          </a:p>
          <a:p>
            <a:pPr lvl="1"/>
            <a:endParaRPr lang="en-IT" sz="1600" dirty="0"/>
          </a:p>
          <a:p>
            <a:r>
              <a:rPr lang="en-IT" sz="2000" b="1" dirty="0"/>
              <a:t>Note</a:t>
            </a:r>
            <a:r>
              <a:rPr lang="en-IT" sz="2000" dirty="0"/>
              <a:t>: there can be days without data</a:t>
            </a:r>
          </a:p>
          <a:p>
            <a:pPr marL="0" indent="0">
              <a:buNone/>
            </a:pPr>
            <a:endParaRPr lang="en-IT" sz="2000" dirty="0"/>
          </a:p>
        </p:txBody>
      </p:sp>
      <p:sp>
        <p:nvSpPr>
          <p:cNvPr id="4" name="Slide Number Placeholder 3">
            <a:extLst>
              <a:ext uri="{FF2B5EF4-FFF2-40B4-BE49-F238E27FC236}">
                <a16:creationId xmlns:a16="http://schemas.microsoft.com/office/drawing/2014/main" id="{E269F16F-D833-2294-6997-4CD418E5D49F}"/>
              </a:ext>
            </a:extLst>
          </p:cNvPr>
          <p:cNvSpPr>
            <a:spLocks noGrp="1"/>
          </p:cNvSpPr>
          <p:nvPr>
            <p:ph type="sldNum" sz="quarter" idx="12"/>
          </p:nvPr>
        </p:nvSpPr>
        <p:spPr/>
        <p:txBody>
          <a:bodyPr/>
          <a:lstStyle/>
          <a:p>
            <a:fld id="{31DE2C5B-556E-47B8-A792-024C2FCA4ACC}" type="slidenum">
              <a:rPr lang="en-GB" smtClean="0"/>
              <a:t>49</a:t>
            </a:fld>
            <a:endParaRPr lang="en-GB" dirty="0"/>
          </a:p>
        </p:txBody>
      </p:sp>
      <p:sp>
        <p:nvSpPr>
          <p:cNvPr id="6" name="TextBox 5">
            <a:extLst>
              <a:ext uri="{FF2B5EF4-FFF2-40B4-BE49-F238E27FC236}">
                <a16:creationId xmlns:a16="http://schemas.microsoft.com/office/drawing/2014/main" id="{CDBE0FDB-BDE5-B42B-A60B-71CD03FEC494}"/>
              </a:ext>
            </a:extLst>
          </p:cNvPr>
          <p:cNvSpPr txBox="1"/>
          <p:nvPr/>
        </p:nvSpPr>
        <p:spPr>
          <a:xfrm>
            <a:off x="9460264" y="1558713"/>
            <a:ext cx="6097348" cy="4801314"/>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"00:07:00",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"00:10:00",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"01:57:00",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"02:29:00",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"02:40:00",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"02:57:00",</a:t>
            </a:r>
          </a:p>
          <a:p>
            <a:r>
              <a:rPr lang="en-GB" sz="900" b="0" dirty="0">
                <a:effectLst/>
                <a:latin typeface="Menlo" panose="020B0609030804020204" pitchFamily="49" charset="0"/>
              </a:rPr>
              <a:t>        "value": "11"</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"02:58:00",</a:t>
            </a:r>
          </a:p>
          <a:p>
            <a:r>
              <a:rPr lang="en-GB" sz="900" b="0" dirty="0">
                <a:effectLst/>
                <a:latin typeface="Menlo" panose="020B0609030804020204" pitchFamily="49" charset="0"/>
              </a:rPr>
              <a:t>        "value": "18"</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r>
              <a:rPr lang="en-GB" sz="900" dirty="0">
                <a:latin typeface="Menlo" panose="020B0609030804020204" pitchFamily="49" charset="0"/>
              </a:rPr>
              <a:t>    ...</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2697218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191A-295B-DC56-0A07-BEF5FC91F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E4585-480D-32C5-A46B-4E83DB2013ED}"/>
              </a:ext>
            </a:extLst>
          </p:cNvPr>
          <p:cNvSpPr>
            <a:spLocks noGrp="1"/>
          </p:cNvSpPr>
          <p:nvPr>
            <p:ph type="title"/>
          </p:nvPr>
        </p:nvSpPr>
        <p:spPr/>
        <p:txBody>
          <a:bodyPr>
            <a:normAutofit/>
          </a:bodyPr>
          <a:lstStyle/>
          <a:p>
            <a:r>
              <a:rPr lang="en-IT"/>
              <a:t>Heart </a:t>
            </a:r>
            <a:r>
              <a:rPr lang="en-IT" dirty="0"/>
              <a:t>rate</a:t>
            </a:r>
          </a:p>
        </p:txBody>
      </p:sp>
      <p:sp>
        <p:nvSpPr>
          <p:cNvPr id="3" name="Content Placeholder 2">
            <a:extLst>
              <a:ext uri="{FF2B5EF4-FFF2-40B4-BE49-F238E27FC236}">
                <a16:creationId xmlns:a16="http://schemas.microsoft.com/office/drawing/2014/main" id="{832C6F84-4E27-08C1-7D86-990628DE3182}"/>
              </a:ext>
            </a:extLst>
          </p:cNvPr>
          <p:cNvSpPr>
            <a:spLocks noGrp="1"/>
          </p:cNvSpPr>
          <p:nvPr>
            <p:ph idx="1"/>
          </p:nvPr>
        </p:nvSpPr>
        <p:spPr>
          <a:xfrm>
            <a:off x="428172" y="1361167"/>
            <a:ext cx="11368314" cy="5334907"/>
          </a:xfrm>
        </p:spPr>
        <p:txBody>
          <a:bodyPr>
            <a:normAutofit/>
          </a:bodyPr>
          <a:lstStyle/>
          <a:p>
            <a:r>
              <a:rPr lang="en-IT" sz="2000" dirty="0"/>
              <a:t>Heart rate: a list with 1 data point every 5 seconds.</a:t>
            </a:r>
            <a:br>
              <a:rPr lang="en-IT" sz="2000" dirty="0"/>
            </a:br>
            <a:endParaRPr lang="en-IT" sz="2000" dirty="0"/>
          </a:p>
          <a:p>
            <a:endParaRPr lang="en-IT" sz="2000" dirty="0"/>
          </a:p>
          <a:p>
            <a:r>
              <a:rPr lang="en-IT" sz="2000" dirty="0"/>
              <a:t>Fields meaning:</a:t>
            </a:r>
          </a:p>
          <a:p>
            <a:pPr lvl="1"/>
            <a:r>
              <a:rPr lang="en-IT" sz="1600" dirty="0"/>
              <a:t>time: timestamp (hh:mm:ss format) of the heart rate entry</a:t>
            </a:r>
          </a:p>
          <a:p>
            <a:pPr lvl="1"/>
            <a:r>
              <a:rPr lang="en-IT" sz="1600" dirty="0"/>
              <a:t>value: the heart rate at the current time (in bpm)</a:t>
            </a:r>
          </a:p>
          <a:p>
            <a:pPr lvl="1"/>
            <a:r>
              <a:rPr lang="en-IT" sz="1600" dirty="0"/>
              <a:t>confidence: a number from 0 to 3 defining how much the reading is reliable (this</a:t>
            </a:r>
            <a:br>
              <a:rPr lang="en-IT" sz="1600" dirty="0"/>
            </a:br>
            <a:r>
              <a:rPr lang="en-IT" sz="1600" dirty="0"/>
              <a:t>problably depends on user movement, etc. You can ignore it)</a:t>
            </a:r>
          </a:p>
          <a:p>
            <a:pPr lvl="1"/>
            <a:endParaRPr lang="en-IT" sz="1600" dirty="0"/>
          </a:p>
          <a:p>
            <a:r>
              <a:rPr lang="en-IT" sz="2000" b="1" dirty="0"/>
              <a:t>Note</a:t>
            </a:r>
            <a:r>
              <a:rPr lang="en-IT" sz="2000" dirty="0"/>
              <a:t>: there can be missing values</a:t>
            </a:r>
          </a:p>
        </p:txBody>
      </p:sp>
      <p:sp>
        <p:nvSpPr>
          <p:cNvPr id="4" name="Slide Number Placeholder 3">
            <a:extLst>
              <a:ext uri="{FF2B5EF4-FFF2-40B4-BE49-F238E27FC236}">
                <a16:creationId xmlns:a16="http://schemas.microsoft.com/office/drawing/2014/main" id="{2E082F8C-8806-F8E1-BAF0-C3F3309D137B}"/>
              </a:ext>
            </a:extLst>
          </p:cNvPr>
          <p:cNvSpPr>
            <a:spLocks noGrp="1"/>
          </p:cNvSpPr>
          <p:nvPr>
            <p:ph type="sldNum" sz="quarter" idx="12"/>
          </p:nvPr>
        </p:nvSpPr>
        <p:spPr/>
        <p:txBody>
          <a:bodyPr/>
          <a:lstStyle/>
          <a:p>
            <a:fld id="{31DE2C5B-556E-47B8-A792-024C2FCA4ACC}" type="slidenum">
              <a:rPr lang="en-GB" smtClean="0"/>
              <a:t>50</a:t>
            </a:fld>
            <a:endParaRPr lang="en-GB" dirty="0"/>
          </a:p>
        </p:txBody>
      </p:sp>
      <p:sp>
        <p:nvSpPr>
          <p:cNvPr id="6" name="TextBox 5">
            <a:extLst>
              <a:ext uri="{FF2B5EF4-FFF2-40B4-BE49-F238E27FC236}">
                <a16:creationId xmlns:a16="http://schemas.microsoft.com/office/drawing/2014/main" id="{B6CCA017-A8A5-F5EB-29CE-E2CD94DE705C}"/>
              </a:ext>
            </a:extLst>
          </p:cNvPr>
          <p:cNvSpPr txBox="1"/>
          <p:nvPr/>
        </p:nvSpPr>
        <p:spPr>
          <a:xfrm>
            <a:off x="8974741" y="1335766"/>
            <a:ext cx="6097348" cy="5355312"/>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"03:10:19",</a:t>
            </a:r>
          </a:p>
          <a:p>
            <a:r>
              <a:rPr lang="en-GB" sz="900" b="0" dirty="0">
                <a:effectLst/>
                <a:latin typeface="Menlo" panose="020B0609030804020204" pitchFamily="49" charset="0"/>
              </a:rPr>
              <a:t>        "value": 58,</a:t>
            </a:r>
          </a:p>
          <a:p>
            <a:r>
              <a:rPr lang="en-GB" sz="900" b="0" dirty="0">
                <a:effectLst/>
                <a:latin typeface="Menlo" panose="020B0609030804020204" pitchFamily="49" charset="0"/>
              </a:rPr>
              <a:t>        "confidence": 1</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"03:10:24",</a:t>
            </a:r>
          </a:p>
          <a:p>
            <a:r>
              <a:rPr lang="en-GB" sz="900" b="0" dirty="0">
                <a:effectLst/>
                <a:latin typeface="Menlo" panose="020B0609030804020204" pitchFamily="49" charset="0"/>
              </a:rPr>
              <a:t>        "value": 54,</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"03:10:29",</a:t>
            </a:r>
          </a:p>
          <a:p>
            <a:r>
              <a:rPr lang="en-GB" sz="900" b="0" dirty="0">
                <a:effectLst/>
                <a:latin typeface="Menlo" panose="020B0609030804020204" pitchFamily="49" charset="0"/>
              </a:rPr>
              <a:t>        "value": 52,</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"03:10:44",</a:t>
            </a:r>
          </a:p>
          <a:p>
            <a:r>
              <a:rPr lang="en-GB" sz="900" b="0" dirty="0">
                <a:effectLst/>
                <a:latin typeface="Menlo" panose="020B0609030804020204" pitchFamily="49" charset="0"/>
              </a:rPr>
              <a:t>        "value": 52,</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"03:10:54",</a:t>
            </a:r>
          </a:p>
          <a:p>
            <a:r>
              <a:rPr lang="en-GB" sz="900" b="0" dirty="0">
                <a:effectLst/>
                <a:latin typeface="Menlo" panose="020B0609030804020204" pitchFamily="49" charset="0"/>
              </a:rPr>
              <a:t>        "value": 53,</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"03:11:09",</a:t>
            </a:r>
          </a:p>
          <a:p>
            <a:r>
              <a:rPr lang="en-GB" sz="900" b="0" dirty="0">
                <a:effectLst/>
                <a:latin typeface="Menlo" panose="020B0609030804020204" pitchFamily="49" charset="0"/>
              </a:rPr>
              <a:t>        "value": 54,</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"03:11:19",</a:t>
            </a:r>
          </a:p>
          <a:p>
            <a:r>
              <a:rPr lang="en-GB" sz="900" b="0" dirty="0">
                <a:effectLst/>
                <a:latin typeface="Menlo" panose="020B0609030804020204" pitchFamily="49" charset="0"/>
              </a:rPr>
              <a:t>        "value": 53,</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br>
              <a:rPr lang="en-GB" sz="900" b="0" dirty="0">
                <a:effectLst/>
                <a:latin typeface="Menlo" panose="020B0609030804020204" pitchFamily="49" charset="0"/>
              </a:rPr>
            </a:br>
            <a:r>
              <a:rPr lang="en-GB" sz="900" b="0" dirty="0">
                <a:effectLst/>
                <a:latin typeface="Menlo" panose="020B0609030804020204" pitchFamily="49" charset="0"/>
              </a:rPr>
              <a:t>    </a:t>
            </a:r>
            <a:r>
              <a:rPr lang="en-GB" sz="900" dirty="0">
                <a:latin typeface="Menlo" panose="020B0609030804020204" pitchFamily="49" charset="0"/>
              </a:rPr>
              <a:t>...</a:t>
            </a:r>
          </a:p>
          <a:p>
            <a:r>
              <a:rPr lang="en-GB" sz="900" b="0" dirty="0">
                <a:effectLst/>
                <a:latin typeface="Menlo" panose="020B0609030804020204" pitchFamily="49" charset="0"/>
              </a:rPr>
              <a:t>]</a:t>
            </a:r>
          </a:p>
        </p:txBody>
      </p:sp>
      <p:cxnSp>
        <p:nvCxnSpPr>
          <p:cNvPr id="7" name="Straight Arrow Connector 6">
            <a:extLst>
              <a:ext uri="{FF2B5EF4-FFF2-40B4-BE49-F238E27FC236}">
                <a16:creationId xmlns:a16="http://schemas.microsoft.com/office/drawing/2014/main" id="{B5D66EA8-8778-DC83-A74F-727A844AEBB8}"/>
              </a:ext>
            </a:extLst>
          </p:cNvPr>
          <p:cNvCxnSpPr/>
          <p:nvPr/>
        </p:nvCxnSpPr>
        <p:spPr>
          <a:xfrm>
            <a:off x="4725749" y="4377791"/>
            <a:ext cx="4644828" cy="5745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432521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9AED7-272F-5B9A-E203-82BA039C5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9D259-8389-6B47-3F61-D346AEB29CDA}"/>
              </a:ext>
            </a:extLst>
          </p:cNvPr>
          <p:cNvSpPr>
            <a:spLocks noGrp="1"/>
          </p:cNvSpPr>
          <p:nvPr>
            <p:ph type="title"/>
          </p:nvPr>
        </p:nvSpPr>
        <p:spPr/>
        <p:txBody>
          <a:bodyPr>
            <a:normAutofit/>
          </a:bodyPr>
          <a:lstStyle/>
          <a:p>
            <a:r>
              <a:rPr lang="en-IT"/>
              <a:t>Resting </a:t>
            </a:r>
            <a:r>
              <a:rPr lang="en-IT" dirty="0"/>
              <a:t>heart rate</a:t>
            </a:r>
          </a:p>
        </p:txBody>
      </p:sp>
      <p:sp>
        <p:nvSpPr>
          <p:cNvPr id="3" name="Content Placeholder 2">
            <a:extLst>
              <a:ext uri="{FF2B5EF4-FFF2-40B4-BE49-F238E27FC236}">
                <a16:creationId xmlns:a16="http://schemas.microsoft.com/office/drawing/2014/main" id="{3A8D5C17-DEE7-1E94-C024-7146F4C732A5}"/>
              </a:ext>
            </a:extLst>
          </p:cNvPr>
          <p:cNvSpPr>
            <a:spLocks noGrp="1"/>
          </p:cNvSpPr>
          <p:nvPr>
            <p:ph idx="1"/>
          </p:nvPr>
        </p:nvSpPr>
        <p:spPr>
          <a:xfrm>
            <a:off x="428172" y="1361167"/>
            <a:ext cx="11368314" cy="5334907"/>
          </a:xfrm>
        </p:spPr>
        <p:txBody>
          <a:bodyPr>
            <a:normAutofit/>
          </a:bodyPr>
          <a:lstStyle/>
          <a:p>
            <a:r>
              <a:rPr lang="en-IT" sz="2000" dirty="0"/>
              <a:t>Resting heart rate: an entry per day.</a:t>
            </a:r>
            <a:br>
              <a:rPr lang="en-IT" sz="2000" dirty="0"/>
            </a:br>
            <a:endParaRPr lang="en-IT" sz="2000" dirty="0"/>
          </a:p>
          <a:p>
            <a:endParaRPr lang="en-IT" sz="2000" dirty="0"/>
          </a:p>
          <a:p>
            <a:r>
              <a:rPr lang="en-IT" sz="2000" dirty="0"/>
              <a:t>Fields meaning:</a:t>
            </a:r>
          </a:p>
          <a:p>
            <a:pPr lvl="1"/>
            <a:r>
              <a:rPr lang="en-IT" sz="1600" dirty="0"/>
              <a:t>time: timestamp (hh:mm:ss format) of the resting heart rate entry (always 00:00:00)</a:t>
            </a:r>
          </a:p>
          <a:p>
            <a:pPr lvl="1"/>
            <a:r>
              <a:rPr lang="en-IT" sz="1600" dirty="0"/>
              <a:t>value: the estimated resting heart rate at the current time (in bpm)</a:t>
            </a:r>
          </a:p>
          <a:p>
            <a:pPr lvl="1"/>
            <a:r>
              <a:rPr lang="en-IT" sz="1600" dirty="0"/>
              <a:t>error: the estimate error (in %) (Can be ignored)</a:t>
            </a:r>
          </a:p>
          <a:p>
            <a:pPr lvl="1"/>
            <a:endParaRPr lang="en-IT" sz="1600" dirty="0"/>
          </a:p>
          <a:p>
            <a:r>
              <a:rPr lang="en-IT" sz="2000" b="1" dirty="0"/>
              <a:t>Note</a:t>
            </a:r>
            <a:r>
              <a:rPr lang="en-IT" sz="2000" dirty="0"/>
              <a:t>: there can be days without data</a:t>
            </a:r>
          </a:p>
        </p:txBody>
      </p:sp>
      <p:sp>
        <p:nvSpPr>
          <p:cNvPr id="4" name="Slide Number Placeholder 3">
            <a:extLst>
              <a:ext uri="{FF2B5EF4-FFF2-40B4-BE49-F238E27FC236}">
                <a16:creationId xmlns:a16="http://schemas.microsoft.com/office/drawing/2014/main" id="{EA3AAC1D-D3DB-FFF1-5D3E-99B2D7B2AAD9}"/>
              </a:ext>
            </a:extLst>
          </p:cNvPr>
          <p:cNvSpPr>
            <a:spLocks noGrp="1"/>
          </p:cNvSpPr>
          <p:nvPr>
            <p:ph type="sldNum" sz="quarter" idx="12"/>
          </p:nvPr>
        </p:nvSpPr>
        <p:spPr/>
        <p:txBody>
          <a:bodyPr/>
          <a:lstStyle/>
          <a:p>
            <a:fld id="{31DE2C5B-556E-47B8-A792-024C2FCA4ACC}" type="slidenum">
              <a:rPr lang="en-GB" smtClean="0"/>
              <a:t>51</a:t>
            </a:fld>
            <a:endParaRPr lang="en-GB" dirty="0"/>
          </a:p>
        </p:txBody>
      </p:sp>
      <p:sp>
        <p:nvSpPr>
          <p:cNvPr id="6" name="TextBox 5">
            <a:extLst>
              <a:ext uri="{FF2B5EF4-FFF2-40B4-BE49-F238E27FC236}">
                <a16:creationId xmlns:a16="http://schemas.microsoft.com/office/drawing/2014/main" id="{EC217DC8-AD74-FCFB-97C3-63025BFE3C42}"/>
              </a:ext>
            </a:extLst>
          </p:cNvPr>
          <p:cNvSpPr txBox="1"/>
          <p:nvPr/>
        </p:nvSpPr>
        <p:spPr>
          <a:xfrm>
            <a:off x="8456850" y="1629177"/>
            <a:ext cx="6097348" cy="784830"/>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"time": "00:00:00",</a:t>
            </a:r>
          </a:p>
          <a:p>
            <a:r>
              <a:rPr lang="en-GB" sz="900" b="0" dirty="0">
                <a:effectLst/>
                <a:latin typeface="Menlo" panose="020B0609030804020204" pitchFamily="49" charset="0"/>
              </a:rPr>
              <a:t>    "value": 51.35,</a:t>
            </a:r>
          </a:p>
          <a:p>
            <a:r>
              <a:rPr lang="en-GB" sz="900" b="0" dirty="0">
                <a:effectLst/>
                <a:latin typeface="Menlo" panose="020B0609030804020204" pitchFamily="49" charset="0"/>
              </a:rPr>
              <a:t>    "error": 17.86</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41536139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E818-3D3F-9318-801E-A15F4F9EE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20834-0C07-2300-4D3F-8156C29C11A8}"/>
              </a:ext>
            </a:extLst>
          </p:cNvPr>
          <p:cNvSpPr>
            <a:spLocks noGrp="1"/>
          </p:cNvSpPr>
          <p:nvPr>
            <p:ph type="title"/>
          </p:nvPr>
        </p:nvSpPr>
        <p:spPr/>
        <p:txBody>
          <a:bodyPr>
            <a:normAutofit/>
          </a:bodyPr>
          <a:lstStyle/>
          <a:p>
            <a:r>
              <a:rPr lang="en-IT"/>
              <a:t>Exercise</a:t>
            </a:r>
            <a:endParaRPr lang="en-IT" dirty="0"/>
          </a:p>
        </p:txBody>
      </p:sp>
      <p:sp>
        <p:nvSpPr>
          <p:cNvPr id="3" name="Content Placeholder 2">
            <a:extLst>
              <a:ext uri="{FF2B5EF4-FFF2-40B4-BE49-F238E27FC236}">
                <a16:creationId xmlns:a16="http://schemas.microsoft.com/office/drawing/2014/main" id="{7C222461-A2ED-A7D6-A3D5-35620A60C75C}"/>
              </a:ext>
            </a:extLst>
          </p:cNvPr>
          <p:cNvSpPr>
            <a:spLocks noGrp="1"/>
          </p:cNvSpPr>
          <p:nvPr>
            <p:ph idx="1"/>
          </p:nvPr>
        </p:nvSpPr>
        <p:spPr>
          <a:xfrm>
            <a:off x="225871" y="1386568"/>
            <a:ext cx="11368314" cy="5334907"/>
          </a:xfrm>
        </p:spPr>
        <p:txBody>
          <a:bodyPr>
            <a:normAutofit lnSpcReduction="10000"/>
          </a:bodyPr>
          <a:lstStyle/>
          <a:p>
            <a:r>
              <a:rPr lang="en-IT" sz="1800" dirty="0"/>
              <a:t>Exercise: a list with 1 entry for each recorded exercise session</a:t>
            </a:r>
            <a:br>
              <a:rPr lang="en-IT" sz="1800" dirty="0"/>
            </a:br>
            <a:endParaRPr lang="en-IT" sz="1800" dirty="0"/>
          </a:p>
          <a:p>
            <a:r>
              <a:rPr lang="en-IT" sz="1800" dirty="0"/>
              <a:t>Fields meaning:</a:t>
            </a:r>
          </a:p>
          <a:p>
            <a:pPr lvl="1"/>
            <a:r>
              <a:rPr lang="en-IT" sz="1400" dirty="0"/>
              <a:t>activityName: the type of entry (“Corsa”: Run, “Bici”: bike, “Camminata”: Walk)</a:t>
            </a:r>
          </a:p>
          <a:p>
            <a:pPr lvl="1"/>
            <a:r>
              <a:rPr lang="en-IT" sz="1400" dirty="0"/>
              <a:t>averageHeartRate: the average heart rate during the session</a:t>
            </a:r>
          </a:p>
          <a:p>
            <a:pPr lvl="1"/>
            <a:r>
              <a:rPr lang="en-IT" sz="1400" dirty="0"/>
              <a:t>calories: the active calories spent during the session</a:t>
            </a:r>
          </a:p>
          <a:p>
            <a:pPr lvl="1"/>
            <a:r>
              <a:rPr lang="en-IT" sz="1400" dirty="0"/>
              <a:t>distance: the distance covered during the session</a:t>
            </a:r>
          </a:p>
          <a:p>
            <a:pPr lvl="1"/>
            <a:r>
              <a:rPr lang="en-IT" sz="1400" dirty="0"/>
              <a:t>distanceUnit: the unit of the “distance” field</a:t>
            </a:r>
          </a:p>
          <a:p>
            <a:pPr lvl="1"/>
            <a:r>
              <a:rPr lang="en-IT" sz="1400" dirty="0"/>
              <a:t>duration: the total duration of the session (in ms)</a:t>
            </a:r>
          </a:p>
          <a:p>
            <a:pPr lvl="1"/>
            <a:r>
              <a:rPr lang="en-IT" sz="1400" dirty="0"/>
              <a:t>activeDuration: the total active duration of the session (in ms)</a:t>
            </a:r>
          </a:p>
          <a:p>
            <a:pPr lvl="1"/>
            <a:r>
              <a:rPr lang="en-IT" sz="1400" dirty="0"/>
              <a:t>steps: the total number of steps done during the session (if “Corsa” or ”Camminata”)</a:t>
            </a:r>
          </a:p>
          <a:p>
            <a:pPr lvl="1"/>
            <a:r>
              <a:rPr lang="en-IT" sz="1400" dirty="0"/>
              <a:t>logType: how this record was logged (“tracker” or “auto_detected”)</a:t>
            </a:r>
          </a:p>
          <a:p>
            <a:pPr lvl="1"/>
            <a:r>
              <a:rPr lang="en-IT" sz="1400" dirty="0"/>
              <a:t>heartRateZones: a list that summarizes the number of minutes and calories</a:t>
            </a:r>
            <a:br>
              <a:rPr lang="en-IT" sz="1400" dirty="0"/>
            </a:br>
            <a:r>
              <a:rPr lang="en-IT" sz="1400" dirty="0"/>
              <a:t>spent in specific heart rate ranges (from min to max)</a:t>
            </a:r>
          </a:p>
          <a:p>
            <a:pPr lvl="1"/>
            <a:r>
              <a:rPr lang="en-IT" sz="1400" dirty="0"/>
              <a:t>speed: the average speed (in km/h)</a:t>
            </a:r>
          </a:p>
          <a:p>
            <a:pPr lvl="1"/>
            <a:r>
              <a:rPr lang="en-IT" sz="1400" dirty="0"/>
              <a:t>vo2max: the estimated running VO2Max (only for “Corsa” activities)</a:t>
            </a:r>
          </a:p>
          <a:p>
            <a:pPr lvl="1"/>
            <a:r>
              <a:rPr lang="en-IT" sz="1400" dirty="0"/>
              <a:t>elevationGain: the elevation gained during the session</a:t>
            </a:r>
          </a:p>
          <a:p>
            <a:pPr lvl="1"/>
            <a:r>
              <a:rPr lang="en-IT" sz="1400" dirty="0"/>
              <a:t>time: the starting time of the session (format hh:mm:ss)</a:t>
            </a:r>
          </a:p>
          <a:p>
            <a:pPr lvl="1"/>
            <a:endParaRPr lang="en-IT" sz="1400" dirty="0"/>
          </a:p>
          <a:p>
            <a:r>
              <a:rPr lang="en-IT" sz="1800" b="1" dirty="0"/>
              <a:t>Note</a:t>
            </a:r>
            <a:r>
              <a:rPr lang="en-IT" sz="1800" dirty="0"/>
              <a:t>: different activity types can have (slightly) different fields</a:t>
            </a:r>
          </a:p>
          <a:p>
            <a:r>
              <a:rPr lang="en-IT" sz="1800" b="1" dirty="0"/>
              <a:t>Note</a:t>
            </a:r>
            <a:r>
              <a:rPr lang="en-IT" sz="1800" dirty="0"/>
              <a:t>: there can be days without data</a:t>
            </a:r>
          </a:p>
          <a:p>
            <a:endParaRPr lang="en-IT" sz="1800" dirty="0"/>
          </a:p>
        </p:txBody>
      </p:sp>
      <p:sp>
        <p:nvSpPr>
          <p:cNvPr id="4" name="Slide Number Placeholder 3">
            <a:extLst>
              <a:ext uri="{FF2B5EF4-FFF2-40B4-BE49-F238E27FC236}">
                <a16:creationId xmlns:a16="http://schemas.microsoft.com/office/drawing/2014/main" id="{5942F582-187B-E2DF-8C89-5837C0735FB9}"/>
              </a:ext>
            </a:extLst>
          </p:cNvPr>
          <p:cNvSpPr>
            <a:spLocks noGrp="1"/>
          </p:cNvSpPr>
          <p:nvPr>
            <p:ph type="sldNum" sz="quarter" idx="12"/>
          </p:nvPr>
        </p:nvSpPr>
        <p:spPr/>
        <p:txBody>
          <a:bodyPr/>
          <a:lstStyle/>
          <a:p>
            <a:fld id="{31DE2C5B-556E-47B8-A792-024C2FCA4ACC}" type="slidenum">
              <a:rPr lang="en-GB" smtClean="0"/>
              <a:t>52</a:t>
            </a:fld>
            <a:endParaRPr lang="en-GB" dirty="0"/>
          </a:p>
        </p:txBody>
      </p:sp>
      <p:sp>
        <p:nvSpPr>
          <p:cNvPr id="6" name="TextBox 5">
            <a:extLst>
              <a:ext uri="{FF2B5EF4-FFF2-40B4-BE49-F238E27FC236}">
                <a16:creationId xmlns:a16="http://schemas.microsoft.com/office/drawing/2014/main" id="{1CA0C2E3-0C87-C767-9E82-38DE747A35AC}"/>
              </a:ext>
            </a:extLst>
          </p:cNvPr>
          <p:cNvSpPr txBox="1"/>
          <p:nvPr/>
        </p:nvSpPr>
        <p:spPr>
          <a:xfrm>
            <a:off x="7154869" y="1160666"/>
            <a:ext cx="6097348" cy="5370701"/>
          </a:xfrm>
          <a:prstGeom prst="rect">
            <a:avLst/>
          </a:prstGeom>
          <a:noFill/>
        </p:spPr>
        <p:txBody>
          <a:bodyPr wrap="square">
            <a:spAutoFit/>
          </a:bodyPr>
          <a:lstStyle/>
          <a:p>
            <a:r>
              <a:rPr lang="en-GB" sz="700" b="0" dirty="0">
                <a:effectLst/>
                <a:latin typeface="Menlo" panose="020B0609030804020204" pitchFamily="49" charset="0"/>
              </a:rPr>
              <a:t>[</a:t>
            </a:r>
          </a:p>
          <a:p>
            <a:r>
              <a:rPr lang="en-GB" sz="700" b="0" dirty="0">
                <a:effectLst/>
                <a:latin typeface="Menlo" panose="020B0609030804020204" pitchFamily="49" charset="0"/>
              </a:rPr>
              <a:t>    {</a:t>
            </a:r>
          </a:p>
          <a:p>
            <a:r>
              <a:rPr lang="en-GB" sz="700" b="0" dirty="0">
                <a:effectLst/>
                <a:latin typeface="Menlo" panose="020B0609030804020204" pitchFamily="49" charset="0"/>
              </a:rPr>
              <a:t>        "</a:t>
            </a:r>
            <a:r>
              <a:rPr lang="en-GB" sz="700" b="0" dirty="0" err="1">
                <a:effectLst/>
                <a:latin typeface="Menlo" panose="020B0609030804020204" pitchFamily="49" charset="0"/>
              </a:rPr>
              <a:t>activityName</a:t>
            </a:r>
            <a:r>
              <a:rPr lang="en-GB" sz="700" b="0" dirty="0">
                <a:effectLst/>
                <a:latin typeface="Menlo" panose="020B0609030804020204" pitchFamily="49" charset="0"/>
              </a:rPr>
              <a:t>": "Corsa",</a:t>
            </a:r>
          </a:p>
          <a:p>
            <a:r>
              <a:rPr lang="en-GB" sz="700" b="0" dirty="0">
                <a:effectLst/>
                <a:latin typeface="Menlo" panose="020B0609030804020204" pitchFamily="49" charset="0"/>
              </a:rPr>
              <a:t>        "</a:t>
            </a:r>
            <a:r>
              <a:rPr lang="en-GB" sz="700" b="0" dirty="0" err="1">
                <a:effectLst/>
                <a:latin typeface="Menlo" panose="020B0609030804020204" pitchFamily="49" charset="0"/>
              </a:rPr>
              <a:t>averageHeartRate</a:t>
            </a:r>
            <a:r>
              <a:rPr lang="en-GB" sz="700" b="0" dirty="0">
                <a:effectLst/>
                <a:latin typeface="Menlo" panose="020B0609030804020204" pitchFamily="49" charset="0"/>
              </a:rPr>
              <a:t>": 143,</a:t>
            </a:r>
          </a:p>
          <a:p>
            <a:r>
              <a:rPr lang="en-GB" sz="700" b="0" dirty="0">
                <a:effectLst/>
                <a:latin typeface="Menlo" panose="020B0609030804020204" pitchFamily="49" charset="0"/>
              </a:rPr>
              <a:t>        "calories": 727,</a:t>
            </a:r>
          </a:p>
          <a:p>
            <a:r>
              <a:rPr lang="en-GB" sz="700" b="0" dirty="0">
                <a:effectLst/>
                <a:latin typeface="Menlo" panose="020B0609030804020204" pitchFamily="49" charset="0"/>
              </a:rPr>
              <a:t>        "distance": 8.474117,</a:t>
            </a:r>
          </a:p>
          <a:p>
            <a:r>
              <a:rPr lang="en-GB" sz="700" b="0" dirty="0">
                <a:effectLst/>
                <a:latin typeface="Menlo" panose="020B0609030804020204" pitchFamily="49" charset="0"/>
              </a:rPr>
              <a:t>        "</a:t>
            </a:r>
            <a:r>
              <a:rPr lang="en-GB" sz="700" b="0" dirty="0" err="1">
                <a:effectLst/>
                <a:latin typeface="Menlo" panose="020B0609030804020204" pitchFamily="49" charset="0"/>
              </a:rPr>
              <a:t>distanceUnit</a:t>
            </a:r>
            <a:r>
              <a:rPr lang="en-GB" sz="700" b="0" dirty="0">
                <a:effectLst/>
                <a:latin typeface="Menlo" panose="020B0609030804020204" pitchFamily="49" charset="0"/>
              </a:rPr>
              <a:t>": "</a:t>
            </a:r>
            <a:r>
              <a:rPr lang="en-GB" sz="700" b="0" dirty="0" err="1">
                <a:effectLst/>
                <a:latin typeface="Menlo" panose="020B0609030804020204" pitchFamily="49" charset="0"/>
              </a:rPr>
              <a:t>Kilometer</a:t>
            </a:r>
            <a:r>
              <a:rPr lang="en-GB" sz="700" b="0" dirty="0">
                <a:effectLst/>
                <a:latin typeface="Menlo" panose="020B0609030804020204" pitchFamily="49" charset="0"/>
              </a:rPr>
              <a:t>",</a:t>
            </a:r>
          </a:p>
          <a:p>
            <a:r>
              <a:rPr lang="en-GB" sz="700" b="0" dirty="0">
                <a:effectLst/>
                <a:latin typeface="Menlo" panose="020B0609030804020204" pitchFamily="49" charset="0"/>
              </a:rPr>
              <a:t>        "duration": 3.548E+6,</a:t>
            </a:r>
          </a:p>
          <a:p>
            <a:r>
              <a:rPr lang="en-GB" sz="700" b="0" dirty="0">
                <a:effectLst/>
                <a:latin typeface="Menlo" panose="020B0609030804020204" pitchFamily="49" charset="0"/>
              </a:rPr>
              <a:t>        "</a:t>
            </a:r>
            <a:r>
              <a:rPr lang="en-GB" sz="700" b="0" dirty="0" err="1">
                <a:effectLst/>
                <a:latin typeface="Menlo" panose="020B0609030804020204" pitchFamily="49" charset="0"/>
              </a:rPr>
              <a:t>activeDuration</a:t>
            </a:r>
            <a:r>
              <a:rPr lang="en-GB" sz="700" b="0" dirty="0">
                <a:effectLst/>
                <a:latin typeface="Menlo" panose="020B0609030804020204" pitchFamily="49" charset="0"/>
              </a:rPr>
              <a:t>": 3.214E+6,</a:t>
            </a:r>
          </a:p>
          <a:p>
            <a:r>
              <a:rPr lang="en-GB" sz="700" b="0" dirty="0">
                <a:effectLst/>
                <a:latin typeface="Menlo" panose="020B0609030804020204" pitchFamily="49" charset="0"/>
              </a:rPr>
              <a:t>        "steps": 8604,</a:t>
            </a:r>
          </a:p>
          <a:p>
            <a:r>
              <a:rPr lang="en-GB" sz="700" b="0" dirty="0">
                <a:effectLst/>
                <a:latin typeface="Menlo" panose="020B0609030804020204" pitchFamily="49" charset="0"/>
              </a:rPr>
              <a:t>        "</a:t>
            </a:r>
            <a:r>
              <a:rPr lang="en-GB" sz="700" b="0" dirty="0" err="1">
                <a:effectLst/>
                <a:latin typeface="Menlo" panose="020B0609030804020204" pitchFamily="49" charset="0"/>
              </a:rPr>
              <a:t>logType</a:t>
            </a:r>
            <a:r>
              <a:rPr lang="en-GB" sz="700" b="0" dirty="0">
                <a:effectLst/>
                <a:latin typeface="Menlo" panose="020B0609030804020204" pitchFamily="49" charset="0"/>
              </a:rPr>
              <a:t>": "tracker",</a:t>
            </a:r>
          </a:p>
          <a:p>
            <a:r>
              <a:rPr lang="en-GB" sz="700" b="0" dirty="0">
                <a:effectLst/>
                <a:latin typeface="Menlo" panose="020B0609030804020204" pitchFamily="49" charset="0"/>
              </a:rPr>
              <a:t>        "</a:t>
            </a:r>
            <a:r>
              <a:rPr lang="en-GB" sz="700" b="0" dirty="0" err="1">
                <a:effectLst/>
                <a:latin typeface="Menlo" panose="020B0609030804020204" pitchFamily="49" charset="0"/>
              </a:rPr>
              <a:t>heartRateZones</a:t>
            </a:r>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Fuori</a:t>
            </a:r>
            <a:r>
              <a:rPr lang="en-GB" sz="700" b="0" dirty="0">
                <a:effectLst/>
                <a:latin typeface="Menlo" panose="020B0609030804020204" pitchFamily="49" charset="0"/>
              </a:rPr>
              <a:t> zona",</a:t>
            </a:r>
          </a:p>
          <a:p>
            <a:r>
              <a:rPr lang="en-GB" sz="700" b="0" dirty="0">
                <a:effectLst/>
                <a:latin typeface="Menlo" panose="020B0609030804020204" pitchFamily="49" charset="0"/>
              </a:rPr>
              <a:t>                "min": 30,</a:t>
            </a:r>
          </a:p>
          <a:p>
            <a:r>
              <a:rPr lang="en-GB" sz="700" b="0" dirty="0">
                <a:effectLst/>
                <a:latin typeface="Menlo" panose="020B0609030804020204" pitchFamily="49" charset="0"/>
              </a:rPr>
              <a:t>                "max": 110,</a:t>
            </a:r>
          </a:p>
          <a:p>
            <a:r>
              <a:rPr lang="en-GB" sz="700" b="0" dirty="0">
                <a:effectLst/>
                <a:latin typeface="Menlo" panose="020B0609030804020204" pitchFamily="49" charset="0"/>
              </a:rPr>
              <a:t>                "minutes": 3,</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30.146219999999971</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"Grassi </a:t>
            </a:r>
            <a:r>
              <a:rPr lang="en-GB" sz="700" b="0" dirty="0" err="1">
                <a:effectLst/>
                <a:latin typeface="Menlo" panose="020B0609030804020204" pitchFamily="49" charset="0"/>
              </a:rPr>
              <a:t>bruciati</a:t>
            </a:r>
            <a:r>
              <a:rPr lang="en-GB" sz="700" b="0" dirty="0">
                <a:effectLst/>
                <a:latin typeface="Menlo" panose="020B0609030804020204" pitchFamily="49" charset="0"/>
              </a:rPr>
              <a:t>",</a:t>
            </a:r>
          </a:p>
          <a:p>
            <a:r>
              <a:rPr lang="en-GB" sz="700" b="0" dirty="0">
                <a:effectLst/>
                <a:latin typeface="Menlo" panose="020B0609030804020204" pitchFamily="49" charset="0"/>
              </a:rPr>
              <a:t>                "min": 110,</a:t>
            </a:r>
          </a:p>
          <a:p>
            <a:r>
              <a:rPr lang="en-GB" sz="700" b="0" dirty="0">
                <a:effectLst/>
                <a:latin typeface="Menlo" panose="020B0609030804020204" pitchFamily="49" charset="0"/>
              </a:rPr>
              <a:t>                "max": 137,</a:t>
            </a:r>
          </a:p>
          <a:p>
            <a:r>
              <a:rPr lang="en-GB" sz="700" b="0" dirty="0">
                <a:effectLst/>
                <a:latin typeface="Menlo" panose="020B0609030804020204" pitchFamily="49" charset="0"/>
              </a:rPr>
              <a:t>                "minutes": 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97.13782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Attivita</a:t>
            </a:r>
            <a:r>
              <a:rPr lang="en-GB" sz="700" b="0" dirty="0">
                <a:effectLst/>
                <a:latin typeface="Menlo" panose="020B0609030804020204" pitchFamily="49" charset="0"/>
              </a:rPr>
              <a:t> </a:t>
            </a:r>
            <a:r>
              <a:rPr lang="en-GB" sz="700" b="0" dirty="0" err="1">
                <a:effectLst/>
                <a:latin typeface="Menlo" panose="020B0609030804020204" pitchFamily="49" charset="0"/>
              </a:rPr>
              <a:t>aerobica</a:t>
            </a:r>
            <a:r>
              <a:rPr lang="en-GB" sz="700" b="0" dirty="0">
                <a:effectLst/>
                <a:latin typeface="Menlo" panose="020B0609030804020204" pitchFamily="49" charset="0"/>
              </a:rPr>
              <a:t>",</a:t>
            </a:r>
          </a:p>
          <a:p>
            <a:r>
              <a:rPr lang="en-GB" sz="700" b="0" dirty="0">
                <a:effectLst/>
                <a:latin typeface="Menlo" panose="020B0609030804020204" pitchFamily="49" charset="0"/>
              </a:rPr>
              <a:t>                "min": 137,</a:t>
            </a:r>
          </a:p>
          <a:p>
            <a:r>
              <a:rPr lang="en-GB" sz="700" b="0" dirty="0">
                <a:effectLst/>
                <a:latin typeface="Menlo" panose="020B0609030804020204" pitchFamily="49" charset="0"/>
              </a:rPr>
              <a:t>                "max": 170,</a:t>
            </a:r>
          </a:p>
          <a:p>
            <a:r>
              <a:rPr lang="en-GB" sz="700" b="0" dirty="0">
                <a:effectLst/>
                <a:latin typeface="Menlo" panose="020B0609030804020204" pitchFamily="49" charset="0"/>
              </a:rPr>
              <a:t>                "minutes": 48,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659.73843</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Picco</a:t>
            </a:r>
            <a:r>
              <a:rPr lang="en-GB" sz="700" b="0" dirty="0">
                <a:effectLst/>
                <a:latin typeface="Menlo" panose="020B0609030804020204" pitchFamily="49" charset="0"/>
              </a:rPr>
              <a:t>",</a:t>
            </a:r>
          </a:p>
          <a:p>
            <a:r>
              <a:rPr lang="en-GB" sz="700" b="0" dirty="0">
                <a:effectLst/>
                <a:latin typeface="Menlo" panose="020B0609030804020204" pitchFamily="49" charset="0"/>
              </a:rPr>
              <a:t>                "min": 170,</a:t>
            </a:r>
          </a:p>
          <a:p>
            <a:r>
              <a:rPr lang="en-GB" sz="700" b="0" dirty="0">
                <a:effectLst/>
                <a:latin typeface="Menlo" panose="020B0609030804020204" pitchFamily="49" charset="0"/>
              </a:rPr>
              <a:t>                "max": 220,</a:t>
            </a:r>
          </a:p>
          <a:p>
            <a:r>
              <a:rPr lang="en-GB" sz="700" b="0" dirty="0">
                <a:effectLst/>
                <a:latin typeface="Menlo" panose="020B0609030804020204" pitchFamily="49" charset="0"/>
              </a:rPr>
              <a:t>                "minutes": 0,</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0</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"speed": 9.4981754822650917,</a:t>
            </a:r>
          </a:p>
          <a:p>
            <a:r>
              <a:rPr lang="en-GB" sz="700" b="0" dirty="0">
                <a:effectLst/>
                <a:latin typeface="Menlo" panose="020B0609030804020204" pitchFamily="49" charset="0"/>
              </a:rPr>
              <a:t>        "vo2Max": {</a:t>
            </a:r>
          </a:p>
          <a:p>
            <a:r>
              <a:rPr lang="en-GB" sz="700" b="0" dirty="0">
                <a:effectLst/>
                <a:latin typeface="Menlo" panose="020B0609030804020204" pitchFamily="49" charset="0"/>
              </a:rPr>
              <a:t>            "vo2Max": 48.77853</a:t>
            </a:r>
          </a:p>
          <a:p>
            <a:r>
              <a:rPr lang="en-GB" sz="700" b="0" dirty="0">
                <a:effectLst/>
                <a:latin typeface="Menlo" panose="020B0609030804020204" pitchFamily="49" charset="0"/>
              </a:rPr>
              <a:t>        },</a:t>
            </a:r>
          </a:p>
          <a:p>
            <a:r>
              <a:rPr lang="en-GB" sz="700" b="0" dirty="0">
                <a:effectLst/>
                <a:latin typeface="Menlo" panose="020B0609030804020204" pitchFamily="49" charset="0"/>
              </a:rPr>
              <a:t>        "</a:t>
            </a:r>
            <a:r>
              <a:rPr lang="en-GB" sz="700" b="0" dirty="0" err="1">
                <a:effectLst/>
                <a:latin typeface="Menlo" panose="020B0609030804020204" pitchFamily="49" charset="0"/>
              </a:rPr>
              <a:t>elevationGain</a:t>
            </a:r>
            <a:r>
              <a:rPr lang="en-GB" sz="700" b="0" dirty="0">
                <a:effectLst/>
                <a:latin typeface="Menlo" panose="020B0609030804020204" pitchFamily="49" charset="0"/>
              </a:rPr>
              <a:t>": 28.042,</a:t>
            </a:r>
          </a:p>
          <a:p>
            <a:r>
              <a:rPr lang="en-GB" sz="700" b="0" dirty="0">
                <a:effectLst/>
                <a:latin typeface="Menlo" panose="020B0609030804020204" pitchFamily="49" charset="0"/>
              </a:rPr>
              <a:t>        "time": "11:22:43"</a:t>
            </a:r>
          </a:p>
          <a:p>
            <a:r>
              <a:rPr lang="en-GB" sz="700" b="0" dirty="0">
                <a:effectLst/>
                <a:latin typeface="Menlo" panose="020B0609030804020204" pitchFamily="49" charset="0"/>
              </a:rPr>
              <a:t>    },</a:t>
            </a:r>
            <a:endParaRPr lang="en-GB" sz="700" dirty="0">
              <a:latin typeface="Menlo" panose="020B0609030804020204" pitchFamily="49" charset="0"/>
            </a:endParaRPr>
          </a:p>
          <a:p>
            <a:endParaRPr lang="en-GB" sz="700" b="0" dirty="0">
              <a:effectLst/>
              <a:latin typeface="Menlo" panose="020B0609030804020204" pitchFamily="49" charset="0"/>
            </a:endParaRPr>
          </a:p>
        </p:txBody>
      </p:sp>
      <p:sp>
        <p:nvSpPr>
          <p:cNvPr id="5" name="TextBox 4">
            <a:extLst>
              <a:ext uri="{FF2B5EF4-FFF2-40B4-BE49-F238E27FC236}">
                <a16:creationId xmlns:a16="http://schemas.microsoft.com/office/drawing/2014/main" id="{7E790A02-CB85-2544-9B72-CD047002E125}"/>
              </a:ext>
            </a:extLst>
          </p:cNvPr>
          <p:cNvSpPr txBox="1"/>
          <p:nvPr/>
        </p:nvSpPr>
        <p:spPr>
          <a:xfrm>
            <a:off x="9321510" y="1305759"/>
            <a:ext cx="6097348" cy="4832092"/>
          </a:xfrm>
          <a:prstGeom prst="rect">
            <a:avLst/>
          </a:prstGeom>
          <a:noFill/>
        </p:spPr>
        <p:txBody>
          <a:bodyPr wrap="square">
            <a:spAutoFit/>
          </a:bodyPr>
          <a:lstStyle/>
          <a:p>
            <a:r>
              <a:rPr lang="en-GB" sz="700" b="0" dirty="0">
                <a:effectLst/>
                <a:latin typeface="Menlo" panose="020B0609030804020204" pitchFamily="49" charset="0"/>
              </a:rPr>
              <a:t>{</a:t>
            </a:r>
          </a:p>
          <a:p>
            <a:r>
              <a:rPr lang="en-GB" sz="700" b="0" dirty="0">
                <a:effectLst/>
                <a:latin typeface="Menlo" panose="020B0609030804020204" pitchFamily="49" charset="0"/>
              </a:rPr>
              <a:t>        "</a:t>
            </a:r>
            <a:r>
              <a:rPr lang="en-GB" sz="700" b="0" dirty="0" err="1">
                <a:effectLst/>
                <a:latin typeface="Menlo" panose="020B0609030804020204" pitchFamily="49" charset="0"/>
              </a:rPr>
              <a:t>activityName</a:t>
            </a:r>
            <a:r>
              <a:rPr lang="en-GB" sz="700" b="0" dirty="0">
                <a:effectLst/>
                <a:latin typeface="Menlo" panose="020B0609030804020204" pitchFamily="49" charset="0"/>
              </a:rPr>
              <a:t>": "</a:t>
            </a:r>
            <a:r>
              <a:rPr lang="en-GB" sz="700" b="0" dirty="0" err="1">
                <a:effectLst/>
                <a:latin typeface="Menlo" panose="020B0609030804020204" pitchFamily="49" charset="0"/>
              </a:rPr>
              <a:t>Bici</a:t>
            </a:r>
            <a:r>
              <a:rPr lang="en-GB" sz="700" b="0" dirty="0">
                <a:effectLst/>
                <a:latin typeface="Menlo" panose="020B0609030804020204" pitchFamily="49" charset="0"/>
              </a:rPr>
              <a:t>",</a:t>
            </a:r>
          </a:p>
          <a:p>
            <a:r>
              <a:rPr lang="en-GB" sz="700" b="0" dirty="0">
                <a:effectLst/>
                <a:latin typeface="Menlo" panose="020B0609030804020204" pitchFamily="49" charset="0"/>
              </a:rPr>
              <a:t>        "</a:t>
            </a:r>
            <a:r>
              <a:rPr lang="en-GB" sz="700" b="0" dirty="0" err="1">
                <a:effectLst/>
                <a:latin typeface="Menlo" panose="020B0609030804020204" pitchFamily="49" charset="0"/>
              </a:rPr>
              <a:t>averageHeartRate</a:t>
            </a:r>
            <a:r>
              <a:rPr lang="en-GB" sz="700" b="0" dirty="0">
                <a:effectLst/>
                <a:latin typeface="Menlo" panose="020B0609030804020204" pitchFamily="49" charset="0"/>
              </a:rPr>
              <a:t>": 150,</a:t>
            </a:r>
          </a:p>
          <a:p>
            <a:r>
              <a:rPr lang="en-GB" sz="700" b="0" dirty="0">
                <a:effectLst/>
                <a:latin typeface="Menlo" panose="020B0609030804020204" pitchFamily="49" charset="0"/>
              </a:rPr>
              <a:t>        "calories": 3893,</a:t>
            </a:r>
          </a:p>
          <a:p>
            <a:r>
              <a:rPr lang="en-GB" sz="700" b="0" dirty="0">
                <a:effectLst/>
                <a:latin typeface="Menlo" panose="020B0609030804020204" pitchFamily="49" charset="0"/>
              </a:rPr>
              <a:t>        "distance": 140.143695,</a:t>
            </a:r>
          </a:p>
          <a:p>
            <a:r>
              <a:rPr lang="en-GB" sz="700" b="0" dirty="0">
                <a:effectLst/>
                <a:latin typeface="Menlo" panose="020B0609030804020204" pitchFamily="49" charset="0"/>
              </a:rPr>
              <a:t>        "</a:t>
            </a:r>
            <a:r>
              <a:rPr lang="en-GB" sz="700" b="0" dirty="0" err="1">
                <a:effectLst/>
                <a:latin typeface="Menlo" panose="020B0609030804020204" pitchFamily="49" charset="0"/>
              </a:rPr>
              <a:t>distanceUnit</a:t>
            </a:r>
            <a:r>
              <a:rPr lang="en-GB" sz="700" b="0" dirty="0">
                <a:effectLst/>
                <a:latin typeface="Menlo" panose="020B0609030804020204" pitchFamily="49" charset="0"/>
              </a:rPr>
              <a:t>": "</a:t>
            </a:r>
            <a:r>
              <a:rPr lang="en-GB" sz="700" b="0" dirty="0" err="1">
                <a:effectLst/>
                <a:latin typeface="Menlo" panose="020B0609030804020204" pitchFamily="49" charset="0"/>
              </a:rPr>
              <a:t>Kilometer</a:t>
            </a:r>
            <a:r>
              <a:rPr lang="en-GB" sz="700" b="0" dirty="0">
                <a:effectLst/>
                <a:latin typeface="Menlo" panose="020B0609030804020204" pitchFamily="49" charset="0"/>
              </a:rPr>
              <a:t>",</a:t>
            </a:r>
          </a:p>
          <a:p>
            <a:r>
              <a:rPr lang="en-GB" sz="700" b="0" dirty="0">
                <a:effectLst/>
                <a:latin typeface="Menlo" panose="020B0609030804020204" pitchFamily="49" charset="0"/>
              </a:rPr>
              <a:t>        "duration": 2.0901E+7,</a:t>
            </a:r>
          </a:p>
          <a:p>
            <a:r>
              <a:rPr lang="en-GB" sz="700" b="0" dirty="0">
                <a:effectLst/>
                <a:latin typeface="Menlo" panose="020B0609030804020204" pitchFamily="49" charset="0"/>
              </a:rPr>
              <a:t>        "</a:t>
            </a:r>
            <a:r>
              <a:rPr lang="en-GB" sz="700" b="0" dirty="0" err="1">
                <a:effectLst/>
                <a:latin typeface="Menlo" panose="020B0609030804020204" pitchFamily="49" charset="0"/>
              </a:rPr>
              <a:t>activeDuration</a:t>
            </a:r>
            <a:r>
              <a:rPr lang="en-GB" sz="700" b="0" dirty="0">
                <a:effectLst/>
                <a:latin typeface="Menlo" panose="020B0609030804020204" pitchFamily="49" charset="0"/>
              </a:rPr>
              <a:t>": 1.756E+7,</a:t>
            </a:r>
          </a:p>
          <a:p>
            <a:r>
              <a:rPr lang="en-GB" sz="700" b="0" dirty="0">
                <a:effectLst/>
                <a:latin typeface="Menlo" panose="020B0609030804020204" pitchFamily="49" charset="0"/>
              </a:rPr>
              <a:t>        "</a:t>
            </a:r>
            <a:r>
              <a:rPr lang="en-GB" sz="700" b="0" dirty="0" err="1">
                <a:effectLst/>
                <a:latin typeface="Menlo" panose="020B0609030804020204" pitchFamily="49" charset="0"/>
              </a:rPr>
              <a:t>logType</a:t>
            </a:r>
            <a:r>
              <a:rPr lang="en-GB" sz="700" b="0" dirty="0">
                <a:effectLst/>
                <a:latin typeface="Menlo" panose="020B0609030804020204" pitchFamily="49" charset="0"/>
              </a:rPr>
              <a:t>": "tracker",</a:t>
            </a:r>
          </a:p>
          <a:p>
            <a:r>
              <a:rPr lang="en-GB" sz="700" b="0" dirty="0">
                <a:effectLst/>
                <a:latin typeface="Menlo" panose="020B0609030804020204" pitchFamily="49" charset="0"/>
              </a:rPr>
              <a:t>        "</a:t>
            </a:r>
            <a:r>
              <a:rPr lang="en-GB" sz="700" b="0" dirty="0" err="1">
                <a:effectLst/>
                <a:latin typeface="Menlo" panose="020B0609030804020204" pitchFamily="49" charset="0"/>
              </a:rPr>
              <a:t>heartRateZones</a:t>
            </a:r>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Fuori</a:t>
            </a:r>
            <a:r>
              <a:rPr lang="en-GB" sz="700" b="0" dirty="0">
                <a:effectLst/>
                <a:latin typeface="Menlo" panose="020B0609030804020204" pitchFamily="49" charset="0"/>
              </a:rPr>
              <a:t> zona",</a:t>
            </a:r>
          </a:p>
          <a:p>
            <a:r>
              <a:rPr lang="en-GB" sz="700" b="0" dirty="0">
                <a:effectLst/>
                <a:latin typeface="Menlo" panose="020B0609030804020204" pitchFamily="49" charset="0"/>
              </a:rPr>
              <a:t>                "min": 30,</a:t>
            </a:r>
          </a:p>
          <a:p>
            <a:r>
              <a:rPr lang="en-GB" sz="700" b="0" dirty="0">
                <a:effectLst/>
                <a:latin typeface="Menlo" panose="020B0609030804020204" pitchFamily="49" charset="0"/>
              </a:rPr>
              <a:t>                "max": 110,</a:t>
            </a:r>
          </a:p>
          <a:p>
            <a:r>
              <a:rPr lang="en-GB" sz="700" b="0" dirty="0">
                <a:effectLst/>
                <a:latin typeface="Menlo" panose="020B0609030804020204" pitchFamily="49" charset="0"/>
              </a:rPr>
              <a:t>                "minutes": 28,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214.83527999999842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"Grassi </a:t>
            </a:r>
            <a:r>
              <a:rPr lang="en-GB" sz="700" b="0" dirty="0" err="1">
                <a:effectLst/>
                <a:latin typeface="Menlo" panose="020B0609030804020204" pitchFamily="49" charset="0"/>
              </a:rPr>
              <a:t>bruciati</a:t>
            </a:r>
            <a:r>
              <a:rPr lang="en-GB" sz="700" b="0" dirty="0">
                <a:effectLst/>
                <a:latin typeface="Menlo" panose="020B0609030804020204" pitchFamily="49" charset="0"/>
              </a:rPr>
              <a:t>",</a:t>
            </a:r>
          </a:p>
          <a:p>
            <a:r>
              <a:rPr lang="en-GB" sz="700" b="0" dirty="0">
                <a:effectLst/>
                <a:latin typeface="Menlo" panose="020B0609030804020204" pitchFamily="49" charset="0"/>
              </a:rPr>
              <a:t>                "min": 110,</a:t>
            </a:r>
          </a:p>
          <a:p>
            <a:r>
              <a:rPr lang="en-GB" sz="700" b="0" dirty="0">
                <a:effectLst/>
                <a:latin typeface="Menlo" panose="020B0609030804020204" pitchFamily="49" charset="0"/>
              </a:rPr>
              <a:t>                "max": 136,</a:t>
            </a:r>
          </a:p>
          <a:p>
            <a:r>
              <a:rPr lang="en-GB" sz="700" b="0" dirty="0">
                <a:effectLst/>
                <a:latin typeface="Menlo" panose="020B0609030804020204" pitchFamily="49" charset="0"/>
              </a:rPr>
              <a:t>                "minutes": 64,</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664.55027999999993</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Attivita</a:t>
            </a:r>
            <a:r>
              <a:rPr lang="en-GB" sz="700" b="0" dirty="0">
                <a:effectLst/>
                <a:latin typeface="Menlo" panose="020B0609030804020204" pitchFamily="49" charset="0"/>
              </a:rPr>
              <a:t> </a:t>
            </a:r>
            <a:r>
              <a:rPr lang="en-GB" sz="700" b="0" dirty="0" err="1">
                <a:effectLst/>
                <a:latin typeface="Menlo" panose="020B0609030804020204" pitchFamily="49" charset="0"/>
              </a:rPr>
              <a:t>aerobica</a:t>
            </a:r>
            <a:r>
              <a:rPr lang="en-GB" sz="700" b="0" dirty="0">
                <a:effectLst/>
                <a:latin typeface="Menlo" panose="020B0609030804020204" pitchFamily="49" charset="0"/>
              </a:rPr>
              <a:t>",</a:t>
            </a:r>
          </a:p>
          <a:p>
            <a:r>
              <a:rPr lang="en-GB" sz="700" b="0" dirty="0">
                <a:effectLst/>
                <a:latin typeface="Menlo" panose="020B0609030804020204" pitchFamily="49" charset="0"/>
              </a:rPr>
              <a:t>                "min": 136,</a:t>
            </a:r>
          </a:p>
          <a:p>
            <a:r>
              <a:rPr lang="en-GB" sz="700" b="0" dirty="0">
                <a:effectLst/>
                <a:latin typeface="Menlo" panose="020B0609030804020204" pitchFamily="49" charset="0"/>
              </a:rPr>
              <a:t>                "max": 170,</a:t>
            </a:r>
          </a:p>
          <a:p>
            <a:r>
              <a:rPr lang="en-GB" sz="700" b="0" dirty="0">
                <a:effectLst/>
                <a:latin typeface="Menlo" panose="020B0609030804020204" pitchFamily="49" charset="0"/>
              </a:rPr>
              <a:t>                "minutes": 232,</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3167.1500100000012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Picco</a:t>
            </a:r>
            <a:r>
              <a:rPr lang="en-GB" sz="700" b="0" dirty="0">
                <a:effectLst/>
                <a:latin typeface="Menlo" panose="020B0609030804020204" pitchFamily="49" charset="0"/>
              </a:rPr>
              <a:t>",</a:t>
            </a:r>
          </a:p>
          <a:p>
            <a:r>
              <a:rPr lang="en-GB" sz="700" b="0" dirty="0">
                <a:effectLst/>
                <a:latin typeface="Menlo" panose="020B0609030804020204" pitchFamily="49" charset="0"/>
              </a:rPr>
              <a:t>                "min": 170,</a:t>
            </a:r>
          </a:p>
          <a:p>
            <a:r>
              <a:rPr lang="en-GB" sz="700" b="0" dirty="0">
                <a:effectLst/>
                <a:latin typeface="Menlo" panose="020B0609030804020204" pitchFamily="49" charset="0"/>
              </a:rPr>
              <a:t>                "max": 220,</a:t>
            </a:r>
          </a:p>
          <a:p>
            <a:r>
              <a:rPr lang="en-GB" sz="700" b="0" dirty="0">
                <a:effectLst/>
                <a:latin typeface="Menlo" panose="020B0609030804020204" pitchFamily="49" charset="0"/>
              </a:rPr>
              <a:t>                "minutes": 24,</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377.76059999999995</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"speed": 28.734978587699313,</a:t>
            </a:r>
          </a:p>
          <a:p>
            <a:r>
              <a:rPr lang="en-GB" sz="700" b="0" dirty="0">
                <a:effectLst/>
                <a:latin typeface="Menlo" panose="020B0609030804020204" pitchFamily="49" charset="0"/>
              </a:rPr>
              <a:t>        "</a:t>
            </a:r>
            <a:r>
              <a:rPr lang="en-GB" sz="700" b="0" dirty="0" err="1">
                <a:effectLst/>
                <a:latin typeface="Menlo" panose="020B0609030804020204" pitchFamily="49" charset="0"/>
              </a:rPr>
              <a:t>elevationGain</a:t>
            </a:r>
            <a:r>
              <a:rPr lang="en-GB" sz="700" b="0" dirty="0">
                <a:effectLst/>
                <a:latin typeface="Menlo" panose="020B0609030804020204" pitchFamily="49" charset="0"/>
              </a:rPr>
              <a:t>": 663.55,</a:t>
            </a:r>
          </a:p>
          <a:p>
            <a:r>
              <a:rPr lang="en-GB" sz="700" b="0" dirty="0">
                <a:effectLst/>
                <a:latin typeface="Menlo" panose="020B0609030804020204" pitchFamily="49" charset="0"/>
              </a:rPr>
              <a:t>        "time": "11:03:54"</a:t>
            </a:r>
          </a:p>
          <a:p>
            <a:r>
              <a:rPr lang="en-GB" sz="700" b="0" dirty="0">
                <a:effectLst/>
                <a:latin typeface="Menlo" panose="020B0609030804020204" pitchFamily="49" charset="0"/>
              </a:rPr>
              <a:t>    },</a:t>
            </a:r>
            <a:r>
              <a:rPr lang="en-GB" sz="700" dirty="0">
                <a:latin typeface="Menlo" panose="020B0609030804020204" pitchFamily="49" charset="0"/>
              </a:rPr>
              <a:t>...</a:t>
            </a:r>
          </a:p>
          <a:p>
            <a:r>
              <a:rPr lang="en-GB" sz="700" b="0" dirty="0">
                <a:effectLst/>
                <a:latin typeface="Menlo" panose="020B0609030804020204" pitchFamily="49" charset="0"/>
              </a:rPr>
              <a:t>]</a:t>
            </a:r>
          </a:p>
        </p:txBody>
      </p:sp>
    </p:spTree>
    <p:extLst>
      <p:ext uri="{BB962C8B-B14F-4D97-AF65-F5344CB8AC3E}">
        <p14:creationId xmlns:p14="http://schemas.microsoft.com/office/powerpoint/2010/main" val="15262601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0462-43F0-5E62-AA7A-94B546D43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AAE91-A4B0-2BEE-5104-CE4FB9F0D69D}"/>
              </a:ext>
            </a:extLst>
          </p:cNvPr>
          <p:cNvSpPr>
            <a:spLocks noGrp="1"/>
          </p:cNvSpPr>
          <p:nvPr>
            <p:ph type="title"/>
          </p:nvPr>
        </p:nvSpPr>
        <p:spPr/>
        <p:txBody>
          <a:bodyPr>
            <a:normAutofit/>
          </a:bodyPr>
          <a:lstStyle/>
          <a:p>
            <a:r>
              <a:rPr lang="en-IT"/>
              <a:t>Sleep</a:t>
            </a:r>
            <a:endParaRPr lang="en-IT" dirty="0"/>
          </a:p>
        </p:txBody>
      </p:sp>
      <p:sp>
        <p:nvSpPr>
          <p:cNvPr id="3" name="Content Placeholder 2">
            <a:extLst>
              <a:ext uri="{FF2B5EF4-FFF2-40B4-BE49-F238E27FC236}">
                <a16:creationId xmlns:a16="http://schemas.microsoft.com/office/drawing/2014/main" id="{BF71A747-510E-5181-4360-E5E8001AA001}"/>
              </a:ext>
            </a:extLst>
          </p:cNvPr>
          <p:cNvSpPr>
            <a:spLocks noGrp="1"/>
          </p:cNvSpPr>
          <p:nvPr>
            <p:ph idx="1"/>
          </p:nvPr>
        </p:nvSpPr>
        <p:spPr>
          <a:xfrm>
            <a:off x="428172" y="1361167"/>
            <a:ext cx="11368314" cy="5334907"/>
          </a:xfrm>
        </p:spPr>
        <p:txBody>
          <a:bodyPr>
            <a:normAutofit lnSpcReduction="10000"/>
          </a:bodyPr>
          <a:lstStyle/>
          <a:p>
            <a:r>
              <a:rPr lang="en-IT" sz="2000" dirty="0"/>
              <a:t>Sleep: a list with 1 entry for each sleep session</a:t>
            </a:r>
            <a:br>
              <a:rPr lang="en-IT" sz="2000" dirty="0"/>
            </a:br>
            <a:endParaRPr lang="en-IT" sz="2000" dirty="0"/>
          </a:p>
          <a:p>
            <a:r>
              <a:rPr lang="en-IT" sz="2000" dirty="0"/>
              <a:t>Fields meaning:</a:t>
            </a:r>
          </a:p>
          <a:p>
            <a:pPr lvl="1"/>
            <a:r>
              <a:rPr lang="en-IT" sz="1600" dirty="0"/>
              <a:t>dateOfSleep: day associated to the sleep entry (MM-DD format)</a:t>
            </a:r>
          </a:p>
          <a:p>
            <a:pPr lvl="1"/>
            <a:r>
              <a:rPr lang="en-IT" sz="1600" dirty="0"/>
              <a:t>startTime: the starting timestamp of the sleep (MM-DD hh:mm:ss format)</a:t>
            </a:r>
          </a:p>
          <a:p>
            <a:pPr lvl="1"/>
            <a:r>
              <a:rPr lang="en-IT" sz="1600" dirty="0"/>
              <a:t>endTime: the ending timestamp of the sleep (MM-DD hh:mm:ss format)</a:t>
            </a:r>
          </a:p>
          <a:p>
            <a:pPr lvl="1"/>
            <a:r>
              <a:rPr lang="en-IT" sz="1600" dirty="0"/>
              <a:t>duration: the duration of the sleep session (in ms)</a:t>
            </a:r>
          </a:p>
          <a:p>
            <a:pPr lvl="1"/>
            <a:r>
              <a:rPr lang="en-IT" sz="1600" dirty="0"/>
              <a:t>minutesToFallAsleep: the number of minutes spent to fall asleep</a:t>
            </a:r>
          </a:p>
          <a:p>
            <a:pPr lvl="1"/>
            <a:r>
              <a:rPr lang="en-IT" sz="1600" dirty="0"/>
              <a:t>minutesAsleep: the number of minutes asleep during the sleep entry</a:t>
            </a:r>
          </a:p>
          <a:p>
            <a:pPr lvl="1"/>
            <a:r>
              <a:rPr lang="en-IT" sz="1600" dirty="0"/>
              <a:t>minutesAwake: the number of minutes awake during the sleep entry</a:t>
            </a:r>
          </a:p>
          <a:p>
            <a:pPr lvl="1"/>
            <a:r>
              <a:rPr lang="en-IT" sz="1600" dirty="0"/>
              <a:t>minutesAfterWakeup: the number of minutes the user spent in bed after waking up</a:t>
            </a:r>
          </a:p>
          <a:p>
            <a:pPr lvl="1"/>
            <a:r>
              <a:rPr lang="en-IT" sz="1600" dirty="0"/>
              <a:t>efficiency: the estimated sleep efficiency (from 0 to 100) </a:t>
            </a:r>
          </a:p>
          <a:p>
            <a:pPr lvl="1"/>
            <a:r>
              <a:rPr lang="en-IT" sz="1600" dirty="0"/>
              <a:t>logType: how the entry was logged (always “auto_detected”)</a:t>
            </a:r>
          </a:p>
          <a:p>
            <a:pPr lvl="1"/>
            <a:r>
              <a:rPr lang="en-IT" sz="1600" dirty="0"/>
              <a:t>mainSleep: a boolean indicating if the entry corresponds to the main sleep session</a:t>
            </a:r>
          </a:p>
          <a:p>
            <a:pPr lvl="1"/>
            <a:r>
              <a:rPr lang="en-IT" sz="1600" dirty="0"/>
              <a:t>levels: a summary of the sleeping stages (deep/wake/light/rem/restless) during the sleep session</a:t>
            </a:r>
          </a:p>
          <a:p>
            <a:pPr lvl="1"/>
            <a:r>
              <a:rPr lang="en-IT" sz="1600" dirty="0"/>
              <a:t>data: the stage profile of the sleep session. Each entry contains the starting timestamp, the level,</a:t>
            </a:r>
            <a:br>
              <a:rPr lang="en-IT" sz="1600" dirty="0"/>
            </a:br>
            <a:r>
              <a:rPr lang="en-IT" sz="1600" dirty="0"/>
              <a:t>and how much it lasted. </a:t>
            </a:r>
          </a:p>
          <a:p>
            <a:pPr lvl="1"/>
            <a:endParaRPr lang="en-IT" sz="1600" dirty="0"/>
          </a:p>
          <a:p>
            <a:r>
              <a:rPr lang="en-IT" sz="2000" b="1" dirty="0"/>
              <a:t>Note</a:t>
            </a:r>
            <a:r>
              <a:rPr lang="en-IT" sz="2000" dirty="0"/>
              <a:t>: there can be days without data </a:t>
            </a:r>
          </a:p>
        </p:txBody>
      </p:sp>
      <p:sp>
        <p:nvSpPr>
          <p:cNvPr id="4" name="Slide Number Placeholder 3">
            <a:extLst>
              <a:ext uri="{FF2B5EF4-FFF2-40B4-BE49-F238E27FC236}">
                <a16:creationId xmlns:a16="http://schemas.microsoft.com/office/drawing/2014/main" id="{16C860CF-890E-7C37-3BCC-A33E4DAC14E0}"/>
              </a:ext>
            </a:extLst>
          </p:cNvPr>
          <p:cNvSpPr>
            <a:spLocks noGrp="1"/>
          </p:cNvSpPr>
          <p:nvPr>
            <p:ph type="sldNum" sz="quarter" idx="12"/>
          </p:nvPr>
        </p:nvSpPr>
        <p:spPr/>
        <p:txBody>
          <a:bodyPr/>
          <a:lstStyle/>
          <a:p>
            <a:fld id="{31DE2C5B-556E-47B8-A792-024C2FCA4ACC}" type="slidenum">
              <a:rPr lang="en-GB" smtClean="0"/>
              <a:t>53</a:t>
            </a:fld>
            <a:endParaRPr lang="en-GB" dirty="0"/>
          </a:p>
        </p:txBody>
      </p:sp>
      <p:sp>
        <p:nvSpPr>
          <p:cNvPr id="6" name="TextBox 5">
            <a:extLst>
              <a:ext uri="{FF2B5EF4-FFF2-40B4-BE49-F238E27FC236}">
                <a16:creationId xmlns:a16="http://schemas.microsoft.com/office/drawing/2014/main" id="{CF92C6C7-BED7-2FDA-DB28-96FB48248580}"/>
              </a:ext>
            </a:extLst>
          </p:cNvPr>
          <p:cNvSpPr txBox="1"/>
          <p:nvPr/>
        </p:nvSpPr>
        <p:spPr>
          <a:xfrm>
            <a:off x="9022651" y="1361167"/>
            <a:ext cx="6097348" cy="5355312"/>
          </a:xfrm>
          <a:prstGeom prst="rect">
            <a:avLst/>
          </a:prstGeom>
          <a:noFill/>
        </p:spPr>
        <p:txBody>
          <a:bodyPr wrap="square">
            <a:spAutoFit/>
          </a:bodyPr>
          <a:lstStyle/>
          <a:p>
            <a:r>
              <a:rPr lang="en-GB" sz="600" b="0" dirty="0">
                <a:effectLst/>
                <a:latin typeface="Menlo" panose="020B0609030804020204" pitchFamily="49" charset="0"/>
              </a:rPr>
              <a:t>[</a:t>
            </a:r>
          </a:p>
          <a:p>
            <a:r>
              <a:rPr lang="en-GB" sz="600" b="0" dirty="0">
                <a:effectLst/>
                <a:latin typeface="Menlo" panose="020B0609030804020204" pitchFamily="49" charset="0"/>
              </a:rPr>
              <a:t>{</a:t>
            </a:r>
          </a:p>
          <a:p>
            <a:r>
              <a:rPr lang="en-GB" sz="600" b="0" dirty="0">
                <a:effectLst/>
                <a:latin typeface="Menlo" panose="020B0609030804020204" pitchFamily="49" charset="0"/>
              </a:rPr>
              <a:t>    "</a:t>
            </a:r>
            <a:r>
              <a:rPr lang="en-GB" sz="600" b="0" dirty="0" err="1">
                <a:effectLst/>
                <a:latin typeface="Menlo" panose="020B0609030804020204" pitchFamily="49" charset="0"/>
              </a:rPr>
              <a:t>dateOfSleep</a:t>
            </a:r>
            <a:r>
              <a:rPr lang="en-GB" sz="600" b="0" dirty="0">
                <a:effectLst/>
                <a:latin typeface="Menlo" panose="020B0609030804020204" pitchFamily="49" charset="0"/>
              </a:rPr>
              <a:t>": "02-14",</a:t>
            </a:r>
          </a:p>
          <a:p>
            <a:r>
              <a:rPr lang="en-GB" sz="600" b="0" dirty="0">
                <a:effectLst/>
                <a:latin typeface="Menlo" panose="020B0609030804020204" pitchFamily="49" charset="0"/>
              </a:rPr>
              <a:t>    "</a:t>
            </a:r>
            <a:r>
              <a:rPr lang="en-GB" sz="600" b="0" dirty="0" err="1">
                <a:effectLst/>
                <a:latin typeface="Menlo" panose="020B0609030804020204" pitchFamily="49" charset="0"/>
              </a:rPr>
              <a:t>startTime</a:t>
            </a:r>
            <a:r>
              <a:rPr lang="en-GB" sz="600" b="0" dirty="0">
                <a:effectLst/>
                <a:latin typeface="Menlo" panose="020B0609030804020204" pitchFamily="49" charset="0"/>
              </a:rPr>
              <a:t>": "02-13 22:44:00",</a:t>
            </a:r>
          </a:p>
          <a:p>
            <a:r>
              <a:rPr lang="en-GB" sz="600" b="0" dirty="0">
                <a:effectLst/>
                <a:latin typeface="Menlo" panose="020B0609030804020204" pitchFamily="49" charset="0"/>
              </a:rPr>
              <a:t>    "</a:t>
            </a:r>
            <a:r>
              <a:rPr lang="en-GB" sz="600" b="0" dirty="0" err="1">
                <a:effectLst/>
                <a:latin typeface="Menlo" panose="020B0609030804020204" pitchFamily="49" charset="0"/>
              </a:rPr>
              <a:t>endTime</a:t>
            </a:r>
            <a:r>
              <a:rPr lang="en-GB" sz="600" b="0" dirty="0">
                <a:effectLst/>
                <a:latin typeface="Menlo" panose="020B0609030804020204" pitchFamily="49" charset="0"/>
              </a:rPr>
              <a:t>": "02-14 06:36:30",</a:t>
            </a:r>
          </a:p>
          <a:p>
            <a:r>
              <a:rPr lang="en-GB" sz="600" b="0" dirty="0">
                <a:effectLst/>
                <a:latin typeface="Menlo" panose="020B0609030804020204" pitchFamily="49" charset="0"/>
              </a:rPr>
              <a:t>    "duration": 2.832E+7,</a:t>
            </a:r>
          </a:p>
          <a:p>
            <a:r>
              <a:rPr lang="en-GB" sz="600" b="0" dirty="0">
                <a:effectLst/>
                <a:latin typeface="Menlo" panose="020B0609030804020204" pitchFamily="49" charset="0"/>
              </a:rPr>
              <a:t>    "</a:t>
            </a:r>
            <a:r>
              <a:rPr lang="en-GB" sz="600" b="0" dirty="0" err="1">
                <a:effectLst/>
                <a:latin typeface="Menlo" panose="020B0609030804020204" pitchFamily="49" charset="0"/>
              </a:rPr>
              <a:t>minutesToFallAsleep</a:t>
            </a:r>
            <a:r>
              <a:rPr lang="en-GB" sz="600" b="0" dirty="0">
                <a:effectLst/>
                <a:latin typeface="Menlo" panose="020B0609030804020204" pitchFamily="49" charset="0"/>
              </a:rPr>
              <a:t>": 0,</a:t>
            </a:r>
          </a:p>
          <a:p>
            <a:r>
              <a:rPr lang="en-GB" sz="600" b="0" dirty="0">
                <a:effectLst/>
                <a:latin typeface="Menlo" panose="020B0609030804020204" pitchFamily="49" charset="0"/>
              </a:rPr>
              <a:t>    "</a:t>
            </a:r>
            <a:r>
              <a:rPr lang="en-GB" sz="600" b="0" dirty="0" err="1">
                <a:effectLst/>
                <a:latin typeface="Menlo" panose="020B0609030804020204" pitchFamily="49" charset="0"/>
              </a:rPr>
              <a:t>minutesAsleep</a:t>
            </a:r>
            <a:r>
              <a:rPr lang="en-GB" sz="600" b="0" dirty="0">
                <a:effectLst/>
                <a:latin typeface="Menlo" panose="020B0609030804020204" pitchFamily="49" charset="0"/>
              </a:rPr>
              <a:t>": 429,</a:t>
            </a:r>
          </a:p>
          <a:p>
            <a:r>
              <a:rPr lang="en-GB" sz="600" b="0" dirty="0">
                <a:effectLst/>
                <a:latin typeface="Menlo" panose="020B0609030804020204" pitchFamily="49" charset="0"/>
              </a:rPr>
              <a:t>    "</a:t>
            </a:r>
            <a:r>
              <a:rPr lang="en-GB" sz="600" b="0" dirty="0" err="1">
                <a:effectLst/>
                <a:latin typeface="Menlo" panose="020B0609030804020204" pitchFamily="49" charset="0"/>
              </a:rPr>
              <a:t>minutesAwake</a:t>
            </a:r>
            <a:r>
              <a:rPr lang="en-GB" sz="600" b="0" dirty="0">
                <a:effectLst/>
                <a:latin typeface="Menlo" panose="020B0609030804020204" pitchFamily="49" charset="0"/>
              </a:rPr>
              <a:t>": 43,</a:t>
            </a:r>
          </a:p>
          <a:p>
            <a:r>
              <a:rPr lang="en-GB" sz="600" b="0" dirty="0">
                <a:effectLst/>
                <a:latin typeface="Menlo" panose="020B0609030804020204" pitchFamily="49" charset="0"/>
              </a:rPr>
              <a:t>    "</a:t>
            </a:r>
            <a:r>
              <a:rPr lang="en-GB" sz="600" b="0" dirty="0" err="1">
                <a:effectLst/>
                <a:latin typeface="Menlo" panose="020B0609030804020204" pitchFamily="49" charset="0"/>
              </a:rPr>
              <a:t>minutesAfterWakeup</a:t>
            </a:r>
            <a:r>
              <a:rPr lang="en-GB" sz="600" b="0" dirty="0">
                <a:effectLst/>
                <a:latin typeface="Menlo" panose="020B0609030804020204" pitchFamily="49" charset="0"/>
              </a:rPr>
              <a:t>": 3,</a:t>
            </a:r>
          </a:p>
          <a:p>
            <a:r>
              <a:rPr lang="en-GB" sz="600" b="0" dirty="0">
                <a:effectLst/>
                <a:latin typeface="Menlo" panose="020B0609030804020204" pitchFamily="49" charset="0"/>
              </a:rPr>
              <a:t>    "</a:t>
            </a:r>
            <a:r>
              <a:rPr lang="en-GB" sz="600" b="0" dirty="0" err="1">
                <a:effectLst/>
                <a:latin typeface="Menlo" panose="020B0609030804020204" pitchFamily="49" charset="0"/>
              </a:rPr>
              <a:t>timeInBed</a:t>
            </a:r>
            <a:r>
              <a:rPr lang="en-GB" sz="600" b="0" dirty="0">
                <a:effectLst/>
                <a:latin typeface="Menlo" panose="020B0609030804020204" pitchFamily="49" charset="0"/>
              </a:rPr>
              <a:t>": 472,</a:t>
            </a:r>
          </a:p>
          <a:p>
            <a:r>
              <a:rPr lang="en-GB" sz="600" b="0" dirty="0">
                <a:effectLst/>
                <a:latin typeface="Menlo" panose="020B0609030804020204" pitchFamily="49" charset="0"/>
              </a:rPr>
              <a:t>    "efficiency": 96,</a:t>
            </a:r>
          </a:p>
          <a:p>
            <a:r>
              <a:rPr lang="en-GB" sz="600" b="0" dirty="0">
                <a:effectLst/>
                <a:latin typeface="Menlo" panose="020B0609030804020204" pitchFamily="49" charset="0"/>
              </a:rPr>
              <a:t>    "</a:t>
            </a:r>
            <a:r>
              <a:rPr lang="en-GB" sz="600" b="0" dirty="0" err="1">
                <a:effectLst/>
                <a:latin typeface="Menlo" panose="020B0609030804020204" pitchFamily="49" charset="0"/>
              </a:rPr>
              <a:t>logType</a:t>
            </a:r>
            <a:r>
              <a:rPr lang="en-GB" sz="600" b="0" dirty="0">
                <a:effectLst/>
                <a:latin typeface="Menlo" panose="020B0609030804020204" pitchFamily="49" charset="0"/>
              </a:rPr>
              <a:t>": "</a:t>
            </a:r>
            <a:r>
              <a:rPr lang="en-GB" sz="600" b="0" dirty="0" err="1">
                <a:effectLst/>
                <a:latin typeface="Menlo" panose="020B0609030804020204" pitchFamily="49" charset="0"/>
              </a:rPr>
              <a:t>auto_detected</a:t>
            </a:r>
            <a:r>
              <a:rPr lang="en-GB" sz="600" b="0" dirty="0">
                <a:effectLst/>
                <a:latin typeface="Menlo" panose="020B0609030804020204" pitchFamily="49" charset="0"/>
              </a:rPr>
              <a:t>",</a:t>
            </a:r>
            <a:br>
              <a:rPr lang="en-GB" sz="600" b="0" dirty="0">
                <a:effectLst/>
                <a:latin typeface="Menlo" panose="020B0609030804020204" pitchFamily="49" charset="0"/>
              </a:rPr>
            </a:br>
            <a:r>
              <a:rPr lang="en-GB" sz="600" b="0" dirty="0">
                <a:effectLst/>
                <a:latin typeface="Menlo" panose="020B0609030804020204" pitchFamily="49" charset="0"/>
              </a:rPr>
              <a:t>    ”</a:t>
            </a:r>
            <a:r>
              <a:rPr lang="en-GB" sz="600" b="0" dirty="0" err="1">
                <a:effectLst/>
                <a:latin typeface="Menlo" panose="020B0609030804020204" pitchFamily="49" charset="0"/>
              </a:rPr>
              <a:t>mainSleep</a:t>
            </a:r>
            <a:r>
              <a:rPr lang="en-GB" sz="600" b="0" dirty="0">
                <a:effectLst/>
                <a:latin typeface="Menlo" panose="020B0609030804020204" pitchFamily="49" charset="0"/>
              </a:rPr>
              <a:t>": true,</a:t>
            </a:r>
          </a:p>
          <a:p>
            <a:r>
              <a:rPr lang="en-GB" sz="600" b="0" dirty="0">
                <a:effectLst/>
                <a:latin typeface="Menlo" panose="020B0609030804020204" pitchFamily="49" charset="0"/>
              </a:rPr>
              <a:t>    "levels": {</a:t>
            </a:r>
          </a:p>
          <a:p>
            <a:r>
              <a:rPr lang="en-GB" sz="600" b="0" dirty="0">
                <a:effectLst/>
                <a:latin typeface="Menlo" panose="020B0609030804020204" pitchFamily="49" charset="0"/>
              </a:rPr>
              <a:t>        "summary": {</a:t>
            </a:r>
          </a:p>
          <a:p>
            <a:r>
              <a:rPr lang="en-GB" sz="600" b="0" dirty="0">
                <a:effectLst/>
                <a:latin typeface="Menlo" panose="020B0609030804020204" pitchFamily="49" charset="0"/>
              </a:rPr>
              <a:t>            "deep": {</a:t>
            </a:r>
          </a:p>
          <a:p>
            <a:r>
              <a:rPr lang="en-GB" sz="600" b="0" dirty="0">
                <a:effectLst/>
                <a:latin typeface="Menlo" panose="020B0609030804020204" pitchFamily="49" charset="0"/>
              </a:rPr>
              <a:t>                "count": 5,</a:t>
            </a:r>
          </a:p>
          <a:p>
            <a:r>
              <a:rPr lang="en-GB" sz="600" b="0" dirty="0">
                <a:effectLst/>
                <a:latin typeface="Menlo" panose="020B0609030804020204" pitchFamily="49" charset="0"/>
              </a:rPr>
              <a:t>                "minutes": 106,</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86</a:t>
            </a:r>
          </a:p>
          <a:p>
            <a:r>
              <a:rPr lang="en-GB" sz="600" b="0" dirty="0">
                <a:effectLst/>
                <a:latin typeface="Menlo" panose="020B0609030804020204" pitchFamily="49" charset="0"/>
              </a:rPr>
              <a:t>            },</a:t>
            </a:r>
          </a:p>
          <a:p>
            <a:r>
              <a:rPr lang="en-GB" sz="600" b="0" dirty="0">
                <a:effectLst/>
                <a:latin typeface="Menlo" panose="020B0609030804020204" pitchFamily="49" charset="0"/>
              </a:rPr>
              <a:t>            "wake": {</a:t>
            </a:r>
          </a:p>
          <a:p>
            <a:r>
              <a:rPr lang="en-GB" sz="600" b="0" dirty="0">
                <a:effectLst/>
                <a:latin typeface="Menlo" panose="020B0609030804020204" pitchFamily="49" charset="0"/>
              </a:rPr>
              <a:t>                "count": 34,</a:t>
            </a:r>
          </a:p>
          <a:p>
            <a:r>
              <a:rPr lang="en-GB" sz="600" b="0" dirty="0">
                <a:effectLst/>
                <a:latin typeface="Menlo" panose="020B0609030804020204" pitchFamily="49" charset="0"/>
              </a:rPr>
              <a:t>                "minutes": 43,</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46</a:t>
            </a:r>
          </a:p>
          <a:p>
            <a:r>
              <a:rPr lang="en-GB" sz="600" b="0" dirty="0">
                <a:effectLst/>
                <a:latin typeface="Menlo" panose="020B0609030804020204" pitchFamily="49" charset="0"/>
              </a:rPr>
              <a:t>            },</a:t>
            </a:r>
          </a:p>
          <a:p>
            <a:r>
              <a:rPr lang="en-GB" sz="600" b="0" dirty="0">
                <a:effectLst/>
                <a:latin typeface="Menlo" panose="020B0609030804020204" pitchFamily="49" charset="0"/>
              </a:rPr>
              <a:t>            "light": {</a:t>
            </a:r>
          </a:p>
          <a:p>
            <a:r>
              <a:rPr lang="en-GB" sz="600" b="0" dirty="0">
                <a:effectLst/>
                <a:latin typeface="Menlo" panose="020B0609030804020204" pitchFamily="49" charset="0"/>
              </a:rPr>
              <a:t>                "count": 28,</a:t>
            </a:r>
          </a:p>
          <a:p>
            <a:r>
              <a:rPr lang="en-GB" sz="600" b="0" dirty="0">
                <a:effectLst/>
                <a:latin typeface="Menlo" panose="020B0609030804020204" pitchFamily="49" charset="0"/>
              </a:rPr>
              <a:t>                "minutes": 235,</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281</a:t>
            </a:r>
          </a:p>
          <a:p>
            <a:r>
              <a:rPr lang="en-GB" sz="600" b="0" dirty="0">
                <a:effectLst/>
                <a:latin typeface="Menlo" panose="020B0609030804020204" pitchFamily="49" charset="0"/>
              </a:rPr>
              <a:t>            },</a:t>
            </a:r>
          </a:p>
          <a:p>
            <a:r>
              <a:rPr lang="en-GB" sz="600" b="0" dirty="0">
                <a:effectLst/>
                <a:latin typeface="Menlo" panose="020B0609030804020204" pitchFamily="49" charset="0"/>
              </a:rPr>
              <a:t>            "rem": {</a:t>
            </a:r>
          </a:p>
          <a:p>
            <a:r>
              <a:rPr lang="en-GB" sz="600" b="0" dirty="0">
                <a:effectLst/>
                <a:latin typeface="Menlo" panose="020B0609030804020204" pitchFamily="49" charset="0"/>
              </a:rPr>
              <a:t>                "count": 11,</a:t>
            </a:r>
          </a:p>
          <a:p>
            <a:r>
              <a:rPr lang="en-GB" sz="600" b="0" dirty="0">
                <a:effectLst/>
                <a:latin typeface="Menlo" panose="020B0609030804020204" pitchFamily="49" charset="0"/>
              </a:rPr>
              <a:t>                "minutes": 88,</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101</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"data":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22:44:00",</a:t>
            </a:r>
          </a:p>
          <a:p>
            <a:r>
              <a:rPr lang="en-GB" sz="600" b="0" dirty="0">
                <a:effectLst/>
                <a:latin typeface="Menlo" panose="020B0609030804020204" pitchFamily="49" charset="0"/>
              </a:rPr>
              <a:t>                "level": "wake",</a:t>
            </a:r>
          </a:p>
          <a:p>
            <a:r>
              <a:rPr lang="en-GB" sz="600" b="0" dirty="0">
                <a:effectLst/>
                <a:latin typeface="Menlo" panose="020B0609030804020204" pitchFamily="49" charset="0"/>
              </a:rPr>
              <a:t>                "seconds": 30</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22:44:30",</a:t>
            </a:r>
          </a:p>
          <a:p>
            <a:r>
              <a:rPr lang="en-GB" sz="600" b="0" dirty="0">
                <a:effectLst/>
                <a:latin typeface="Menlo" panose="020B0609030804020204" pitchFamily="49" charset="0"/>
              </a:rPr>
              <a:t>                "level": "light",</a:t>
            </a:r>
          </a:p>
          <a:p>
            <a:r>
              <a:rPr lang="en-GB" sz="600" b="0" dirty="0">
                <a:effectLst/>
                <a:latin typeface="Menlo" panose="020B0609030804020204" pitchFamily="49" charset="0"/>
              </a:rPr>
              <a:t>                "seconds": 150</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22:47:00",</a:t>
            </a:r>
          </a:p>
          <a:p>
            <a:r>
              <a:rPr lang="en-GB" sz="600" b="0" dirty="0">
                <a:effectLst/>
                <a:latin typeface="Menlo" panose="020B0609030804020204" pitchFamily="49" charset="0"/>
              </a:rPr>
              <a:t>                "level": "deep",</a:t>
            </a:r>
          </a:p>
          <a:p>
            <a:r>
              <a:rPr lang="en-GB" sz="600" b="0" dirty="0">
                <a:effectLst/>
                <a:latin typeface="Menlo" panose="020B0609030804020204" pitchFamily="49" charset="0"/>
              </a:rPr>
              <a:t>                "seconds": 1860</a:t>
            </a:r>
          </a:p>
          <a:p>
            <a:r>
              <a:rPr lang="en-GB" sz="600" b="0" dirty="0">
                <a:effectLst/>
                <a:latin typeface="Menlo" panose="020B0609030804020204" pitchFamily="49" charset="0"/>
              </a:rPr>
              <a:t>            },</a:t>
            </a:r>
            <a:br>
              <a:rPr lang="en-GB" sz="600" b="0" dirty="0">
                <a:effectLst/>
                <a:latin typeface="Menlo" panose="020B0609030804020204" pitchFamily="49" charset="0"/>
              </a:rPr>
            </a:br>
            <a:r>
              <a:rPr lang="en-GB" sz="600" b="0" dirty="0">
                <a:effectLst/>
                <a:latin typeface="Menlo" panose="020B0609030804020204" pitchFamily="49" charset="0"/>
              </a:rPr>
              <a:t>            ...</a:t>
            </a:r>
            <a:br>
              <a:rPr lang="en-GB" sz="600" b="0" dirty="0">
                <a:effectLst/>
                <a:latin typeface="Menlo" panose="020B0609030804020204" pitchFamily="49" charset="0"/>
              </a:rPr>
            </a:br>
            <a:r>
              <a:rPr lang="en-GB" sz="600" b="0" dirty="0">
                <a:effectLst/>
                <a:latin typeface="Menlo" panose="020B0609030804020204" pitchFamily="49" charset="0"/>
              </a:rPr>
              <a:t>},</a:t>
            </a:r>
          </a:p>
          <a:p>
            <a:r>
              <a:rPr lang="en-GB" sz="600" dirty="0">
                <a:latin typeface="Menlo" panose="020B0609030804020204" pitchFamily="49" charset="0"/>
              </a:rPr>
              <a:t>...</a:t>
            </a:r>
          </a:p>
          <a:p>
            <a:r>
              <a:rPr lang="en-GB" sz="600" b="0" dirty="0">
                <a:effectLst/>
                <a:latin typeface="Menlo" panose="020B0609030804020204" pitchFamily="49" charset="0"/>
              </a:rPr>
              <a:t>]</a:t>
            </a:r>
          </a:p>
        </p:txBody>
      </p:sp>
    </p:spTree>
    <p:extLst>
      <p:ext uri="{BB962C8B-B14F-4D97-AF65-F5344CB8AC3E}">
        <p14:creationId xmlns:p14="http://schemas.microsoft.com/office/powerpoint/2010/main" val="288456904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4902</TotalTime>
  <Words>5636</Words>
  <Application>Microsoft Macintosh PowerPoint</Application>
  <PresentationFormat>Widescreen</PresentationFormat>
  <Paragraphs>887</Paragraphs>
  <Slides>53</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Aptos</vt:lpstr>
      <vt:lpstr>Arial</vt:lpstr>
      <vt:lpstr>Calibri</vt:lpstr>
      <vt:lpstr>Cambria Math</vt:lpstr>
      <vt:lpstr>Courier New</vt:lpstr>
      <vt:lpstr>Menlo</vt:lpstr>
      <vt:lpstr>Times New Roman</vt:lpstr>
      <vt:lpstr>Wingdings</vt:lpstr>
      <vt:lpstr>Tema di Office</vt:lpstr>
      <vt:lpstr>PowerPoint Presentation</vt:lpstr>
      <vt:lpstr>Who am I</vt:lpstr>
      <vt:lpstr>What is the course about?</vt:lpstr>
      <vt:lpstr>What is the course about?</vt:lpstr>
      <vt:lpstr>Theory program</vt:lpstr>
      <vt:lpstr>Lab program</vt:lpstr>
      <vt:lpstr>Lab program - The workshop</vt:lpstr>
      <vt:lpstr>Prerequisites &amp; End of class goals</vt:lpstr>
      <vt:lpstr>The exam</vt:lpstr>
      <vt:lpstr>Project: What’s the spirit here</vt:lpstr>
      <vt:lpstr>Project structure</vt:lpstr>
      <vt:lpstr>Grading</vt:lpstr>
      <vt:lpstr>Choose your target</vt:lpstr>
      <vt:lpstr>Choose your target</vt:lpstr>
      <vt:lpstr>Data source</vt:lpstr>
      <vt:lpstr>How to get data - The IMPACT backend</vt:lpstr>
      <vt:lpstr>Optional tutoring activities</vt:lpstr>
      <vt:lpstr>Discord server</vt:lpstr>
      <vt:lpstr>PowerPoint Presentation</vt:lpstr>
      <vt:lpstr>Wearable devices</vt:lpstr>
      <vt:lpstr>Wearable devices</vt:lpstr>
      <vt:lpstr>Definitions of sensor</vt:lpstr>
      <vt:lpstr>Classification of sensors based on their interaction with the measurand</vt:lpstr>
      <vt:lpstr>Classification of sensors based on their interaction with the measurand</vt:lpstr>
      <vt:lpstr>Classification of sensors based on their sensing technique</vt:lpstr>
      <vt:lpstr>Mechanical sensors</vt:lpstr>
      <vt:lpstr>Electrical sensors</vt:lpstr>
      <vt:lpstr>Optical sensors</vt:lpstr>
      <vt:lpstr>Chemical sensors</vt:lpstr>
      <vt:lpstr>Sensor characteristics</vt:lpstr>
      <vt:lpstr>Transfer function</vt:lpstr>
      <vt:lpstr>Inverse transfer function</vt:lpstr>
      <vt:lpstr>Common transfer function approximations</vt:lpstr>
      <vt:lpstr>Calibration</vt:lpstr>
      <vt:lpstr>Embedded processing unit</vt:lpstr>
      <vt:lpstr>Denoising</vt:lpstr>
      <vt:lpstr>Denoising</vt:lpstr>
      <vt:lpstr>Denoising</vt:lpstr>
      <vt:lpstr>Fault detection</vt:lpstr>
      <vt:lpstr>Communication systems</vt:lpstr>
      <vt:lpstr>The architecture of wearable IoT systems</vt:lpstr>
      <vt:lpstr>1. Sensing layer</vt:lpstr>
      <vt:lpstr>2. Network layer</vt:lpstr>
      <vt:lpstr>3. Data storing and processing layer</vt:lpstr>
      <vt:lpstr>4. Application layer</vt:lpstr>
      <vt:lpstr>Appendix: Data source characteristics</vt:lpstr>
      <vt:lpstr>Focus on data – Calories</vt:lpstr>
      <vt:lpstr>Focus on data – Distance</vt:lpstr>
      <vt:lpstr>Focus on data – Steps</vt:lpstr>
      <vt:lpstr>Heart rate</vt:lpstr>
      <vt:lpstr>Resting heart rate</vt:lpstr>
      <vt:lpstr>Exercise</vt:lpstr>
      <vt:lpstr>Sleep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308</cp:revision>
  <dcterms:created xsi:type="dcterms:W3CDTF">2021-07-19T09:08:13Z</dcterms:created>
  <dcterms:modified xsi:type="dcterms:W3CDTF">2026-02-24T09:17:42Z</dcterms:modified>
</cp:coreProperties>
</file>