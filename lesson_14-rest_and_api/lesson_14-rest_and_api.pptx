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9" r:id="rId4"/>
    <p:sldId id="260" r:id="rId5"/>
    <p:sldId id="262" r:id="rId6"/>
    <p:sldId id="261" r:id="rId7"/>
    <p:sldId id="263" r:id="rId8"/>
    <p:sldId id="264" r:id="rId9"/>
    <p:sldId id="265" r:id="rId10"/>
    <p:sldId id="269" r:id="rId11"/>
    <p:sldId id="277" r:id="rId12"/>
    <p:sldId id="266" r:id="rId13"/>
    <p:sldId id="267" r:id="rId14"/>
    <p:sldId id="270" r:id="rId15"/>
    <p:sldId id="272" r:id="rId16"/>
    <p:sldId id="275" r:id="rId17"/>
    <p:sldId id="274" r:id="rId18"/>
    <p:sldId id="281" r:id="rId19"/>
    <p:sldId id="282" r:id="rId20"/>
    <p:sldId id="283" r:id="rId21"/>
    <p:sldId id="285" r:id="rId22"/>
    <p:sldId id="290" r:id="rId23"/>
    <p:sldId id="293" r:id="rId24"/>
    <p:sldId id="291" r:id="rId25"/>
    <p:sldId id="287" r:id="rId26"/>
    <p:sldId id="296" r:id="rId27"/>
    <p:sldId id="305" r:id="rId28"/>
    <p:sldId id="294" r:id="rId29"/>
    <p:sldId id="297" r:id="rId30"/>
    <p:sldId id="298" r:id="rId31"/>
    <p:sldId id="288" r:id="rId32"/>
    <p:sldId id="299" r:id="rId33"/>
    <p:sldId id="306" r:id="rId34"/>
    <p:sldId id="307" r:id="rId35"/>
    <p:sldId id="308" r:id="rId36"/>
    <p:sldId id="301" r:id="rId37"/>
    <p:sldId id="300" r:id="rId38"/>
    <p:sldId id="304" r:id="rId39"/>
    <p:sldId id="303" r:id="rId40"/>
    <p:sldId id="27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20" autoAdjust="0"/>
    <p:restoredTop sz="94660"/>
  </p:normalViewPr>
  <p:slideViewPr>
    <p:cSldViewPr snapToGrid="0">
      <p:cViewPr varScale="1">
        <p:scale>
          <a:sx n="128" d="100"/>
          <a:sy n="128" d="100"/>
        </p:scale>
        <p:origin x="172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090E0-FB0C-49E9-9864-9F53EABEA96F}" type="datetimeFigureOut">
              <a:rPr lang="en-GB" smtClean="0"/>
              <a:t>10/02/2026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C82F-DE94-4CA4-8B4D-F0EAC95D82AA}" type="slidenum">
              <a:rPr lang="en-GB" smtClean="0"/>
              <a:t>‹#›</a:t>
            </a:fld>
            <a:endParaRPr lang="en-GB"/>
          </a:p>
        </p:txBody>
      </p:sp>
    </p:spTree>
    <p:extLst>
      <p:ext uri="{BB962C8B-B14F-4D97-AF65-F5344CB8AC3E}">
        <p14:creationId xmlns:p14="http://schemas.microsoft.com/office/powerpoint/2010/main" val="14210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5669C82F-DE94-4CA4-8B4D-F0EAC95D82AA}" type="slidenum">
              <a:rPr lang="en-GB" smtClean="0"/>
              <a:t>19</a:t>
            </a:fld>
            <a:endParaRPr lang="en-GB"/>
          </a:p>
        </p:txBody>
      </p:sp>
    </p:spTree>
    <p:extLst>
      <p:ext uri="{BB962C8B-B14F-4D97-AF65-F5344CB8AC3E}">
        <p14:creationId xmlns:p14="http://schemas.microsoft.com/office/powerpoint/2010/main" val="2989735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a:p>
            <a:pPr>
              <a:spcAft>
                <a:spcPts val="600"/>
              </a:spcAft>
            </a:pPr>
            <a:r>
              <a:rPr lang="it-IT" sz="2800" baseline="0" dirty="0">
                <a:latin typeface="Aptos" panose="020B0004020202020204" pitchFamily="34" charset="0"/>
              </a:rPr>
              <a:t>Giacomo Cappon</a:t>
            </a:r>
            <a:endParaRPr lang="en-GB" sz="2800" dirty="0">
              <a:latin typeface="Aptos" panose="020B0004020202020204" pitchFamily="34" charset="0"/>
            </a:endParaRP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impact.dei.unipd.it/gate/v1/ping/" TargetMode="External"/><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hyperlink" Target="https://www.ics.uci.edu/~taylor/documents/2002-REST-TOIT.pdf"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Representational State Transfer (REST) and Application Programming Interface (API)</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Representational</a:t>
            </a:r>
            <a:r>
              <a:rPr lang="it-IT" dirty="0"/>
              <a:t> State Transfer (REST)</a:t>
            </a:r>
            <a:endParaRPr lang="en-GB" dirty="0"/>
          </a:p>
        </p:txBody>
      </p:sp>
      <p:sp>
        <p:nvSpPr>
          <p:cNvPr id="3" name="Segnaposto contenuto 2"/>
          <p:cNvSpPr>
            <a:spLocks noGrp="1"/>
          </p:cNvSpPr>
          <p:nvPr>
            <p:ph idx="1"/>
          </p:nvPr>
        </p:nvSpPr>
        <p:spPr>
          <a:xfrm>
            <a:off x="428172" y="1361167"/>
            <a:ext cx="11368314" cy="5027601"/>
          </a:xfrm>
        </p:spPr>
        <p:txBody>
          <a:bodyPr>
            <a:normAutofit/>
          </a:bodyPr>
          <a:lstStyle/>
          <a:p>
            <a:r>
              <a:rPr lang="en-GB" b="1" dirty="0"/>
              <a:t>Representational state transfer (REST</a:t>
            </a:r>
            <a:r>
              <a:rPr lang="en-GB" dirty="0"/>
              <a:t>): a software </a:t>
            </a:r>
            <a:r>
              <a:rPr lang="en-GB" b="1" dirty="0"/>
              <a:t>architectural style </a:t>
            </a:r>
            <a:r>
              <a:rPr lang="en-GB" dirty="0"/>
              <a:t>created to guide the design and development of the World Wide Web. </a:t>
            </a:r>
          </a:p>
          <a:p>
            <a:r>
              <a:rPr lang="en-GB" dirty="0"/>
              <a:t>REST defines a set of </a:t>
            </a:r>
            <a:r>
              <a:rPr lang="en-GB" b="1" dirty="0"/>
              <a:t>constraints</a:t>
            </a:r>
            <a:r>
              <a:rPr lang="en-GB" dirty="0"/>
              <a:t> for how the architecture of an Internet-scale distributed hypermedia system (e.g., the Web) should behave. </a:t>
            </a:r>
          </a:p>
          <a:p>
            <a:r>
              <a:rPr lang="en-GB" dirty="0"/>
              <a:t>Introduced in 2000 by </a:t>
            </a:r>
            <a:r>
              <a:rPr lang="en-GB" b="1" dirty="0"/>
              <a:t>Roy Fielding </a:t>
            </a:r>
            <a:r>
              <a:rPr lang="en-GB" dirty="0"/>
              <a:t>(co-founder of the Apache HTTP Server project) in his doctoral dissertation (University of California, Irvine).</a:t>
            </a:r>
          </a:p>
          <a:p>
            <a:r>
              <a:rPr lang="en-GB" dirty="0"/>
              <a:t>The name “Representational State Transfer” evokes an image of how a well-designed Web application behaves: </a:t>
            </a:r>
          </a:p>
          <a:p>
            <a:pPr lvl="1"/>
            <a:r>
              <a:rPr lang="en-GB" sz="2200" dirty="0"/>
              <a:t>a Web application forms a virtual state machine</a:t>
            </a:r>
          </a:p>
          <a:p>
            <a:pPr lvl="1"/>
            <a:r>
              <a:rPr lang="en-GB" sz="2200" dirty="0"/>
              <a:t>the user progresses through the application by selecting a link or submitting a data-entry</a:t>
            </a:r>
          </a:p>
          <a:p>
            <a:pPr lvl="1"/>
            <a:r>
              <a:rPr lang="en-GB" sz="2200" dirty="0"/>
              <a:t>each user action results in a transition to the next state of the application </a:t>
            </a:r>
            <a:r>
              <a:rPr lang="en-GB" sz="2200" dirty="0">
                <a:sym typeface="Wingdings" panose="05000000000000000000" pitchFamily="2" charset="2"/>
              </a:rPr>
              <a:t> </a:t>
            </a:r>
            <a:r>
              <a:rPr lang="en-GB" sz="2200" dirty="0"/>
              <a:t>a representation of that state is transferred to the user.</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a:t>
            </a:fld>
            <a:endParaRPr lang="en-GB"/>
          </a:p>
        </p:txBody>
      </p:sp>
    </p:spTree>
    <p:extLst>
      <p:ext uri="{BB962C8B-B14F-4D97-AF65-F5344CB8AC3E}">
        <p14:creationId xmlns:p14="http://schemas.microsoft.com/office/powerpoint/2010/main" val="4218640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Architectural</a:t>
            </a:r>
            <a:r>
              <a:rPr lang="it-IT" dirty="0"/>
              <a:t> style</a:t>
            </a:r>
            <a:endParaRPr lang="en-GB" dirty="0"/>
          </a:p>
        </p:txBody>
      </p:sp>
      <p:sp>
        <p:nvSpPr>
          <p:cNvPr id="3" name="Segnaposto contenuto 2"/>
          <p:cNvSpPr>
            <a:spLocks noGrp="1"/>
          </p:cNvSpPr>
          <p:nvPr>
            <p:ph idx="1"/>
          </p:nvPr>
        </p:nvSpPr>
        <p:spPr>
          <a:xfrm>
            <a:off x="428172" y="1361167"/>
            <a:ext cx="9212785" cy="4858203"/>
          </a:xfrm>
        </p:spPr>
        <p:txBody>
          <a:bodyPr/>
          <a:lstStyle/>
          <a:p>
            <a:r>
              <a:rPr lang="en-GB" b="1" dirty="0"/>
              <a:t>Architecture:</a:t>
            </a:r>
            <a:r>
              <a:rPr lang="en-GB" dirty="0"/>
              <a:t> </a:t>
            </a:r>
          </a:p>
          <a:p>
            <a:pPr lvl="1"/>
            <a:r>
              <a:rPr lang="en-GB" sz="2200" dirty="0"/>
              <a:t>how system elements are identified and allocated</a:t>
            </a:r>
          </a:p>
          <a:p>
            <a:pPr lvl="1"/>
            <a:r>
              <a:rPr lang="en-GB" sz="2200" dirty="0"/>
              <a:t>how they interact to form a system</a:t>
            </a:r>
          </a:p>
          <a:p>
            <a:pPr lvl="1"/>
            <a:r>
              <a:rPr lang="en-GB" sz="2200" dirty="0"/>
              <a:t>the amount and granularity of communication needed for interaction</a:t>
            </a:r>
          </a:p>
          <a:p>
            <a:pPr lvl="1"/>
            <a:r>
              <a:rPr lang="en-GB" sz="2200" dirty="0"/>
              <a:t>the interface protocols used for communication.</a:t>
            </a:r>
          </a:p>
          <a:p>
            <a:pPr marL="457200" lvl="1" indent="0">
              <a:buNone/>
            </a:pPr>
            <a:endParaRPr lang="en-GB" sz="2200" dirty="0"/>
          </a:p>
          <a:p>
            <a:pPr marL="457200" lvl="1" indent="0">
              <a:buNone/>
            </a:pPr>
            <a:endParaRPr lang="en-GB" sz="2200" dirty="0"/>
          </a:p>
          <a:p>
            <a:r>
              <a:rPr lang="en-GB" b="1" dirty="0"/>
              <a:t>Architectural style: </a:t>
            </a:r>
            <a:r>
              <a:rPr lang="en-GB" dirty="0"/>
              <a:t>a set of architectural constraints that restricts the roles and features of architectural elements and the allowed relationships among those elements.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3</a:t>
            </a:fld>
            <a:endParaRPr lang="en-GB"/>
          </a:p>
        </p:txBody>
      </p:sp>
      <p:pic>
        <p:nvPicPr>
          <p:cNvPr id="6" name="Picture 5" descr="A person wearing a hard hat holding a tray with buildings&#10;&#10;Description automatically generated">
            <a:extLst>
              <a:ext uri="{FF2B5EF4-FFF2-40B4-BE49-F238E27FC236}">
                <a16:creationId xmlns:a16="http://schemas.microsoft.com/office/drawing/2014/main" id="{367C43A4-C88A-5878-9EF1-24B577374C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4434" y="2635544"/>
            <a:ext cx="1842052" cy="1842052"/>
          </a:xfrm>
          <a:prstGeom prst="rect">
            <a:avLst/>
          </a:prstGeom>
        </p:spPr>
      </p:pic>
    </p:spTree>
    <p:extLst>
      <p:ext uri="{BB962C8B-B14F-4D97-AF65-F5344CB8AC3E}">
        <p14:creationId xmlns:p14="http://schemas.microsoft.com/office/powerpoint/2010/main" val="141442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REST: goal and </a:t>
            </a:r>
            <a:r>
              <a:rPr lang="it-IT" dirty="0" err="1"/>
              <a:t>constraints</a:t>
            </a:r>
            <a:endParaRPr lang="en-GB" dirty="0"/>
          </a:p>
        </p:txBody>
      </p:sp>
      <p:sp>
        <p:nvSpPr>
          <p:cNvPr id="3" name="Segnaposto contenuto 2"/>
          <p:cNvSpPr>
            <a:spLocks noGrp="1"/>
          </p:cNvSpPr>
          <p:nvPr>
            <p:ph idx="1"/>
          </p:nvPr>
        </p:nvSpPr>
        <p:spPr/>
        <p:txBody>
          <a:bodyPr>
            <a:normAutofit/>
          </a:bodyPr>
          <a:lstStyle/>
          <a:p>
            <a:r>
              <a:rPr lang="en-GB" dirty="0"/>
              <a:t>REST is a set of architectural constraints.</a:t>
            </a:r>
          </a:p>
          <a:p>
            <a:r>
              <a:rPr lang="en-GB" dirty="0"/>
              <a:t>REST goal: to </a:t>
            </a:r>
            <a:r>
              <a:rPr lang="en-GB" b="1" dirty="0"/>
              <a:t>minimize latency and network communication</a:t>
            </a:r>
            <a:r>
              <a:rPr lang="en-GB" dirty="0"/>
              <a:t>, while at the same time </a:t>
            </a:r>
            <a:r>
              <a:rPr lang="en-GB" b="1" dirty="0"/>
              <a:t>maximizing the independence and scalability of components</a:t>
            </a:r>
            <a:r>
              <a:rPr lang="en-GB" dirty="0"/>
              <a:t>. </a:t>
            </a:r>
          </a:p>
          <a:p>
            <a:r>
              <a:rPr lang="en-GB" dirty="0"/>
              <a:t>This is achieved by placing constraints on </a:t>
            </a:r>
            <a:r>
              <a:rPr lang="en-GB" b="1" dirty="0"/>
              <a:t>the interface between components</a:t>
            </a:r>
            <a:r>
              <a:rPr lang="en-GB" dirty="0"/>
              <a:t>, rather than on each component implementation.</a:t>
            </a:r>
          </a:p>
          <a:p>
            <a:r>
              <a:rPr lang="en-GB" dirty="0"/>
              <a:t>In total, </a:t>
            </a:r>
            <a:r>
              <a:rPr lang="en-GB" b="1" dirty="0"/>
              <a:t>6 architectural constraints</a:t>
            </a:r>
            <a:r>
              <a:rPr lang="en-GB" dirty="0"/>
              <a:t>: </a:t>
            </a:r>
          </a:p>
          <a:p>
            <a:pPr marL="914400" lvl="1" indent="-457200">
              <a:buFont typeface="+mj-lt"/>
              <a:buAutoNum type="arabicPeriod"/>
            </a:pPr>
            <a:r>
              <a:rPr lang="en-GB" sz="2200" dirty="0"/>
              <a:t>Client-server architecture</a:t>
            </a:r>
          </a:p>
          <a:p>
            <a:pPr marL="914400" lvl="1" indent="-457200">
              <a:buFont typeface="+mj-lt"/>
              <a:buAutoNum type="arabicPeriod"/>
            </a:pPr>
            <a:r>
              <a:rPr lang="en-GB" sz="2200" dirty="0"/>
              <a:t>Stateless communication</a:t>
            </a:r>
          </a:p>
          <a:p>
            <a:pPr marL="914400" lvl="1" indent="-457200">
              <a:buFont typeface="+mj-lt"/>
              <a:buAutoNum type="arabicPeriod"/>
            </a:pPr>
            <a:r>
              <a:rPr lang="en-GB" sz="2200" dirty="0"/>
              <a:t>Cache constraint</a:t>
            </a:r>
          </a:p>
          <a:p>
            <a:pPr marL="914400" lvl="1" indent="-457200">
              <a:buFont typeface="+mj-lt"/>
              <a:buAutoNum type="arabicPeriod"/>
            </a:pPr>
            <a:r>
              <a:rPr lang="en-GB" sz="2200" dirty="0"/>
              <a:t>Uniform interface between components</a:t>
            </a:r>
          </a:p>
          <a:p>
            <a:pPr marL="914400" lvl="1" indent="-457200">
              <a:buFont typeface="+mj-lt"/>
              <a:buAutoNum type="arabicPeriod"/>
            </a:pPr>
            <a:r>
              <a:rPr lang="en-GB" sz="2200" dirty="0"/>
              <a:t>Layered system</a:t>
            </a:r>
          </a:p>
          <a:p>
            <a:pPr marL="914400" lvl="1" indent="-457200">
              <a:buFont typeface="+mj-lt"/>
              <a:buAutoNum type="arabicPeriod"/>
            </a:pPr>
            <a:r>
              <a:rPr lang="en-GB" sz="2200" dirty="0"/>
              <a:t>Code-on-demand (optional)</a:t>
            </a:r>
          </a:p>
          <a:p>
            <a:endParaRPr lang="en-GB" dirty="0"/>
          </a:p>
          <a:p>
            <a:endParaRPr lang="it-IT"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4</a:t>
            </a:fld>
            <a:endParaRPr lang="en-GB"/>
          </a:p>
        </p:txBody>
      </p:sp>
    </p:spTree>
    <p:extLst>
      <p:ext uri="{BB962C8B-B14F-4D97-AF65-F5344CB8AC3E}">
        <p14:creationId xmlns:p14="http://schemas.microsoft.com/office/powerpoint/2010/main" val="266882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Constraint 1: Client-server architecture</a:t>
            </a:r>
          </a:p>
        </p:txBody>
      </p:sp>
      <p:sp>
        <p:nvSpPr>
          <p:cNvPr id="3" name="Segnaposto contenuto 2"/>
          <p:cNvSpPr>
            <a:spLocks noGrp="1"/>
          </p:cNvSpPr>
          <p:nvPr>
            <p:ph idx="1"/>
          </p:nvPr>
        </p:nvSpPr>
        <p:spPr/>
        <p:txBody>
          <a:bodyPr/>
          <a:lstStyle/>
          <a:p>
            <a:r>
              <a:rPr lang="en-GB" b="1" dirty="0"/>
              <a:t>Principle of separation of concerns</a:t>
            </a:r>
            <a:r>
              <a:rPr lang="en-GB" dirty="0"/>
              <a:t>: a design principle for separating a computer program into distinct sections, in which each section addresses a separate concern (i.e., a different task) </a:t>
            </a:r>
            <a:r>
              <a:rPr lang="en-GB" dirty="0">
                <a:sym typeface="Wingdings" panose="05000000000000000000" pitchFamily="2" charset="2"/>
              </a:rPr>
              <a:t> </a:t>
            </a:r>
            <a:r>
              <a:rPr lang="en-GB" b="1" dirty="0"/>
              <a:t>modular system</a:t>
            </a:r>
            <a:r>
              <a:rPr lang="en-GB" dirty="0"/>
              <a:t> </a:t>
            </a:r>
          </a:p>
          <a:p>
            <a:endParaRPr lang="en-GB" dirty="0">
              <a:sym typeface="Wingdings" panose="05000000000000000000" pitchFamily="2" charset="2"/>
            </a:endParaRPr>
          </a:p>
          <a:p>
            <a:r>
              <a:rPr lang="en-GB" dirty="0"/>
              <a:t>The </a:t>
            </a:r>
            <a:r>
              <a:rPr lang="en-GB" b="1" dirty="0"/>
              <a:t>client-server (CS) </a:t>
            </a:r>
            <a:r>
              <a:rPr lang="en-GB" dirty="0"/>
              <a:t>architecture relies on the principle of separation of concern: separation of the user interface concerns (client) from the data storage concerns (server) </a:t>
            </a:r>
          </a:p>
          <a:p>
            <a:endParaRPr lang="en-GB" dirty="0"/>
          </a:p>
          <a:p>
            <a:r>
              <a:rPr lang="en-GB" u="sng" dirty="0"/>
              <a:t>Advantages</a:t>
            </a:r>
            <a:r>
              <a:rPr lang="en-GB" dirty="0"/>
              <a:t> of the client-server architecture </a:t>
            </a:r>
          </a:p>
          <a:p>
            <a:pPr lvl="1"/>
            <a:r>
              <a:rPr lang="en-GB" sz="2200" dirty="0"/>
              <a:t>It improves the </a:t>
            </a:r>
            <a:r>
              <a:rPr lang="en-GB" sz="2200" b="1" dirty="0"/>
              <a:t>portability</a:t>
            </a:r>
            <a:r>
              <a:rPr lang="en-GB" sz="2200" dirty="0"/>
              <a:t> of the user interface across multiple platforms</a:t>
            </a:r>
          </a:p>
          <a:p>
            <a:pPr lvl="1"/>
            <a:r>
              <a:rPr lang="en-GB" sz="2200" dirty="0"/>
              <a:t>It improves </a:t>
            </a:r>
            <a:r>
              <a:rPr lang="en-GB" sz="2200" b="1" dirty="0"/>
              <a:t>scalability</a:t>
            </a:r>
            <a:r>
              <a:rPr lang="en-GB" sz="2200" dirty="0"/>
              <a:t> by simplifying the server components</a:t>
            </a:r>
          </a:p>
          <a:p>
            <a:pPr lvl="1"/>
            <a:r>
              <a:rPr lang="en-GB" sz="2200" dirty="0"/>
              <a:t>It allows the client and the server components to evolve </a:t>
            </a:r>
            <a:r>
              <a:rPr lang="en-GB" sz="2200" b="1" dirty="0"/>
              <a:t>independently</a:t>
            </a:r>
          </a:p>
          <a:p>
            <a:pPr lvl="1"/>
            <a:endParaRPr lang="it-IT" dirty="0"/>
          </a:p>
          <a:p>
            <a:pPr lvl="1"/>
            <a:endParaRPr lang="it-IT" dirty="0"/>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308295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err="1"/>
              <a:t>Constraint</a:t>
            </a:r>
            <a:r>
              <a:rPr lang="it-IT" dirty="0"/>
              <a:t> 2: </a:t>
            </a:r>
            <a:r>
              <a:rPr lang="it-IT" dirty="0" err="1"/>
              <a:t>Stateless</a:t>
            </a:r>
            <a:r>
              <a:rPr lang="it-IT" dirty="0"/>
              <a:t> </a:t>
            </a:r>
            <a:r>
              <a:rPr lang="en-GB" dirty="0"/>
              <a:t>communication</a:t>
            </a:r>
          </a:p>
        </p:txBody>
      </p:sp>
      <p:sp>
        <p:nvSpPr>
          <p:cNvPr id="3" name="Segnaposto contenuto 2"/>
          <p:cNvSpPr>
            <a:spLocks noGrp="1"/>
          </p:cNvSpPr>
          <p:nvPr>
            <p:ph idx="1"/>
          </p:nvPr>
        </p:nvSpPr>
        <p:spPr>
          <a:xfrm>
            <a:off x="428172" y="1361166"/>
            <a:ext cx="11368314" cy="5394565"/>
          </a:xfrm>
        </p:spPr>
        <p:txBody>
          <a:bodyPr>
            <a:normAutofit/>
          </a:bodyPr>
          <a:lstStyle/>
          <a:p>
            <a:r>
              <a:rPr lang="en-US" dirty="0"/>
              <a:t>Communication must be </a:t>
            </a:r>
            <a:r>
              <a:rPr lang="en-US" b="1" dirty="0"/>
              <a:t>stateless</a:t>
            </a:r>
            <a:r>
              <a:rPr lang="en-US" dirty="0"/>
              <a:t> in nature: the server does not store any state about the client session (i.e., the history of requests) on the server-side. </a:t>
            </a:r>
          </a:p>
          <a:p>
            <a:r>
              <a:rPr lang="en-US" b="1" dirty="0"/>
              <a:t>Each request </a:t>
            </a:r>
            <a:r>
              <a:rPr lang="en-US" dirty="0"/>
              <a:t>from client to server must be </a:t>
            </a:r>
            <a:r>
              <a:rPr lang="en-US" b="1" dirty="0"/>
              <a:t>standalone</a:t>
            </a:r>
          </a:p>
          <a:p>
            <a:pPr lvl="1"/>
            <a:r>
              <a:rPr lang="en-US" dirty="0"/>
              <a:t>It must contain </a:t>
            </a:r>
            <a:r>
              <a:rPr lang="en-US" b="1" dirty="0"/>
              <a:t>all information necessary</a:t>
            </a:r>
            <a:r>
              <a:rPr lang="en-US" dirty="0"/>
              <a:t> to understand the request</a:t>
            </a:r>
          </a:p>
          <a:p>
            <a:pPr lvl="1"/>
            <a:r>
              <a:rPr lang="en-US" dirty="0"/>
              <a:t>It cannot take advantage of any stored information on the server.</a:t>
            </a:r>
          </a:p>
          <a:p>
            <a:r>
              <a:rPr lang="en-US" sz="2200" dirty="0"/>
              <a:t>The </a:t>
            </a:r>
            <a:r>
              <a:rPr lang="en-US" sz="2200" b="1" dirty="0"/>
              <a:t>session state </a:t>
            </a:r>
            <a:r>
              <a:rPr lang="en-US" sz="2200" dirty="0"/>
              <a:t>(i.e., the history of requests) is kept entirely </a:t>
            </a:r>
            <a:r>
              <a:rPr lang="en-US" sz="2200" b="1" dirty="0"/>
              <a:t>on the client</a:t>
            </a:r>
            <a:r>
              <a:rPr lang="en-US" sz="2200" dirty="0"/>
              <a:t>. </a:t>
            </a:r>
          </a:p>
          <a:p>
            <a:pPr lvl="1"/>
            <a:r>
              <a:rPr lang="en-US" dirty="0"/>
              <a:t>If the server needs any information about previous requests to process the current request, then the client must provide this information in the current request. </a:t>
            </a:r>
          </a:p>
          <a:p>
            <a:r>
              <a:rPr lang="en-US" u="sng" dirty="0"/>
              <a:t>Advantages</a:t>
            </a:r>
            <a:r>
              <a:rPr lang="en-US" dirty="0"/>
              <a:t>: </a:t>
            </a:r>
          </a:p>
          <a:p>
            <a:pPr lvl="1"/>
            <a:r>
              <a:rPr lang="en-US" dirty="0"/>
              <a:t>Improved </a:t>
            </a:r>
            <a:r>
              <a:rPr lang="en-US" b="1" dirty="0"/>
              <a:t>visibility</a:t>
            </a:r>
            <a:r>
              <a:rPr lang="en-US" dirty="0"/>
              <a:t>: no need to look beyond the current request to determine its full nature.</a:t>
            </a:r>
          </a:p>
          <a:p>
            <a:pPr lvl="1"/>
            <a:r>
              <a:rPr lang="en-US" dirty="0"/>
              <a:t>Improved </a:t>
            </a:r>
            <a:r>
              <a:rPr lang="en-US" b="1" dirty="0"/>
              <a:t>reliability</a:t>
            </a:r>
            <a:r>
              <a:rPr lang="en-US" dirty="0"/>
              <a:t>: recovering from partial failures is easier.</a:t>
            </a:r>
          </a:p>
          <a:p>
            <a:pPr lvl="1"/>
            <a:r>
              <a:rPr lang="en-US" dirty="0"/>
              <a:t>Improved </a:t>
            </a:r>
            <a:r>
              <a:rPr lang="en-US" b="1" dirty="0"/>
              <a:t>scalability</a:t>
            </a:r>
            <a:r>
              <a:rPr lang="en-US" dirty="0"/>
              <a:t>: the server does not have to manage resource usage across requests</a:t>
            </a:r>
          </a:p>
          <a:p>
            <a:r>
              <a:rPr lang="en-US" u="sng" dirty="0"/>
              <a:t>Tradeoff</a:t>
            </a:r>
            <a:r>
              <a:rPr lang="en-US" dirty="0"/>
              <a:t>: it may decrease network </a:t>
            </a:r>
            <a:r>
              <a:rPr lang="en-US" b="1" dirty="0"/>
              <a:t>performance</a:t>
            </a:r>
            <a:r>
              <a:rPr lang="en-US" dirty="0"/>
              <a:t> by increasing the repetitive data sent in a series of requests</a:t>
            </a:r>
          </a:p>
          <a:p>
            <a:pPr lvl="1"/>
            <a:endParaRPr lang="en-US"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2897012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Constraint</a:t>
            </a:r>
            <a:r>
              <a:rPr lang="it-IT" dirty="0"/>
              <a:t> 3: Cache </a:t>
            </a:r>
            <a:r>
              <a:rPr lang="it-IT" dirty="0" err="1"/>
              <a:t>constraint</a:t>
            </a:r>
            <a:r>
              <a:rPr lang="it-IT" dirty="0"/>
              <a:t> </a:t>
            </a:r>
            <a:endParaRPr lang="en-GB" dirty="0"/>
          </a:p>
        </p:txBody>
      </p:sp>
      <p:sp>
        <p:nvSpPr>
          <p:cNvPr id="3" name="Segnaposto contenuto 2"/>
          <p:cNvSpPr>
            <a:spLocks noGrp="1"/>
          </p:cNvSpPr>
          <p:nvPr>
            <p:ph idx="1"/>
          </p:nvPr>
        </p:nvSpPr>
        <p:spPr/>
        <p:txBody>
          <a:bodyPr>
            <a:normAutofit lnSpcReduction="10000"/>
          </a:bodyPr>
          <a:lstStyle/>
          <a:p>
            <a:r>
              <a:rPr lang="en-US" dirty="0"/>
              <a:t>The data within a response to a request must be implicitly or explicitly </a:t>
            </a:r>
            <a:r>
              <a:rPr lang="en-US" b="1" dirty="0"/>
              <a:t>labelled as cacheable or noncacheable</a:t>
            </a:r>
            <a:r>
              <a:rPr lang="en-US" dirty="0"/>
              <a:t>. </a:t>
            </a:r>
          </a:p>
          <a:p>
            <a:endParaRPr lang="en-US" dirty="0"/>
          </a:p>
          <a:p>
            <a:r>
              <a:rPr lang="en-US" dirty="0"/>
              <a:t>If a response is cacheable, a client cache can reuse that response data for later, equivalent, requests.</a:t>
            </a:r>
          </a:p>
          <a:p>
            <a:endParaRPr lang="en-US" dirty="0"/>
          </a:p>
          <a:p>
            <a:r>
              <a:rPr lang="en-US" u="sng" dirty="0"/>
              <a:t>Advantage</a:t>
            </a:r>
            <a:r>
              <a:rPr lang="en-US" dirty="0"/>
              <a:t>: </a:t>
            </a:r>
          </a:p>
          <a:p>
            <a:pPr lvl="1"/>
            <a:r>
              <a:rPr lang="en-US" sz="2400" dirty="0"/>
              <a:t>Improved </a:t>
            </a:r>
            <a:r>
              <a:rPr lang="en-US" sz="2400" b="1" dirty="0"/>
              <a:t>efficiency</a:t>
            </a:r>
            <a:r>
              <a:rPr lang="en-US" sz="2400" dirty="0"/>
              <a:t>: it partially or completely </a:t>
            </a:r>
            <a:r>
              <a:rPr lang="en-US" sz="2400" b="1" dirty="0"/>
              <a:t>eliminate some interactions.</a:t>
            </a:r>
          </a:p>
          <a:p>
            <a:pPr lvl="1"/>
            <a:endParaRPr lang="en-US" sz="2400" dirty="0"/>
          </a:p>
          <a:p>
            <a:r>
              <a:rPr lang="en-US" u="sng" dirty="0"/>
              <a:t>Tradeoff</a:t>
            </a:r>
            <a:r>
              <a:rPr lang="en-US" dirty="0"/>
              <a:t>: </a:t>
            </a:r>
          </a:p>
          <a:p>
            <a:pPr lvl="1"/>
            <a:r>
              <a:rPr lang="en-US" sz="2400" b="1" dirty="0"/>
              <a:t>Decrease reliability, </a:t>
            </a:r>
            <a:r>
              <a:rPr lang="en-US" sz="2400" dirty="0"/>
              <a:t>if data within the cache differs significantly from the data that would have been obtained with a new request to the server.</a:t>
            </a:r>
          </a:p>
        </p:txBody>
      </p:sp>
      <p:sp>
        <p:nvSpPr>
          <p:cNvPr id="4" name="Segnaposto numero diapositiva 3"/>
          <p:cNvSpPr>
            <a:spLocks noGrp="1"/>
          </p:cNvSpPr>
          <p:nvPr>
            <p:ph type="sldNum" sz="quarter" idx="12"/>
          </p:nvPr>
        </p:nvSpPr>
        <p:spPr/>
        <p:txBody>
          <a:bodyPr/>
          <a:lstStyle/>
          <a:p>
            <a:fld id="{31DE2C5B-556E-47B8-A792-024C2FCA4ACC}" type="slidenum">
              <a:rPr lang="en-GB" smtClean="0"/>
              <a:t>7</a:t>
            </a:fld>
            <a:endParaRPr lang="en-GB"/>
          </a:p>
        </p:txBody>
      </p:sp>
    </p:spTree>
    <p:extLst>
      <p:ext uri="{BB962C8B-B14F-4D97-AF65-F5344CB8AC3E}">
        <p14:creationId xmlns:p14="http://schemas.microsoft.com/office/powerpoint/2010/main" val="608118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Constraint 4: Uniform interface between components</a:t>
            </a:r>
          </a:p>
        </p:txBody>
      </p:sp>
      <p:sp>
        <p:nvSpPr>
          <p:cNvPr id="3" name="Segnaposto contenuto 2"/>
          <p:cNvSpPr>
            <a:spLocks noGrp="1"/>
          </p:cNvSpPr>
          <p:nvPr>
            <p:ph idx="1"/>
          </p:nvPr>
        </p:nvSpPr>
        <p:spPr>
          <a:xfrm>
            <a:off x="428172" y="1361168"/>
            <a:ext cx="11368314" cy="5089328"/>
          </a:xfrm>
        </p:spPr>
        <p:txBody>
          <a:bodyPr>
            <a:normAutofit lnSpcReduction="10000"/>
          </a:bodyPr>
          <a:lstStyle/>
          <a:p>
            <a:r>
              <a:rPr lang="en-US" dirty="0"/>
              <a:t>The information is exchanged in the same way for every client-server interactions, whatever the client and the server are. </a:t>
            </a:r>
          </a:p>
          <a:p>
            <a:endParaRPr lang="en-US" dirty="0"/>
          </a:p>
          <a:p>
            <a:r>
              <a:rPr lang="en-US" dirty="0"/>
              <a:t>There is a </a:t>
            </a:r>
            <a:r>
              <a:rPr lang="en-US" b="1" dirty="0"/>
              <a:t>common language </a:t>
            </a:r>
            <a:r>
              <a:rPr lang="en-US" dirty="0"/>
              <a:t>between servers and clients that allows each part to be substituted or modified without breaking the entire system.</a:t>
            </a:r>
          </a:p>
          <a:p>
            <a:endParaRPr lang="en-US" dirty="0"/>
          </a:p>
          <a:p>
            <a:r>
              <a:rPr lang="en-US" u="sng" dirty="0"/>
              <a:t>Advantage</a:t>
            </a:r>
            <a:r>
              <a:rPr lang="en-US" dirty="0"/>
              <a:t>: </a:t>
            </a:r>
          </a:p>
          <a:p>
            <a:pPr lvl="1"/>
            <a:r>
              <a:rPr lang="en-US" sz="2400" dirty="0"/>
              <a:t>Independent </a:t>
            </a:r>
            <a:r>
              <a:rPr lang="en-US" sz="2400" b="1" dirty="0"/>
              <a:t>evolvability</a:t>
            </a:r>
            <a:r>
              <a:rPr lang="en-US" sz="2400" dirty="0"/>
              <a:t> of the system components: the implementation of interfaces is decoupled from the services they provide. </a:t>
            </a:r>
          </a:p>
          <a:p>
            <a:pPr lvl="1"/>
            <a:endParaRPr lang="en-US" sz="2400" dirty="0"/>
          </a:p>
          <a:p>
            <a:r>
              <a:rPr lang="en-US" u="sng" dirty="0"/>
              <a:t>Tradeoff</a:t>
            </a:r>
            <a:r>
              <a:rPr lang="en-US" dirty="0"/>
              <a:t>:</a:t>
            </a:r>
          </a:p>
          <a:p>
            <a:pPr lvl="1"/>
            <a:r>
              <a:rPr lang="en-US" sz="2400" dirty="0"/>
              <a:t>Decreased </a:t>
            </a:r>
            <a:r>
              <a:rPr lang="en-US" sz="2400" b="1" dirty="0"/>
              <a:t>efficiency</a:t>
            </a:r>
            <a:r>
              <a:rPr lang="en-US" sz="2400" dirty="0"/>
              <a:t> for some applications: the information is transferred in a standardized form rather than one which is specific to an application’s needs.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3747566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Constraint 5: Layered system style</a:t>
            </a:r>
          </a:p>
        </p:txBody>
      </p:sp>
      <p:sp>
        <p:nvSpPr>
          <p:cNvPr id="3" name="Segnaposto contenuto 2"/>
          <p:cNvSpPr>
            <a:spLocks noGrp="1"/>
          </p:cNvSpPr>
          <p:nvPr>
            <p:ph idx="1"/>
          </p:nvPr>
        </p:nvSpPr>
        <p:spPr>
          <a:xfrm>
            <a:off x="428172" y="1361167"/>
            <a:ext cx="11368314" cy="5238154"/>
          </a:xfrm>
        </p:spPr>
        <p:txBody>
          <a:bodyPr>
            <a:normAutofit lnSpcReduction="10000"/>
          </a:bodyPr>
          <a:lstStyle/>
          <a:p>
            <a:r>
              <a:rPr lang="en-US" sz="2200" dirty="0"/>
              <a:t>The </a:t>
            </a:r>
            <a:r>
              <a:rPr lang="en-GB" sz="2200" dirty="0"/>
              <a:t>architect can inject “layers” of service between the server and the client to efficiently serve the client requests.</a:t>
            </a:r>
          </a:p>
          <a:p>
            <a:r>
              <a:rPr lang="en-GB" sz="2200" dirty="0"/>
              <a:t>The layering must be transparent to the client: </a:t>
            </a:r>
            <a:r>
              <a:rPr lang="en-US" sz="2200" dirty="0"/>
              <a:t>each component cannot “see” beyond the immediate layer with which it is interacting </a:t>
            </a:r>
            <a:r>
              <a:rPr lang="en-US" sz="2200" dirty="0">
                <a:sym typeface="Wingdings" panose="05000000000000000000" pitchFamily="2" charset="2"/>
              </a:rPr>
              <a:t> t</a:t>
            </a:r>
            <a:r>
              <a:rPr lang="en-US" sz="2200" dirty="0"/>
              <a:t>he client does not know if it is talking with final data server or an intermediate server. </a:t>
            </a:r>
          </a:p>
          <a:p>
            <a:endParaRPr lang="en-US" sz="2200" dirty="0"/>
          </a:p>
          <a:p>
            <a:endParaRPr lang="en-US" sz="2200" dirty="0"/>
          </a:p>
          <a:p>
            <a:endParaRPr lang="en-US" sz="2200" dirty="0"/>
          </a:p>
          <a:p>
            <a:endParaRPr lang="en-US" sz="2200" dirty="0"/>
          </a:p>
          <a:p>
            <a:pPr marL="0" indent="0">
              <a:buNone/>
            </a:pPr>
            <a:endParaRPr lang="en-US" sz="2200" dirty="0"/>
          </a:p>
          <a:p>
            <a:r>
              <a:rPr lang="en-US" sz="2200" u="sng" dirty="0"/>
              <a:t>Advantage</a:t>
            </a:r>
            <a:r>
              <a:rPr lang="en-US" sz="2200" dirty="0"/>
              <a:t>: by restricting knowledge of the system to a single layer, we place a bound on the overall system complexity and promote component </a:t>
            </a:r>
            <a:r>
              <a:rPr lang="en-US" sz="2200" b="1" dirty="0"/>
              <a:t>independence</a:t>
            </a:r>
            <a:r>
              <a:rPr lang="en-US" sz="2200" dirty="0"/>
              <a:t>.</a:t>
            </a:r>
          </a:p>
          <a:p>
            <a:r>
              <a:rPr lang="en-US" sz="2200" u="sng" dirty="0"/>
              <a:t>Tradeoff</a:t>
            </a:r>
            <a:r>
              <a:rPr lang="en-US" sz="2200" dirty="0"/>
              <a:t>: layers add </a:t>
            </a:r>
            <a:r>
              <a:rPr lang="en-US" sz="2200" b="1" dirty="0"/>
              <a:t>overhead</a:t>
            </a:r>
            <a:r>
              <a:rPr lang="en-US" sz="2200" dirty="0"/>
              <a:t> and latency to the processing of data, reducing user-perceived performance.</a:t>
            </a:r>
          </a:p>
        </p:txBody>
      </p:sp>
      <p:sp>
        <p:nvSpPr>
          <p:cNvPr id="4" name="Rettangolo 3"/>
          <p:cNvSpPr/>
          <p:nvPr/>
        </p:nvSpPr>
        <p:spPr>
          <a:xfrm>
            <a:off x="428172" y="3377864"/>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Client</a:t>
            </a:r>
            <a:endParaRPr lang="en-GB" sz="2000" dirty="0">
              <a:latin typeface="Aptos" panose="020B0004020202020204" pitchFamily="34" charset="0"/>
            </a:endParaRPr>
          </a:p>
        </p:txBody>
      </p:sp>
      <p:cxnSp>
        <p:nvCxnSpPr>
          <p:cNvPr id="6" name="Connettore 2 5"/>
          <p:cNvCxnSpPr/>
          <p:nvPr/>
        </p:nvCxnSpPr>
        <p:spPr>
          <a:xfrm flipV="1">
            <a:off x="2363373" y="3595701"/>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CasellaDiTesto 6"/>
          <p:cNvSpPr txBox="1"/>
          <p:nvPr/>
        </p:nvSpPr>
        <p:spPr>
          <a:xfrm>
            <a:off x="2297474" y="3172224"/>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8" name="Connettore 2 7"/>
          <p:cNvCxnSpPr/>
          <p:nvPr/>
        </p:nvCxnSpPr>
        <p:spPr>
          <a:xfrm flipH="1">
            <a:off x="2363373" y="4399505"/>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10"/>
          <p:cNvSpPr/>
          <p:nvPr/>
        </p:nvSpPr>
        <p:spPr>
          <a:xfrm>
            <a:off x="2165939"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7" name="Rettangolo 16"/>
          <p:cNvSpPr/>
          <p:nvPr/>
        </p:nvSpPr>
        <p:spPr>
          <a:xfrm>
            <a:off x="9911550" y="3377861"/>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Data server</a:t>
            </a:r>
            <a:endParaRPr lang="en-GB" sz="2000" dirty="0">
              <a:latin typeface="Aptos" panose="020B0004020202020204" pitchFamily="34" charset="0"/>
            </a:endParaRPr>
          </a:p>
        </p:txBody>
      </p:sp>
      <p:sp>
        <p:nvSpPr>
          <p:cNvPr id="21" name="Rettangolo 20"/>
          <p:cNvSpPr/>
          <p:nvPr/>
        </p:nvSpPr>
        <p:spPr>
          <a:xfrm>
            <a:off x="3362540" y="3377862"/>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Intermediate component 1</a:t>
            </a:r>
            <a:endParaRPr lang="en-GB" sz="2000" dirty="0">
              <a:latin typeface="Aptos" panose="020B0004020202020204" pitchFamily="34" charset="0"/>
            </a:endParaRPr>
          </a:p>
        </p:txBody>
      </p:sp>
      <p:sp>
        <p:nvSpPr>
          <p:cNvPr id="22" name="Rettangolo 21"/>
          <p:cNvSpPr/>
          <p:nvPr/>
        </p:nvSpPr>
        <p:spPr>
          <a:xfrm>
            <a:off x="6318216" y="3377861"/>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Intermediate component 2</a:t>
            </a:r>
            <a:endParaRPr lang="en-GB" sz="2000" dirty="0">
              <a:latin typeface="Aptos" panose="020B0004020202020204" pitchFamily="34" charset="0"/>
            </a:endParaRPr>
          </a:p>
        </p:txBody>
      </p:sp>
      <p:sp>
        <p:nvSpPr>
          <p:cNvPr id="24" name="Rettangolo 23"/>
          <p:cNvSpPr/>
          <p:nvPr/>
        </p:nvSpPr>
        <p:spPr>
          <a:xfrm>
            <a:off x="3308540" y="3541556"/>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25" name="CasellaDiTesto 24"/>
          <p:cNvSpPr txBox="1"/>
          <p:nvPr/>
        </p:nvSpPr>
        <p:spPr>
          <a:xfrm>
            <a:off x="2226748" y="3976027"/>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cxnSp>
        <p:nvCxnSpPr>
          <p:cNvPr id="26" name="Connettore 2 25"/>
          <p:cNvCxnSpPr/>
          <p:nvPr/>
        </p:nvCxnSpPr>
        <p:spPr>
          <a:xfrm flipV="1">
            <a:off x="5333162" y="3595701"/>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asellaDiTesto 26"/>
          <p:cNvSpPr txBox="1"/>
          <p:nvPr/>
        </p:nvSpPr>
        <p:spPr>
          <a:xfrm>
            <a:off x="5267263" y="3172224"/>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28" name="Connettore 2 27"/>
          <p:cNvCxnSpPr/>
          <p:nvPr/>
        </p:nvCxnSpPr>
        <p:spPr>
          <a:xfrm flipH="1">
            <a:off x="5333162" y="4399505"/>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ttangolo 28"/>
          <p:cNvSpPr/>
          <p:nvPr/>
        </p:nvSpPr>
        <p:spPr>
          <a:xfrm>
            <a:off x="5135728"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0" name="Rettangolo 29"/>
          <p:cNvSpPr/>
          <p:nvPr/>
        </p:nvSpPr>
        <p:spPr>
          <a:xfrm>
            <a:off x="6278329" y="3541556"/>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1" name="CasellaDiTesto 30"/>
          <p:cNvSpPr txBox="1"/>
          <p:nvPr/>
        </p:nvSpPr>
        <p:spPr>
          <a:xfrm>
            <a:off x="5196537" y="3976027"/>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cxnSp>
        <p:nvCxnSpPr>
          <p:cNvPr id="32" name="Connettore 2 31"/>
          <p:cNvCxnSpPr/>
          <p:nvPr/>
        </p:nvCxnSpPr>
        <p:spPr>
          <a:xfrm flipV="1">
            <a:off x="8269769" y="3595701"/>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asellaDiTesto 32"/>
          <p:cNvSpPr txBox="1"/>
          <p:nvPr/>
        </p:nvSpPr>
        <p:spPr>
          <a:xfrm>
            <a:off x="8203870" y="3172224"/>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34" name="Connettore 2 33"/>
          <p:cNvCxnSpPr/>
          <p:nvPr/>
        </p:nvCxnSpPr>
        <p:spPr>
          <a:xfrm flipH="1">
            <a:off x="8269769" y="4399505"/>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ttangolo 34"/>
          <p:cNvSpPr/>
          <p:nvPr/>
        </p:nvSpPr>
        <p:spPr>
          <a:xfrm>
            <a:off x="8072335"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6" name="Rettangolo 35"/>
          <p:cNvSpPr/>
          <p:nvPr/>
        </p:nvSpPr>
        <p:spPr>
          <a:xfrm>
            <a:off x="9849298"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7" name="CasellaDiTesto 36"/>
          <p:cNvSpPr txBox="1"/>
          <p:nvPr/>
        </p:nvSpPr>
        <p:spPr>
          <a:xfrm>
            <a:off x="8133144" y="3976027"/>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sp>
        <p:nvSpPr>
          <p:cNvPr id="38" name="CasellaDiTesto 37"/>
          <p:cNvSpPr txBox="1"/>
          <p:nvPr/>
        </p:nvSpPr>
        <p:spPr>
          <a:xfrm>
            <a:off x="9302745" y="3783931"/>
            <a:ext cx="480311" cy="400110"/>
          </a:xfrm>
          <a:prstGeom prst="rect">
            <a:avLst/>
          </a:prstGeom>
          <a:noFill/>
        </p:spPr>
        <p:txBody>
          <a:bodyPr wrap="square" rtlCol="0">
            <a:spAutoFit/>
          </a:bodyPr>
          <a:lstStyle/>
          <a:p>
            <a:r>
              <a:rPr lang="it-IT" sz="2000" dirty="0">
                <a:latin typeface="Aptos" panose="020B0004020202020204" pitchFamily="34" charset="0"/>
              </a:rPr>
              <a:t>…</a:t>
            </a:r>
            <a:endParaRPr lang="en-GB" dirty="0">
              <a:latin typeface="Aptos" panose="020B0004020202020204" pitchFamily="34" charset="0"/>
            </a:endParaRPr>
          </a:p>
        </p:txBody>
      </p:sp>
      <p:sp>
        <p:nvSpPr>
          <p:cNvPr id="5" name="Segnaposto numero diapositiva 4"/>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3703493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Constraint 6: Code-on-demand (optional)</a:t>
            </a:r>
          </a:p>
        </p:txBody>
      </p:sp>
      <p:sp>
        <p:nvSpPr>
          <p:cNvPr id="3" name="Segnaposto contenuto 2"/>
          <p:cNvSpPr>
            <a:spLocks noGrp="1"/>
          </p:cNvSpPr>
          <p:nvPr>
            <p:ph idx="1"/>
          </p:nvPr>
        </p:nvSpPr>
        <p:spPr/>
        <p:txBody>
          <a:bodyPr/>
          <a:lstStyle/>
          <a:p>
            <a:r>
              <a:rPr lang="en-US" dirty="0"/>
              <a:t>The client functionalities can be extended by downloading and executing code in the form of applets or scripts. </a:t>
            </a:r>
          </a:p>
          <a:p>
            <a:endParaRPr lang="en-US" dirty="0"/>
          </a:p>
          <a:p>
            <a:r>
              <a:rPr lang="en-US" u="sng" dirty="0"/>
              <a:t>Advantage</a:t>
            </a:r>
            <a:r>
              <a:rPr lang="en-US" dirty="0"/>
              <a:t>: </a:t>
            </a:r>
          </a:p>
          <a:p>
            <a:pPr lvl="1"/>
            <a:r>
              <a:rPr lang="en-US" sz="2400" dirty="0"/>
              <a:t>Clients are </a:t>
            </a:r>
            <a:r>
              <a:rPr lang="en-US" sz="2400" b="1" dirty="0"/>
              <a:t>simplified</a:t>
            </a:r>
            <a:r>
              <a:rPr lang="en-US" sz="2400" dirty="0"/>
              <a:t> by reducing the number of features required to be pre-implemented.</a:t>
            </a:r>
          </a:p>
          <a:p>
            <a:pPr lvl="1"/>
            <a:r>
              <a:rPr lang="en-US" sz="2400" dirty="0"/>
              <a:t>Allowing features to be downloaded after deployment improves system </a:t>
            </a:r>
            <a:r>
              <a:rPr lang="en-US" sz="2400" b="1" dirty="0"/>
              <a:t>extensibility</a:t>
            </a:r>
            <a:r>
              <a:rPr lang="en-US" sz="2400" dirty="0"/>
              <a:t>.</a:t>
            </a:r>
          </a:p>
          <a:p>
            <a:pPr lvl="1"/>
            <a:endParaRPr lang="en-US" sz="2400" dirty="0"/>
          </a:p>
          <a:p>
            <a:r>
              <a:rPr lang="en-US" dirty="0"/>
              <a:t>This constraint is not mandatory but </a:t>
            </a:r>
            <a:r>
              <a:rPr lang="en-US" b="1" dirty="0"/>
              <a:t>optional</a:t>
            </a:r>
            <a:r>
              <a:rPr lang="en-US" dirty="0"/>
              <a:t>: the architecture should support this constraint in the general case, but this may be disabled within some contexts.</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10</a:t>
            </a:fld>
            <a:endParaRPr lang="en-GB"/>
          </a:p>
        </p:txBody>
      </p:sp>
    </p:spTree>
    <p:extLst>
      <p:ext uri="{BB962C8B-B14F-4D97-AF65-F5344CB8AC3E}">
        <p14:creationId xmlns:p14="http://schemas.microsoft.com/office/powerpoint/2010/main" val="2814256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definition</a:t>
            </a:r>
            <a:r>
              <a:rPr lang="it-IT" dirty="0"/>
              <a:t> of the </a:t>
            </a:r>
            <a:r>
              <a:rPr lang="it-IT" dirty="0" err="1"/>
              <a:t>uniform</a:t>
            </a:r>
            <a:r>
              <a:rPr lang="it-IT" dirty="0"/>
              <a:t> </a:t>
            </a:r>
            <a:r>
              <a:rPr lang="it-IT" dirty="0" err="1"/>
              <a:t>interface</a:t>
            </a:r>
            <a:endParaRPr lang="en-GB" dirty="0"/>
          </a:p>
        </p:txBody>
      </p:sp>
      <p:sp>
        <p:nvSpPr>
          <p:cNvPr id="3" name="Segnaposto contenuto 2"/>
          <p:cNvSpPr>
            <a:spLocks noGrp="1"/>
          </p:cNvSpPr>
          <p:nvPr>
            <p:ph idx="1"/>
          </p:nvPr>
        </p:nvSpPr>
        <p:spPr/>
        <p:txBody>
          <a:bodyPr/>
          <a:lstStyle/>
          <a:p>
            <a:r>
              <a:rPr lang="en-US" dirty="0"/>
              <a:t>The REST uniform interface (constraint 4) is defined by putting 4 requirements on the interface between components (clients and servers): </a:t>
            </a:r>
          </a:p>
          <a:p>
            <a:endParaRPr lang="en-US" dirty="0"/>
          </a:p>
          <a:p>
            <a:pPr lvl="1"/>
            <a:r>
              <a:rPr lang="en-US" sz="2400" dirty="0"/>
              <a:t>Hypermedia as the engine of application state (HATEOAS)</a:t>
            </a:r>
          </a:p>
          <a:p>
            <a:pPr lvl="1"/>
            <a:r>
              <a:rPr lang="en-US" sz="2400" dirty="0"/>
              <a:t>Identification of resources</a:t>
            </a:r>
          </a:p>
          <a:p>
            <a:pPr lvl="1"/>
            <a:r>
              <a:rPr lang="en-US" sz="2400" dirty="0"/>
              <a:t>Manipulation of resources through representations</a:t>
            </a:r>
          </a:p>
          <a:p>
            <a:pPr lvl="1"/>
            <a:r>
              <a:rPr lang="en-US" sz="2400" dirty="0"/>
              <a:t>Self-descriptive messages</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11</a:t>
            </a:fld>
            <a:endParaRPr lang="en-GB"/>
          </a:p>
        </p:txBody>
      </p:sp>
    </p:spTree>
    <p:extLst>
      <p:ext uri="{BB962C8B-B14F-4D97-AF65-F5344CB8AC3E}">
        <p14:creationId xmlns:p14="http://schemas.microsoft.com/office/powerpoint/2010/main" val="2443604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Hypermedia as the engine of application state</a:t>
            </a:r>
            <a:endParaRPr lang="en-GB" dirty="0"/>
          </a:p>
        </p:txBody>
      </p:sp>
      <p:sp>
        <p:nvSpPr>
          <p:cNvPr id="3" name="Segnaposto contenuto 2"/>
          <p:cNvSpPr>
            <a:spLocks noGrp="1"/>
          </p:cNvSpPr>
          <p:nvPr>
            <p:ph idx="1"/>
          </p:nvPr>
        </p:nvSpPr>
        <p:spPr>
          <a:xfrm>
            <a:off x="428172" y="1361167"/>
            <a:ext cx="9153150" cy="5238416"/>
          </a:xfrm>
        </p:spPr>
        <p:txBody>
          <a:bodyPr>
            <a:normAutofit lnSpcReduction="10000"/>
          </a:bodyPr>
          <a:lstStyle/>
          <a:p>
            <a:r>
              <a:rPr lang="en-US" dirty="0"/>
              <a:t>Web applications are based on </a:t>
            </a:r>
            <a:r>
              <a:rPr lang="en-US" b="1" dirty="0"/>
              <a:t>distributed hypermedia</a:t>
            </a:r>
            <a:r>
              <a:rPr lang="en-US" dirty="0"/>
              <a:t>: </a:t>
            </a:r>
          </a:p>
          <a:p>
            <a:pPr lvl="1"/>
            <a:r>
              <a:rPr lang="en-US" sz="2400" dirty="0"/>
              <a:t>When a client interacts with a Web application, the application servers provide information dynamically through </a:t>
            </a:r>
            <a:r>
              <a:rPr lang="en-US" sz="2400" b="1" dirty="0"/>
              <a:t>hypermedia. </a:t>
            </a:r>
          </a:p>
          <a:p>
            <a:pPr lvl="1"/>
            <a:endParaRPr lang="en-US" sz="2400" b="1" dirty="0"/>
          </a:p>
          <a:p>
            <a:pPr lvl="1"/>
            <a:r>
              <a:rPr lang="en-US" sz="2400" b="1" dirty="0"/>
              <a:t>Hypermedia: </a:t>
            </a:r>
            <a:r>
              <a:rPr lang="en-US" sz="2400" dirty="0"/>
              <a:t>any content that contains links to some other form of media (e.g., an image, a movie, a text) </a:t>
            </a:r>
            <a:r>
              <a:rPr lang="en-US" sz="2400" dirty="0">
                <a:sym typeface="Wingdings" panose="05000000000000000000" pitchFamily="2" charset="2"/>
              </a:rPr>
              <a:t> </a:t>
            </a:r>
            <a:r>
              <a:rPr lang="en-US" sz="2400" dirty="0"/>
              <a:t>generalization of hypertext for a general media. </a:t>
            </a:r>
          </a:p>
          <a:p>
            <a:pPr lvl="1"/>
            <a:endParaRPr lang="en-US" sz="2400" dirty="0"/>
          </a:p>
          <a:p>
            <a:pPr lvl="1"/>
            <a:r>
              <a:rPr lang="en-US" sz="2400" dirty="0"/>
              <a:t>When a link is selected, information is moved from the location where it is stored in the server to the location where it will be used in the client </a:t>
            </a:r>
            <a:r>
              <a:rPr lang="en-US" sz="2400" dirty="0">
                <a:sym typeface="Wingdings" panose="05000000000000000000" pitchFamily="2" charset="2"/>
              </a:rPr>
              <a:t> application state transition.</a:t>
            </a:r>
          </a:p>
          <a:p>
            <a:pPr lvl="1"/>
            <a:endParaRPr lang="en-US" sz="2400" dirty="0"/>
          </a:p>
          <a:p>
            <a:pPr lvl="1"/>
            <a:r>
              <a:rPr lang="en-US" sz="2400" dirty="0"/>
              <a:t>A REST client needs no prior knowledge about how to interact with an application server beyond a generic understanding of hypermedia.</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12</a:t>
            </a:fld>
            <a:endParaRPr lang="en-GB"/>
          </a:p>
        </p:txBody>
      </p:sp>
      <p:pic>
        <p:nvPicPr>
          <p:cNvPr id="6" name="Picture 5" descr="A computer screens with a link&#10;&#10;Description automatically generated">
            <a:extLst>
              <a:ext uri="{FF2B5EF4-FFF2-40B4-BE49-F238E27FC236}">
                <a16:creationId xmlns:a16="http://schemas.microsoft.com/office/drawing/2014/main" id="{BDDD281C-0C28-A17D-A1C5-277E1780A1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0567" y="4578873"/>
            <a:ext cx="1835919" cy="1835919"/>
          </a:xfrm>
          <a:prstGeom prst="rect">
            <a:avLst/>
          </a:prstGeom>
        </p:spPr>
      </p:pic>
    </p:spTree>
    <p:extLst>
      <p:ext uri="{BB962C8B-B14F-4D97-AF65-F5344CB8AC3E}">
        <p14:creationId xmlns:p14="http://schemas.microsoft.com/office/powerpoint/2010/main" val="321464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err="1"/>
              <a:t>Identification</a:t>
            </a:r>
            <a:r>
              <a:rPr lang="it-IT" dirty="0"/>
              <a:t> of </a:t>
            </a:r>
            <a:r>
              <a:rPr lang="it-IT" dirty="0" err="1"/>
              <a:t>resources</a:t>
            </a:r>
            <a:endParaRPr lang="en-GB" dirty="0"/>
          </a:p>
        </p:txBody>
      </p:sp>
      <p:sp>
        <p:nvSpPr>
          <p:cNvPr id="3" name="Segnaposto contenuto 2"/>
          <p:cNvSpPr>
            <a:spLocks noGrp="1"/>
          </p:cNvSpPr>
          <p:nvPr>
            <p:ph idx="1"/>
          </p:nvPr>
        </p:nvSpPr>
        <p:spPr>
          <a:xfrm>
            <a:off x="267760" y="1355772"/>
            <a:ext cx="11882221" cy="2855845"/>
          </a:xfrm>
        </p:spPr>
        <p:txBody>
          <a:bodyPr>
            <a:normAutofit/>
          </a:bodyPr>
          <a:lstStyle/>
          <a:p>
            <a:r>
              <a:rPr lang="en-US" sz="2000" b="1" dirty="0"/>
              <a:t>Resource</a:t>
            </a:r>
            <a:r>
              <a:rPr lang="en-US" sz="2000" dirty="0"/>
              <a:t>: any information or concept that can be named and be the target of a hypermedia (a document, an image, a collection of other resources, a temporal service, e.g., “today’s weather in Padova”...).</a:t>
            </a:r>
          </a:p>
          <a:p>
            <a:r>
              <a:rPr lang="en-US" sz="2000" dirty="0"/>
              <a:t>More precisely, the resource is the conceptual mapping to an entity or a set of entities.</a:t>
            </a:r>
          </a:p>
          <a:p>
            <a:r>
              <a:rPr lang="en-US" sz="2000" dirty="0"/>
              <a:t>The </a:t>
            </a:r>
            <a:r>
              <a:rPr lang="en-US" sz="2000" b="1" dirty="0"/>
              <a:t>entity</a:t>
            </a:r>
            <a:r>
              <a:rPr lang="en-US" sz="2000" dirty="0"/>
              <a:t> is the specific realization of the concept identified by the resource. </a:t>
            </a:r>
          </a:p>
          <a:p>
            <a:r>
              <a:rPr lang="en-US" sz="2000" dirty="0"/>
              <a:t>The entity to which a resource points is stored and manipulated in a specific </a:t>
            </a:r>
            <a:r>
              <a:rPr lang="en-US" sz="2000" b="1" dirty="0"/>
              <a:t>resource representation </a:t>
            </a:r>
          </a:p>
          <a:p>
            <a:r>
              <a:rPr lang="en-US" sz="2000" dirty="0"/>
              <a:t>Each resource is identified by a label called </a:t>
            </a:r>
            <a:r>
              <a:rPr lang="en-US" sz="2000" b="1" dirty="0"/>
              <a:t>resource identifier</a:t>
            </a:r>
            <a:endParaRPr lang="it-IT"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13</a:t>
            </a:fld>
            <a:endParaRPr lang="en-GB"/>
          </a:p>
        </p:txBody>
      </p:sp>
      <p:pic>
        <p:nvPicPr>
          <p:cNvPr id="6" name="Picture 5" descr="A close-up of a person's photo&#10;&#10;Description automatically generated">
            <a:extLst>
              <a:ext uri="{FF2B5EF4-FFF2-40B4-BE49-F238E27FC236}">
                <a16:creationId xmlns:a16="http://schemas.microsoft.com/office/drawing/2014/main" id="{B9EA1219-A615-96DC-1162-12DBB58DC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1042" y="225922"/>
            <a:ext cx="1051681" cy="1051681"/>
          </a:xfrm>
          <a:prstGeom prst="rect">
            <a:avLst/>
          </a:prstGeom>
        </p:spPr>
      </p:pic>
      <p:sp>
        <p:nvSpPr>
          <p:cNvPr id="5" name="Ovale 3">
            <a:extLst>
              <a:ext uri="{FF2B5EF4-FFF2-40B4-BE49-F238E27FC236}">
                <a16:creationId xmlns:a16="http://schemas.microsoft.com/office/drawing/2014/main" id="{1EB79D6E-FF97-61B4-26DE-9B0128C18D5F}"/>
              </a:ext>
            </a:extLst>
          </p:cNvPr>
          <p:cNvSpPr/>
          <p:nvPr/>
        </p:nvSpPr>
        <p:spPr>
          <a:xfrm>
            <a:off x="901195" y="4960926"/>
            <a:ext cx="944030" cy="90459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GB">
              <a:latin typeface="Aptos" panose="020B0004020202020204" pitchFamily="34" charset="0"/>
            </a:endParaRPr>
          </a:p>
        </p:txBody>
      </p:sp>
      <p:sp>
        <p:nvSpPr>
          <p:cNvPr id="7" name="CasellaDiTesto 4">
            <a:extLst>
              <a:ext uri="{FF2B5EF4-FFF2-40B4-BE49-F238E27FC236}">
                <a16:creationId xmlns:a16="http://schemas.microsoft.com/office/drawing/2014/main" id="{44BF784E-B4CE-BB8A-9B44-A497584BCA78}"/>
              </a:ext>
            </a:extLst>
          </p:cNvPr>
          <p:cNvSpPr txBox="1"/>
          <p:nvPr/>
        </p:nvSpPr>
        <p:spPr>
          <a:xfrm>
            <a:off x="409417" y="5865524"/>
            <a:ext cx="1966146" cy="830997"/>
          </a:xfrm>
          <a:prstGeom prst="rect">
            <a:avLst/>
          </a:prstGeom>
          <a:noFill/>
        </p:spPr>
        <p:txBody>
          <a:bodyPr wrap="square" rtlCol="0">
            <a:spAutoFit/>
          </a:bodyPr>
          <a:lstStyle/>
          <a:p>
            <a:pPr algn="ctr"/>
            <a:r>
              <a:rPr lang="it-IT" sz="2400" b="1" dirty="0">
                <a:latin typeface="Aptos" panose="020B0004020202020204" pitchFamily="34" charset="0"/>
              </a:rPr>
              <a:t>Resource</a:t>
            </a:r>
            <a:r>
              <a:rPr lang="it-IT" sz="2400" dirty="0">
                <a:latin typeface="Aptos" panose="020B0004020202020204" pitchFamily="34" charset="0"/>
              </a:rPr>
              <a:t>: </a:t>
            </a:r>
            <a:r>
              <a:rPr lang="it-IT" sz="2400" dirty="0" err="1">
                <a:latin typeface="Aptos" panose="020B0004020202020204" pitchFamily="34" charset="0"/>
              </a:rPr>
              <a:t>circle</a:t>
            </a:r>
            <a:endParaRPr lang="en-GB" sz="2400" dirty="0">
              <a:latin typeface="Aptos" panose="020B0004020202020204" pitchFamily="34" charset="0"/>
            </a:endParaRPr>
          </a:p>
        </p:txBody>
      </p:sp>
      <p:sp>
        <p:nvSpPr>
          <p:cNvPr id="8" name="CasellaDiTesto 6">
            <a:extLst>
              <a:ext uri="{FF2B5EF4-FFF2-40B4-BE49-F238E27FC236}">
                <a16:creationId xmlns:a16="http://schemas.microsoft.com/office/drawing/2014/main" id="{8704E908-4EF8-A91B-C33E-A8E29D7E440A}"/>
              </a:ext>
            </a:extLst>
          </p:cNvPr>
          <p:cNvSpPr txBox="1"/>
          <p:nvPr/>
        </p:nvSpPr>
        <p:spPr>
          <a:xfrm>
            <a:off x="7197327" y="4314545"/>
            <a:ext cx="3945288" cy="1015663"/>
          </a:xfrm>
          <a:prstGeom prst="rect">
            <a:avLst/>
          </a:prstGeom>
          <a:noFill/>
        </p:spPr>
        <p:txBody>
          <a:bodyPr wrap="square" rtlCol="0">
            <a:spAutoFit/>
          </a:bodyPr>
          <a:lstStyle/>
          <a:p>
            <a:pPr algn="ctr"/>
            <a:r>
              <a:rPr lang="it-IT" sz="2000" b="1" dirty="0" err="1">
                <a:latin typeface="Aptos" panose="020B0004020202020204" pitchFamily="34" charset="0"/>
              </a:rPr>
              <a:t>Representation</a:t>
            </a:r>
            <a:r>
              <a:rPr lang="it-IT" sz="2000" b="1" dirty="0">
                <a:latin typeface="Aptos" panose="020B0004020202020204" pitchFamily="34" charset="0"/>
              </a:rPr>
              <a:t> 1:</a:t>
            </a:r>
            <a:r>
              <a:rPr lang="it-IT" sz="2000" dirty="0">
                <a:latin typeface="Aptos" panose="020B0004020202020204" pitchFamily="34" charset="0"/>
              </a:rPr>
              <a:t> </a:t>
            </a:r>
            <a:r>
              <a:rPr lang="it-IT" sz="2000" dirty="0" err="1">
                <a:latin typeface="Aptos" panose="020B0004020202020204" pitchFamily="34" charset="0"/>
              </a:rPr>
              <a:t>one</a:t>
            </a:r>
            <a:r>
              <a:rPr lang="it-IT" sz="2000" dirty="0">
                <a:latin typeface="Aptos" panose="020B0004020202020204" pitchFamily="34" charset="0"/>
              </a:rPr>
              <a:t> </a:t>
            </a:r>
            <a:r>
              <a:rPr lang="it-IT" sz="2000" dirty="0" err="1">
                <a:latin typeface="Aptos" panose="020B0004020202020204" pitchFamily="34" charset="0"/>
              </a:rPr>
              <a:t>point</a:t>
            </a:r>
            <a:r>
              <a:rPr lang="it-IT" sz="2000" dirty="0">
                <a:latin typeface="Aptos" panose="020B0004020202020204" pitchFamily="34" charset="0"/>
              </a:rPr>
              <a:t> for the </a:t>
            </a:r>
            <a:r>
              <a:rPr lang="it-IT" sz="2000" dirty="0" err="1">
                <a:latin typeface="Aptos" panose="020B0004020202020204" pitchFamily="34" charset="0"/>
              </a:rPr>
              <a:t>circle</a:t>
            </a:r>
            <a:r>
              <a:rPr lang="it-IT" sz="2000" dirty="0">
                <a:latin typeface="Aptos" panose="020B0004020202020204" pitchFamily="34" charset="0"/>
              </a:rPr>
              <a:t> center and </a:t>
            </a:r>
            <a:r>
              <a:rPr lang="it-IT" sz="2000" dirty="0" err="1">
                <a:latin typeface="Aptos" panose="020B0004020202020204" pitchFamily="34" charset="0"/>
              </a:rPr>
              <a:t>one</a:t>
            </a:r>
            <a:r>
              <a:rPr lang="it-IT" sz="2000" dirty="0">
                <a:latin typeface="Aptos" panose="020B0004020202020204" pitchFamily="34" charset="0"/>
              </a:rPr>
              <a:t> </a:t>
            </a:r>
            <a:r>
              <a:rPr lang="it-IT" sz="2000" dirty="0" err="1">
                <a:latin typeface="Aptos" panose="020B0004020202020204" pitchFamily="34" charset="0"/>
              </a:rPr>
              <a:t>vector</a:t>
            </a:r>
            <a:r>
              <a:rPr lang="it-IT" sz="2000" dirty="0">
                <a:latin typeface="Aptos" panose="020B0004020202020204" pitchFamily="34" charset="0"/>
              </a:rPr>
              <a:t> for the </a:t>
            </a:r>
            <a:r>
              <a:rPr lang="it-IT" sz="2000" dirty="0" err="1">
                <a:latin typeface="Aptos" panose="020B0004020202020204" pitchFamily="34" charset="0"/>
              </a:rPr>
              <a:t>circle</a:t>
            </a:r>
            <a:r>
              <a:rPr lang="it-IT" sz="2000" dirty="0">
                <a:latin typeface="Aptos" panose="020B0004020202020204" pitchFamily="34" charset="0"/>
              </a:rPr>
              <a:t> </a:t>
            </a:r>
            <a:r>
              <a:rPr lang="it-IT" sz="2000" dirty="0" err="1">
                <a:latin typeface="Aptos" panose="020B0004020202020204" pitchFamily="34" charset="0"/>
              </a:rPr>
              <a:t>radius</a:t>
            </a:r>
            <a:r>
              <a:rPr lang="it-IT" sz="2000" dirty="0">
                <a:latin typeface="Aptos" panose="020B0004020202020204" pitchFamily="34" charset="0"/>
              </a:rPr>
              <a:t> in SVG format</a:t>
            </a:r>
            <a:endParaRPr lang="en-GB" sz="2000" dirty="0">
              <a:latin typeface="Aptos" panose="020B0004020202020204" pitchFamily="34" charset="0"/>
            </a:endParaRPr>
          </a:p>
        </p:txBody>
      </p:sp>
      <p:sp>
        <p:nvSpPr>
          <p:cNvPr id="9" name="Ovale 7">
            <a:extLst>
              <a:ext uri="{FF2B5EF4-FFF2-40B4-BE49-F238E27FC236}">
                <a16:creationId xmlns:a16="http://schemas.microsoft.com/office/drawing/2014/main" id="{5F7970A5-765B-4FEA-BBDA-DEC394CA9609}"/>
              </a:ext>
            </a:extLst>
          </p:cNvPr>
          <p:cNvSpPr/>
          <p:nvPr/>
        </p:nvSpPr>
        <p:spPr>
          <a:xfrm>
            <a:off x="3164414" y="4960397"/>
            <a:ext cx="758955" cy="7078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latin typeface="Aptos" panose="020B0004020202020204" pitchFamily="34" charset="0"/>
            </a:endParaRPr>
          </a:p>
        </p:txBody>
      </p:sp>
      <p:sp>
        <p:nvSpPr>
          <p:cNvPr id="12" name="CasellaDiTesto 8">
            <a:extLst>
              <a:ext uri="{FF2B5EF4-FFF2-40B4-BE49-F238E27FC236}">
                <a16:creationId xmlns:a16="http://schemas.microsoft.com/office/drawing/2014/main" id="{6AE185BE-3328-E921-44C8-34688C86F01F}"/>
              </a:ext>
            </a:extLst>
          </p:cNvPr>
          <p:cNvSpPr txBox="1"/>
          <p:nvPr/>
        </p:nvSpPr>
        <p:spPr>
          <a:xfrm>
            <a:off x="2358089" y="5863825"/>
            <a:ext cx="2358190" cy="830997"/>
          </a:xfrm>
          <a:prstGeom prst="rect">
            <a:avLst/>
          </a:prstGeom>
          <a:noFill/>
        </p:spPr>
        <p:txBody>
          <a:bodyPr wrap="square" rtlCol="0">
            <a:spAutoFit/>
          </a:bodyPr>
          <a:lstStyle/>
          <a:p>
            <a:pPr algn="ctr"/>
            <a:r>
              <a:rPr lang="it-IT" sz="2400" b="1" dirty="0" err="1">
                <a:latin typeface="Aptos" panose="020B0004020202020204" pitchFamily="34" charset="0"/>
              </a:rPr>
              <a:t>Entity</a:t>
            </a:r>
            <a:r>
              <a:rPr lang="it-IT" sz="2400" dirty="0">
                <a:latin typeface="Aptos" panose="020B0004020202020204" pitchFamily="34" charset="0"/>
              </a:rPr>
              <a:t>: a </a:t>
            </a:r>
            <a:r>
              <a:rPr lang="it-IT" sz="2400" dirty="0" err="1">
                <a:latin typeface="Aptos" panose="020B0004020202020204" pitchFamily="34" charset="0"/>
              </a:rPr>
              <a:t>circle</a:t>
            </a:r>
            <a:r>
              <a:rPr lang="it-IT" sz="2400" dirty="0">
                <a:latin typeface="Aptos" panose="020B0004020202020204" pitchFamily="34" charset="0"/>
              </a:rPr>
              <a:t> </a:t>
            </a:r>
            <a:r>
              <a:rPr lang="it-IT" sz="2400" dirty="0" err="1">
                <a:latin typeface="Aptos" panose="020B0004020202020204" pitchFamily="34" charset="0"/>
              </a:rPr>
              <a:t>realization</a:t>
            </a:r>
            <a:endParaRPr lang="en-GB" sz="2400" dirty="0">
              <a:latin typeface="Aptos" panose="020B0004020202020204" pitchFamily="34" charset="0"/>
            </a:endParaRPr>
          </a:p>
        </p:txBody>
      </p:sp>
      <p:sp>
        <p:nvSpPr>
          <p:cNvPr id="14" name="Ovale 9">
            <a:extLst>
              <a:ext uri="{FF2B5EF4-FFF2-40B4-BE49-F238E27FC236}">
                <a16:creationId xmlns:a16="http://schemas.microsoft.com/office/drawing/2014/main" id="{F32FEA9E-3BD9-06EF-DC50-1B122C44974F}"/>
              </a:ext>
            </a:extLst>
          </p:cNvPr>
          <p:cNvSpPr/>
          <p:nvPr/>
        </p:nvSpPr>
        <p:spPr>
          <a:xfrm>
            <a:off x="6234327" y="4423659"/>
            <a:ext cx="666000" cy="666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latin typeface="Aptos" panose="020B0004020202020204" pitchFamily="34" charset="0"/>
            </a:endParaRPr>
          </a:p>
        </p:txBody>
      </p:sp>
      <p:sp>
        <p:nvSpPr>
          <p:cNvPr id="15" name="Ovale 10">
            <a:extLst>
              <a:ext uri="{FF2B5EF4-FFF2-40B4-BE49-F238E27FC236}">
                <a16:creationId xmlns:a16="http://schemas.microsoft.com/office/drawing/2014/main" id="{EE051371-1634-50B8-DA99-2C8037241CE2}"/>
              </a:ext>
            </a:extLst>
          </p:cNvPr>
          <p:cNvSpPr/>
          <p:nvPr/>
        </p:nvSpPr>
        <p:spPr>
          <a:xfrm>
            <a:off x="6208871" y="5662683"/>
            <a:ext cx="666000" cy="66600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latin typeface="Aptos" panose="020B0004020202020204" pitchFamily="34" charset="0"/>
            </a:endParaRPr>
          </a:p>
        </p:txBody>
      </p:sp>
      <p:sp>
        <p:nvSpPr>
          <p:cNvPr id="16" name="Ovale 11">
            <a:extLst>
              <a:ext uri="{FF2B5EF4-FFF2-40B4-BE49-F238E27FC236}">
                <a16:creationId xmlns:a16="http://schemas.microsoft.com/office/drawing/2014/main" id="{61750C30-2836-4D19-1543-96FCE7FBFA7D}"/>
              </a:ext>
            </a:extLst>
          </p:cNvPr>
          <p:cNvSpPr/>
          <p:nvPr/>
        </p:nvSpPr>
        <p:spPr>
          <a:xfrm>
            <a:off x="6531327" y="4724688"/>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cxnSp>
        <p:nvCxnSpPr>
          <p:cNvPr id="20" name="Connettore diritto 13">
            <a:extLst>
              <a:ext uri="{FF2B5EF4-FFF2-40B4-BE49-F238E27FC236}">
                <a16:creationId xmlns:a16="http://schemas.microsoft.com/office/drawing/2014/main" id="{5FF576D5-85EE-F89A-32DC-E1965BF24808}"/>
              </a:ext>
            </a:extLst>
          </p:cNvPr>
          <p:cNvCxnSpPr>
            <a:cxnSpLocks/>
            <a:stCxn id="14" idx="3"/>
            <a:endCxn id="16" idx="3"/>
          </p:cNvCxnSpPr>
          <p:nvPr/>
        </p:nvCxnSpPr>
        <p:spPr>
          <a:xfrm flipV="1">
            <a:off x="6331860" y="4786144"/>
            <a:ext cx="210011" cy="205982"/>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1" name="Ovale 14">
            <a:extLst>
              <a:ext uri="{FF2B5EF4-FFF2-40B4-BE49-F238E27FC236}">
                <a16:creationId xmlns:a16="http://schemas.microsoft.com/office/drawing/2014/main" id="{1E509505-4DAA-E81A-80F4-DBA95585C6CC}"/>
              </a:ext>
            </a:extLst>
          </p:cNvPr>
          <p:cNvSpPr/>
          <p:nvPr/>
        </p:nvSpPr>
        <p:spPr>
          <a:xfrm>
            <a:off x="6246596" y="5783981"/>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2" name="Ovale 15">
            <a:extLst>
              <a:ext uri="{FF2B5EF4-FFF2-40B4-BE49-F238E27FC236}">
                <a16:creationId xmlns:a16="http://schemas.microsoft.com/office/drawing/2014/main" id="{F35E7759-A029-EE65-EFA2-9600CE470E79}"/>
              </a:ext>
            </a:extLst>
          </p:cNvPr>
          <p:cNvSpPr/>
          <p:nvPr/>
        </p:nvSpPr>
        <p:spPr>
          <a:xfrm>
            <a:off x="6759814" y="5728052"/>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3" name="Ovale 16">
            <a:extLst>
              <a:ext uri="{FF2B5EF4-FFF2-40B4-BE49-F238E27FC236}">
                <a16:creationId xmlns:a16="http://schemas.microsoft.com/office/drawing/2014/main" id="{4624890A-B3F3-2369-1CFC-E2341F3EDB8B}"/>
              </a:ext>
            </a:extLst>
          </p:cNvPr>
          <p:cNvSpPr/>
          <p:nvPr/>
        </p:nvSpPr>
        <p:spPr>
          <a:xfrm>
            <a:off x="6759814" y="6207323"/>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4" name="CasellaDiTesto 17">
            <a:extLst>
              <a:ext uri="{FF2B5EF4-FFF2-40B4-BE49-F238E27FC236}">
                <a16:creationId xmlns:a16="http://schemas.microsoft.com/office/drawing/2014/main" id="{512F1C76-FFED-A272-AA19-05A1D634DD8E}"/>
              </a:ext>
            </a:extLst>
          </p:cNvPr>
          <p:cNvSpPr txBox="1"/>
          <p:nvPr/>
        </p:nvSpPr>
        <p:spPr>
          <a:xfrm>
            <a:off x="7382757" y="5783981"/>
            <a:ext cx="3631355" cy="1015663"/>
          </a:xfrm>
          <a:prstGeom prst="rect">
            <a:avLst/>
          </a:prstGeom>
          <a:noFill/>
        </p:spPr>
        <p:txBody>
          <a:bodyPr wrap="square" rtlCol="0">
            <a:spAutoFit/>
          </a:bodyPr>
          <a:lstStyle/>
          <a:p>
            <a:pPr algn="ctr"/>
            <a:r>
              <a:rPr lang="it-IT" sz="2000" b="1" dirty="0" err="1">
                <a:latin typeface="Aptos" panose="020B0004020202020204" pitchFamily="34" charset="0"/>
              </a:rPr>
              <a:t>Representation</a:t>
            </a:r>
            <a:r>
              <a:rPr lang="it-IT" sz="2000" b="1" dirty="0">
                <a:latin typeface="Aptos" panose="020B0004020202020204" pitchFamily="34" charset="0"/>
              </a:rPr>
              <a:t> 2</a:t>
            </a:r>
            <a:r>
              <a:rPr lang="it-IT" sz="2000" dirty="0">
                <a:latin typeface="Aptos" panose="020B0004020202020204" pitchFamily="34" charset="0"/>
              </a:rPr>
              <a:t>: </a:t>
            </a:r>
            <a:r>
              <a:rPr lang="it-IT" sz="2000" dirty="0" err="1">
                <a:latin typeface="Aptos" panose="020B0004020202020204" pitchFamily="34" charset="0"/>
              </a:rPr>
              <a:t>coordinates</a:t>
            </a:r>
            <a:r>
              <a:rPr lang="it-IT" sz="2000" dirty="0">
                <a:latin typeface="Aptos" panose="020B0004020202020204" pitchFamily="34" charset="0"/>
              </a:rPr>
              <a:t> of </a:t>
            </a:r>
            <a:r>
              <a:rPr lang="it-IT" sz="2000" dirty="0" err="1">
                <a:latin typeface="Aptos" panose="020B0004020202020204" pitchFamily="34" charset="0"/>
              </a:rPr>
              <a:t>three</a:t>
            </a:r>
            <a:r>
              <a:rPr lang="it-IT" sz="2000" dirty="0">
                <a:latin typeface="Aptos" panose="020B0004020202020204" pitchFamily="34" charset="0"/>
              </a:rPr>
              <a:t> </a:t>
            </a:r>
            <a:r>
              <a:rPr lang="it-IT" sz="2000" dirty="0" err="1">
                <a:latin typeface="Aptos" panose="020B0004020202020204" pitchFamily="34" charset="0"/>
              </a:rPr>
              <a:t>points</a:t>
            </a:r>
            <a:r>
              <a:rPr lang="it-IT" sz="2000" dirty="0">
                <a:latin typeface="Aptos" panose="020B0004020202020204" pitchFamily="34" charset="0"/>
              </a:rPr>
              <a:t> of the </a:t>
            </a:r>
            <a:r>
              <a:rPr lang="it-IT" sz="2000" dirty="0" err="1">
                <a:latin typeface="Aptos" panose="020B0004020202020204" pitchFamily="34" charset="0"/>
              </a:rPr>
              <a:t>circumference</a:t>
            </a:r>
            <a:r>
              <a:rPr lang="it-IT" sz="2000" dirty="0">
                <a:latin typeface="Aptos" panose="020B0004020202020204" pitchFamily="34" charset="0"/>
              </a:rPr>
              <a:t> in a </a:t>
            </a:r>
            <a:r>
              <a:rPr lang="it-IT" sz="2000" dirty="0" err="1">
                <a:latin typeface="Aptos" panose="020B0004020202020204" pitchFamily="34" charset="0"/>
              </a:rPr>
              <a:t>csv</a:t>
            </a:r>
            <a:r>
              <a:rPr lang="it-IT" sz="2000" dirty="0">
                <a:latin typeface="Aptos" panose="020B0004020202020204" pitchFamily="34" charset="0"/>
              </a:rPr>
              <a:t> file</a:t>
            </a:r>
            <a:endParaRPr lang="en-GB" sz="2000" dirty="0">
              <a:latin typeface="Aptos" panose="020B0004020202020204" pitchFamily="34" charset="0"/>
            </a:endParaRPr>
          </a:p>
        </p:txBody>
      </p:sp>
      <p:cxnSp>
        <p:nvCxnSpPr>
          <p:cNvPr id="25" name="Connettore 2 19">
            <a:extLst>
              <a:ext uri="{FF2B5EF4-FFF2-40B4-BE49-F238E27FC236}">
                <a16:creationId xmlns:a16="http://schemas.microsoft.com/office/drawing/2014/main" id="{06053AE3-7267-3764-5B70-E26F42747E91}"/>
              </a:ext>
            </a:extLst>
          </p:cNvPr>
          <p:cNvCxnSpPr>
            <a:cxnSpLocks/>
          </p:cNvCxnSpPr>
          <p:nvPr/>
        </p:nvCxnSpPr>
        <p:spPr>
          <a:xfrm flipV="1">
            <a:off x="4349754" y="4894769"/>
            <a:ext cx="1508242" cy="25373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0">
            <a:extLst>
              <a:ext uri="{FF2B5EF4-FFF2-40B4-BE49-F238E27FC236}">
                <a16:creationId xmlns:a16="http://schemas.microsoft.com/office/drawing/2014/main" id="{F913C906-ACA9-67F1-AF3C-F516FF8C8766}"/>
              </a:ext>
            </a:extLst>
          </p:cNvPr>
          <p:cNvCxnSpPr>
            <a:cxnSpLocks/>
          </p:cNvCxnSpPr>
          <p:nvPr/>
        </p:nvCxnSpPr>
        <p:spPr>
          <a:xfrm>
            <a:off x="4349754" y="5396470"/>
            <a:ext cx="1508242" cy="57358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179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Resources</a:t>
            </a:r>
            <a:r>
              <a:rPr lang="it-IT" dirty="0"/>
              <a:t> </a:t>
            </a:r>
            <a:r>
              <a:rPr lang="it-IT" dirty="0" err="1"/>
              <a:t>types</a:t>
            </a:r>
            <a:endParaRPr lang="en-GB" dirty="0"/>
          </a:p>
        </p:txBody>
      </p:sp>
      <p:sp>
        <p:nvSpPr>
          <p:cNvPr id="3" name="Segnaposto contenuto 2"/>
          <p:cNvSpPr>
            <a:spLocks noGrp="1"/>
          </p:cNvSpPr>
          <p:nvPr>
            <p:ph idx="1"/>
          </p:nvPr>
        </p:nvSpPr>
        <p:spPr/>
        <p:txBody>
          <a:bodyPr/>
          <a:lstStyle/>
          <a:p>
            <a:r>
              <a:rPr lang="en-US" sz="2000" dirty="0"/>
              <a:t>Example: </a:t>
            </a:r>
          </a:p>
          <a:p>
            <a:pPr lvl="1"/>
            <a:r>
              <a:rPr lang="en-US" dirty="0"/>
              <a:t>«the first version of document X»</a:t>
            </a:r>
          </a:p>
          <a:p>
            <a:pPr lvl="1"/>
            <a:r>
              <a:rPr lang="en-US" dirty="0"/>
              <a:t>«the revision 1.0 of document X»</a:t>
            </a:r>
          </a:p>
          <a:p>
            <a:pPr lvl="1"/>
            <a:r>
              <a:rPr lang="en-US" dirty="0"/>
              <a:t>«the revision 1.1 of document X»</a:t>
            </a:r>
          </a:p>
          <a:p>
            <a:pPr lvl="1"/>
            <a:r>
              <a:rPr lang="en-US" dirty="0"/>
              <a:t>…</a:t>
            </a:r>
          </a:p>
          <a:p>
            <a:pPr lvl="1"/>
            <a:r>
              <a:rPr lang="en-US" dirty="0"/>
              <a:t>«the latest version of document X»</a:t>
            </a:r>
          </a:p>
          <a:p>
            <a:pPr lvl="1"/>
            <a:endParaRPr lang="en-US" dirty="0"/>
          </a:p>
          <a:p>
            <a:pPr lvl="1"/>
            <a:endParaRPr lang="en-US" dirty="0"/>
          </a:p>
          <a:p>
            <a:pPr marL="0" indent="0">
              <a:buNone/>
            </a:pPr>
            <a:endParaRPr lang="en-US" dirty="0"/>
          </a:p>
        </p:txBody>
      </p:sp>
      <p:sp>
        <p:nvSpPr>
          <p:cNvPr id="4" name="Parentesi graffa chiusa 3"/>
          <p:cNvSpPr/>
          <p:nvPr/>
        </p:nvSpPr>
        <p:spPr>
          <a:xfrm>
            <a:off x="5161548" y="1738563"/>
            <a:ext cx="306805" cy="1022685"/>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Aptos" panose="020B0004020202020204" pitchFamily="34" charset="0"/>
            </a:endParaRPr>
          </a:p>
        </p:txBody>
      </p:sp>
      <p:sp>
        <p:nvSpPr>
          <p:cNvPr id="5" name="CasellaDiTesto 4"/>
          <p:cNvSpPr txBox="1"/>
          <p:nvPr/>
        </p:nvSpPr>
        <p:spPr>
          <a:xfrm>
            <a:off x="5593967" y="1606216"/>
            <a:ext cx="5926269" cy="1015663"/>
          </a:xfrm>
          <a:prstGeom prst="rect">
            <a:avLst/>
          </a:prstGeom>
          <a:noFill/>
        </p:spPr>
        <p:txBody>
          <a:bodyPr wrap="square" rtlCol="0">
            <a:spAutoFit/>
          </a:bodyPr>
          <a:lstStyle/>
          <a:p>
            <a:r>
              <a:rPr lang="en-US" sz="2000" b="1" dirty="0">
                <a:latin typeface="Aptos" panose="020B0004020202020204" pitchFamily="34" charset="0"/>
              </a:rPr>
              <a:t>Static resources</a:t>
            </a:r>
            <a:r>
              <a:rPr lang="en-US" sz="2000" dirty="0">
                <a:latin typeface="Aptos" panose="020B0004020202020204" pitchFamily="34" charset="0"/>
              </a:rPr>
              <a:t>: they always point to the same entity (with a specific representation), in this case a precise document version. </a:t>
            </a:r>
          </a:p>
        </p:txBody>
      </p:sp>
      <p:sp>
        <p:nvSpPr>
          <p:cNvPr id="6" name="CasellaDiTesto 5"/>
          <p:cNvSpPr txBox="1"/>
          <p:nvPr/>
        </p:nvSpPr>
        <p:spPr>
          <a:xfrm>
            <a:off x="5599505" y="2761248"/>
            <a:ext cx="6257139" cy="1323439"/>
          </a:xfrm>
          <a:prstGeom prst="rect">
            <a:avLst/>
          </a:prstGeom>
          <a:noFill/>
        </p:spPr>
        <p:txBody>
          <a:bodyPr wrap="square" rtlCol="0">
            <a:spAutoFit/>
          </a:bodyPr>
          <a:lstStyle/>
          <a:p>
            <a:r>
              <a:rPr lang="en-US" sz="2000" b="1" dirty="0">
                <a:latin typeface="Aptos" panose="020B0004020202020204" pitchFamily="34" charset="0"/>
              </a:rPr>
              <a:t>Dynamic resource</a:t>
            </a:r>
            <a:r>
              <a:rPr lang="en-US" sz="2000" dirty="0">
                <a:latin typeface="Aptos" panose="020B0004020202020204" pitchFamily="34" charset="0"/>
              </a:rPr>
              <a:t>: the pointed entity can change over time. At some time, the resource «the latest version of document X» will point to the same entity of «the revision 1.1 of document X». </a:t>
            </a:r>
          </a:p>
        </p:txBody>
      </p:sp>
      <p:cxnSp>
        <p:nvCxnSpPr>
          <p:cNvPr id="7" name="Connettore 2 6"/>
          <p:cNvCxnSpPr/>
          <p:nvPr/>
        </p:nvCxnSpPr>
        <p:spPr>
          <a:xfrm flipV="1">
            <a:off x="5257800" y="3224463"/>
            <a:ext cx="336168"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Segnaposto numero diapositiva 7"/>
          <p:cNvSpPr>
            <a:spLocks noGrp="1"/>
          </p:cNvSpPr>
          <p:nvPr>
            <p:ph type="sldNum" sz="quarter" idx="12"/>
          </p:nvPr>
        </p:nvSpPr>
        <p:spPr/>
        <p:txBody>
          <a:bodyPr/>
          <a:lstStyle/>
          <a:p>
            <a:fld id="{31DE2C5B-556E-47B8-A792-024C2FCA4ACC}" type="slidenum">
              <a:rPr lang="en-GB" smtClean="0"/>
              <a:t>14</a:t>
            </a:fld>
            <a:endParaRPr lang="en-GB"/>
          </a:p>
        </p:txBody>
      </p:sp>
    </p:spTree>
    <p:extLst>
      <p:ext uri="{BB962C8B-B14F-4D97-AF65-F5344CB8AC3E}">
        <p14:creationId xmlns:p14="http://schemas.microsoft.com/office/powerpoint/2010/main" val="3120884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Resource </a:t>
            </a:r>
            <a:r>
              <a:rPr lang="it-IT" dirty="0" err="1"/>
              <a:t>representations</a:t>
            </a:r>
            <a:endParaRPr lang="en-GB" dirty="0"/>
          </a:p>
        </p:txBody>
      </p:sp>
      <p:sp>
        <p:nvSpPr>
          <p:cNvPr id="3" name="Segnaposto contenuto 2"/>
          <p:cNvSpPr>
            <a:spLocks noGrp="1"/>
          </p:cNvSpPr>
          <p:nvPr>
            <p:ph idx="1"/>
          </p:nvPr>
        </p:nvSpPr>
        <p:spPr/>
        <p:txBody>
          <a:bodyPr/>
          <a:lstStyle/>
          <a:p>
            <a:r>
              <a:rPr lang="en-US" b="1" dirty="0"/>
              <a:t>Resource representation</a:t>
            </a:r>
            <a:r>
              <a:rPr lang="en-US" dirty="0"/>
              <a:t>: a view of the current state (or realization) of the resource at the time of the request. </a:t>
            </a:r>
          </a:p>
          <a:p>
            <a:r>
              <a:rPr lang="en-US" dirty="0"/>
              <a:t>In a client-server interaction, the client asks to the server a resource (by the resource identifier), and the server answers by sending the corresponding resource representation. </a:t>
            </a:r>
          </a:p>
          <a:p>
            <a:r>
              <a:rPr lang="en-US" b="1" dirty="0"/>
              <a:t>Note</a:t>
            </a:r>
            <a:r>
              <a:rPr lang="en-US" dirty="0"/>
              <a:t>: The representation sent to the client is not necessarily the same used to store the data in the server.  </a:t>
            </a:r>
          </a:p>
          <a:p>
            <a:endParaRPr lang="en-GB" dirty="0"/>
          </a:p>
        </p:txBody>
      </p:sp>
      <p:sp>
        <p:nvSpPr>
          <p:cNvPr id="4" name="Rettangolo 3"/>
          <p:cNvSpPr/>
          <p:nvPr/>
        </p:nvSpPr>
        <p:spPr>
          <a:xfrm>
            <a:off x="1714500" y="4677276"/>
            <a:ext cx="2225842"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800" dirty="0">
                <a:latin typeface="Aptos" panose="020B0004020202020204" pitchFamily="34" charset="0"/>
              </a:rPr>
              <a:t>Client</a:t>
            </a:r>
            <a:endParaRPr lang="en-GB" sz="2800" dirty="0">
              <a:latin typeface="Aptos" panose="020B0004020202020204" pitchFamily="34" charset="0"/>
            </a:endParaRPr>
          </a:p>
        </p:txBody>
      </p:sp>
      <p:sp>
        <p:nvSpPr>
          <p:cNvPr id="5" name="Rettangolo 4"/>
          <p:cNvSpPr/>
          <p:nvPr/>
        </p:nvSpPr>
        <p:spPr>
          <a:xfrm>
            <a:off x="8339890" y="4265195"/>
            <a:ext cx="2225842" cy="2111542"/>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it-IT" sz="2400" dirty="0">
                <a:latin typeface="Aptos" panose="020B0004020202020204" pitchFamily="34" charset="0"/>
              </a:rPr>
              <a:t>Server</a:t>
            </a:r>
          </a:p>
        </p:txBody>
      </p:sp>
      <p:cxnSp>
        <p:nvCxnSpPr>
          <p:cNvPr id="7" name="Connettore 2 6"/>
          <p:cNvCxnSpPr/>
          <p:nvPr/>
        </p:nvCxnSpPr>
        <p:spPr>
          <a:xfrm flipV="1">
            <a:off x="4421605" y="4746458"/>
            <a:ext cx="3410953" cy="24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CasellaDiTesto 8"/>
          <p:cNvSpPr txBox="1"/>
          <p:nvPr/>
        </p:nvSpPr>
        <p:spPr>
          <a:xfrm>
            <a:off x="5075183" y="4310555"/>
            <a:ext cx="2358190" cy="369332"/>
          </a:xfrm>
          <a:prstGeom prst="rect">
            <a:avLst/>
          </a:prstGeom>
          <a:noFill/>
        </p:spPr>
        <p:txBody>
          <a:bodyPr wrap="square" rtlCol="0">
            <a:spAutoFit/>
          </a:bodyPr>
          <a:lstStyle/>
          <a:p>
            <a:r>
              <a:rPr lang="it-IT" dirty="0">
                <a:latin typeface="Aptos" panose="020B0004020202020204" pitchFamily="34" charset="0"/>
              </a:rPr>
              <a:t>Resource </a:t>
            </a:r>
            <a:r>
              <a:rPr lang="it-IT" dirty="0" err="1">
                <a:latin typeface="Aptos" panose="020B0004020202020204" pitchFamily="34" charset="0"/>
              </a:rPr>
              <a:t>identifier</a:t>
            </a:r>
            <a:endParaRPr lang="en-GB" dirty="0">
              <a:latin typeface="Aptos" panose="020B0004020202020204" pitchFamily="34" charset="0"/>
            </a:endParaRPr>
          </a:p>
        </p:txBody>
      </p:sp>
      <p:cxnSp>
        <p:nvCxnSpPr>
          <p:cNvPr id="10" name="Connettore 2 9"/>
          <p:cNvCxnSpPr/>
          <p:nvPr/>
        </p:nvCxnSpPr>
        <p:spPr>
          <a:xfrm flipH="1">
            <a:off x="4421605" y="5759639"/>
            <a:ext cx="33848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e 13"/>
          <p:cNvSpPr/>
          <p:nvPr/>
        </p:nvSpPr>
        <p:spPr>
          <a:xfrm>
            <a:off x="8844214" y="4882291"/>
            <a:ext cx="1217194" cy="87734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latin typeface="Aptos" panose="020B0004020202020204" pitchFamily="34" charset="0"/>
              </a:rPr>
              <a:t>Entity</a:t>
            </a:r>
            <a:endParaRPr lang="en-GB" dirty="0">
              <a:latin typeface="Aptos" panose="020B0004020202020204" pitchFamily="34" charset="0"/>
            </a:endParaRPr>
          </a:p>
          <a:p>
            <a:pPr algn="ctr"/>
            <a:endParaRPr lang="it-IT" dirty="0">
              <a:latin typeface="Aptos" panose="020B0004020202020204" pitchFamily="34" charset="0"/>
            </a:endParaRPr>
          </a:p>
        </p:txBody>
      </p:sp>
      <p:sp>
        <p:nvSpPr>
          <p:cNvPr id="15" name="Rettangolo 14"/>
          <p:cNvSpPr/>
          <p:nvPr/>
        </p:nvSpPr>
        <p:spPr>
          <a:xfrm>
            <a:off x="8201814" y="4634527"/>
            <a:ext cx="264695" cy="13301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6" name="Rettangolo 15"/>
          <p:cNvSpPr/>
          <p:nvPr/>
        </p:nvSpPr>
        <p:spPr>
          <a:xfrm>
            <a:off x="3807994" y="4806569"/>
            <a:ext cx="264695"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cxnSp>
        <p:nvCxnSpPr>
          <p:cNvPr id="19" name="Connettore 2 18"/>
          <p:cNvCxnSpPr/>
          <p:nvPr/>
        </p:nvCxnSpPr>
        <p:spPr>
          <a:xfrm>
            <a:off x="8515784" y="4770521"/>
            <a:ext cx="475247" cy="18648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p:cNvCxnSpPr/>
          <p:nvPr/>
        </p:nvCxnSpPr>
        <p:spPr>
          <a:xfrm flipH="1">
            <a:off x="8515784" y="5618747"/>
            <a:ext cx="423679" cy="232001"/>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4" name="CasellaDiTesto 23"/>
          <p:cNvSpPr txBox="1"/>
          <p:nvPr/>
        </p:nvSpPr>
        <p:spPr>
          <a:xfrm>
            <a:off x="8835765" y="5269287"/>
            <a:ext cx="1553076" cy="307777"/>
          </a:xfrm>
          <a:prstGeom prst="rect">
            <a:avLst/>
          </a:prstGeom>
          <a:noFill/>
        </p:spPr>
        <p:txBody>
          <a:bodyPr wrap="square" rtlCol="0">
            <a:spAutoFit/>
          </a:bodyPr>
          <a:lstStyle/>
          <a:p>
            <a:r>
              <a:rPr lang="it-IT" sz="1400" dirty="0">
                <a:solidFill>
                  <a:schemeClr val="bg1"/>
                </a:solidFill>
                <a:latin typeface="Aptos" panose="020B0004020202020204" pitchFamily="34" charset="0"/>
              </a:rPr>
              <a:t>(</a:t>
            </a:r>
            <a:r>
              <a:rPr lang="it-IT" sz="1400" dirty="0" err="1">
                <a:solidFill>
                  <a:schemeClr val="bg1"/>
                </a:solidFill>
                <a:latin typeface="Aptos" panose="020B0004020202020204" pitchFamily="34" charset="0"/>
              </a:rPr>
              <a:t>raw</a:t>
            </a:r>
            <a:r>
              <a:rPr lang="it-IT" sz="1400" dirty="0">
                <a:solidFill>
                  <a:schemeClr val="bg1"/>
                </a:solidFill>
                <a:latin typeface="Aptos" panose="020B0004020202020204" pitchFamily="34" charset="0"/>
              </a:rPr>
              <a:t> format)</a:t>
            </a:r>
            <a:endParaRPr lang="en-GB" sz="1400" dirty="0">
              <a:solidFill>
                <a:schemeClr val="bg1"/>
              </a:solidFill>
              <a:latin typeface="Aptos" panose="020B0004020202020204" pitchFamily="34" charset="0"/>
            </a:endParaRPr>
          </a:p>
        </p:txBody>
      </p:sp>
      <p:sp>
        <p:nvSpPr>
          <p:cNvPr id="25" name="Pentagono regolare 24"/>
          <p:cNvSpPr/>
          <p:nvPr/>
        </p:nvSpPr>
        <p:spPr>
          <a:xfrm>
            <a:off x="5075184" y="5047540"/>
            <a:ext cx="1957564" cy="876830"/>
          </a:xfrm>
          <a:prstGeom prst="pentag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3" name="CasellaDiTesto 12"/>
          <p:cNvSpPr txBox="1"/>
          <p:nvPr/>
        </p:nvSpPr>
        <p:spPr>
          <a:xfrm>
            <a:off x="5075183" y="5180682"/>
            <a:ext cx="1949116" cy="646331"/>
          </a:xfrm>
          <a:prstGeom prst="rect">
            <a:avLst/>
          </a:prstGeom>
          <a:noFill/>
        </p:spPr>
        <p:txBody>
          <a:bodyPr wrap="square" rtlCol="0">
            <a:spAutoFit/>
          </a:bodyPr>
          <a:lstStyle/>
          <a:p>
            <a:pPr algn="ctr"/>
            <a:r>
              <a:rPr lang="it-IT" dirty="0">
                <a:solidFill>
                  <a:schemeClr val="bg1"/>
                </a:solidFill>
                <a:latin typeface="Aptos" panose="020B0004020202020204" pitchFamily="34" charset="0"/>
              </a:rPr>
              <a:t>Resource </a:t>
            </a:r>
            <a:r>
              <a:rPr lang="it-IT" dirty="0" err="1">
                <a:solidFill>
                  <a:schemeClr val="bg1"/>
                </a:solidFill>
                <a:latin typeface="Aptos" panose="020B0004020202020204" pitchFamily="34" charset="0"/>
              </a:rPr>
              <a:t>representation</a:t>
            </a:r>
            <a:endParaRPr lang="en-GB" dirty="0">
              <a:solidFill>
                <a:schemeClr val="bg1"/>
              </a:solidFill>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15</a:t>
            </a:fld>
            <a:endParaRPr lang="en-GB"/>
          </a:p>
        </p:txBody>
      </p:sp>
    </p:spTree>
    <p:extLst>
      <p:ext uri="{BB962C8B-B14F-4D97-AF65-F5344CB8AC3E}">
        <p14:creationId xmlns:p14="http://schemas.microsoft.com/office/powerpoint/2010/main" val="194815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REST self-</a:t>
            </a:r>
            <a:r>
              <a:rPr lang="it-IT" dirty="0" err="1"/>
              <a:t>descriptive</a:t>
            </a:r>
            <a:r>
              <a:rPr lang="it-IT" dirty="0"/>
              <a:t> </a:t>
            </a:r>
            <a:r>
              <a:rPr lang="it-IT" dirty="0" err="1"/>
              <a:t>messages</a:t>
            </a:r>
            <a:endParaRPr lang="en-GB" dirty="0"/>
          </a:p>
        </p:txBody>
      </p:sp>
      <p:sp>
        <p:nvSpPr>
          <p:cNvPr id="4" name="Rettangolo 3"/>
          <p:cNvSpPr/>
          <p:nvPr/>
        </p:nvSpPr>
        <p:spPr>
          <a:xfrm>
            <a:off x="473459" y="3308140"/>
            <a:ext cx="2225842"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800" dirty="0">
                <a:latin typeface="Aptos" panose="020B0004020202020204" pitchFamily="34" charset="0"/>
              </a:rPr>
              <a:t>Client</a:t>
            </a:r>
            <a:endParaRPr lang="en-GB" sz="2800" dirty="0">
              <a:latin typeface="Aptos" panose="020B0004020202020204" pitchFamily="34" charset="0"/>
            </a:endParaRPr>
          </a:p>
        </p:txBody>
      </p:sp>
      <p:sp>
        <p:nvSpPr>
          <p:cNvPr id="5" name="Rettangolo 4"/>
          <p:cNvSpPr/>
          <p:nvPr/>
        </p:nvSpPr>
        <p:spPr>
          <a:xfrm>
            <a:off x="9035497" y="2971801"/>
            <a:ext cx="2225842" cy="2111542"/>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it-IT" sz="2400" dirty="0">
                <a:latin typeface="Aptos" panose="020B0004020202020204" pitchFamily="34" charset="0"/>
              </a:rPr>
              <a:t>Server</a:t>
            </a:r>
          </a:p>
        </p:txBody>
      </p:sp>
      <p:cxnSp>
        <p:nvCxnSpPr>
          <p:cNvPr id="6" name="Connettore 2 5"/>
          <p:cNvCxnSpPr/>
          <p:nvPr/>
        </p:nvCxnSpPr>
        <p:spPr>
          <a:xfrm>
            <a:off x="3441031" y="3595773"/>
            <a:ext cx="486677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p:cNvCxnSpPr/>
          <p:nvPr/>
        </p:nvCxnSpPr>
        <p:spPr>
          <a:xfrm flipH="1">
            <a:off x="3441031" y="4351945"/>
            <a:ext cx="4788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e 8"/>
          <p:cNvSpPr/>
          <p:nvPr/>
        </p:nvSpPr>
        <p:spPr>
          <a:xfrm>
            <a:off x="9539821" y="3588897"/>
            <a:ext cx="1217194" cy="87734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latin typeface="Aptos" panose="020B0004020202020204" pitchFamily="34" charset="0"/>
              </a:rPr>
              <a:t>Entity</a:t>
            </a:r>
            <a:endParaRPr lang="en-GB" dirty="0">
              <a:latin typeface="Aptos" panose="020B0004020202020204" pitchFamily="34" charset="0"/>
            </a:endParaRPr>
          </a:p>
          <a:p>
            <a:pPr algn="ctr"/>
            <a:endParaRPr lang="it-IT" dirty="0">
              <a:latin typeface="Aptos" panose="020B0004020202020204" pitchFamily="34" charset="0"/>
            </a:endParaRPr>
          </a:p>
        </p:txBody>
      </p:sp>
      <p:sp>
        <p:nvSpPr>
          <p:cNvPr id="10" name="Rettangolo 9"/>
          <p:cNvSpPr/>
          <p:nvPr/>
        </p:nvSpPr>
        <p:spPr>
          <a:xfrm>
            <a:off x="8897421" y="3341133"/>
            <a:ext cx="264695" cy="13301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1" name="Rettangolo 10"/>
          <p:cNvSpPr/>
          <p:nvPr/>
        </p:nvSpPr>
        <p:spPr>
          <a:xfrm>
            <a:off x="2566953" y="3437433"/>
            <a:ext cx="264695"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cxnSp>
        <p:nvCxnSpPr>
          <p:cNvPr id="12" name="Connettore 2 11"/>
          <p:cNvCxnSpPr/>
          <p:nvPr/>
        </p:nvCxnSpPr>
        <p:spPr>
          <a:xfrm>
            <a:off x="9211391" y="3477127"/>
            <a:ext cx="475247" cy="18648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p:cNvCxnSpPr/>
          <p:nvPr/>
        </p:nvCxnSpPr>
        <p:spPr>
          <a:xfrm flipH="1">
            <a:off x="9211391" y="4325353"/>
            <a:ext cx="423679" cy="232001"/>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CasellaDiTesto 13"/>
          <p:cNvSpPr txBox="1"/>
          <p:nvPr/>
        </p:nvSpPr>
        <p:spPr>
          <a:xfrm>
            <a:off x="9531372" y="3975893"/>
            <a:ext cx="1553076" cy="307777"/>
          </a:xfrm>
          <a:prstGeom prst="rect">
            <a:avLst/>
          </a:prstGeom>
          <a:noFill/>
        </p:spPr>
        <p:txBody>
          <a:bodyPr wrap="square" rtlCol="0">
            <a:spAutoFit/>
          </a:bodyPr>
          <a:lstStyle/>
          <a:p>
            <a:r>
              <a:rPr lang="it-IT" sz="1400" dirty="0">
                <a:solidFill>
                  <a:schemeClr val="bg1"/>
                </a:solidFill>
                <a:latin typeface="Aptos" panose="020B0004020202020204" pitchFamily="34" charset="0"/>
              </a:rPr>
              <a:t>(</a:t>
            </a:r>
            <a:r>
              <a:rPr lang="it-IT" sz="1400" dirty="0" err="1">
                <a:solidFill>
                  <a:schemeClr val="bg1"/>
                </a:solidFill>
                <a:latin typeface="Aptos" panose="020B0004020202020204" pitchFamily="34" charset="0"/>
              </a:rPr>
              <a:t>raw</a:t>
            </a:r>
            <a:r>
              <a:rPr lang="it-IT" sz="1400" dirty="0">
                <a:solidFill>
                  <a:schemeClr val="bg1"/>
                </a:solidFill>
                <a:latin typeface="Aptos" panose="020B0004020202020204" pitchFamily="34" charset="0"/>
              </a:rPr>
              <a:t> format)</a:t>
            </a:r>
            <a:endParaRPr lang="en-GB" sz="1400" dirty="0">
              <a:solidFill>
                <a:schemeClr val="bg1"/>
              </a:solidFill>
              <a:latin typeface="Aptos" panose="020B0004020202020204" pitchFamily="34" charset="0"/>
            </a:endParaRPr>
          </a:p>
        </p:txBody>
      </p:sp>
      <p:sp>
        <p:nvSpPr>
          <p:cNvPr id="17" name="Rettangolo arrotondato 16"/>
          <p:cNvSpPr/>
          <p:nvPr/>
        </p:nvSpPr>
        <p:spPr>
          <a:xfrm>
            <a:off x="3774689" y="4557354"/>
            <a:ext cx="4138863" cy="2100055"/>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b="1" dirty="0">
                <a:solidFill>
                  <a:schemeClr val="tx1"/>
                </a:solidFill>
                <a:latin typeface="Aptos" panose="020B0004020202020204" pitchFamily="34" charset="0"/>
              </a:rPr>
              <a:t>REST </a:t>
            </a:r>
            <a:r>
              <a:rPr lang="it-IT" b="1" dirty="0" err="1">
                <a:solidFill>
                  <a:schemeClr val="tx1"/>
                </a:solidFill>
                <a:latin typeface="Aptos" panose="020B0004020202020204" pitchFamily="34" charset="0"/>
              </a:rPr>
              <a:t>response</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message</a:t>
            </a:r>
            <a:endParaRPr lang="en-GB" b="1" dirty="0">
              <a:solidFill>
                <a:schemeClr val="tx1"/>
              </a:solidFill>
              <a:latin typeface="Aptos" panose="020B0004020202020204" pitchFamily="34" charset="0"/>
            </a:endParaRPr>
          </a:p>
        </p:txBody>
      </p:sp>
      <p:sp>
        <p:nvSpPr>
          <p:cNvPr id="18" name="Rettangolo arrotondato 17"/>
          <p:cNvSpPr/>
          <p:nvPr/>
        </p:nvSpPr>
        <p:spPr>
          <a:xfrm>
            <a:off x="3949365" y="5691188"/>
            <a:ext cx="1852863" cy="84320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err="1">
                <a:latin typeface="Aptos" panose="020B0004020202020204" pitchFamily="34" charset="0"/>
              </a:rPr>
              <a:t>Representation</a:t>
            </a:r>
            <a:endParaRPr lang="it-IT" sz="1600" dirty="0">
              <a:latin typeface="Aptos" panose="020B0004020202020204" pitchFamily="34" charset="0"/>
            </a:endParaRPr>
          </a:p>
          <a:p>
            <a:pPr algn="ctr"/>
            <a:r>
              <a:rPr lang="it-IT" sz="1600" dirty="0">
                <a:latin typeface="Aptos" panose="020B0004020202020204" pitchFamily="34" charset="0"/>
              </a:rPr>
              <a:t>(optional)</a:t>
            </a:r>
            <a:endParaRPr lang="en-GB" sz="1600" dirty="0">
              <a:latin typeface="Aptos" panose="020B0004020202020204" pitchFamily="34" charset="0"/>
            </a:endParaRPr>
          </a:p>
        </p:txBody>
      </p:sp>
      <p:sp>
        <p:nvSpPr>
          <p:cNvPr id="19" name="Rettangolo arrotondato 18"/>
          <p:cNvSpPr/>
          <p:nvPr/>
        </p:nvSpPr>
        <p:spPr>
          <a:xfrm>
            <a:off x="5913521" y="5691187"/>
            <a:ext cx="1852863" cy="843207"/>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Resource </a:t>
            </a:r>
            <a:r>
              <a:rPr lang="it-IT" sz="1600" dirty="0" err="1">
                <a:latin typeface="Aptos" panose="020B0004020202020204" pitchFamily="34" charset="0"/>
              </a:rPr>
              <a:t>metadata</a:t>
            </a:r>
            <a:r>
              <a:rPr lang="it-IT" sz="1600" dirty="0">
                <a:latin typeface="Aptos" panose="020B0004020202020204" pitchFamily="34" charset="0"/>
              </a:rPr>
              <a:t> (optional)</a:t>
            </a:r>
            <a:endParaRPr lang="en-GB" sz="1600" dirty="0">
              <a:latin typeface="Aptos" panose="020B0004020202020204" pitchFamily="34" charset="0"/>
            </a:endParaRPr>
          </a:p>
        </p:txBody>
      </p:sp>
      <p:sp>
        <p:nvSpPr>
          <p:cNvPr id="20" name="Rettangolo arrotondato 19"/>
          <p:cNvSpPr/>
          <p:nvPr/>
        </p:nvSpPr>
        <p:spPr>
          <a:xfrm>
            <a:off x="5093366" y="5072180"/>
            <a:ext cx="1574133" cy="558599"/>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Control data</a:t>
            </a:r>
          </a:p>
          <a:p>
            <a:pPr algn="ctr"/>
            <a:r>
              <a:rPr lang="it-IT" sz="1600" dirty="0">
                <a:latin typeface="Aptos" panose="020B0004020202020204" pitchFamily="34" charset="0"/>
              </a:rPr>
              <a:t>(</a:t>
            </a:r>
            <a:r>
              <a:rPr lang="it-IT" sz="1600" dirty="0" err="1">
                <a:latin typeface="Aptos" panose="020B0004020202020204" pitchFamily="34" charset="0"/>
              </a:rPr>
              <a:t>mandatory</a:t>
            </a:r>
            <a:r>
              <a:rPr lang="it-IT" sz="1600" dirty="0">
                <a:latin typeface="Aptos" panose="020B0004020202020204" pitchFamily="34" charset="0"/>
              </a:rPr>
              <a:t>)</a:t>
            </a:r>
            <a:endParaRPr lang="en-GB" sz="1600" dirty="0">
              <a:latin typeface="Aptos" panose="020B0004020202020204" pitchFamily="34" charset="0"/>
            </a:endParaRPr>
          </a:p>
        </p:txBody>
      </p:sp>
      <p:sp>
        <p:nvSpPr>
          <p:cNvPr id="21" name="Rettangolo arrotondato 20"/>
          <p:cNvSpPr/>
          <p:nvPr/>
        </p:nvSpPr>
        <p:spPr>
          <a:xfrm>
            <a:off x="3821246" y="1313892"/>
            <a:ext cx="4138863" cy="2076473"/>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b="1" dirty="0">
                <a:solidFill>
                  <a:schemeClr val="tx1"/>
                </a:solidFill>
                <a:latin typeface="Aptos" panose="020B0004020202020204" pitchFamily="34" charset="0"/>
              </a:rPr>
              <a:t>REST </a:t>
            </a:r>
            <a:r>
              <a:rPr lang="it-IT" b="1" dirty="0" err="1">
                <a:solidFill>
                  <a:schemeClr val="tx1"/>
                </a:solidFill>
                <a:latin typeface="Aptos" panose="020B0004020202020204" pitchFamily="34" charset="0"/>
              </a:rPr>
              <a:t>request</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message</a:t>
            </a:r>
            <a:endParaRPr lang="en-GB" b="1" dirty="0">
              <a:solidFill>
                <a:schemeClr val="tx1"/>
              </a:solidFill>
              <a:latin typeface="Aptos" panose="020B0004020202020204" pitchFamily="34" charset="0"/>
            </a:endParaRPr>
          </a:p>
        </p:txBody>
      </p:sp>
      <p:sp>
        <p:nvSpPr>
          <p:cNvPr id="22" name="Rettangolo arrotondato 21"/>
          <p:cNvSpPr/>
          <p:nvPr/>
        </p:nvSpPr>
        <p:spPr>
          <a:xfrm>
            <a:off x="5029200" y="2720001"/>
            <a:ext cx="1852863" cy="623972"/>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err="1">
                <a:latin typeface="Aptos" panose="020B0004020202020204" pitchFamily="34" charset="0"/>
              </a:rPr>
              <a:t>Representation</a:t>
            </a:r>
            <a:endParaRPr lang="it-IT" sz="1600" dirty="0">
              <a:latin typeface="Aptos" panose="020B0004020202020204" pitchFamily="34" charset="0"/>
            </a:endParaRPr>
          </a:p>
          <a:p>
            <a:pPr algn="ctr"/>
            <a:r>
              <a:rPr lang="it-IT" sz="1600" dirty="0">
                <a:latin typeface="Aptos" panose="020B0004020202020204" pitchFamily="34" charset="0"/>
              </a:rPr>
              <a:t>(optional)</a:t>
            </a:r>
            <a:endParaRPr lang="en-GB" sz="1600" dirty="0">
              <a:latin typeface="Aptos" panose="020B0004020202020204" pitchFamily="34" charset="0"/>
            </a:endParaRPr>
          </a:p>
        </p:txBody>
      </p:sp>
      <p:sp>
        <p:nvSpPr>
          <p:cNvPr id="23" name="Rettangolo arrotondato 22"/>
          <p:cNvSpPr/>
          <p:nvPr/>
        </p:nvSpPr>
        <p:spPr>
          <a:xfrm>
            <a:off x="5835031" y="1806657"/>
            <a:ext cx="2062847" cy="84320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Resource </a:t>
            </a:r>
            <a:r>
              <a:rPr lang="it-IT" sz="1600" dirty="0" err="1">
                <a:latin typeface="Aptos" panose="020B0004020202020204" pitchFamily="34" charset="0"/>
              </a:rPr>
              <a:t>identifier</a:t>
            </a:r>
            <a:endParaRPr lang="it-IT" sz="1600" dirty="0">
              <a:latin typeface="Aptos" panose="020B0004020202020204" pitchFamily="34" charset="0"/>
            </a:endParaRPr>
          </a:p>
          <a:p>
            <a:pPr algn="ctr"/>
            <a:r>
              <a:rPr lang="it-IT" sz="1600" dirty="0">
                <a:latin typeface="Aptos" panose="020B0004020202020204" pitchFamily="34" charset="0"/>
              </a:rPr>
              <a:t>(</a:t>
            </a:r>
            <a:r>
              <a:rPr lang="it-IT" sz="1600" dirty="0" err="1">
                <a:latin typeface="Aptos" panose="020B0004020202020204" pitchFamily="34" charset="0"/>
              </a:rPr>
              <a:t>mandatory</a:t>
            </a:r>
            <a:r>
              <a:rPr lang="it-IT" sz="1600" dirty="0">
                <a:latin typeface="Aptos" panose="020B0004020202020204" pitchFamily="34" charset="0"/>
              </a:rPr>
              <a:t>)</a:t>
            </a:r>
            <a:endParaRPr lang="en-GB" sz="1600" dirty="0">
              <a:latin typeface="Aptos" panose="020B0004020202020204" pitchFamily="34" charset="0"/>
            </a:endParaRPr>
          </a:p>
        </p:txBody>
      </p:sp>
      <p:sp>
        <p:nvSpPr>
          <p:cNvPr id="24" name="Rettangolo arrotondato 23"/>
          <p:cNvSpPr/>
          <p:nvPr/>
        </p:nvSpPr>
        <p:spPr>
          <a:xfrm>
            <a:off x="3978875" y="1828719"/>
            <a:ext cx="1574133" cy="82114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Control data</a:t>
            </a:r>
          </a:p>
          <a:p>
            <a:pPr algn="ctr"/>
            <a:r>
              <a:rPr lang="it-IT" sz="1600" dirty="0">
                <a:latin typeface="Aptos" panose="020B0004020202020204" pitchFamily="34" charset="0"/>
              </a:rPr>
              <a:t>(</a:t>
            </a:r>
            <a:r>
              <a:rPr lang="it-IT" sz="1600" dirty="0" err="1">
                <a:latin typeface="Aptos" panose="020B0004020202020204" pitchFamily="34" charset="0"/>
              </a:rPr>
              <a:t>mandatory</a:t>
            </a:r>
            <a:r>
              <a:rPr lang="it-IT" sz="1600" dirty="0">
                <a:latin typeface="Aptos" panose="020B0004020202020204" pitchFamily="34" charset="0"/>
              </a:rPr>
              <a:t>)</a:t>
            </a:r>
            <a:endParaRPr lang="en-GB" sz="1600" dirty="0">
              <a:latin typeface="Aptos" panose="020B0004020202020204" pitchFamily="34" charset="0"/>
            </a:endParaRPr>
          </a:p>
        </p:txBody>
      </p:sp>
      <p:sp>
        <p:nvSpPr>
          <p:cNvPr id="3" name="Segnaposto numero diapositiva 2"/>
          <p:cNvSpPr>
            <a:spLocks noGrp="1"/>
          </p:cNvSpPr>
          <p:nvPr>
            <p:ph type="sldNum" sz="quarter" idx="12"/>
          </p:nvPr>
        </p:nvSpPr>
        <p:spPr/>
        <p:txBody>
          <a:bodyPr/>
          <a:lstStyle/>
          <a:p>
            <a:fld id="{31DE2C5B-556E-47B8-A792-024C2FCA4ACC}" type="slidenum">
              <a:rPr lang="en-GB" smtClean="0"/>
              <a:t>16</a:t>
            </a:fld>
            <a:endParaRPr lang="en-GB"/>
          </a:p>
        </p:txBody>
      </p:sp>
    </p:spTree>
    <p:extLst>
      <p:ext uri="{BB962C8B-B14F-4D97-AF65-F5344CB8AC3E}">
        <p14:creationId xmlns:p14="http://schemas.microsoft.com/office/powerpoint/2010/main" val="1812340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Resource </a:t>
            </a:r>
            <a:r>
              <a:rPr lang="it-IT" dirty="0" err="1"/>
              <a:t>representations</a:t>
            </a:r>
            <a:r>
              <a:rPr lang="it-IT" dirty="0"/>
              <a:t> and REST </a:t>
            </a:r>
            <a:r>
              <a:rPr lang="it-IT" dirty="0" err="1"/>
              <a:t>messages</a:t>
            </a:r>
            <a:endParaRPr lang="en-GB" dirty="0"/>
          </a:p>
        </p:txBody>
      </p:sp>
      <p:sp>
        <p:nvSpPr>
          <p:cNvPr id="3" name="Segnaposto contenuto 2"/>
          <p:cNvSpPr>
            <a:spLocks noGrp="1"/>
          </p:cNvSpPr>
          <p:nvPr>
            <p:ph idx="1"/>
          </p:nvPr>
        </p:nvSpPr>
        <p:spPr>
          <a:xfrm>
            <a:off x="428172" y="1361167"/>
            <a:ext cx="11368314" cy="4564145"/>
          </a:xfrm>
        </p:spPr>
        <p:txBody>
          <a:bodyPr>
            <a:normAutofit/>
          </a:bodyPr>
          <a:lstStyle/>
          <a:p>
            <a:r>
              <a:rPr lang="en-US" dirty="0"/>
              <a:t>A resource </a:t>
            </a:r>
            <a:r>
              <a:rPr lang="en-US" b="1" dirty="0"/>
              <a:t>representation</a:t>
            </a:r>
            <a:r>
              <a:rPr lang="en-US" dirty="0"/>
              <a:t> includes: </a:t>
            </a:r>
          </a:p>
          <a:p>
            <a:pPr lvl="1"/>
            <a:r>
              <a:rPr lang="en-US" sz="2200" b="1" dirty="0"/>
              <a:t>Data</a:t>
            </a:r>
            <a:r>
              <a:rPr lang="en-US" sz="2200" dirty="0"/>
              <a:t> (the actual representation)</a:t>
            </a:r>
          </a:p>
          <a:p>
            <a:pPr lvl="1"/>
            <a:r>
              <a:rPr lang="en-US" sz="2200" b="1" dirty="0"/>
              <a:t>Metadata</a:t>
            </a:r>
            <a:r>
              <a:rPr lang="en-US" sz="2200" dirty="0"/>
              <a:t> (description of the representation)</a:t>
            </a:r>
            <a:r>
              <a:rPr lang="en-US" sz="2200" dirty="0">
                <a:sym typeface="Wingdings" panose="05000000000000000000" pitchFamily="2" charset="2"/>
              </a:rPr>
              <a:t>  </a:t>
            </a:r>
            <a:r>
              <a:rPr lang="en-GB" sz="2200" dirty="0"/>
              <a:t>typically, not displayed to the end user (e.g., data type, creation date, version number, …) </a:t>
            </a:r>
          </a:p>
          <a:p>
            <a:r>
              <a:rPr lang="en-US" dirty="0">
                <a:sym typeface="Wingdings" panose="05000000000000000000" pitchFamily="2" charset="2"/>
              </a:rPr>
              <a:t>The resource representation is provided to the client within a </a:t>
            </a:r>
            <a:r>
              <a:rPr lang="en-US" b="1" dirty="0">
                <a:sym typeface="Wingdings" panose="05000000000000000000" pitchFamily="2" charset="2"/>
              </a:rPr>
              <a:t>response message </a:t>
            </a:r>
            <a:r>
              <a:rPr lang="en-US" dirty="0">
                <a:sym typeface="Wingdings" panose="05000000000000000000" pitchFamily="2" charset="2"/>
              </a:rPr>
              <a:t>that contains some additional contents:</a:t>
            </a:r>
          </a:p>
          <a:p>
            <a:pPr lvl="1"/>
            <a:r>
              <a:rPr lang="en-US" sz="2200" b="1" dirty="0">
                <a:sym typeface="Wingdings" panose="05000000000000000000" pitchFamily="2" charset="2"/>
              </a:rPr>
              <a:t>Resource metadata (optional)</a:t>
            </a:r>
            <a:r>
              <a:rPr lang="en-US" sz="2200" dirty="0">
                <a:sym typeface="Wingdings" panose="05000000000000000000" pitchFamily="2" charset="2"/>
              </a:rPr>
              <a:t>: </a:t>
            </a:r>
            <a:r>
              <a:rPr lang="en-GB" sz="2200" dirty="0">
                <a:sym typeface="Wingdings" panose="05000000000000000000" pitchFamily="2" charset="2"/>
              </a:rPr>
              <a:t>additional information about the resource that exists on the server (e.g., alternate text to be displayed in the event an image representation cannot be displayed for some reason). </a:t>
            </a:r>
            <a:endParaRPr lang="en-US" sz="2200" dirty="0">
              <a:sym typeface="Wingdings" panose="05000000000000000000" pitchFamily="2" charset="2"/>
            </a:endParaRPr>
          </a:p>
          <a:p>
            <a:pPr lvl="1"/>
            <a:r>
              <a:rPr lang="en-US" sz="2200" b="1" dirty="0">
                <a:sym typeface="Wingdings" panose="05000000000000000000" pitchFamily="2" charset="2"/>
              </a:rPr>
              <a:t>Control data (mandatory)</a:t>
            </a:r>
            <a:r>
              <a:rPr lang="en-US" sz="2200" dirty="0">
                <a:sym typeface="Wingdings" panose="05000000000000000000" pitchFamily="2" charset="2"/>
              </a:rPr>
              <a:t>: it deals with the v</a:t>
            </a:r>
            <a:r>
              <a:rPr lang="en-GB" sz="2200" dirty="0" err="1"/>
              <a:t>alidity</a:t>
            </a:r>
            <a:r>
              <a:rPr lang="en-GB" sz="2200" dirty="0"/>
              <a:t> of the resource and its representation on the client (e.g., if data is cacheable, the expiry time, a checksum for checking integrity, …).</a:t>
            </a:r>
          </a:p>
          <a:p>
            <a:pPr lvl="1"/>
            <a:endParaRPr lang="it-IT" dirty="0"/>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17</a:t>
            </a:fld>
            <a:endParaRPr lang="en-GB"/>
          </a:p>
        </p:txBody>
      </p:sp>
    </p:spTree>
    <p:extLst>
      <p:ext uri="{BB962C8B-B14F-4D97-AF65-F5344CB8AC3E}">
        <p14:creationId xmlns:p14="http://schemas.microsoft.com/office/powerpoint/2010/main" val="203690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arrotondato 4"/>
          <p:cNvSpPr/>
          <p:nvPr/>
        </p:nvSpPr>
        <p:spPr>
          <a:xfrm>
            <a:off x="320040" y="1325880"/>
            <a:ext cx="4419600" cy="3970020"/>
          </a:xfrm>
          <a:prstGeom prst="roundRect">
            <a:avLst>
              <a:gd name="adj" fmla="val 973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itolo 1"/>
          <p:cNvSpPr>
            <a:spLocks noGrp="1"/>
          </p:cNvSpPr>
          <p:nvPr>
            <p:ph type="title"/>
          </p:nvPr>
        </p:nvSpPr>
        <p:spPr/>
        <p:txBody>
          <a:bodyPr/>
          <a:lstStyle/>
          <a:p>
            <a:r>
              <a:rPr lang="it-IT" dirty="0" err="1"/>
              <a:t>Summary</a:t>
            </a:r>
            <a:r>
              <a:rPr lang="it-IT" dirty="0"/>
              <a:t> of REST</a:t>
            </a:r>
            <a:endParaRPr lang="en-GB" dirty="0"/>
          </a:p>
        </p:txBody>
      </p:sp>
      <p:sp>
        <p:nvSpPr>
          <p:cNvPr id="3" name="Segnaposto contenuto 2"/>
          <p:cNvSpPr>
            <a:spLocks noGrp="1"/>
          </p:cNvSpPr>
          <p:nvPr>
            <p:ph idx="1"/>
          </p:nvPr>
        </p:nvSpPr>
        <p:spPr>
          <a:xfrm>
            <a:off x="4984932" y="1561168"/>
            <a:ext cx="6917508" cy="3828053"/>
          </a:xfrm>
        </p:spPr>
        <p:txBody>
          <a:bodyPr>
            <a:normAutofit fontScale="92500" lnSpcReduction="10000"/>
          </a:bodyPr>
          <a:lstStyle/>
          <a:p>
            <a:r>
              <a:rPr lang="en-US" dirty="0"/>
              <a:t>The uniform interface is realized through the definition of abstract </a:t>
            </a:r>
            <a:r>
              <a:rPr lang="en-US" b="1" dirty="0"/>
              <a:t>resources</a:t>
            </a:r>
          </a:p>
          <a:p>
            <a:pPr lvl="1"/>
            <a:r>
              <a:rPr lang="en-US" sz="1900" dirty="0"/>
              <a:t>Each resource is identified by a </a:t>
            </a:r>
            <a:r>
              <a:rPr lang="en-US" sz="1900" b="1" dirty="0"/>
              <a:t>resource identifier</a:t>
            </a:r>
          </a:p>
          <a:p>
            <a:pPr lvl="1"/>
            <a:r>
              <a:rPr lang="en-US" sz="1900" dirty="0"/>
              <a:t>The realization of a resource is an </a:t>
            </a:r>
            <a:r>
              <a:rPr lang="en-US" sz="1900" b="1" dirty="0"/>
              <a:t>entity</a:t>
            </a:r>
          </a:p>
          <a:p>
            <a:pPr lvl="1"/>
            <a:r>
              <a:rPr lang="en-US" sz="1900" dirty="0"/>
              <a:t>A resource is manipulated by resource </a:t>
            </a:r>
            <a:r>
              <a:rPr lang="en-US" sz="1900" b="1" dirty="0"/>
              <a:t>representations</a:t>
            </a:r>
            <a:r>
              <a:rPr lang="en-US" sz="1900" dirty="0"/>
              <a:t> that reflect the current realization of the resource</a:t>
            </a:r>
          </a:p>
          <a:p>
            <a:pPr lvl="1"/>
            <a:r>
              <a:rPr lang="en-US" sz="1900" dirty="0"/>
              <a:t>Representations can be sent from server to client (or </a:t>
            </a:r>
            <a:r>
              <a:rPr lang="en-US" sz="1900" dirty="0" err="1"/>
              <a:t>viceversa</a:t>
            </a:r>
            <a:r>
              <a:rPr lang="en-US" sz="1900" dirty="0"/>
              <a:t>) encapsulating them in a </a:t>
            </a:r>
            <a:r>
              <a:rPr lang="en-US" sz="1900" b="1" dirty="0"/>
              <a:t>self-explained message </a:t>
            </a:r>
          </a:p>
          <a:p>
            <a:pPr lvl="1"/>
            <a:r>
              <a:rPr lang="en-US" sz="1900" dirty="0"/>
              <a:t>A request message must include </a:t>
            </a:r>
            <a:r>
              <a:rPr lang="en-US" sz="1900" b="1" dirty="0"/>
              <a:t>control data </a:t>
            </a:r>
            <a:r>
              <a:rPr lang="en-US" sz="1900" dirty="0"/>
              <a:t>(mandatory), resource identifier (mandatory) and representation’s data and metadata (optional)</a:t>
            </a:r>
          </a:p>
          <a:p>
            <a:pPr lvl="1"/>
            <a:r>
              <a:rPr lang="en-US" sz="1900" dirty="0"/>
              <a:t> A response message must include control data (mandatory), representation’s data and metadata (optional) and </a:t>
            </a:r>
            <a:r>
              <a:rPr lang="en-US" sz="1900" b="1" dirty="0"/>
              <a:t>resource metadata </a:t>
            </a:r>
            <a:r>
              <a:rPr lang="en-US" sz="1900" dirty="0"/>
              <a:t>(optional)</a:t>
            </a:r>
            <a:endParaRPr lang="it-IT" sz="1900" dirty="0"/>
          </a:p>
          <a:p>
            <a:endParaRPr lang="en-GB" sz="2200" dirty="0"/>
          </a:p>
        </p:txBody>
      </p:sp>
      <p:sp>
        <p:nvSpPr>
          <p:cNvPr id="4" name="Segnaposto contenuto 2"/>
          <p:cNvSpPr txBox="1">
            <a:spLocks/>
          </p:cNvSpPr>
          <p:nvPr/>
        </p:nvSpPr>
        <p:spPr>
          <a:xfrm>
            <a:off x="428172" y="1467847"/>
            <a:ext cx="4783908" cy="410237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ptos" panose="020B0004020202020204" pitchFamily="34" charset="0"/>
              </a:rPr>
              <a:t>An architectural style for </a:t>
            </a:r>
            <a:r>
              <a:rPr lang="en-US" b="1" dirty="0">
                <a:latin typeface="Aptos" panose="020B0004020202020204" pitchFamily="34" charset="0"/>
              </a:rPr>
              <a:t>distributed hypermedia </a:t>
            </a:r>
            <a:r>
              <a:rPr lang="en-US" dirty="0">
                <a:latin typeface="Aptos" panose="020B0004020202020204" pitchFamily="34" charset="0"/>
              </a:rPr>
              <a:t>systems</a:t>
            </a:r>
          </a:p>
          <a:p>
            <a:r>
              <a:rPr lang="en-US" dirty="0">
                <a:latin typeface="Aptos" panose="020B0004020202020204" pitchFamily="34" charset="0"/>
              </a:rPr>
              <a:t>6 constraints</a:t>
            </a:r>
          </a:p>
          <a:p>
            <a:pPr lvl="1"/>
            <a:r>
              <a:rPr lang="en-US" b="1" dirty="0">
                <a:latin typeface="Aptos" panose="020B0004020202020204" pitchFamily="34" charset="0"/>
              </a:rPr>
              <a:t>Client-server</a:t>
            </a:r>
            <a:r>
              <a:rPr lang="en-US" dirty="0">
                <a:latin typeface="Aptos" panose="020B0004020202020204" pitchFamily="34" charset="0"/>
              </a:rPr>
              <a:t> architecture</a:t>
            </a:r>
          </a:p>
          <a:p>
            <a:pPr lvl="1"/>
            <a:r>
              <a:rPr lang="en-US" b="1" dirty="0">
                <a:latin typeface="Aptos" panose="020B0004020202020204" pitchFamily="34" charset="0"/>
              </a:rPr>
              <a:t>Stateless</a:t>
            </a:r>
            <a:r>
              <a:rPr lang="en-US" dirty="0">
                <a:latin typeface="Aptos" panose="020B0004020202020204" pitchFamily="34" charset="0"/>
              </a:rPr>
              <a:t> communication</a:t>
            </a:r>
          </a:p>
          <a:p>
            <a:pPr lvl="1"/>
            <a:r>
              <a:rPr lang="en-US" b="1" dirty="0">
                <a:latin typeface="Aptos" panose="020B0004020202020204" pitchFamily="34" charset="0"/>
              </a:rPr>
              <a:t>Cache</a:t>
            </a:r>
            <a:r>
              <a:rPr lang="en-US" dirty="0">
                <a:latin typeface="Aptos" panose="020B0004020202020204" pitchFamily="34" charset="0"/>
              </a:rPr>
              <a:t> constraint</a:t>
            </a:r>
          </a:p>
          <a:p>
            <a:pPr lvl="1"/>
            <a:r>
              <a:rPr lang="en-US" b="1" dirty="0">
                <a:latin typeface="Aptos" panose="020B0004020202020204" pitchFamily="34" charset="0"/>
              </a:rPr>
              <a:t>Uniform interface</a:t>
            </a:r>
          </a:p>
          <a:p>
            <a:pPr lvl="1"/>
            <a:r>
              <a:rPr lang="en-US" b="1" dirty="0">
                <a:latin typeface="Aptos" panose="020B0004020202020204" pitchFamily="34" charset="0"/>
              </a:rPr>
              <a:t>Layered</a:t>
            </a:r>
            <a:r>
              <a:rPr lang="en-US" dirty="0">
                <a:latin typeface="Aptos" panose="020B0004020202020204" pitchFamily="34" charset="0"/>
              </a:rPr>
              <a:t> system</a:t>
            </a:r>
          </a:p>
          <a:p>
            <a:pPr lvl="1"/>
            <a:r>
              <a:rPr lang="en-US" b="1" dirty="0">
                <a:latin typeface="Aptos" panose="020B0004020202020204" pitchFamily="34" charset="0"/>
              </a:rPr>
              <a:t>Code-on-demand</a:t>
            </a:r>
            <a:r>
              <a:rPr lang="en-US" dirty="0">
                <a:latin typeface="Aptos" panose="020B0004020202020204" pitchFamily="34" charset="0"/>
              </a:rPr>
              <a:t> (optional)</a:t>
            </a:r>
          </a:p>
        </p:txBody>
      </p:sp>
      <p:sp>
        <p:nvSpPr>
          <p:cNvPr id="6" name="Rettangolo arrotondato 5"/>
          <p:cNvSpPr/>
          <p:nvPr/>
        </p:nvSpPr>
        <p:spPr>
          <a:xfrm>
            <a:off x="4984932" y="1325880"/>
            <a:ext cx="6917508" cy="3970020"/>
          </a:xfrm>
          <a:prstGeom prst="roundRect">
            <a:avLst>
              <a:gd name="adj" fmla="val 973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7" name="Rettangolo arrotondato 6"/>
          <p:cNvSpPr/>
          <p:nvPr/>
        </p:nvSpPr>
        <p:spPr>
          <a:xfrm>
            <a:off x="320040" y="5460735"/>
            <a:ext cx="11582400" cy="964022"/>
          </a:xfrm>
          <a:prstGeom prst="roundRect">
            <a:avLst>
              <a:gd name="adj" fmla="val 2712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400" dirty="0">
                <a:solidFill>
                  <a:schemeClr val="tx1"/>
                </a:solidFill>
                <a:latin typeface="Aptos" panose="020B0004020202020204" pitchFamily="34" charset="0"/>
              </a:rPr>
              <a:t>The REST </a:t>
            </a:r>
            <a:r>
              <a:rPr lang="it-IT" sz="2400" dirty="0" err="1">
                <a:solidFill>
                  <a:schemeClr val="tx1"/>
                </a:solidFill>
                <a:latin typeface="Aptos" panose="020B0004020202020204" pitchFamily="34" charset="0"/>
              </a:rPr>
              <a:t>paradigm</a:t>
            </a:r>
            <a:r>
              <a:rPr lang="it-IT" sz="2400" dirty="0">
                <a:solidFill>
                  <a:schemeClr val="tx1"/>
                </a:solidFill>
                <a:latin typeface="Aptos" panose="020B0004020202020204" pitchFamily="34" charset="0"/>
              </a:rPr>
              <a:t> </a:t>
            </a:r>
            <a:r>
              <a:rPr lang="en-GB" sz="2400" dirty="0">
                <a:solidFill>
                  <a:schemeClr val="tx1"/>
                </a:solidFill>
                <a:latin typeface="Aptos" panose="020B0004020202020204" pitchFamily="34" charset="0"/>
              </a:rPr>
              <a:t>increases performance, scalability, simplicity, modifiability, visibility, portability, and reliability of the system.</a:t>
            </a:r>
            <a:r>
              <a:rPr lang="it-IT" sz="2400" dirty="0">
                <a:solidFill>
                  <a:schemeClr val="tx1"/>
                </a:solidFill>
                <a:latin typeface="Aptos" panose="020B0004020202020204" pitchFamily="34" charset="0"/>
              </a:rPr>
              <a:t> </a:t>
            </a:r>
            <a:endParaRPr lang="en-GB" sz="2400" dirty="0">
              <a:solidFill>
                <a:schemeClr val="tx1"/>
              </a:solidFill>
              <a:latin typeface="Aptos" panose="020B0004020202020204" pitchFamily="34" charset="0"/>
            </a:endParaRPr>
          </a:p>
        </p:txBody>
      </p:sp>
      <p:sp>
        <p:nvSpPr>
          <p:cNvPr id="8" name="Segnaposto numero diapositiva 7"/>
          <p:cNvSpPr>
            <a:spLocks noGrp="1"/>
          </p:cNvSpPr>
          <p:nvPr>
            <p:ph type="sldNum" sz="quarter" idx="12"/>
          </p:nvPr>
        </p:nvSpPr>
        <p:spPr/>
        <p:txBody>
          <a:bodyPr/>
          <a:lstStyle/>
          <a:p>
            <a:fld id="{31DE2C5B-556E-47B8-A792-024C2FCA4ACC}" type="slidenum">
              <a:rPr lang="en-GB" smtClean="0"/>
              <a:t>18</a:t>
            </a:fld>
            <a:endParaRPr lang="en-GB"/>
          </a:p>
        </p:txBody>
      </p:sp>
    </p:spTree>
    <p:extLst>
      <p:ext uri="{BB962C8B-B14F-4D97-AF65-F5344CB8AC3E}">
        <p14:creationId xmlns:p14="http://schemas.microsoft.com/office/powerpoint/2010/main" val="1574201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Application </a:t>
            </a:r>
            <a:r>
              <a:rPr lang="it-IT" dirty="0" err="1"/>
              <a:t>programming</a:t>
            </a:r>
            <a:r>
              <a:rPr lang="it-IT" dirty="0"/>
              <a:t> </a:t>
            </a:r>
            <a:r>
              <a:rPr lang="it-IT" dirty="0" err="1"/>
              <a:t>interface</a:t>
            </a:r>
            <a:r>
              <a:rPr lang="it-IT" dirty="0"/>
              <a:t> (API)</a:t>
            </a:r>
            <a:endParaRPr lang="en-GB" dirty="0"/>
          </a:p>
        </p:txBody>
      </p:sp>
      <p:sp>
        <p:nvSpPr>
          <p:cNvPr id="3" name="Segnaposto contenuto 2"/>
          <p:cNvSpPr>
            <a:spLocks noGrp="1"/>
          </p:cNvSpPr>
          <p:nvPr>
            <p:ph idx="1"/>
          </p:nvPr>
        </p:nvSpPr>
        <p:spPr>
          <a:xfrm>
            <a:off x="428171" y="1361166"/>
            <a:ext cx="8807883" cy="5407849"/>
          </a:xfrm>
        </p:spPr>
        <p:txBody>
          <a:bodyPr>
            <a:normAutofit/>
          </a:bodyPr>
          <a:lstStyle/>
          <a:p>
            <a:r>
              <a:rPr lang="en-GB" dirty="0"/>
              <a:t>Two separate applications need an </a:t>
            </a:r>
            <a:r>
              <a:rPr lang="en-GB" b="1" dirty="0"/>
              <a:t>intermediary</a:t>
            </a:r>
            <a:r>
              <a:rPr lang="en-GB" dirty="0"/>
              <a:t> to talk to each other and to allow one application to access the information or functionality of the other.</a:t>
            </a:r>
          </a:p>
          <a:p>
            <a:endParaRPr lang="en-GB" dirty="0"/>
          </a:p>
          <a:p>
            <a:r>
              <a:rPr lang="en-GB" b="1" dirty="0"/>
              <a:t>Application programming interface (API): </a:t>
            </a:r>
            <a:r>
              <a:rPr lang="en-GB" dirty="0"/>
              <a:t>a connection or interface between computer programs, which </a:t>
            </a:r>
            <a:r>
              <a:rPr lang="en-GB" b="1" dirty="0"/>
              <a:t>defines how</a:t>
            </a:r>
            <a:r>
              <a:rPr lang="en-GB" dirty="0"/>
              <a:t> the systems can interact. </a:t>
            </a:r>
          </a:p>
          <a:p>
            <a:pPr lvl="1"/>
            <a:r>
              <a:rPr lang="en-GB" sz="2400" dirty="0"/>
              <a:t>The kind of requests that can be made to a system</a:t>
            </a:r>
          </a:p>
          <a:p>
            <a:pPr lvl="1"/>
            <a:r>
              <a:rPr lang="en-GB" sz="2400" dirty="0"/>
              <a:t>How to make them</a:t>
            </a:r>
          </a:p>
          <a:p>
            <a:pPr lvl="1"/>
            <a:r>
              <a:rPr lang="en-GB" sz="2400" dirty="0"/>
              <a:t>The data formats that should be used</a:t>
            </a:r>
          </a:p>
          <a:p>
            <a:pPr lvl="1"/>
            <a:r>
              <a:rPr lang="en-GB" sz="2400" dirty="0"/>
              <a:t>The conventions to follow</a:t>
            </a:r>
          </a:p>
          <a:p>
            <a:pPr lvl="1"/>
            <a:endParaRPr lang="en-GB" sz="2400" dirty="0"/>
          </a:p>
          <a:p>
            <a:r>
              <a:rPr lang="en-GB" dirty="0"/>
              <a:t>In contrast to a user interface, which connects a computer to a person, the </a:t>
            </a:r>
            <a:r>
              <a:rPr lang="en-GB" b="1" dirty="0"/>
              <a:t>API connects pieces of software</a:t>
            </a:r>
            <a:endParaRPr lang="en-GB"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19</a:t>
            </a:fld>
            <a:endParaRPr lang="en-GB"/>
          </a:p>
        </p:txBody>
      </p:sp>
      <p:pic>
        <p:nvPicPr>
          <p:cNvPr id="5" name="Picture 4" descr="A cloud with arrows and a gear with text&#10;&#10;Description automatically generated with medium confidence">
            <a:extLst>
              <a:ext uri="{FF2B5EF4-FFF2-40B4-BE49-F238E27FC236}">
                <a16:creationId xmlns:a16="http://schemas.microsoft.com/office/drawing/2014/main" id="{32B078CF-A673-1DCE-45D7-003127FB2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2014" y="2520950"/>
            <a:ext cx="2244472" cy="2244472"/>
          </a:xfrm>
          <a:prstGeom prst="rect">
            <a:avLst/>
          </a:prstGeom>
        </p:spPr>
      </p:pic>
    </p:spTree>
    <p:extLst>
      <p:ext uri="{BB962C8B-B14F-4D97-AF65-F5344CB8AC3E}">
        <p14:creationId xmlns:p14="http://schemas.microsoft.com/office/powerpoint/2010/main" val="400550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Application </a:t>
            </a:r>
            <a:r>
              <a:rPr lang="it-IT" dirty="0" err="1"/>
              <a:t>programming</a:t>
            </a:r>
            <a:r>
              <a:rPr lang="it-IT" dirty="0"/>
              <a:t> </a:t>
            </a:r>
            <a:r>
              <a:rPr lang="it-IT" dirty="0" err="1"/>
              <a:t>interface</a:t>
            </a:r>
            <a:r>
              <a:rPr lang="it-IT" dirty="0"/>
              <a:t> (API)</a:t>
            </a:r>
            <a:endParaRPr lang="en-GB" dirty="0"/>
          </a:p>
        </p:txBody>
      </p:sp>
      <p:sp>
        <p:nvSpPr>
          <p:cNvPr id="3" name="Segnaposto contenuto 2"/>
          <p:cNvSpPr>
            <a:spLocks noGrp="1"/>
          </p:cNvSpPr>
          <p:nvPr>
            <p:ph idx="1"/>
          </p:nvPr>
        </p:nvSpPr>
        <p:spPr>
          <a:xfrm>
            <a:off x="428172" y="1361167"/>
            <a:ext cx="11368314" cy="5180782"/>
          </a:xfrm>
        </p:spPr>
        <p:txBody>
          <a:bodyPr>
            <a:normAutofit fontScale="92500" lnSpcReduction="10000"/>
          </a:bodyPr>
          <a:lstStyle/>
          <a:p>
            <a:r>
              <a:rPr lang="en-GB" dirty="0"/>
              <a:t>Why do we need API? To allow </a:t>
            </a:r>
            <a:r>
              <a:rPr lang="en-GB" b="1" dirty="0"/>
              <a:t>interoperability</a:t>
            </a:r>
            <a:r>
              <a:rPr lang="en-GB" dirty="0"/>
              <a:t>, i.e., to allow multiple systems to cooperate.</a:t>
            </a:r>
          </a:p>
          <a:p>
            <a:endParaRPr lang="en-GB" dirty="0"/>
          </a:p>
          <a:p>
            <a:r>
              <a:rPr lang="en-GB" dirty="0"/>
              <a:t>An API defines how two software systems can interact while hiding the internal details of how each system works. The API exposes only those parts that are needed for the systems to interact and keeps them consistent even if the internal details of the systems later change </a:t>
            </a:r>
            <a:r>
              <a:rPr lang="en-GB" dirty="0">
                <a:sym typeface="Wingdings" panose="05000000000000000000" pitchFamily="2" charset="2"/>
              </a:rPr>
              <a:t> </a:t>
            </a:r>
            <a:r>
              <a:rPr lang="en-GB" b="1" dirty="0">
                <a:sym typeface="Wingdings" panose="05000000000000000000" pitchFamily="2" charset="2"/>
              </a:rPr>
              <a:t>Modular programming</a:t>
            </a:r>
          </a:p>
          <a:p>
            <a:endParaRPr lang="en-GB" b="1" dirty="0"/>
          </a:p>
          <a:p>
            <a:r>
              <a:rPr lang="it-IT" dirty="0"/>
              <a:t>The API</a:t>
            </a:r>
            <a:r>
              <a:rPr lang="en-GB" dirty="0"/>
              <a:t> is often made up of different tools or services that other applications can call. </a:t>
            </a:r>
          </a:p>
          <a:p>
            <a:endParaRPr lang="en-GB" dirty="0"/>
          </a:p>
          <a:p>
            <a:r>
              <a:rPr lang="en-GB" b="1" dirty="0"/>
              <a:t>API specification: </a:t>
            </a:r>
            <a:r>
              <a:rPr lang="en-GB" dirty="0"/>
              <a:t>a document or standard describing how to build or use the API tools or services. </a:t>
            </a:r>
          </a:p>
          <a:p>
            <a:endParaRPr lang="en-GB" dirty="0"/>
          </a:p>
          <a:p>
            <a:r>
              <a:rPr lang="en-GB" dirty="0"/>
              <a:t>An API may be </a:t>
            </a:r>
            <a:r>
              <a:rPr lang="en-GB" b="1" dirty="0"/>
              <a:t>custom-built</a:t>
            </a:r>
            <a:r>
              <a:rPr lang="en-GB" dirty="0"/>
              <a:t> for a particular pair of systems, or it may be a </a:t>
            </a:r>
            <a:r>
              <a:rPr lang="en-GB" b="1" dirty="0"/>
              <a:t>shared standard </a:t>
            </a:r>
            <a:r>
              <a:rPr lang="en-GB" dirty="0"/>
              <a:t>allowing interoperability among many systems.</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20</a:t>
            </a:fld>
            <a:endParaRPr lang="en-GB"/>
          </a:p>
        </p:txBody>
      </p:sp>
    </p:spTree>
    <p:extLst>
      <p:ext uri="{BB962C8B-B14F-4D97-AF65-F5344CB8AC3E}">
        <p14:creationId xmlns:p14="http://schemas.microsoft.com/office/powerpoint/2010/main" val="192611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Web API</a:t>
            </a:r>
            <a:endParaRPr lang="en-GB" dirty="0"/>
          </a:p>
        </p:txBody>
      </p:sp>
      <p:sp>
        <p:nvSpPr>
          <p:cNvPr id="3" name="Segnaposto contenuto 2"/>
          <p:cNvSpPr>
            <a:spLocks noGrp="1"/>
          </p:cNvSpPr>
          <p:nvPr>
            <p:ph idx="1"/>
          </p:nvPr>
        </p:nvSpPr>
        <p:spPr>
          <a:xfrm>
            <a:off x="428172" y="1361167"/>
            <a:ext cx="11514784" cy="4858203"/>
          </a:xfrm>
        </p:spPr>
        <p:txBody>
          <a:bodyPr/>
          <a:lstStyle/>
          <a:p>
            <a:r>
              <a:rPr lang="en-US" b="1" dirty="0"/>
              <a:t>Web API</a:t>
            </a:r>
            <a:r>
              <a:rPr lang="en-US" dirty="0"/>
              <a:t>: an interface for clients and servers that allows them to interact through the Web.</a:t>
            </a:r>
          </a:p>
          <a:p>
            <a:r>
              <a:rPr lang="en-US" b="1" dirty="0"/>
              <a:t>Server-side Web API</a:t>
            </a:r>
            <a:r>
              <a:rPr lang="en-US" dirty="0"/>
              <a:t>: the interface of a Web server towards the Web. It consists of one or more publicly exposed </a:t>
            </a:r>
            <a:r>
              <a:rPr lang="en-US" b="1" dirty="0"/>
              <a:t>endpoints</a:t>
            </a:r>
            <a:r>
              <a:rPr lang="en-US" dirty="0"/>
              <a:t>. </a:t>
            </a:r>
          </a:p>
          <a:p>
            <a:pPr lvl="1"/>
            <a:r>
              <a:rPr lang="en-US" sz="2400" dirty="0"/>
              <a:t>Endpoints: the URLs which specify where the resources that can be accessed by clients lie. </a:t>
            </a:r>
          </a:p>
          <a:p>
            <a:r>
              <a:rPr lang="en-US" b="1" dirty="0"/>
              <a:t>Client-side Web API</a:t>
            </a:r>
            <a:r>
              <a:rPr lang="en-US" dirty="0"/>
              <a:t>: a software interface that a client uses to send requests to a server-side Web API. </a:t>
            </a:r>
          </a:p>
          <a:p>
            <a:pPr lvl="1"/>
            <a:r>
              <a:rPr lang="en-US" sz="2400" dirty="0"/>
              <a:t>It allows a client web browser or web application to extend its functionality, by exploiting resources (data, programs, more in general services) provided by Web servers.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21</a:t>
            </a:fld>
            <a:endParaRPr lang="en-GB"/>
          </a:p>
        </p:txBody>
      </p:sp>
    </p:spTree>
    <p:extLst>
      <p:ext uri="{BB962C8B-B14F-4D97-AF65-F5344CB8AC3E}">
        <p14:creationId xmlns:p14="http://schemas.microsoft.com/office/powerpoint/2010/main" val="318760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Request-response</a:t>
            </a:r>
            <a:r>
              <a:rPr lang="it-IT" dirty="0"/>
              <a:t> Web API</a:t>
            </a:r>
            <a:endParaRPr lang="en-GB" dirty="0"/>
          </a:p>
        </p:txBody>
      </p:sp>
      <p:sp>
        <p:nvSpPr>
          <p:cNvPr id="4" name="Rettangolo 3"/>
          <p:cNvSpPr/>
          <p:nvPr/>
        </p:nvSpPr>
        <p:spPr>
          <a:xfrm>
            <a:off x="1602658" y="2315082"/>
            <a:ext cx="2119198"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latin typeface="Aptos" panose="020B0004020202020204" pitchFamily="34" charset="0"/>
              </a:rPr>
              <a:t>Client</a:t>
            </a:r>
          </a:p>
        </p:txBody>
      </p:sp>
      <p:sp>
        <p:nvSpPr>
          <p:cNvPr id="5" name="Rettangolo 4"/>
          <p:cNvSpPr/>
          <p:nvPr/>
        </p:nvSpPr>
        <p:spPr>
          <a:xfrm>
            <a:off x="3589508" y="2444375"/>
            <a:ext cx="264695" cy="986043"/>
          </a:xfrm>
          <a:prstGeom prst="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Aptos" panose="020B0004020202020204" pitchFamily="34" charset="0"/>
            </a:endParaRPr>
          </a:p>
        </p:txBody>
      </p:sp>
      <p:sp>
        <p:nvSpPr>
          <p:cNvPr id="6" name="Rettangolo 5"/>
          <p:cNvSpPr/>
          <p:nvPr/>
        </p:nvSpPr>
        <p:spPr>
          <a:xfrm>
            <a:off x="8186865" y="2315082"/>
            <a:ext cx="293442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latin typeface="Aptos" panose="020B0004020202020204" pitchFamily="34" charset="0"/>
              </a:rPr>
              <a:t>Server</a:t>
            </a:r>
          </a:p>
        </p:txBody>
      </p:sp>
      <p:sp>
        <p:nvSpPr>
          <p:cNvPr id="7" name="Rettangolo 6"/>
          <p:cNvSpPr/>
          <p:nvPr/>
        </p:nvSpPr>
        <p:spPr>
          <a:xfrm>
            <a:off x="7688826" y="2444375"/>
            <a:ext cx="1248698" cy="986043"/>
          </a:xfrm>
          <a:prstGeom prst="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Aptos" panose="020B0004020202020204" pitchFamily="34" charset="0"/>
            </a:endParaRPr>
          </a:p>
        </p:txBody>
      </p:sp>
      <p:cxnSp>
        <p:nvCxnSpPr>
          <p:cNvPr id="8" name="Connettore 2 7"/>
          <p:cNvCxnSpPr/>
          <p:nvPr/>
        </p:nvCxnSpPr>
        <p:spPr>
          <a:xfrm flipV="1">
            <a:off x="4182710" y="2444375"/>
            <a:ext cx="3410953" cy="24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p:cNvCxnSpPr/>
          <p:nvPr/>
        </p:nvCxnSpPr>
        <p:spPr>
          <a:xfrm flipH="1">
            <a:off x="4182710" y="3457556"/>
            <a:ext cx="33848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CasellaDiTesto 9"/>
          <p:cNvSpPr txBox="1"/>
          <p:nvPr/>
        </p:nvSpPr>
        <p:spPr>
          <a:xfrm>
            <a:off x="4937996" y="1847177"/>
            <a:ext cx="2152018" cy="461665"/>
          </a:xfrm>
          <a:prstGeom prst="rect">
            <a:avLst/>
          </a:prstGeom>
          <a:noFill/>
        </p:spPr>
        <p:txBody>
          <a:bodyPr wrap="square" rtlCol="0">
            <a:spAutoFit/>
          </a:bodyPr>
          <a:lstStyle/>
          <a:p>
            <a:r>
              <a:rPr lang="en-US" sz="2400" dirty="0">
                <a:latin typeface="Aptos" panose="020B0004020202020204" pitchFamily="34" charset="0"/>
              </a:rPr>
              <a:t>HTTP request</a:t>
            </a:r>
          </a:p>
        </p:txBody>
      </p:sp>
      <p:sp>
        <p:nvSpPr>
          <p:cNvPr id="11" name="CasellaDiTesto 10"/>
          <p:cNvSpPr txBox="1"/>
          <p:nvPr/>
        </p:nvSpPr>
        <p:spPr>
          <a:xfrm>
            <a:off x="4937996" y="2853419"/>
            <a:ext cx="2348665" cy="461665"/>
          </a:xfrm>
          <a:prstGeom prst="rect">
            <a:avLst/>
          </a:prstGeom>
          <a:noFill/>
        </p:spPr>
        <p:txBody>
          <a:bodyPr wrap="square" rtlCol="0">
            <a:spAutoFit/>
          </a:bodyPr>
          <a:lstStyle/>
          <a:p>
            <a:r>
              <a:rPr lang="en-US" sz="2400" dirty="0">
                <a:latin typeface="Aptos" panose="020B0004020202020204" pitchFamily="34" charset="0"/>
              </a:rPr>
              <a:t>HTTP response</a:t>
            </a:r>
          </a:p>
        </p:txBody>
      </p:sp>
      <p:sp>
        <p:nvSpPr>
          <p:cNvPr id="12" name="CasellaDiTesto 11"/>
          <p:cNvSpPr txBox="1"/>
          <p:nvPr/>
        </p:nvSpPr>
        <p:spPr>
          <a:xfrm>
            <a:off x="2124113" y="4239837"/>
            <a:ext cx="3195484" cy="1569660"/>
          </a:xfrm>
          <a:prstGeom prst="rect">
            <a:avLst/>
          </a:prstGeom>
          <a:noFill/>
        </p:spPr>
        <p:txBody>
          <a:bodyPr wrap="square" rtlCol="0">
            <a:spAutoFit/>
          </a:bodyPr>
          <a:lstStyle/>
          <a:p>
            <a:pPr algn="ctr"/>
            <a:r>
              <a:rPr lang="en-US" sz="2400" b="1" dirty="0">
                <a:latin typeface="Aptos" panose="020B0004020202020204" pitchFamily="34" charset="0"/>
              </a:rPr>
              <a:t>Client-side API</a:t>
            </a:r>
            <a:r>
              <a:rPr lang="en-US" sz="2400" dirty="0">
                <a:latin typeface="Aptos" panose="020B0004020202020204" pitchFamily="34" charset="0"/>
              </a:rPr>
              <a:t>: </a:t>
            </a:r>
          </a:p>
          <a:p>
            <a:pPr algn="ctr"/>
            <a:r>
              <a:rPr lang="en-US" sz="2400" dirty="0">
                <a:latin typeface="Aptos" panose="020B0004020202020204" pitchFamily="34" charset="0"/>
              </a:rPr>
              <a:t>The piece of software that sends requests to the server.</a:t>
            </a:r>
          </a:p>
        </p:txBody>
      </p:sp>
      <p:sp>
        <p:nvSpPr>
          <p:cNvPr id="13" name="CasellaDiTesto 12"/>
          <p:cNvSpPr txBox="1"/>
          <p:nvPr/>
        </p:nvSpPr>
        <p:spPr>
          <a:xfrm>
            <a:off x="6275071" y="4239837"/>
            <a:ext cx="3823585" cy="1938992"/>
          </a:xfrm>
          <a:prstGeom prst="rect">
            <a:avLst/>
          </a:prstGeom>
          <a:noFill/>
        </p:spPr>
        <p:txBody>
          <a:bodyPr wrap="square" rtlCol="0">
            <a:spAutoFit/>
          </a:bodyPr>
          <a:lstStyle/>
          <a:p>
            <a:pPr algn="ctr"/>
            <a:r>
              <a:rPr lang="en-US" sz="2400" b="1" dirty="0">
                <a:latin typeface="Aptos" panose="020B0004020202020204" pitchFamily="34" charset="0"/>
              </a:rPr>
              <a:t>Server-side API</a:t>
            </a:r>
            <a:r>
              <a:rPr lang="en-US" sz="2400" dirty="0">
                <a:latin typeface="Aptos" panose="020B0004020202020204" pitchFamily="34" charset="0"/>
              </a:rPr>
              <a:t>: </a:t>
            </a:r>
          </a:p>
          <a:p>
            <a:pPr algn="ctr"/>
            <a:r>
              <a:rPr lang="en-US" sz="2400" dirty="0">
                <a:latin typeface="Aptos" panose="020B0004020202020204" pitchFamily="34" charset="0"/>
              </a:rPr>
              <a:t>The piece of software that receives the requests and the endpoints that provide the requested resources.</a:t>
            </a:r>
          </a:p>
        </p:txBody>
      </p:sp>
      <p:cxnSp>
        <p:nvCxnSpPr>
          <p:cNvPr id="15" name="Connettore 2 14"/>
          <p:cNvCxnSpPr/>
          <p:nvPr/>
        </p:nvCxnSpPr>
        <p:spPr>
          <a:xfrm>
            <a:off x="3721855" y="2958771"/>
            <a:ext cx="0" cy="12810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p:cNvCxnSpPr/>
          <p:nvPr/>
        </p:nvCxnSpPr>
        <p:spPr>
          <a:xfrm flipH="1">
            <a:off x="8186861" y="3419729"/>
            <a:ext cx="2" cy="78804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p:cNvSpPr/>
          <p:nvPr/>
        </p:nvSpPr>
        <p:spPr>
          <a:xfrm>
            <a:off x="7800722" y="2499068"/>
            <a:ext cx="1063705" cy="2639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it-IT" sz="1600" dirty="0" err="1">
                <a:latin typeface="Aptos" panose="020B0004020202020204" pitchFamily="34" charset="0"/>
              </a:rPr>
              <a:t>Endpoint</a:t>
            </a:r>
            <a:endParaRPr lang="en-GB" sz="1600" dirty="0">
              <a:latin typeface="Aptos" panose="020B0004020202020204" pitchFamily="34" charset="0"/>
            </a:endParaRPr>
          </a:p>
        </p:txBody>
      </p:sp>
      <p:sp>
        <p:nvSpPr>
          <p:cNvPr id="3" name="Segnaposto numero diapositiva 2"/>
          <p:cNvSpPr>
            <a:spLocks noGrp="1"/>
          </p:cNvSpPr>
          <p:nvPr>
            <p:ph type="sldNum" sz="quarter" idx="12"/>
          </p:nvPr>
        </p:nvSpPr>
        <p:spPr/>
        <p:txBody>
          <a:bodyPr/>
          <a:lstStyle/>
          <a:p>
            <a:fld id="{31DE2C5B-556E-47B8-A792-024C2FCA4ACC}" type="slidenum">
              <a:rPr lang="en-GB" smtClean="0"/>
              <a:t>22</a:t>
            </a:fld>
            <a:endParaRPr lang="en-GB"/>
          </a:p>
        </p:txBody>
      </p:sp>
      <p:sp>
        <p:nvSpPr>
          <p:cNvPr id="14" name="Rettangolo 13"/>
          <p:cNvSpPr/>
          <p:nvPr/>
        </p:nvSpPr>
        <p:spPr>
          <a:xfrm>
            <a:off x="648075" y="1304362"/>
            <a:ext cx="10435485" cy="426848"/>
          </a:xfrm>
          <a:prstGeom prst="rect">
            <a:avLst/>
          </a:prstGeom>
        </p:spPr>
        <p:txBody>
          <a:bodyPr wrap="none">
            <a:spAutoFit/>
          </a:bodyPr>
          <a:lstStyle/>
          <a:p>
            <a:pPr marL="342900" indent="-342900">
              <a:lnSpc>
                <a:spcPct val="90000"/>
              </a:lnSpc>
              <a:buClr>
                <a:srgbClr val="00B050"/>
              </a:buClr>
              <a:buFont typeface="Wingdings" panose="05000000000000000000" pitchFamily="2" charset="2"/>
              <a:buChar char="Ø"/>
            </a:pPr>
            <a:r>
              <a:rPr lang="en-US" sz="2400" dirty="0">
                <a:latin typeface="Aptos" panose="020B0004020202020204" pitchFamily="34" charset="0"/>
              </a:rPr>
              <a:t>Most of Web APIs are request-response APIs that rely on the HTTP protocol.</a:t>
            </a:r>
          </a:p>
        </p:txBody>
      </p:sp>
      <p:sp>
        <p:nvSpPr>
          <p:cNvPr id="16" name="Rettangolo 15">
            <a:extLst>
              <a:ext uri="{FF2B5EF4-FFF2-40B4-BE49-F238E27FC236}">
                <a16:creationId xmlns:a16="http://schemas.microsoft.com/office/drawing/2014/main" id="{9B42E03C-C1C8-AD15-D420-524FD951F51B}"/>
              </a:ext>
            </a:extLst>
          </p:cNvPr>
          <p:cNvSpPr/>
          <p:nvPr/>
        </p:nvSpPr>
        <p:spPr>
          <a:xfrm>
            <a:off x="7800722" y="2805399"/>
            <a:ext cx="1063705" cy="2639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it-IT" sz="1600" dirty="0" err="1">
                <a:latin typeface="Aptos" panose="020B0004020202020204" pitchFamily="34" charset="0"/>
              </a:rPr>
              <a:t>Endpoint</a:t>
            </a:r>
            <a:endParaRPr lang="en-GB" sz="1600" dirty="0">
              <a:latin typeface="Aptos" panose="020B0004020202020204" pitchFamily="34" charset="0"/>
            </a:endParaRPr>
          </a:p>
        </p:txBody>
      </p:sp>
      <p:sp>
        <p:nvSpPr>
          <p:cNvPr id="21" name="Rettangolo 20">
            <a:extLst>
              <a:ext uri="{FF2B5EF4-FFF2-40B4-BE49-F238E27FC236}">
                <a16:creationId xmlns:a16="http://schemas.microsoft.com/office/drawing/2014/main" id="{E5D50277-CC8B-E2C9-ED07-634BD07840E0}"/>
              </a:ext>
            </a:extLst>
          </p:cNvPr>
          <p:cNvSpPr/>
          <p:nvPr/>
        </p:nvSpPr>
        <p:spPr>
          <a:xfrm>
            <a:off x="7806903" y="3124837"/>
            <a:ext cx="1063705" cy="2639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it-IT" sz="1600" dirty="0" err="1">
                <a:latin typeface="Aptos" panose="020B0004020202020204" pitchFamily="34" charset="0"/>
              </a:rPr>
              <a:t>Endpoint</a:t>
            </a:r>
            <a:endParaRPr lang="en-GB" sz="1600" dirty="0">
              <a:latin typeface="Aptos" panose="020B0004020202020204" pitchFamily="34" charset="0"/>
            </a:endParaRPr>
          </a:p>
        </p:txBody>
      </p:sp>
    </p:spTree>
    <p:extLst>
      <p:ext uri="{BB962C8B-B14F-4D97-AF65-F5344CB8AC3E}">
        <p14:creationId xmlns:p14="http://schemas.microsoft.com/office/powerpoint/2010/main" val="2807915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Examples of API in wearable sensors</a:t>
            </a:r>
          </a:p>
        </p:txBody>
      </p:sp>
      <p:sp>
        <p:nvSpPr>
          <p:cNvPr id="9" name="CasellaDiTesto 8"/>
          <p:cNvSpPr txBox="1"/>
          <p:nvPr/>
        </p:nvSpPr>
        <p:spPr>
          <a:xfrm>
            <a:off x="8630378" y="1388838"/>
            <a:ext cx="2803149" cy="400110"/>
          </a:xfrm>
          <a:prstGeom prst="rect">
            <a:avLst/>
          </a:prstGeom>
          <a:noFill/>
        </p:spPr>
        <p:txBody>
          <a:bodyPr wrap="square" rtlCol="0">
            <a:spAutoFit/>
          </a:bodyPr>
          <a:lstStyle/>
          <a:p>
            <a:pPr algn="ctr"/>
            <a:r>
              <a:rPr lang="en-US" sz="2000" dirty="0">
                <a:latin typeface="Aptos" panose="020B0004020202020204" pitchFamily="34" charset="0"/>
              </a:rPr>
              <a:t>Web application</a:t>
            </a:r>
          </a:p>
        </p:txBody>
      </p:sp>
      <p:pic>
        <p:nvPicPr>
          <p:cNvPr id="12" name="Immagine 1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l="10211"/>
          <a:stretch/>
        </p:blipFill>
        <p:spPr>
          <a:xfrm>
            <a:off x="74112" y="2995740"/>
            <a:ext cx="2336193" cy="2601863"/>
          </a:xfrm>
          <a:prstGeom prst="rect">
            <a:avLst/>
          </a:prstGeom>
        </p:spPr>
      </p:pic>
      <p:grpSp>
        <p:nvGrpSpPr>
          <p:cNvPr id="14" name="Gruppo 13"/>
          <p:cNvGrpSpPr/>
          <p:nvPr/>
        </p:nvGrpSpPr>
        <p:grpSpPr>
          <a:xfrm>
            <a:off x="8611519" y="1788948"/>
            <a:ext cx="2822008" cy="1858855"/>
            <a:chOff x="2468717" y="1160208"/>
            <a:chExt cx="5131618" cy="3607362"/>
          </a:xfrm>
        </p:grpSpPr>
        <p:pic>
          <p:nvPicPr>
            <p:cNvPr id="13" name="Immagine 12"/>
            <p:cNvPicPr>
              <a:picLocks noChangeAspect="1"/>
            </p:cNvPicPr>
            <p:nvPr/>
          </p:nvPicPr>
          <p:blipFill rotWithShape="1">
            <a:blip r:embed="rId4" cstate="print">
              <a:extLst>
                <a:ext uri="{28A0092B-C50C-407E-A947-70E740481C1C}">
                  <a14:useLocalDpi xmlns:a14="http://schemas.microsoft.com/office/drawing/2010/main" val="0"/>
                </a:ext>
              </a:extLst>
            </a:blip>
            <a:srcRect t="2151" b="32760"/>
            <a:stretch/>
          </p:blipFill>
          <p:spPr>
            <a:xfrm>
              <a:off x="2468717" y="1160208"/>
              <a:ext cx="5131618" cy="3607362"/>
            </a:xfrm>
            <a:prstGeom prst="rect">
              <a:avLst/>
            </a:prstGeom>
          </p:spPr>
        </p:pic>
        <p:pic>
          <p:nvPicPr>
            <p:cNvPr id="8" name="Immagin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41781" y="1622321"/>
              <a:ext cx="3578942" cy="2013155"/>
            </a:xfrm>
            <a:prstGeom prst="rect">
              <a:avLst/>
            </a:prstGeom>
          </p:spPr>
        </p:pic>
      </p:grpSp>
      <p:sp>
        <p:nvSpPr>
          <p:cNvPr id="15" name="CasellaDiTesto 14"/>
          <p:cNvSpPr txBox="1"/>
          <p:nvPr/>
        </p:nvSpPr>
        <p:spPr>
          <a:xfrm>
            <a:off x="218783" y="3152641"/>
            <a:ext cx="2803149" cy="400110"/>
          </a:xfrm>
          <a:prstGeom prst="rect">
            <a:avLst/>
          </a:prstGeom>
          <a:noFill/>
        </p:spPr>
        <p:txBody>
          <a:bodyPr wrap="square" rtlCol="0">
            <a:spAutoFit/>
          </a:bodyPr>
          <a:lstStyle/>
          <a:p>
            <a:r>
              <a:rPr lang="en-US" sz="2000" dirty="0">
                <a:latin typeface="Aptos" panose="020B0004020202020204" pitchFamily="34" charset="0"/>
              </a:rPr>
              <a:t>Wearable device</a:t>
            </a:r>
          </a:p>
        </p:txBody>
      </p:sp>
      <p:pic>
        <p:nvPicPr>
          <p:cNvPr id="17" name="Immagin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90503" y="3254254"/>
            <a:ext cx="988101" cy="2010706"/>
          </a:xfrm>
          <a:prstGeom prst="rect">
            <a:avLst/>
          </a:prstGeom>
        </p:spPr>
      </p:pic>
      <p:sp>
        <p:nvSpPr>
          <p:cNvPr id="18" name="CasellaDiTesto 17"/>
          <p:cNvSpPr txBox="1"/>
          <p:nvPr/>
        </p:nvSpPr>
        <p:spPr>
          <a:xfrm>
            <a:off x="3240689" y="2538556"/>
            <a:ext cx="2145712" cy="707886"/>
          </a:xfrm>
          <a:prstGeom prst="rect">
            <a:avLst/>
          </a:prstGeom>
          <a:noFill/>
        </p:spPr>
        <p:txBody>
          <a:bodyPr wrap="square" rtlCol="0">
            <a:spAutoFit/>
          </a:bodyPr>
          <a:lstStyle/>
          <a:p>
            <a:pPr algn="ctr"/>
            <a:r>
              <a:rPr lang="en-US" sz="2000" dirty="0">
                <a:latin typeface="Aptos" panose="020B0004020202020204" pitchFamily="34" charset="0"/>
              </a:rPr>
              <a:t>Proprietary mobile app</a:t>
            </a:r>
          </a:p>
        </p:txBody>
      </p:sp>
      <p:cxnSp>
        <p:nvCxnSpPr>
          <p:cNvPr id="21" name="Connettore 2 20"/>
          <p:cNvCxnSpPr/>
          <p:nvPr/>
        </p:nvCxnSpPr>
        <p:spPr>
          <a:xfrm flipV="1">
            <a:off x="2026008" y="4296672"/>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ttore 2 21"/>
          <p:cNvCxnSpPr/>
          <p:nvPr/>
        </p:nvCxnSpPr>
        <p:spPr>
          <a:xfrm flipH="1" flipV="1">
            <a:off x="1988587" y="4562110"/>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p:cNvSpPr txBox="1"/>
          <p:nvPr/>
        </p:nvSpPr>
        <p:spPr>
          <a:xfrm>
            <a:off x="1853336" y="3810122"/>
            <a:ext cx="2160596" cy="400110"/>
          </a:xfrm>
          <a:prstGeom prst="rect">
            <a:avLst/>
          </a:prstGeom>
          <a:noFill/>
        </p:spPr>
        <p:txBody>
          <a:bodyPr wrap="square" rtlCol="0">
            <a:spAutoFit/>
          </a:bodyPr>
          <a:lstStyle/>
          <a:p>
            <a:r>
              <a:rPr lang="en-US" sz="2000" dirty="0">
                <a:latin typeface="Aptos" panose="020B0004020202020204" pitchFamily="34" charset="0"/>
              </a:rPr>
              <a:t>Bluetooth API</a:t>
            </a:r>
          </a:p>
        </p:txBody>
      </p:sp>
      <p:sp>
        <p:nvSpPr>
          <p:cNvPr id="24" name="Cilindro 23"/>
          <p:cNvSpPr/>
          <p:nvPr/>
        </p:nvSpPr>
        <p:spPr>
          <a:xfrm>
            <a:off x="6505879" y="3732790"/>
            <a:ext cx="1665120" cy="153217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000" dirty="0">
                <a:solidFill>
                  <a:schemeClr val="bg1"/>
                </a:solidFill>
                <a:latin typeface="Aptos" panose="020B0004020202020204" pitchFamily="34" charset="0"/>
              </a:rPr>
              <a:t>Sensor company database</a:t>
            </a:r>
            <a:endParaRPr lang="en-GB" sz="2000" dirty="0">
              <a:solidFill>
                <a:schemeClr val="bg1"/>
              </a:solidFill>
              <a:latin typeface="Aptos" panose="020B0004020202020204" pitchFamily="34" charset="0"/>
            </a:endParaRPr>
          </a:p>
        </p:txBody>
      </p:sp>
      <p:cxnSp>
        <p:nvCxnSpPr>
          <p:cNvPr id="25" name="Connettore 2 24"/>
          <p:cNvCxnSpPr/>
          <p:nvPr/>
        </p:nvCxnSpPr>
        <p:spPr>
          <a:xfrm flipV="1">
            <a:off x="4961634" y="4377177"/>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5"/>
          <p:cNvCxnSpPr/>
          <p:nvPr/>
        </p:nvCxnSpPr>
        <p:spPr>
          <a:xfrm flipH="1" flipV="1">
            <a:off x="4929579" y="4636599"/>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asellaDiTesto 26"/>
          <p:cNvSpPr txBox="1"/>
          <p:nvPr/>
        </p:nvSpPr>
        <p:spPr>
          <a:xfrm>
            <a:off x="4961634" y="3875556"/>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cxnSp>
        <p:nvCxnSpPr>
          <p:cNvPr id="28" name="Connettore 2 27"/>
          <p:cNvCxnSpPr/>
          <p:nvPr/>
        </p:nvCxnSpPr>
        <p:spPr>
          <a:xfrm flipV="1">
            <a:off x="8232524" y="3251603"/>
            <a:ext cx="607594" cy="5606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p:cNvCxnSpPr/>
          <p:nvPr/>
        </p:nvCxnSpPr>
        <p:spPr>
          <a:xfrm flipH="1">
            <a:off x="8397986" y="3390283"/>
            <a:ext cx="638661" cy="6311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asellaDiTesto 32"/>
          <p:cNvSpPr txBox="1"/>
          <p:nvPr/>
        </p:nvSpPr>
        <p:spPr>
          <a:xfrm>
            <a:off x="8670732" y="3750895"/>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cxnSp>
        <p:nvCxnSpPr>
          <p:cNvPr id="34" name="Connettore 2 33"/>
          <p:cNvCxnSpPr/>
          <p:nvPr/>
        </p:nvCxnSpPr>
        <p:spPr>
          <a:xfrm flipV="1">
            <a:off x="5170467" y="2459928"/>
            <a:ext cx="724595" cy="56492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p:cNvCxnSpPr/>
          <p:nvPr/>
        </p:nvCxnSpPr>
        <p:spPr>
          <a:xfrm flipH="1">
            <a:off x="5240332" y="2629257"/>
            <a:ext cx="819859" cy="6210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CasellaDiTesto 40"/>
          <p:cNvSpPr txBox="1"/>
          <p:nvPr/>
        </p:nvSpPr>
        <p:spPr>
          <a:xfrm>
            <a:off x="4893314" y="2095022"/>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sp>
        <p:nvSpPr>
          <p:cNvPr id="45" name="Cilindro 44"/>
          <p:cNvSpPr/>
          <p:nvPr/>
        </p:nvSpPr>
        <p:spPr>
          <a:xfrm>
            <a:off x="6122744" y="1537667"/>
            <a:ext cx="1542112" cy="109399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000" dirty="0" err="1">
                <a:solidFill>
                  <a:schemeClr val="bg1"/>
                </a:solidFill>
                <a:latin typeface="Aptos" panose="020B0004020202020204" pitchFamily="34" charset="0"/>
              </a:rPr>
              <a:t>Map</a:t>
            </a:r>
            <a:r>
              <a:rPr lang="it-IT" sz="2000" dirty="0">
                <a:solidFill>
                  <a:schemeClr val="bg1"/>
                </a:solidFill>
                <a:latin typeface="Aptos" panose="020B0004020202020204" pitchFamily="34" charset="0"/>
              </a:rPr>
              <a:t> database</a:t>
            </a:r>
            <a:endParaRPr lang="en-GB" sz="2000" dirty="0">
              <a:solidFill>
                <a:schemeClr val="bg1"/>
              </a:solidFill>
              <a:latin typeface="Aptos" panose="020B0004020202020204" pitchFamily="34" charset="0"/>
            </a:endParaRPr>
          </a:p>
        </p:txBody>
      </p:sp>
      <p:cxnSp>
        <p:nvCxnSpPr>
          <p:cNvPr id="46" name="Connettore 2 45"/>
          <p:cNvCxnSpPr/>
          <p:nvPr/>
        </p:nvCxnSpPr>
        <p:spPr>
          <a:xfrm>
            <a:off x="8300167" y="5049946"/>
            <a:ext cx="763755" cy="36365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ttore 2 46"/>
          <p:cNvCxnSpPr/>
          <p:nvPr/>
        </p:nvCxnSpPr>
        <p:spPr>
          <a:xfrm flipH="1" flipV="1">
            <a:off x="8171000" y="5231775"/>
            <a:ext cx="752707" cy="3910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CasellaDiTesto 52"/>
          <p:cNvSpPr txBox="1"/>
          <p:nvPr/>
        </p:nvSpPr>
        <p:spPr>
          <a:xfrm>
            <a:off x="8536321" y="4736045"/>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pic>
        <p:nvPicPr>
          <p:cNvPr id="54" name="Immagine 53"/>
          <p:cNvPicPr>
            <a:picLocks noChangeAspect="1"/>
          </p:cNvPicPr>
          <p:nvPr/>
        </p:nvPicPr>
        <p:blipFill rotWithShape="1">
          <a:blip r:embed="rId7">
            <a:extLst>
              <a:ext uri="{28A0092B-C50C-407E-A947-70E740481C1C}">
                <a14:useLocalDpi xmlns:a14="http://schemas.microsoft.com/office/drawing/2010/main" val="0"/>
              </a:ext>
            </a:extLst>
          </a:blip>
          <a:srcRect l="14272" r="20832" b="2506"/>
          <a:stretch/>
        </p:blipFill>
        <p:spPr>
          <a:xfrm>
            <a:off x="9036647" y="5142730"/>
            <a:ext cx="850036" cy="1277002"/>
          </a:xfrm>
          <a:prstGeom prst="rect">
            <a:avLst/>
          </a:prstGeom>
        </p:spPr>
      </p:pic>
      <p:sp>
        <p:nvSpPr>
          <p:cNvPr id="55" name="CasellaDiTesto 54"/>
          <p:cNvSpPr txBox="1"/>
          <p:nvPr/>
        </p:nvSpPr>
        <p:spPr>
          <a:xfrm>
            <a:off x="9461665" y="5427288"/>
            <a:ext cx="2803149" cy="707886"/>
          </a:xfrm>
          <a:prstGeom prst="rect">
            <a:avLst/>
          </a:prstGeom>
          <a:noFill/>
        </p:spPr>
        <p:txBody>
          <a:bodyPr wrap="square" rtlCol="0">
            <a:spAutoFit/>
          </a:bodyPr>
          <a:lstStyle/>
          <a:p>
            <a:pPr algn="ctr"/>
            <a:r>
              <a:rPr lang="en-US" sz="2000" dirty="0">
                <a:latin typeface="Aptos" panose="020B0004020202020204" pitchFamily="34" charset="0"/>
              </a:rPr>
              <a:t>Other third-party application</a:t>
            </a:r>
          </a:p>
        </p:txBody>
      </p:sp>
      <p:sp>
        <p:nvSpPr>
          <p:cNvPr id="3" name="Segnaposto numero diapositiva 2"/>
          <p:cNvSpPr>
            <a:spLocks noGrp="1"/>
          </p:cNvSpPr>
          <p:nvPr>
            <p:ph type="sldNum" sz="quarter" idx="12"/>
          </p:nvPr>
        </p:nvSpPr>
        <p:spPr/>
        <p:txBody>
          <a:bodyPr/>
          <a:lstStyle/>
          <a:p>
            <a:fld id="{31DE2C5B-556E-47B8-A792-024C2FCA4ACC}" type="slidenum">
              <a:rPr lang="en-GB" smtClean="0"/>
              <a:t>23</a:t>
            </a:fld>
            <a:endParaRPr lang="en-GB"/>
          </a:p>
        </p:txBody>
      </p:sp>
    </p:spTree>
    <p:extLst>
      <p:ext uri="{BB962C8B-B14F-4D97-AF65-F5344CB8AC3E}">
        <p14:creationId xmlns:p14="http://schemas.microsoft.com/office/powerpoint/2010/main" val="3938890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Approaches</a:t>
            </a:r>
            <a:r>
              <a:rPr lang="it-IT" dirty="0"/>
              <a:t> to design </a:t>
            </a:r>
            <a:r>
              <a:rPr lang="it-IT" dirty="0" err="1"/>
              <a:t>request-response</a:t>
            </a:r>
            <a:r>
              <a:rPr lang="it-IT" dirty="0"/>
              <a:t> Web API</a:t>
            </a:r>
            <a:endParaRPr lang="en-GB" dirty="0"/>
          </a:p>
        </p:txBody>
      </p:sp>
      <p:sp>
        <p:nvSpPr>
          <p:cNvPr id="3" name="Segnaposto contenuto 2"/>
          <p:cNvSpPr>
            <a:spLocks noGrp="1"/>
          </p:cNvSpPr>
          <p:nvPr>
            <p:ph idx="1"/>
          </p:nvPr>
        </p:nvSpPr>
        <p:spPr/>
        <p:txBody>
          <a:bodyPr/>
          <a:lstStyle/>
          <a:p>
            <a:r>
              <a:rPr lang="en-GB" dirty="0"/>
              <a:t>Web APIs are realized using protocols and/or specifications to define the semantics and syntax of the messages exchanged by client and server. </a:t>
            </a:r>
          </a:p>
          <a:p>
            <a:pPr marL="0" indent="0">
              <a:buNone/>
            </a:pPr>
            <a:r>
              <a:rPr lang="en-GB" dirty="0">
                <a:sym typeface="Wingdings" panose="05000000000000000000" pitchFamily="2" charset="2"/>
              </a:rPr>
              <a:t>	 </a:t>
            </a:r>
            <a:r>
              <a:rPr lang="en-GB" b="1" dirty="0">
                <a:sym typeface="Wingdings" panose="05000000000000000000" pitchFamily="2" charset="2"/>
              </a:rPr>
              <a:t>API architectures</a:t>
            </a:r>
          </a:p>
          <a:p>
            <a:pPr marL="0" indent="0">
              <a:buNone/>
            </a:pPr>
            <a:endParaRPr lang="en-GB" b="1" dirty="0"/>
          </a:p>
          <a:p>
            <a:r>
              <a:rPr lang="en-GB" dirty="0"/>
              <a:t>Most popular request-response API architectures</a:t>
            </a:r>
            <a:r>
              <a:rPr lang="en-US" dirty="0"/>
              <a:t>:</a:t>
            </a:r>
          </a:p>
          <a:p>
            <a:pPr lvl="1"/>
            <a:r>
              <a:rPr lang="en-US" sz="2400" b="1" dirty="0"/>
              <a:t>RPC</a:t>
            </a:r>
            <a:r>
              <a:rPr lang="en-US" sz="2400" dirty="0"/>
              <a:t>: Remote Procedure Call</a:t>
            </a:r>
          </a:p>
          <a:p>
            <a:pPr lvl="1"/>
            <a:r>
              <a:rPr lang="en-US" sz="2400" b="1" dirty="0"/>
              <a:t>SOAP</a:t>
            </a:r>
            <a:r>
              <a:rPr lang="en-US" sz="2400" dirty="0"/>
              <a:t>: Simple Object Access Protocol</a:t>
            </a:r>
          </a:p>
          <a:p>
            <a:pPr lvl="1"/>
            <a:r>
              <a:rPr lang="en-US" sz="2400" b="1" dirty="0"/>
              <a:t>REST</a:t>
            </a:r>
            <a:r>
              <a:rPr lang="en-US" sz="2400" dirty="0"/>
              <a:t> architectural style</a:t>
            </a:r>
          </a:p>
          <a:p>
            <a:pPr lvl="2"/>
            <a:r>
              <a:rPr lang="en-US" sz="2400" dirty="0"/>
              <a:t>In this case the API is called </a:t>
            </a:r>
            <a:r>
              <a:rPr lang="en-US" sz="2400" b="1" dirty="0"/>
              <a:t>RESTful API</a:t>
            </a:r>
            <a:endParaRPr lang="en-US"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2109344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Remote Procedure Call (RPC)</a:t>
            </a:r>
            <a:endParaRPr lang="en-GB" dirty="0"/>
          </a:p>
        </p:txBody>
      </p:sp>
      <p:sp>
        <p:nvSpPr>
          <p:cNvPr id="3" name="Segnaposto contenuto 2"/>
          <p:cNvSpPr>
            <a:spLocks noGrp="1"/>
          </p:cNvSpPr>
          <p:nvPr>
            <p:ph idx="1"/>
          </p:nvPr>
        </p:nvSpPr>
        <p:spPr/>
        <p:txBody>
          <a:bodyPr/>
          <a:lstStyle/>
          <a:p>
            <a:r>
              <a:rPr lang="it-IT" sz="2200" dirty="0"/>
              <a:t>The </a:t>
            </a:r>
            <a:r>
              <a:rPr lang="it-IT" sz="2200" dirty="0" err="1"/>
              <a:t>simpler</a:t>
            </a:r>
            <a:r>
              <a:rPr lang="it-IT" sz="2200" dirty="0"/>
              <a:t> and </a:t>
            </a:r>
            <a:r>
              <a:rPr lang="it-IT" sz="2200" dirty="0" err="1"/>
              <a:t>oldest</a:t>
            </a:r>
            <a:r>
              <a:rPr lang="it-IT" sz="2200" dirty="0"/>
              <a:t> web API </a:t>
            </a:r>
            <a:r>
              <a:rPr lang="it-IT" sz="2200" dirty="0" err="1"/>
              <a:t>approach</a:t>
            </a:r>
            <a:r>
              <a:rPr lang="it-IT" sz="2200" dirty="0"/>
              <a:t>, </a:t>
            </a:r>
            <a:r>
              <a:rPr lang="it-IT" sz="2200" dirty="0" err="1"/>
              <a:t>proposed</a:t>
            </a:r>
            <a:r>
              <a:rPr lang="it-IT" sz="2200" dirty="0"/>
              <a:t> by Bruce </a:t>
            </a:r>
            <a:r>
              <a:rPr lang="it-IT" sz="2200" dirty="0" err="1"/>
              <a:t>Jay</a:t>
            </a:r>
            <a:r>
              <a:rPr lang="it-IT" sz="2200" dirty="0"/>
              <a:t> Nelson in 1981.</a:t>
            </a:r>
          </a:p>
          <a:p>
            <a:r>
              <a:rPr lang="it-IT" sz="2200" b="1" dirty="0"/>
              <a:t>Remote Procedure Call (RPC) </a:t>
            </a:r>
            <a:r>
              <a:rPr lang="it-IT" sz="2200" dirty="0" err="1"/>
              <a:t>is</a:t>
            </a:r>
            <a:r>
              <a:rPr lang="it-IT" sz="2200" dirty="0"/>
              <a:t> a </a:t>
            </a:r>
            <a:r>
              <a:rPr lang="it-IT" sz="2200" dirty="0" err="1"/>
              <a:t>request-response</a:t>
            </a:r>
            <a:r>
              <a:rPr lang="it-IT" sz="2200" dirty="0"/>
              <a:t> </a:t>
            </a:r>
            <a:r>
              <a:rPr lang="it-IT" sz="2200" dirty="0" err="1"/>
              <a:t>protocol</a:t>
            </a:r>
            <a:r>
              <a:rPr lang="it-IT" sz="2200" dirty="0"/>
              <a:t> by </a:t>
            </a:r>
            <a:r>
              <a:rPr lang="it-IT" sz="2200" dirty="0" err="1"/>
              <a:t>which</a:t>
            </a:r>
            <a:r>
              <a:rPr lang="it-IT" sz="2200" dirty="0"/>
              <a:t> </a:t>
            </a:r>
            <a:r>
              <a:rPr lang="en-GB" sz="2200" dirty="0"/>
              <a:t>the client sends a request message to a known remote server to execute a specified procedure with supplied parameters. </a:t>
            </a:r>
          </a:p>
          <a:p>
            <a:endParaRPr lang="en-GB" dirty="0"/>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3700" y="2630234"/>
            <a:ext cx="4924174" cy="3928134"/>
          </a:xfrm>
          <a:prstGeom prst="rect">
            <a:avLst/>
          </a:prstGeom>
        </p:spPr>
      </p:pic>
      <p:sp>
        <p:nvSpPr>
          <p:cNvPr id="5" name="Rettangolo 4"/>
          <p:cNvSpPr/>
          <p:nvPr/>
        </p:nvSpPr>
        <p:spPr>
          <a:xfrm>
            <a:off x="428172" y="3384979"/>
            <a:ext cx="6096000" cy="2355453"/>
          </a:xfrm>
          <a:prstGeom prst="rect">
            <a:avLst/>
          </a:prstGeom>
        </p:spPr>
        <p:txBody>
          <a:bodyPr>
            <a:spAutoFit/>
          </a:bodyPr>
          <a:lstStyle/>
          <a:p>
            <a:pPr marL="342900" indent="-342900">
              <a:lnSpc>
                <a:spcPct val="90000"/>
              </a:lnSpc>
              <a:spcBef>
                <a:spcPts val="1000"/>
              </a:spcBef>
              <a:buClr>
                <a:srgbClr val="00B050"/>
              </a:buClr>
              <a:buFont typeface="Wingdings" panose="05000000000000000000" pitchFamily="2" charset="2"/>
              <a:buChar char="Ø"/>
            </a:pPr>
            <a:r>
              <a:rPr lang="en-GB" sz="2200" dirty="0">
                <a:latin typeface="Aptos" panose="020B0004020202020204" pitchFamily="34" charset="0"/>
              </a:rPr>
              <a:t>RPC extends the conventional local procedure calling so that the called procedure does not need to be in the same address space as the calling procedure. The two processes may be on the same system, or on different systems with a network connecting them. </a:t>
            </a:r>
          </a:p>
          <a:p>
            <a:pPr marL="342900" indent="-342900">
              <a:lnSpc>
                <a:spcPct val="90000"/>
              </a:lnSpc>
              <a:spcBef>
                <a:spcPts val="1000"/>
              </a:spcBef>
              <a:buClr>
                <a:srgbClr val="00B050"/>
              </a:buClr>
              <a:buFont typeface="Wingdings" panose="05000000000000000000" pitchFamily="2" charset="2"/>
              <a:buChar char="Ø"/>
            </a:pPr>
            <a:r>
              <a:rPr lang="it-IT" sz="2200" dirty="0">
                <a:latin typeface="Aptos" panose="020B0004020202020204" pitchFamily="34" charset="0"/>
              </a:rPr>
              <a:t>In RPC </a:t>
            </a:r>
            <a:r>
              <a:rPr lang="it-IT" sz="2200" b="1" dirty="0">
                <a:latin typeface="Aptos" panose="020B0004020202020204" pitchFamily="34" charset="0"/>
              </a:rPr>
              <a:t>the </a:t>
            </a:r>
            <a:r>
              <a:rPr lang="it-IT" sz="2200" b="1" dirty="0" err="1">
                <a:latin typeface="Aptos" panose="020B0004020202020204" pitchFamily="34" charset="0"/>
              </a:rPr>
              <a:t>endpoints</a:t>
            </a:r>
            <a:r>
              <a:rPr lang="it-IT" sz="2200" b="1" dirty="0">
                <a:latin typeface="Aptos" panose="020B0004020202020204" pitchFamily="34" charset="0"/>
              </a:rPr>
              <a:t> </a:t>
            </a:r>
            <a:r>
              <a:rPr lang="it-IT" sz="2200" b="1" dirty="0" err="1">
                <a:latin typeface="Aptos" panose="020B0004020202020204" pitchFamily="34" charset="0"/>
              </a:rPr>
              <a:t>represent</a:t>
            </a:r>
            <a:r>
              <a:rPr lang="it-IT" sz="2200" b="1" dirty="0">
                <a:latin typeface="Aptos" panose="020B0004020202020204" pitchFamily="34" charset="0"/>
              </a:rPr>
              <a:t> </a:t>
            </a:r>
            <a:r>
              <a:rPr lang="it-IT" sz="2200" b="1" dirty="0" err="1">
                <a:latin typeface="Aptos" panose="020B0004020202020204" pitchFamily="34" charset="0"/>
              </a:rPr>
              <a:t>actions</a:t>
            </a:r>
            <a:endParaRPr lang="it-IT" sz="2200" b="1" dirty="0">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25</a:t>
            </a:fld>
            <a:endParaRPr lang="en-GB"/>
          </a:p>
        </p:txBody>
      </p:sp>
    </p:spTree>
    <p:extLst>
      <p:ext uri="{BB962C8B-B14F-4D97-AF65-F5344CB8AC3E}">
        <p14:creationId xmlns:p14="http://schemas.microsoft.com/office/powerpoint/2010/main" val="4061024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Remote Procedure Call (RPC)</a:t>
            </a:r>
            <a:endParaRPr lang="en-GB" dirty="0"/>
          </a:p>
        </p:txBody>
      </p:sp>
      <p:sp>
        <p:nvSpPr>
          <p:cNvPr id="3" name="Segnaposto contenuto 2"/>
          <p:cNvSpPr>
            <a:spLocks noGrp="1"/>
          </p:cNvSpPr>
          <p:nvPr>
            <p:ph idx="1"/>
          </p:nvPr>
        </p:nvSpPr>
        <p:spPr>
          <a:xfrm>
            <a:off x="428171" y="1319056"/>
            <a:ext cx="11368315" cy="5442691"/>
          </a:xfrm>
        </p:spPr>
        <p:txBody>
          <a:bodyPr>
            <a:noAutofit/>
          </a:bodyPr>
          <a:lstStyle/>
          <a:p>
            <a:pPr fontAlgn="base"/>
            <a:r>
              <a:rPr lang="en-GB" dirty="0"/>
              <a:t>Different RPC protocols: </a:t>
            </a:r>
          </a:p>
          <a:p>
            <a:pPr lvl="1" fontAlgn="base"/>
            <a:r>
              <a:rPr lang="it-IT" dirty="0"/>
              <a:t>1997: XML-RPC </a:t>
            </a:r>
            <a:r>
              <a:rPr lang="en-GB" dirty="0"/>
              <a:t>uses XML to encode its calls and HTTP to send requests and responses</a:t>
            </a:r>
          </a:p>
          <a:p>
            <a:pPr lvl="1" fontAlgn="base"/>
            <a:r>
              <a:rPr lang="it-IT" dirty="0"/>
              <a:t>2005: JSON-RPC </a:t>
            </a:r>
            <a:r>
              <a:rPr lang="en-GB" dirty="0"/>
              <a:t>uses JSON to encode data and HTTP to send requests and responses</a:t>
            </a:r>
          </a:p>
          <a:p>
            <a:pPr lvl="1" fontAlgn="base"/>
            <a:r>
              <a:rPr lang="en-GB" dirty="0"/>
              <a:t>2016: Google RPC (</a:t>
            </a:r>
            <a:r>
              <a:rPr lang="en-GB" dirty="0" err="1"/>
              <a:t>gRPC</a:t>
            </a:r>
            <a:r>
              <a:rPr lang="en-GB" dirty="0"/>
              <a:t>) uses Protocol Buffers to encode data and HTTP/2 to send requests/responses</a:t>
            </a:r>
          </a:p>
          <a:p>
            <a:pPr fontAlgn="base"/>
            <a:r>
              <a:rPr lang="en-GB" u="sng" dirty="0"/>
              <a:t>Pros</a:t>
            </a:r>
            <a:r>
              <a:rPr lang="en-GB" dirty="0"/>
              <a:t>: </a:t>
            </a:r>
          </a:p>
          <a:p>
            <a:pPr lvl="1" fontAlgn="base"/>
            <a:r>
              <a:rPr lang="en-GB" b="1" dirty="0"/>
              <a:t>Straightforward and simple interaction: </a:t>
            </a:r>
            <a:r>
              <a:rPr lang="en-GB" dirty="0"/>
              <a:t>all is done with GET and POST HTTP methods</a:t>
            </a:r>
          </a:p>
          <a:p>
            <a:pPr lvl="1" fontAlgn="base"/>
            <a:r>
              <a:rPr lang="it-IT" b="1" dirty="0"/>
              <a:t>Easy to </a:t>
            </a:r>
            <a:r>
              <a:rPr lang="it-IT" b="1" dirty="0" err="1"/>
              <a:t>add</a:t>
            </a:r>
            <a:r>
              <a:rPr lang="it-IT" b="1" dirty="0"/>
              <a:t> </a:t>
            </a:r>
            <a:r>
              <a:rPr lang="it-IT" b="1" dirty="0" err="1"/>
              <a:t>functions</a:t>
            </a:r>
            <a:r>
              <a:rPr lang="it-IT" dirty="0"/>
              <a:t>: a new </a:t>
            </a:r>
            <a:r>
              <a:rPr lang="it-IT" dirty="0" err="1"/>
              <a:t>function</a:t>
            </a:r>
            <a:r>
              <a:rPr lang="it-IT" dirty="0"/>
              <a:t> can be </a:t>
            </a:r>
            <a:r>
              <a:rPr lang="it-IT" dirty="0" err="1"/>
              <a:t>defined</a:t>
            </a:r>
            <a:r>
              <a:rPr lang="it-IT" dirty="0"/>
              <a:t> and </a:t>
            </a:r>
            <a:r>
              <a:rPr lang="it-IT" dirty="0" err="1"/>
              <a:t>associated</a:t>
            </a:r>
            <a:r>
              <a:rPr lang="it-IT" dirty="0"/>
              <a:t> to a new endpoint</a:t>
            </a:r>
          </a:p>
          <a:p>
            <a:pPr lvl="1" fontAlgn="base"/>
            <a:r>
              <a:rPr lang="it-IT" b="1" dirty="0"/>
              <a:t>High performance</a:t>
            </a:r>
            <a:r>
              <a:rPr lang="it-IT" dirty="0"/>
              <a:t>: </a:t>
            </a:r>
            <a:r>
              <a:rPr lang="it-IT" dirty="0" err="1"/>
              <a:t>having</a:t>
            </a:r>
            <a:r>
              <a:rPr lang="it-IT" dirty="0"/>
              <a:t> the </a:t>
            </a:r>
            <a:r>
              <a:rPr lang="it-IT" dirty="0" err="1"/>
              <a:t>functions</a:t>
            </a:r>
            <a:r>
              <a:rPr lang="it-IT" dirty="0"/>
              <a:t> in the URL </a:t>
            </a:r>
            <a:r>
              <a:rPr lang="it-IT" dirty="0" err="1"/>
              <a:t>allows</a:t>
            </a:r>
            <a:r>
              <a:rPr lang="it-IT" dirty="0"/>
              <a:t> to </a:t>
            </a:r>
            <a:r>
              <a:rPr lang="it-IT" dirty="0" err="1"/>
              <a:t>have</a:t>
            </a:r>
            <a:r>
              <a:rPr lang="it-IT" dirty="0"/>
              <a:t> </a:t>
            </a:r>
            <a:r>
              <a:rPr lang="it-IT" dirty="0" err="1"/>
              <a:t>lightweight</a:t>
            </a:r>
            <a:r>
              <a:rPr lang="it-IT" dirty="0"/>
              <a:t> </a:t>
            </a:r>
            <a:r>
              <a:rPr lang="it-IT" dirty="0" err="1"/>
              <a:t>payloads</a:t>
            </a:r>
            <a:endParaRPr lang="it-IT" dirty="0"/>
          </a:p>
          <a:p>
            <a:pPr fontAlgn="base"/>
            <a:r>
              <a:rPr lang="it-IT" u="sng" dirty="0" err="1"/>
              <a:t>Cons</a:t>
            </a:r>
            <a:r>
              <a:rPr lang="it-IT" dirty="0"/>
              <a:t>: </a:t>
            </a:r>
          </a:p>
          <a:p>
            <a:pPr lvl="1" fontAlgn="base"/>
            <a:r>
              <a:rPr lang="en-GB" b="1" dirty="0"/>
              <a:t>Tight coupling to the underlying system: </a:t>
            </a:r>
            <a:r>
              <a:rPr lang="en-GB" dirty="0"/>
              <a:t>RPC messages are not standardized. Their format depends on the specific application </a:t>
            </a:r>
            <a:r>
              <a:rPr lang="en-GB" dirty="0">
                <a:sym typeface="Wingdings" panose="05000000000000000000" pitchFamily="2" charset="2"/>
              </a:rPr>
              <a:t> low reusability of the API</a:t>
            </a:r>
          </a:p>
          <a:p>
            <a:pPr fontAlgn="base"/>
            <a:r>
              <a:rPr lang="it-IT" dirty="0"/>
              <a:t>Use </a:t>
            </a:r>
            <a:r>
              <a:rPr lang="it-IT" dirty="0" err="1"/>
              <a:t>cases</a:t>
            </a:r>
            <a:r>
              <a:rPr lang="it-IT" dirty="0"/>
              <a:t>: </a:t>
            </a:r>
            <a:r>
              <a:rPr lang="en-GB" dirty="0"/>
              <a:t>to perform extremely high-performance, low-overhead internal messaging within big companies (Google, Facebook, Twitch, etc.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26</a:t>
            </a:fld>
            <a:endParaRPr lang="en-GB"/>
          </a:p>
        </p:txBody>
      </p:sp>
    </p:spTree>
    <p:extLst>
      <p:ext uri="{BB962C8B-B14F-4D97-AF65-F5344CB8AC3E}">
        <p14:creationId xmlns:p14="http://schemas.microsoft.com/office/powerpoint/2010/main" val="3064003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Example of RPC</a:t>
            </a:r>
            <a:endParaRPr lang="en-GB" dirty="0"/>
          </a:p>
        </p:txBody>
      </p:sp>
      <p:sp>
        <p:nvSpPr>
          <p:cNvPr id="3" name="Segnaposto contenuto 2"/>
          <p:cNvSpPr>
            <a:spLocks noGrp="1"/>
          </p:cNvSpPr>
          <p:nvPr>
            <p:ph idx="1"/>
          </p:nvPr>
        </p:nvSpPr>
        <p:spPr>
          <a:xfrm>
            <a:off x="329981" y="1552639"/>
            <a:ext cx="5052092" cy="1747889"/>
          </a:xfrm>
        </p:spPr>
        <p:txBody>
          <a:bodyPr>
            <a:noAutofit/>
          </a:bodyPr>
          <a:lstStyle/>
          <a:p>
            <a:pPr fontAlgn="base"/>
            <a:r>
              <a:rPr lang="en-GB" dirty="0"/>
              <a:t>This example illustrates an online shop system that tries to handle a transaction with RPC. </a:t>
            </a:r>
          </a:p>
          <a:p>
            <a:pPr fontAlgn="base"/>
            <a:endParaRPr lang="en-GB" dirty="0"/>
          </a:p>
          <a:p>
            <a:pPr fontAlgn="base"/>
            <a:r>
              <a:rPr lang="en-GB" dirty="0"/>
              <a:t>The function </a:t>
            </a:r>
            <a:r>
              <a:rPr lang="en-GB" dirty="0" err="1"/>
              <a:t>paymentService.prcessPayment</a:t>
            </a:r>
            <a:r>
              <a:rPr lang="en-GB" dirty="0"/>
              <a:t> is implemented in another system. </a:t>
            </a:r>
          </a:p>
          <a:p>
            <a:pPr fontAlgn="base"/>
            <a:endParaRPr lang="en-GB" dirty="0"/>
          </a:p>
          <a:p>
            <a:pPr fontAlgn="base"/>
            <a:r>
              <a:rPr lang="en-GB" dirty="0"/>
              <a:t>User must know a lot of things to use the function: i.e., how to create a Card, function parameters, the structure of a Result, etc…</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27</a:t>
            </a:fld>
            <a:endParaRPr lang="en-GB"/>
          </a:p>
        </p:txBody>
      </p:sp>
      <p:sp>
        <p:nvSpPr>
          <p:cNvPr id="6" name="TextBox 5">
            <a:extLst>
              <a:ext uri="{FF2B5EF4-FFF2-40B4-BE49-F238E27FC236}">
                <a16:creationId xmlns:a16="http://schemas.microsoft.com/office/drawing/2014/main" id="{2CB43563-0F40-B27A-2A4A-388000CCAF5C}"/>
              </a:ext>
            </a:extLst>
          </p:cNvPr>
          <p:cNvSpPr txBox="1"/>
          <p:nvPr/>
        </p:nvSpPr>
        <p:spPr>
          <a:xfrm>
            <a:off x="5699464" y="2172599"/>
            <a:ext cx="6097022" cy="3416320"/>
          </a:xfrm>
          <a:prstGeom prst="rect">
            <a:avLst/>
          </a:prstGeom>
          <a:solidFill>
            <a:schemeClr val="tx1"/>
          </a:solidFill>
        </p:spPr>
        <p:txBody>
          <a:bodyPr wrap="square">
            <a:spAutoFit/>
          </a:bodyPr>
          <a:lstStyle/>
          <a:p>
            <a:r>
              <a:rPr lang="en-US" b="0" dirty="0">
                <a:solidFill>
                  <a:srgbClr val="4EC9B0"/>
                </a:solidFill>
                <a:effectLst/>
                <a:latin typeface="Menlo" panose="020B0609030804020204" pitchFamily="49" charset="0"/>
              </a:rPr>
              <a:t>Card</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card</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4EC9B0"/>
                </a:solidFill>
                <a:effectLst/>
                <a:latin typeface="Menlo" panose="020B0609030804020204" pitchFamily="49" charset="0"/>
              </a:rPr>
              <a:t>Card</a:t>
            </a:r>
            <a:r>
              <a:rPr lang="en-US" b="0" dirty="0">
                <a:solidFill>
                  <a:srgbClr val="CCCCCC"/>
                </a:solidFill>
                <a:effectLst/>
                <a:latin typeface="Menlo" panose="020B0609030804020204" pitchFamily="49" charset="0"/>
              </a:rPr>
              <a:t>();</a:t>
            </a:r>
          </a:p>
          <a:p>
            <a:r>
              <a:rPr lang="en-US" b="0" dirty="0" err="1">
                <a:solidFill>
                  <a:srgbClr val="DCDCAA"/>
                </a:solidFill>
                <a:effectLst/>
                <a:latin typeface="Menlo" panose="020B0609030804020204" pitchFamily="49" charset="0"/>
              </a:rPr>
              <a:t>card</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setCardNumber</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"1234 5678 1234 5678"</a:t>
            </a:r>
            <a:r>
              <a:rPr lang="en-US" b="0" dirty="0">
                <a:solidFill>
                  <a:srgbClr val="CCCCCC"/>
                </a:solidFill>
                <a:effectLst/>
                <a:latin typeface="Menlo" panose="020B0609030804020204" pitchFamily="49" charset="0"/>
              </a:rPr>
              <a:t>);</a:t>
            </a:r>
          </a:p>
          <a:p>
            <a:r>
              <a:rPr lang="en-US" b="0" dirty="0" err="1">
                <a:solidFill>
                  <a:srgbClr val="DCDCAA"/>
                </a:solidFill>
                <a:effectLst/>
                <a:latin typeface="Menlo" panose="020B0609030804020204" pitchFamily="49" charset="0"/>
              </a:rPr>
              <a:t>card</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setExpiryDate</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"11/30"</a:t>
            </a:r>
            <a:r>
              <a:rPr lang="en-US" b="0" dirty="0">
                <a:solidFill>
                  <a:srgbClr val="CCCCCC"/>
                </a:solidFill>
                <a:effectLst/>
                <a:latin typeface="Menlo" panose="020B0609030804020204" pitchFamily="49" charset="0"/>
              </a:rPr>
              <a:t>);</a:t>
            </a:r>
          </a:p>
          <a:p>
            <a:r>
              <a:rPr lang="en-US" b="0" dirty="0" err="1">
                <a:solidFill>
                  <a:srgbClr val="DCDCAA"/>
                </a:solidFill>
                <a:effectLst/>
                <a:latin typeface="Menlo" panose="020B0609030804020204" pitchFamily="49" charset="0"/>
              </a:rPr>
              <a:t>card</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setCVC</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"123"</a:t>
            </a:r>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D4D4D4"/>
                </a:solidFill>
                <a:effectLst/>
                <a:latin typeface="Menlo" panose="020B0609030804020204" pitchFamily="49" charset="0"/>
              </a:rPr>
              <a:t>Result</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result</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C586C0"/>
                </a:solidFill>
                <a:effectLst/>
                <a:latin typeface="Menlo" panose="020B0609030804020204" pitchFamily="49" charset="0"/>
              </a:rPr>
              <a:t>await</a:t>
            </a:r>
            <a:r>
              <a:rPr lang="en-US" b="0" dirty="0">
                <a:solidFill>
                  <a:srgbClr val="CCCCCC"/>
                </a:solidFill>
                <a:effectLst/>
                <a:latin typeface="Menlo" panose="020B0609030804020204" pitchFamily="49" charset="0"/>
              </a:rPr>
              <a:t> </a:t>
            </a:r>
            <a:r>
              <a:rPr lang="en-US" b="0" dirty="0" err="1">
                <a:solidFill>
                  <a:srgbClr val="D4D4D4"/>
                </a:solidFill>
                <a:effectLst/>
                <a:latin typeface="Menlo" panose="020B0609030804020204" pitchFamily="49" charset="0"/>
              </a:rPr>
              <a:t>paymentService</a:t>
            </a:r>
            <a:r>
              <a:rPr lang="en-US" b="0" dirty="0" err="1">
                <a:solidFill>
                  <a:srgbClr val="CCCCCC"/>
                </a:solidFill>
                <a:effectLst/>
                <a:latin typeface="Menlo" panose="020B0609030804020204" pitchFamily="49" charset="0"/>
              </a:rPr>
              <a:t>.</a:t>
            </a:r>
            <a:r>
              <a:rPr lang="en-US" b="0" dirty="0" err="1">
                <a:solidFill>
                  <a:srgbClr val="D4D4D4"/>
                </a:solidFill>
                <a:effectLst/>
                <a:latin typeface="Menlo" panose="020B0609030804020204" pitchFamily="49" charset="0"/>
              </a:rPr>
              <a:t>processPayment</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card</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3.99</a:t>
            </a:r>
            <a:r>
              <a:rPr lang="en-US" b="0" dirty="0">
                <a:solidFill>
                  <a:srgbClr val="CCCCCC"/>
                </a:solidFill>
                <a:effectLst/>
                <a:latin typeface="Menlo" panose="020B0609030804020204" pitchFamily="49" charset="0"/>
              </a:rPr>
              <a:t>, </a:t>
            </a:r>
            <a:r>
              <a:rPr lang="en-US" b="0" dirty="0" err="1">
                <a:solidFill>
                  <a:srgbClr val="D4D4D4"/>
                </a:solidFill>
                <a:effectLst/>
                <a:latin typeface="Menlo" panose="020B0609030804020204" pitchFamily="49" charset="0"/>
              </a:rPr>
              <a:t>Currency</a:t>
            </a:r>
            <a:r>
              <a:rPr lang="en-US" b="0" dirty="0" err="1">
                <a:solidFill>
                  <a:srgbClr val="CCCCCC"/>
                </a:solidFill>
                <a:effectLst/>
                <a:latin typeface="Menlo" panose="020B0609030804020204" pitchFamily="49" charset="0"/>
              </a:rPr>
              <a:t>.</a:t>
            </a:r>
            <a:r>
              <a:rPr lang="en-US" b="0" dirty="0" err="1">
                <a:solidFill>
                  <a:srgbClr val="D4D4D4"/>
                </a:solidFill>
                <a:effectLst/>
                <a:latin typeface="Menlo" panose="020B0609030804020204" pitchFamily="49" charset="0"/>
              </a:rPr>
              <a:t>EUR</a:t>
            </a:r>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DCDCAA"/>
                </a:solidFill>
                <a:effectLst/>
                <a:latin typeface="Menlo" panose="020B0609030804020204" pitchFamily="49" charset="0"/>
              </a:rPr>
              <a:t>if</a:t>
            </a:r>
            <a:r>
              <a:rPr lang="en-US" b="0" dirty="0">
                <a:solidFill>
                  <a:srgbClr val="CCCCCC"/>
                </a:solidFill>
                <a:effectLst/>
                <a:latin typeface="Menlo" panose="020B0609030804020204" pitchFamily="49" charset="0"/>
              </a:rPr>
              <a:t>(</a:t>
            </a:r>
            <a:r>
              <a:rPr lang="en-US" b="0" dirty="0" err="1">
                <a:solidFill>
                  <a:srgbClr val="CCCCCC"/>
                </a:solidFill>
                <a:effectLst/>
                <a:latin typeface="Menlo" panose="020B0609030804020204" pitchFamily="49" charset="0"/>
              </a:rPr>
              <a:t>results.</a:t>
            </a:r>
            <a:r>
              <a:rPr lang="en-US" b="0" dirty="0" err="1">
                <a:solidFill>
                  <a:srgbClr val="D4D4D4"/>
                </a:solidFill>
                <a:effectLst/>
                <a:latin typeface="Menlo" panose="020B0609030804020204" pitchFamily="49" charset="0"/>
              </a:rPr>
              <a:t>isSuccess</a:t>
            </a:r>
            <a:r>
              <a:rPr lang="en-US" b="0" dirty="0">
                <a:solidFill>
                  <a:srgbClr val="CCCCCC"/>
                </a:solidFill>
                <a:effectLst/>
                <a:latin typeface="Menlo" panose="020B0609030804020204" pitchFamily="49" charset="0"/>
              </a:rPr>
              <a:t>()){</a:t>
            </a:r>
          </a:p>
          <a:p>
            <a:r>
              <a:rPr lang="en-US" b="0" dirty="0">
                <a:solidFill>
                  <a:srgbClr val="D4D4D4"/>
                </a:solidFill>
                <a:effectLst/>
                <a:latin typeface="Menlo" panose="020B0609030804020204" pitchFamily="49" charset="0"/>
              </a:rPr>
              <a:t>	</a:t>
            </a:r>
            <a:r>
              <a:rPr lang="en-US" b="0" dirty="0" err="1">
                <a:solidFill>
                  <a:srgbClr val="D4D4D4"/>
                </a:solidFill>
                <a:effectLst/>
                <a:latin typeface="Menlo" panose="020B0609030804020204" pitchFamily="49" charset="0"/>
              </a:rPr>
              <a:t>fulfilOrder</a:t>
            </a:r>
            <a:r>
              <a:rPr lang="en-US" b="0" dirty="0">
                <a:solidFill>
                  <a:srgbClr val="CCCCCC"/>
                </a:solidFill>
                <a:effectLst/>
                <a:latin typeface="Menlo" panose="020B0609030804020204" pitchFamily="49" charset="0"/>
              </a:rPr>
              <a:t>();</a:t>
            </a:r>
          </a:p>
          <a:p>
            <a:r>
              <a:rPr lang="en-US" b="0" dirty="0">
                <a:solidFill>
                  <a:srgbClr val="CCCCCC"/>
                </a:solidFill>
                <a:effectLst/>
                <a:latin typeface="Menlo" panose="020B0609030804020204" pitchFamily="49" charset="0"/>
              </a:rPr>
              <a:t>}</a:t>
            </a:r>
          </a:p>
        </p:txBody>
      </p:sp>
    </p:spTree>
    <p:extLst>
      <p:ext uri="{BB962C8B-B14F-4D97-AF65-F5344CB8AC3E}">
        <p14:creationId xmlns:p14="http://schemas.microsoft.com/office/powerpoint/2010/main" val="1578932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Simple Object Access Protocol (SOAP)</a:t>
            </a:r>
            <a:endParaRPr lang="en-GB" dirty="0"/>
          </a:p>
        </p:txBody>
      </p:sp>
      <p:sp>
        <p:nvSpPr>
          <p:cNvPr id="3" name="Segnaposto contenuto 2"/>
          <p:cNvSpPr>
            <a:spLocks noGrp="1"/>
          </p:cNvSpPr>
          <p:nvPr>
            <p:ph idx="1"/>
          </p:nvPr>
        </p:nvSpPr>
        <p:spPr>
          <a:xfrm>
            <a:off x="354178" y="1360397"/>
            <a:ext cx="11442307" cy="2929663"/>
          </a:xfrm>
        </p:spPr>
        <p:txBody>
          <a:bodyPr>
            <a:noAutofit/>
          </a:bodyPr>
          <a:lstStyle/>
          <a:p>
            <a:r>
              <a:rPr lang="it-IT" dirty="0" err="1"/>
              <a:t>Released</a:t>
            </a:r>
            <a:r>
              <a:rPr lang="it-IT" dirty="0"/>
              <a:t> by Microsoft in 1998</a:t>
            </a:r>
          </a:p>
          <a:p>
            <a:r>
              <a:rPr lang="en-GB" dirty="0"/>
              <a:t>Web API protocol with highly standardized messages written in XML</a:t>
            </a:r>
          </a:p>
          <a:p>
            <a:r>
              <a:rPr lang="it-IT" dirty="0" err="1"/>
              <a:t>It</a:t>
            </a:r>
            <a:r>
              <a:rPr lang="it-IT" dirty="0"/>
              <a:t> </a:t>
            </a:r>
            <a:r>
              <a:rPr lang="it-IT" dirty="0" err="1"/>
              <a:t>runs</a:t>
            </a:r>
            <a:r>
              <a:rPr lang="it-IT" dirty="0"/>
              <a:t> over HTTP or </a:t>
            </a:r>
            <a:r>
              <a:rPr lang="it-IT" dirty="0" err="1"/>
              <a:t>other</a:t>
            </a:r>
            <a:r>
              <a:rPr lang="it-IT" dirty="0"/>
              <a:t> </a:t>
            </a:r>
            <a:r>
              <a:rPr lang="it-IT" dirty="0" err="1"/>
              <a:t>application</a:t>
            </a:r>
            <a:r>
              <a:rPr lang="it-IT" dirty="0"/>
              <a:t> </a:t>
            </a:r>
            <a:r>
              <a:rPr lang="it-IT" dirty="0" err="1"/>
              <a:t>layer</a:t>
            </a:r>
            <a:r>
              <a:rPr lang="it-IT" dirty="0"/>
              <a:t> </a:t>
            </a:r>
            <a:r>
              <a:rPr lang="it-IT" dirty="0" err="1"/>
              <a:t>protocol</a:t>
            </a:r>
            <a:endParaRPr lang="en-GB" dirty="0"/>
          </a:p>
          <a:p>
            <a:pPr lvl="1"/>
            <a:endParaRPr lang="en-GB" sz="2400" dirty="0"/>
          </a:p>
        </p:txBody>
      </p:sp>
      <p:sp>
        <p:nvSpPr>
          <p:cNvPr id="4" name="Rettangolo 3"/>
          <p:cNvSpPr/>
          <p:nvPr/>
        </p:nvSpPr>
        <p:spPr>
          <a:xfrm>
            <a:off x="809163" y="2825228"/>
            <a:ext cx="6269818" cy="3970318"/>
          </a:xfrm>
          <a:prstGeom prst="rect">
            <a:avLst/>
          </a:prstGeom>
          <a:ln>
            <a:solidFill>
              <a:srgbClr val="00B050"/>
            </a:solidFill>
          </a:ln>
        </p:spPr>
        <p:txBody>
          <a:bodyPr wrap="square">
            <a:spAutoFit/>
          </a:bodyPr>
          <a:lstStyle/>
          <a:p>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?xml</a:t>
            </a:r>
            <a:r>
              <a:rPr lang="en-GB" sz="1400" dirty="0">
                <a:solidFill>
                  <a:srgbClr val="FF0000"/>
                </a:solidFill>
                <a:latin typeface="Consolas" panose="020B0609020204030204" pitchFamily="49" charset="0"/>
              </a:rPr>
              <a:t> version</a:t>
            </a:r>
            <a:r>
              <a:rPr lang="en-GB" sz="1400" dirty="0">
                <a:solidFill>
                  <a:srgbClr val="0000CD"/>
                </a:solidFill>
                <a:latin typeface="Consolas" panose="020B0609020204030204" pitchFamily="49" charset="0"/>
              </a:rPr>
              <a:t>="1.0"</a:t>
            </a:r>
            <a:r>
              <a:rPr lang="en-GB" sz="1400" dirty="0">
                <a:solidFill>
                  <a:srgbClr val="FF0000"/>
                </a:solidFill>
                <a:latin typeface="Consolas" panose="020B0609020204030204" pitchFamily="49" charset="0"/>
              </a:rPr>
              <a:t>?</a:t>
            </a:r>
            <a:r>
              <a:rPr lang="en-GB" sz="1400" dirty="0">
                <a:solidFill>
                  <a:srgbClr val="0000CD"/>
                </a:solidFill>
                <a:latin typeface="Consolas" panose="020B0609020204030204" pitchFamily="49" charset="0"/>
              </a:rPr>
              <a:t>&gt;</a:t>
            </a:r>
            <a:br>
              <a:rPr lang="en-GB" sz="1400" dirty="0"/>
            </a:br>
            <a:br>
              <a:rPr lang="en-GB" sz="1400" dirty="0"/>
            </a:b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soap:Envelope</a:t>
            </a:r>
            <a:br>
              <a:rPr lang="en-GB" sz="1400" dirty="0">
                <a:solidFill>
                  <a:srgbClr val="FF0000"/>
                </a:solidFill>
                <a:latin typeface="Consolas" panose="020B0609020204030204" pitchFamily="49" charset="0"/>
              </a:rPr>
            </a:br>
            <a:r>
              <a:rPr lang="en-GB" sz="1400" dirty="0" err="1">
                <a:solidFill>
                  <a:srgbClr val="FF0000"/>
                </a:solidFill>
                <a:latin typeface="Consolas" panose="020B0609020204030204" pitchFamily="49" charset="0"/>
              </a:rPr>
              <a:t>xmlns:soap</a:t>
            </a:r>
            <a:r>
              <a:rPr lang="en-GB" sz="1400" dirty="0">
                <a:solidFill>
                  <a:srgbClr val="0000CD"/>
                </a:solidFill>
                <a:latin typeface="Consolas" panose="020B0609020204030204" pitchFamily="49" charset="0"/>
              </a:rPr>
              <a:t>="http://www.w3.org/2003/05/soap-envelope/"</a:t>
            </a:r>
            <a:br>
              <a:rPr lang="en-GB" sz="1400" dirty="0">
                <a:solidFill>
                  <a:srgbClr val="FF0000"/>
                </a:solidFill>
                <a:latin typeface="Consolas" panose="020B0609020204030204" pitchFamily="49" charset="0"/>
              </a:rPr>
            </a:br>
            <a:r>
              <a:rPr lang="en-GB" sz="1400" dirty="0" err="1">
                <a:solidFill>
                  <a:srgbClr val="FF0000"/>
                </a:solidFill>
                <a:latin typeface="Consolas" panose="020B0609020204030204" pitchFamily="49" charset="0"/>
              </a:rPr>
              <a:t>soap:encodingStyle</a:t>
            </a:r>
            <a:r>
              <a:rPr lang="en-GB" sz="1400" dirty="0">
                <a:solidFill>
                  <a:srgbClr val="0000CD"/>
                </a:solidFill>
                <a:latin typeface="Consolas" panose="020B0609020204030204" pitchFamily="49" charset="0"/>
              </a:rPr>
              <a:t>="http://www.w3.org/2003/05/soap-encoding"&gt;</a:t>
            </a:r>
            <a:br>
              <a:rPr lang="en-GB" sz="1400" dirty="0"/>
            </a:br>
            <a:br>
              <a:rPr lang="en-GB" sz="1400" dirty="0"/>
            </a:b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soap:Header</a:t>
            </a:r>
            <a:r>
              <a:rPr lang="en-GB" sz="1400" dirty="0">
                <a:solidFill>
                  <a:srgbClr val="0000CD"/>
                </a:solidFill>
                <a:latin typeface="Consolas" panose="020B0609020204030204" pitchFamily="49" charset="0"/>
              </a:rPr>
              <a:t>&gt;</a:t>
            </a:r>
            <a:br>
              <a:rPr lang="en-GB" sz="1400" dirty="0"/>
            </a:br>
            <a:r>
              <a:rPr lang="en-GB" sz="1400" dirty="0">
                <a:solidFill>
                  <a:srgbClr val="000000"/>
                </a:solidFill>
                <a:latin typeface="Consolas" panose="020B0609020204030204" pitchFamily="49" charset="0"/>
              </a:rPr>
              <a:t>...</a:t>
            </a:r>
            <a:br>
              <a:rPr lang="en-GB" sz="1400" dirty="0"/>
            </a:b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soap:Header</a:t>
            </a:r>
            <a:r>
              <a:rPr lang="en-GB" sz="1400" dirty="0">
                <a:solidFill>
                  <a:srgbClr val="0000CD"/>
                </a:solidFill>
                <a:latin typeface="Consolas" panose="020B0609020204030204" pitchFamily="49" charset="0"/>
              </a:rPr>
              <a:t>&gt;</a:t>
            </a:r>
            <a:br>
              <a:rPr lang="en-GB" sz="1400" dirty="0"/>
            </a:br>
            <a:br>
              <a:rPr lang="en-GB" sz="1400" dirty="0"/>
            </a:b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soap:Body</a:t>
            </a:r>
            <a:r>
              <a:rPr lang="en-GB" sz="1400" dirty="0">
                <a:solidFill>
                  <a:srgbClr val="0000CD"/>
                </a:solidFill>
                <a:latin typeface="Consolas" panose="020B0609020204030204" pitchFamily="49" charset="0"/>
              </a:rPr>
              <a:t>&gt;</a:t>
            </a:r>
            <a:br>
              <a:rPr lang="en-GB" sz="1400" dirty="0"/>
            </a:br>
            <a:r>
              <a:rPr lang="en-GB" sz="1400" dirty="0">
                <a:solidFill>
                  <a:srgbClr val="000000"/>
                </a:solidFill>
                <a:latin typeface="Consolas" panose="020B0609020204030204" pitchFamily="49" charset="0"/>
              </a:rPr>
              <a:t>...</a:t>
            </a:r>
            <a:br>
              <a:rPr lang="en-GB" sz="1400" dirty="0"/>
            </a:br>
            <a:r>
              <a:rPr lang="en-GB" sz="1400" dirty="0">
                <a:solidFill>
                  <a:srgbClr val="000000"/>
                </a:solidFill>
                <a:latin typeface="Consolas" panose="020B0609020204030204" pitchFamily="49" charset="0"/>
              </a:rPr>
              <a:t>  </a:t>
            </a: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soap:Fault</a:t>
            </a:r>
            <a:r>
              <a:rPr lang="en-GB" sz="1400" dirty="0">
                <a:solidFill>
                  <a:srgbClr val="0000CD"/>
                </a:solidFill>
                <a:latin typeface="Consolas" panose="020B0609020204030204" pitchFamily="49" charset="0"/>
              </a:rPr>
              <a:t>&gt;</a:t>
            </a:r>
            <a:br>
              <a:rPr lang="en-GB" sz="1400" dirty="0"/>
            </a:br>
            <a:r>
              <a:rPr lang="en-GB" sz="1400" dirty="0">
                <a:solidFill>
                  <a:srgbClr val="000000"/>
                </a:solidFill>
                <a:latin typeface="Consolas" panose="020B0609020204030204" pitchFamily="49" charset="0"/>
              </a:rPr>
              <a:t>  ...</a:t>
            </a:r>
            <a:br>
              <a:rPr lang="en-GB" sz="1400" dirty="0"/>
            </a:br>
            <a:r>
              <a:rPr lang="en-GB" sz="1400" dirty="0">
                <a:solidFill>
                  <a:srgbClr val="000000"/>
                </a:solidFill>
                <a:latin typeface="Consolas" panose="020B0609020204030204" pitchFamily="49" charset="0"/>
              </a:rPr>
              <a:t>  </a:t>
            </a: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soap:Fault</a:t>
            </a:r>
            <a:r>
              <a:rPr lang="en-GB" sz="1400" dirty="0">
                <a:solidFill>
                  <a:srgbClr val="0000CD"/>
                </a:solidFill>
                <a:latin typeface="Consolas" panose="020B0609020204030204" pitchFamily="49" charset="0"/>
              </a:rPr>
              <a:t>&gt;</a:t>
            </a:r>
            <a:br>
              <a:rPr lang="en-GB" sz="1400" dirty="0"/>
            </a:b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soap:Body</a:t>
            </a:r>
            <a:r>
              <a:rPr lang="en-GB" sz="1400" dirty="0">
                <a:solidFill>
                  <a:srgbClr val="0000CD"/>
                </a:solidFill>
                <a:latin typeface="Consolas" panose="020B0609020204030204" pitchFamily="49" charset="0"/>
              </a:rPr>
              <a:t>&gt;</a:t>
            </a:r>
            <a:br>
              <a:rPr lang="en-GB" sz="1400" dirty="0"/>
            </a:br>
            <a:br>
              <a:rPr lang="en-GB" sz="1400" dirty="0"/>
            </a:b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soap:Envelope</a:t>
            </a:r>
            <a:r>
              <a:rPr lang="en-GB" sz="1400" dirty="0">
                <a:solidFill>
                  <a:srgbClr val="0000CD"/>
                </a:solidFill>
                <a:latin typeface="Consolas" panose="020B0609020204030204" pitchFamily="49" charset="0"/>
              </a:rPr>
              <a:t>&gt;</a:t>
            </a:r>
          </a:p>
        </p:txBody>
      </p:sp>
      <p:sp>
        <p:nvSpPr>
          <p:cNvPr id="6" name="Rettangolo 5"/>
          <p:cNvSpPr/>
          <p:nvPr/>
        </p:nvSpPr>
        <p:spPr>
          <a:xfrm>
            <a:off x="3553730" y="2939190"/>
            <a:ext cx="5207644" cy="369332"/>
          </a:xfrm>
          <a:prstGeom prst="rect">
            <a:avLst/>
          </a:prstGeom>
          <a:solidFill>
            <a:schemeClr val="bg1"/>
          </a:solidFill>
          <a:ln>
            <a:solidFill>
              <a:srgbClr val="00B050"/>
            </a:solidFill>
          </a:ln>
        </p:spPr>
        <p:txBody>
          <a:bodyPr wrap="none">
            <a:spAutoFit/>
          </a:bodyPr>
          <a:lstStyle/>
          <a:p>
            <a:r>
              <a:rPr lang="en-GB" dirty="0">
                <a:solidFill>
                  <a:srgbClr val="000000"/>
                </a:solidFill>
                <a:latin typeface="Aptos" panose="020B0004020202020204" pitchFamily="34" charset="0"/>
              </a:rPr>
              <a:t>It defines the XML document as a SOAP message</a:t>
            </a:r>
            <a:endParaRPr lang="en-GB" dirty="0">
              <a:latin typeface="Aptos" panose="020B0004020202020204" pitchFamily="34" charset="0"/>
            </a:endParaRPr>
          </a:p>
        </p:txBody>
      </p:sp>
      <p:cxnSp>
        <p:nvCxnSpPr>
          <p:cNvPr id="8" name="Connettore 2 7"/>
          <p:cNvCxnSpPr/>
          <p:nvPr/>
        </p:nvCxnSpPr>
        <p:spPr>
          <a:xfrm flipH="1">
            <a:off x="2554571" y="3178289"/>
            <a:ext cx="999159" cy="2604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ttangolo 11"/>
          <p:cNvSpPr/>
          <p:nvPr/>
        </p:nvSpPr>
        <p:spPr>
          <a:xfrm>
            <a:off x="2668842" y="4183871"/>
            <a:ext cx="6475158" cy="646331"/>
          </a:xfrm>
          <a:prstGeom prst="rect">
            <a:avLst/>
          </a:prstGeom>
          <a:solidFill>
            <a:schemeClr val="bg1"/>
          </a:solidFill>
          <a:ln>
            <a:solidFill>
              <a:srgbClr val="00B050"/>
            </a:solidFill>
          </a:ln>
        </p:spPr>
        <p:txBody>
          <a:bodyPr wrap="square">
            <a:spAutoFit/>
          </a:bodyPr>
          <a:lstStyle/>
          <a:p>
            <a:r>
              <a:rPr lang="en-GB" dirty="0">
                <a:solidFill>
                  <a:srgbClr val="000000"/>
                </a:solidFill>
                <a:latin typeface="Aptos" panose="020B0004020202020204" pitchFamily="34" charset="0"/>
              </a:rPr>
              <a:t>Application-specific information specifying how the recipient should process the message (optional)</a:t>
            </a:r>
            <a:endParaRPr lang="en-GB" dirty="0">
              <a:latin typeface="Aptos" panose="020B0004020202020204" pitchFamily="34" charset="0"/>
            </a:endParaRPr>
          </a:p>
        </p:txBody>
      </p:sp>
      <p:cxnSp>
        <p:nvCxnSpPr>
          <p:cNvPr id="13" name="Connettore 2 12"/>
          <p:cNvCxnSpPr/>
          <p:nvPr/>
        </p:nvCxnSpPr>
        <p:spPr>
          <a:xfrm flipH="1">
            <a:off x="2243193" y="4477164"/>
            <a:ext cx="42564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ttangolo 15"/>
          <p:cNvSpPr/>
          <p:nvPr/>
        </p:nvSpPr>
        <p:spPr>
          <a:xfrm>
            <a:off x="2668842" y="5004002"/>
            <a:ext cx="2237232" cy="369332"/>
          </a:xfrm>
          <a:prstGeom prst="rect">
            <a:avLst/>
          </a:prstGeom>
          <a:solidFill>
            <a:schemeClr val="bg1"/>
          </a:solidFill>
          <a:ln>
            <a:solidFill>
              <a:srgbClr val="00B050"/>
            </a:solidFill>
          </a:ln>
        </p:spPr>
        <p:txBody>
          <a:bodyPr wrap="square">
            <a:spAutoFit/>
          </a:bodyPr>
          <a:lstStyle/>
          <a:p>
            <a:r>
              <a:rPr lang="en-GB" dirty="0">
                <a:solidFill>
                  <a:srgbClr val="000000"/>
                </a:solidFill>
                <a:latin typeface="Aptos" panose="020B0004020202020204" pitchFamily="34" charset="0"/>
              </a:rPr>
              <a:t>The message body</a:t>
            </a:r>
            <a:endParaRPr lang="en-GB" dirty="0">
              <a:latin typeface="Aptos" panose="020B0004020202020204" pitchFamily="34" charset="0"/>
            </a:endParaRPr>
          </a:p>
        </p:txBody>
      </p:sp>
      <p:sp>
        <p:nvSpPr>
          <p:cNvPr id="19" name="Rettangolo 18"/>
          <p:cNvSpPr/>
          <p:nvPr/>
        </p:nvSpPr>
        <p:spPr>
          <a:xfrm>
            <a:off x="2668842" y="5570225"/>
            <a:ext cx="3537574" cy="369332"/>
          </a:xfrm>
          <a:prstGeom prst="rect">
            <a:avLst/>
          </a:prstGeom>
          <a:solidFill>
            <a:schemeClr val="bg1"/>
          </a:solidFill>
          <a:ln>
            <a:solidFill>
              <a:srgbClr val="00B050"/>
            </a:solidFill>
          </a:ln>
        </p:spPr>
        <p:txBody>
          <a:bodyPr wrap="square">
            <a:spAutoFit/>
          </a:bodyPr>
          <a:lstStyle/>
          <a:p>
            <a:r>
              <a:rPr lang="en-GB" dirty="0">
                <a:solidFill>
                  <a:srgbClr val="000000"/>
                </a:solidFill>
                <a:latin typeface="Aptos" panose="020B0004020202020204" pitchFamily="34" charset="0"/>
              </a:rPr>
              <a:t>Error messages (optional)</a:t>
            </a:r>
            <a:endParaRPr lang="en-GB" dirty="0">
              <a:latin typeface="Aptos" panose="020B0004020202020204" pitchFamily="34" charset="0"/>
            </a:endParaRPr>
          </a:p>
        </p:txBody>
      </p:sp>
      <p:cxnSp>
        <p:nvCxnSpPr>
          <p:cNvPr id="27" name="Connettore 2 26"/>
          <p:cNvCxnSpPr/>
          <p:nvPr/>
        </p:nvCxnSpPr>
        <p:spPr>
          <a:xfrm flipH="1">
            <a:off x="2243193" y="5185824"/>
            <a:ext cx="42564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ttore 2 27"/>
          <p:cNvCxnSpPr/>
          <p:nvPr/>
        </p:nvCxnSpPr>
        <p:spPr>
          <a:xfrm flipH="1">
            <a:off x="2243193" y="5742084"/>
            <a:ext cx="42564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Segnaposto numero diapositiva 28"/>
          <p:cNvSpPr>
            <a:spLocks noGrp="1"/>
          </p:cNvSpPr>
          <p:nvPr>
            <p:ph type="sldNum" sz="quarter" idx="12"/>
          </p:nvPr>
        </p:nvSpPr>
        <p:spPr/>
        <p:txBody>
          <a:bodyPr/>
          <a:lstStyle/>
          <a:p>
            <a:fld id="{31DE2C5B-556E-47B8-A792-024C2FCA4ACC}" type="slidenum">
              <a:rPr lang="en-GB" smtClean="0"/>
              <a:t>28</a:t>
            </a:fld>
            <a:endParaRPr lang="en-GB"/>
          </a:p>
        </p:txBody>
      </p:sp>
    </p:spTree>
    <p:extLst>
      <p:ext uri="{BB962C8B-B14F-4D97-AF65-F5344CB8AC3E}">
        <p14:creationId xmlns:p14="http://schemas.microsoft.com/office/powerpoint/2010/main" val="89502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a:t>
            </a:r>
            <a:r>
              <a:rPr lang="it-IT" dirty="0"/>
              <a:t> of SOAP </a:t>
            </a:r>
            <a:r>
              <a:rPr lang="it-IT" dirty="0" err="1"/>
              <a:t>messages</a:t>
            </a:r>
            <a:endParaRPr lang="en-GB" dirty="0"/>
          </a:p>
        </p:txBody>
      </p:sp>
      <p:sp>
        <p:nvSpPr>
          <p:cNvPr id="3" name="Segnaposto contenuto 2"/>
          <p:cNvSpPr>
            <a:spLocks noGrp="1"/>
          </p:cNvSpPr>
          <p:nvPr>
            <p:ph sz="half" idx="1"/>
          </p:nvPr>
        </p:nvSpPr>
        <p:spPr>
          <a:xfrm>
            <a:off x="428172" y="1578792"/>
            <a:ext cx="6224088" cy="4982754"/>
          </a:xfrm>
          <a:ln>
            <a:solidFill>
              <a:srgbClr val="00B050"/>
            </a:solidFill>
          </a:ln>
        </p:spPr>
        <p:txBody>
          <a:bodyPr>
            <a:noAutofit/>
          </a:bodyPr>
          <a:lstStyle/>
          <a:p>
            <a:pPr marL="0" lvl="0" indent="0">
              <a:lnSpc>
                <a:spcPct val="100000"/>
              </a:lnSpc>
              <a:spcBef>
                <a:spcPts val="0"/>
              </a:spcBef>
              <a:buClrTx/>
              <a:buNone/>
            </a:pPr>
            <a:r>
              <a:rPr lang="en-GB" sz="1600" dirty="0">
                <a:solidFill>
                  <a:srgbClr val="000000"/>
                </a:solidFill>
                <a:latin typeface="Consolas" panose="020B0609020204030204" pitchFamily="49" charset="0"/>
              </a:rPr>
              <a:t>POST /</a:t>
            </a:r>
            <a:r>
              <a:rPr lang="en-GB" sz="1600" dirty="0" err="1">
                <a:solidFill>
                  <a:srgbClr val="000000"/>
                </a:solidFill>
                <a:latin typeface="Consolas" panose="020B0609020204030204" pitchFamily="49" charset="0"/>
              </a:rPr>
              <a:t>InStock</a:t>
            </a:r>
            <a:r>
              <a:rPr lang="en-GB" sz="1600" dirty="0">
                <a:solidFill>
                  <a:srgbClr val="000000"/>
                </a:solidFill>
                <a:latin typeface="Consolas" panose="020B0609020204030204" pitchFamily="49" charset="0"/>
              </a:rPr>
              <a:t> HTTP/1.1</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Host: www.example.org</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Content-Type: application/</a:t>
            </a:r>
            <a:r>
              <a:rPr lang="en-GB" sz="1600" dirty="0" err="1">
                <a:solidFill>
                  <a:srgbClr val="000000"/>
                </a:solidFill>
                <a:latin typeface="Consolas" panose="020B0609020204030204" pitchFamily="49" charset="0"/>
              </a:rPr>
              <a:t>soap+xml</a:t>
            </a:r>
            <a:r>
              <a:rPr lang="en-GB" sz="1600" dirty="0">
                <a:solidFill>
                  <a:srgbClr val="000000"/>
                </a:solidFill>
                <a:latin typeface="Consolas" panose="020B0609020204030204" pitchFamily="49" charset="0"/>
              </a:rPr>
              <a:t>; charset=utf-8</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Content-Length: </a:t>
            </a:r>
            <a:r>
              <a:rPr lang="en-GB" sz="1600" dirty="0" err="1">
                <a:solidFill>
                  <a:srgbClr val="000000"/>
                </a:solidFill>
                <a:latin typeface="Consolas" panose="020B0609020204030204" pitchFamily="49" charset="0"/>
              </a:rPr>
              <a:t>nnn</a:t>
            </a:r>
            <a:br>
              <a:rPr lang="en-GB" sz="1600" dirty="0">
                <a:solidFill>
                  <a:prstClr val="black"/>
                </a:solidFill>
                <a:latin typeface="Calibri" panose="020F0502020204030204"/>
              </a:rPr>
            </a:br>
            <a:br>
              <a:rPr lang="en-GB" sz="1600" dirty="0">
                <a:solidFill>
                  <a:prstClr val="black"/>
                </a:solidFill>
                <a:latin typeface="Calibri" panose="020F0502020204030204"/>
              </a:rPr>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?xml</a:t>
            </a:r>
            <a:r>
              <a:rPr lang="en-GB" sz="1600" dirty="0">
                <a:solidFill>
                  <a:srgbClr val="FF0000"/>
                </a:solidFill>
                <a:latin typeface="Consolas" panose="020B0609020204030204" pitchFamily="49" charset="0"/>
              </a:rPr>
              <a:t> version</a:t>
            </a:r>
            <a:r>
              <a:rPr lang="en-GB" sz="1600" dirty="0">
                <a:solidFill>
                  <a:srgbClr val="0000CD"/>
                </a:solidFill>
                <a:latin typeface="Consolas" panose="020B0609020204030204" pitchFamily="49" charset="0"/>
              </a:rPr>
              <a:t>="1.0"</a:t>
            </a:r>
            <a:r>
              <a:rPr lang="en-GB" sz="1600" dirty="0">
                <a:solidFill>
                  <a:srgbClr val="FF0000"/>
                </a:solidFill>
                <a:latin typeface="Consolas" panose="020B0609020204030204" pitchFamily="49" charset="0"/>
              </a:rPr>
              <a:t>?</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br>
              <a:rPr lang="en-GB" sz="1600" dirty="0">
                <a:solidFill>
                  <a:prstClr val="black"/>
                </a:solidFill>
                <a:latin typeface="Calibri" panose="020F0502020204030204"/>
              </a:rPr>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xmlns:soap</a:t>
            </a:r>
            <a:r>
              <a:rPr lang="en-GB" sz="1600" dirty="0">
                <a:solidFill>
                  <a:srgbClr val="0000CD"/>
                </a:solidFill>
                <a:latin typeface="Consolas" panose="020B0609020204030204" pitchFamily="49" charset="0"/>
              </a:rPr>
              <a:t>="http://www.w3.org/2003/05/soap-envelope/"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soap:encodingStyle</a:t>
            </a:r>
            <a:r>
              <a:rPr lang="en-GB" sz="1600" dirty="0">
                <a:solidFill>
                  <a:srgbClr val="0000CD"/>
                </a:solidFill>
                <a:latin typeface="Consolas" panose="020B0609020204030204" pitchFamily="49" charset="0"/>
              </a:rPr>
              <a:t>="http://www.w3.org/2003/05/soap-encoding"&gt;</a:t>
            </a:r>
            <a:endParaRPr lang="en-GB" sz="1600" dirty="0">
              <a:solidFill>
                <a:prstClr val="black"/>
              </a:solidFill>
              <a:latin typeface="Calibri" panose="020F0502020204030204"/>
            </a:endParaRPr>
          </a:p>
          <a:p>
            <a:pPr marL="0" lvl="0" indent="0">
              <a:lnSpc>
                <a:spcPct val="100000"/>
              </a:lnSpc>
              <a:spcBef>
                <a:spcPts val="0"/>
              </a:spcBef>
              <a:buClrTx/>
              <a:buNone/>
            </a:pPr>
            <a:br>
              <a:rPr lang="en-GB" sz="1600" dirty="0">
                <a:solidFill>
                  <a:prstClr val="black"/>
                </a:solidFill>
                <a:latin typeface="Calibri" panose="020F0502020204030204"/>
              </a:rPr>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soap:Body</a:t>
            </a:r>
            <a:r>
              <a:rPr lang="en-GB" sz="1600" dirty="0">
                <a:solidFill>
                  <a:srgbClr val="FF0000"/>
                </a:solidFill>
                <a:latin typeface="Consolas" panose="020B0609020204030204" pitchFamily="49" charset="0"/>
              </a:rPr>
              <a:t> </a:t>
            </a:r>
            <a:r>
              <a:rPr lang="en-GB" sz="1600" dirty="0" err="1">
                <a:solidFill>
                  <a:srgbClr val="FF0000"/>
                </a:solidFill>
                <a:latin typeface="Consolas" panose="020B0609020204030204" pitchFamily="49" charset="0"/>
              </a:rPr>
              <a:t>xmlns:m</a:t>
            </a:r>
            <a:r>
              <a:rPr lang="en-GB" sz="1600" dirty="0">
                <a:solidFill>
                  <a:srgbClr val="0000CD"/>
                </a:solidFill>
                <a:latin typeface="Consolas" panose="020B0609020204030204" pitchFamily="49" charset="0"/>
              </a:rPr>
              <a:t>="http://www.example.org/stock"&gt;</a:t>
            </a:r>
            <a:endParaRPr lang="en-GB" sz="1600" dirty="0">
              <a:solidFill>
                <a:prstClr val="black"/>
              </a:solidFill>
              <a:latin typeface="Calibri" panose="020F0502020204030204"/>
            </a:endParaRPr>
          </a:p>
          <a:p>
            <a:pPr marL="0" lvl="0" indent="0">
              <a:lnSpc>
                <a:spcPct val="100000"/>
              </a:lnSpc>
              <a:spcBef>
                <a:spcPts val="0"/>
              </a:spcBef>
              <a:buClrTx/>
              <a:buNone/>
            </a:pP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m:GetStockPrice</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m:StockName</a:t>
            </a:r>
            <a:r>
              <a:rPr lang="en-GB" sz="1600" dirty="0">
                <a:solidFill>
                  <a:srgbClr val="0000CD"/>
                </a:solidFill>
                <a:latin typeface="Consolas" panose="020B0609020204030204" pitchFamily="49" charset="0"/>
              </a:rPr>
              <a:t>&gt;</a:t>
            </a:r>
            <a:r>
              <a:rPr lang="en-GB" sz="1600" dirty="0">
                <a:solidFill>
                  <a:srgbClr val="000000"/>
                </a:solidFill>
                <a:latin typeface="Consolas" panose="020B0609020204030204" pitchFamily="49" charset="0"/>
              </a:rPr>
              <a:t>IBM</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m:StockName</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m:GetStockPrice</a:t>
            </a:r>
            <a:r>
              <a:rPr lang="en-GB" sz="1600" dirty="0">
                <a:solidFill>
                  <a:srgbClr val="0000CD"/>
                </a:solidFill>
                <a:latin typeface="Consolas" panose="020B0609020204030204" pitchFamily="49" charset="0"/>
              </a:rPr>
              <a:t>&gt;</a:t>
            </a:r>
            <a:endParaRPr lang="en-GB" sz="1600" dirty="0">
              <a:solidFill>
                <a:prstClr val="black"/>
              </a:solidFill>
              <a:latin typeface="Calibri" panose="020F0502020204030204"/>
            </a:endParaRPr>
          </a:p>
          <a:p>
            <a:pPr marL="0" lvl="0" indent="0">
              <a:lnSpc>
                <a:spcPct val="100000"/>
              </a:lnSpc>
              <a:spcBef>
                <a:spcPts val="0"/>
              </a:spcBef>
              <a:buClrTx/>
              <a:buNone/>
            </a:pP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soap:Body</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endParaRPr lang="en-GB" sz="1600" dirty="0">
              <a:solidFill>
                <a:prstClr val="black"/>
              </a:solidFill>
              <a:latin typeface="Calibri" panose="020F0502020204030204"/>
            </a:endParaRPr>
          </a:p>
          <a:p>
            <a:pPr marL="0" lvl="0" indent="0">
              <a:lnSpc>
                <a:spcPct val="100000"/>
              </a:lnSpc>
              <a:spcBef>
                <a:spcPts val="0"/>
              </a:spcBef>
              <a:buClrTx/>
              <a:buNone/>
            </a:pP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soap:Envelope</a:t>
            </a:r>
            <a:r>
              <a:rPr lang="en-GB" sz="1600" dirty="0">
                <a:solidFill>
                  <a:srgbClr val="0000CD"/>
                </a:solidFill>
                <a:latin typeface="Consolas" panose="020B0609020204030204" pitchFamily="49" charset="0"/>
              </a:rPr>
              <a:t>&gt;</a:t>
            </a:r>
          </a:p>
        </p:txBody>
      </p:sp>
      <p:sp>
        <p:nvSpPr>
          <p:cNvPr id="4" name="Segnaposto contenuto 3"/>
          <p:cNvSpPr>
            <a:spLocks noGrp="1"/>
          </p:cNvSpPr>
          <p:nvPr>
            <p:ph sz="half" idx="2"/>
          </p:nvPr>
        </p:nvSpPr>
        <p:spPr>
          <a:xfrm>
            <a:off x="6652260" y="1578792"/>
            <a:ext cx="5144226" cy="4982754"/>
          </a:xfrm>
          <a:ln>
            <a:solidFill>
              <a:srgbClr val="00B050"/>
            </a:solidFill>
          </a:ln>
        </p:spPr>
        <p:txBody>
          <a:bodyPr>
            <a:noAutofit/>
          </a:bodyPr>
          <a:lstStyle/>
          <a:p>
            <a:pPr marL="0" indent="0">
              <a:buNone/>
            </a:pPr>
            <a:r>
              <a:rPr lang="en-GB" sz="1600" dirty="0">
                <a:solidFill>
                  <a:srgbClr val="000000"/>
                </a:solidFill>
                <a:latin typeface="Consolas" panose="020B0609020204030204" pitchFamily="49" charset="0"/>
              </a:rPr>
              <a:t>HTTP/1.1 200 OK</a:t>
            </a:r>
            <a:br>
              <a:rPr lang="en-GB" sz="1600" dirty="0"/>
            </a:br>
            <a:r>
              <a:rPr lang="en-GB" sz="1600" dirty="0">
                <a:solidFill>
                  <a:srgbClr val="000000"/>
                </a:solidFill>
                <a:latin typeface="Consolas" panose="020B0609020204030204" pitchFamily="49" charset="0"/>
              </a:rPr>
              <a:t>Content-Type: application/</a:t>
            </a:r>
            <a:r>
              <a:rPr lang="en-GB" sz="1600" dirty="0" err="1">
                <a:solidFill>
                  <a:srgbClr val="000000"/>
                </a:solidFill>
                <a:latin typeface="Consolas" panose="020B0609020204030204" pitchFamily="49" charset="0"/>
              </a:rPr>
              <a:t>soap+xml</a:t>
            </a:r>
            <a:r>
              <a:rPr lang="en-GB" sz="1600" dirty="0">
                <a:solidFill>
                  <a:srgbClr val="000000"/>
                </a:solidFill>
                <a:latin typeface="Consolas" panose="020B0609020204030204" pitchFamily="49" charset="0"/>
              </a:rPr>
              <a:t>; charset=utf-8</a:t>
            </a:r>
            <a:br>
              <a:rPr lang="en-GB" sz="1600" dirty="0"/>
            </a:br>
            <a:r>
              <a:rPr lang="en-GB" sz="1600" dirty="0">
                <a:solidFill>
                  <a:srgbClr val="000000"/>
                </a:solidFill>
                <a:latin typeface="Consolas" panose="020B0609020204030204" pitchFamily="49" charset="0"/>
              </a:rPr>
              <a:t>Content-Length: </a:t>
            </a:r>
            <a:r>
              <a:rPr lang="en-GB" sz="1600" dirty="0" err="1">
                <a:solidFill>
                  <a:srgbClr val="000000"/>
                </a:solidFill>
                <a:latin typeface="Consolas" panose="020B0609020204030204" pitchFamily="49" charset="0"/>
              </a:rPr>
              <a:t>nnn</a:t>
            </a:r>
            <a:br>
              <a:rPr lang="en-GB" sz="1600" dirty="0"/>
            </a:br>
            <a:br>
              <a:rPr lang="en-GB" sz="1600" dirty="0"/>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?xml</a:t>
            </a:r>
            <a:r>
              <a:rPr lang="en-GB" sz="1600" dirty="0">
                <a:solidFill>
                  <a:srgbClr val="FF0000"/>
                </a:solidFill>
                <a:latin typeface="Consolas" panose="020B0609020204030204" pitchFamily="49" charset="0"/>
              </a:rPr>
              <a:t> version</a:t>
            </a:r>
            <a:r>
              <a:rPr lang="en-GB" sz="1600" dirty="0">
                <a:solidFill>
                  <a:srgbClr val="0000CD"/>
                </a:solidFill>
                <a:latin typeface="Consolas" panose="020B0609020204030204" pitchFamily="49" charset="0"/>
              </a:rPr>
              <a:t>="1.0"</a:t>
            </a:r>
            <a:r>
              <a:rPr lang="en-GB" sz="1600" dirty="0">
                <a:solidFill>
                  <a:srgbClr val="FF0000"/>
                </a:solidFill>
                <a:latin typeface="Consolas" panose="020B0609020204030204" pitchFamily="49" charset="0"/>
              </a:rPr>
              <a:t>?</a:t>
            </a:r>
            <a:r>
              <a:rPr lang="en-GB" sz="1600" dirty="0">
                <a:solidFill>
                  <a:srgbClr val="0000CD"/>
                </a:solidFill>
                <a:latin typeface="Consolas" panose="020B0609020204030204" pitchFamily="49" charset="0"/>
              </a:rPr>
              <a:t>&gt;</a:t>
            </a:r>
            <a:br>
              <a:rPr lang="en-GB" sz="1600" dirty="0"/>
            </a:br>
            <a:br>
              <a:rPr lang="en-GB" sz="1600" dirty="0"/>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xmlns:soap</a:t>
            </a:r>
            <a:r>
              <a:rPr lang="en-GB" sz="1600" dirty="0">
                <a:solidFill>
                  <a:srgbClr val="0000CD"/>
                </a:solidFill>
                <a:latin typeface="Consolas" panose="020B0609020204030204" pitchFamily="49" charset="0"/>
              </a:rPr>
              <a:t>="http://www.w3.org/2003/05/soap-envelope/"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soap:encodingStyle</a:t>
            </a:r>
            <a:r>
              <a:rPr lang="en-GB" sz="1600" dirty="0">
                <a:solidFill>
                  <a:srgbClr val="0000CD"/>
                </a:solidFill>
                <a:latin typeface="Consolas" panose="020B0609020204030204" pitchFamily="49" charset="0"/>
              </a:rPr>
              <a:t>="http://www.w3.org/2003/05/soap-encoding"&gt;</a:t>
            </a:r>
            <a:br>
              <a:rPr lang="en-GB" sz="1600" dirty="0"/>
            </a:br>
            <a:br>
              <a:rPr lang="en-GB" sz="1600" dirty="0"/>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soap:Body</a:t>
            </a:r>
            <a:r>
              <a:rPr lang="en-GB" sz="1600" dirty="0">
                <a:solidFill>
                  <a:srgbClr val="FF0000"/>
                </a:solidFill>
                <a:latin typeface="Consolas" panose="020B0609020204030204" pitchFamily="49" charset="0"/>
              </a:rPr>
              <a:t> </a:t>
            </a:r>
            <a:r>
              <a:rPr lang="en-GB" sz="1600" dirty="0" err="1">
                <a:solidFill>
                  <a:srgbClr val="FF0000"/>
                </a:solidFill>
                <a:latin typeface="Consolas" panose="020B0609020204030204" pitchFamily="49" charset="0"/>
              </a:rPr>
              <a:t>xmlns:m</a:t>
            </a:r>
            <a:r>
              <a:rPr lang="en-GB" sz="1600" dirty="0">
                <a:solidFill>
                  <a:srgbClr val="0000CD"/>
                </a:solidFill>
                <a:latin typeface="Consolas" panose="020B0609020204030204" pitchFamily="49" charset="0"/>
              </a:rPr>
              <a:t>="http://www.example.org/stock"&gt;</a:t>
            </a:r>
            <a:br>
              <a:rPr lang="en-GB" sz="1600" dirty="0"/>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m:GetStockPriceResponse</a:t>
            </a:r>
            <a:r>
              <a:rPr lang="en-GB" sz="1600" dirty="0">
                <a:solidFill>
                  <a:srgbClr val="0000CD"/>
                </a:solidFill>
                <a:latin typeface="Consolas" panose="020B0609020204030204" pitchFamily="49" charset="0"/>
              </a:rPr>
              <a:t>&gt;</a:t>
            </a:r>
            <a:br>
              <a:rPr lang="en-GB" sz="1600" dirty="0"/>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m:Price</a:t>
            </a:r>
            <a:r>
              <a:rPr lang="en-GB" sz="1600" dirty="0">
                <a:solidFill>
                  <a:srgbClr val="0000CD"/>
                </a:solidFill>
                <a:latin typeface="Consolas" panose="020B0609020204030204" pitchFamily="49" charset="0"/>
              </a:rPr>
              <a:t>&gt;</a:t>
            </a:r>
            <a:r>
              <a:rPr lang="en-GB" sz="1600" dirty="0">
                <a:solidFill>
                  <a:srgbClr val="000000"/>
                </a:solidFill>
                <a:latin typeface="Consolas" panose="020B0609020204030204" pitchFamily="49" charset="0"/>
              </a:rPr>
              <a:t>34.5</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m:Price</a:t>
            </a:r>
            <a:r>
              <a:rPr lang="en-GB" sz="1600" dirty="0">
                <a:solidFill>
                  <a:srgbClr val="0000CD"/>
                </a:solidFill>
                <a:latin typeface="Consolas" panose="020B0609020204030204" pitchFamily="49" charset="0"/>
              </a:rPr>
              <a:t>&gt;</a:t>
            </a:r>
            <a:br>
              <a:rPr lang="en-GB" sz="1600" dirty="0"/>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m:GetStockPriceResponse</a:t>
            </a:r>
            <a:r>
              <a:rPr lang="en-GB" sz="1600" dirty="0">
                <a:solidFill>
                  <a:srgbClr val="0000CD"/>
                </a:solidFill>
                <a:latin typeface="Consolas" panose="020B0609020204030204" pitchFamily="49" charset="0"/>
              </a:rPr>
              <a:t>&gt;</a:t>
            </a:r>
            <a:br>
              <a:rPr lang="en-GB" sz="1600" dirty="0"/>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soap:Body</a:t>
            </a:r>
            <a:r>
              <a:rPr lang="en-GB" sz="1600" dirty="0">
                <a:solidFill>
                  <a:srgbClr val="0000CD"/>
                </a:solidFill>
                <a:latin typeface="Consolas" panose="020B0609020204030204" pitchFamily="49" charset="0"/>
              </a:rPr>
              <a:t>&gt;</a:t>
            </a:r>
            <a:br>
              <a:rPr lang="en-GB" sz="1600" dirty="0"/>
            </a:br>
            <a:br>
              <a:rPr lang="en-GB" sz="1600" dirty="0"/>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soap:Envelope</a:t>
            </a:r>
            <a:r>
              <a:rPr lang="en-GB" sz="1600" dirty="0">
                <a:solidFill>
                  <a:srgbClr val="0000CD"/>
                </a:solidFill>
                <a:latin typeface="Consolas" panose="020B0609020204030204" pitchFamily="49" charset="0"/>
              </a:rPr>
              <a:t>&gt;</a:t>
            </a:r>
            <a:endParaRPr lang="en-GB" sz="1600" dirty="0"/>
          </a:p>
        </p:txBody>
      </p:sp>
      <p:sp>
        <p:nvSpPr>
          <p:cNvPr id="5" name="Rettangolo 4"/>
          <p:cNvSpPr/>
          <p:nvPr/>
        </p:nvSpPr>
        <p:spPr>
          <a:xfrm>
            <a:off x="428172" y="1209460"/>
            <a:ext cx="6224088" cy="369332"/>
          </a:xfrm>
          <a:prstGeom prst="rect">
            <a:avLst/>
          </a:prstGeom>
          <a:solidFill>
            <a:schemeClr val="bg1"/>
          </a:solidFill>
          <a:ln>
            <a:noFill/>
          </a:ln>
        </p:spPr>
        <p:txBody>
          <a:bodyPr wrap="square">
            <a:spAutoFit/>
          </a:bodyPr>
          <a:lstStyle/>
          <a:p>
            <a:pPr algn="ctr"/>
            <a:r>
              <a:rPr lang="en-GB" b="1" dirty="0">
                <a:solidFill>
                  <a:srgbClr val="000000"/>
                </a:solidFill>
                <a:latin typeface="Aptos" panose="020B0004020202020204" pitchFamily="34" charset="0"/>
              </a:rPr>
              <a:t>Example of SOAP request:</a:t>
            </a:r>
            <a:endParaRPr lang="en-GB" b="1" dirty="0">
              <a:latin typeface="Aptos" panose="020B0004020202020204" pitchFamily="34" charset="0"/>
            </a:endParaRPr>
          </a:p>
        </p:txBody>
      </p:sp>
      <p:sp>
        <p:nvSpPr>
          <p:cNvPr id="6" name="Rettangolo 5"/>
          <p:cNvSpPr/>
          <p:nvPr/>
        </p:nvSpPr>
        <p:spPr>
          <a:xfrm>
            <a:off x="6652260" y="1206835"/>
            <a:ext cx="5144226" cy="369332"/>
          </a:xfrm>
          <a:prstGeom prst="rect">
            <a:avLst/>
          </a:prstGeom>
          <a:solidFill>
            <a:schemeClr val="bg1"/>
          </a:solidFill>
          <a:ln>
            <a:noFill/>
          </a:ln>
        </p:spPr>
        <p:txBody>
          <a:bodyPr wrap="square">
            <a:spAutoFit/>
          </a:bodyPr>
          <a:lstStyle/>
          <a:p>
            <a:pPr algn="ctr"/>
            <a:r>
              <a:rPr lang="en-GB" b="1" dirty="0">
                <a:solidFill>
                  <a:srgbClr val="000000"/>
                </a:solidFill>
                <a:latin typeface="Aptos" panose="020B0004020202020204" pitchFamily="34" charset="0"/>
              </a:rPr>
              <a:t>Example of SOAP response:</a:t>
            </a:r>
            <a:endParaRPr lang="en-GB" b="1" dirty="0">
              <a:latin typeface="Aptos" panose="020B0004020202020204" pitchFamily="34" charset="0"/>
            </a:endParaRPr>
          </a:p>
        </p:txBody>
      </p:sp>
      <p:sp>
        <p:nvSpPr>
          <p:cNvPr id="7" name="Segnaposto numero diapositiva 6"/>
          <p:cNvSpPr>
            <a:spLocks noGrp="1"/>
          </p:cNvSpPr>
          <p:nvPr>
            <p:ph type="sldNum" sz="quarter" idx="12"/>
          </p:nvPr>
        </p:nvSpPr>
        <p:spPr/>
        <p:txBody>
          <a:bodyPr/>
          <a:lstStyle/>
          <a:p>
            <a:fld id="{31DE2C5B-556E-47B8-A792-024C2FCA4ACC}" type="slidenum">
              <a:rPr lang="en-GB" smtClean="0"/>
              <a:t>29</a:t>
            </a:fld>
            <a:endParaRPr lang="en-GB"/>
          </a:p>
        </p:txBody>
      </p:sp>
    </p:spTree>
    <p:extLst>
      <p:ext uri="{BB962C8B-B14F-4D97-AF65-F5344CB8AC3E}">
        <p14:creationId xmlns:p14="http://schemas.microsoft.com/office/powerpoint/2010/main" val="429146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SOAP: </a:t>
            </a:r>
            <a:r>
              <a:rPr lang="it-IT" dirty="0" err="1"/>
              <a:t>pros</a:t>
            </a:r>
            <a:r>
              <a:rPr lang="it-IT" dirty="0"/>
              <a:t> and </a:t>
            </a:r>
            <a:r>
              <a:rPr lang="it-IT" dirty="0" err="1"/>
              <a:t>cons</a:t>
            </a:r>
            <a:endParaRPr lang="en-GB" dirty="0"/>
          </a:p>
        </p:txBody>
      </p:sp>
      <p:sp>
        <p:nvSpPr>
          <p:cNvPr id="3" name="Segnaposto contenuto 2"/>
          <p:cNvSpPr>
            <a:spLocks noGrp="1"/>
          </p:cNvSpPr>
          <p:nvPr>
            <p:ph idx="1"/>
          </p:nvPr>
        </p:nvSpPr>
        <p:spPr/>
        <p:txBody>
          <a:bodyPr>
            <a:normAutofit/>
          </a:bodyPr>
          <a:lstStyle/>
          <a:p>
            <a:r>
              <a:rPr lang="en-US" sz="2800" u="sng" dirty="0"/>
              <a:t>Pros</a:t>
            </a:r>
            <a:r>
              <a:rPr lang="en-US" sz="2800" dirty="0"/>
              <a:t>: </a:t>
            </a:r>
          </a:p>
          <a:p>
            <a:pPr lvl="1"/>
            <a:r>
              <a:rPr lang="en-US" sz="2400" dirty="0"/>
              <a:t>Web Services Security (</a:t>
            </a:r>
            <a:r>
              <a:rPr lang="en-US" sz="2400" b="1" dirty="0"/>
              <a:t>WS-Security</a:t>
            </a:r>
            <a:r>
              <a:rPr lang="en-US" sz="2400" dirty="0"/>
              <a:t>): an </a:t>
            </a:r>
            <a:r>
              <a:rPr lang="en-US" sz="2400" dirty="0" err="1"/>
              <a:t>extention</a:t>
            </a:r>
            <a:r>
              <a:rPr lang="en-US" sz="2400" dirty="0"/>
              <a:t> of SOAP that allows to use security mechanisms (e.g., signature of messages, encryption of messages, authentication) </a:t>
            </a:r>
            <a:endParaRPr lang="en-US" sz="2400" b="1" dirty="0"/>
          </a:p>
          <a:p>
            <a:pPr lvl="1"/>
            <a:r>
              <a:rPr lang="en-US" sz="2400" dirty="0"/>
              <a:t>SOAP allows to perform </a:t>
            </a:r>
            <a:r>
              <a:rPr lang="en-US" sz="2400" b="1" dirty="0"/>
              <a:t>stateful communications</a:t>
            </a:r>
            <a:r>
              <a:rPr lang="en-US" sz="2400" dirty="0"/>
              <a:t>, necessary for complex transactions in which multiple parties are involved (e.g., online banking and e-commerce applications)</a:t>
            </a:r>
          </a:p>
          <a:p>
            <a:pPr lvl="1"/>
            <a:endParaRPr lang="en-US" sz="2400" dirty="0"/>
          </a:p>
          <a:p>
            <a:r>
              <a:rPr lang="en-US" sz="2800" u="sng" dirty="0"/>
              <a:t>Cons</a:t>
            </a:r>
            <a:r>
              <a:rPr lang="en-US" sz="2800" dirty="0"/>
              <a:t>: </a:t>
            </a:r>
          </a:p>
          <a:p>
            <a:pPr lvl="1"/>
            <a:r>
              <a:rPr lang="en-US" sz="2400" dirty="0"/>
              <a:t>Only XML</a:t>
            </a:r>
          </a:p>
          <a:p>
            <a:pPr lvl="1"/>
            <a:r>
              <a:rPr lang="en-US" sz="2400" dirty="0"/>
              <a:t>Heavy messages</a:t>
            </a:r>
          </a:p>
          <a:p>
            <a:pPr lvl="1"/>
            <a:r>
              <a:rPr lang="en-US" sz="2400" dirty="0"/>
              <a:t>Specialized knowledge of the protocol rules needed</a:t>
            </a:r>
          </a:p>
        </p:txBody>
      </p:sp>
      <p:sp>
        <p:nvSpPr>
          <p:cNvPr id="4" name="Segnaposto numero diapositiva 3"/>
          <p:cNvSpPr>
            <a:spLocks noGrp="1"/>
          </p:cNvSpPr>
          <p:nvPr>
            <p:ph type="sldNum" sz="quarter" idx="12"/>
          </p:nvPr>
        </p:nvSpPr>
        <p:spPr/>
        <p:txBody>
          <a:bodyPr/>
          <a:lstStyle/>
          <a:p>
            <a:fld id="{31DE2C5B-556E-47B8-A792-024C2FCA4ACC}" type="slidenum">
              <a:rPr lang="en-GB" smtClean="0"/>
              <a:t>30</a:t>
            </a:fld>
            <a:endParaRPr lang="en-GB"/>
          </a:p>
        </p:txBody>
      </p:sp>
    </p:spTree>
    <p:extLst>
      <p:ext uri="{BB962C8B-B14F-4D97-AF65-F5344CB8AC3E}">
        <p14:creationId xmlns:p14="http://schemas.microsoft.com/office/powerpoint/2010/main" val="915545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RESTful</a:t>
            </a:r>
            <a:r>
              <a:rPr lang="it-IT" dirty="0"/>
              <a:t> </a:t>
            </a:r>
            <a:r>
              <a:rPr lang="it-IT" dirty="0" err="1"/>
              <a:t>APIs</a:t>
            </a:r>
            <a:endParaRPr lang="en-GB" dirty="0"/>
          </a:p>
        </p:txBody>
      </p:sp>
      <p:sp>
        <p:nvSpPr>
          <p:cNvPr id="3" name="Segnaposto contenuto 2"/>
          <p:cNvSpPr>
            <a:spLocks noGrp="1"/>
          </p:cNvSpPr>
          <p:nvPr>
            <p:ph idx="1"/>
          </p:nvPr>
        </p:nvSpPr>
        <p:spPr>
          <a:xfrm>
            <a:off x="428172" y="1361167"/>
            <a:ext cx="11368314" cy="5143961"/>
          </a:xfrm>
        </p:spPr>
        <p:txBody>
          <a:bodyPr>
            <a:normAutofit/>
          </a:bodyPr>
          <a:lstStyle/>
          <a:p>
            <a:r>
              <a:rPr lang="en-US" dirty="0"/>
              <a:t>With the expansion of modern Web, a more simple, flexible and scalable way of defining API was needed. </a:t>
            </a:r>
          </a:p>
          <a:p>
            <a:endParaRPr lang="en-US" dirty="0"/>
          </a:p>
          <a:p>
            <a:r>
              <a:rPr lang="en-US" b="1" dirty="0"/>
              <a:t>RESTful APIs</a:t>
            </a:r>
            <a:r>
              <a:rPr lang="en-US" dirty="0"/>
              <a:t>: APIs designed according to the REST principles, proposed in 2000 by Roy Fielding. </a:t>
            </a:r>
          </a:p>
          <a:p>
            <a:endParaRPr lang="en-US" dirty="0"/>
          </a:p>
          <a:p>
            <a:r>
              <a:rPr lang="en-US" dirty="0"/>
              <a:t>REST is resource-based (instead of action-based) and it only uses the HTTP methods (GET, POST, PUT, DELETE) </a:t>
            </a:r>
            <a:r>
              <a:rPr lang="en-US" dirty="0">
                <a:sym typeface="Wingdings" panose="05000000000000000000" pitchFamily="2" charset="2"/>
              </a:rPr>
              <a:t> no specialized knowledge required</a:t>
            </a:r>
          </a:p>
          <a:p>
            <a:endParaRPr lang="en-US" dirty="0"/>
          </a:p>
          <a:p>
            <a:r>
              <a:rPr lang="en-US" dirty="0"/>
              <a:t>No strict protocol, only compliance with the 6 REST constraints</a:t>
            </a:r>
          </a:p>
          <a:p>
            <a:endParaRPr lang="en-US" dirty="0"/>
          </a:p>
          <a:p>
            <a:r>
              <a:rPr lang="en-US" dirty="0"/>
              <a:t>No constraints on the message format </a:t>
            </a:r>
            <a:r>
              <a:rPr lang="en-US" dirty="0">
                <a:sym typeface="Wingdings" panose="05000000000000000000" pitchFamily="2" charset="2"/>
              </a:rPr>
              <a:t> </a:t>
            </a:r>
            <a:r>
              <a:rPr lang="en-US" b="1" dirty="0">
                <a:sym typeface="Wingdings" panose="05000000000000000000" pitchFamily="2" charset="2"/>
              </a:rPr>
              <a:t>JSON</a:t>
            </a:r>
            <a:r>
              <a:rPr lang="en-US" dirty="0">
                <a:sym typeface="Wingdings" panose="05000000000000000000" pitchFamily="2" charset="2"/>
              </a:rPr>
              <a:t> preferred to XML</a:t>
            </a:r>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31</a:t>
            </a:fld>
            <a:endParaRPr lang="en-GB"/>
          </a:p>
        </p:txBody>
      </p:sp>
    </p:spTree>
    <p:extLst>
      <p:ext uri="{BB962C8B-B14F-4D97-AF65-F5344CB8AC3E}">
        <p14:creationId xmlns:p14="http://schemas.microsoft.com/office/powerpoint/2010/main" val="137134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tangolo arrotondato 8"/>
          <p:cNvSpPr/>
          <p:nvPr/>
        </p:nvSpPr>
        <p:spPr>
          <a:xfrm>
            <a:off x="7322821" y="4033132"/>
            <a:ext cx="3840480" cy="2367774"/>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r"/>
            <a:r>
              <a:rPr lang="it-IT" sz="2000" dirty="0">
                <a:latin typeface="Aptos" panose="020B0004020202020204" pitchFamily="34" charset="0"/>
              </a:rPr>
              <a:t>Server</a:t>
            </a:r>
            <a:endParaRPr lang="en-GB" sz="2000" dirty="0">
              <a:latin typeface="Aptos" panose="020B0004020202020204" pitchFamily="34" charset="0"/>
            </a:endParaRPr>
          </a:p>
        </p:txBody>
      </p:sp>
      <p:sp>
        <p:nvSpPr>
          <p:cNvPr id="2" name="Titolo 1"/>
          <p:cNvSpPr>
            <a:spLocks noGrp="1"/>
          </p:cNvSpPr>
          <p:nvPr>
            <p:ph type="title"/>
          </p:nvPr>
        </p:nvSpPr>
        <p:spPr/>
        <p:txBody>
          <a:bodyPr/>
          <a:lstStyle/>
          <a:p>
            <a:r>
              <a:rPr lang="it-IT" dirty="0" err="1"/>
              <a:t>RESTful</a:t>
            </a:r>
            <a:r>
              <a:rPr lang="it-IT" dirty="0"/>
              <a:t> </a:t>
            </a:r>
            <a:r>
              <a:rPr lang="it-IT" dirty="0" err="1"/>
              <a:t>APIs</a:t>
            </a:r>
            <a:r>
              <a:rPr lang="it-IT" dirty="0"/>
              <a:t>: </a:t>
            </a:r>
            <a:r>
              <a:rPr lang="it-IT" dirty="0" err="1"/>
              <a:t>pros</a:t>
            </a:r>
            <a:r>
              <a:rPr lang="it-IT" dirty="0"/>
              <a:t> and </a:t>
            </a:r>
            <a:r>
              <a:rPr lang="it-IT" dirty="0" err="1"/>
              <a:t>cons</a:t>
            </a:r>
            <a:endParaRPr lang="en-GB" dirty="0"/>
          </a:p>
        </p:txBody>
      </p:sp>
      <p:sp>
        <p:nvSpPr>
          <p:cNvPr id="3" name="Segnaposto contenuto 2"/>
          <p:cNvSpPr>
            <a:spLocks noGrp="1"/>
          </p:cNvSpPr>
          <p:nvPr>
            <p:ph idx="1"/>
          </p:nvPr>
        </p:nvSpPr>
        <p:spPr>
          <a:xfrm>
            <a:off x="428172" y="1361167"/>
            <a:ext cx="5561148" cy="1953533"/>
          </a:xfrm>
        </p:spPr>
        <p:txBody>
          <a:bodyPr>
            <a:normAutofit/>
          </a:bodyPr>
          <a:lstStyle/>
          <a:p>
            <a:r>
              <a:rPr lang="en-US" u="sng" dirty="0"/>
              <a:t>Pros</a:t>
            </a:r>
            <a:r>
              <a:rPr lang="en-US" dirty="0"/>
              <a:t>: </a:t>
            </a:r>
          </a:p>
          <a:p>
            <a:pPr lvl="1"/>
            <a:r>
              <a:rPr lang="en-US" dirty="0">
                <a:sym typeface="Wingdings" panose="05000000000000000000" pitchFamily="2" charset="2"/>
              </a:rPr>
              <a:t>Easy, no specialized knowledge required</a:t>
            </a:r>
          </a:p>
          <a:p>
            <a:pPr lvl="1"/>
            <a:r>
              <a:rPr lang="en-US" dirty="0"/>
              <a:t>Multiple formats supported</a:t>
            </a:r>
            <a:endParaRPr lang="en-US" dirty="0">
              <a:sym typeface="Wingdings" panose="05000000000000000000" pitchFamily="2" charset="2"/>
            </a:endParaRPr>
          </a:p>
          <a:p>
            <a:pPr lvl="1"/>
            <a:r>
              <a:rPr lang="en-US" dirty="0">
                <a:sym typeface="Wingdings" panose="05000000000000000000" pitchFamily="2" charset="2"/>
              </a:rPr>
              <a:t>Great </a:t>
            </a:r>
            <a:r>
              <a:rPr lang="en-US" dirty="0"/>
              <a:t>flexibility and scalability</a:t>
            </a:r>
          </a:p>
          <a:p>
            <a:pPr lvl="1"/>
            <a:r>
              <a:rPr lang="en-US" dirty="0"/>
              <a:t>Cache-friendly</a:t>
            </a:r>
          </a:p>
          <a:p>
            <a:pPr marL="457200" lvl="1" indent="0">
              <a:buNone/>
            </a:pPr>
            <a:endParaRPr lang="en-US" sz="2400" dirty="0"/>
          </a:p>
          <a:p>
            <a:pPr lvl="1"/>
            <a:endParaRPr lang="en-US" dirty="0"/>
          </a:p>
        </p:txBody>
      </p:sp>
      <p:sp>
        <p:nvSpPr>
          <p:cNvPr id="4" name="Rettangolo arrotondato 3"/>
          <p:cNvSpPr/>
          <p:nvPr/>
        </p:nvSpPr>
        <p:spPr>
          <a:xfrm>
            <a:off x="678180" y="4725529"/>
            <a:ext cx="1325880" cy="982980"/>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Client</a:t>
            </a:r>
            <a:endParaRPr lang="en-GB" sz="2000" dirty="0">
              <a:latin typeface="Aptos" panose="020B0004020202020204" pitchFamily="34" charset="0"/>
            </a:endParaRPr>
          </a:p>
        </p:txBody>
      </p:sp>
      <p:sp>
        <p:nvSpPr>
          <p:cNvPr id="5" name="Rettangolo 4"/>
          <p:cNvSpPr/>
          <p:nvPr/>
        </p:nvSpPr>
        <p:spPr>
          <a:xfrm>
            <a:off x="6112329" y="1361167"/>
            <a:ext cx="5927271" cy="2491964"/>
          </a:xfrm>
          <a:prstGeom prst="rect">
            <a:avLst/>
          </a:prstGeom>
        </p:spPr>
        <p:txBody>
          <a:bodyPr wrap="square">
            <a:spAutoFit/>
          </a:bodyPr>
          <a:lstStyle/>
          <a:p>
            <a:pPr marL="342900" indent="-342900">
              <a:lnSpc>
                <a:spcPct val="90000"/>
              </a:lnSpc>
              <a:buClr>
                <a:srgbClr val="00B050"/>
              </a:buClr>
              <a:buFont typeface="Wingdings" panose="05000000000000000000" pitchFamily="2" charset="2"/>
              <a:buChar char="Ø"/>
            </a:pPr>
            <a:r>
              <a:rPr lang="en-US" sz="2400" u="sng" dirty="0">
                <a:latin typeface="Aptos" panose="020B0004020202020204" pitchFamily="34" charset="0"/>
              </a:rPr>
              <a:t>Cons</a:t>
            </a:r>
            <a:r>
              <a:rPr lang="en-US" sz="2400" dirty="0">
                <a:latin typeface="Aptos" panose="020B0004020202020204" pitchFamily="34" charset="0"/>
              </a:rPr>
              <a:t>: </a:t>
            </a:r>
          </a:p>
          <a:p>
            <a:pPr marL="685800" lvl="1" indent="-228600">
              <a:lnSpc>
                <a:spcPct val="90000"/>
              </a:lnSpc>
              <a:spcBef>
                <a:spcPts val="500"/>
              </a:spcBef>
              <a:buClr>
                <a:srgbClr val="00B050"/>
              </a:buClr>
              <a:buFont typeface="Wingdings" panose="05000000000000000000" pitchFamily="2" charset="2"/>
              <a:buChar char="§"/>
            </a:pPr>
            <a:r>
              <a:rPr lang="en-US" sz="2000" dirty="0">
                <a:latin typeface="Aptos" panose="020B0004020202020204" pitchFamily="34" charset="0"/>
              </a:rPr>
              <a:t>REST messages have </a:t>
            </a:r>
            <a:r>
              <a:rPr lang="en-US" sz="2000" u="sng" dirty="0">
                <a:latin typeface="Aptos" panose="020B0004020202020204" pitchFamily="34" charset="0"/>
              </a:rPr>
              <a:t>large payloads </a:t>
            </a:r>
            <a:r>
              <a:rPr lang="en-US" sz="2000" dirty="0">
                <a:latin typeface="Aptos" panose="020B0004020202020204" pitchFamily="34" charset="0"/>
              </a:rPr>
              <a:t>to transfer metadata necessary to understand the state of the application and to enable complex actions.</a:t>
            </a:r>
          </a:p>
          <a:p>
            <a:pPr marL="685800" lvl="1" indent="-228600">
              <a:lnSpc>
                <a:spcPct val="90000"/>
              </a:lnSpc>
              <a:spcBef>
                <a:spcPts val="500"/>
              </a:spcBef>
              <a:buClr>
                <a:srgbClr val="00B050"/>
              </a:buClr>
              <a:buFont typeface="Wingdings" panose="05000000000000000000" pitchFamily="2" charset="2"/>
              <a:buChar char="§"/>
            </a:pPr>
            <a:r>
              <a:rPr lang="en-US" sz="2000" u="sng" dirty="0">
                <a:latin typeface="Aptos" panose="020B0004020202020204" pitchFamily="34" charset="0"/>
              </a:rPr>
              <a:t>Chatty interactions</a:t>
            </a:r>
            <a:r>
              <a:rPr lang="en-US" sz="2000" dirty="0">
                <a:latin typeface="Aptos" panose="020B0004020202020204" pitchFamily="34" charset="0"/>
              </a:rPr>
              <a:t>: it generally requires multiple requests to get the needed data. Often unnecessary data are transferred.</a:t>
            </a:r>
          </a:p>
        </p:txBody>
      </p:sp>
      <p:sp>
        <p:nvSpPr>
          <p:cNvPr id="6" name="Rettangolo arrotondato 5"/>
          <p:cNvSpPr/>
          <p:nvPr/>
        </p:nvSpPr>
        <p:spPr>
          <a:xfrm>
            <a:off x="7414260" y="4492254"/>
            <a:ext cx="2637609" cy="509182"/>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1600" dirty="0">
                <a:latin typeface="Aptos" panose="020B0004020202020204" pitchFamily="34" charset="0"/>
              </a:rPr>
              <a:t>Company </a:t>
            </a:r>
            <a:r>
              <a:rPr lang="it-IT" sz="1600" dirty="0" err="1">
                <a:latin typeface="Aptos" panose="020B0004020202020204" pitchFamily="34" charset="0"/>
              </a:rPr>
              <a:t>name</a:t>
            </a:r>
            <a:r>
              <a:rPr lang="it-IT" sz="1600" dirty="0">
                <a:latin typeface="Aptos" panose="020B0004020202020204" pitchFamily="34" charset="0"/>
              </a:rPr>
              <a:t>, location, </a:t>
            </a:r>
            <a:r>
              <a:rPr lang="it-IT" sz="1600" dirty="0" err="1">
                <a:latin typeface="Aptos" panose="020B0004020202020204" pitchFamily="34" charset="0"/>
              </a:rPr>
              <a:t>year</a:t>
            </a:r>
            <a:r>
              <a:rPr lang="it-IT" sz="1600" dirty="0">
                <a:latin typeface="Aptos" panose="020B0004020202020204" pitchFamily="34" charset="0"/>
              </a:rPr>
              <a:t> of </a:t>
            </a:r>
            <a:r>
              <a:rPr lang="it-IT" sz="1600" dirty="0" err="1">
                <a:latin typeface="Aptos" panose="020B0004020202020204" pitchFamily="34" charset="0"/>
              </a:rPr>
              <a:t>founding</a:t>
            </a:r>
            <a:r>
              <a:rPr lang="it-IT" sz="1600" dirty="0">
                <a:latin typeface="Aptos" panose="020B0004020202020204" pitchFamily="34" charset="0"/>
              </a:rPr>
              <a:t> </a:t>
            </a:r>
            <a:endParaRPr lang="en-GB" sz="1600" dirty="0">
              <a:latin typeface="Aptos" panose="020B0004020202020204" pitchFamily="34" charset="0"/>
            </a:endParaRPr>
          </a:p>
        </p:txBody>
      </p:sp>
      <p:sp>
        <p:nvSpPr>
          <p:cNvPr id="7" name="Rettangolo arrotondato 6"/>
          <p:cNvSpPr/>
          <p:nvPr/>
        </p:nvSpPr>
        <p:spPr>
          <a:xfrm>
            <a:off x="7430589" y="5663419"/>
            <a:ext cx="2621280" cy="509182"/>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1600" dirty="0" err="1">
                <a:latin typeface="Aptos" panose="020B0004020202020204" pitchFamily="34" charset="0"/>
              </a:rPr>
              <a:t>Founder’s</a:t>
            </a:r>
            <a:r>
              <a:rPr lang="it-IT" sz="1600" dirty="0">
                <a:latin typeface="Aptos" panose="020B0004020202020204" pitchFamily="34" charset="0"/>
              </a:rPr>
              <a:t> </a:t>
            </a:r>
            <a:r>
              <a:rPr lang="it-IT" sz="1600" dirty="0" err="1">
                <a:latin typeface="Aptos" panose="020B0004020202020204" pitchFamily="34" charset="0"/>
              </a:rPr>
              <a:t>name</a:t>
            </a:r>
            <a:r>
              <a:rPr lang="it-IT" sz="1600" dirty="0">
                <a:latin typeface="Aptos" panose="020B0004020202020204" pitchFamily="34" charset="0"/>
              </a:rPr>
              <a:t>, </a:t>
            </a:r>
            <a:r>
              <a:rPr lang="it-IT" sz="1600" dirty="0" err="1">
                <a:latin typeface="Aptos" panose="020B0004020202020204" pitchFamily="34" charset="0"/>
              </a:rPr>
              <a:t>place</a:t>
            </a:r>
            <a:r>
              <a:rPr lang="it-IT" sz="1600" dirty="0">
                <a:latin typeface="Aptos" panose="020B0004020202020204" pitchFamily="34" charset="0"/>
              </a:rPr>
              <a:t> of </a:t>
            </a:r>
            <a:r>
              <a:rPr lang="it-IT" sz="1600" dirty="0" err="1">
                <a:latin typeface="Aptos" panose="020B0004020202020204" pitchFamily="34" charset="0"/>
              </a:rPr>
              <a:t>birth</a:t>
            </a:r>
            <a:r>
              <a:rPr lang="it-IT" sz="1600" dirty="0">
                <a:latin typeface="Aptos" panose="020B0004020202020204" pitchFamily="34" charset="0"/>
              </a:rPr>
              <a:t>, </a:t>
            </a:r>
            <a:r>
              <a:rPr lang="it-IT" sz="1600" dirty="0" err="1">
                <a:latin typeface="Aptos" panose="020B0004020202020204" pitchFamily="34" charset="0"/>
              </a:rPr>
              <a:t>education</a:t>
            </a:r>
            <a:r>
              <a:rPr lang="it-IT" sz="1600" dirty="0">
                <a:latin typeface="Aptos" panose="020B0004020202020204" pitchFamily="34" charset="0"/>
              </a:rPr>
              <a:t> </a:t>
            </a:r>
            <a:endParaRPr lang="en-GB" sz="1600" dirty="0">
              <a:latin typeface="Aptos" panose="020B0004020202020204" pitchFamily="34" charset="0"/>
            </a:endParaRPr>
          </a:p>
        </p:txBody>
      </p:sp>
      <p:sp>
        <p:nvSpPr>
          <p:cNvPr id="10" name="CasellaDiTesto 9"/>
          <p:cNvSpPr txBox="1"/>
          <p:nvPr/>
        </p:nvSpPr>
        <p:spPr>
          <a:xfrm>
            <a:off x="2110741" y="4887319"/>
            <a:ext cx="2225040" cy="646331"/>
          </a:xfrm>
          <a:prstGeom prst="rect">
            <a:avLst/>
          </a:prstGeom>
          <a:noFill/>
        </p:spPr>
        <p:txBody>
          <a:bodyPr wrap="square" rtlCol="0">
            <a:spAutoFit/>
          </a:bodyPr>
          <a:lstStyle/>
          <a:p>
            <a:r>
              <a:rPr lang="it-IT" dirty="0">
                <a:latin typeface="Aptos" panose="020B0004020202020204" pitchFamily="34" charset="0"/>
              </a:rPr>
              <a:t>Company </a:t>
            </a:r>
            <a:r>
              <a:rPr lang="it-IT" dirty="0" err="1">
                <a:latin typeface="Aptos" panose="020B0004020202020204" pitchFamily="34" charset="0"/>
              </a:rPr>
              <a:t>name</a:t>
            </a:r>
            <a:r>
              <a:rPr lang="it-IT" dirty="0">
                <a:latin typeface="Aptos" panose="020B0004020202020204" pitchFamily="34" charset="0"/>
              </a:rPr>
              <a:t> and </a:t>
            </a:r>
            <a:r>
              <a:rPr lang="it-IT" dirty="0" err="1">
                <a:latin typeface="Aptos" panose="020B0004020202020204" pitchFamily="34" charset="0"/>
              </a:rPr>
              <a:t>founder’s</a:t>
            </a:r>
            <a:r>
              <a:rPr lang="it-IT" dirty="0">
                <a:latin typeface="Aptos" panose="020B0004020202020204" pitchFamily="34" charset="0"/>
              </a:rPr>
              <a:t> </a:t>
            </a:r>
            <a:r>
              <a:rPr lang="it-IT" dirty="0" err="1">
                <a:latin typeface="Aptos" panose="020B0004020202020204" pitchFamily="34" charset="0"/>
              </a:rPr>
              <a:t>name</a:t>
            </a:r>
            <a:endParaRPr lang="en-GB" dirty="0">
              <a:latin typeface="Aptos" panose="020B0004020202020204" pitchFamily="34" charset="0"/>
            </a:endParaRPr>
          </a:p>
        </p:txBody>
      </p:sp>
      <p:sp>
        <p:nvSpPr>
          <p:cNvPr id="11" name="Rettangolo arrotondato 10"/>
          <p:cNvSpPr/>
          <p:nvPr/>
        </p:nvSpPr>
        <p:spPr>
          <a:xfrm>
            <a:off x="8112034" y="4222965"/>
            <a:ext cx="1242060" cy="269289"/>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bg1"/>
                </a:solidFill>
                <a:latin typeface="Aptos" panose="020B0004020202020204" pitchFamily="34" charset="0"/>
              </a:rPr>
              <a:t>Endpoint</a:t>
            </a:r>
            <a:endParaRPr lang="en-GB" dirty="0">
              <a:solidFill>
                <a:schemeClr val="bg1"/>
              </a:solidFill>
              <a:latin typeface="Aptos" panose="020B0004020202020204" pitchFamily="34" charset="0"/>
            </a:endParaRPr>
          </a:p>
        </p:txBody>
      </p:sp>
      <p:sp>
        <p:nvSpPr>
          <p:cNvPr id="12" name="Rettangolo arrotondato 11"/>
          <p:cNvSpPr/>
          <p:nvPr/>
        </p:nvSpPr>
        <p:spPr>
          <a:xfrm>
            <a:off x="8112034" y="5388610"/>
            <a:ext cx="1242060" cy="269289"/>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bg1"/>
                </a:solidFill>
                <a:latin typeface="Aptos" panose="020B0004020202020204" pitchFamily="34" charset="0"/>
              </a:rPr>
              <a:t>Endpoint</a:t>
            </a:r>
            <a:endParaRPr lang="en-GB" dirty="0">
              <a:solidFill>
                <a:schemeClr val="bg1"/>
              </a:solidFill>
              <a:latin typeface="Aptos" panose="020B0004020202020204" pitchFamily="34" charset="0"/>
            </a:endParaRPr>
          </a:p>
        </p:txBody>
      </p:sp>
      <p:cxnSp>
        <p:nvCxnSpPr>
          <p:cNvPr id="14" name="Connettore 2 13"/>
          <p:cNvCxnSpPr/>
          <p:nvPr/>
        </p:nvCxnSpPr>
        <p:spPr>
          <a:xfrm>
            <a:off x="5319849" y="4736994"/>
            <a:ext cx="17907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ttore 2 15"/>
          <p:cNvCxnSpPr/>
          <p:nvPr/>
        </p:nvCxnSpPr>
        <p:spPr>
          <a:xfrm flipH="1">
            <a:off x="5319850" y="5001436"/>
            <a:ext cx="1731644" cy="20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p:cNvCxnSpPr/>
          <p:nvPr/>
        </p:nvCxnSpPr>
        <p:spPr>
          <a:xfrm>
            <a:off x="5378904" y="5742834"/>
            <a:ext cx="17907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p:cNvCxnSpPr/>
          <p:nvPr/>
        </p:nvCxnSpPr>
        <p:spPr>
          <a:xfrm flipH="1">
            <a:off x="5378905" y="6007276"/>
            <a:ext cx="1731644" cy="20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asellaDiTesto 21"/>
          <p:cNvSpPr txBox="1"/>
          <p:nvPr/>
        </p:nvSpPr>
        <p:spPr>
          <a:xfrm>
            <a:off x="554084" y="6100826"/>
            <a:ext cx="5765073" cy="646331"/>
          </a:xfrm>
          <a:prstGeom prst="rect">
            <a:avLst/>
          </a:prstGeom>
          <a:noFill/>
        </p:spPr>
        <p:txBody>
          <a:bodyPr wrap="square" rtlCol="0">
            <a:spAutoFit/>
          </a:bodyPr>
          <a:lstStyle/>
          <a:p>
            <a:r>
              <a:rPr lang="it-IT" dirty="0" err="1">
                <a:latin typeface="Aptos" panose="020B0004020202020204" pitchFamily="34" charset="0"/>
              </a:rPr>
              <a:t>Results</a:t>
            </a:r>
            <a:r>
              <a:rPr lang="it-IT" dirty="0">
                <a:latin typeface="Aptos" panose="020B0004020202020204" pitchFamily="34" charset="0"/>
              </a:rPr>
              <a:t> of multiple </a:t>
            </a:r>
            <a:r>
              <a:rPr lang="it-IT" dirty="0" err="1">
                <a:latin typeface="Aptos" panose="020B0004020202020204" pitchFamily="34" charset="0"/>
              </a:rPr>
              <a:t>requests</a:t>
            </a:r>
            <a:r>
              <a:rPr lang="it-IT" dirty="0">
                <a:latin typeface="Aptos" panose="020B0004020202020204" pitchFamily="34" charset="0"/>
              </a:rPr>
              <a:t> </a:t>
            </a:r>
            <a:r>
              <a:rPr lang="it-IT" dirty="0" err="1">
                <a:latin typeface="Aptos" panose="020B0004020202020204" pitchFamily="34" charset="0"/>
              </a:rPr>
              <a:t>neeed</a:t>
            </a:r>
            <a:r>
              <a:rPr lang="it-IT" dirty="0">
                <a:latin typeface="Aptos" panose="020B0004020202020204" pitchFamily="34" charset="0"/>
              </a:rPr>
              <a:t> to be </a:t>
            </a:r>
            <a:r>
              <a:rPr lang="it-IT" dirty="0" err="1">
                <a:latin typeface="Aptos" panose="020B0004020202020204" pitchFamily="34" charset="0"/>
              </a:rPr>
              <a:t>processed</a:t>
            </a:r>
            <a:r>
              <a:rPr lang="it-IT" dirty="0">
                <a:latin typeface="Aptos" panose="020B0004020202020204" pitchFamily="34" charset="0"/>
              </a:rPr>
              <a:t> (</a:t>
            </a:r>
            <a:r>
              <a:rPr lang="it-IT" dirty="0" err="1">
                <a:latin typeface="Aptos" panose="020B0004020202020204" pitchFamily="34" charset="0"/>
              </a:rPr>
              <a:t>combined</a:t>
            </a:r>
            <a:r>
              <a:rPr lang="it-IT" dirty="0">
                <a:latin typeface="Aptos" panose="020B0004020202020204" pitchFamily="34" charset="0"/>
              </a:rPr>
              <a:t> and </a:t>
            </a:r>
            <a:r>
              <a:rPr lang="it-IT" dirty="0" err="1">
                <a:latin typeface="Aptos" panose="020B0004020202020204" pitchFamily="34" charset="0"/>
              </a:rPr>
              <a:t>filtered</a:t>
            </a:r>
            <a:r>
              <a:rPr lang="it-IT" dirty="0">
                <a:latin typeface="Aptos" panose="020B0004020202020204" pitchFamily="34" charset="0"/>
              </a:rPr>
              <a:t>) on client side.  </a:t>
            </a:r>
            <a:endParaRPr lang="en-GB" dirty="0">
              <a:latin typeface="Aptos" panose="020B0004020202020204" pitchFamily="34" charset="0"/>
            </a:endParaRPr>
          </a:p>
        </p:txBody>
      </p:sp>
      <p:sp>
        <p:nvSpPr>
          <p:cNvPr id="23" name="Segnaposto numero diapositiva 22"/>
          <p:cNvSpPr>
            <a:spLocks noGrp="1"/>
          </p:cNvSpPr>
          <p:nvPr>
            <p:ph type="sldNum" sz="quarter" idx="12"/>
          </p:nvPr>
        </p:nvSpPr>
        <p:spPr/>
        <p:txBody>
          <a:bodyPr/>
          <a:lstStyle/>
          <a:p>
            <a:fld id="{31DE2C5B-556E-47B8-A792-024C2FCA4ACC}" type="slidenum">
              <a:rPr lang="en-GB" smtClean="0"/>
              <a:t>32</a:t>
            </a:fld>
            <a:endParaRPr lang="en-GB"/>
          </a:p>
        </p:txBody>
      </p:sp>
    </p:spTree>
    <p:extLst>
      <p:ext uri="{BB962C8B-B14F-4D97-AF65-F5344CB8AC3E}">
        <p14:creationId xmlns:p14="http://schemas.microsoft.com/office/powerpoint/2010/main" val="3619442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IMPACT BWTHW </a:t>
            </a:r>
            <a:r>
              <a:rPr lang="it-IT" dirty="0" err="1"/>
              <a:t>RESTful</a:t>
            </a:r>
            <a:r>
              <a:rPr lang="it-IT" dirty="0"/>
              <a:t> API</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33</a:t>
            </a:fld>
            <a:endParaRPr lang="en-GB"/>
          </a:p>
        </p:txBody>
      </p:sp>
      <p:pic>
        <p:nvPicPr>
          <p:cNvPr id="6" name="Picture 5" descr="A screenshot of a computer&#10;&#10;Description automatically generated">
            <a:extLst>
              <a:ext uri="{FF2B5EF4-FFF2-40B4-BE49-F238E27FC236}">
                <a16:creationId xmlns:a16="http://schemas.microsoft.com/office/drawing/2014/main" id="{F352FC4D-741C-28D6-30D0-683395A445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515" y="1268163"/>
            <a:ext cx="7772400" cy="5217027"/>
          </a:xfrm>
          <a:prstGeom prst="rect">
            <a:avLst/>
          </a:prstGeom>
        </p:spPr>
      </p:pic>
      <p:sp>
        <p:nvSpPr>
          <p:cNvPr id="3" name="Segnaposto contenuto 2">
            <a:extLst>
              <a:ext uri="{FF2B5EF4-FFF2-40B4-BE49-F238E27FC236}">
                <a16:creationId xmlns:a16="http://schemas.microsoft.com/office/drawing/2014/main" id="{D8B4F752-D142-877E-B5F9-1CFC106009E4}"/>
              </a:ext>
            </a:extLst>
          </p:cNvPr>
          <p:cNvSpPr>
            <a:spLocks noGrp="1"/>
          </p:cNvSpPr>
          <p:nvPr>
            <p:ph idx="1"/>
          </p:nvPr>
        </p:nvSpPr>
        <p:spPr>
          <a:xfrm>
            <a:off x="428171" y="1361167"/>
            <a:ext cx="3017393" cy="5124023"/>
          </a:xfrm>
        </p:spPr>
        <p:txBody>
          <a:bodyPr>
            <a:normAutofit/>
          </a:bodyPr>
          <a:lstStyle/>
          <a:p>
            <a:r>
              <a:rPr lang="en-US" sz="1800" dirty="0"/>
              <a:t>This is the API you will use to build your project</a:t>
            </a:r>
          </a:p>
          <a:p>
            <a:endParaRPr lang="en-US" sz="1800" dirty="0"/>
          </a:p>
          <a:p>
            <a:r>
              <a:rPr lang="en-US" sz="1800" dirty="0"/>
              <a:t>It allows to authenticate, ping (to know if the server is alive), and to get data</a:t>
            </a:r>
          </a:p>
          <a:p>
            <a:endParaRPr lang="en-US" sz="1800" dirty="0"/>
          </a:p>
          <a:p>
            <a:r>
              <a:rPr lang="en-US" sz="1800" dirty="0"/>
              <a:t>Full URL: </a:t>
            </a:r>
            <a:r>
              <a:rPr lang="en-US" sz="1800" dirty="0">
                <a:solidFill>
                  <a:srgbClr val="C00000"/>
                </a:solidFill>
              </a:rPr>
              <a:t>https://</a:t>
            </a:r>
            <a:r>
              <a:rPr lang="en-US" sz="1800" dirty="0" err="1">
                <a:solidFill>
                  <a:srgbClr val="C00000"/>
                </a:solidFill>
              </a:rPr>
              <a:t>impact.dei.unipd.it</a:t>
            </a:r>
            <a:r>
              <a:rPr lang="en-US" sz="1800" dirty="0">
                <a:solidFill>
                  <a:srgbClr val="C00000"/>
                </a:solidFill>
              </a:rPr>
              <a:t>/</a:t>
            </a:r>
            <a:r>
              <a:rPr lang="en-US" sz="1800" dirty="0" err="1">
                <a:solidFill>
                  <a:srgbClr val="C00000"/>
                </a:solidFill>
              </a:rPr>
              <a:t>bwthw</a:t>
            </a:r>
            <a:r>
              <a:rPr lang="en-US" sz="1800" dirty="0">
                <a:solidFill>
                  <a:srgbClr val="C00000"/>
                </a:solidFill>
              </a:rPr>
              <a:t>/</a:t>
            </a:r>
          </a:p>
        </p:txBody>
      </p:sp>
    </p:spTree>
    <p:extLst>
      <p:ext uri="{BB962C8B-B14F-4D97-AF65-F5344CB8AC3E}">
        <p14:creationId xmlns:p14="http://schemas.microsoft.com/office/powerpoint/2010/main" val="4126163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ping</a:t>
            </a:r>
            <a:r>
              <a:rPr lang="it-IT" dirty="0"/>
              <a:t> endpoint</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34</a:t>
            </a:fld>
            <a:endParaRPr lang="en-GB"/>
          </a:p>
        </p:txBody>
      </p:sp>
      <p:pic>
        <p:nvPicPr>
          <p:cNvPr id="5" name="Picture 4">
            <a:extLst>
              <a:ext uri="{FF2B5EF4-FFF2-40B4-BE49-F238E27FC236}">
                <a16:creationId xmlns:a16="http://schemas.microsoft.com/office/drawing/2014/main" id="{DF4D2E83-6758-BD92-4EFD-42925DAEE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4086" y="1437861"/>
            <a:ext cx="7772400" cy="4830780"/>
          </a:xfrm>
          <a:prstGeom prst="rect">
            <a:avLst/>
          </a:prstGeom>
        </p:spPr>
      </p:pic>
      <p:sp>
        <p:nvSpPr>
          <p:cNvPr id="7" name="Segnaposto contenuto 2">
            <a:extLst>
              <a:ext uri="{FF2B5EF4-FFF2-40B4-BE49-F238E27FC236}">
                <a16:creationId xmlns:a16="http://schemas.microsoft.com/office/drawing/2014/main" id="{D1C4F2CC-8401-C9B3-5F7E-894F4D967574}"/>
              </a:ext>
            </a:extLst>
          </p:cNvPr>
          <p:cNvSpPr>
            <a:spLocks noGrp="1"/>
          </p:cNvSpPr>
          <p:nvPr>
            <p:ph idx="1"/>
          </p:nvPr>
        </p:nvSpPr>
        <p:spPr>
          <a:xfrm>
            <a:off x="428172" y="1361167"/>
            <a:ext cx="3388454" cy="5143961"/>
          </a:xfrm>
        </p:spPr>
        <p:txBody>
          <a:bodyPr>
            <a:normAutofit lnSpcReduction="10000"/>
          </a:bodyPr>
          <a:lstStyle/>
          <a:p>
            <a:r>
              <a:rPr lang="en-US" dirty="0"/>
              <a:t>Let’s inspect the </a:t>
            </a:r>
            <a:r>
              <a:rPr lang="en-US" b="1" dirty="0"/>
              <a:t>ping</a:t>
            </a:r>
            <a:r>
              <a:rPr lang="en-US" dirty="0"/>
              <a:t> endpoint</a:t>
            </a:r>
          </a:p>
          <a:p>
            <a:endParaRPr lang="en-US" dirty="0"/>
          </a:p>
          <a:p>
            <a:r>
              <a:rPr lang="en-US" dirty="0"/>
              <a:t>Key things we can learn from the docs:</a:t>
            </a:r>
          </a:p>
          <a:p>
            <a:pPr lvl="1"/>
            <a:r>
              <a:rPr lang="en-US" dirty="0"/>
              <a:t>Method: GET</a:t>
            </a:r>
          </a:p>
          <a:p>
            <a:pPr lvl="1"/>
            <a:r>
              <a:rPr lang="en-US" dirty="0"/>
              <a:t>Full URL: </a:t>
            </a:r>
            <a:r>
              <a:rPr lang="en-US" dirty="0">
                <a:solidFill>
                  <a:srgbClr val="C00000"/>
                </a:solidFill>
                <a:hlinkClick r:id="rId3">
                  <a:extLst>
                    <a:ext uri="{A12FA001-AC4F-418D-AE19-62706E023703}">
                      <ahyp:hlinkClr xmlns:ahyp="http://schemas.microsoft.com/office/drawing/2018/hyperlinkcolor" val="tx"/>
                    </a:ext>
                  </a:extLst>
                </a:hlinkClick>
              </a:rPr>
              <a:t>https://impact.dei.unipd.it/gate/v1/ping/</a:t>
            </a:r>
            <a:endParaRPr lang="en-US" dirty="0">
              <a:solidFill>
                <a:srgbClr val="C00000"/>
              </a:solidFill>
            </a:endParaRPr>
          </a:p>
          <a:p>
            <a:pPr lvl="1"/>
            <a:r>
              <a:rPr lang="en-US" dirty="0"/>
              <a:t>It does not require parameters </a:t>
            </a:r>
          </a:p>
          <a:p>
            <a:pPr lvl="1"/>
            <a:r>
              <a:rPr lang="en-US" dirty="0"/>
              <a:t>It does not require to be authenticated</a:t>
            </a:r>
          </a:p>
          <a:p>
            <a:pPr lvl="1"/>
            <a:r>
              <a:rPr lang="en-US" dirty="0"/>
              <a:t>If successful, the response will be a JSON</a:t>
            </a:r>
          </a:p>
        </p:txBody>
      </p:sp>
    </p:spTree>
    <p:extLst>
      <p:ext uri="{BB962C8B-B14F-4D97-AF65-F5344CB8AC3E}">
        <p14:creationId xmlns:p14="http://schemas.microsoft.com/office/powerpoint/2010/main" val="2606833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ping</a:t>
            </a:r>
            <a:r>
              <a:rPr lang="it-IT" dirty="0"/>
              <a:t> endpoint</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35</a:t>
            </a:fld>
            <a:endParaRPr lang="en-GB"/>
          </a:p>
        </p:txBody>
      </p:sp>
      <p:sp>
        <p:nvSpPr>
          <p:cNvPr id="7" name="Segnaposto contenuto 2">
            <a:extLst>
              <a:ext uri="{FF2B5EF4-FFF2-40B4-BE49-F238E27FC236}">
                <a16:creationId xmlns:a16="http://schemas.microsoft.com/office/drawing/2014/main" id="{D1C4F2CC-8401-C9B3-5F7E-894F4D967574}"/>
              </a:ext>
            </a:extLst>
          </p:cNvPr>
          <p:cNvSpPr>
            <a:spLocks noGrp="1"/>
          </p:cNvSpPr>
          <p:nvPr>
            <p:ph idx="1"/>
          </p:nvPr>
        </p:nvSpPr>
        <p:spPr>
          <a:xfrm>
            <a:off x="428172" y="1361167"/>
            <a:ext cx="3388454" cy="5143961"/>
          </a:xfrm>
        </p:spPr>
        <p:txBody>
          <a:bodyPr>
            <a:normAutofit/>
          </a:bodyPr>
          <a:lstStyle/>
          <a:p>
            <a:r>
              <a:rPr lang="en-US" dirty="0"/>
              <a:t>POSTMAN can be used to make a request and test it</a:t>
            </a:r>
          </a:p>
          <a:p>
            <a:endParaRPr lang="en-US" dirty="0"/>
          </a:p>
        </p:txBody>
      </p:sp>
      <p:pic>
        <p:nvPicPr>
          <p:cNvPr id="6" name="Picture 5" descr="A screenshot of a computer&#10;&#10;Description automatically generated">
            <a:extLst>
              <a:ext uri="{FF2B5EF4-FFF2-40B4-BE49-F238E27FC236}">
                <a16:creationId xmlns:a16="http://schemas.microsoft.com/office/drawing/2014/main" id="{19B6DE7B-BD5E-30A1-6E3C-34DF4ED0A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780" y="1323871"/>
            <a:ext cx="7772400" cy="5372203"/>
          </a:xfrm>
          <a:prstGeom prst="rect">
            <a:avLst/>
          </a:prstGeom>
        </p:spPr>
      </p:pic>
    </p:spTree>
    <p:extLst>
      <p:ext uri="{BB962C8B-B14F-4D97-AF65-F5344CB8AC3E}">
        <p14:creationId xmlns:p14="http://schemas.microsoft.com/office/powerpoint/2010/main" val="4221041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Summary</a:t>
            </a:r>
            <a:r>
              <a:rPr lang="it-IT" dirty="0"/>
              <a:t> of </a:t>
            </a:r>
            <a:r>
              <a:rPr lang="it-IT" dirty="0" err="1"/>
              <a:t>types</a:t>
            </a:r>
            <a:r>
              <a:rPr lang="it-IT" dirty="0"/>
              <a:t> of </a:t>
            </a:r>
            <a:r>
              <a:rPr lang="it-IT" dirty="0" err="1"/>
              <a:t>request-response</a:t>
            </a:r>
            <a:r>
              <a:rPr lang="it-IT" dirty="0"/>
              <a:t> Web </a:t>
            </a:r>
            <a:r>
              <a:rPr lang="it-IT" dirty="0" err="1"/>
              <a:t>APIs</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36</a:t>
            </a:fld>
            <a:endParaRPr lang="en-GB"/>
          </a:p>
        </p:txBody>
      </p:sp>
      <p:graphicFrame>
        <p:nvGraphicFramePr>
          <p:cNvPr id="6" name="Tabella 5"/>
          <p:cNvGraphicFramePr>
            <a:graphicFrameLocks noGrp="1"/>
          </p:cNvGraphicFramePr>
          <p:nvPr/>
        </p:nvGraphicFramePr>
        <p:xfrm>
          <a:off x="773249" y="1220152"/>
          <a:ext cx="8542528" cy="5318760"/>
        </p:xfrm>
        <a:graphic>
          <a:graphicData uri="http://schemas.openxmlformats.org/drawingml/2006/table">
            <a:tbl>
              <a:tblPr firstRow="1" bandRow="1">
                <a:tableStyleId>{68D230F3-CF80-4859-8CE7-A43EE81993B5}</a:tableStyleId>
              </a:tblPr>
              <a:tblGrid>
                <a:gridCol w="2135632">
                  <a:extLst>
                    <a:ext uri="{9D8B030D-6E8A-4147-A177-3AD203B41FA5}">
                      <a16:colId xmlns:a16="http://schemas.microsoft.com/office/drawing/2014/main" val="2101607929"/>
                    </a:ext>
                  </a:extLst>
                </a:gridCol>
                <a:gridCol w="2135632">
                  <a:extLst>
                    <a:ext uri="{9D8B030D-6E8A-4147-A177-3AD203B41FA5}">
                      <a16:colId xmlns:a16="http://schemas.microsoft.com/office/drawing/2014/main" val="2800036729"/>
                    </a:ext>
                  </a:extLst>
                </a:gridCol>
                <a:gridCol w="2135632">
                  <a:extLst>
                    <a:ext uri="{9D8B030D-6E8A-4147-A177-3AD203B41FA5}">
                      <a16:colId xmlns:a16="http://schemas.microsoft.com/office/drawing/2014/main" val="3026799923"/>
                    </a:ext>
                  </a:extLst>
                </a:gridCol>
                <a:gridCol w="2135632">
                  <a:extLst>
                    <a:ext uri="{9D8B030D-6E8A-4147-A177-3AD203B41FA5}">
                      <a16:colId xmlns:a16="http://schemas.microsoft.com/office/drawing/2014/main" val="249477264"/>
                    </a:ext>
                  </a:extLst>
                </a:gridCol>
              </a:tblGrid>
              <a:tr h="370840">
                <a:tc>
                  <a:txBody>
                    <a:bodyPr/>
                    <a:lstStyle/>
                    <a:p>
                      <a:endParaRPr lang="en-GB" dirty="0">
                        <a:latin typeface="Aptos" panose="020B0004020202020204" pitchFamily="34" charset="0"/>
                      </a:endParaRPr>
                    </a:p>
                  </a:txBody>
                  <a:tcPr/>
                </a:tc>
                <a:tc>
                  <a:txBody>
                    <a:bodyPr/>
                    <a:lstStyle/>
                    <a:p>
                      <a:r>
                        <a:rPr lang="it-IT" dirty="0">
                          <a:latin typeface="Aptos" panose="020B0004020202020204" pitchFamily="34" charset="0"/>
                        </a:rPr>
                        <a:t>RPC</a:t>
                      </a:r>
                      <a:endParaRPr lang="en-GB" dirty="0">
                        <a:latin typeface="Aptos" panose="020B0004020202020204" pitchFamily="34" charset="0"/>
                      </a:endParaRPr>
                    </a:p>
                  </a:txBody>
                  <a:tcPr/>
                </a:tc>
                <a:tc>
                  <a:txBody>
                    <a:bodyPr/>
                    <a:lstStyle/>
                    <a:p>
                      <a:r>
                        <a:rPr lang="it-IT" dirty="0">
                          <a:latin typeface="Aptos" panose="020B0004020202020204" pitchFamily="34" charset="0"/>
                        </a:rPr>
                        <a:t>SOAP</a:t>
                      </a:r>
                      <a:endParaRPr lang="en-GB" dirty="0">
                        <a:latin typeface="Aptos" panose="020B0004020202020204" pitchFamily="34" charset="0"/>
                      </a:endParaRPr>
                    </a:p>
                  </a:txBody>
                  <a:tcPr/>
                </a:tc>
                <a:tc>
                  <a:txBody>
                    <a:bodyPr/>
                    <a:lstStyle/>
                    <a:p>
                      <a:r>
                        <a:rPr lang="it-IT" dirty="0" err="1">
                          <a:latin typeface="Aptos" panose="020B0004020202020204" pitchFamily="34" charset="0"/>
                        </a:rPr>
                        <a:t>RESTful</a:t>
                      </a:r>
                      <a:endParaRPr lang="en-GB" dirty="0">
                        <a:latin typeface="Aptos" panose="020B0004020202020204" pitchFamily="34" charset="0"/>
                      </a:endParaRPr>
                    </a:p>
                  </a:txBody>
                  <a:tcPr/>
                </a:tc>
                <a:extLst>
                  <a:ext uri="{0D108BD9-81ED-4DB2-BD59-A6C34878D82A}">
                    <a16:rowId xmlns:a16="http://schemas.microsoft.com/office/drawing/2014/main" val="3816718203"/>
                  </a:ext>
                </a:extLst>
              </a:tr>
              <a:tr h="370840">
                <a:tc>
                  <a:txBody>
                    <a:bodyPr/>
                    <a:lstStyle/>
                    <a:p>
                      <a:r>
                        <a:rPr lang="en-GB" b="1" noProof="0">
                          <a:latin typeface="Aptos" panose="020B0004020202020204" pitchFamily="34" charset="0"/>
                        </a:rPr>
                        <a:t>Organized in terms of</a:t>
                      </a:r>
                    </a:p>
                  </a:txBody>
                  <a:tcPr anchor="ctr"/>
                </a:tc>
                <a:tc>
                  <a:txBody>
                    <a:bodyPr/>
                    <a:lstStyle/>
                    <a:p>
                      <a:r>
                        <a:rPr lang="en-GB" noProof="0">
                          <a:latin typeface="Aptos" panose="020B0004020202020204" pitchFamily="34" charset="0"/>
                        </a:rPr>
                        <a:t>Local procedure calling</a:t>
                      </a:r>
                    </a:p>
                  </a:txBody>
                  <a:tcPr/>
                </a:tc>
                <a:tc>
                  <a:txBody>
                    <a:bodyPr/>
                    <a:lstStyle/>
                    <a:p>
                      <a:r>
                        <a:rPr lang="en-GB" noProof="0">
                          <a:latin typeface="Aptos" panose="020B0004020202020204" pitchFamily="34" charset="0"/>
                        </a:rPr>
                        <a:t>Enveloped</a:t>
                      </a:r>
                      <a:r>
                        <a:rPr lang="en-GB" baseline="0" noProof="0">
                          <a:latin typeface="Aptos" panose="020B0004020202020204" pitchFamily="34" charset="0"/>
                        </a:rPr>
                        <a:t> message structure</a:t>
                      </a:r>
                      <a:endParaRPr lang="en-GB" noProof="0">
                        <a:latin typeface="Aptos" panose="020B0004020202020204" pitchFamily="34" charset="0"/>
                      </a:endParaRPr>
                    </a:p>
                  </a:txBody>
                  <a:tcPr/>
                </a:tc>
                <a:tc>
                  <a:txBody>
                    <a:bodyPr/>
                    <a:lstStyle/>
                    <a:p>
                      <a:r>
                        <a:rPr lang="en-GB" noProof="0">
                          <a:latin typeface="Aptos" panose="020B0004020202020204" pitchFamily="34" charset="0"/>
                        </a:rPr>
                        <a:t>Compliance with</a:t>
                      </a:r>
                      <a:r>
                        <a:rPr lang="en-GB" baseline="0" noProof="0">
                          <a:latin typeface="Aptos" panose="020B0004020202020204" pitchFamily="34" charset="0"/>
                        </a:rPr>
                        <a:t> 6 architectural constraints</a:t>
                      </a:r>
                      <a:endParaRPr lang="en-GB" noProof="0">
                        <a:latin typeface="Aptos" panose="020B0004020202020204" pitchFamily="34" charset="0"/>
                      </a:endParaRPr>
                    </a:p>
                  </a:txBody>
                  <a:tcPr/>
                </a:tc>
                <a:extLst>
                  <a:ext uri="{0D108BD9-81ED-4DB2-BD59-A6C34878D82A}">
                    <a16:rowId xmlns:a16="http://schemas.microsoft.com/office/drawing/2014/main" val="181243653"/>
                  </a:ext>
                </a:extLst>
              </a:tr>
              <a:tr h="370840">
                <a:tc>
                  <a:txBody>
                    <a:bodyPr/>
                    <a:lstStyle/>
                    <a:p>
                      <a:r>
                        <a:rPr lang="en-GB" b="1" noProof="0">
                          <a:latin typeface="Aptos" panose="020B0004020202020204" pitchFamily="34" charset="0"/>
                        </a:rPr>
                        <a:t>Format</a:t>
                      </a:r>
                    </a:p>
                  </a:txBody>
                  <a:tcPr anchor="ctr"/>
                </a:tc>
                <a:tc>
                  <a:txBody>
                    <a:bodyPr/>
                    <a:lstStyle/>
                    <a:p>
                      <a:r>
                        <a:rPr lang="en-GB" noProof="0">
                          <a:latin typeface="Aptos" panose="020B0004020202020204" pitchFamily="34" charset="0"/>
                        </a:rPr>
                        <a:t>Multiple (JSON,</a:t>
                      </a:r>
                      <a:r>
                        <a:rPr lang="en-GB" baseline="0" noProof="0">
                          <a:latin typeface="Aptos" panose="020B0004020202020204" pitchFamily="34" charset="0"/>
                        </a:rPr>
                        <a:t> XML, Protobuf, …)</a:t>
                      </a:r>
                      <a:endParaRPr lang="en-GB" noProof="0">
                        <a:latin typeface="Aptos" panose="020B0004020202020204" pitchFamily="34" charset="0"/>
                      </a:endParaRPr>
                    </a:p>
                  </a:txBody>
                  <a:tcPr/>
                </a:tc>
                <a:tc>
                  <a:txBody>
                    <a:bodyPr/>
                    <a:lstStyle/>
                    <a:p>
                      <a:r>
                        <a:rPr lang="en-GB" noProof="0">
                          <a:latin typeface="Aptos" panose="020B0004020202020204" pitchFamily="34" charset="0"/>
                        </a:rPr>
                        <a:t>XML</a:t>
                      </a:r>
                      <a:r>
                        <a:rPr lang="en-GB" baseline="0" noProof="0">
                          <a:latin typeface="Aptos" panose="020B0004020202020204" pitchFamily="34" charset="0"/>
                        </a:rPr>
                        <a:t> only</a:t>
                      </a:r>
                      <a:endParaRPr lang="en-GB" noProof="0">
                        <a:latin typeface="Aptos" panose="020B0004020202020204" pitchFamily="34" charset="0"/>
                      </a:endParaRPr>
                    </a:p>
                  </a:txBody>
                  <a:tcPr/>
                </a:tc>
                <a:tc>
                  <a:txBody>
                    <a:bodyPr/>
                    <a:lstStyle/>
                    <a:p>
                      <a:r>
                        <a:rPr lang="en-GB" noProof="0">
                          <a:latin typeface="Aptos" panose="020B0004020202020204" pitchFamily="34" charset="0"/>
                        </a:rPr>
                        <a:t>Multiple</a:t>
                      </a:r>
                      <a:r>
                        <a:rPr lang="en-GB" baseline="0" noProof="0">
                          <a:latin typeface="Aptos" panose="020B0004020202020204" pitchFamily="34" charset="0"/>
                        </a:rPr>
                        <a:t> (JSON, XML, HTML, plain text, …)</a:t>
                      </a:r>
                      <a:endParaRPr lang="en-GB" noProof="0">
                        <a:latin typeface="Aptos" panose="020B0004020202020204" pitchFamily="34" charset="0"/>
                      </a:endParaRPr>
                    </a:p>
                  </a:txBody>
                  <a:tcPr/>
                </a:tc>
                <a:extLst>
                  <a:ext uri="{0D108BD9-81ED-4DB2-BD59-A6C34878D82A}">
                    <a16:rowId xmlns:a16="http://schemas.microsoft.com/office/drawing/2014/main" val="4220686668"/>
                  </a:ext>
                </a:extLst>
              </a:tr>
              <a:tr h="370840">
                <a:tc>
                  <a:txBody>
                    <a:bodyPr/>
                    <a:lstStyle/>
                    <a:p>
                      <a:r>
                        <a:rPr lang="en-GB" b="1" noProof="0">
                          <a:latin typeface="Aptos" panose="020B0004020202020204" pitchFamily="34" charset="0"/>
                        </a:rPr>
                        <a:t>Statefull</a:t>
                      </a:r>
                      <a:r>
                        <a:rPr lang="en-GB" b="1" baseline="0" noProof="0">
                          <a:latin typeface="Aptos" panose="020B0004020202020204" pitchFamily="34" charset="0"/>
                        </a:rPr>
                        <a:t> or stateless</a:t>
                      </a:r>
                      <a:endParaRPr lang="en-GB" b="1" noProof="0">
                        <a:latin typeface="Aptos" panose="020B0004020202020204" pitchFamily="34" charset="0"/>
                      </a:endParaRPr>
                    </a:p>
                  </a:txBody>
                  <a:tcPr anchor="ctr"/>
                </a:tc>
                <a:tc>
                  <a:txBody>
                    <a:bodyPr/>
                    <a:lstStyle/>
                    <a:p>
                      <a:r>
                        <a:rPr lang="en-GB" noProof="0">
                          <a:latin typeface="Aptos" panose="020B0004020202020204" pitchFamily="34" charset="0"/>
                        </a:rPr>
                        <a:t>Both</a:t>
                      </a:r>
                    </a:p>
                  </a:txBody>
                  <a:tcPr/>
                </a:tc>
                <a:tc>
                  <a:txBody>
                    <a:bodyPr/>
                    <a:lstStyle/>
                    <a:p>
                      <a:r>
                        <a:rPr lang="en-GB" noProof="0">
                          <a:latin typeface="Aptos" panose="020B0004020202020204" pitchFamily="34" charset="0"/>
                        </a:rPr>
                        <a:t>Both</a:t>
                      </a:r>
                    </a:p>
                  </a:txBody>
                  <a:tcPr/>
                </a:tc>
                <a:tc>
                  <a:txBody>
                    <a:bodyPr/>
                    <a:lstStyle/>
                    <a:p>
                      <a:r>
                        <a:rPr lang="en-GB" noProof="0">
                          <a:latin typeface="Aptos" panose="020B0004020202020204" pitchFamily="34" charset="0"/>
                        </a:rPr>
                        <a:t>Stateless</a:t>
                      </a:r>
                    </a:p>
                  </a:txBody>
                  <a:tcPr/>
                </a:tc>
                <a:extLst>
                  <a:ext uri="{0D108BD9-81ED-4DB2-BD59-A6C34878D82A}">
                    <a16:rowId xmlns:a16="http://schemas.microsoft.com/office/drawing/2014/main" val="3391362913"/>
                  </a:ext>
                </a:extLst>
              </a:tr>
              <a:tr h="370840">
                <a:tc>
                  <a:txBody>
                    <a:bodyPr/>
                    <a:lstStyle/>
                    <a:p>
                      <a:r>
                        <a:rPr lang="en-GB" b="1" noProof="0">
                          <a:latin typeface="Aptos" panose="020B0004020202020204" pitchFamily="34" charset="0"/>
                        </a:rPr>
                        <a:t>Learning curve</a:t>
                      </a:r>
                    </a:p>
                  </a:txBody>
                  <a:tcPr anchor="ctr"/>
                </a:tc>
                <a:tc>
                  <a:txBody>
                    <a:bodyPr/>
                    <a:lstStyle/>
                    <a:p>
                      <a:r>
                        <a:rPr lang="en-GB" noProof="0">
                          <a:latin typeface="Aptos" panose="020B0004020202020204" pitchFamily="34" charset="0"/>
                        </a:rPr>
                        <a:t>Easy</a:t>
                      </a:r>
                    </a:p>
                  </a:txBody>
                  <a:tcPr/>
                </a:tc>
                <a:tc>
                  <a:txBody>
                    <a:bodyPr/>
                    <a:lstStyle/>
                    <a:p>
                      <a:r>
                        <a:rPr lang="en-GB" noProof="0">
                          <a:latin typeface="Aptos" panose="020B0004020202020204" pitchFamily="34" charset="0"/>
                        </a:rPr>
                        <a:t>Difficult</a:t>
                      </a:r>
                    </a:p>
                  </a:txBody>
                  <a:tcPr/>
                </a:tc>
                <a:tc>
                  <a:txBody>
                    <a:bodyPr/>
                    <a:lstStyle/>
                    <a:p>
                      <a:r>
                        <a:rPr lang="en-GB" noProof="0">
                          <a:latin typeface="Aptos" panose="020B0004020202020204" pitchFamily="34" charset="0"/>
                        </a:rPr>
                        <a:t>Easy</a:t>
                      </a:r>
                    </a:p>
                  </a:txBody>
                  <a:tcPr/>
                </a:tc>
                <a:extLst>
                  <a:ext uri="{0D108BD9-81ED-4DB2-BD59-A6C34878D82A}">
                    <a16:rowId xmlns:a16="http://schemas.microsoft.com/office/drawing/2014/main" val="3592922564"/>
                  </a:ext>
                </a:extLst>
              </a:tr>
              <a:tr h="370840">
                <a:tc>
                  <a:txBody>
                    <a:bodyPr/>
                    <a:lstStyle/>
                    <a:p>
                      <a:r>
                        <a:rPr lang="en-GB" b="1" noProof="0">
                          <a:latin typeface="Aptos" panose="020B0004020202020204" pitchFamily="34" charset="0"/>
                        </a:rPr>
                        <a:t>Community</a:t>
                      </a:r>
                    </a:p>
                  </a:txBody>
                  <a:tcPr anchor="ctr"/>
                </a:tc>
                <a:tc>
                  <a:txBody>
                    <a:bodyPr/>
                    <a:lstStyle/>
                    <a:p>
                      <a:r>
                        <a:rPr lang="en-GB" noProof="0">
                          <a:latin typeface="Aptos" panose="020B0004020202020204" pitchFamily="34" charset="0"/>
                        </a:rPr>
                        <a:t>Large</a:t>
                      </a:r>
                    </a:p>
                  </a:txBody>
                  <a:tcPr/>
                </a:tc>
                <a:tc>
                  <a:txBody>
                    <a:bodyPr/>
                    <a:lstStyle/>
                    <a:p>
                      <a:r>
                        <a:rPr lang="en-GB" noProof="0">
                          <a:latin typeface="Aptos" panose="020B0004020202020204" pitchFamily="34" charset="0"/>
                        </a:rPr>
                        <a:t>Small</a:t>
                      </a:r>
                    </a:p>
                  </a:txBody>
                  <a:tcPr/>
                </a:tc>
                <a:tc>
                  <a:txBody>
                    <a:bodyPr/>
                    <a:lstStyle/>
                    <a:p>
                      <a:r>
                        <a:rPr lang="en-GB" noProof="0">
                          <a:latin typeface="Aptos" panose="020B0004020202020204" pitchFamily="34" charset="0"/>
                        </a:rPr>
                        <a:t>Large</a:t>
                      </a:r>
                    </a:p>
                  </a:txBody>
                  <a:tcPr/>
                </a:tc>
                <a:extLst>
                  <a:ext uri="{0D108BD9-81ED-4DB2-BD59-A6C34878D82A}">
                    <a16:rowId xmlns:a16="http://schemas.microsoft.com/office/drawing/2014/main" val="2753605381"/>
                  </a:ext>
                </a:extLst>
              </a:tr>
              <a:tr h="370840">
                <a:tc>
                  <a:txBody>
                    <a:bodyPr/>
                    <a:lstStyle/>
                    <a:p>
                      <a:r>
                        <a:rPr lang="en-GB" b="1" noProof="0">
                          <a:latin typeface="Aptos" panose="020B0004020202020204" pitchFamily="34" charset="0"/>
                        </a:rPr>
                        <a:t>Use cases</a:t>
                      </a:r>
                    </a:p>
                  </a:txBody>
                  <a:tcPr anchor="ctr"/>
                </a:tc>
                <a:tc>
                  <a:txBody>
                    <a:bodyPr/>
                    <a:lstStyle/>
                    <a:p>
                      <a:r>
                        <a:rPr lang="en-GB" noProof="0">
                          <a:latin typeface="Aptos" panose="020B0004020202020204" pitchFamily="34" charset="0"/>
                        </a:rPr>
                        <a:t>Command</a:t>
                      </a:r>
                      <a:r>
                        <a:rPr lang="en-GB" baseline="0" noProof="0">
                          <a:latin typeface="Aptos" panose="020B0004020202020204" pitchFamily="34" charset="0"/>
                        </a:rPr>
                        <a:t> and action-oriented APIs, internal high performance and massive micro-services</a:t>
                      </a:r>
                      <a:endParaRPr lang="en-GB" noProof="0">
                        <a:latin typeface="Aptos" panose="020B0004020202020204" pitchFamily="34" charset="0"/>
                      </a:endParaRPr>
                    </a:p>
                  </a:txBody>
                  <a:tcPr/>
                </a:tc>
                <a:tc>
                  <a:txBody>
                    <a:bodyPr/>
                    <a:lstStyle/>
                    <a:p>
                      <a:r>
                        <a:rPr lang="en-GB" noProof="0">
                          <a:latin typeface="Aptos" panose="020B0004020202020204" pitchFamily="34" charset="0"/>
                        </a:rPr>
                        <a:t>Payment gateways, identity</a:t>
                      </a:r>
                      <a:r>
                        <a:rPr lang="en-GB" baseline="0" noProof="0">
                          <a:latin typeface="Aptos" panose="020B0004020202020204" pitchFamily="34" charset="0"/>
                        </a:rPr>
                        <a:t> management, financial applications</a:t>
                      </a:r>
                      <a:endParaRPr lang="en-GB" noProof="0">
                        <a:latin typeface="Aptos" panose="020B0004020202020204" pitchFamily="34" charset="0"/>
                      </a:endParaRPr>
                    </a:p>
                  </a:txBody>
                  <a:tcPr/>
                </a:tc>
                <a:tc>
                  <a:txBody>
                    <a:bodyPr/>
                    <a:lstStyle/>
                    <a:p>
                      <a:r>
                        <a:rPr lang="en-GB" noProof="0" dirty="0">
                          <a:latin typeface="Aptos" panose="020B0004020202020204" pitchFamily="34" charset="0"/>
                        </a:rPr>
                        <a:t>Public APIs,</a:t>
                      </a:r>
                      <a:r>
                        <a:rPr lang="en-GB" baseline="0" noProof="0" dirty="0">
                          <a:latin typeface="Aptos" panose="020B0004020202020204" pitchFamily="34" charset="0"/>
                        </a:rPr>
                        <a:t> simple resource-driven app</a:t>
                      </a:r>
                      <a:endParaRPr lang="en-GB" noProof="0" dirty="0">
                        <a:latin typeface="Aptos" panose="020B0004020202020204" pitchFamily="34" charset="0"/>
                      </a:endParaRPr>
                    </a:p>
                  </a:txBody>
                  <a:tcPr/>
                </a:tc>
                <a:extLst>
                  <a:ext uri="{0D108BD9-81ED-4DB2-BD59-A6C34878D82A}">
                    <a16:rowId xmlns:a16="http://schemas.microsoft.com/office/drawing/2014/main" val="1181837175"/>
                  </a:ext>
                </a:extLst>
              </a:tr>
            </a:tbl>
          </a:graphicData>
        </a:graphic>
      </p:graphicFrame>
    </p:spTree>
    <p:extLst>
      <p:ext uri="{BB962C8B-B14F-4D97-AF65-F5344CB8AC3E}">
        <p14:creationId xmlns:p14="http://schemas.microsoft.com/office/powerpoint/2010/main" val="2939123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Request-response</a:t>
            </a:r>
            <a:r>
              <a:rPr lang="it-IT" dirty="0"/>
              <a:t> API </a:t>
            </a:r>
            <a:r>
              <a:rPr lang="it-IT" dirty="0" err="1"/>
              <a:t>architecture</a:t>
            </a:r>
            <a:endParaRPr lang="en-GB" dirty="0"/>
          </a:p>
        </p:txBody>
      </p:sp>
      <p:sp>
        <p:nvSpPr>
          <p:cNvPr id="3" name="Segnaposto contenuto 2"/>
          <p:cNvSpPr>
            <a:spLocks noGrp="1"/>
          </p:cNvSpPr>
          <p:nvPr>
            <p:ph idx="1"/>
          </p:nvPr>
        </p:nvSpPr>
        <p:spPr>
          <a:xfrm>
            <a:off x="428172" y="1361167"/>
            <a:ext cx="11635377" cy="4858203"/>
          </a:xfrm>
        </p:spPr>
        <p:txBody>
          <a:bodyPr>
            <a:normAutofit/>
          </a:bodyPr>
          <a:lstStyle/>
          <a:p>
            <a:r>
              <a:rPr lang="it-IT" dirty="0"/>
              <a:t>RPC, SOAP, </a:t>
            </a:r>
            <a:r>
              <a:rPr lang="it-IT" dirty="0" err="1"/>
              <a:t>RESTful</a:t>
            </a:r>
            <a:r>
              <a:rPr lang="it-IT" dirty="0"/>
              <a:t>, </a:t>
            </a:r>
            <a:r>
              <a:rPr lang="it-IT" dirty="0" err="1"/>
              <a:t>GraphQL</a:t>
            </a:r>
            <a:r>
              <a:rPr lang="it-IT" dirty="0"/>
              <a:t> are </a:t>
            </a:r>
            <a:r>
              <a:rPr lang="it-IT" dirty="0" err="1"/>
              <a:t>all</a:t>
            </a:r>
            <a:r>
              <a:rPr lang="it-IT" dirty="0"/>
              <a:t> </a:t>
            </a:r>
            <a:r>
              <a:rPr lang="it-IT" dirty="0" err="1"/>
              <a:t>types</a:t>
            </a:r>
            <a:r>
              <a:rPr lang="it-IT" dirty="0"/>
              <a:t> of </a:t>
            </a:r>
            <a:r>
              <a:rPr lang="it-IT" b="1" dirty="0" err="1"/>
              <a:t>request-response</a:t>
            </a:r>
            <a:r>
              <a:rPr lang="it-IT" b="1" dirty="0"/>
              <a:t> Web API</a:t>
            </a:r>
            <a:endParaRPr lang="it-IT" dirty="0"/>
          </a:p>
          <a:p>
            <a:r>
              <a:rPr lang="en-GB" dirty="0"/>
              <a:t>To get the latest information, the client always have to </a:t>
            </a:r>
            <a:r>
              <a:rPr lang="en-GB" b="1" dirty="0"/>
              <a:t>poll</a:t>
            </a:r>
            <a:r>
              <a:rPr lang="en-GB" dirty="0"/>
              <a:t> the API provider (server).</a:t>
            </a:r>
            <a:r>
              <a:rPr lang="it-IT" dirty="0"/>
              <a:t>   </a:t>
            </a:r>
          </a:p>
          <a:p>
            <a:pPr marL="0" indent="0">
              <a:buNone/>
            </a:pP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37</a:t>
            </a:fld>
            <a:endParaRPr lang="en-GB" dirty="0"/>
          </a:p>
        </p:txBody>
      </p:sp>
      <p:pic>
        <p:nvPicPr>
          <p:cNvPr id="7" name="Immagine 6"/>
          <p:cNvPicPr>
            <a:picLocks noChangeAspect="1"/>
          </p:cNvPicPr>
          <p:nvPr/>
        </p:nvPicPr>
        <p:blipFill rotWithShape="1">
          <a:blip r:embed="rId2">
            <a:extLst>
              <a:ext uri="{28A0092B-C50C-407E-A947-70E740481C1C}">
                <a14:useLocalDpi xmlns:a14="http://schemas.microsoft.com/office/drawing/2010/main" val="0"/>
              </a:ext>
            </a:extLst>
          </a:blip>
          <a:srcRect l="14272" r="20832" b="2506"/>
          <a:stretch/>
        </p:blipFill>
        <p:spPr>
          <a:xfrm>
            <a:off x="2737896" y="3670037"/>
            <a:ext cx="713148" cy="1071357"/>
          </a:xfrm>
          <a:prstGeom prst="rect">
            <a:avLst/>
          </a:prstGeom>
        </p:spPr>
      </p:pic>
      <p:sp>
        <p:nvSpPr>
          <p:cNvPr id="8" name="Disco magnetico 7"/>
          <p:cNvSpPr/>
          <p:nvPr/>
        </p:nvSpPr>
        <p:spPr>
          <a:xfrm>
            <a:off x="7551146" y="3670037"/>
            <a:ext cx="1508759" cy="1123607"/>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it-IT" dirty="0">
                <a:latin typeface="Aptos" panose="020B0004020202020204" pitchFamily="34" charset="0"/>
              </a:rPr>
              <a:t>Train station server</a:t>
            </a:r>
            <a:endParaRPr lang="en-GB" dirty="0">
              <a:latin typeface="Aptos" panose="020B0004020202020204" pitchFamily="34" charset="0"/>
            </a:endParaRPr>
          </a:p>
        </p:txBody>
      </p:sp>
      <p:cxnSp>
        <p:nvCxnSpPr>
          <p:cNvPr id="10" name="Connettore 2 9"/>
          <p:cNvCxnSpPr/>
          <p:nvPr/>
        </p:nvCxnSpPr>
        <p:spPr>
          <a:xfrm>
            <a:off x="4818427" y="3282680"/>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ttore 2 10"/>
          <p:cNvCxnSpPr/>
          <p:nvPr/>
        </p:nvCxnSpPr>
        <p:spPr>
          <a:xfrm rot="10800000">
            <a:off x="4818427" y="3609351"/>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CasellaDiTesto 11"/>
          <p:cNvSpPr txBox="1"/>
          <p:nvPr/>
        </p:nvSpPr>
        <p:spPr>
          <a:xfrm>
            <a:off x="4498387" y="2844858"/>
            <a:ext cx="2429691" cy="369332"/>
          </a:xfrm>
          <a:prstGeom prst="rect">
            <a:avLst/>
          </a:prstGeom>
          <a:noFill/>
        </p:spPr>
        <p:txBody>
          <a:bodyPr wrap="square" rtlCol="0">
            <a:spAutoFit/>
          </a:bodyPr>
          <a:lstStyle/>
          <a:p>
            <a:r>
              <a:rPr lang="it-IT" dirty="0" err="1">
                <a:latin typeface="Aptos" panose="020B0004020202020204" pitchFamily="34" charset="0"/>
              </a:rPr>
              <a:t>Has</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13" name="CasellaDiTesto 12"/>
          <p:cNvSpPr txBox="1"/>
          <p:nvPr/>
        </p:nvSpPr>
        <p:spPr>
          <a:xfrm>
            <a:off x="5442992" y="3300705"/>
            <a:ext cx="655595" cy="369332"/>
          </a:xfrm>
          <a:prstGeom prst="rect">
            <a:avLst/>
          </a:prstGeom>
          <a:noFill/>
        </p:spPr>
        <p:txBody>
          <a:bodyPr wrap="square" rtlCol="0">
            <a:spAutoFit/>
          </a:bodyPr>
          <a:lstStyle/>
          <a:p>
            <a:r>
              <a:rPr lang="it-IT" dirty="0">
                <a:latin typeface="Aptos" panose="020B0004020202020204" pitchFamily="34" charset="0"/>
              </a:rPr>
              <a:t>No</a:t>
            </a:r>
            <a:endParaRPr lang="en-GB" dirty="0">
              <a:latin typeface="Aptos" panose="020B0004020202020204" pitchFamily="34" charset="0"/>
            </a:endParaRPr>
          </a:p>
        </p:txBody>
      </p:sp>
      <p:cxnSp>
        <p:nvCxnSpPr>
          <p:cNvPr id="14" name="Connettore 2 13"/>
          <p:cNvCxnSpPr/>
          <p:nvPr/>
        </p:nvCxnSpPr>
        <p:spPr>
          <a:xfrm>
            <a:off x="4865098" y="4386172"/>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p:cNvCxnSpPr/>
          <p:nvPr/>
        </p:nvCxnSpPr>
        <p:spPr>
          <a:xfrm rot="10800000">
            <a:off x="4865098" y="4712843"/>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p:cNvSpPr txBox="1"/>
          <p:nvPr/>
        </p:nvSpPr>
        <p:spPr>
          <a:xfrm>
            <a:off x="4545058" y="3948350"/>
            <a:ext cx="2429691" cy="369332"/>
          </a:xfrm>
          <a:prstGeom prst="rect">
            <a:avLst/>
          </a:prstGeom>
          <a:noFill/>
        </p:spPr>
        <p:txBody>
          <a:bodyPr wrap="square" rtlCol="0">
            <a:spAutoFit/>
          </a:bodyPr>
          <a:lstStyle/>
          <a:p>
            <a:r>
              <a:rPr lang="it-IT" dirty="0" err="1">
                <a:latin typeface="Aptos" panose="020B0004020202020204" pitchFamily="34" charset="0"/>
              </a:rPr>
              <a:t>Has</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17" name="CasellaDiTesto 16"/>
          <p:cNvSpPr txBox="1"/>
          <p:nvPr/>
        </p:nvSpPr>
        <p:spPr>
          <a:xfrm>
            <a:off x="5489663" y="4404197"/>
            <a:ext cx="655595" cy="369332"/>
          </a:xfrm>
          <a:prstGeom prst="rect">
            <a:avLst/>
          </a:prstGeom>
          <a:noFill/>
        </p:spPr>
        <p:txBody>
          <a:bodyPr wrap="square" rtlCol="0">
            <a:spAutoFit/>
          </a:bodyPr>
          <a:lstStyle/>
          <a:p>
            <a:r>
              <a:rPr lang="it-IT" dirty="0">
                <a:latin typeface="Aptos" panose="020B0004020202020204" pitchFamily="34" charset="0"/>
              </a:rPr>
              <a:t>No</a:t>
            </a:r>
            <a:endParaRPr lang="en-GB" dirty="0">
              <a:latin typeface="Aptos" panose="020B0004020202020204" pitchFamily="34" charset="0"/>
            </a:endParaRPr>
          </a:p>
        </p:txBody>
      </p:sp>
      <p:cxnSp>
        <p:nvCxnSpPr>
          <p:cNvPr id="18" name="Connettore 2 17"/>
          <p:cNvCxnSpPr/>
          <p:nvPr/>
        </p:nvCxnSpPr>
        <p:spPr>
          <a:xfrm>
            <a:off x="4912044" y="5811894"/>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p:cNvCxnSpPr/>
          <p:nvPr/>
        </p:nvCxnSpPr>
        <p:spPr>
          <a:xfrm rot="10800000">
            <a:off x="4912044" y="6138565"/>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CasellaDiTesto 19"/>
          <p:cNvSpPr txBox="1"/>
          <p:nvPr/>
        </p:nvSpPr>
        <p:spPr>
          <a:xfrm>
            <a:off x="4592004" y="5374072"/>
            <a:ext cx="2429691" cy="369332"/>
          </a:xfrm>
          <a:prstGeom prst="rect">
            <a:avLst/>
          </a:prstGeom>
          <a:noFill/>
        </p:spPr>
        <p:txBody>
          <a:bodyPr wrap="square" rtlCol="0">
            <a:spAutoFit/>
          </a:bodyPr>
          <a:lstStyle/>
          <a:p>
            <a:r>
              <a:rPr lang="it-IT" dirty="0" err="1">
                <a:latin typeface="Aptos" panose="020B0004020202020204" pitchFamily="34" charset="0"/>
              </a:rPr>
              <a:t>Has</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21" name="CasellaDiTesto 20"/>
          <p:cNvSpPr txBox="1"/>
          <p:nvPr/>
        </p:nvSpPr>
        <p:spPr>
          <a:xfrm>
            <a:off x="5536609" y="5829919"/>
            <a:ext cx="655595" cy="369332"/>
          </a:xfrm>
          <a:prstGeom prst="rect">
            <a:avLst/>
          </a:prstGeom>
          <a:noFill/>
        </p:spPr>
        <p:txBody>
          <a:bodyPr wrap="square" rtlCol="0">
            <a:spAutoFit/>
          </a:bodyPr>
          <a:lstStyle/>
          <a:p>
            <a:r>
              <a:rPr lang="it-IT" dirty="0">
                <a:latin typeface="Aptos" panose="020B0004020202020204" pitchFamily="34" charset="0"/>
              </a:rPr>
              <a:t>Yes!</a:t>
            </a:r>
            <a:endParaRPr lang="en-GB" dirty="0">
              <a:latin typeface="Aptos" panose="020B0004020202020204" pitchFamily="34" charset="0"/>
            </a:endParaRPr>
          </a:p>
        </p:txBody>
      </p:sp>
      <p:cxnSp>
        <p:nvCxnSpPr>
          <p:cNvPr id="23" name="Connettore diritto 22"/>
          <p:cNvCxnSpPr/>
          <p:nvPr/>
        </p:nvCxnSpPr>
        <p:spPr>
          <a:xfrm>
            <a:off x="3712572" y="2691759"/>
            <a:ext cx="0" cy="359228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ttore diritto 23"/>
          <p:cNvCxnSpPr/>
          <p:nvPr/>
        </p:nvCxnSpPr>
        <p:spPr>
          <a:xfrm>
            <a:off x="7284721" y="2691759"/>
            <a:ext cx="0" cy="359228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5" name="CasellaDiTesto 24"/>
          <p:cNvSpPr txBox="1"/>
          <p:nvPr/>
        </p:nvSpPr>
        <p:spPr>
          <a:xfrm>
            <a:off x="2710882" y="3249904"/>
            <a:ext cx="910863" cy="369332"/>
          </a:xfrm>
          <a:prstGeom prst="rect">
            <a:avLst/>
          </a:prstGeom>
          <a:noFill/>
        </p:spPr>
        <p:txBody>
          <a:bodyPr wrap="square" rtlCol="0">
            <a:spAutoFit/>
          </a:bodyPr>
          <a:lstStyle/>
          <a:p>
            <a:r>
              <a:rPr lang="it-IT" b="1" dirty="0">
                <a:latin typeface="Aptos" panose="020B0004020202020204" pitchFamily="34" charset="0"/>
              </a:rPr>
              <a:t>User</a:t>
            </a:r>
            <a:endParaRPr lang="en-GB" b="1" dirty="0">
              <a:latin typeface="Aptos" panose="020B0004020202020204" pitchFamily="34" charset="0"/>
            </a:endParaRPr>
          </a:p>
        </p:txBody>
      </p:sp>
      <p:sp>
        <p:nvSpPr>
          <p:cNvPr id="26" name="CasellaDiTesto 25"/>
          <p:cNvSpPr txBox="1"/>
          <p:nvPr/>
        </p:nvSpPr>
        <p:spPr>
          <a:xfrm>
            <a:off x="7576458" y="3163725"/>
            <a:ext cx="1662292" cy="369332"/>
          </a:xfrm>
          <a:prstGeom prst="rect">
            <a:avLst/>
          </a:prstGeom>
          <a:noFill/>
        </p:spPr>
        <p:txBody>
          <a:bodyPr wrap="square" rtlCol="0">
            <a:spAutoFit/>
          </a:bodyPr>
          <a:lstStyle/>
          <a:p>
            <a:r>
              <a:rPr lang="it-IT" b="1" dirty="0">
                <a:latin typeface="Aptos" panose="020B0004020202020204" pitchFamily="34" charset="0"/>
              </a:rPr>
              <a:t>API provider</a:t>
            </a:r>
            <a:endParaRPr lang="en-GB" b="1" dirty="0">
              <a:latin typeface="Aptos" panose="020B0004020202020204" pitchFamily="34" charset="0"/>
            </a:endParaRPr>
          </a:p>
        </p:txBody>
      </p:sp>
      <p:sp>
        <p:nvSpPr>
          <p:cNvPr id="27" name="CasellaDiTesto 26"/>
          <p:cNvSpPr txBox="1"/>
          <p:nvPr/>
        </p:nvSpPr>
        <p:spPr>
          <a:xfrm>
            <a:off x="5527492" y="4931051"/>
            <a:ext cx="655595" cy="369332"/>
          </a:xfrm>
          <a:prstGeom prst="rect">
            <a:avLst/>
          </a:prstGeom>
          <a:noFill/>
        </p:spPr>
        <p:txBody>
          <a:bodyPr wrap="square" rtlCol="0">
            <a:spAutoFit/>
          </a:bodyPr>
          <a:lstStyle/>
          <a:p>
            <a:r>
              <a:rPr lang="it-IT" dirty="0">
                <a:latin typeface="Aptos" panose="020B0004020202020204" pitchFamily="34" charset="0"/>
              </a:rPr>
              <a:t>…</a:t>
            </a:r>
            <a:endParaRPr lang="en-GB" dirty="0">
              <a:latin typeface="Aptos" panose="020B0004020202020204" pitchFamily="34" charset="0"/>
            </a:endParaRPr>
          </a:p>
        </p:txBody>
      </p:sp>
      <p:sp>
        <p:nvSpPr>
          <p:cNvPr id="28" name="CasellaDiTesto 27"/>
          <p:cNvSpPr txBox="1"/>
          <p:nvPr/>
        </p:nvSpPr>
        <p:spPr>
          <a:xfrm>
            <a:off x="3929060" y="3157335"/>
            <a:ext cx="655595" cy="369332"/>
          </a:xfrm>
          <a:prstGeom prst="rect">
            <a:avLst/>
          </a:prstGeom>
          <a:noFill/>
        </p:spPr>
        <p:txBody>
          <a:bodyPr wrap="square" rtlCol="0">
            <a:spAutoFit/>
          </a:bodyPr>
          <a:lstStyle/>
          <a:p>
            <a:r>
              <a:rPr lang="it-IT" dirty="0">
                <a:latin typeface="Aptos" panose="020B0004020202020204" pitchFamily="34" charset="0"/>
              </a:rPr>
              <a:t>8:00</a:t>
            </a:r>
            <a:endParaRPr lang="en-GB" dirty="0">
              <a:latin typeface="Aptos" panose="020B0004020202020204" pitchFamily="34" charset="0"/>
            </a:endParaRPr>
          </a:p>
        </p:txBody>
      </p:sp>
      <p:sp>
        <p:nvSpPr>
          <p:cNvPr id="29" name="CasellaDiTesto 28"/>
          <p:cNvSpPr txBox="1"/>
          <p:nvPr/>
        </p:nvSpPr>
        <p:spPr>
          <a:xfrm>
            <a:off x="3974101" y="4223176"/>
            <a:ext cx="655595" cy="369332"/>
          </a:xfrm>
          <a:prstGeom prst="rect">
            <a:avLst/>
          </a:prstGeom>
          <a:noFill/>
        </p:spPr>
        <p:txBody>
          <a:bodyPr wrap="square" rtlCol="0">
            <a:spAutoFit/>
          </a:bodyPr>
          <a:lstStyle/>
          <a:p>
            <a:r>
              <a:rPr lang="it-IT" dirty="0">
                <a:latin typeface="Aptos" panose="020B0004020202020204" pitchFamily="34" charset="0"/>
              </a:rPr>
              <a:t>8:05</a:t>
            </a:r>
            <a:endParaRPr lang="en-GB" dirty="0">
              <a:latin typeface="Aptos" panose="020B0004020202020204" pitchFamily="34" charset="0"/>
            </a:endParaRPr>
          </a:p>
        </p:txBody>
      </p:sp>
      <p:sp>
        <p:nvSpPr>
          <p:cNvPr id="30" name="CasellaDiTesto 29"/>
          <p:cNvSpPr txBox="1"/>
          <p:nvPr/>
        </p:nvSpPr>
        <p:spPr>
          <a:xfrm>
            <a:off x="3984510" y="5427389"/>
            <a:ext cx="655595" cy="369332"/>
          </a:xfrm>
          <a:prstGeom prst="rect">
            <a:avLst/>
          </a:prstGeom>
          <a:noFill/>
        </p:spPr>
        <p:txBody>
          <a:bodyPr wrap="square" rtlCol="0">
            <a:spAutoFit/>
          </a:bodyPr>
          <a:lstStyle/>
          <a:p>
            <a:r>
              <a:rPr lang="it-IT" dirty="0">
                <a:latin typeface="Aptos" panose="020B0004020202020204" pitchFamily="34" charset="0"/>
              </a:rPr>
              <a:t>8:25</a:t>
            </a:r>
            <a:endParaRPr lang="en-GB" dirty="0">
              <a:latin typeface="Aptos" panose="020B0004020202020204" pitchFamily="34" charset="0"/>
            </a:endParaRPr>
          </a:p>
        </p:txBody>
      </p:sp>
    </p:spTree>
    <p:extLst>
      <p:ext uri="{BB962C8B-B14F-4D97-AF65-F5344CB8AC3E}">
        <p14:creationId xmlns:p14="http://schemas.microsoft.com/office/powerpoint/2010/main" val="2117387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Event-driven</a:t>
            </a:r>
            <a:r>
              <a:rPr lang="it-IT" dirty="0"/>
              <a:t> API </a:t>
            </a:r>
            <a:r>
              <a:rPr lang="it-IT" dirty="0" err="1"/>
              <a:t>architecture</a:t>
            </a:r>
            <a:endParaRPr lang="en-GB" dirty="0"/>
          </a:p>
        </p:txBody>
      </p:sp>
      <p:sp>
        <p:nvSpPr>
          <p:cNvPr id="3" name="Segnaposto contenuto 2"/>
          <p:cNvSpPr>
            <a:spLocks noGrp="1"/>
          </p:cNvSpPr>
          <p:nvPr>
            <p:ph idx="1"/>
          </p:nvPr>
        </p:nvSpPr>
        <p:spPr>
          <a:xfrm>
            <a:off x="428173" y="1361167"/>
            <a:ext cx="4971010" cy="4995183"/>
          </a:xfrm>
        </p:spPr>
        <p:txBody>
          <a:bodyPr>
            <a:normAutofit/>
          </a:bodyPr>
          <a:lstStyle/>
          <a:p>
            <a:r>
              <a:rPr lang="en-GB" dirty="0"/>
              <a:t>In </a:t>
            </a:r>
            <a:r>
              <a:rPr lang="en-GB" b="1" dirty="0"/>
              <a:t>event-driven APIs </a:t>
            </a:r>
            <a:r>
              <a:rPr lang="en-GB" dirty="0"/>
              <a:t>the API provider notifies the client when something interesting happens. Notifications do not need a request from the client.</a:t>
            </a:r>
          </a:p>
          <a:p>
            <a:r>
              <a:rPr lang="en-GB" dirty="0"/>
              <a:t>An event-driven API must offer two capabilities to its clients</a:t>
            </a:r>
          </a:p>
          <a:p>
            <a:pPr lvl="1"/>
            <a:r>
              <a:rPr lang="en-GB" sz="2400" dirty="0"/>
              <a:t>A mechanism to allow clients to subscribe to events of their interest.</a:t>
            </a:r>
          </a:p>
          <a:p>
            <a:pPr lvl="1"/>
            <a:r>
              <a:rPr lang="en-GB" sz="2400" dirty="0"/>
              <a:t>Delivery of events to subscribed clients in an asynchronous manner.</a:t>
            </a:r>
            <a:endParaRPr lang="it-IT" sz="2400"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38</a:t>
            </a:fld>
            <a:endParaRPr lang="en-GB" dirty="0"/>
          </a:p>
        </p:txBody>
      </p:sp>
      <p:pic>
        <p:nvPicPr>
          <p:cNvPr id="7" name="Immagine 6"/>
          <p:cNvPicPr>
            <a:picLocks noChangeAspect="1"/>
          </p:cNvPicPr>
          <p:nvPr/>
        </p:nvPicPr>
        <p:blipFill rotWithShape="1">
          <a:blip r:embed="rId2">
            <a:extLst>
              <a:ext uri="{28A0092B-C50C-407E-A947-70E740481C1C}">
                <a14:useLocalDpi xmlns:a14="http://schemas.microsoft.com/office/drawing/2010/main" val="0"/>
              </a:ext>
            </a:extLst>
          </a:blip>
          <a:srcRect l="14272" r="20832" b="2506"/>
          <a:stretch/>
        </p:blipFill>
        <p:spPr>
          <a:xfrm>
            <a:off x="5810938" y="4350892"/>
            <a:ext cx="713148" cy="1071357"/>
          </a:xfrm>
          <a:prstGeom prst="rect">
            <a:avLst/>
          </a:prstGeom>
        </p:spPr>
      </p:pic>
      <p:sp>
        <p:nvSpPr>
          <p:cNvPr id="8" name="Disco magnetico 7"/>
          <p:cNvSpPr/>
          <p:nvPr/>
        </p:nvSpPr>
        <p:spPr>
          <a:xfrm>
            <a:off x="10355796" y="4330981"/>
            <a:ext cx="1508759" cy="1123607"/>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it-IT" dirty="0">
                <a:latin typeface="Aptos" panose="020B0004020202020204" pitchFamily="34" charset="0"/>
              </a:rPr>
              <a:t>Train station server</a:t>
            </a:r>
            <a:endParaRPr lang="en-GB" dirty="0">
              <a:latin typeface="Aptos" panose="020B0004020202020204" pitchFamily="34" charset="0"/>
            </a:endParaRPr>
          </a:p>
        </p:txBody>
      </p:sp>
      <p:cxnSp>
        <p:nvCxnSpPr>
          <p:cNvPr id="10" name="Connettore 2 9"/>
          <p:cNvCxnSpPr/>
          <p:nvPr/>
        </p:nvCxnSpPr>
        <p:spPr>
          <a:xfrm>
            <a:off x="7681448" y="4526708"/>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ttore 2 10"/>
          <p:cNvCxnSpPr/>
          <p:nvPr/>
        </p:nvCxnSpPr>
        <p:spPr>
          <a:xfrm rot="10800000">
            <a:off x="7681448" y="5454588"/>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CasellaDiTesto 11"/>
          <p:cNvSpPr txBox="1"/>
          <p:nvPr/>
        </p:nvSpPr>
        <p:spPr>
          <a:xfrm>
            <a:off x="7550436" y="3834211"/>
            <a:ext cx="2579462" cy="646331"/>
          </a:xfrm>
          <a:prstGeom prst="rect">
            <a:avLst/>
          </a:prstGeom>
          <a:noFill/>
        </p:spPr>
        <p:txBody>
          <a:bodyPr wrap="square" rtlCol="0">
            <a:spAutoFit/>
          </a:bodyPr>
          <a:lstStyle/>
          <a:p>
            <a:r>
              <a:rPr lang="it-IT" dirty="0" err="1">
                <a:latin typeface="Aptos" panose="020B0004020202020204" pitchFamily="34" charset="0"/>
              </a:rPr>
              <a:t>Please</a:t>
            </a:r>
            <a:r>
              <a:rPr lang="it-IT" dirty="0">
                <a:latin typeface="Aptos" panose="020B0004020202020204" pitchFamily="34" charset="0"/>
              </a:rPr>
              <a:t> </a:t>
            </a:r>
            <a:r>
              <a:rPr lang="it-IT" dirty="0" err="1">
                <a:latin typeface="Aptos" panose="020B0004020202020204" pitchFamily="34" charset="0"/>
              </a:rPr>
              <a:t>notify</a:t>
            </a:r>
            <a:r>
              <a:rPr lang="it-IT" dirty="0">
                <a:latin typeface="Aptos" panose="020B0004020202020204" pitchFamily="34" charset="0"/>
              </a:rPr>
              <a:t> me </a:t>
            </a:r>
            <a:r>
              <a:rPr lang="it-IT" dirty="0" err="1">
                <a:latin typeface="Aptos" panose="020B0004020202020204" pitchFamily="34" charset="0"/>
              </a:rPr>
              <a:t>when</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arrives</a:t>
            </a:r>
            <a:r>
              <a:rPr lang="it-IT" dirty="0">
                <a:latin typeface="Aptos" panose="020B0004020202020204" pitchFamily="34" charset="0"/>
              </a:rPr>
              <a:t>. </a:t>
            </a:r>
            <a:endParaRPr lang="en-GB" dirty="0">
              <a:latin typeface="Aptos" panose="020B0004020202020204" pitchFamily="34" charset="0"/>
            </a:endParaRPr>
          </a:p>
        </p:txBody>
      </p:sp>
      <p:sp>
        <p:nvSpPr>
          <p:cNvPr id="13" name="CasellaDiTesto 12"/>
          <p:cNvSpPr txBox="1"/>
          <p:nvPr/>
        </p:nvSpPr>
        <p:spPr>
          <a:xfrm>
            <a:off x="7644297" y="5009686"/>
            <a:ext cx="2979423" cy="369332"/>
          </a:xfrm>
          <a:prstGeom prst="rect">
            <a:avLst/>
          </a:prstGeom>
          <a:noFill/>
        </p:spPr>
        <p:txBody>
          <a:bodyPr wrap="square" rtlCol="0">
            <a:spAutoFit/>
          </a:bodyPr>
          <a:lstStyle/>
          <a:p>
            <a:r>
              <a:rPr lang="it-IT" dirty="0">
                <a:latin typeface="Aptos" panose="020B0004020202020204" pitchFamily="34" charset="0"/>
              </a:rPr>
              <a:t>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14" name="CasellaDiTesto 13"/>
          <p:cNvSpPr txBox="1"/>
          <p:nvPr/>
        </p:nvSpPr>
        <p:spPr>
          <a:xfrm>
            <a:off x="6941762" y="4061742"/>
            <a:ext cx="655595" cy="369332"/>
          </a:xfrm>
          <a:prstGeom prst="rect">
            <a:avLst/>
          </a:prstGeom>
          <a:noFill/>
        </p:spPr>
        <p:txBody>
          <a:bodyPr wrap="square" rtlCol="0">
            <a:spAutoFit/>
          </a:bodyPr>
          <a:lstStyle/>
          <a:p>
            <a:r>
              <a:rPr lang="it-IT" dirty="0">
                <a:latin typeface="Aptos" panose="020B0004020202020204" pitchFamily="34" charset="0"/>
              </a:rPr>
              <a:t>8:00</a:t>
            </a:r>
            <a:endParaRPr lang="en-GB" dirty="0">
              <a:latin typeface="Aptos" panose="020B0004020202020204" pitchFamily="34" charset="0"/>
            </a:endParaRPr>
          </a:p>
        </p:txBody>
      </p:sp>
      <p:sp>
        <p:nvSpPr>
          <p:cNvPr id="15" name="CasellaDiTesto 14"/>
          <p:cNvSpPr txBox="1"/>
          <p:nvPr/>
        </p:nvSpPr>
        <p:spPr>
          <a:xfrm>
            <a:off x="6941762" y="5009686"/>
            <a:ext cx="655595" cy="369332"/>
          </a:xfrm>
          <a:prstGeom prst="rect">
            <a:avLst/>
          </a:prstGeom>
          <a:noFill/>
        </p:spPr>
        <p:txBody>
          <a:bodyPr wrap="square" rtlCol="0">
            <a:spAutoFit/>
          </a:bodyPr>
          <a:lstStyle/>
          <a:p>
            <a:r>
              <a:rPr lang="it-IT" dirty="0">
                <a:latin typeface="Aptos" panose="020B0004020202020204" pitchFamily="34" charset="0"/>
              </a:rPr>
              <a:t>8:25</a:t>
            </a:r>
            <a:endParaRPr lang="en-GB" dirty="0">
              <a:latin typeface="Aptos" panose="020B0004020202020204" pitchFamily="34" charset="0"/>
            </a:endParaRPr>
          </a:p>
        </p:txBody>
      </p:sp>
      <p:cxnSp>
        <p:nvCxnSpPr>
          <p:cNvPr id="17" name="Connettore diritto 16"/>
          <p:cNvCxnSpPr/>
          <p:nvPr/>
        </p:nvCxnSpPr>
        <p:spPr>
          <a:xfrm>
            <a:off x="6811134" y="3403339"/>
            <a:ext cx="0" cy="288000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ttore diritto 17"/>
          <p:cNvCxnSpPr/>
          <p:nvPr/>
        </p:nvCxnSpPr>
        <p:spPr>
          <a:xfrm>
            <a:off x="10029635" y="3403339"/>
            <a:ext cx="0" cy="288000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9" name="CasellaDiTesto 18"/>
          <p:cNvSpPr txBox="1"/>
          <p:nvPr/>
        </p:nvSpPr>
        <p:spPr>
          <a:xfrm>
            <a:off x="5803657" y="3867795"/>
            <a:ext cx="910863" cy="369332"/>
          </a:xfrm>
          <a:prstGeom prst="rect">
            <a:avLst/>
          </a:prstGeom>
          <a:noFill/>
        </p:spPr>
        <p:txBody>
          <a:bodyPr wrap="square" rtlCol="0">
            <a:spAutoFit/>
          </a:bodyPr>
          <a:lstStyle/>
          <a:p>
            <a:r>
              <a:rPr lang="it-IT" b="1" dirty="0">
                <a:latin typeface="Aptos" panose="020B0004020202020204" pitchFamily="34" charset="0"/>
              </a:rPr>
              <a:t>User</a:t>
            </a:r>
            <a:endParaRPr lang="en-GB" b="1" dirty="0">
              <a:latin typeface="Aptos" panose="020B0004020202020204" pitchFamily="34" charset="0"/>
            </a:endParaRPr>
          </a:p>
        </p:txBody>
      </p:sp>
      <p:sp>
        <p:nvSpPr>
          <p:cNvPr id="20" name="CasellaDiTesto 19"/>
          <p:cNvSpPr txBox="1"/>
          <p:nvPr/>
        </p:nvSpPr>
        <p:spPr>
          <a:xfrm>
            <a:off x="10280756" y="3788044"/>
            <a:ext cx="1662292" cy="369332"/>
          </a:xfrm>
          <a:prstGeom prst="rect">
            <a:avLst/>
          </a:prstGeom>
          <a:noFill/>
        </p:spPr>
        <p:txBody>
          <a:bodyPr wrap="square" rtlCol="0">
            <a:spAutoFit/>
          </a:bodyPr>
          <a:lstStyle/>
          <a:p>
            <a:r>
              <a:rPr lang="it-IT" b="1" dirty="0">
                <a:latin typeface="Aptos" panose="020B0004020202020204" pitchFamily="34" charset="0"/>
              </a:rPr>
              <a:t>API provider</a:t>
            </a:r>
            <a:endParaRPr lang="en-GB" b="1" dirty="0">
              <a:latin typeface="Aptos" panose="020B0004020202020204" pitchFamily="34" charset="0"/>
            </a:endParaRPr>
          </a:p>
        </p:txBody>
      </p:sp>
      <p:pic>
        <p:nvPicPr>
          <p:cNvPr id="5" name="Immagine 4"/>
          <p:cNvPicPr>
            <a:picLocks noChangeAspect="1"/>
          </p:cNvPicPr>
          <p:nvPr/>
        </p:nvPicPr>
        <p:blipFill rotWithShape="1">
          <a:blip r:embed="rId3">
            <a:extLst>
              <a:ext uri="{28A0092B-C50C-407E-A947-70E740481C1C}">
                <a14:useLocalDpi xmlns:a14="http://schemas.microsoft.com/office/drawing/2010/main" val="0"/>
              </a:ext>
            </a:extLst>
          </a:blip>
          <a:srcRect l="17057" t="49661" r="17035"/>
          <a:stretch/>
        </p:blipFill>
        <p:spPr>
          <a:xfrm>
            <a:off x="6259088" y="1095180"/>
            <a:ext cx="4847728" cy="2082672"/>
          </a:xfrm>
          <a:prstGeom prst="rect">
            <a:avLst/>
          </a:prstGeom>
        </p:spPr>
      </p:pic>
    </p:spTree>
    <p:extLst>
      <p:ext uri="{BB962C8B-B14F-4D97-AF65-F5344CB8AC3E}">
        <p14:creationId xmlns:p14="http://schemas.microsoft.com/office/powerpoint/2010/main" val="2989053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WebSocket</a:t>
            </a:r>
            <a:endParaRPr lang="en-GB" dirty="0"/>
          </a:p>
        </p:txBody>
      </p:sp>
      <p:sp>
        <p:nvSpPr>
          <p:cNvPr id="3" name="Segnaposto contenuto 2"/>
          <p:cNvSpPr>
            <a:spLocks noGrp="1"/>
          </p:cNvSpPr>
          <p:nvPr>
            <p:ph idx="1"/>
          </p:nvPr>
        </p:nvSpPr>
        <p:spPr/>
        <p:txBody>
          <a:bodyPr/>
          <a:lstStyle/>
          <a:p>
            <a:r>
              <a:rPr lang="en-GB" dirty="0"/>
              <a:t>An example of protocol for event-driven APIs</a:t>
            </a:r>
          </a:p>
          <a:p>
            <a:r>
              <a:rPr lang="en-GB" b="1" dirty="0" err="1"/>
              <a:t>WebSocket</a:t>
            </a:r>
            <a:r>
              <a:rPr lang="en-GB" dirty="0"/>
              <a:t> allows for constant, bi-directional communication between the server and client, which means both parties can communicate and exchange data as and when needed.</a:t>
            </a:r>
          </a:p>
          <a:p>
            <a:r>
              <a:rPr lang="it-IT" dirty="0" err="1"/>
              <a:t>Suitable</a:t>
            </a:r>
            <a:r>
              <a:rPr lang="it-IT" dirty="0"/>
              <a:t> for </a:t>
            </a:r>
            <a:r>
              <a:rPr lang="it-IT" dirty="0" err="1"/>
              <a:t>realizing</a:t>
            </a:r>
            <a:r>
              <a:rPr lang="it-IT" dirty="0"/>
              <a:t> Web </a:t>
            </a:r>
            <a:r>
              <a:rPr lang="it-IT" dirty="0" err="1"/>
              <a:t>chats</a:t>
            </a:r>
            <a:r>
              <a:rPr lang="it-IT" dirty="0"/>
              <a:t>.</a:t>
            </a:r>
            <a:endParaRPr lang="en-GB"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39</a:t>
            </a:fld>
            <a:endParaRPr lang="en-GB"/>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8343" y="2764245"/>
            <a:ext cx="4074129" cy="3670663"/>
          </a:xfrm>
          <a:prstGeom prst="rect">
            <a:avLst/>
          </a:prstGeom>
        </p:spPr>
      </p:pic>
    </p:spTree>
    <p:extLst>
      <p:ext uri="{BB962C8B-B14F-4D97-AF65-F5344CB8AC3E}">
        <p14:creationId xmlns:p14="http://schemas.microsoft.com/office/powerpoint/2010/main" val="27185697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References</a:t>
            </a:r>
            <a:endParaRPr lang="en-GB" dirty="0"/>
          </a:p>
        </p:txBody>
      </p:sp>
      <p:sp>
        <p:nvSpPr>
          <p:cNvPr id="3" name="Segnaposto contenuto 2"/>
          <p:cNvSpPr>
            <a:spLocks noGrp="1"/>
          </p:cNvSpPr>
          <p:nvPr>
            <p:ph idx="1"/>
          </p:nvPr>
        </p:nvSpPr>
        <p:spPr/>
        <p:txBody>
          <a:bodyPr/>
          <a:lstStyle/>
          <a:p>
            <a:r>
              <a:rPr lang="en-GB" dirty="0"/>
              <a:t>Roy T. Fielding and Richard N. Taylor, “Principles and design of the modern Web architecture”, ACM Transactions on Internet Technology, Vol. 2, No. 2, May 2002, Pages 115–150.                    </a:t>
            </a:r>
            <a:r>
              <a:rPr lang="it-IT" dirty="0">
                <a:hlinkClick r:id="rId2"/>
              </a:rPr>
              <a:t>https://www.ics.uci.edu/~taylor/documents/2002-REST-TOIT.pdf</a:t>
            </a:r>
            <a:endParaRPr lang="it-IT"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40</a:t>
            </a:fld>
            <a:endParaRPr lang="en-GB"/>
          </a:p>
        </p:txBody>
      </p:sp>
    </p:spTree>
    <p:extLst>
      <p:ext uri="{BB962C8B-B14F-4D97-AF65-F5344CB8AC3E}">
        <p14:creationId xmlns:p14="http://schemas.microsoft.com/office/powerpoint/2010/main" val="2147027969"/>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3946</Words>
  <Application>Microsoft Macintosh PowerPoint</Application>
  <PresentationFormat>Widescreen</PresentationFormat>
  <Paragraphs>452</Paragraphs>
  <Slides>40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Aptos</vt:lpstr>
      <vt:lpstr>Arial</vt:lpstr>
      <vt:lpstr>Calibri</vt:lpstr>
      <vt:lpstr>Consolas</vt:lpstr>
      <vt:lpstr>Courier New</vt:lpstr>
      <vt:lpstr>Menlo</vt:lpstr>
      <vt:lpstr>Times New Roman</vt:lpstr>
      <vt:lpstr>Wingdings</vt:lpstr>
      <vt:lpstr>Tema di Office</vt:lpstr>
      <vt:lpstr>PowerPoint Presentation</vt:lpstr>
      <vt:lpstr>Representational State Transfer (REST)</vt:lpstr>
      <vt:lpstr>Architectural style</vt:lpstr>
      <vt:lpstr>REST: goal and constraints</vt:lpstr>
      <vt:lpstr>Constraint 1: Client-server architecture</vt:lpstr>
      <vt:lpstr>Constraint 2: Stateless communication</vt:lpstr>
      <vt:lpstr>Constraint 3: Cache constraint </vt:lpstr>
      <vt:lpstr>Constraint 4: Uniform interface between components</vt:lpstr>
      <vt:lpstr>Constraint 5: Layered system style</vt:lpstr>
      <vt:lpstr>Constraint 6: Code-on-demand (optional)</vt:lpstr>
      <vt:lpstr>The definition of the uniform interface</vt:lpstr>
      <vt:lpstr>Hypermedia as the engine of application state</vt:lpstr>
      <vt:lpstr>Identification of resources</vt:lpstr>
      <vt:lpstr>Resources types</vt:lpstr>
      <vt:lpstr>Resource representations</vt:lpstr>
      <vt:lpstr>REST self-descriptive messages</vt:lpstr>
      <vt:lpstr>Resource representations and REST messages</vt:lpstr>
      <vt:lpstr>Summary of REST</vt:lpstr>
      <vt:lpstr>Application programming interface (API)</vt:lpstr>
      <vt:lpstr>Application programming interface (API)</vt:lpstr>
      <vt:lpstr>Web API</vt:lpstr>
      <vt:lpstr>Request-response Web API</vt:lpstr>
      <vt:lpstr>Examples of API in wearable sensors</vt:lpstr>
      <vt:lpstr>Approaches to design request-response Web API</vt:lpstr>
      <vt:lpstr>Remote Procedure Call (RPC)</vt:lpstr>
      <vt:lpstr>Remote Procedure Call (RPC)</vt:lpstr>
      <vt:lpstr>Example of RPC</vt:lpstr>
      <vt:lpstr>Simple Object Access Protocol (SOAP)</vt:lpstr>
      <vt:lpstr>Example of SOAP messages</vt:lpstr>
      <vt:lpstr>SOAP: pros and cons</vt:lpstr>
      <vt:lpstr>RESTful APIs</vt:lpstr>
      <vt:lpstr>RESTful APIs: pros and cons</vt:lpstr>
      <vt:lpstr>The IMPACT BWTHW RESTful API</vt:lpstr>
      <vt:lpstr>The ping endpoint</vt:lpstr>
      <vt:lpstr>The ping endpoint</vt:lpstr>
      <vt:lpstr>Summary of types of request-response Web APIs</vt:lpstr>
      <vt:lpstr>Request-response API architecture</vt:lpstr>
      <vt:lpstr>Event-driven API architecture</vt:lpstr>
      <vt:lpstr>WebSocket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463</cp:revision>
  <dcterms:created xsi:type="dcterms:W3CDTF">2021-07-19T09:08:13Z</dcterms:created>
  <dcterms:modified xsi:type="dcterms:W3CDTF">2026-02-10T15:59:52Z</dcterms:modified>
</cp:coreProperties>
</file>