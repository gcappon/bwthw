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media/image9.jpg" ContentType="image/pn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2"/>
  </p:notesMasterIdLst>
  <p:sldIdLst>
    <p:sldId id="256" r:id="rId2"/>
    <p:sldId id="346" r:id="rId3"/>
    <p:sldId id="347" r:id="rId4"/>
    <p:sldId id="348" r:id="rId5"/>
    <p:sldId id="349" r:id="rId6"/>
    <p:sldId id="350" r:id="rId7"/>
    <p:sldId id="351" r:id="rId8"/>
    <p:sldId id="352" r:id="rId9"/>
    <p:sldId id="353" r:id="rId10"/>
    <p:sldId id="354" r:id="rId11"/>
    <p:sldId id="355" r:id="rId12"/>
    <p:sldId id="356" r:id="rId13"/>
    <p:sldId id="331" r:id="rId14"/>
    <p:sldId id="327" r:id="rId15"/>
    <p:sldId id="332" r:id="rId16"/>
    <p:sldId id="333" r:id="rId17"/>
    <p:sldId id="334" r:id="rId18"/>
    <p:sldId id="398" r:id="rId19"/>
    <p:sldId id="399" r:id="rId20"/>
    <p:sldId id="401" r:id="rId21"/>
    <p:sldId id="368" r:id="rId22"/>
    <p:sldId id="404" r:id="rId23"/>
    <p:sldId id="406" r:id="rId24"/>
    <p:sldId id="411" r:id="rId25"/>
    <p:sldId id="412" r:id="rId26"/>
    <p:sldId id="408" r:id="rId27"/>
    <p:sldId id="405" r:id="rId28"/>
    <p:sldId id="409" r:id="rId29"/>
    <p:sldId id="410" r:id="rId30"/>
    <p:sldId id="343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essuno stile, griglia tabel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8D230F3-CF80-4859-8CE7-A43EE81993B5}" styleName="Stile chiaro 1 - Colore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5578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224" y="4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1090E0-FB0C-49E9-9864-9F53EABEA96F}" type="datetimeFigureOut">
              <a:rPr lang="en-GB" smtClean="0"/>
              <a:t>14/04/2025</a:t>
            </a:fld>
            <a:endParaRPr lang="en-GB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69C82F-DE94-4CA4-8B4D-F0EAC95D82A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210948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F43FB-3F33-3F4B-9768-2FBED988F992}" type="slidenum">
              <a:rPr lang="en-IT" smtClean="0"/>
              <a:t>18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8217165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F43FB-3F33-3F4B-9768-2FBED988F992}" type="slidenum">
              <a:rPr lang="en-IT" smtClean="0"/>
              <a:t>19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3332804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F43FB-3F33-3F4B-9768-2FBED988F992}" type="slidenum">
              <a:rPr lang="en-IT" smtClean="0"/>
              <a:t>20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16829533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F43FB-3F33-3F4B-9768-2FBED988F992}" type="slidenum">
              <a:rPr lang="en-IT" smtClean="0"/>
              <a:t>21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18731108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F43FB-3F33-3F4B-9768-2FBED988F992}" type="slidenum">
              <a:rPr lang="en-IT" smtClean="0"/>
              <a:t>22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35566514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F43FB-3F33-3F4B-9768-2FBED988F992}" type="slidenum">
              <a:rPr lang="en-IT" smtClean="0"/>
              <a:t>23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343592505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F43FB-3F33-3F4B-9768-2FBED988F992}" type="slidenum">
              <a:rPr lang="en-IT" smtClean="0"/>
              <a:t>24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128507732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F43FB-3F33-3F4B-9768-2FBED988F992}" type="slidenum">
              <a:rPr lang="en-IT" smtClean="0"/>
              <a:t>25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172048325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F43FB-3F33-3F4B-9768-2FBED988F992}" type="slidenum">
              <a:rPr lang="en-IT" smtClean="0"/>
              <a:t>26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297145201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F43FB-3F33-3F4B-9768-2FBED988F992}" type="slidenum">
              <a:rPr lang="en-IT" smtClean="0"/>
              <a:t>27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19051953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F43FB-3F33-3F4B-9768-2FBED988F992}" type="slidenum">
              <a:rPr lang="en-IT" smtClean="0"/>
              <a:t>28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243498501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F43FB-3F33-3F4B-9768-2FBED988F992}" type="slidenum">
              <a:rPr lang="en-IT" smtClean="0"/>
              <a:t>29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5149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28172" y="161926"/>
            <a:ext cx="11368314" cy="860243"/>
          </a:xfrm>
          <a:prstGeom prst="rect">
            <a:avLst/>
          </a:prstGeom>
        </p:spPr>
        <p:txBody>
          <a:bodyPr/>
          <a:lstStyle/>
          <a:p>
            <a:r>
              <a:rPr lang="en-GB" noProof="0" dirty="0"/>
              <a:t>Fare </a:t>
            </a:r>
            <a:r>
              <a:rPr lang="en-GB" noProof="0" dirty="0" err="1"/>
              <a:t>clic</a:t>
            </a:r>
            <a:r>
              <a:rPr lang="en-GB" noProof="0" dirty="0"/>
              <a:t> per </a:t>
            </a:r>
            <a:r>
              <a:rPr lang="en-GB" noProof="0" dirty="0" err="1"/>
              <a:t>modificare</a:t>
            </a:r>
            <a:r>
              <a:rPr lang="en-GB" noProof="0" dirty="0"/>
              <a:t> lo stile del </a:t>
            </a:r>
            <a:r>
              <a:rPr lang="en-GB" noProof="0" dirty="0" err="1"/>
              <a:t>titolo</a:t>
            </a:r>
            <a:endParaRPr lang="en-GB" noProof="0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28172" y="1361167"/>
            <a:ext cx="11368314" cy="4858203"/>
          </a:xfrm>
          <a:prstGeom prst="rect">
            <a:avLst/>
          </a:prstGeom>
        </p:spPr>
        <p:txBody>
          <a:bodyPr/>
          <a:lstStyle>
            <a:lvl5pPr>
              <a:defRPr/>
            </a:lvl5pPr>
          </a:lstStyle>
          <a:p>
            <a:pPr lvl="0"/>
            <a:r>
              <a:rPr lang="en-GB" noProof="0" dirty="0" err="1"/>
              <a:t>Modifica</a:t>
            </a:r>
            <a:r>
              <a:rPr lang="en-GB" noProof="0" dirty="0"/>
              <a:t> </a:t>
            </a:r>
            <a:r>
              <a:rPr lang="en-GB" noProof="0" dirty="0" err="1"/>
              <a:t>gli</a:t>
            </a:r>
            <a:r>
              <a:rPr lang="en-GB" noProof="0" dirty="0"/>
              <a:t> </a:t>
            </a:r>
            <a:r>
              <a:rPr lang="en-GB" noProof="0" dirty="0" err="1"/>
              <a:t>stili</a:t>
            </a:r>
            <a:r>
              <a:rPr lang="en-GB" noProof="0" dirty="0"/>
              <a:t> del </a:t>
            </a:r>
            <a:r>
              <a:rPr lang="en-GB" noProof="0" dirty="0" err="1"/>
              <a:t>testo</a:t>
            </a:r>
            <a:r>
              <a:rPr lang="en-GB" noProof="0" dirty="0"/>
              <a:t> </a:t>
            </a:r>
            <a:r>
              <a:rPr lang="en-GB" noProof="0" dirty="0" err="1"/>
              <a:t>dello</a:t>
            </a:r>
            <a:r>
              <a:rPr lang="en-GB" noProof="0" dirty="0"/>
              <a:t> schema</a:t>
            </a:r>
          </a:p>
          <a:p>
            <a:pPr lvl="1"/>
            <a:r>
              <a:rPr lang="en-GB" noProof="0" dirty="0"/>
              <a:t>Secondo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2"/>
            <a:r>
              <a:rPr lang="en-GB" noProof="0" dirty="0" err="1"/>
              <a:t>Terzo</a:t>
            </a:r>
            <a:r>
              <a:rPr lang="en-GB" noProof="0" dirty="0"/>
              <a:t>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3"/>
            <a:r>
              <a:rPr lang="en-GB" noProof="0" dirty="0"/>
              <a:t>Quarto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4"/>
            <a:r>
              <a:rPr lang="en-GB" noProof="0" dirty="0"/>
              <a:t>Quinto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4"/>
            <a:endParaRPr lang="en-GB" noProof="0" dirty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185886" cy="365125"/>
          </a:xfrm>
          <a:prstGeom prst="rect">
            <a:avLst/>
          </a:prstGeom>
        </p:spPr>
        <p:txBody>
          <a:bodyPr/>
          <a:lstStyle/>
          <a:p>
            <a:fld id="{31DE2C5B-556E-47B8-A792-024C2FCA4ACC}" type="slidenum">
              <a:rPr lang="en-GB" smtClean="0"/>
              <a:t>‹#›</a:t>
            </a:fld>
            <a:endParaRPr lang="en-GB"/>
          </a:p>
        </p:txBody>
      </p:sp>
      <p:sp>
        <p:nvSpPr>
          <p:cNvPr id="7" name="Rettangolo arrotondato 6"/>
          <p:cNvSpPr/>
          <p:nvPr userDrawn="1"/>
        </p:nvSpPr>
        <p:spPr>
          <a:xfrm>
            <a:off x="1393371" y="1022169"/>
            <a:ext cx="9456058" cy="45719"/>
          </a:xfrm>
          <a:prstGeom prst="roundRect">
            <a:avLst>
              <a:gd name="adj" fmla="val 26104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383871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28172" y="161926"/>
            <a:ext cx="11368314" cy="860243"/>
          </a:xfrm>
          <a:prstGeom prst="rect">
            <a:avLst/>
          </a:prstGeom>
        </p:spPr>
        <p:txBody>
          <a:bodyPr/>
          <a:lstStyle/>
          <a:p>
            <a:r>
              <a:rPr lang="en-GB" noProof="0" dirty="0"/>
              <a:t>Fare </a:t>
            </a:r>
            <a:r>
              <a:rPr lang="en-GB" noProof="0" dirty="0" err="1"/>
              <a:t>clic</a:t>
            </a:r>
            <a:r>
              <a:rPr lang="en-GB" noProof="0" dirty="0"/>
              <a:t> per </a:t>
            </a:r>
            <a:r>
              <a:rPr lang="en-GB" noProof="0" dirty="0" err="1"/>
              <a:t>modificare</a:t>
            </a:r>
            <a:r>
              <a:rPr lang="en-GB" noProof="0" dirty="0"/>
              <a:t> lo stile del </a:t>
            </a:r>
            <a:r>
              <a:rPr lang="en-GB" noProof="0" dirty="0" err="1"/>
              <a:t>titolo</a:t>
            </a:r>
            <a:endParaRPr lang="en-GB" noProof="0" dirty="0"/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428172" y="1364343"/>
            <a:ext cx="5591628" cy="481262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noProof="0" dirty="0" err="1"/>
              <a:t>Modifica</a:t>
            </a:r>
            <a:r>
              <a:rPr lang="en-GB" noProof="0" dirty="0"/>
              <a:t> </a:t>
            </a:r>
            <a:r>
              <a:rPr lang="en-GB" noProof="0" dirty="0" err="1"/>
              <a:t>gli</a:t>
            </a:r>
            <a:r>
              <a:rPr lang="en-GB" noProof="0" dirty="0"/>
              <a:t> </a:t>
            </a:r>
            <a:r>
              <a:rPr lang="en-GB" noProof="0" dirty="0" err="1"/>
              <a:t>stili</a:t>
            </a:r>
            <a:r>
              <a:rPr lang="en-GB" noProof="0" dirty="0"/>
              <a:t> del </a:t>
            </a:r>
            <a:r>
              <a:rPr lang="en-GB" noProof="0" dirty="0" err="1"/>
              <a:t>testo</a:t>
            </a:r>
            <a:r>
              <a:rPr lang="en-GB" noProof="0" dirty="0"/>
              <a:t> </a:t>
            </a:r>
            <a:r>
              <a:rPr lang="en-GB" noProof="0" dirty="0" err="1"/>
              <a:t>dello</a:t>
            </a:r>
            <a:r>
              <a:rPr lang="en-GB" noProof="0" dirty="0"/>
              <a:t> schema</a:t>
            </a:r>
          </a:p>
          <a:p>
            <a:pPr lvl="1"/>
            <a:r>
              <a:rPr lang="en-GB" noProof="0" dirty="0"/>
              <a:t>Secondo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2"/>
            <a:r>
              <a:rPr lang="en-GB" noProof="0" dirty="0" err="1"/>
              <a:t>Terzo</a:t>
            </a:r>
            <a:r>
              <a:rPr lang="en-GB" noProof="0" dirty="0"/>
              <a:t>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3"/>
            <a:r>
              <a:rPr lang="en-GB" noProof="0" dirty="0"/>
              <a:t>Quarto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4"/>
            <a:r>
              <a:rPr lang="en-GB" noProof="0" dirty="0"/>
              <a:t>Quinto </a:t>
            </a:r>
            <a:r>
              <a:rPr lang="en-GB" noProof="0" dirty="0" err="1"/>
              <a:t>livello</a:t>
            </a:r>
            <a:endParaRPr lang="en-GB" noProof="0" dirty="0"/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6172200" y="1364343"/>
            <a:ext cx="5624286" cy="481262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noProof="0" dirty="0" err="1"/>
              <a:t>Modifica</a:t>
            </a:r>
            <a:r>
              <a:rPr lang="en-GB" noProof="0" dirty="0"/>
              <a:t> </a:t>
            </a:r>
            <a:r>
              <a:rPr lang="en-GB" noProof="0" dirty="0" err="1"/>
              <a:t>gli</a:t>
            </a:r>
            <a:r>
              <a:rPr lang="en-GB" noProof="0" dirty="0"/>
              <a:t> </a:t>
            </a:r>
            <a:r>
              <a:rPr lang="en-GB" noProof="0" dirty="0" err="1"/>
              <a:t>stili</a:t>
            </a:r>
            <a:r>
              <a:rPr lang="en-GB" noProof="0" dirty="0"/>
              <a:t> del </a:t>
            </a:r>
            <a:r>
              <a:rPr lang="en-GB" noProof="0" dirty="0" err="1"/>
              <a:t>testo</a:t>
            </a:r>
            <a:r>
              <a:rPr lang="en-GB" noProof="0" dirty="0"/>
              <a:t> </a:t>
            </a:r>
            <a:r>
              <a:rPr lang="en-GB" noProof="0" dirty="0" err="1"/>
              <a:t>dello</a:t>
            </a:r>
            <a:r>
              <a:rPr lang="en-GB" noProof="0" dirty="0"/>
              <a:t> schema</a:t>
            </a:r>
          </a:p>
          <a:p>
            <a:pPr lvl="1"/>
            <a:r>
              <a:rPr lang="en-GB" noProof="0" dirty="0"/>
              <a:t>Secondo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2"/>
            <a:r>
              <a:rPr lang="en-GB" noProof="0" dirty="0" err="1"/>
              <a:t>Terzo</a:t>
            </a:r>
            <a:r>
              <a:rPr lang="en-GB" noProof="0" dirty="0"/>
              <a:t>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3"/>
            <a:r>
              <a:rPr lang="en-GB" noProof="0" dirty="0"/>
              <a:t>Quarto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4"/>
            <a:r>
              <a:rPr lang="en-GB" noProof="0" dirty="0"/>
              <a:t>Quinto </a:t>
            </a:r>
            <a:r>
              <a:rPr lang="en-GB" noProof="0" dirty="0" err="1"/>
              <a:t>livello</a:t>
            </a:r>
            <a:endParaRPr lang="en-GB" noProof="0" dirty="0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185886" cy="365125"/>
          </a:xfrm>
          <a:prstGeom prst="rect">
            <a:avLst/>
          </a:prstGeom>
        </p:spPr>
        <p:txBody>
          <a:bodyPr/>
          <a:lstStyle/>
          <a:p>
            <a:fld id="{31DE2C5B-556E-47B8-A792-024C2FCA4ACC}" type="slidenum">
              <a:rPr lang="en-GB" smtClean="0"/>
              <a:t>‹#›</a:t>
            </a:fld>
            <a:endParaRPr lang="en-GB"/>
          </a:p>
        </p:txBody>
      </p:sp>
      <p:sp>
        <p:nvSpPr>
          <p:cNvPr id="8" name="Rettangolo arrotondato 7"/>
          <p:cNvSpPr/>
          <p:nvPr userDrawn="1"/>
        </p:nvSpPr>
        <p:spPr>
          <a:xfrm>
            <a:off x="1393371" y="1022169"/>
            <a:ext cx="9456058" cy="45719"/>
          </a:xfrm>
          <a:prstGeom prst="roundRect">
            <a:avLst>
              <a:gd name="adj" fmla="val 26104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759481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426028" y="2355399"/>
            <a:ext cx="9456058" cy="1570716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4800" b="1">
                <a:latin typeface="Aptos" panose="020B00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it-IT" dirty="0"/>
          </a:p>
        </p:txBody>
      </p:sp>
      <p:sp>
        <p:nvSpPr>
          <p:cNvPr id="7" name="Rettangolo arrotondato 6"/>
          <p:cNvSpPr/>
          <p:nvPr userDrawn="1"/>
        </p:nvSpPr>
        <p:spPr>
          <a:xfrm>
            <a:off x="2997200" y="855254"/>
            <a:ext cx="6125029" cy="45719"/>
          </a:xfrm>
          <a:prstGeom prst="roundRect">
            <a:avLst>
              <a:gd name="adj" fmla="val 26104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ptos" panose="020B0004020202020204" pitchFamily="34" charset="0"/>
            </a:endParaRPr>
          </a:p>
        </p:txBody>
      </p:sp>
      <p:sp>
        <p:nvSpPr>
          <p:cNvPr id="8" name="Rettangolo arrotondato 7"/>
          <p:cNvSpPr/>
          <p:nvPr userDrawn="1"/>
        </p:nvSpPr>
        <p:spPr>
          <a:xfrm>
            <a:off x="1426028" y="4152532"/>
            <a:ext cx="9456058" cy="45719"/>
          </a:xfrm>
          <a:prstGeom prst="roundRect">
            <a:avLst>
              <a:gd name="adj" fmla="val 26104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ptos" panose="020B0004020202020204" pitchFamily="34" charset="0"/>
            </a:endParaRPr>
          </a:p>
        </p:txBody>
      </p:sp>
      <p:sp>
        <p:nvSpPr>
          <p:cNvPr id="9" name="Titolo 1"/>
          <p:cNvSpPr txBox="1">
            <a:spLocks/>
          </p:cNvSpPr>
          <p:nvPr userDrawn="1"/>
        </p:nvSpPr>
        <p:spPr>
          <a:xfrm>
            <a:off x="460370" y="1155224"/>
            <a:ext cx="10926088" cy="94592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kern="1200" baseline="0">
                <a:solidFill>
                  <a:schemeClr val="tx1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it-IT" sz="2800" b="0" dirty="0" err="1">
                <a:latin typeface="Aptos" panose="020B0004020202020204" pitchFamily="34" charset="0"/>
              </a:rPr>
              <a:t>Biomedical</a:t>
            </a:r>
            <a:r>
              <a:rPr lang="it-IT" sz="2800" b="0" dirty="0">
                <a:latin typeface="Aptos" panose="020B0004020202020204" pitchFamily="34" charset="0"/>
              </a:rPr>
              <a:t> </a:t>
            </a:r>
            <a:r>
              <a:rPr lang="it-IT" sz="2800" b="0" dirty="0" err="1">
                <a:latin typeface="Aptos" panose="020B0004020202020204" pitchFamily="34" charset="0"/>
              </a:rPr>
              <a:t>Wearable</a:t>
            </a:r>
            <a:r>
              <a:rPr lang="it-IT" sz="2800" b="0" dirty="0">
                <a:latin typeface="Aptos" panose="020B0004020202020204" pitchFamily="34" charset="0"/>
              </a:rPr>
              <a:t> Technologies </a:t>
            </a:r>
          </a:p>
          <a:p>
            <a:r>
              <a:rPr lang="it-IT" sz="2800" b="0" dirty="0">
                <a:latin typeface="Aptos" panose="020B0004020202020204" pitchFamily="34" charset="0"/>
              </a:rPr>
              <a:t>for Healthcare and </a:t>
            </a:r>
            <a:r>
              <a:rPr lang="it-IT" sz="2800" b="0" dirty="0" err="1">
                <a:latin typeface="Aptos" panose="020B0004020202020204" pitchFamily="34" charset="0"/>
              </a:rPr>
              <a:t>Wellbeing</a:t>
            </a:r>
            <a:r>
              <a:rPr lang="it-IT" sz="2800" b="0" dirty="0">
                <a:latin typeface="Aptos" panose="020B0004020202020204" pitchFamily="34" charset="0"/>
              </a:rPr>
              <a:t>  </a:t>
            </a:r>
            <a:endParaRPr lang="en-GB" sz="2800" b="0" dirty="0">
              <a:latin typeface="Aptos" panose="020B0004020202020204" pitchFamily="34" charset="0"/>
            </a:endParaRPr>
          </a:p>
        </p:txBody>
      </p:sp>
      <p:sp>
        <p:nvSpPr>
          <p:cNvPr id="10" name="Titolo 1"/>
          <p:cNvSpPr txBox="1">
            <a:spLocks/>
          </p:cNvSpPr>
          <p:nvPr userDrawn="1"/>
        </p:nvSpPr>
        <p:spPr>
          <a:xfrm>
            <a:off x="1426028" y="4424669"/>
            <a:ext cx="9456058" cy="100502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kern="1200" baseline="0">
                <a:solidFill>
                  <a:schemeClr val="tx1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it-IT" sz="2800" dirty="0">
                <a:latin typeface="Aptos" panose="020B0004020202020204" pitchFamily="34" charset="0"/>
              </a:rPr>
              <a:t>A.Y. 2024-2025</a:t>
            </a:r>
          </a:p>
          <a:p>
            <a:pPr>
              <a:spcAft>
                <a:spcPts val="600"/>
              </a:spcAft>
            </a:pPr>
            <a:r>
              <a:rPr lang="it-IT" sz="2800" baseline="0" dirty="0">
                <a:latin typeface="Aptos" panose="020B0004020202020204" pitchFamily="34" charset="0"/>
              </a:rPr>
              <a:t>Giacomo Cappon</a:t>
            </a:r>
          </a:p>
        </p:txBody>
      </p:sp>
      <p:sp>
        <p:nvSpPr>
          <p:cNvPr id="14" name="CasellaDiTesto 13"/>
          <p:cNvSpPr txBox="1"/>
          <p:nvPr userDrawn="1"/>
        </p:nvSpPr>
        <p:spPr>
          <a:xfrm>
            <a:off x="2997200" y="133745"/>
            <a:ext cx="612503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0" lang="it-IT" sz="2000" b="0" i="0" u="none" strike="noStrike" kern="1200" cap="small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j-ea"/>
                <a:cs typeface="+mj-cs"/>
              </a:rPr>
              <a:t>University</a:t>
            </a:r>
            <a:r>
              <a:rPr kumimoji="0" lang="it-IT" sz="2000" b="0" i="0" u="none" strike="noStrike" kern="1200" cap="small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j-ea"/>
                <a:cs typeface="+mj-cs"/>
              </a:rPr>
              <a:t> of Padova</a:t>
            </a:r>
            <a:br>
              <a:rPr kumimoji="0" lang="it-IT" sz="2000" b="0" i="0" u="none" strike="noStrike" kern="1200" cap="small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j-ea"/>
                <a:cs typeface="+mj-cs"/>
              </a:rPr>
            </a:br>
            <a:r>
              <a:rPr kumimoji="0" lang="it-IT" sz="2000" b="0" i="0" u="none" strike="noStrike" kern="1200" cap="small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j-ea"/>
                <a:cs typeface="+mj-cs"/>
              </a:rPr>
              <a:t>Department</a:t>
            </a:r>
            <a:r>
              <a:rPr kumimoji="0" lang="it-IT" sz="2000" b="0" i="0" u="none" strike="noStrike" kern="1200" cap="small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j-ea"/>
                <a:cs typeface="+mj-cs"/>
              </a:rPr>
              <a:t> of Information </a:t>
            </a:r>
            <a:r>
              <a:rPr kumimoji="0" lang="it-IT" sz="2000" b="0" i="0" u="none" strike="noStrike" kern="1200" cap="small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j-ea"/>
                <a:cs typeface="+mj-cs"/>
              </a:rPr>
              <a:t>Engineering</a:t>
            </a:r>
            <a:endParaRPr lang="en-GB" sz="1100" cap="small" baseline="0" dirty="0">
              <a:latin typeface="Aptos" panose="020B0004020202020204" pitchFamily="34" charset="0"/>
            </a:endParaRPr>
          </a:p>
        </p:txBody>
      </p:sp>
      <p:pic>
        <p:nvPicPr>
          <p:cNvPr id="15" name="Immagine 14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ChalkSketch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370" y="5094383"/>
            <a:ext cx="1648258" cy="1648258"/>
          </a:xfrm>
          <a:prstGeom prst="rect">
            <a:avLst/>
          </a:prstGeom>
        </p:spPr>
      </p:pic>
      <p:pic>
        <p:nvPicPr>
          <p:cNvPr id="16" name="Immagine 15"/>
          <p:cNvPicPr>
            <a:picLocks noChangeAspect="1"/>
          </p:cNvPicPr>
          <p:nvPr userDrawn="1"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5946" y="5094383"/>
            <a:ext cx="2153135" cy="1399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1399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28172" y="161926"/>
            <a:ext cx="11368314" cy="905962"/>
          </a:xfrm>
          <a:prstGeom prst="rect">
            <a:avLst/>
          </a:prstGeom>
        </p:spPr>
        <p:txBody>
          <a:bodyPr/>
          <a:lstStyle/>
          <a:p>
            <a:r>
              <a:rPr lang="en-GB" noProof="0" dirty="0"/>
              <a:t>Fare </a:t>
            </a:r>
            <a:r>
              <a:rPr lang="en-GB" noProof="0" dirty="0" err="1"/>
              <a:t>clic</a:t>
            </a:r>
            <a:r>
              <a:rPr lang="en-GB" noProof="0" dirty="0"/>
              <a:t> per </a:t>
            </a:r>
            <a:r>
              <a:rPr lang="en-GB" noProof="0" dirty="0" err="1"/>
              <a:t>modificare</a:t>
            </a:r>
            <a:r>
              <a:rPr lang="en-GB" noProof="0" dirty="0"/>
              <a:t> lo stile del </a:t>
            </a:r>
            <a:r>
              <a:rPr lang="en-GB" noProof="0" dirty="0" err="1"/>
              <a:t>titolo</a:t>
            </a:r>
            <a:endParaRPr lang="en-GB" noProof="0" dirty="0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185886" cy="365125"/>
          </a:xfrm>
          <a:prstGeom prst="rect">
            <a:avLst/>
          </a:prstGeom>
        </p:spPr>
        <p:txBody>
          <a:bodyPr/>
          <a:lstStyle/>
          <a:p>
            <a:fld id="{31DE2C5B-556E-47B8-A792-024C2FCA4ACC}" type="slidenum">
              <a:rPr lang="en-GB" smtClean="0"/>
              <a:t>‹#›</a:t>
            </a:fld>
            <a:endParaRPr lang="en-GB"/>
          </a:p>
        </p:txBody>
      </p:sp>
      <p:sp>
        <p:nvSpPr>
          <p:cNvPr id="6" name="Rettangolo arrotondato 5"/>
          <p:cNvSpPr/>
          <p:nvPr userDrawn="1"/>
        </p:nvSpPr>
        <p:spPr>
          <a:xfrm>
            <a:off x="1393371" y="1022169"/>
            <a:ext cx="9456058" cy="45719"/>
          </a:xfrm>
          <a:prstGeom prst="roundRect">
            <a:avLst>
              <a:gd name="adj" fmla="val 26104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006527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428172" y="161926"/>
            <a:ext cx="11368314" cy="9193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noProof="0" dirty="0"/>
              <a:t>Fare </a:t>
            </a:r>
            <a:r>
              <a:rPr lang="en-GB" noProof="0" dirty="0" err="1"/>
              <a:t>clic</a:t>
            </a:r>
            <a:r>
              <a:rPr lang="en-GB" noProof="0" dirty="0"/>
              <a:t> per </a:t>
            </a:r>
            <a:r>
              <a:rPr lang="en-GB" noProof="0" dirty="0" err="1"/>
              <a:t>modificare</a:t>
            </a:r>
            <a:r>
              <a:rPr lang="en-GB" noProof="0" dirty="0"/>
              <a:t> lo stile del </a:t>
            </a:r>
            <a:r>
              <a:rPr lang="en-GB" noProof="0" dirty="0" err="1"/>
              <a:t>titolo</a:t>
            </a:r>
            <a:endParaRPr lang="en-GB" noProof="0" dirty="0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28172" y="1375682"/>
            <a:ext cx="11368314" cy="48219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noProof="0" dirty="0" err="1"/>
              <a:t>Modifica</a:t>
            </a:r>
            <a:r>
              <a:rPr lang="en-GB" noProof="0" dirty="0"/>
              <a:t> </a:t>
            </a:r>
            <a:r>
              <a:rPr lang="en-GB" noProof="0" dirty="0" err="1"/>
              <a:t>gli</a:t>
            </a:r>
            <a:r>
              <a:rPr lang="en-GB" noProof="0" dirty="0"/>
              <a:t> </a:t>
            </a:r>
            <a:r>
              <a:rPr lang="en-GB" noProof="0" dirty="0" err="1"/>
              <a:t>stili</a:t>
            </a:r>
            <a:r>
              <a:rPr lang="en-GB" noProof="0" dirty="0"/>
              <a:t> del </a:t>
            </a:r>
            <a:r>
              <a:rPr lang="en-GB" noProof="0" dirty="0" err="1"/>
              <a:t>testo</a:t>
            </a:r>
            <a:r>
              <a:rPr lang="en-GB" noProof="0" dirty="0"/>
              <a:t> </a:t>
            </a:r>
            <a:r>
              <a:rPr lang="en-GB" noProof="0" dirty="0" err="1"/>
              <a:t>dello</a:t>
            </a:r>
            <a:r>
              <a:rPr lang="en-GB" noProof="0" dirty="0"/>
              <a:t> schema</a:t>
            </a:r>
          </a:p>
          <a:p>
            <a:pPr lvl="1"/>
            <a:r>
              <a:rPr lang="en-GB" noProof="0" dirty="0"/>
              <a:t>Secondo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2"/>
            <a:r>
              <a:rPr lang="en-GB" noProof="0" dirty="0" err="1"/>
              <a:t>Terzo</a:t>
            </a:r>
            <a:r>
              <a:rPr lang="en-GB" noProof="0" dirty="0"/>
              <a:t>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3"/>
            <a:r>
              <a:rPr lang="en-GB" noProof="0" dirty="0"/>
              <a:t>Quarto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4"/>
            <a:r>
              <a:rPr lang="en-GB" noProof="0" dirty="0"/>
              <a:t>Quinto </a:t>
            </a:r>
            <a:r>
              <a:rPr lang="en-GB" noProof="0" dirty="0" err="1"/>
              <a:t>livello</a:t>
            </a:r>
            <a:endParaRPr lang="en-GB" noProof="0" dirty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318588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fld id="{31DE2C5B-556E-47B8-A792-024C2FCA4ACC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928790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2" r:id="rId2"/>
    <p:sldLayoutId id="2147483649" r:id="rId3"/>
    <p:sldLayoutId id="2147483654" r:id="rId4"/>
  </p:sldLayoutIdLst>
  <p:hf hd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Aptos" panose="020B0004020202020204" pitchFamily="34" charset="0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lnSpc>
          <a:spcPct val="90000"/>
        </a:lnSpc>
        <a:spcBef>
          <a:spcPts val="1000"/>
        </a:spcBef>
        <a:buClr>
          <a:srgbClr val="00B050"/>
        </a:buClr>
        <a:buFont typeface="Wingdings" panose="05000000000000000000" pitchFamily="2" charset="2"/>
        <a:buChar char="Ø"/>
        <a:defRPr sz="240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B050"/>
        </a:buClr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B050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B050"/>
        </a:buClr>
        <a:buFont typeface="Courier New" panose="02070309020205020404" pitchFamily="49" charset="0"/>
        <a:buChar char="o"/>
        <a:defRPr sz="160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B050"/>
        </a:buClr>
        <a:buFont typeface="Times New Roman" panose="02020603050405020304" pitchFamily="18" charset="0"/>
        <a:buChar char="̶"/>
        <a:defRPr sz="160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20.png"/><Relationship Id="rId3" Type="http://schemas.openxmlformats.org/officeDocument/2006/relationships/image" Target="../media/image10.png"/><Relationship Id="rId7" Type="http://schemas.openxmlformats.org/officeDocument/2006/relationships/image" Target="../media/image14.svg"/><Relationship Id="rId12" Type="http://schemas.openxmlformats.org/officeDocument/2006/relationships/image" Target="../media/image19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11" Type="http://schemas.openxmlformats.org/officeDocument/2006/relationships/image" Target="../media/image18.png"/><Relationship Id="rId5" Type="http://schemas.openxmlformats.org/officeDocument/2006/relationships/image" Target="../media/image12.svg"/><Relationship Id="rId10" Type="http://schemas.openxmlformats.org/officeDocument/2006/relationships/image" Target="../media/image17.svg"/><Relationship Id="rId4" Type="http://schemas.openxmlformats.org/officeDocument/2006/relationships/image" Target="../media/image11.png"/><Relationship Id="rId9" Type="http://schemas.openxmlformats.org/officeDocument/2006/relationships/image" Target="../media/image16.png"/><Relationship Id="rId14" Type="http://schemas.openxmlformats.org/officeDocument/2006/relationships/image" Target="../media/image21.sv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sv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svg"/><Relationship Id="rId5" Type="http://schemas.openxmlformats.org/officeDocument/2006/relationships/image" Target="../media/image24.png"/><Relationship Id="rId10" Type="http://schemas.openxmlformats.org/officeDocument/2006/relationships/image" Target="../media/image29.svg"/><Relationship Id="rId4" Type="http://schemas.openxmlformats.org/officeDocument/2006/relationships/image" Target="../media/image23.svg"/><Relationship Id="rId9" Type="http://schemas.openxmlformats.org/officeDocument/2006/relationships/image" Target="../media/image2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9.sv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9.svg"/><Relationship Id="rId4" Type="http://schemas.openxmlformats.org/officeDocument/2006/relationships/image" Target="../media/image2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jwt.io/" TargetMode="Externa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ottotitolo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Authorization</a:t>
            </a:r>
          </a:p>
        </p:txBody>
      </p:sp>
    </p:spTree>
    <p:extLst>
      <p:ext uri="{BB962C8B-B14F-4D97-AF65-F5344CB8AC3E}">
        <p14:creationId xmlns:p14="http://schemas.microsoft.com/office/powerpoint/2010/main" val="40681856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Authorization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28172" y="1361167"/>
            <a:ext cx="11586444" cy="2481241"/>
          </a:xfrm>
        </p:spPr>
        <p:txBody>
          <a:bodyPr>
            <a:normAutofit/>
          </a:bodyPr>
          <a:lstStyle/>
          <a:p>
            <a:r>
              <a:rPr lang="en-GB" b="1" dirty="0"/>
              <a:t>Authentication: </a:t>
            </a:r>
            <a:r>
              <a:rPr lang="en-GB" dirty="0"/>
              <a:t>the process of proving that the user is who he/she declares to be. </a:t>
            </a:r>
          </a:p>
          <a:p>
            <a:r>
              <a:rPr lang="en-GB" b="1" dirty="0"/>
              <a:t>Authorization: </a:t>
            </a:r>
            <a:r>
              <a:rPr lang="en-GB" dirty="0"/>
              <a:t>the act of granting a user permission to do something. </a:t>
            </a:r>
          </a:p>
          <a:p>
            <a:pPr lvl="1"/>
            <a:r>
              <a:rPr lang="en-GB" sz="2400" dirty="0"/>
              <a:t>Necessary when some resources/tasks are limited to users with special permission (</a:t>
            </a:r>
            <a:r>
              <a:rPr lang="en-GB" sz="2400" b="1" dirty="0"/>
              <a:t>access control</a:t>
            </a:r>
            <a:r>
              <a:rPr lang="en-GB" sz="2400" dirty="0"/>
              <a:t>).</a:t>
            </a:r>
          </a:p>
          <a:p>
            <a:pPr lvl="1"/>
            <a:r>
              <a:rPr lang="en-GB" sz="2400" dirty="0"/>
              <a:t>It specifies what data a user is allowed to access and what the user can do with that data.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2</a:t>
            </a:fld>
            <a:endParaRPr lang="en-GB"/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6D13B73E-5FD1-A33A-97EF-7A11BFEF11B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6290" y="5306636"/>
            <a:ext cx="1034166" cy="1034166"/>
          </a:xfrm>
          <a:prstGeom prst="rect">
            <a:avLst/>
          </a:prstGeom>
        </p:spPr>
      </p:pic>
      <p:pic>
        <p:nvPicPr>
          <p:cNvPr id="8" name="Immagine 7">
            <a:extLst>
              <a:ext uri="{FF2B5EF4-FFF2-40B4-BE49-F238E27FC236}">
                <a16:creationId xmlns:a16="http://schemas.microsoft.com/office/drawing/2014/main" id="{32101581-A2C7-317C-A9EF-07883C6D718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54990" y="4191267"/>
            <a:ext cx="1034166" cy="1034166"/>
          </a:xfrm>
          <a:prstGeom prst="rect">
            <a:avLst/>
          </a:prstGeom>
        </p:spPr>
      </p:pic>
      <p:sp>
        <p:nvSpPr>
          <p:cNvPr id="9" name="Rettangolo 8">
            <a:extLst>
              <a:ext uri="{FF2B5EF4-FFF2-40B4-BE49-F238E27FC236}">
                <a16:creationId xmlns:a16="http://schemas.microsoft.com/office/drawing/2014/main" id="{98B7F880-3967-DAED-1D1B-1B21A01ACA7F}"/>
              </a:ext>
            </a:extLst>
          </p:cNvPr>
          <p:cNvSpPr/>
          <p:nvPr/>
        </p:nvSpPr>
        <p:spPr>
          <a:xfrm>
            <a:off x="7517080" y="4620532"/>
            <a:ext cx="2840637" cy="1295400"/>
          </a:xfrm>
          <a:prstGeom prst="rect">
            <a:avLst/>
          </a:prstGeom>
          <a:ln w="38100"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2400" b="1" dirty="0">
                <a:latin typeface="Aptos" panose="020B0004020202020204" pitchFamily="34" charset="0"/>
              </a:rPr>
              <a:t>Server</a:t>
            </a:r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CF81FEA6-0551-E266-AEFF-2CB20E0CAEE0}"/>
              </a:ext>
            </a:extLst>
          </p:cNvPr>
          <p:cNvSpPr/>
          <p:nvPr/>
        </p:nvSpPr>
        <p:spPr>
          <a:xfrm>
            <a:off x="6670624" y="4964682"/>
            <a:ext cx="1295400" cy="607101"/>
          </a:xfrm>
          <a:prstGeom prst="rect">
            <a:avLst/>
          </a:prstGeom>
          <a:solidFill>
            <a:srgbClr val="00B05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b="1" dirty="0" err="1">
                <a:solidFill>
                  <a:schemeClr val="bg1"/>
                </a:solidFill>
                <a:latin typeface="Aptos" panose="020B0004020202020204" pitchFamily="34" charset="0"/>
              </a:rPr>
              <a:t>Protected</a:t>
            </a:r>
            <a:r>
              <a:rPr lang="it-IT" b="1" dirty="0">
                <a:solidFill>
                  <a:schemeClr val="bg1"/>
                </a:solidFill>
                <a:latin typeface="Aptos" panose="020B0004020202020204" pitchFamily="34" charset="0"/>
              </a:rPr>
              <a:t> endpoint</a:t>
            </a:r>
          </a:p>
        </p:txBody>
      </p:sp>
      <p:cxnSp>
        <p:nvCxnSpPr>
          <p:cNvPr id="12" name="Connettore 2 11">
            <a:extLst>
              <a:ext uri="{FF2B5EF4-FFF2-40B4-BE49-F238E27FC236}">
                <a16:creationId xmlns:a16="http://schemas.microsoft.com/office/drawing/2014/main" id="{80DEC9EF-72A9-EC4C-F158-67F952E40BDC}"/>
              </a:ext>
            </a:extLst>
          </p:cNvPr>
          <p:cNvCxnSpPr/>
          <p:nvPr/>
        </p:nvCxnSpPr>
        <p:spPr>
          <a:xfrm>
            <a:off x="4201031" y="4481564"/>
            <a:ext cx="2167953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ttore 2 12">
            <a:extLst>
              <a:ext uri="{FF2B5EF4-FFF2-40B4-BE49-F238E27FC236}">
                <a16:creationId xmlns:a16="http://schemas.microsoft.com/office/drawing/2014/main" id="{E5AB95B9-BCEB-C10E-6147-E9823B6A2602}"/>
              </a:ext>
            </a:extLst>
          </p:cNvPr>
          <p:cNvCxnSpPr>
            <a:cxnSpLocks/>
          </p:cNvCxnSpPr>
          <p:nvPr/>
        </p:nvCxnSpPr>
        <p:spPr>
          <a:xfrm flipH="1" flipV="1">
            <a:off x="4188282" y="4969567"/>
            <a:ext cx="2190252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ttore 2 15">
            <a:extLst>
              <a:ext uri="{FF2B5EF4-FFF2-40B4-BE49-F238E27FC236}">
                <a16:creationId xmlns:a16="http://schemas.microsoft.com/office/drawing/2014/main" id="{C656F57C-EBB8-6284-9E1A-9F7CDD94323A}"/>
              </a:ext>
            </a:extLst>
          </p:cNvPr>
          <p:cNvCxnSpPr>
            <a:cxnSpLocks/>
          </p:cNvCxnSpPr>
          <p:nvPr/>
        </p:nvCxnSpPr>
        <p:spPr>
          <a:xfrm>
            <a:off x="4212932" y="5811321"/>
            <a:ext cx="2166778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ttore 2 17">
            <a:extLst>
              <a:ext uri="{FF2B5EF4-FFF2-40B4-BE49-F238E27FC236}">
                <a16:creationId xmlns:a16="http://schemas.microsoft.com/office/drawing/2014/main" id="{B49FB68E-FA81-C918-83F8-C9FCFE48FB6A}"/>
              </a:ext>
            </a:extLst>
          </p:cNvPr>
          <p:cNvCxnSpPr>
            <a:cxnSpLocks/>
          </p:cNvCxnSpPr>
          <p:nvPr/>
        </p:nvCxnSpPr>
        <p:spPr>
          <a:xfrm flipH="1">
            <a:off x="4222908" y="6258391"/>
            <a:ext cx="2156802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447EEC03-AB68-20AF-1DDE-69CFEA2240A5}"/>
              </a:ext>
            </a:extLst>
          </p:cNvPr>
          <p:cNvSpPr txBox="1"/>
          <p:nvPr/>
        </p:nvSpPr>
        <p:spPr>
          <a:xfrm>
            <a:off x="4201031" y="4093454"/>
            <a:ext cx="21679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>
                <a:latin typeface="Aptos" panose="020B0004020202020204" pitchFamily="34" charset="0"/>
              </a:rPr>
              <a:t>Access </a:t>
            </a:r>
            <a:r>
              <a:rPr lang="it-IT" dirty="0" err="1">
                <a:latin typeface="Aptos" panose="020B0004020202020204" pitchFamily="34" charset="0"/>
              </a:rPr>
              <a:t>request</a:t>
            </a:r>
            <a:endParaRPr lang="it-IT" dirty="0">
              <a:latin typeface="Aptos" panose="020B0004020202020204" pitchFamily="34" charset="0"/>
            </a:endParaRPr>
          </a:p>
        </p:txBody>
      </p:sp>
      <p:sp>
        <p:nvSpPr>
          <p:cNvPr id="22" name="CasellaDiTesto 21">
            <a:extLst>
              <a:ext uri="{FF2B5EF4-FFF2-40B4-BE49-F238E27FC236}">
                <a16:creationId xmlns:a16="http://schemas.microsoft.com/office/drawing/2014/main" id="{50E199F0-667F-DE38-DB23-259E73237FA6}"/>
              </a:ext>
            </a:extLst>
          </p:cNvPr>
          <p:cNvSpPr txBox="1"/>
          <p:nvPr/>
        </p:nvSpPr>
        <p:spPr>
          <a:xfrm>
            <a:off x="4211757" y="5441523"/>
            <a:ext cx="21667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>
                <a:latin typeface="Aptos" panose="020B0004020202020204" pitchFamily="34" charset="0"/>
              </a:rPr>
              <a:t>Access </a:t>
            </a:r>
            <a:r>
              <a:rPr lang="it-IT" dirty="0" err="1">
                <a:latin typeface="Aptos" panose="020B0004020202020204" pitchFamily="34" charset="0"/>
              </a:rPr>
              <a:t>request</a:t>
            </a:r>
            <a:endParaRPr lang="it-IT" dirty="0">
              <a:latin typeface="Aptos" panose="020B0004020202020204" pitchFamily="34" charset="0"/>
            </a:endParaRPr>
          </a:p>
        </p:txBody>
      </p:sp>
      <p:sp>
        <p:nvSpPr>
          <p:cNvPr id="23" name="CasellaDiTesto 22">
            <a:extLst>
              <a:ext uri="{FF2B5EF4-FFF2-40B4-BE49-F238E27FC236}">
                <a16:creationId xmlns:a16="http://schemas.microsoft.com/office/drawing/2014/main" id="{69F0D18F-6FD1-468C-2084-4FF89EBF4746}"/>
              </a:ext>
            </a:extLst>
          </p:cNvPr>
          <p:cNvSpPr txBox="1"/>
          <p:nvPr/>
        </p:nvSpPr>
        <p:spPr>
          <a:xfrm>
            <a:off x="4201031" y="4600235"/>
            <a:ext cx="21902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b="1" dirty="0">
                <a:solidFill>
                  <a:srgbClr val="FF0000"/>
                </a:solidFill>
                <a:latin typeface="Aptos" panose="020B0004020202020204" pitchFamily="34" charset="0"/>
              </a:rPr>
              <a:t>Access </a:t>
            </a:r>
            <a:r>
              <a:rPr lang="it-IT" b="1" dirty="0" err="1">
                <a:solidFill>
                  <a:srgbClr val="FF0000"/>
                </a:solidFill>
                <a:latin typeface="Aptos" panose="020B0004020202020204" pitchFamily="34" charset="0"/>
              </a:rPr>
              <a:t>denied</a:t>
            </a:r>
            <a:endParaRPr lang="it-IT" b="1" dirty="0">
              <a:solidFill>
                <a:srgbClr val="FF0000"/>
              </a:solidFill>
              <a:latin typeface="Aptos" panose="020B0004020202020204" pitchFamily="34" charset="0"/>
            </a:endParaRPr>
          </a:p>
        </p:txBody>
      </p:sp>
      <p:sp>
        <p:nvSpPr>
          <p:cNvPr id="28" name="CasellaDiTesto 27">
            <a:extLst>
              <a:ext uri="{FF2B5EF4-FFF2-40B4-BE49-F238E27FC236}">
                <a16:creationId xmlns:a16="http://schemas.microsoft.com/office/drawing/2014/main" id="{7F8D21F5-C9E2-4889-3789-3878B42FFAE3}"/>
              </a:ext>
            </a:extLst>
          </p:cNvPr>
          <p:cNvSpPr txBox="1"/>
          <p:nvPr/>
        </p:nvSpPr>
        <p:spPr>
          <a:xfrm>
            <a:off x="4211757" y="5900145"/>
            <a:ext cx="21667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b="1" dirty="0">
                <a:solidFill>
                  <a:srgbClr val="00B050"/>
                </a:solidFill>
                <a:latin typeface="Aptos" panose="020B0004020202020204" pitchFamily="34" charset="0"/>
              </a:rPr>
              <a:t>Access </a:t>
            </a:r>
            <a:r>
              <a:rPr lang="it-IT" b="1" dirty="0" err="1">
                <a:solidFill>
                  <a:srgbClr val="00B050"/>
                </a:solidFill>
                <a:latin typeface="Aptos" panose="020B0004020202020204" pitchFamily="34" charset="0"/>
              </a:rPr>
              <a:t>granted</a:t>
            </a:r>
            <a:endParaRPr lang="it-IT" b="1" dirty="0">
              <a:solidFill>
                <a:srgbClr val="00B050"/>
              </a:solidFill>
              <a:latin typeface="Aptos" panose="020B0004020202020204" pitchFamily="34" charset="0"/>
            </a:endParaRPr>
          </a:p>
        </p:txBody>
      </p:sp>
      <p:sp>
        <p:nvSpPr>
          <p:cNvPr id="29" name="CasellaDiTesto 28">
            <a:extLst>
              <a:ext uri="{FF2B5EF4-FFF2-40B4-BE49-F238E27FC236}">
                <a16:creationId xmlns:a16="http://schemas.microsoft.com/office/drawing/2014/main" id="{5D00D101-FF55-4ABB-3B24-14F4B2458BE3}"/>
              </a:ext>
            </a:extLst>
          </p:cNvPr>
          <p:cNvSpPr txBox="1"/>
          <p:nvPr/>
        </p:nvSpPr>
        <p:spPr>
          <a:xfrm>
            <a:off x="959475" y="4384791"/>
            <a:ext cx="23068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dirty="0" err="1">
                <a:latin typeface="Aptos" panose="020B0004020202020204" pitchFamily="34" charset="0"/>
              </a:rPr>
              <a:t>Unauthorized</a:t>
            </a:r>
            <a:r>
              <a:rPr lang="it-IT" sz="2000" dirty="0">
                <a:latin typeface="Aptos" panose="020B0004020202020204" pitchFamily="34" charset="0"/>
              </a:rPr>
              <a:t> user</a:t>
            </a:r>
          </a:p>
        </p:txBody>
      </p:sp>
      <p:sp>
        <p:nvSpPr>
          <p:cNvPr id="30" name="CasellaDiTesto 29">
            <a:extLst>
              <a:ext uri="{FF2B5EF4-FFF2-40B4-BE49-F238E27FC236}">
                <a16:creationId xmlns:a16="http://schemas.microsoft.com/office/drawing/2014/main" id="{736ED2AB-58A8-46AC-8B7E-997E3B6D2017}"/>
              </a:ext>
            </a:extLst>
          </p:cNvPr>
          <p:cNvSpPr txBox="1"/>
          <p:nvPr/>
        </p:nvSpPr>
        <p:spPr>
          <a:xfrm>
            <a:off x="959475" y="5583531"/>
            <a:ext cx="23068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dirty="0" err="1">
                <a:latin typeface="Aptos" panose="020B0004020202020204" pitchFamily="34" charset="0"/>
              </a:rPr>
              <a:t>Authorized</a:t>
            </a:r>
            <a:r>
              <a:rPr lang="it-IT" sz="2000" dirty="0">
                <a:latin typeface="Aptos" panose="020B0004020202020204" pitchFamily="34" charset="0"/>
              </a:rPr>
              <a:t> user</a:t>
            </a:r>
          </a:p>
        </p:txBody>
      </p:sp>
    </p:spTree>
    <p:extLst>
      <p:ext uri="{BB962C8B-B14F-4D97-AF65-F5344CB8AC3E}">
        <p14:creationId xmlns:p14="http://schemas.microsoft.com/office/powerpoint/2010/main" val="10117571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94334E1-C2EB-D042-A6F5-FE7C6DDC6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Basic </a:t>
            </a:r>
            <a:r>
              <a:rPr lang="it-IT" dirty="0" err="1"/>
              <a:t>access</a:t>
            </a:r>
            <a:r>
              <a:rPr lang="it-IT" dirty="0"/>
              <a:t> </a:t>
            </a:r>
            <a:r>
              <a:rPr lang="it-IT" dirty="0" err="1"/>
              <a:t>authentication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C3D13BC-F39A-D246-941B-2D6AC9F08C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2" y="1361167"/>
            <a:ext cx="11368314" cy="5122079"/>
          </a:xfrm>
        </p:spPr>
        <p:txBody>
          <a:bodyPr>
            <a:normAutofit/>
          </a:bodyPr>
          <a:lstStyle/>
          <a:p>
            <a:r>
              <a:rPr lang="en-GB" dirty="0"/>
              <a:t>Authorization using </a:t>
            </a:r>
            <a:r>
              <a:rPr lang="en-GB" b="1" dirty="0"/>
              <a:t>account credentials </a:t>
            </a:r>
          </a:p>
          <a:p>
            <a:pPr lvl="1"/>
            <a:r>
              <a:rPr lang="en-GB" sz="2400" dirty="0"/>
              <a:t>Each user of the website/web application has an account with a </a:t>
            </a:r>
            <a:r>
              <a:rPr lang="en-GB" sz="2400" b="1" dirty="0"/>
              <a:t>user ID </a:t>
            </a:r>
            <a:r>
              <a:rPr lang="en-GB" sz="2400" dirty="0"/>
              <a:t>and a </a:t>
            </a:r>
            <a:r>
              <a:rPr lang="en-GB" sz="2400" b="1" dirty="0"/>
              <a:t>password</a:t>
            </a:r>
            <a:r>
              <a:rPr lang="en-GB" sz="2400" dirty="0"/>
              <a:t> (credentials).</a:t>
            </a:r>
          </a:p>
          <a:p>
            <a:pPr lvl="1"/>
            <a:r>
              <a:rPr lang="en-GB" sz="2400" dirty="0"/>
              <a:t>The user logs into the website/web application providing its credentials.</a:t>
            </a:r>
          </a:p>
          <a:p>
            <a:pPr lvl="1"/>
            <a:r>
              <a:rPr lang="en-GB" sz="2400" dirty="0"/>
              <a:t>The server verifies credentials and allows the user to access the resources it is authorized to access.  </a:t>
            </a:r>
            <a:endParaRPr lang="en-GB" dirty="0"/>
          </a:p>
          <a:p>
            <a:r>
              <a:rPr lang="en-GB" dirty="0"/>
              <a:t>HTTP request header to provide credentials:</a:t>
            </a:r>
          </a:p>
          <a:p>
            <a:pPr marL="0" indent="0">
              <a:buNone/>
            </a:pPr>
            <a:r>
              <a:rPr lang="en-GB" dirty="0"/>
              <a:t>			</a:t>
            </a:r>
            <a:r>
              <a:rPr lang="en-GB" i="1" dirty="0"/>
              <a:t>Authorization</a:t>
            </a:r>
            <a:r>
              <a:rPr lang="en-GB" dirty="0"/>
              <a:t>: Basic &lt;credentials&gt;</a:t>
            </a:r>
          </a:p>
          <a:p>
            <a:pPr marL="0" indent="0">
              <a:buNone/>
            </a:pPr>
            <a:r>
              <a:rPr lang="en-GB" dirty="0"/>
              <a:t>    where &lt;credentials&gt; includes user ID and password.</a:t>
            </a:r>
          </a:p>
          <a:p>
            <a:r>
              <a:rPr lang="en-GB" dirty="0"/>
              <a:t>Often authorization is performed after the server request it.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46BE18D5-9CF5-D34F-A946-B476E7AE5A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3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387056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1390443-75D6-AB40-A768-28BF2A2F69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Basic </a:t>
            </a:r>
            <a:r>
              <a:rPr lang="it-IT" dirty="0" err="1"/>
              <a:t>access</a:t>
            </a:r>
            <a:r>
              <a:rPr lang="it-IT" dirty="0"/>
              <a:t> </a:t>
            </a:r>
            <a:r>
              <a:rPr lang="it-IT" dirty="0" err="1"/>
              <a:t>authentication</a:t>
            </a:r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479F238C-D54C-2343-ACE5-39AF50306C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4</a:t>
            </a:fld>
            <a:endParaRPr lang="en-GB" dirty="0"/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5735EB43-FCC1-8142-9646-F460F73B6FEE}"/>
              </a:ext>
            </a:extLst>
          </p:cNvPr>
          <p:cNvSpPr/>
          <p:nvPr/>
        </p:nvSpPr>
        <p:spPr>
          <a:xfrm>
            <a:off x="680237" y="1458741"/>
            <a:ext cx="1581625" cy="4226567"/>
          </a:xfrm>
          <a:prstGeom prst="rect">
            <a:avLst/>
          </a:prstGeom>
          <a:ln w="28575"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endParaRPr lang="en-GB" sz="2400">
              <a:latin typeface="Aptos" panose="020B0004020202020204" pitchFamily="34" charset="0"/>
            </a:endParaRPr>
          </a:p>
          <a:p>
            <a:pPr algn="ctr"/>
            <a:endParaRPr lang="en-GB" sz="2400">
              <a:latin typeface="Aptos" panose="020B0004020202020204" pitchFamily="34" charset="0"/>
            </a:endParaRPr>
          </a:p>
          <a:p>
            <a:pPr algn="ctr"/>
            <a:r>
              <a:rPr lang="en-GB" sz="2400">
                <a:latin typeface="Aptos" panose="020B0004020202020204" pitchFamily="34" charset="0"/>
              </a:rPr>
              <a:t>Client</a:t>
            </a:r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02963C49-B7EA-964A-A272-8B3DC125E909}"/>
              </a:ext>
            </a:extLst>
          </p:cNvPr>
          <p:cNvSpPr/>
          <p:nvPr/>
        </p:nvSpPr>
        <p:spPr>
          <a:xfrm>
            <a:off x="7903735" y="1458744"/>
            <a:ext cx="3855319" cy="4226560"/>
          </a:xfrm>
          <a:prstGeom prst="rect">
            <a:avLst/>
          </a:prstGeom>
          <a:ln w="28575"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it-IT" sz="2400" dirty="0">
                <a:latin typeface="Aptos" panose="020B0004020202020204" pitchFamily="34" charset="0"/>
              </a:rPr>
              <a:t> Server</a:t>
            </a:r>
          </a:p>
        </p:txBody>
      </p:sp>
      <p:cxnSp>
        <p:nvCxnSpPr>
          <p:cNvPr id="7" name="Connettore 2 6">
            <a:extLst>
              <a:ext uri="{FF2B5EF4-FFF2-40B4-BE49-F238E27FC236}">
                <a16:creationId xmlns:a16="http://schemas.microsoft.com/office/drawing/2014/main" id="{B9BFF864-BC90-534B-B63F-827C7A152A38}"/>
              </a:ext>
            </a:extLst>
          </p:cNvPr>
          <p:cNvCxnSpPr/>
          <p:nvPr/>
        </p:nvCxnSpPr>
        <p:spPr>
          <a:xfrm>
            <a:off x="2741426" y="1949071"/>
            <a:ext cx="4585252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ttore 2 7">
            <a:extLst>
              <a:ext uri="{FF2B5EF4-FFF2-40B4-BE49-F238E27FC236}">
                <a16:creationId xmlns:a16="http://schemas.microsoft.com/office/drawing/2014/main" id="{D90D755D-5F91-9E40-834F-D1DA9764ED06}"/>
              </a:ext>
            </a:extLst>
          </p:cNvPr>
          <p:cNvCxnSpPr>
            <a:cxnSpLocks/>
          </p:cNvCxnSpPr>
          <p:nvPr/>
        </p:nvCxnSpPr>
        <p:spPr>
          <a:xfrm flipH="1">
            <a:off x="2731252" y="3213382"/>
            <a:ext cx="4585252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DAC5001A-C7BD-4048-889C-D8A228B1341B}"/>
              </a:ext>
            </a:extLst>
          </p:cNvPr>
          <p:cNvSpPr txBox="1"/>
          <p:nvPr/>
        </p:nvSpPr>
        <p:spPr>
          <a:xfrm>
            <a:off x="3592642" y="1224384"/>
            <a:ext cx="30214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Aptos" panose="020B0004020202020204" pitchFamily="34" charset="0"/>
              </a:rPr>
              <a:t>Unauthorized request</a:t>
            </a:r>
          </a:p>
          <a:p>
            <a:pPr algn="ctr"/>
            <a:r>
              <a:rPr lang="en-GB" dirty="0">
                <a:latin typeface="Aptos" panose="020B0004020202020204" pitchFamily="34" charset="0"/>
              </a:rPr>
              <a:t>GET /home HTTP/1.1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CBE263B6-5956-8F4B-914E-ABB3D615A457}"/>
              </a:ext>
            </a:extLst>
          </p:cNvPr>
          <p:cNvSpPr txBox="1"/>
          <p:nvPr/>
        </p:nvSpPr>
        <p:spPr>
          <a:xfrm>
            <a:off x="2439700" y="2190893"/>
            <a:ext cx="559773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Aptos" panose="020B0004020202020204" pitchFamily="34" charset="0"/>
              </a:rPr>
              <a:t>The server responds authorization is needed:</a:t>
            </a:r>
          </a:p>
          <a:p>
            <a:r>
              <a:rPr lang="en-GB" dirty="0">
                <a:latin typeface="Aptos" panose="020B0004020202020204" pitchFamily="34" charset="0"/>
              </a:rPr>
              <a:t>HTTP/1.1 401 Unauthorized</a:t>
            </a:r>
          </a:p>
          <a:p>
            <a:r>
              <a:rPr lang="en-GB" dirty="0">
                <a:latin typeface="Aptos" panose="020B0004020202020204" pitchFamily="34" charset="0"/>
              </a:rPr>
              <a:t>WWW-Authenticate: Basic realm=’’protection space’’</a:t>
            </a:r>
          </a:p>
        </p:txBody>
      </p:sp>
      <p:cxnSp>
        <p:nvCxnSpPr>
          <p:cNvPr id="11" name="Connettore 2 10">
            <a:extLst>
              <a:ext uri="{FF2B5EF4-FFF2-40B4-BE49-F238E27FC236}">
                <a16:creationId xmlns:a16="http://schemas.microsoft.com/office/drawing/2014/main" id="{F3452F08-E326-3744-9A0A-A89BB587C91A}"/>
              </a:ext>
            </a:extLst>
          </p:cNvPr>
          <p:cNvCxnSpPr/>
          <p:nvPr/>
        </p:nvCxnSpPr>
        <p:spPr>
          <a:xfrm>
            <a:off x="2731252" y="4327418"/>
            <a:ext cx="4585252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5EFE0B36-E70F-EB41-A6CE-D9737D37F37A}"/>
              </a:ext>
            </a:extLst>
          </p:cNvPr>
          <p:cNvSpPr txBox="1"/>
          <p:nvPr/>
        </p:nvSpPr>
        <p:spPr>
          <a:xfrm>
            <a:off x="2838919" y="3371255"/>
            <a:ext cx="466724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Aptos" panose="020B0004020202020204" pitchFamily="34" charset="0"/>
              </a:rPr>
              <a:t>Authorized request</a:t>
            </a:r>
          </a:p>
          <a:p>
            <a:r>
              <a:rPr lang="en-GB" dirty="0">
                <a:latin typeface="Aptos" panose="020B0004020202020204" pitchFamily="34" charset="0"/>
              </a:rPr>
              <a:t>GET /home HTTP/1.1</a:t>
            </a:r>
          </a:p>
          <a:p>
            <a:r>
              <a:rPr lang="en-GB" dirty="0">
                <a:latin typeface="Aptos" panose="020B0004020202020204" pitchFamily="34" charset="0"/>
              </a:rPr>
              <a:t>Authorization: Basic &lt;credentials&gt;</a:t>
            </a: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1B7A8F73-A0D8-374C-B620-D1B5A2914C43}"/>
              </a:ext>
            </a:extLst>
          </p:cNvPr>
          <p:cNvSpPr txBox="1"/>
          <p:nvPr/>
        </p:nvSpPr>
        <p:spPr>
          <a:xfrm>
            <a:off x="2970197" y="4660276"/>
            <a:ext cx="44046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Aptos" panose="020B0004020202020204" pitchFamily="34" charset="0"/>
              </a:rPr>
              <a:t>Server’s response to authorized request</a:t>
            </a:r>
          </a:p>
          <a:p>
            <a:r>
              <a:rPr lang="en-GB" dirty="0">
                <a:latin typeface="Aptos" panose="020B0004020202020204" pitchFamily="34" charset="0"/>
              </a:rPr>
              <a:t>    HTTP/1.1 200 OK</a:t>
            </a:r>
          </a:p>
          <a:p>
            <a:r>
              <a:rPr lang="en-GB" dirty="0">
                <a:latin typeface="Aptos" panose="020B0004020202020204" pitchFamily="34" charset="0"/>
              </a:rPr>
              <a:t>    HTTP/1.1 403 Forbidden</a:t>
            </a:r>
          </a:p>
        </p:txBody>
      </p:sp>
      <p:cxnSp>
        <p:nvCxnSpPr>
          <p:cNvPr id="14" name="Connettore 2 13">
            <a:extLst>
              <a:ext uri="{FF2B5EF4-FFF2-40B4-BE49-F238E27FC236}">
                <a16:creationId xmlns:a16="http://schemas.microsoft.com/office/drawing/2014/main" id="{3428D6BE-677E-4C45-824B-DCF84C9F3A21}"/>
              </a:ext>
            </a:extLst>
          </p:cNvPr>
          <p:cNvCxnSpPr>
            <a:cxnSpLocks/>
          </p:cNvCxnSpPr>
          <p:nvPr/>
        </p:nvCxnSpPr>
        <p:spPr>
          <a:xfrm flipH="1">
            <a:off x="2741426" y="5685302"/>
            <a:ext cx="4585252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ilindro 14">
            <a:extLst>
              <a:ext uri="{FF2B5EF4-FFF2-40B4-BE49-F238E27FC236}">
                <a16:creationId xmlns:a16="http://schemas.microsoft.com/office/drawing/2014/main" id="{3D17EAA8-838B-1E40-B3B8-0EFDD58F8A5F}"/>
              </a:ext>
            </a:extLst>
          </p:cNvPr>
          <p:cNvSpPr/>
          <p:nvPr/>
        </p:nvSpPr>
        <p:spPr>
          <a:xfrm>
            <a:off x="9248292" y="1921170"/>
            <a:ext cx="1696278" cy="731223"/>
          </a:xfrm>
          <a:prstGeom prst="can">
            <a:avLst/>
          </a:prstGeom>
          <a:solidFill>
            <a:schemeClr val="accent6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latin typeface="Aptos" panose="020B0004020202020204" pitchFamily="34" charset="0"/>
              </a:rPr>
              <a:t>DB of </a:t>
            </a:r>
            <a:r>
              <a:rPr lang="it-IT" dirty="0" err="1">
                <a:latin typeface="Aptos" panose="020B0004020202020204" pitchFamily="34" charset="0"/>
              </a:rPr>
              <a:t>credentials</a:t>
            </a:r>
            <a:endParaRPr lang="it-IT" dirty="0">
              <a:latin typeface="Aptos" panose="020B0004020202020204" pitchFamily="34" charset="0"/>
            </a:endParaRPr>
          </a:p>
        </p:txBody>
      </p:sp>
      <p:sp>
        <p:nvSpPr>
          <p:cNvPr id="16" name="Cilindro 15">
            <a:extLst>
              <a:ext uri="{FF2B5EF4-FFF2-40B4-BE49-F238E27FC236}">
                <a16:creationId xmlns:a16="http://schemas.microsoft.com/office/drawing/2014/main" id="{BFD74E65-69EA-6A4A-9FC3-E819115E28E4}"/>
              </a:ext>
            </a:extLst>
          </p:cNvPr>
          <p:cNvSpPr/>
          <p:nvPr/>
        </p:nvSpPr>
        <p:spPr>
          <a:xfrm>
            <a:off x="9956725" y="3764327"/>
            <a:ext cx="1696278" cy="1415369"/>
          </a:xfrm>
          <a:prstGeom prst="can">
            <a:avLst/>
          </a:prstGeom>
          <a:solidFill>
            <a:schemeClr val="accent6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latin typeface="Aptos" panose="020B0004020202020204" pitchFamily="34" charset="0"/>
              </a:rPr>
              <a:t>DB of </a:t>
            </a:r>
            <a:r>
              <a:rPr lang="it-IT" dirty="0" err="1">
                <a:latin typeface="Aptos" panose="020B0004020202020204" pitchFamily="34" charset="0"/>
              </a:rPr>
              <a:t>protected</a:t>
            </a:r>
            <a:r>
              <a:rPr lang="it-IT" dirty="0">
                <a:latin typeface="Aptos" panose="020B0004020202020204" pitchFamily="34" charset="0"/>
              </a:rPr>
              <a:t> </a:t>
            </a:r>
            <a:r>
              <a:rPr lang="it-IT" dirty="0" err="1">
                <a:latin typeface="Aptos" panose="020B0004020202020204" pitchFamily="34" charset="0"/>
              </a:rPr>
              <a:t>resources</a:t>
            </a:r>
            <a:endParaRPr lang="it-IT" dirty="0">
              <a:latin typeface="Aptos" panose="020B0004020202020204" pitchFamily="34" charset="0"/>
            </a:endParaRPr>
          </a:p>
        </p:txBody>
      </p:sp>
      <p:cxnSp>
        <p:nvCxnSpPr>
          <p:cNvPr id="17" name="Connettore 2 16">
            <a:extLst>
              <a:ext uri="{FF2B5EF4-FFF2-40B4-BE49-F238E27FC236}">
                <a16:creationId xmlns:a16="http://schemas.microsoft.com/office/drawing/2014/main" id="{B670B796-3EBD-0B46-BFC7-3A56782E5B95}"/>
              </a:ext>
            </a:extLst>
          </p:cNvPr>
          <p:cNvCxnSpPr>
            <a:cxnSpLocks/>
          </p:cNvCxnSpPr>
          <p:nvPr/>
        </p:nvCxnSpPr>
        <p:spPr>
          <a:xfrm flipV="1">
            <a:off x="8879775" y="2743585"/>
            <a:ext cx="827433" cy="628962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ttore 2 17">
            <a:extLst>
              <a:ext uri="{FF2B5EF4-FFF2-40B4-BE49-F238E27FC236}">
                <a16:creationId xmlns:a16="http://schemas.microsoft.com/office/drawing/2014/main" id="{C84D8AF3-620F-3946-9131-0FC125C715E1}"/>
              </a:ext>
            </a:extLst>
          </p:cNvPr>
          <p:cNvCxnSpPr>
            <a:cxnSpLocks/>
          </p:cNvCxnSpPr>
          <p:nvPr/>
        </p:nvCxnSpPr>
        <p:spPr>
          <a:xfrm flipH="1">
            <a:off x="9248292" y="4566346"/>
            <a:ext cx="602383" cy="0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Freccia a inversione 23">
            <a:extLst>
              <a:ext uri="{FF2B5EF4-FFF2-40B4-BE49-F238E27FC236}">
                <a16:creationId xmlns:a16="http://schemas.microsoft.com/office/drawing/2014/main" id="{548AF08B-DBF3-FE47-A0DB-43997570647E}"/>
              </a:ext>
            </a:extLst>
          </p:cNvPr>
          <p:cNvSpPr/>
          <p:nvPr/>
        </p:nvSpPr>
        <p:spPr>
          <a:xfrm rot="5400000" flipV="1">
            <a:off x="1237394" y="3401613"/>
            <a:ext cx="1144303" cy="676992"/>
          </a:xfrm>
          <a:prstGeom prst="uturnArrow">
            <a:avLst/>
          </a:prstGeom>
          <a:solidFill>
            <a:schemeClr val="accent6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  <a:latin typeface="Aptos" panose="020B0004020202020204" pitchFamily="34" charset="0"/>
            </a:endParaRPr>
          </a:p>
        </p:txBody>
      </p:sp>
      <p:sp>
        <p:nvSpPr>
          <p:cNvPr id="25" name="CasellaDiTesto 24">
            <a:extLst>
              <a:ext uri="{FF2B5EF4-FFF2-40B4-BE49-F238E27FC236}">
                <a16:creationId xmlns:a16="http://schemas.microsoft.com/office/drawing/2014/main" id="{6CFD88B4-2BD1-A846-83BB-302A952282D2}"/>
              </a:ext>
            </a:extLst>
          </p:cNvPr>
          <p:cNvSpPr txBox="1"/>
          <p:nvPr/>
        </p:nvSpPr>
        <p:spPr>
          <a:xfrm>
            <a:off x="-932568" y="2870844"/>
            <a:ext cx="44046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 err="1">
                <a:latin typeface="Aptos" panose="020B0004020202020204" pitchFamily="34" charset="0"/>
              </a:rPr>
              <a:t>Ask</a:t>
            </a:r>
            <a:r>
              <a:rPr lang="it-IT" dirty="0">
                <a:latin typeface="Aptos" panose="020B0004020202020204" pitchFamily="34" charset="0"/>
              </a:rPr>
              <a:t> </a:t>
            </a:r>
            <a:r>
              <a:rPr lang="it-IT" dirty="0" err="1">
                <a:latin typeface="Aptos" panose="020B0004020202020204" pitchFamily="34" charset="0"/>
              </a:rPr>
              <a:t>user</a:t>
            </a:r>
            <a:endParaRPr lang="it-IT" dirty="0">
              <a:latin typeface="Aptos" panose="020B0004020202020204" pitchFamily="34" charset="0"/>
            </a:endParaRPr>
          </a:p>
        </p:txBody>
      </p:sp>
      <p:cxnSp>
        <p:nvCxnSpPr>
          <p:cNvPr id="28" name="Connettore 2 27">
            <a:extLst>
              <a:ext uri="{FF2B5EF4-FFF2-40B4-BE49-F238E27FC236}">
                <a16:creationId xmlns:a16="http://schemas.microsoft.com/office/drawing/2014/main" id="{4163C2A6-A391-4649-B53B-2B6529DD0AD6}"/>
              </a:ext>
            </a:extLst>
          </p:cNvPr>
          <p:cNvCxnSpPr>
            <a:cxnSpLocks/>
          </p:cNvCxnSpPr>
          <p:nvPr/>
        </p:nvCxnSpPr>
        <p:spPr>
          <a:xfrm flipH="1">
            <a:off x="9340814" y="2723672"/>
            <a:ext cx="899352" cy="716371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nettore 2 33">
            <a:extLst>
              <a:ext uri="{FF2B5EF4-FFF2-40B4-BE49-F238E27FC236}">
                <a16:creationId xmlns:a16="http://schemas.microsoft.com/office/drawing/2014/main" id="{29CF160D-4275-654B-84A6-459ED4CAB355}"/>
              </a:ext>
            </a:extLst>
          </p:cNvPr>
          <p:cNvCxnSpPr>
            <a:cxnSpLocks/>
          </p:cNvCxnSpPr>
          <p:nvPr/>
        </p:nvCxnSpPr>
        <p:spPr>
          <a:xfrm>
            <a:off x="9248292" y="4287933"/>
            <a:ext cx="602383" cy="0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ttangolo 34">
            <a:extLst>
              <a:ext uri="{FF2B5EF4-FFF2-40B4-BE49-F238E27FC236}">
                <a16:creationId xmlns:a16="http://schemas.microsoft.com/office/drawing/2014/main" id="{FBA4FEF1-40C9-E941-8F86-D51F8AF8E834}"/>
              </a:ext>
            </a:extLst>
          </p:cNvPr>
          <p:cNvSpPr/>
          <p:nvPr/>
        </p:nvSpPr>
        <p:spPr>
          <a:xfrm>
            <a:off x="8037434" y="3454894"/>
            <a:ext cx="1210858" cy="2044869"/>
          </a:xfrm>
          <a:prstGeom prst="rect">
            <a:avLst/>
          </a:prstGeom>
          <a:ln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>
                <a:latin typeface="Aptos" panose="020B0004020202020204" pitchFamily="34" charset="0"/>
              </a:rPr>
              <a:t>Access control </a:t>
            </a:r>
            <a:r>
              <a:rPr lang="it-IT" dirty="0" err="1">
                <a:latin typeface="Aptos" panose="020B0004020202020204" pitchFamily="34" charset="0"/>
              </a:rPr>
              <a:t>program</a:t>
            </a:r>
            <a:endParaRPr lang="it-IT" dirty="0">
              <a:latin typeface="Aptos" panose="020B0004020202020204" pitchFamily="34" charset="0"/>
            </a:endParaRPr>
          </a:p>
        </p:txBody>
      </p:sp>
      <p:sp>
        <p:nvSpPr>
          <p:cNvPr id="37" name="CasellaDiTesto 36">
            <a:extLst>
              <a:ext uri="{FF2B5EF4-FFF2-40B4-BE49-F238E27FC236}">
                <a16:creationId xmlns:a16="http://schemas.microsoft.com/office/drawing/2014/main" id="{A7DFE21B-F79B-8340-AFDA-1234DDC018F9}"/>
              </a:ext>
            </a:extLst>
          </p:cNvPr>
          <p:cNvSpPr txBox="1"/>
          <p:nvPr/>
        </p:nvSpPr>
        <p:spPr>
          <a:xfrm>
            <a:off x="2790708" y="5089366"/>
            <a:ext cx="5778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Aptos" panose="020B0004020202020204" pitchFamily="34" charset="0"/>
              </a:rPr>
              <a:t>or</a:t>
            </a:r>
          </a:p>
        </p:txBody>
      </p:sp>
      <p:sp>
        <p:nvSpPr>
          <p:cNvPr id="3" name="Rettangolo 2">
            <a:extLst>
              <a:ext uri="{FF2B5EF4-FFF2-40B4-BE49-F238E27FC236}">
                <a16:creationId xmlns:a16="http://schemas.microsoft.com/office/drawing/2014/main" id="{B5A38A86-C442-570A-50F0-C4F04B18DC6F}"/>
              </a:ext>
            </a:extLst>
          </p:cNvPr>
          <p:cNvSpPr/>
          <p:nvPr/>
        </p:nvSpPr>
        <p:spPr>
          <a:xfrm>
            <a:off x="1788207" y="5990611"/>
            <a:ext cx="8168518" cy="549185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400" dirty="0">
                <a:solidFill>
                  <a:schemeClr val="tx1"/>
                </a:solidFill>
                <a:latin typeface="Aptos" panose="020B0004020202020204" pitchFamily="34" charset="0"/>
              </a:rPr>
              <a:t>How can </a:t>
            </a:r>
            <a:r>
              <a:rPr lang="it-IT" sz="2400" dirty="0" err="1">
                <a:solidFill>
                  <a:schemeClr val="tx1"/>
                </a:solidFill>
                <a:latin typeface="Aptos" panose="020B0004020202020204" pitchFamily="34" charset="0"/>
              </a:rPr>
              <a:t>we</a:t>
            </a:r>
            <a:r>
              <a:rPr lang="it-IT" sz="2400" dirty="0">
                <a:solidFill>
                  <a:schemeClr val="tx1"/>
                </a:solidFill>
                <a:latin typeface="Aptos" panose="020B0004020202020204" pitchFamily="34" charset="0"/>
              </a:rPr>
              <a:t> </a:t>
            </a:r>
            <a:r>
              <a:rPr lang="it-IT" sz="2400" dirty="0" err="1">
                <a:solidFill>
                  <a:schemeClr val="tx1"/>
                </a:solidFill>
                <a:latin typeface="Aptos" panose="020B0004020202020204" pitchFamily="34" charset="0"/>
              </a:rPr>
              <a:t>protect</a:t>
            </a:r>
            <a:r>
              <a:rPr lang="it-IT" sz="2400" dirty="0">
                <a:solidFill>
                  <a:schemeClr val="tx1"/>
                </a:solidFill>
                <a:latin typeface="Aptos" panose="020B0004020202020204" pitchFamily="34" charset="0"/>
              </a:rPr>
              <a:t> the transmission of </a:t>
            </a:r>
            <a:r>
              <a:rPr lang="it-IT" sz="2400" dirty="0" err="1">
                <a:solidFill>
                  <a:schemeClr val="tx1"/>
                </a:solidFill>
                <a:latin typeface="Aptos" panose="020B0004020202020204" pitchFamily="34" charset="0"/>
              </a:rPr>
              <a:t>credentials</a:t>
            </a:r>
            <a:r>
              <a:rPr lang="it-IT" sz="2400" dirty="0">
                <a:solidFill>
                  <a:schemeClr val="tx1"/>
                </a:solidFill>
                <a:latin typeface="Aptos" panose="020B0004020202020204" pitchFamily="34" charset="0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42340716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2" grpId="0"/>
      <p:bldP spid="13" grpId="0"/>
      <p:bldP spid="24" grpId="0" animBg="1"/>
      <p:bldP spid="25" grpId="0"/>
      <p:bldP spid="37" grpId="0"/>
      <p:bldP spid="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28B4FE9-3529-B940-924C-E6A0AC6472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Digest </a:t>
            </a:r>
            <a:r>
              <a:rPr lang="it-IT" dirty="0" err="1"/>
              <a:t>access</a:t>
            </a:r>
            <a:r>
              <a:rPr lang="it-IT" dirty="0"/>
              <a:t> </a:t>
            </a:r>
            <a:r>
              <a:rPr lang="it-IT" dirty="0" err="1"/>
              <a:t>authentication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F7B8C56-0E85-AD49-9F5B-3ADC0810EC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2" y="1281655"/>
            <a:ext cx="11514980" cy="369333"/>
          </a:xfrm>
        </p:spPr>
        <p:txBody>
          <a:bodyPr>
            <a:normAutofit fontScale="92500" lnSpcReduction="10000"/>
          </a:bodyPr>
          <a:lstStyle/>
          <a:p>
            <a:r>
              <a:rPr lang="en-GB" dirty="0"/>
              <a:t>It uses a </a:t>
            </a:r>
            <a:r>
              <a:rPr lang="en-GB" b="1" dirty="0"/>
              <a:t>hash function </a:t>
            </a:r>
            <a:r>
              <a:rPr lang="en-GB" dirty="0"/>
              <a:t>to protect credentials.</a:t>
            </a:r>
          </a:p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6BC44487-F6B8-134A-B8A9-A278B51B1F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5</a:t>
            </a:fld>
            <a:endParaRPr lang="en-GB"/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147EA994-3F25-8F49-93EC-6E0B1EEEF375}"/>
              </a:ext>
            </a:extLst>
          </p:cNvPr>
          <p:cNvSpPr/>
          <p:nvPr/>
        </p:nvSpPr>
        <p:spPr>
          <a:xfrm>
            <a:off x="561950" y="6174912"/>
            <a:ext cx="11379560" cy="4247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itchFamily="2" charset="2"/>
              <a:buChar char="Ø"/>
            </a:pPr>
            <a:r>
              <a:rPr lang="en-GB" sz="2400" dirty="0">
                <a:solidFill>
                  <a:prstClr val="black"/>
                </a:solidFill>
                <a:latin typeface="Aptos" panose="020B0004020202020204" pitchFamily="34" charset="0"/>
              </a:rPr>
              <a:t>Alternative solution: encrypted communication with the </a:t>
            </a:r>
            <a:r>
              <a:rPr lang="en-GB" sz="2400" b="1" dirty="0">
                <a:solidFill>
                  <a:prstClr val="black"/>
                </a:solidFill>
                <a:latin typeface="Aptos" panose="020B0004020202020204" pitchFamily="34" charset="0"/>
              </a:rPr>
              <a:t>HTTPS</a:t>
            </a:r>
            <a:r>
              <a:rPr lang="en-GB" sz="2400" dirty="0">
                <a:solidFill>
                  <a:prstClr val="black"/>
                </a:solidFill>
                <a:latin typeface="Aptos" panose="020B0004020202020204" pitchFamily="34" charset="0"/>
              </a:rPr>
              <a:t> protocol.</a:t>
            </a:r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2304DB0D-E0B9-6E40-3620-D8D64D3187FC}"/>
              </a:ext>
            </a:extLst>
          </p:cNvPr>
          <p:cNvSpPr/>
          <p:nvPr/>
        </p:nvSpPr>
        <p:spPr>
          <a:xfrm>
            <a:off x="680237" y="1706078"/>
            <a:ext cx="1581625" cy="4226566"/>
          </a:xfrm>
          <a:prstGeom prst="rect">
            <a:avLst/>
          </a:prstGeom>
          <a:ln w="28575"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endParaRPr lang="en-GB" sz="2400" dirty="0">
              <a:latin typeface="Aptos" panose="020B0004020202020204" pitchFamily="34" charset="0"/>
            </a:endParaRPr>
          </a:p>
          <a:p>
            <a:pPr algn="ctr"/>
            <a:endParaRPr lang="en-GB" sz="2400" dirty="0">
              <a:latin typeface="Aptos" panose="020B0004020202020204" pitchFamily="34" charset="0"/>
            </a:endParaRPr>
          </a:p>
          <a:p>
            <a:pPr algn="ctr"/>
            <a:r>
              <a:rPr lang="en-GB" sz="2400" dirty="0">
                <a:latin typeface="Aptos" panose="020B0004020202020204" pitchFamily="34" charset="0"/>
              </a:rPr>
              <a:t>Client</a:t>
            </a:r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7FF88A20-E1CB-3416-7C5E-F8FD08E7B179}"/>
              </a:ext>
            </a:extLst>
          </p:cNvPr>
          <p:cNvSpPr/>
          <p:nvPr/>
        </p:nvSpPr>
        <p:spPr>
          <a:xfrm>
            <a:off x="6677822" y="1706077"/>
            <a:ext cx="5365951" cy="4226560"/>
          </a:xfrm>
          <a:prstGeom prst="rect">
            <a:avLst/>
          </a:prstGeom>
          <a:ln w="28575"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it-IT" sz="2400" dirty="0">
                <a:latin typeface="Aptos" panose="020B0004020202020204" pitchFamily="34" charset="0"/>
              </a:rPr>
              <a:t> Server</a:t>
            </a:r>
          </a:p>
        </p:txBody>
      </p:sp>
      <p:sp>
        <p:nvSpPr>
          <p:cNvPr id="9" name="Cilindro 8">
            <a:extLst>
              <a:ext uri="{FF2B5EF4-FFF2-40B4-BE49-F238E27FC236}">
                <a16:creationId xmlns:a16="http://schemas.microsoft.com/office/drawing/2014/main" id="{F4C32AC8-9671-087F-96EB-78BDFFCCB3E0}"/>
              </a:ext>
            </a:extLst>
          </p:cNvPr>
          <p:cNvSpPr/>
          <p:nvPr/>
        </p:nvSpPr>
        <p:spPr>
          <a:xfrm>
            <a:off x="6890716" y="2194953"/>
            <a:ext cx="1696278" cy="837526"/>
          </a:xfrm>
          <a:prstGeom prst="can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latin typeface="Aptos" panose="020B0004020202020204" pitchFamily="34" charset="0"/>
              </a:rPr>
              <a:t>DB of </a:t>
            </a:r>
            <a:r>
              <a:rPr lang="it-IT" dirty="0" err="1">
                <a:latin typeface="Aptos" panose="020B0004020202020204" pitchFamily="34" charset="0"/>
              </a:rPr>
              <a:t>credentials</a:t>
            </a:r>
            <a:endParaRPr lang="it-IT" dirty="0">
              <a:latin typeface="Aptos" panose="020B0004020202020204" pitchFamily="34" charset="0"/>
            </a:endParaRPr>
          </a:p>
        </p:txBody>
      </p:sp>
      <p:sp>
        <p:nvSpPr>
          <p:cNvPr id="10" name="Cilindro 9">
            <a:extLst>
              <a:ext uri="{FF2B5EF4-FFF2-40B4-BE49-F238E27FC236}">
                <a16:creationId xmlns:a16="http://schemas.microsoft.com/office/drawing/2014/main" id="{1B2CCB7E-36DB-A9D5-7EDA-AA084D6A168A}"/>
              </a:ext>
            </a:extLst>
          </p:cNvPr>
          <p:cNvSpPr/>
          <p:nvPr/>
        </p:nvSpPr>
        <p:spPr>
          <a:xfrm>
            <a:off x="10067550" y="1871406"/>
            <a:ext cx="1696278" cy="1179128"/>
          </a:xfrm>
          <a:prstGeom prst="can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latin typeface="Aptos" panose="020B0004020202020204" pitchFamily="34" charset="0"/>
              </a:rPr>
              <a:t>DB of </a:t>
            </a:r>
            <a:r>
              <a:rPr lang="it-IT" dirty="0" err="1">
                <a:latin typeface="Aptos" panose="020B0004020202020204" pitchFamily="34" charset="0"/>
              </a:rPr>
              <a:t>protected</a:t>
            </a:r>
            <a:r>
              <a:rPr lang="it-IT" dirty="0">
                <a:latin typeface="Aptos" panose="020B0004020202020204" pitchFamily="34" charset="0"/>
              </a:rPr>
              <a:t> </a:t>
            </a:r>
            <a:r>
              <a:rPr lang="it-IT" dirty="0" err="1">
                <a:latin typeface="Aptos" panose="020B0004020202020204" pitchFamily="34" charset="0"/>
              </a:rPr>
              <a:t>resources</a:t>
            </a:r>
            <a:endParaRPr lang="it-IT" dirty="0">
              <a:latin typeface="Aptos" panose="020B0004020202020204" pitchFamily="34" charset="0"/>
            </a:endParaRPr>
          </a:p>
        </p:txBody>
      </p:sp>
      <p:cxnSp>
        <p:nvCxnSpPr>
          <p:cNvPr id="12" name="Connettore 2 11">
            <a:extLst>
              <a:ext uri="{FF2B5EF4-FFF2-40B4-BE49-F238E27FC236}">
                <a16:creationId xmlns:a16="http://schemas.microsoft.com/office/drawing/2014/main" id="{DB8FACD3-F829-2340-3156-06ACAAC91660}"/>
              </a:ext>
            </a:extLst>
          </p:cNvPr>
          <p:cNvCxnSpPr>
            <a:cxnSpLocks/>
          </p:cNvCxnSpPr>
          <p:nvPr/>
        </p:nvCxnSpPr>
        <p:spPr>
          <a:xfrm>
            <a:off x="11134360" y="3134417"/>
            <a:ext cx="0" cy="396000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ttore 2 13">
            <a:extLst>
              <a:ext uri="{FF2B5EF4-FFF2-40B4-BE49-F238E27FC236}">
                <a16:creationId xmlns:a16="http://schemas.microsoft.com/office/drawing/2014/main" id="{1CDA34E5-AC82-8159-D1D3-FD831F16BABA}"/>
              </a:ext>
            </a:extLst>
          </p:cNvPr>
          <p:cNvCxnSpPr>
            <a:cxnSpLocks/>
          </p:cNvCxnSpPr>
          <p:nvPr/>
        </p:nvCxnSpPr>
        <p:spPr>
          <a:xfrm flipV="1">
            <a:off x="10818962" y="3088322"/>
            <a:ext cx="0" cy="756219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ttangolo 14">
            <a:extLst>
              <a:ext uri="{FF2B5EF4-FFF2-40B4-BE49-F238E27FC236}">
                <a16:creationId xmlns:a16="http://schemas.microsoft.com/office/drawing/2014/main" id="{B2BC8B50-AD52-4F14-C7EA-30451CB0A1C8}"/>
              </a:ext>
            </a:extLst>
          </p:cNvPr>
          <p:cNvSpPr/>
          <p:nvPr/>
        </p:nvSpPr>
        <p:spPr>
          <a:xfrm>
            <a:off x="6979692" y="3516254"/>
            <a:ext cx="4869477" cy="1812756"/>
          </a:xfrm>
          <a:prstGeom prst="rect">
            <a:avLst/>
          </a:prstGeom>
          <a:ln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it-IT" b="1" dirty="0">
                <a:latin typeface="Aptos" panose="020B0004020202020204" pitchFamily="34" charset="0"/>
              </a:rPr>
              <a:t>Access control </a:t>
            </a:r>
            <a:r>
              <a:rPr lang="it-IT" b="1" dirty="0" err="1">
                <a:latin typeface="Aptos" panose="020B0004020202020204" pitchFamily="34" charset="0"/>
              </a:rPr>
              <a:t>program</a:t>
            </a:r>
            <a:endParaRPr lang="it-IT" b="1" dirty="0">
              <a:latin typeface="Aptos" panose="020B0004020202020204" pitchFamily="34" charset="0"/>
            </a:endParaRPr>
          </a:p>
        </p:txBody>
      </p:sp>
      <p:cxnSp>
        <p:nvCxnSpPr>
          <p:cNvPr id="16" name="Connettore 2 15">
            <a:extLst>
              <a:ext uri="{FF2B5EF4-FFF2-40B4-BE49-F238E27FC236}">
                <a16:creationId xmlns:a16="http://schemas.microsoft.com/office/drawing/2014/main" id="{72FBDAB2-31E1-2DEB-A9FB-D7931D873DB5}"/>
              </a:ext>
            </a:extLst>
          </p:cNvPr>
          <p:cNvCxnSpPr/>
          <p:nvPr/>
        </p:nvCxnSpPr>
        <p:spPr>
          <a:xfrm>
            <a:off x="2329201" y="2662230"/>
            <a:ext cx="42480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ttore 2 16">
            <a:extLst>
              <a:ext uri="{FF2B5EF4-FFF2-40B4-BE49-F238E27FC236}">
                <a16:creationId xmlns:a16="http://schemas.microsoft.com/office/drawing/2014/main" id="{695A6780-F9B0-B203-4922-7595D8F6A690}"/>
              </a:ext>
            </a:extLst>
          </p:cNvPr>
          <p:cNvCxnSpPr>
            <a:cxnSpLocks/>
          </p:cNvCxnSpPr>
          <p:nvPr/>
        </p:nvCxnSpPr>
        <p:spPr>
          <a:xfrm flipH="1">
            <a:off x="2329201" y="3607364"/>
            <a:ext cx="42480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33338087-57CF-9816-27E4-B053D084AC38}"/>
              </a:ext>
            </a:extLst>
          </p:cNvPr>
          <p:cNvSpPr txBox="1"/>
          <p:nvPr/>
        </p:nvSpPr>
        <p:spPr>
          <a:xfrm>
            <a:off x="2881017" y="2307087"/>
            <a:ext cx="30214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Aptos" panose="020B0004020202020204" pitchFamily="34" charset="0"/>
              </a:rPr>
              <a:t>Unauthorized request</a:t>
            </a:r>
          </a:p>
        </p:txBody>
      </p: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EAE95755-70C4-3AFE-4B56-5423E3148CBB}"/>
              </a:ext>
            </a:extLst>
          </p:cNvPr>
          <p:cNvSpPr txBox="1"/>
          <p:nvPr/>
        </p:nvSpPr>
        <p:spPr>
          <a:xfrm>
            <a:off x="2506828" y="2878707"/>
            <a:ext cx="36975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Aptos" panose="020B0004020202020204" pitchFamily="34" charset="0"/>
              </a:rPr>
              <a:t>Authorization is needed </a:t>
            </a:r>
          </a:p>
          <a:p>
            <a:pPr algn="ctr"/>
            <a:r>
              <a:rPr lang="en-GB" dirty="0">
                <a:latin typeface="Aptos" panose="020B0004020202020204" pitchFamily="34" charset="0"/>
              </a:rPr>
              <a:t>+ random number (large number, N)</a:t>
            </a:r>
          </a:p>
        </p:txBody>
      </p:sp>
      <p:cxnSp>
        <p:nvCxnSpPr>
          <p:cNvPr id="20" name="Connettore 2 19">
            <a:extLst>
              <a:ext uri="{FF2B5EF4-FFF2-40B4-BE49-F238E27FC236}">
                <a16:creationId xmlns:a16="http://schemas.microsoft.com/office/drawing/2014/main" id="{BDBFF0F4-992F-8E02-99CC-9ECD4E4EF3B4}"/>
              </a:ext>
            </a:extLst>
          </p:cNvPr>
          <p:cNvCxnSpPr/>
          <p:nvPr/>
        </p:nvCxnSpPr>
        <p:spPr>
          <a:xfrm>
            <a:off x="2387856" y="5031717"/>
            <a:ext cx="42480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B1D9BC6B-1C1A-D419-9618-E0FDD4AE5205}"/>
              </a:ext>
            </a:extLst>
          </p:cNvPr>
          <p:cNvSpPr txBox="1"/>
          <p:nvPr/>
        </p:nvSpPr>
        <p:spPr>
          <a:xfrm>
            <a:off x="6364307" y="4848511"/>
            <a:ext cx="34863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Aptos" panose="020B0004020202020204" pitchFamily="34" charset="0"/>
              </a:rPr>
              <a:t>h(credentials, N)</a:t>
            </a:r>
          </a:p>
        </p:txBody>
      </p:sp>
      <p:cxnSp>
        <p:nvCxnSpPr>
          <p:cNvPr id="23" name="Connettore 2 22">
            <a:extLst>
              <a:ext uri="{FF2B5EF4-FFF2-40B4-BE49-F238E27FC236}">
                <a16:creationId xmlns:a16="http://schemas.microsoft.com/office/drawing/2014/main" id="{29B4664D-3E65-0245-377F-507649061FB3}"/>
              </a:ext>
            </a:extLst>
          </p:cNvPr>
          <p:cNvCxnSpPr>
            <a:cxnSpLocks/>
          </p:cNvCxnSpPr>
          <p:nvPr/>
        </p:nvCxnSpPr>
        <p:spPr>
          <a:xfrm flipH="1">
            <a:off x="2362483" y="5707287"/>
            <a:ext cx="42480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asellaDiTesto 23">
            <a:extLst>
              <a:ext uri="{FF2B5EF4-FFF2-40B4-BE49-F238E27FC236}">
                <a16:creationId xmlns:a16="http://schemas.microsoft.com/office/drawing/2014/main" id="{0D13DE12-2C8B-64D3-6422-9DDA93B16570}"/>
              </a:ext>
            </a:extLst>
          </p:cNvPr>
          <p:cNvSpPr txBox="1"/>
          <p:nvPr/>
        </p:nvSpPr>
        <p:spPr>
          <a:xfrm>
            <a:off x="2209205" y="5261616"/>
            <a:ext cx="44087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Aptos" panose="020B0004020202020204" pitchFamily="34" charset="0"/>
              </a:rPr>
              <a:t>Server’s response to authorized request</a:t>
            </a:r>
          </a:p>
        </p:txBody>
      </p:sp>
      <p:sp>
        <p:nvSpPr>
          <p:cNvPr id="22" name="Rettangolo 21">
            <a:extLst>
              <a:ext uri="{FF2B5EF4-FFF2-40B4-BE49-F238E27FC236}">
                <a16:creationId xmlns:a16="http://schemas.microsoft.com/office/drawing/2014/main" id="{53C8A598-D8DB-6A96-600E-22940FB2354A}"/>
              </a:ext>
            </a:extLst>
          </p:cNvPr>
          <p:cNvSpPr/>
          <p:nvPr/>
        </p:nvSpPr>
        <p:spPr>
          <a:xfrm>
            <a:off x="7559280" y="4367176"/>
            <a:ext cx="665137" cy="374016"/>
          </a:xfrm>
          <a:prstGeom prst="rect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b="1" dirty="0">
                <a:latin typeface="Aptos" panose="020B0004020202020204" pitchFamily="34" charset="0"/>
              </a:rPr>
              <a:t>h(·)</a:t>
            </a:r>
          </a:p>
        </p:txBody>
      </p:sp>
      <p:sp>
        <p:nvSpPr>
          <p:cNvPr id="26" name="CasellaDiTesto 25">
            <a:extLst>
              <a:ext uri="{FF2B5EF4-FFF2-40B4-BE49-F238E27FC236}">
                <a16:creationId xmlns:a16="http://schemas.microsoft.com/office/drawing/2014/main" id="{EF8CAC97-E4B0-5BC6-7B61-CF3CF7A87D83}"/>
              </a:ext>
            </a:extLst>
          </p:cNvPr>
          <p:cNvSpPr txBox="1"/>
          <p:nvPr/>
        </p:nvSpPr>
        <p:spPr>
          <a:xfrm>
            <a:off x="2710017" y="4570783"/>
            <a:ext cx="34863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Aptos" panose="020B0004020202020204" pitchFamily="34" charset="0"/>
              </a:rPr>
              <a:t>h(credentials, N)</a:t>
            </a:r>
          </a:p>
        </p:txBody>
      </p:sp>
      <p:sp>
        <p:nvSpPr>
          <p:cNvPr id="27" name="CasellaDiTesto 26">
            <a:extLst>
              <a:ext uri="{FF2B5EF4-FFF2-40B4-BE49-F238E27FC236}">
                <a16:creationId xmlns:a16="http://schemas.microsoft.com/office/drawing/2014/main" id="{8081ADE8-6800-A05D-E66B-D054C4A31315}"/>
              </a:ext>
            </a:extLst>
          </p:cNvPr>
          <p:cNvSpPr txBox="1"/>
          <p:nvPr/>
        </p:nvSpPr>
        <p:spPr>
          <a:xfrm>
            <a:off x="7015074" y="3796616"/>
            <a:ext cx="18042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Aptos" panose="020B0004020202020204" pitchFamily="34" charset="0"/>
              </a:rPr>
              <a:t>credentials, N</a:t>
            </a:r>
          </a:p>
        </p:txBody>
      </p:sp>
      <p:sp>
        <p:nvSpPr>
          <p:cNvPr id="28" name="CasellaDiTesto 27">
            <a:extLst>
              <a:ext uri="{FF2B5EF4-FFF2-40B4-BE49-F238E27FC236}">
                <a16:creationId xmlns:a16="http://schemas.microsoft.com/office/drawing/2014/main" id="{759E5611-B356-79C6-247E-A0E192CE143A}"/>
              </a:ext>
            </a:extLst>
          </p:cNvPr>
          <p:cNvSpPr txBox="1"/>
          <p:nvPr/>
        </p:nvSpPr>
        <p:spPr>
          <a:xfrm>
            <a:off x="8430057" y="4365490"/>
            <a:ext cx="20016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Aptos" panose="020B0004020202020204" pitchFamily="34" charset="0"/>
              </a:rPr>
              <a:t>h’(credentials, N)</a:t>
            </a:r>
          </a:p>
        </p:txBody>
      </p:sp>
      <p:cxnSp>
        <p:nvCxnSpPr>
          <p:cNvPr id="30" name="Connettore 2 29">
            <a:extLst>
              <a:ext uri="{FF2B5EF4-FFF2-40B4-BE49-F238E27FC236}">
                <a16:creationId xmlns:a16="http://schemas.microsoft.com/office/drawing/2014/main" id="{94D341DE-D702-6C5E-2831-76A8750E8905}"/>
              </a:ext>
            </a:extLst>
          </p:cNvPr>
          <p:cNvCxnSpPr>
            <a:cxnSpLocks/>
          </p:cNvCxnSpPr>
          <p:nvPr/>
        </p:nvCxnSpPr>
        <p:spPr>
          <a:xfrm>
            <a:off x="7891848" y="4128445"/>
            <a:ext cx="1" cy="2520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ttore 2 30">
            <a:extLst>
              <a:ext uri="{FF2B5EF4-FFF2-40B4-BE49-F238E27FC236}">
                <a16:creationId xmlns:a16="http://schemas.microsoft.com/office/drawing/2014/main" id="{43726129-0D8D-9610-73CF-C1EBD2314B52}"/>
              </a:ext>
            </a:extLst>
          </p:cNvPr>
          <p:cNvCxnSpPr>
            <a:cxnSpLocks/>
          </p:cNvCxnSpPr>
          <p:nvPr/>
        </p:nvCxnSpPr>
        <p:spPr>
          <a:xfrm flipV="1">
            <a:off x="8224417" y="4557879"/>
            <a:ext cx="309463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nettore 2 34">
            <a:extLst>
              <a:ext uri="{FF2B5EF4-FFF2-40B4-BE49-F238E27FC236}">
                <a16:creationId xmlns:a16="http://schemas.microsoft.com/office/drawing/2014/main" id="{0592EFE2-AF87-BA4D-0D14-B70942176D56}"/>
              </a:ext>
            </a:extLst>
          </p:cNvPr>
          <p:cNvCxnSpPr>
            <a:cxnSpLocks/>
          </p:cNvCxnSpPr>
          <p:nvPr/>
        </p:nvCxnSpPr>
        <p:spPr>
          <a:xfrm>
            <a:off x="9001220" y="5048053"/>
            <a:ext cx="463512" cy="27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ettangolo 36">
            <a:extLst>
              <a:ext uri="{FF2B5EF4-FFF2-40B4-BE49-F238E27FC236}">
                <a16:creationId xmlns:a16="http://schemas.microsoft.com/office/drawing/2014/main" id="{53CB6E11-07D8-CB07-9DA8-E15CAAEDC52E}"/>
              </a:ext>
            </a:extLst>
          </p:cNvPr>
          <p:cNvSpPr/>
          <p:nvPr/>
        </p:nvSpPr>
        <p:spPr>
          <a:xfrm>
            <a:off x="9510737" y="4849461"/>
            <a:ext cx="2164879" cy="374016"/>
          </a:xfrm>
          <a:prstGeom prst="rect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b="1" dirty="0">
                <a:latin typeface="Aptos" panose="020B0004020202020204" pitchFamily="34" charset="0"/>
              </a:rPr>
              <a:t>Digest </a:t>
            </a:r>
            <a:r>
              <a:rPr lang="it-IT" b="1" dirty="0" err="1">
                <a:latin typeface="Aptos" panose="020B0004020202020204" pitchFamily="34" charset="0"/>
              </a:rPr>
              <a:t>comparison</a:t>
            </a:r>
            <a:endParaRPr lang="it-IT" b="1" dirty="0">
              <a:latin typeface="Aptos" panose="020B0004020202020204" pitchFamily="34" charset="0"/>
            </a:endParaRPr>
          </a:p>
        </p:txBody>
      </p:sp>
      <p:cxnSp>
        <p:nvCxnSpPr>
          <p:cNvPr id="39" name="Connettore a gomito 38">
            <a:extLst>
              <a:ext uri="{FF2B5EF4-FFF2-40B4-BE49-F238E27FC236}">
                <a16:creationId xmlns:a16="http://schemas.microsoft.com/office/drawing/2014/main" id="{7520DB77-C77B-84A2-46B4-E2D31A9844D0}"/>
              </a:ext>
            </a:extLst>
          </p:cNvPr>
          <p:cNvCxnSpPr>
            <a:cxnSpLocks/>
            <a:stCxn id="28" idx="3"/>
            <a:endCxn id="37" idx="0"/>
          </p:cNvCxnSpPr>
          <p:nvPr/>
        </p:nvCxnSpPr>
        <p:spPr>
          <a:xfrm>
            <a:off x="10431715" y="4550156"/>
            <a:ext cx="161462" cy="299305"/>
          </a:xfrm>
          <a:prstGeom prst="bent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ttore 2 10">
            <a:extLst>
              <a:ext uri="{FF2B5EF4-FFF2-40B4-BE49-F238E27FC236}">
                <a16:creationId xmlns:a16="http://schemas.microsoft.com/office/drawing/2014/main" id="{C701DA84-7F9A-688E-2FAE-0A72E7CEBD9B}"/>
              </a:ext>
            </a:extLst>
          </p:cNvPr>
          <p:cNvCxnSpPr>
            <a:cxnSpLocks/>
          </p:cNvCxnSpPr>
          <p:nvPr/>
        </p:nvCxnSpPr>
        <p:spPr>
          <a:xfrm flipV="1">
            <a:off x="7368900" y="3047802"/>
            <a:ext cx="0" cy="468452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ttore 2 12">
            <a:extLst>
              <a:ext uri="{FF2B5EF4-FFF2-40B4-BE49-F238E27FC236}">
                <a16:creationId xmlns:a16="http://schemas.microsoft.com/office/drawing/2014/main" id="{443EEDAA-42CB-9CE9-5D0F-73F6F2F168E9}"/>
              </a:ext>
            </a:extLst>
          </p:cNvPr>
          <p:cNvCxnSpPr>
            <a:cxnSpLocks/>
          </p:cNvCxnSpPr>
          <p:nvPr/>
        </p:nvCxnSpPr>
        <p:spPr>
          <a:xfrm>
            <a:off x="7806977" y="3059334"/>
            <a:ext cx="0" cy="760023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Connettore 2 62">
            <a:extLst>
              <a:ext uri="{FF2B5EF4-FFF2-40B4-BE49-F238E27FC236}">
                <a16:creationId xmlns:a16="http://schemas.microsoft.com/office/drawing/2014/main" id="{CA443672-9B31-632F-68F9-2C33A1CEF90D}"/>
              </a:ext>
            </a:extLst>
          </p:cNvPr>
          <p:cNvCxnSpPr>
            <a:cxnSpLocks/>
          </p:cNvCxnSpPr>
          <p:nvPr/>
        </p:nvCxnSpPr>
        <p:spPr>
          <a:xfrm>
            <a:off x="6668289" y="5031717"/>
            <a:ext cx="576000" cy="274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Connettore a gomito 78">
            <a:extLst>
              <a:ext uri="{FF2B5EF4-FFF2-40B4-BE49-F238E27FC236}">
                <a16:creationId xmlns:a16="http://schemas.microsoft.com/office/drawing/2014/main" id="{D822FBD2-AD28-D043-4E77-B64FFF108F76}"/>
              </a:ext>
            </a:extLst>
          </p:cNvPr>
          <p:cNvCxnSpPr/>
          <p:nvPr/>
        </p:nvCxnSpPr>
        <p:spPr>
          <a:xfrm rot="10800000" flipV="1">
            <a:off x="6635856" y="5252731"/>
            <a:ext cx="4017188" cy="441536"/>
          </a:xfrm>
          <a:prstGeom prst="bentConnector3">
            <a:avLst>
              <a:gd name="adj1" fmla="val -189"/>
            </a:avLst>
          </a:prstGeom>
          <a:ln w="28575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Rettangolo 80">
            <a:extLst>
              <a:ext uri="{FF2B5EF4-FFF2-40B4-BE49-F238E27FC236}">
                <a16:creationId xmlns:a16="http://schemas.microsoft.com/office/drawing/2014/main" id="{3389E7AA-83F2-6AEC-E1EC-C672826DA5C3}"/>
              </a:ext>
            </a:extLst>
          </p:cNvPr>
          <p:cNvSpPr/>
          <p:nvPr/>
        </p:nvSpPr>
        <p:spPr>
          <a:xfrm>
            <a:off x="1106156" y="4003714"/>
            <a:ext cx="665137" cy="374016"/>
          </a:xfrm>
          <a:prstGeom prst="rect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b="1" dirty="0">
                <a:latin typeface="Aptos" panose="020B0004020202020204" pitchFamily="34" charset="0"/>
              </a:rPr>
              <a:t>h(·)</a:t>
            </a:r>
          </a:p>
        </p:txBody>
      </p:sp>
      <p:sp>
        <p:nvSpPr>
          <p:cNvPr id="82" name="CasellaDiTesto 81">
            <a:extLst>
              <a:ext uri="{FF2B5EF4-FFF2-40B4-BE49-F238E27FC236}">
                <a16:creationId xmlns:a16="http://schemas.microsoft.com/office/drawing/2014/main" id="{66E6A4C1-83E8-ED3D-1EC2-4BC880B2A278}"/>
              </a:ext>
            </a:extLst>
          </p:cNvPr>
          <p:cNvSpPr txBox="1"/>
          <p:nvPr/>
        </p:nvSpPr>
        <p:spPr>
          <a:xfrm>
            <a:off x="561950" y="3433154"/>
            <a:ext cx="18042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Aptos" panose="020B0004020202020204" pitchFamily="34" charset="0"/>
              </a:rPr>
              <a:t>credentials, N</a:t>
            </a:r>
          </a:p>
        </p:txBody>
      </p:sp>
      <p:cxnSp>
        <p:nvCxnSpPr>
          <p:cNvPr id="83" name="Connettore 2 82">
            <a:extLst>
              <a:ext uri="{FF2B5EF4-FFF2-40B4-BE49-F238E27FC236}">
                <a16:creationId xmlns:a16="http://schemas.microsoft.com/office/drawing/2014/main" id="{2A888E8F-B87F-950C-FF5B-53DD3D3DE621}"/>
              </a:ext>
            </a:extLst>
          </p:cNvPr>
          <p:cNvCxnSpPr>
            <a:cxnSpLocks/>
          </p:cNvCxnSpPr>
          <p:nvPr/>
        </p:nvCxnSpPr>
        <p:spPr>
          <a:xfrm>
            <a:off x="1438724" y="3764983"/>
            <a:ext cx="1" cy="2520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Connettore a gomito 83">
            <a:extLst>
              <a:ext uri="{FF2B5EF4-FFF2-40B4-BE49-F238E27FC236}">
                <a16:creationId xmlns:a16="http://schemas.microsoft.com/office/drawing/2014/main" id="{6E695250-2E1B-11B1-64BF-82BF541FE690}"/>
              </a:ext>
            </a:extLst>
          </p:cNvPr>
          <p:cNvCxnSpPr>
            <a:cxnSpLocks/>
            <a:stCxn id="81" idx="2"/>
          </p:cNvCxnSpPr>
          <p:nvPr/>
        </p:nvCxnSpPr>
        <p:spPr>
          <a:xfrm rot="16200000" flipH="1">
            <a:off x="1505566" y="4310888"/>
            <a:ext cx="653989" cy="787671"/>
          </a:xfrm>
          <a:prstGeom prst="bent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ttore 2 28">
            <a:extLst>
              <a:ext uri="{FF2B5EF4-FFF2-40B4-BE49-F238E27FC236}">
                <a16:creationId xmlns:a16="http://schemas.microsoft.com/office/drawing/2014/main" id="{D0F74CC3-48B2-478C-A122-9AE68049460D}"/>
              </a:ext>
            </a:extLst>
          </p:cNvPr>
          <p:cNvCxnSpPr>
            <a:cxnSpLocks/>
          </p:cNvCxnSpPr>
          <p:nvPr/>
        </p:nvCxnSpPr>
        <p:spPr>
          <a:xfrm flipH="1">
            <a:off x="8224417" y="3056586"/>
            <a:ext cx="0" cy="468452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66591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8" grpId="0"/>
      <p:bldP spid="19" grpId="0"/>
      <p:bldP spid="21" grpId="0"/>
      <p:bldP spid="24" grpId="0"/>
      <p:bldP spid="22" grpId="0" animBg="1"/>
      <p:bldP spid="26" grpId="0"/>
      <p:bldP spid="27" grpId="0"/>
      <p:bldP spid="28" grpId="0"/>
      <p:bldP spid="37" grpId="0" animBg="1"/>
      <p:bldP spid="81" grpId="0" animBg="1"/>
      <p:bldP spid="8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3D20852-2F0B-454F-9122-43538DC4FC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problem of delegated authorization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5E1B4D76-AAF3-894D-A36A-0B05531C50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2" y="1361167"/>
            <a:ext cx="11368314" cy="5220503"/>
          </a:xfrm>
        </p:spPr>
        <p:txBody>
          <a:bodyPr>
            <a:normAutofit/>
          </a:bodyPr>
          <a:lstStyle/>
          <a:p>
            <a:r>
              <a:rPr lang="en-US" dirty="0"/>
              <a:t>A third-party app wants to access some resources of another service provider, whose access is restricted by authorization.</a:t>
            </a:r>
          </a:p>
          <a:p>
            <a:pPr marL="914400" lvl="2" indent="0">
              <a:buNone/>
            </a:pPr>
            <a:r>
              <a:rPr lang="en-US" sz="2400" dirty="0"/>
              <a:t>The authorization must be delegated to the third-party app.</a:t>
            </a:r>
          </a:p>
          <a:p>
            <a:endParaRPr lang="en-US" dirty="0"/>
          </a:p>
          <a:p>
            <a:r>
              <a:rPr lang="en-US" dirty="0"/>
              <a:t>Today delegated authorization is very common: </a:t>
            </a:r>
          </a:p>
          <a:p>
            <a:pPr lvl="1"/>
            <a:r>
              <a:rPr lang="en-US" sz="2400" dirty="0"/>
              <a:t>Your Strava app may synchronize your Fitbit data </a:t>
            </a:r>
          </a:p>
          <a:p>
            <a:pPr marL="457200" lvl="1" indent="0">
              <a:buNone/>
            </a:pPr>
            <a:r>
              <a:rPr lang="en-US" sz="2400" dirty="0">
                <a:sym typeface="Wingdings" panose="05000000000000000000" pitchFamily="2" charset="2"/>
              </a:rPr>
              <a:t>	 Fitbit authorization is delegated to Strava</a:t>
            </a:r>
          </a:p>
          <a:p>
            <a:pPr lvl="1"/>
            <a:r>
              <a:rPr lang="en-US" sz="2400" dirty="0"/>
              <a:t>You may share your preferred song in Spotify on your Facebook profile </a:t>
            </a:r>
          </a:p>
          <a:p>
            <a:pPr marL="914400" lvl="2" indent="0">
              <a:buNone/>
            </a:pPr>
            <a:r>
              <a:rPr lang="en-US" sz="2400" dirty="0">
                <a:sym typeface="Wingdings" panose="05000000000000000000" pitchFamily="2" charset="2"/>
              </a:rPr>
              <a:t> Facebook authorization is delegated to Spotify</a:t>
            </a:r>
            <a:endParaRPr lang="en-US" sz="2400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How can a third-party app perform delegated authorization? 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5C9D0F17-AFB0-8940-94A8-58015333BB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6</a:t>
            </a:fld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3A91F81-05DB-4AA3-CD46-F14FF41D7979}"/>
              </a:ext>
            </a:extLst>
          </p:cNvPr>
          <p:cNvSpPr/>
          <p:nvPr/>
        </p:nvSpPr>
        <p:spPr>
          <a:xfrm>
            <a:off x="164706" y="353508"/>
            <a:ext cx="1913992" cy="477078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Aptos" panose="020B0004020202020204" pitchFamily="34" charset="0"/>
              </a:rPr>
              <a:t>BONUS</a:t>
            </a:r>
          </a:p>
        </p:txBody>
      </p:sp>
    </p:spTree>
    <p:extLst>
      <p:ext uri="{BB962C8B-B14F-4D97-AF65-F5344CB8AC3E}">
        <p14:creationId xmlns:p14="http://schemas.microsoft.com/office/powerpoint/2010/main" val="14409047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ECD3E86-C0E5-2447-BF36-1F0F92C052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incorrect solution: sharing login credentials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878B3E47-0F22-9444-AACA-9351B892E6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7</a:t>
            </a:fld>
            <a:endParaRPr lang="en-GB"/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021CFC23-D22B-4E40-8E41-B9236C460A0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207" b="5925"/>
          <a:stretch/>
        </p:blipFill>
        <p:spPr>
          <a:xfrm>
            <a:off x="554420" y="1270059"/>
            <a:ext cx="11083160" cy="542601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612E3008-9F33-43B8-CC16-BD702DD8780C}"/>
              </a:ext>
            </a:extLst>
          </p:cNvPr>
          <p:cNvSpPr/>
          <p:nvPr/>
        </p:nvSpPr>
        <p:spPr>
          <a:xfrm>
            <a:off x="164706" y="353508"/>
            <a:ext cx="1149744" cy="477078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Aptos" panose="020B0004020202020204" pitchFamily="34" charset="0"/>
              </a:rPr>
              <a:t>BONUS</a:t>
            </a:r>
          </a:p>
        </p:txBody>
      </p:sp>
    </p:spTree>
    <p:extLst>
      <p:ext uri="{BB962C8B-B14F-4D97-AF65-F5344CB8AC3E}">
        <p14:creationId xmlns:p14="http://schemas.microsoft.com/office/powerpoint/2010/main" val="40073211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C6EEBDA-D940-694F-B9CB-3A3DC5E7A5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OAuth</a:t>
            </a:r>
            <a:r>
              <a:rPr lang="it-IT" dirty="0"/>
              <a:t> </a:t>
            </a:r>
            <a:r>
              <a:rPr lang="it-IT" dirty="0" err="1"/>
              <a:t>protocol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FB8408D-98C4-C342-BF8A-2EF822DCEA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2" y="1361167"/>
            <a:ext cx="11368314" cy="5210455"/>
          </a:xfrm>
        </p:spPr>
        <p:txBody>
          <a:bodyPr>
            <a:normAutofit/>
          </a:bodyPr>
          <a:lstStyle/>
          <a:p>
            <a:r>
              <a:rPr lang="en-GB" b="1" dirty="0"/>
              <a:t>OAuth (Open Authorization): </a:t>
            </a:r>
            <a:r>
              <a:rPr lang="en-GB" dirty="0"/>
              <a:t>a protocol for delegated authorization that does not require to share credentials with the third-party app.</a:t>
            </a:r>
          </a:p>
          <a:p>
            <a:r>
              <a:rPr lang="en-GB" dirty="0"/>
              <a:t>2007: First version (OAuth 1.0)</a:t>
            </a:r>
          </a:p>
          <a:p>
            <a:r>
              <a:rPr lang="en-GB" dirty="0"/>
              <a:t>2012: Second version (OAuth 2.0)</a:t>
            </a:r>
          </a:p>
          <a:p>
            <a:r>
              <a:rPr lang="en-GB" dirty="0"/>
              <a:t>Main co-author is Blaine Cook, one of the developers of Twitter.</a:t>
            </a:r>
          </a:p>
          <a:p>
            <a:r>
              <a:rPr lang="en-GB" dirty="0"/>
              <a:t>Today OAuth is commonly used by companies such as Twitter, Amazon, Google, Facebook and Microsoft to permit the users to share information about their accounts with third-party applications or websites.</a:t>
            </a:r>
          </a:p>
          <a:p>
            <a:endParaRPr lang="en-GB" dirty="0"/>
          </a:p>
          <a:p>
            <a:pPr marL="1257300" lvl="3" indent="0">
              <a:buNone/>
            </a:pPr>
            <a:r>
              <a:rPr lang="en-GB" sz="2400" u="sng" dirty="0"/>
              <a:t>Why do we study OAuth?</a:t>
            </a:r>
            <a:r>
              <a:rPr lang="en-GB" sz="2400" dirty="0"/>
              <a:t> </a:t>
            </a:r>
          </a:p>
          <a:p>
            <a:pPr marL="1257300" lvl="3" indent="0">
              <a:buNone/>
            </a:pPr>
            <a:r>
              <a:rPr lang="en-GB" sz="2400" dirty="0"/>
              <a:t>If you develop an app that integrates data from third-party servers that require authorization, you may need to use OAuth to request resources.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F2D5D84E-9B3A-464E-8573-32F27C2F0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8</a:t>
            </a:fld>
            <a:endParaRPr lang="en-GB" dirty="0"/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FB0BDB38-2241-4435-40A3-CF23B5F56B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7368" y="4972908"/>
            <a:ext cx="1218029" cy="1218029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4E293D2D-D7E8-294D-E152-AD514A25AF46}"/>
              </a:ext>
            </a:extLst>
          </p:cNvPr>
          <p:cNvSpPr/>
          <p:nvPr/>
        </p:nvSpPr>
        <p:spPr>
          <a:xfrm>
            <a:off x="164706" y="353508"/>
            <a:ext cx="1913992" cy="477078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Aptos" panose="020B0004020202020204" pitchFamily="34" charset="0"/>
              </a:rPr>
              <a:t>BONUS</a:t>
            </a:r>
          </a:p>
        </p:txBody>
      </p:sp>
    </p:spTree>
    <p:extLst>
      <p:ext uri="{BB962C8B-B14F-4D97-AF65-F5344CB8AC3E}">
        <p14:creationId xmlns:p14="http://schemas.microsoft.com/office/powerpoint/2010/main" val="42386878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OAuth</a:t>
            </a:r>
            <a:r>
              <a:rPr lang="it-IT" dirty="0"/>
              <a:t> </a:t>
            </a:r>
            <a:r>
              <a:rPr lang="it-IT" dirty="0" err="1"/>
              <a:t>roles</a:t>
            </a:r>
            <a:endParaRPr lang="en-GB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28172" y="1361167"/>
            <a:ext cx="11368314" cy="4192689"/>
          </a:xfrm>
        </p:spPr>
        <p:txBody>
          <a:bodyPr/>
          <a:lstStyle/>
          <a:p>
            <a:r>
              <a:rPr lang="en-GB" b="1" dirty="0"/>
              <a:t>Resource owner</a:t>
            </a:r>
            <a:r>
              <a:rPr lang="en-GB" dirty="0"/>
              <a:t>: The </a:t>
            </a:r>
            <a:r>
              <a:rPr lang="en-GB" i="1" dirty="0"/>
              <a:t>user</a:t>
            </a:r>
            <a:r>
              <a:rPr lang="en-GB" dirty="0"/>
              <a:t> who authorizes a third-party </a:t>
            </a:r>
            <a:r>
              <a:rPr lang="en-GB" i="1" dirty="0"/>
              <a:t>application</a:t>
            </a:r>
            <a:r>
              <a:rPr lang="en-GB" dirty="0"/>
              <a:t> to access their data. </a:t>
            </a:r>
          </a:p>
          <a:p>
            <a:pPr lvl="1"/>
            <a:r>
              <a:rPr lang="en-GB" sz="2400" dirty="0"/>
              <a:t>The application’s access to the user’s data is </a:t>
            </a:r>
            <a:r>
              <a:rPr lang="en-GB" sz="2400" u="sng" dirty="0"/>
              <a:t>limited to the scope</a:t>
            </a:r>
            <a:r>
              <a:rPr lang="en-GB" sz="2400" dirty="0"/>
              <a:t> of the authorization granted (e.g., read or write access).</a:t>
            </a:r>
            <a:endParaRPr lang="en-GB" dirty="0"/>
          </a:p>
          <a:p>
            <a:r>
              <a:rPr lang="en-GB" b="1" dirty="0"/>
              <a:t>Client</a:t>
            </a:r>
            <a:r>
              <a:rPr lang="en-GB" dirty="0"/>
              <a:t>: The third-party </a:t>
            </a:r>
            <a:r>
              <a:rPr lang="en-GB" i="1" dirty="0"/>
              <a:t>application</a:t>
            </a:r>
            <a:r>
              <a:rPr lang="en-GB" dirty="0"/>
              <a:t> that wants to access the </a:t>
            </a:r>
            <a:r>
              <a:rPr lang="en-GB" i="1" dirty="0"/>
              <a:t>user</a:t>
            </a:r>
            <a:r>
              <a:rPr lang="en-GB" dirty="0"/>
              <a:t>’s account. </a:t>
            </a:r>
          </a:p>
          <a:p>
            <a:pPr lvl="1"/>
            <a:r>
              <a:rPr lang="en-GB" sz="2400" dirty="0"/>
              <a:t>The client must be authorized by the user.</a:t>
            </a:r>
          </a:p>
          <a:p>
            <a:pPr lvl="1"/>
            <a:r>
              <a:rPr lang="en-GB" sz="2400" dirty="0"/>
              <a:t>The authorization must be validated by an API of the authorization server.</a:t>
            </a:r>
          </a:p>
          <a:p>
            <a:r>
              <a:rPr lang="en-GB" b="1" dirty="0"/>
              <a:t>Resource server</a:t>
            </a:r>
            <a:r>
              <a:rPr lang="en-GB" dirty="0"/>
              <a:t>: The server hosting the protected user data.</a:t>
            </a:r>
          </a:p>
          <a:p>
            <a:r>
              <a:rPr lang="en-GB" b="1" dirty="0"/>
              <a:t>Authorization server</a:t>
            </a:r>
            <a:r>
              <a:rPr lang="en-GB" dirty="0"/>
              <a:t>: It verifies the identity of the </a:t>
            </a:r>
            <a:r>
              <a:rPr lang="en-GB" i="1" dirty="0"/>
              <a:t>user</a:t>
            </a:r>
            <a:r>
              <a:rPr lang="en-GB" dirty="0"/>
              <a:t> and issues access tokens to the third-party </a:t>
            </a:r>
            <a:r>
              <a:rPr lang="en-GB" i="1" dirty="0"/>
              <a:t>application</a:t>
            </a:r>
            <a:r>
              <a:rPr lang="en-GB" dirty="0"/>
              <a:t>.</a:t>
            </a:r>
          </a:p>
          <a:p>
            <a:endParaRPr lang="en-GB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9</a:t>
            </a:fld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842139E-FB2B-CAC8-EE77-A3D9B1D5BC16}"/>
              </a:ext>
            </a:extLst>
          </p:cNvPr>
          <p:cNvSpPr/>
          <p:nvPr/>
        </p:nvSpPr>
        <p:spPr>
          <a:xfrm>
            <a:off x="164706" y="353508"/>
            <a:ext cx="1913992" cy="477078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Aptos" panose="020B0004020202020204" pitchFamily="34" charset="0"/>
              </a:rPr>
              <a:t>BONUS</a:t>
            </a:r>
          </a:p>
        </p:txBody>
      </p:sp>
    </p:spTree>
    <p:extLst>
      <p:ext uri="{BB962C8B-B14F-4D97-AF65-F5344CB8AC3E}">
        <p14:creationId xmlns:p14="http://schemas.microsoft.com/office/powerpoint/2010/main" val="4756047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OAuth</a:t>
            </a:r>
            <a:r>
              <a:rPr lang="it-IT" dirty="0"/>
              <a:t> </a:t>
            </a:r>
            <a:r>
              <a:rPr lang="it-IT" dirty="0" err="1"/>
              <a:t>abstract</a:t>
            </a:r>
            <a:r>
              <a:rPr lang="it-IT" dirty="0"/>
              <a:t> model</a:t>
            </a:r>
            <a:endParaRPr lang="en-GB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10</a:t>
            </a:fld>
            <a:endParaRPr lang="en-GB"/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26EA332D-7570-B544-A6E7-C4F09425C24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520" r="7239" b="5614"/>
          <a:stretch/>
        </p:blipFill>
        <p:spPr>
          <a:xfrm>
            <a:off x="1648917" y="1831613"/>
            <a:ext cx="8346349" cy="4927339"/>
          </a:xfrm>
          <a:prstGeom prst="rect">
            <a:avLst/>
          </a:prstGeom>
        </p:spPr>
      </p:pic>
      <p:sp>
        <p:nvSpPr>
          <p:cNvPr id="7" name="Segnaposto contenuto 6">
            <a:extLst>
              <a:ext uri="{FF2B5EF4-FFF2-40B4-BE49-F238E27FC236}">
                <a16:creationId xmlns:a16="http://schemas.microsoft.com/office/drawing/2014/main" id="{29AE0F16-E814-B95A-C736-3BBECBA2B0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2" y="1361167"/>
            <a:ext cx="11368314" cy="662505"/>
          </a:xfrm>
        </p:spPr>
        <p:txBody>
          <a:bodyPr/>
          <a:lstStyle/>
          <a:p>
            <a:r>
              <a:rPr lang="it-IT" dirty="0" err="1"/>
              <a:t>Example</a:t>
            </a:r>
            <a:r>
              <a:rPr lang="it-IT" dirty="0"/>
              <a:t>: a printing service app </a:t>
            </a:r>
            <a:r>
              <a:rPr lang="it-IT" dirty="0" err="1"/>
              <a:t>wants</a:t>
            </a:r>
            <a:r>
              <a:rPr lang="it-IT" dirty="0"/>
              <a:t> to access Google drive </a:t>
            </a:r>
            <a:r>
              <a:rPr lang="it-IT" dirty="0" err="1"/>
              <a:t>photos</a:t>
            </a:r>
            <a:endParaRPr lang="it-IT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F20BEE9-A324-ED9D-325B-4217B670B8D1}"/>
              </a:ext>
            </a:extLst>
          </p:cNvPr>
          <p:cNvSpPr/>
          <p:nvPr/>
        </p:nvSpPr>
        <p:spPr>
          <a:xfrm>
            <a:off x="164706" y="353508"/>
            <a:ext cx="1913992" cy="477078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Aptos" panose="020B0004020202020204" pitchFamily="34" charset="0"/>
              </a:rPr>
              <a:t>BONUS</a:t>
            </a:r>
          </a:p>
        </p:txBody>
      </p:sp>
    </p:spTree>
    <p:extLst>
      <p:ext uri="{BB962C8B-B14F-4D97-AF65-F5344CB8AC3E}">
        <p14:creationId xmlns:p14="http://schemas.microsoft.com/office/powerpoint/2010/main" val="35143213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Application </a:t>
            </a:r>
            <a:r>
              <a:rPr lang="it-IT" dirty="0" err="1"/>
              <a:t>registration</a:t>
            </a:r>
            <a:endParaRPr lang="en-GB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28172" y="1361167"/>
            <a:ext cx="11368314" cy="5281458"/>
          </a:xfrm>
        </p:spPr>
        <p:txBody>
          <a:bodyPr>
            <a:normAutofit/>
          </a:bodyPr>
          <a:lstStyle/>
          <a:p>
            <a:r>
              <a:rPr lang="en-GB" dirty="0"/>
              <a:t>The third-party app (e.g. the printing app) must be registered with the service provider (e.g. Google). </a:t>
            </a:r>
          </a:p>
          <a:p>
            <a:r>
              <a:rPr lang="en-GB" dirty="0"/>
              <a:t>The third-party app’s developer must complete a </a:t>
            </a:r>
            <a:r>
              <a:rPr lang="en-GB" b="1" dirty="0"/>
              <a:t>registration form</a:t>
            </a:r>
            <a:r>
              <a:rPr lang="en-GB" dirty="0"/>
              <a:t> (usually</a:t>
            </a:r>
            <a:r>
              <a:rPr lang="en-GB" b="1" dirty="0"/>
              <a:t> </a:t>
            </a:r>
            <a:r>
              <a:rPr lang="en-GB" dirty="0"/>
              <a:t>in the developer page of the service’s website) providing details about the app.</a:t>
            </a:r>
          </a:p>
          <a:p>
            <a:pPr marL="1257300" lvl="3" indent="0">
              <a:buNone/>
            </a:pPr>
            <a:endParaRPr lang="en-GB" sz="2400" b="1" dirty="0"/>
          </a:p>
          <a:p>
            <a:pPr marL="1257300" lvl="3" indent="0">
              <a:buNone/>
            </a:pPr>
            <a:r>
              <a:rPr lang="en-GB" sz="2400" b="1" dirty="0"/>
              <a:t>Redirect URI </a:t>
            </a:r>
            <a:r>
              <a:rPr lang="en-GB" sz="2400" dirty="0"/>
              <a:t>(or </a:t>
            </a:r>
            <a:r>
              <a:rPr lang="en-GB" sz="2400" b="1" dirty="0" err="1"/>
              <a:t>Callback</a:t>
            </a:r>
            <a:r>
              <a:rPr lang="en-GB" sz="2400" b="1" dirty="0"/>
              <a:t> URL</a:t>
            </a:r>
            <a:r>
              <a:rPr lang="en-GB" sz="2400" dirty="0"/>
              <a:t>): where the service will redirect the user after they authorize (or deny) the third-party app </a:t>
            </a:r>
            <a:r>
              <a:rPr lang="en-GB" sz="2400" dirty="0">
                <a:sym typeface="Wingdings" panose="05000000000000000000" pitchFamily="2" charset="2"/>
              </a:rPr>
              <a:t></a:t>
            </a:r>
            <a:r>
              <a:rPr lang="en-GB" sz="2400" dirty="0"/>
              <a:t> the part of the third-party app that handles authorization codes and access tokens.</a:t>
            </a:r>
          </a:p>
          <a:p>
            <a:endParaRPr lang="en-GB" dirty="0"/>
          </a:p>
          <a:p>
            <a:r>
              <a:rPr lang="en-GB" dirty="0"/>
              <a:t>Once the third-party app is registered, the service issues client credentials:</a:t>
            </a:r>
          </a:p>
          <a:p>
            <a:pPr lvl="1"/>
            <a:r>
              <a:rPr lang="en-GB" sz="2400" b="1" dirty="0"/>
              <a:t>Client ID</a:t>
            </a:r>
            <a:r>
              <a:rPr lang="en-GB" sz="2400" dirty="0"/>
              <a:t>: a public string used by the service to identify the client.</a:t>
            </a:r>
          </a:p>
          <a:p>
            <a:pPr lvl="1"/>
            <a:r>
              <a:rPr lang="en-GB" sz="2400" b="1" dirty="0"/>
              <a:t>Client secret</a:t>
            </a:r>
            <a:r>
              <a:rPr lang="en-GB" sz="2400" dirty="0"/>
              <a:t>: a private password used to authenticate the identity of the client when the app requests to access a user’s data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11</a:t>
            </a:fld>
            <a:endParaRPr lang="en-GB"/>
          </a:p>
        </p:txBody>
      </p:sp>
      <p:sp>
        <p:nvSpPr>
          <p:cNvPr id="5" name="Freccia curva 4">
            <a:extLst>
              <a:ext uri="{FF2B5EF4-FFF2-40B4-BE49-F238E27FC236}">
                <a16:creationId xmlns:a16="http://schemas.microsoft.com/office/drawing/2014/main" id="{9B58C75B-6D7B-F126-955E-8A65ACD64551}"/>
              </a:ext>
            </a:extLst>
          </p:cNvPr>
          <p:cNvSpPr/>
          <p:nvPr/>
        </p:nvSpPr>
        <p:spPr>
          <a:xfrm rot="10800000" flipH="1">
            <a:off x="1011836" y="2911839"/>
            <a:ext cx="667062" cy="1034322"/>
          </a:xfrm>
          <a:prstGeom prst="bentArrow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AD76DE1-7EE8-6DB3-EA97-3DEC7022F037}"/>
              </a:ext>
            </a:extLst>
          </p:cNvPr>
          <p:cNvSpPr/>
          <p:nvPr/>
        </p:nvSpPr>
        <p:spPr>
          <a:xfrm>
            <a:off x="164706" y="353508"/>
            <a:ext cx="1913992" cy="477078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Aptos" panose="020B0004020202020204" pitchFamily="34" charset="0"/>
              </a:rPr>
              <a:t>BONUS</a:t>
            </a:r>
          </a:p>
        </p:txBody>
      </p:sp>
    </p:spTree>
    <p:extLst>
      <p:ext uri="{BB962C8B-B14F-4D97-AF65-F5344CB8AC3E}">
        <p14:creationId xmlns:p14="http://schemas.microsoft.com/office/powerpoint/2010/main" val="19378138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dirty="0" err="1"/>
              <a:t>Example</a:t>
            </a:r>
            <a:r>
              <a:rPr lang="it-IT" dirty="0"/>
              <a:t> of </a:t>
            </a:r>
            <a:r>
              <a:rPr lang="it-IT" dirty="0" err="1"/>
              <a:t>delegated</a:t>
            </a:r>
            <a:r>
              <a:rPr lang="it-IT" dirty="0"/>
              <a:t> authentication with </a:t>
            </a:r>
            <a:r>
              <a:rPr lang="it-IT" dirty="0" err="1"/>
              <a:t>OAuth</a:t>
            </a:r>
            <a:endParaRPr lang="en-GB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12</a:t>
            </a:fld>
            <a:endParaRPr lang="en-GB"/>
          </a:p>
        </p:txBody>
      </p:sp>
      <p:sp>
        <p:nvSpPr>
          <p:cNvPr id="16" name="Rettangolo 15"/>
          <p:cNvSpPr/>
          <p:nvPr/>
        </p:nvSpPr>
        <p:spPr>
          <a:xfrm>
            <a:off x="358165" y="1234127"/>
            <a:ext cx="11754852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it-IT" sz="2200" b="1" dirty="0" err="1">
                <a:latin typeface="Aptos" panose="020B0004020202020204" pitchFamily="34" charset="0"/>
              </a:rPr>
              <a:t>Example</a:t>
            </a:r>
            <a:r>
              <a:rPr lang="it-IT" sz="2200" dirty="0">
                <a:latin typeface="Aptos" panose="020B0004020202020204" pitchFamily="34" charset="0"/>
              </a:rPr>
              <a:t>: The app yelp.com </a:t>
            </a:r>
            <a:r>
              <a:rPr lang="it-IT" sz="2200" dirty="0" err="1">
                <a:latin typeface="Aptos" panose="020B0004020202020204" pitchFamily="34" charset="0"/>
              </a:rPr>
              <a:t>wants</a:t>
            </a:r>
            <a:r>
              <a:rPr lang="it-IT" sz="2200" dirty="0">
                <a:latin typeface="Aptos" panose="020B0004020202020204" pitchFamily="34" charset="0"/>
              </a:rPr>
              <a:t> to </a:t>
            </a:r>
            <a:r>
              <a:rPr lang="it-IT" sz="2200" dirty="0" err="1">
                <a:latin typeface="Aptos" panose="020B0004020202020204" pitchFamily="34" charset="0"/>
              </a:rPr>
              <a:t>get</a:t>
            </a:r>
            <a:r>
              <a:rPr lang="it-IT" sz="2200" dirty="0">
                <a:latin typeface="Aptos" panose="020B0004020202020204" pitchFamily="34" charset="0"/>
              </a:rPr>
              <a:t> access to a </a:t>
            </a:r>
            <a:r>
              <a:rPr lang="it-IT" sz="2200" dirty="0" err="1">
                <a:latin typeface="Aptos" panose="020B0004020202020204" pitchFamily="34" charset="0"/>
              </a:rPr>
              <a:t>user’s</a:t>
            </a:r>
            <a:r>
              <a:rPr lang="it-IT" sz="2200" dirty="0">
                <a:latin typeface="Aptos" panose="020B0004020202020204" pitchFamily="34" charset="0"/>
              </a:rPr>
              <a:t> Google account </a:t>
            </a:r>
            <a:r>
              <a:rPr lang="it-IT" sz="2200" dirty="0" err="1">
                <a:latin typeface="Aptos" panose="020B0004020202020204" pitchFamily="34" charset="0"/>
              </a:rPr>
              <a:t>profile</a:t>
            </a:r>
            <a:r>
              <a:rPr lang="it-IT" sz="2200" dirty="0">
                <a:latin typeface="Aptos" panose="020B0004020202020204" pitchFamily="34" charset="0"/>
              </a:rPr>
              <a:t> </a:t>
            </a:r>
            <a:r>
              <a:rPr lang="it-IT" sz="2200" dirty="0" err="1">
                <a:latin typeface="Aptos" panose="020B0004020202020204" pitchFamily="34" charset="0"/>
              </a:rPr>
              <a:t>contacts</a:t>
            </a:r>
            <a:r>
              <a:rPr lang="it-IT" sz="2200" dirty="0">
                <a:latin typeface="Aptos" panose="020B0004020202020204" pitchFamily="34" charset="0"/>
              </a:rPr>
              <a:t>. </a:t>
            </a:r>
          </a:p>
        </p:txBody>
      </p:sp>
      <p:sp>
        <p:nvSpPr>
          <p:cNvPr id="3" name="Rettangolo 2">
            <a:extLst>
              <a:ext uri="{FF2B5EF4-FFF2-40B4-BE49-F238E27FC236}">
                <a16:creationId xmlns:a16="http://schemas.microsoft.com/office/drawing/2014/main" id="{50275A88-0CC0-049F-B0EC-598BE5CA05DB}"/>
              </a:ext>
            </a:extLst>
          </p:cNvPr>
          <p:cNvSpPr/>
          <p:nvPr/>
        </p:nvSpPr>
        <p:spPr>
          <a:xfrm>
            <a:off x="1416006" y="2223268"/>
            <a:ext cx="2390776" cy="1378135"/>
          </a:xfrm>
          <a:prstGeom prst="rect">
            <a:avLst/>
          </a:prstGeom>
          <a:ln w="28575"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>
              <a:latin typeface="Aptos" panose="020B0004020202020204" pitchFamily="34" charset="0"/>
            </a:endParaRP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439F07CA-518F-2C2F-8844-92EFFBCB0C07}"/>
              </a:ext>
            </a:extLst>
          </p:cNvPr>
          <p:cNvSpPr txBox="1"/>
          <p:nvPr/>
        </p:nvSpPr>
        <p:spPr>
          <a:xfrm>
            <a:off x="7551999" y="1725873"/>
            <a:ext cx="324155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200" dirty="0" err="1">
                <a:latin typeface="Aptos" panose="020B0004020202020204" pitchFamily="34" charset="0"/>
              </a:rPr>
              <a:t>Authorization</a:t>
            </a:r>
            <a:r>
              <a:rPr lang="it-IT" sz="2200" dirty="0">
                <a:latin typeface="Aptos" panose="020B0004020202020204" pitchFamily="34" charset="0"/>
              </a:rPr>
              <a:t> server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D24AB09E-B6D5-6A26-9977-2AF8DF4765FC}"/>
              </a:ext>
            </a:extLst>
          </p:cNvPr>
          <p:cNvSpPr txBox="1"/>
          <p:nvPr/>
        </p:nvSpPr>
        <p:spPr>
          <a:xfrm>
            <a:off x="1416006" y="2280716"/>
            <a:ext cx="2390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>
                <a:latin typeface="Aptos" panose="020B0004020202020204" pitchFamily="34" charset="0"/>
              </a:rPr>
              <a:t>yelp.com</a:t>
            </a:r>
          </a:p>
        </p:txBody>
      </p:sp>
      <p:sp>
        <p:nvSpPr>
          <p:cNvPr id="8" name="Rettangolo con angoli arrotondati 7">
            <a:extLst>
              <a:ext uri="{FF2B5EF4-FFF2-40B4-BE49-F238E27FC236}">
                <a16:creationId xmlns:a16="http://schemas.microsoft.com/office/drawing/2014/main" id="{AFE44190-08C9-239C-742C-8498E6642B51}"/>
              </a:ext>
            </a:extLst>
          </p:cNvPr>
          <p:cNvSpPr/>
          <p:nvPr/>
        </p:nvSpPr>
        <p:spPr>
          <a:xfrm>
            <a:off x="1535068" y="2683246"/>
            <a:ext cx="2152650" cy="458195"/>
          </a:xfrm>
          <a:prstGeom prst="roundRect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600" dirty="0">
                <a:latin typeface="Aptos" panose="020B0004020202020204" pitchFamily="34" charset="0"/>
              </a:rPr>
              <a:t>Connect with Google</a:t>
            </a:r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1E318A74-C61C-FDA0-68E9-F51B29A8F2E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338" y="2260842"/>
            <a:ext cx="671604" cy="671604"/>
          </a:xfrm>
          <a:prstGeom prst="rect">
            <a:avLst/>
          </a:prstGeom>
        </p:spPr>
      </p:pic>
      <p:sp>
        <p:nvSpPr>
          <p:cNvPr id="10" name="CasellaDiTesto 9">
            <a:extLst>
              <a:ext uri="{FF2B5EF4-FFF2-40B4-BE49-F238E27FC236}">
                <a16:creationId xmlns:a16="http://schemas.microsoft.com/office/drawing/2014/main" id="{2C5A5D02-B1E0-1D75-2ACF-F9CB0BA55D0B}"/>
              </a:ext>
            </a:extLst>
          </p:cNvPr>
          <p:cNvSpPr txBox="1"/>
          <p:nvPr/>
        </p:nvSpPr>
        <p:spPr>
          <a:xfrm>
            <a:off x="12029" y="2837143"/>
            <a:ext cx="156334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200" dirty="0">
                <a:latin typeface="Aptos" panose="020B0004020202020204" pitchFamily="34" charset="0"/>
              </a:rPr>
              <a:t>Resource </a:t>
            </a:r>
            <a:r>
              <a:rPr lang="it-IT" sz="2200" dirty="0" err="1">
                <a:latin typeface="Aptos" panose="020B0004020202020204" pitchFamily="34" charset="0"/>
              </a:rPr>
              <a:t>owner</a:t>
            </a:r>
            <a:endParaRPr lang="it-IT" sz="2200" dirty="0">
              <a:latin typeface="Aptos" panose="020B0004020202020204" pitchFamily="34" charset="0"/>
            </a:endParaRPr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F6AE240E-3EC2-4EA3-A4A9-5FF81B817B1F}"/>
              </a:ext>
            </a:extLst>
          </p:cNvPr>
          <p:cNvSpPr/>
          <p:nvPr/>
        </p:nvSpPr>
        <p:spPr>
          <a:xfrm>
            <a:off x="7977388" y="2227825"/>
            <a:ext cx="2390776" cy="1378135"/>
          </a:xfrm>
          <a:prstGeom prst="rect">
            <a:avLst/>
          </a:prstGeom>
          <a:ln w="28575"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>
              <a:latin typeface="Aptos" panose="020B0004020202020204" pitchFamily="34" charset="0"/>
            </a:endParaRP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D185C6EA-52D8-9066-4675-9C198C830C19}"/>
              </a:ext>
            </a:extLst>
          </p:cNvPr>
          <p:cNvSpPr txBox="1"/>
          <p:nvPr/>
        </p:nvSpPr>
        <p:spPr>
          <a:xfrm>
            <a:off x="7977389" y="2286828"/>
            <a:ext cx="2390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>
                <a:latin typeface="Aptos" panose="020B0004020202020204" pitchFamily="34" charset="0"/>
              </a:rPr>
              <a:t>accounts.google.com</a:t>
            </a:r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1EA112E2-457B-A706-901B-B62FCCF3E2AB}"/>
              </a:ext>
            </a:extLst>
          </p:cNvPr>
          <p:cNvSpPr txBox="1"/>
          <p:nvPr/>
        </p:nvSpPr>
        <p:spPr>
          <a:xfrm>
            <a:off x="1416006" y="1737667"/>
            <a:ext cx="239077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200" dirty="0">
                <a:latin typeface="Aptos" panose="020B0004020202020204" pitchFamily="34" charset="0"/>
              </a:rPr>
              <a:t>Client</a:t>
            </a:r>
          </a:p>
        </p:txBody>
      </p:sp>
      <p:sp>
        <p:nvSpPr>
          <p:cNvPr id="18" name="Rettangolo 17">
            <a:extLst>
              <a:ext uri="{FF2B5EF4-FFF2-40B4-BE49-F238E27FC236}">
                <a16:creationId xmlns:a16="http://schemas.microsoft.com/office/drawing/2014/main" id="{5D9EFD8F-C127-2797-EEBC-AF96787BF00E}"/>
              </a:ext>
            </a:extLst>
          </p:cNvPr>
          <p:cNvSpPr/>
          <p:nvPr/>
        </p:nvSpPr>
        <p:spPr>
          <a:xfrm>
            <a:off x="8161417" y="2754977"/>
            <a:ext cx="2009775" cy="32304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dirty="0">
                <a:solidFill>
                  <a:schemeClr val="tx1"/>
                </a:solidFill>
                <a:latin typeface="Aptos" panose="020B0004020202020204" pitchFamily="34" charset="0"/>
              </a:rPr>
              <a:t>Email:</a:t>
            </a:r>
          </a:p>
        </p:txBody>
      </p:sp>
      <p:sp>
        <p:nvSpPr>
          <p:cNvPr id="19" name="Rettangolo 18">
            <a:extLst>
              <a:ext uri="{FF2B5EF4-FFF2-40B4-BE49-F238E27FC236}">
                <a16:creationId xmlns:a16="http://schemas.microsoft.com/office/drawing/2014/main" id="{585C3F4C-69EA-67CF-5E2D-4ED376205F37}"/>
              </a:ext>
            </a:extLst>
          </p:cNvPr>
          <p:cNvSpPr/>
          <p:nvPr/>
        </p:nvSpPr>
        <p:spPr>
          <a:xfrm>
            <a:off x="8170942" y="3183602"/>
            <a:ext cx="2009775" cy="32304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dirty="0">
                <a:solidFill>
                  <a:schemeClr val="tx1"/>
                </a:solidFill>
                <a:latin typeface="Aptos" panose="020B0004020202020204" pitchFamily="34" charset="0"/>
              </a:rPr>
              <a:t>Password:</a:t>
            </a:r>
          </a:p>
        </p:txBody>
      </p:sp>
      <p:cxnSp>
        <p:nvCxnSpPr>
          <p:cNvPr id="21" name="Connettore 2 20">
            <a:extLst>
              <a:ext uri="{FF2B5EF4-FFF2-40B4-BE49-F238E27FC236}">
                <a16:creationId xmlns:a16="http://schemas.microsoft.com/office/drawing/2014/main" id="{82E7C783-6182-C487-172E-88532229D7A8}"/>
              </a:ext>
            </a:extLst>
          </p:cNvPr>
          <p:cNvCxnSpPr>
            <a:cxnSpLocks/>
            <a:stCxn id="3" idx="3"/>
            <a:endCxn id="12" idx="1"/>
          </p:cNvCxnSpPr>
          <p:nvPr/>
        </p:nvCxnSpPr>
        <p:spPr>
          <a:xfrm>
            <a:off x="3806782" y="2912336"/>
            <a:ext cx="4170606" cy="455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CasellaDiTesto 21">
            <a:extLst>
              <a:ext uri="{FF2B5EF4-FFF2-40B4-BE49-F238E27FC236}">
                <a16:creationId xmlns:a16="http://schemas.microsoft.com/office/drawing/2014/main" id="{331AC26F-0449-EF50-62B4-C1CD98B2DF80}"/>
              </a:ext>
            </a:extLst>
          </p:cNvPr>
          <p:cNvSpPr txBox="1"/>
          <p:nvPr/>
        </p:nvSpPr>
        <p:spPr>
          <a:xfrm>
            <a:off x="4310446" y="2449993"/>
            <a:ext cx="32415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000" dirty="0" err="1">
                <a:latin typeface="Aptos" panose="020B0004020202020204" pitchFamily="34" charset="0"/>
              </a:rPr>
              <a:t>Authorization</a:t>
            </a:r>
            <a:r>
              <a:rPr lang="it-IT" sz="2000" dirty="0">
                <a:latin typeface="Aptos" panose="020B0004020202020204" pitchFamily="34" charset="0"/>
              </a:rPr>
              <a:t> </a:t>
            </a:r>
            <a:r>
              <a:rPr lang="it-IT" sz="2000" dirty="0" err="1">
                <a:latin typeface="Aptos" panose="020B0004020202020204" pitchFamily="34" charset="0"/>
              </a:rPr>
              <a:t>request</a:t>
            </a:r>
            <a:endParaRPr lang="it-IT" sz="2000" dirty="0">
              <a:latin typeface="Aptos" panose="020B0004020202020204" pitchFamily="34" charset="0"/>
            </a:endParaRPr>
          </a:p>
        </p:txBody>
      </p:sp>
      <p:sp>
        <p:nvSpPr>
          <p:cNvPr id="23" name="CasellaDiTesto 22">
            <a:extLst>
              <a:ext uri="{FF2B5EF4-FFF2-40B4-BE49-F238E27FC236}">
                <a16:creationId xmlns:a16="http://schemas.microsoft.com/office/drawing/2014/main" id="{835D631A-6D05-4E00-FDE1-1A643997FB37}"/>
              </a:ext>
            </a:extLst>
          </p:cNvPr>
          <p:cNvSpPr txBox="1"/>
          <p:nvPr/>
        </p:nvSpPr>
        <p:spPr>
          <a:xfrm>
            <a:off x="4286963" y="2899387"/>
            <a:ext cx="357136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latin typeface="Aptos" panose="020B0004020202020204" pitchFamily="34" charset="0"/>
              </a:rPr>
              <a:t>Client ID: </a:t>
            </a:r>
            <a:r>
              <a:rPr lang="en-GB" dirty="0">
                <a:latin typeface="Aptos" panose="020B0004020202020204" pitchFamily="34" charset="0"/>
              </a:rPr>
              <a:t>abc123</a:t>
            </a:r>
          </a:p>
          <a:p>
            <a:r>
              <a:rPr lang="en-GB" dirty="0">
                <a:latin typeface="Aptos" panose="020B0004020202020204" pitchFamily="34" charset="0"/>
              </a:rPr>
              <a:t>Redirect URI: yelp.com/</a:t>
            </a:r>
            <a:r>
              <a:rPr lang="en-GB" dirty="0" err="1">
                <a:latin typeface="Aptos" panose="020B0004020202020204" pitchFamily="34" charset="0"/>
              </a:rPr>
              <a:t>callback</a:t>
            </a:r>
            <a:endParaRPr lang="en-GB" dirty="0">
              <a:latin typeface="Aptos" panose="020B0004020202020204" pitchFamily="34" charset="0"/>
            </a:endParaRPr>
          </a:p>
          <a:p>
            <a:r>
              <a:rPr lang="en-GB" dirty="0">
                <a:latin typeface="Aptos" panose="020B0004020202020204" pitchFamily="34" charset="0"/>
              </a:rPr>
              <a:t>Scope: profile contacts</a:t>
            </a:r>
            <a:endParaRPr lang="it-IT" dirty="0">
              <a:latin typeface="Aptos" panose="020B0004020202020204" pitchFamily="34" charset="0"/>
            </a:endParaRPr>
          </a:p>
        </p:txBody>
      </p:sp>
      <p:sp>
        <p:nvSpPr>
          <p:cNvPr id="26" name="CasellaDiTesto 25">
            <a:extLst>
              <a:ext uri="{FF2B5EF4-FFF2-40B4-BE49-F238E27FC236}">
                <a16:creationId xmlns:a16="http://schemas.microsoft.com/office/drawing/2014/main" id="{F3A78FA6-6D8C-F3C4-0EB6-3540F58B70E4}"/>
              </a:ext>
            </a:extLst>
          </p:cNvPr>
          <p:cNvSpPr txBox="1"/>
          <p:nvPr/>
        </p:nvSpPr>
        <p:spPr>
          <a:xfrm>
            <a:off x="10283863" y="2539555"/>
            <a:ext cx="200977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000" dirty="0">
                <a:latin typeface="Aptos" panose="020B0004020202020204" pitchFamily="34" charset="0"/>
              </a:rPr>
              <a:t>Authentication of the </a:t>
            </a:r>
            <a:r>
              <a:rPr lang="it-IT" sz="2000" dirty="0" err="1">
                <a:latin typeface="Aptos" panose="020B0004020202020204" pitchFamily="34" charset="0"/>
              </a:rPr>
              <a:t>resource</a:t>
            </a:r>
            <a:r>
              <a:rPr lang="it-IT" sz="2000" dirty="0">
                <a:latin typeface="Aptos" panose="020B0004020202020204" pitchFamily="34" charset="0"/>
              </a:rPr>
              <a:t> </a:t>
            </a:r>
            <a:r>
              <a:rPr lang="it-IT" sz="2000" dirty="0" err="1">
                <a:latin typeface="Aptos" panose="020B0004020202020204" pitchFamily="34" charset="0"/>
              </a:rPr>
              <a:t>owner</a:t>
            </a:r>
            <a:endParaRPr lang="it-IT" sz="2000" dirty="0">
              <a:latin typeface="Aptos" panose="020B0004020202020204" pitchFamily="34" charset="0"/>
            </a:endParaRPr>
          </a:p>
        </p:txBody>
      </p:sp>
      <p:sp>
        <p:nvSpPr>
          <p:cNvPr id="27" name="Rettangolo 26">
            <a:extLst>
              <a:ext uri="{FF2B5EF4-FFF2-40B4-BE49-F238E27FC236}">
                <a16:creationId xmlns:a16="http://schemas.microsoft.com/office/drawing/2014/main" id="{7CF12113-6888-D6EC-FDE7-E506A7342E56}"/>
              </a:ext>
            </a:extLst>
          </p:cNvPr>
          <p:cNvSpPr/>
          <p:nvPr/>
        </p:nvSpPr>
        <p:spPr>
          <a:xfrm>
            <a:off x="7964445" y="5160777"/>
            <a:ext cx="2390776" cy="1560698"/>
          </a:xfrm>
          <a:prstGeom prst="rect">
            <a:avLst/>
          </a:prstGeom>
          <a:ln w="28575"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>
              <a:latin typeface="Aptos" panose="020B0004020202020204" pitchFamily="34" charset="0"/>
            </a:endParaRPr>
          </a:p>
        </p:txBody>
      </p:sp>
      <p:cxnSp>
        <p:nvCxnSpPr>
          <p:cNvPr id="28" name="Connettore 2 27">
            <a:extLst>
              <a:ext uri="{FF2B5EF4-FFF2-40B4-BE49-F238E27FC236}">
                <a16:creationId xmlns:a16="http://schemas.microsoft.com/office/drawing/2014/main" id="{A6ACF2E0-5720-075B-B9B1-ECA574FA3021}"/>
              </a:ext>
            </a:extLst>
          </p:cNvPr>
          <p:cNvCxnSpPr>
            <a:cxnSpLocks/>
            <a:stCxn id="12" idx="2"/>
            <a:endCxn id="27" idx="0"/>
          </p:cNvCxnSpPr>
          <p:nvPr/>
        </p:nvCxnSpPr>
        <p:spPr>
          <a:xfrm flipH="1">
            <a:off x="9159833" y="3605960"/>
            <a:ext cx="12943" cy="155481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CasellaDiTesto 30">
            <a:extLst>
              <a:ext uri="{FF2B5EF4-FFF2-40B4-BE49-F238E27FC236}">
                <a16:creationId xmlns:a16="http://schemas.microsoft.com/office/drawing/2014/main" id="{BD13D223-A5E9-315B-63A0-31967048115D}"/>
              </a:ext>
            </a:extLst>
          </p:cNvPr>
          <p:cNvSpPr txBox="1"/>
          <p:nvPr/>
        </p:nvSpPr>
        <p:spPr>
          <a:xfrm>
            <a:off x="7964445" y="5204565"/>
            <a:ext cx="2390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>
                <a:latin typeface="Aptos" panose="020B0004020202020204" pitchFamily="34" charset="0"/>
              </a:rPr>
              <a:t>accounts.google.com</a:t>
            </a:r>
          </a:p>
        </p:txBody>
      </p:sp>
      <p:sp>
        <p:nvSpPr>
          <p:cNvPr id="32" name="CasellaDiTesto 31">
            <a:extLst>
              <a:ext uri="{FF2B5EF4-FFF2-40B4-BE49-F238E27FC236}">
                <a16:creationId xmlns:a16="http://schemas.microsoft.com/office/drawing/2014/main" id="{91CCDC99-AA2E-8C9B-6977-7D082BD2063B}"/>
              </a:ext>
            </a:extLst>
          </p:cNvPr>
          <p:cNvSpPr txBox="1"/>
          <p:nvPr/>
        </p:nvSpPr>
        <p:spPr>
          <a:xfrm>
            <a:off x="7964444" y="5595791"/>
            <a:ext cx="23907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400" dirty="0" err="1">
                <a:latin typeface="Aptos" panose="020B0004020202020204" pitchFamily="34" charset="0"/>
              </a:rPr>
              <a:t>Allow</a:t>
            </a:r>
            <a:r>
              <a:rPr lang="it-IT" sz="1400" dirty="0">
                <a:latin typeface="Aptos" panose="020B0004020202020204" pitchFamily="34" charset="0"/>
              </a:rPr>
              <a:t> </a:t>
            </a:r>
            <a:r>
              <a:rPr lang="it-IT" sz="1400" dirty="0" err="1">
                <a:latin typeface="Aptos" panose="020B0004020202020204" pitchFamily="34" charset="0"/>
              </a:rPr>
              <a:t>Yelp</a:t>
            </a:r>
            <a:r>
              <a:rPr lang="it-IT" sz="1400" dirty="0">
                <a:latin typeface="Aptos" panose="020B0004020202020204" pitchFamily="34" charset="0"/>
              </a:rPr>
              <a:t> to access </a:t>
            </a:r>
            <a:r>
              <a:rPr lang="it-IT" sz="1400" dirty="0" err="1">
                <a:latin typeface="Aptos" panose="020B0004020202020204" pitchFamily="34" charset="0"/>
              </a:rPr>
              <a:t>your</a:t>
            </a:r>
            <a:r>
              <a:rPr lang="it-IT" sz="1400" dirty="0">
                <a:latin typeface="Aptos" panose="020B0004020202020204" pitchFamily="34" charset="0"/>
              </a:rPr>
              <a:t> </a:t>
            </a:r>
            <a:r>
              <a:rPr lang="it-IT" sz="1400" dirty="0" err="1">
                <a:latin typeface="Aptos" panose="020B0004020202020204" pitchFamily="34" charset="0"/>
              </a:rPr>
              <a:t>profile</a:t>
            </a:r>
            <a:r>
              <a:rPr lang="it-IT" sz="1400" dirty="0">
                <a:latin typeface="Aptos" panose="020B0004020202020204" pitchFamily="34" charset="0"/>
              </a:rPr>
              <a:t> and </a:t>
            </a:r>
            <a:r>
              <a:rPr lang="it-IT" sz="1400" dirty="0" err="1">
                <a:latin typeface="Aptos" panose="020B0004020202020204" pitchFamily="34" charset="0"/>
              </a:rPr>
              <a:t>contacts</a:t>
            </a:r>
            <a:r>
              <a:rPr lang="it-IT" sz="1400" dirty="0">
                <a:latin typeface="Aptos" panose="020B0004020202020204" pitchFamily="34" charset="0"/>
              </a:rPr>
              <a:t>?</a:t>
            </a:r>
          </a:p>
        </p:txBody>
      </p:sp>
      <p:sp>
        <p:nvSpPr>
          <p:cNvPr id="34" name="Rettangolo con angoli arrotondati 33">
            <a:extLst>
              <a:ext uri="{FF2B5EF4-FFF2-40B4-BE49-F238E27FC236}">
                <a16:creationId xmlns:a16="http://schemas.microsoft.com/office/drawing/2014/main" id="{EF2F2FD3-6B0C-DBEA-2804-A4F007ADE10F}"/>
              </a:ext>
            </a:extLst>
          </p:cNvPr>
          <p:cNvSpPr/>
          <p:nvPr/>
        </p:nvSpPr>
        <p:spPr>
          <a:xfrm>
            <a:off x="9450567" y="6180494"/>
            <a:ext cx="752976" cy="439767"/>
          </a:xfrm>
          <a:prstGeom prst="roundRect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600" dirty="0">
                <a:latin typeface="Aptos" panose="020B0004020202020204" pitchFamily="34" charset="0"/>
              </a:rPr>
              <a:t>Yes</a:t>
            </a:r>
          </a:p>
        </p:txBody>
      </p:sp>
      <p:sp>
        <p:nvSpPr>
          <p:cNvPr id="36" name="Rettangolo con angoli arrotondati 35">
            <a:extLst>
              <a:ext uri="{FF2B5EF4-FFF2-40B4-BE49-F238E27FC236}">
                <a16:creationId xmlns:a16="http://schemas.microsoft.com/office/drawing/2014/main" id="{2621EB6A-D60E-6564-61E1-7A267BB4C5E5}"/>
              </a:ext>
            </a:extLst>
          </p:cNvPr>
          <p:cNvSpPr/>
          <p:nvPr/>
        </p:nvSpPr>
        <p:spPr>
          <a:xfrm>
            <a:off x="8335526" y="6180493"/>
            <a:ext cx="752976" cy="439767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600" dirty="0">
                <a:solidFill>
                  <a:schemeClr val="tx1"/>
                </a:solidFill>
                <a:latin typeface="Aptos" panose="020B0004020202020204" pitchFamily="34" charset="0"/>
              </a:rPr>
              <a:t>No</a:t>
            </a:r>
          </a:p>
        </p:txBody>
      </p:sp>
      <p:sp>
        <p:nvSpPr>
          <p:cNvPr id="37" name="CasellaDiTesto 36">
            <a:extLst>
              <a:ext uri="{FF2B5EF4-FFF2-40B4-BE49-F238E27FC236}">
                <a16:creationId xmlns:a16="http://schemas.microsoft.com/office/drawing/2014/main" id="{92979625-9599-305F-2DE1-4F0B67F23A3A}"/>
              </a:ext>
            </a:extLst>
          </p:cNvPr>
          <p:cNvSpPr txBox="1"/>
          <p:nvPr/>
        </p:nvSpPr>
        <p:spPr>
          <a:xfrm>
            <a:off x="9891963" y="4362407"/>
            <a:ext cx="235194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000" dirty="0" err="1">
                <a:latin typeface="Aptos" panose="020B0004020202020204" pitchFamily="34" charset="0"/>
              </a:rPr>
              <a:t>Request</a:t>
            </a:r>
            <a:r>
              <a:rPr lang="it-IT" sz="2000" dirty="0">
                <a:latin typeface="Aptos" panose="020B0004020202020204" pitchFamily="34" charset="0"/>
              </a:rPr>
              <a:t> </a:t>
            </a:r>
            <a:r>
              <a:rPr lang="it-IT" sz="2000" dirty="0" err="1">
                <a:latin typeface="Aptos" panose="020B0004020202020204" pitchFamily="34" charset="0"/>
              </a:rPr>
              <a:t>consent</a:t>
            </a:r>
            <a:r>
              <a:rPr lang="it-IT" sz="2000" dirty="0">
                <a:latin typeface="Aptos" panose="020B0004020202020204" pitchFamily="34" charset="0"/>
              </a:rPr>
              <a:t> from the </a:t>
            </a:r>
            <a:r>
              <a:rPr lang="it-IT" sz="2000" dirty="0" err="1">
                <a:latin typeface="Aptos" panose="020B0004020202020204" pitchFamily="34" charset="0"/>
              </a:rPr>
              <a:t>resource</a:t>
            </a:r>
            <a:r>
              <a:rPr lang="it-IT" sz="2000" dirty="0">
                <a:latin typeface="Aptos" panose="020B0004020202020204" pitchFamily="34" charset="0"/>
              </a:rPr>
              <a:t> </a:t>
            </a:r>
            <a:r>
              <a:rPr lang="it-IT" sz="2000" dirty="0" err="1">
                <a:latin typeface="Aptos" panose="020B0004020202020204" pitchFamily="34" charset="0"/>
              </a:rPr>
              <a:t>owner</a:t>
            </a:r>
            <a:endParaRPr lang="it-IT" sz="2000" dirty="0">
              <a:latin typeface="Aptos" panose="020B0004020202020204" pitchFamily="34" charset="0"/>
            </a:endParaRPr>
          </a:p>
        </p:txBody>
      </p:sp>
      <p:cxnSp>
        <p:nvCxnSpPr>
          <p:cNvPr id="38" name="Connettore 2 37">
            <a:extLst>
              <a:ext uri="{FF2B5EF4-FFF2-40B4-BE49-F238E27FC236}">
                <a16:creationId xmlns:a16="http://schemas.microsoft.com/office/drawing/2014/main" id="{9D8045EA-7808-C40B-7E44-B05C3917B8E7}"/>
              </a:ext>
            </a:extLst>
          </p:cNvPr>
          <p:cNvCxnSpPr>
            <a:cxnSpLocks/>
          </p:cNvCxnSpPr>
          <p:nvPr/>
        </p:nvCxnSpPr>
        <p:spPr>
          <a:xfrm flipH="1" flipV="1">
            <a:off x="3793836" y="5938848"/>
            <a:ext cx="4170606" cy="455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ettangolo 38">
            <a:extLst>
              <a:ext uri="{FF2B5EF4-FFF2-40B4-BE49-F238E27FC236}">
                <a16:creationId xmlns:a16="http://schemas.microsoft.com/office/drawing/2014/main" id="{998C835F-5CE0-73F0-9491-47E1B67462A0}"/>
              </a:ext>
            </a:extLst>
          </p:cNvPr>
          <p:cNvSpPr/>
          <p:nvPr/>
        </p:nvSpPr>
        <p:spPr>
          <a:xfrm>
            <a:off x="1403058" y="5160777"/>
            <a:ext cx="2390776" cy="1560698"/>
          </a:xfrm>
          <a:prstGeom prst="rect">
            <a:avLst/>
          </a:prstGeom>
          <a:ln w="28575"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>
              <a:latin typeface="Aptos" panose="020B0004020202020204" pitchFamily="34" charset="0"/>
            </a:endParaRPr>
          </a:p>
        </p:txBody>
      </p:sp>
      <p:sp>
        <p:nvSpPr>
          <p:cNvPr id="40" name="CasellaDiTesto 39">
            <a:extLst>
              <a:ext uri="{FF2B5EF4-FFF2-40B4-BE49-F238E27FC236}">
                <a16:creationId xmlns:a16="http://schemas.microsoft.com/office/drawing/2014/main" id="{989729CB-16C6-D352-F718-3775DF9D628F}"/>
              </a:ext>
            </a:extLst>
          </p:cNvPr>
          <p:cNvSpPr txBox="1"/>
          <p:nvPr/>
        </p:nvSpPr>
        <p:spPr>
          <a:xfrm>
            <a:off x="1416006" y="5198141"/>
            <a:ext cx="2390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>
                <a:latin typeface="Aptos" panose="020B0004020202020204" pitchFamily="34" charset="0"/>
              </a:rPr>
              <a:t>yelp.com/</a:t>
            </a:r>
            <a:r>
              <a:rPr lang="it-IT" dirty="0" err="1">
                <a:latin typeface="Aptos" panose="020B0004020202020204" pitchFamily="34" charset="0"/>
              </a:rPr>
              <a:t>callback</a:t>
            </a:r>
            <a:endParaRPr lang="it-IT" dirty="0">
              <a:latin typeface="Aptos" panose="020B0004020202020204" pitchFamily="34" charset="0"/>
            </a:endParaRPr>
          </a:p>
        </p:txBody>
      </p:sp>
      <p:sp>
        <p:nvSpPr>
          <p:cNvPr id="44" name="CasellaDiTesto 43">
            <a:extLst>
              <a:ext uri="{FF2B5EF4-FFF2-40B4-BE49-F238E27FC236}">
                <a16:creationId xmlns:a16="http://schemas.microsoft.com/office/drawing/2014/main" id="{A8DF8E0A-0028-E326-78B7-0F604B92ED23}"/>
              </a:ext>
            </a:extLst>
          </p:cNvPr>
          <p:cNvSpPr txBox="1"/>
          <p:nvPr/>
        </p:nvSpPr>
        <p:spPr>
          <a:xfrm>
            <a:off x="4016373" y="5945358"/>
            <a:ext cx="387340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000" dirty="0">
                <a:latin typeface="Aptos" panose="020B0004020202020204" pitchFamily="34" charset="0"/>
              </a:rPr>
              <a:t>Back to the </a:t>
            </a:r>
            <a:r>
              <a:rPr lang="it-IT" sz="2000" dirty="0" err="1">
                <a:latin typeface="Aptos" panose="020B0004020202020204" pitchFamily="34" charset="0"/>
              </a:rPr>
              <a:t>redirect</a:t>
            </a:r>
            <a:r>
              <a:rPr lang="it-IT" sz="2000" dirty="0">
                <a:latin typeface="Aptos" panose="020B0004020202020204" pitchFamily="34" charset="0"/>
              </a:rPr>
              <a:t> URI with the </a:t>
            </a:r>
            <a:r>
              <a:rPr lang="it-IT" sz="2000" dirty="0" err="1">
                <a:latin typeface="Aptos" panose="020B0004020202020204" pitchFamily="34" charset="0"/>
              </a:rPr>
              <a:t>authorization</a:t>
            </a:r>
            <a:r>
              <a:rPr lang="it-IT" sz="2000" dirty="0">
                <a:latin typeface="Aptos" panose="020B0004020202020204" pitchFamily="34" charset="0"/>
              </a:rPr>
              <a:t> code</a:t>
            </a:r>
          </a:p>
        </p:txBody>
      </p:sp>
      <p:sp>
        <p:nvSpPr>
          <p:cNvPr id="45" name="CasellaDiTesto 44">
            <a:extLst>
              <a:ext uri="{FF2B5EF4-FFF2-40B4-BE49-F238E27FC236}">
                <a16:creationId xmlns:a16="http://schemas.microsoft.com/office/drawing/2014/main" id="{23588A73-6FC8-B230-27BA-A995835E408F}"/>
              </a:ext>
            </a:extLst>
          </p:cNvPr>
          <p:cNvSpPr txBox="1"/>
          <p:nvPr/>
        </p:nvSpPr>
        <p:spPr>
          <a:xfrm>
            <a:off x="1440392" y="5672735"/>
            <a:ext cx="2390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>
                <a:latin typeface="Aptos" panose="020B0004020202020204" pitchFamily="34" charset="0"/>
              </a:rPr>
              <a:t>Loading</a:t>
            </a:r>
          </a:p>
        </p:txBody>
      </p:sp>
      <p:pic>
        <p:nvPicPr>
          <p:cNvPr id="47" name="Immagine 46">
            <a:extLst>
              <a:ext uri="{FF2B5EF4-FFF2-40B4-BE49-F238E27FC236}">
                <a16:creationId xmlns:a16="http://schemas.microsoft.com/office/drawing/2014/main" id="{5A00C573-9C3D-9F7F-6FBB-2DE78F4D721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5879" y="6060158"/>
            <a:ext cx="578457" cy="578457"/>
          </a:xfrm>
          <a:prstGeom prst="rect">
            <a:avLst/>
          </a:prstGeom>
        </p:spPr>
      </p:pic>
      <p:cxnSp>
        <p:nvCxnSpPr>
          <p:cNvPr id="49" name="Connettore 2 48">
            <a:extLst>
              <a:ext uri="{FF2B5EF4-FFF2-40B4-BE49-F238E27FC236}">
                <a16:creationId xmlns:a16="http://schemas.microsoft.com/office/drawing/2014/main" id="{78506807-9F46-EC77-B13D-DBFED7D33E13}"/>
              </a:ext>
            </a:extLst>
          </p:cNvPr>
          <p:cNvCxnSpPr>
            <a:cxnSpLocks/>
          </p:cNvCxnSpPr>
          <p:nvPr/>
        </p:nvCxnSpPr>
        <p:spPr>
          <a:xfrm flipV="1">
            <a:off x="3746587" y="3574211"/>
            <a:ext cx="4243622" cy="1575021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CasellaDiTesto 49">
            <a:extLst>
              <a:ext uri="{FF2B5EF4-FFF2-40B4-BE49-F238E27FC236}">
                <a16:creationId xmlns:a16="http://schemas.microsoft.com/office/drawing/2014/main" id="{309B6572-BFBE-0440-95C9-52219AA0423A}"/>
              </a:ext>
            </a:extLst>
          </p:cNvPr>
          <p:cNvSpPr txBox="1"/>
          <p:nvPr/>
        </p:nvSpPr>
        <p:spPr>
          <a:xfrm rot="20381669">
            <a:off x="3552007" y="4310263"/>
            <a:ext cx="49980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000" dirty="0" err="1">
                <a:solidFill>
                  <a:srgbClr val="FF0000"/>
                </a:solidFill>
                <a:latin typeface="Aptos" panose="020B0004020202020204" pitchFamily="34" charset="0"/>
              </a:rPr>
              <a:t>Authorization</a:t>
            </a:r>
            <a:r>
              <a:rPr lang="it-IT" sz="2000" dirty="0">
                <a:solidFill>
                  <a:srgbClr val="FF0000"/>
                </a:solidFill>
                <a:latin typeface="Aptos" panose="020B0004020202020204" pitchFamily="34" charset="0"/>
              </a:rPr>
              <a:t> code, client ID, client secret</a:t>
            </a:r>
          </a:p>
        </p:txBody>
      </p:sp>
      <p:cxnSp>
        <p:nvCxnSpPr>
          <p:cNvPr id="51" name="Connettore 2 50">
            <a:extLst>
              <a:ext uri="{FF2B5EF4-FFF2-40B4-BE49-F238E27FC236}">
                <a16:creationId xmlns:a16="http://schemas.microsoft.com/office/drawing/2014/main" id="{87FCB748-23C5-A795-8989-6F4A531FEDE6}"/>
              </a:ext>
            </a:extLst>
          </p:cNvPr>
          <p:cNvCxnSpPr>
            <a:cxnSpLocks/>
          </p:cNvCxnSpPr>
          <p:nvPr/>
        </p:nvCxnSpPr>
        <p:spPr>
          <a:xfrm flipH="1">
            <a:off x="3844115" y="3997027"/>
            <a:ext cx="4659886" cy="1723766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CasellaDiTesto 53">
            <a:extLst>
              <a:ext uri="{FF2B5EF4-FFF2-40B4-BE49-F238E27FC236}">
                <a16:creationId xmlns:a16="http://schemas.microsoft.com/office/drawing/2014/main" id="{CDF00B83-1BAC-E982-B303-C8C3C2992A4C}"/>
              </a:ext>
            </a:extLst>
          </p:cNvPr>
          <p:cNvSpPr txBox="1"/>
          <p:nvPr/>
        </p:nvSpPr>
        <p:spPr>
          <a:xfrm rot="20381641">
            <a:off x="5341624" y="4793622"/>
            <a:ext cx="20572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000" dirty="0">
                <a:solidFill>
                  <a:srgbClr val="0070C0"/>
                </a:solidFill>
                <a:latin typeface="Aptos" panose="020B0004020202020204" pitchFamily="34" charset="0"/>
              </a:rPr>
              <a:t>Access token</a:t>
            </a:r>
          </a:p>
        </p:txBody>
      </p:sp>
      <p:sp>
        <p:nvSpPr>
          <p:cNvPr id="57" name="Rettangolo 56">
            <a:extLst>
              <a:ext uri="{FF2B5EF4-FFF2-40B4-BE49-F238E27FC236}">
                <a16:creationId xmlns:a16="http://schemas.microsoft.com/office/drawing/2014/main" id="{1D81CDBC-5B99-19B3-4240-BDE6FAEB2F2E}"/>
              </a:ext>
            </a:extLst>
          </p:cNvPr>
          <p:cNvSpPr/>
          <p:nvPr/>
        </p:nvSpPr>
        <p:spPr>
          <a:xfrm>
            <a:off x="1427778" y="3894388"/>
            <a:ext cx="2390776" cy="488362"/>
          </a:xfrm>
          <a:prstGeom prst="rect">
            <a:avLst/>
          </a:prstGeom>
          <a:ln w="28575"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>
              <a:latin typeface="Aptos" panose="020B0004020202020204" pitchFamily="34" charset="0"/>
            </a:endParaRPr>
          </a:p>
        </p:txBody>
      </p:sp>
      <p:sp>
        <p:nvSpPr>
          <p:cNvPr id="58" name="CasellaDiTesto 57">
            <a:extLst>
              <a:ext uri="{FF2B5EF4-FFF2-40B4-BE49-F238E27FC236}">
                <a16:creationId xmlns:a16="http://schemas.microsoft.com/office/drawing/2014/main" id="{2F435E67-387F-4C83-B2DE-D175CCFE902E}"/>
              </a:ext>
            </a:extLst>
          </p:cNvPr>
          <p:cNvSpPr txBox="1"/>
          <p:nvPr/>
        </p:nvSpPr>
        <p:spPr>
          <a:xfrm>
            <a:off x="1459462" y="3942051"/>
            <a:ext cx="2390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>
                <a:latin typeface="Aptos" panose="020B0004020202020204" pitchFamily="34" charset="0"/>
              </a:rPr>
              <a:t>contacts.google.com</a:t>
            </a:r>
          </a:p>
        </p:txBody>
      </p:sp>
      <p:cxnSp>
        <p:nvCxnSpPr>
          <p:cNvPr id="59" name="Connettore 2 58">
            <a:extLst>
              <a:ext uri="{FF2B5EF4-FFF2-40B4-BE49-F238E27FC236}">
                <a16:creationId xmlns:a16="http://schemas.microsoft.com/office/drawing/2014/main" id="{2D9A6738-D952-5FC4-EA8C-2027E83018EC}"/>
              </a:ext>
            </a:extLst>
          </p:cNvPr>
          <p:cNvCxnSpPr>
            <a:cxnSpLocks/>
          </p:cNvCxnSpPr>
          <p:nvPr/>
        </p:nvCxnSpPr>
        <p:spPr>
          <a:xfrm flipV="1">
            <a:off x="2249921" y="4394782"/>
            <a:ext cx="0" cy="74531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nnettore 2 60">
            <a:extLst>
              <a:ext uri="{FF2B5EF4-FFF2-40B4-BE49-F238E27FC236}">
                <a16:creationId xmlns:a16="http://schemas.microsoft.com/office/drawing/2014/main" id="{2F6CCB5E-D1D9-EDF7-2B6A-E0660A6A180E}"/>
              </a:ext>
            </a:extLst>
          </p:cNvPr>
          <p:cNvCxnSpPr>
            <a:cxnSpLocks/>
          </p:cNvCxnSpPr>
          <p:nvPr/>
        </p:nvCxnSpPr>
        <p:spPr>
          <a:xfrm>
            <a:off x="2864336" y="4394868"/>
            <a:ext cx="0" cy="73319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CasellaDiTesto 64">
            <a:extLst>
              <a:ext uri="{FF2B5EF4-FFF2-40B4-BE49-F238E27FC236}">
                <a16:creationId xmlns:a16="http://schemas.microsoft.com/office/drawing/2014/main" id="{8C16D400-2F3C-3E25-47D8-1C50CA44FE62}"/>
              </a:ext>
            </a:extLst>
          </p:cNvPr>
          <p:cNvSpPr txBox="1"/>
          <p:nvPr/>
        </p:nvSpPr>
        <p:spPr>
          <a:xfrm>
            <a:off x="376147" y="4507367"/>
            <a:ext cx="20572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000" dirty="0">
                <a:latin typeface="Aptos" panose="020B0004020202020204" pitchFamily="34" charset="0"/>
              </a:rPr>
              <a:t>Access token</a:t>
            </a:r>
          </a:p>
        </p:txBody>
      </p:sp>
      <p:sp>
        <p:nvSpPr>
          <p:cNvPr id="66" name="CasellaDiTesto 65">
            <a:extLst>
              <a:ext uri="{FF2B5EF4-FFF2-40B4-BE49-F238E27FC236}">
                <a16:creationId xmlns:a16="http://schemas.microsoft.com/office/drawing/2014/main" id="{3AD854F4-A2C4-40E3-92AB-283A3B92C87B}"/>
              </a:ext>
            </a:extLst>
          </p:cNvPr>
          <p:cNvSpPr txBox="1"/>
          <p:nvPr/>
        </p:nvSpPr>
        <p:spPr>
          <a:xfrm>
            <a:off x="2390670" y="4536025"/>
            <a:ext cx="20572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000" dirty="0" err="1">
                <a:latin typeface="Aptos" panose="020B0004020202020204" pitchFamily="34" charset="0"/>
              </a:rPr>
              <a:t>Contacts</a:t>
            </a:r>
            <a:endParaRPr lang="it-IT" sz="2000" dirty="0">
              <a:latin typeface="Aptos" panose="020B0004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4D1B175-9520-EF06-F187-25AFA8EDB860}"/>
              </a:ext>
            </a:extLst>
          </p:cNvPr>
          <p:cNvSpPr/>
          <p:nvPr/>
        </p:nvSpPr>
        <p:spPr>
          <a:xfrm>
            <a:off x="164706" y="353508"/>
            <a:ext cx="1115454" cy="477078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Aptos" panose="020B0004020202020204" pitchFamily="34" charset="0"/>
              </a:rPr>
              <a:t>BONUS</a:t>
            </a:r>
          </a:p>
        </p:txBody>
      </p:sp>
    </p:spTree>
    <p:extLst>
      <p:ext uri="{BB962C8B-B14F-4D97-AF65-F5344CB8AC3E}">
        <p14:creationId xmlns:p14="http://schemas.microsoft.com/office/powerpoint/2010/main" val="26529629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/>
      <p:bldP spid="6" grpId="0"/>
      <p:bldP spid="8" grpId="0" animBg="1"/>
      <p:bldP spid="10" grpId="0"/>
      <p:bldP spid="12" grpId="0" animBg="1"/>
      <p:bldP spid="13" grpId="0"/>
      <p:bldP spid="17" grpId="0"/>
      <p:bldP spid="18" grpId="0" animBg="1"/>
      <p:bldP spid="19" grpId="0" animBg="1"/>
      <p:bldP spid="22" grpId="0"/>
      <p:bldP spid="23" grpId="0"/>
      <p:bldP spid="26" grpId="0"/>
      <p:bldP spid="27" grpId="0" animBg="1"/>
      <p:bldP spid="31" grpId="0"/>
      <p:bldP spid="32" grpId="0"/>
      <p:bldP spid="34" grpId="0" animBg="1"/>
      <p:bldP spid="36" grpId="0" animBg="1"/>
      <p:bldP spid="37" grpId="0"/>
      <p:bldP spid="39" grpId="0" animBg="1"/>
      <p:bldP spid="40" grpId="0"/>
      <p:bldP spid="44" grpId="0"/>
      <p:bldP spid="45" grpId="0"/>
      <p:bldP spid="50" grpId="0"/>
      <p:bldP spid="54" grpId="0"/>
      <p:bldP spid="57" grpId="0" animBg="1"/>
      <p:bldP spid="58" grpId="0"/>
      <p:bldP spid="65" grpId="0"/>
      <p:bldP spid="6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Refresh</a:t>
            </a:r>
            <a:r>
              <a:rPr lang="it-IT" dirty="0"/>
              <a:t> </a:t>
            </a:r>
            <a:r>
              <a:rPr lang="it-IT" dirty="0" err="1"/>
              <a:t>token</a:t>
            </a:r>
            <a:endParaRPr lang="en-GB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28172" y="1361167"/>
            <a:ext cx="4482071" cy="4995183"/>
          </a:xfrm>
        </p:spPr>
        <p:txBody>
          <a:bodyPr>
            <a:normAutofit/>
          </a:bodyPr>
          <a:lstStyle/>
          <a:p>
            <a:r>
              <a:rPr lang="en-GB" dirty="0"/>
              <a:t>Access token have an expiration time. </a:t>
            </a:r>
          </a:p>
          <a:p>
            <a:r>
              <a:rPr lang="en-GB" dirty="0"/>
              <a:t>A </a:t>
            </a:r>
            <a:r>
              <a:rPr lang="en-GB" b="1" dirty="0"/>
              <a:t>refresh token </a:t>
            </a:r>
            <a:r>
              <a:rPr lang="en-GB" dirty="0"/>
              <a:t>can be used by the client to request a new access token to the authorization server without the need to repeat the entire authorization process.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13</a:t>
            </a:fld>
            <a:endParaRPr lang="en-GB"/>
          </a:p>
        </p:txBody>
      </p:sp>
      <p:pic>
        <p:nvPicPr>
          <p:cNvPr id="7" name="Immagin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5137" y="1276417"/>
            <a:ext cx="6886243" cy="5164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84650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JSON Web </a:t>
            </a:r>
            <a:r>
              <a:rPr lang="it-IT" dirty="0" err="1"/>
              <a:t>token</a:t>
            </a:r>
            <a:endParaRPr lang="en-GB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JSON Web Token </a:t>
            </a:r>
            <a:r>
              <a:rPr lang="en-US" dirty="0"/>
              <a:t>(JWT): an Internet standard that defines a compact way for securely transmitting a token between parties as a JSON object. The token can be verified and trusted because it is digitally signed (e.g., using RSA with SHA-256).</a:t>
            </a:r>
          </a:p>
          <a:p>
            <a:r>
              <a:rPr lang="en-US" dirty="0"/>
              <a:t>A JWT token consists of three parts separated by dots, a </a:t>
            </a:r>
            <a:r>
              <a:rPr lang="en-US" dirty="0">
                <a:solidFill>
                  <a:srgbClr val="C00000"/>
                </a:solidFill>
              </a:rPr>
              <a:t>header</a:t>
            </a:r>
            <a:r>
              <a:rPr lang="en-US" dirty="0"/>
              <a:t>, a </a:t>
            </a:r>
            <a:r>
              <a:rPr lang="en-US" dirty="0">
                <a:solidFill>
                  <a:srgbClr val="00B050"/>
                </a:solidFill>
              </a:rPr>
              <a:t>payload</a:t>
            </a:r>
            <a:r>
              <a:rPr lang="en-US" dirty="0"/>
              <a:t>, a </a:t>
            </a:r>
            <a:r>
              <a:rPr lang="en-US" dirty="0">
                <a:solidFill>
                  <a:srgbClr val="0070C0"/>
                </a:solidFill>
              </a:rPr>
              <a:t>signature</a:t>
            </a:r>
            <a:r>
              <a:rPr lang="en-US" dirty="0"/>
              <a:t>, encoded in Base64Url (a type of encoding to represent binary data). </a:t>
            </a:r>
          </a:p>
          <a:p>
            <a:pPr marL="0" indent="0">
              <a:buNone/>
            </a:pPr>
            <a:r>
              <a:rPr lang="en-US" altLang="en-US" dirty="0">
                <a:solidFill>
                  <a:srgbClr val="C7254E"/>
                </a:solidFill>
              </a:rPr>
              <a:t>					</a:t>
            </a:r>
            <a:r>
              <a:rPr lang="en-US" altLang="en-US" dirty="0" err="1">
                <a:solidFill>
                  <a:srgbClr val="C7254E"/>
                </a:solidFill>
              </a:rPr>
              <a:t>xxxxx</a:t>
            </a:r>
            <a:r>
              <a:rPr lang="en-US" altLang="en-US" dirty="0" err="1"/>
              <a:t>.</a:t>
            </a:r>
            <a:r>
              <a:rPr lang="en-US" altLang="en-US" dirty="0" err="1">
                <a:solidFill>
                  <a:srgbClr val="00B050"/>
                </a:solidFill>
              </a:rPr>
              <a:t>yyyyy</a:t>
            </a:r>
            <a:r>
              <a:rPr lang="en-US" altLang="en-US" dirty="0" err="1"/>
              <a:t>.</a:t>
            </a:r>
            <a:r>
              <a:rPr lang="en-US" altLang="en-US" dirty="0" err="1">
                <a:solidFill>
                  <a:srgbClr val="0070C0"/>
                </a:solidFill>
              </a:rPr>
              <a:t>zzzzz</a:t>
            </a:r>
            <a:endParaRPr lang="en-US" altLang="en-US" dirty="0">
              <a:solidFill>
                <a:srgbClr val="0070C0"/>
              </a:solidFill>
            </a:endParaRPr>
          </a:p>
          <a:p>
            <a:endParaRPr lang="en-GB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14</a:t>
            </a:fld>
            <a:endParaRPr lang="en-GB"/>
          </a:p>
        </p:txBody>
      </p:sp>
      <p:sp>
        <p:nvSpPr>
          <p:cNvPr id="7" name="Rettangolo 6"/>
          <p:cNvSpPr/>
          <p:nvPr/>
        </p:nvSpPr>
        <p:spPr>
          <a:xfrm>
            <a:off x="1271131" y="4650316"/>
            <a:ext cx="7398307" cy="147732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it-IT" sz="2400" dirty="0" err="1">
                <a:solidFill>
                  <a:srgbClr val="C00000"/>
                </a:solidFill>
                <a:latin typeface="Aptos" panose="020B0004020202020204" pitchFamily="34" charset="0"/>
              </a:rPr>
              <a:t>Header</a:t>
            </a:r>
            <a:r>
              <a:rPr lang="it-IT" sz="2400" dirty="0">
                <a:latin typeface="Aptos" panose="020B0004020202020204" pitchFamily="34" charset="0"/>
              </a:rPr>
              <a:t>: the </a:t>
            </a:r>
            <a:r>
              <a:rPr lang="it-IT" sz="2400" dirty="0" err="1">
                <a:latin typeface="Aptos" panose="020B0004020202020204" pitchFamily="34" charset="0"/>
              </a:rPr>
              <a:t>type</a:t>
            </a:r>
            <a:r>
              <a:rPr lang="it-IT" sz="2400" dirty="0">
                <a:latin typeface="Aptos" panose="020B0004020202020204" pitchFamily="34" charset="0"/>
              </a:rPr>
              <a:t> of the </a:t>
            </a:r>
            <a:r>
              <a:rPr lang="it-IT" sz="2400" dirty="0" err="1">
                <a:latin typeface="Aptos" panose="020B0004020202020204" pitchFamily="34" charset="0"/>
              </a:rPr>
              <a:t>token</a:t>
            </a:r>
            <a:r>
              <a:rPr lang="it-IT" sz="2400" dirty="0">
                <a:latin typeface="Aptos" panose="020B0004020202020204" pitchFamily="34" charset="0"/>
              </a:rPr>
              <a:t> and the </a:t>
            </a:r>
            <a:r>
              <a:rPr lang="it-IT" sz="2400" dirty="0" err="1">
                <a:latin typeface="Aptos" panose="020B0004020202020204" pitchFamily="34" charset="0"/>
              </a:rPr>
              <a:t>signing</a:t>
            </a:r>
            <a:r>
              <a:rPr lang="it-IT" sz="2400" dirty="0">
                <a:latin typeface="Aptos" panose="020B0004020202020204" pitchFamily="34" charset="0"/>
              </a:rPr>
              <a:t> </a:t>
            </a:r>
            <a:r>
              <a:rPr lang="it-IT" sz="2400" dirty="0" err="1">
                <a:latin typeface="Aptos" panose="020B0004020202020204" pitchFamily="34" charset="0"/>
              </a:rPr>
              <a:t>algorithm</a:t>
            </a:r>
            <a:endParaRPr lang="it-IT" sz="2400" dirty="0">
              <a:latin typeface="Aptos" panose="020B0004020202020204" pitchFamily="34" charset="0"/>
            </a:endParaRPr>
          </a:p>
          <a:p>
            <a:pPr lvl="0" algn="ctr">
              <a:defRPr/>
            </a:pPr>
            <a:endParaRPr lang="it-IT" sz="2400" dirty="0">
              <a:latin typeface="Aptos" panose="020B0004020202020204" pitchFamily="34" charset="0"/>
            </a:endParaRPr>
          </a:p>
          <a:p>
            <a:pPr algn="ctr">
              <a:defRPr/>
            </a:pPr>
            <a:r>
              <a:rPr lang="en-GB" sz="2400" dirty="0">
                <a:latin typeface="Aptos" panose="020B0004020202020204" pitchFamily="34" charset="0"/>
              </a:rPr>
              <a:t>{ "</a:t>
            </a:r>
            <a:r>
              <a:rPr lang="en-GB" sz="2400" dirty="0" err="1">
                <a:latin typeface="Aptos" panose="020B0004020202020204" pitchFamily="34" charset="0"/>
              </a:rPr>
              <a:t>alg</a:t>
            </a:r>
            <a:r>
              <a:rPr lang="en-GB" sz="2400" dirty="0">
                <a:latin typeface="Aptos" panose="020B0004020202020204" pitchFamily="34" charset="0"/>
              </a:rPr>
              <a:t>": “RS256", "</a:t>
            </a:r>
            <a:r>
              <a:rPr lang="en-GB" sz="2400" dirty="0" err="1">
                <a:latin typeface="Aptos" panose="020B0004020202020204" pitchFamily="34" charset="0"/>
              </a:rPr>
              <a:t>typ</a:t>
            </a:r>
            <a:r>
              <a:rPr lang="en-GB" sz="2400" dirty="0">
                <a:latin typeface="Aptos" panose="020B0004020202020204" pitchFamily="34" charset="0"/>
              </a:rPr>
              <a:t>": "JWT" }</a:t>
            </a:r>
          </a:p>
          <a:p>
            <a:pPr lvl="0">
              <a:defRPr/>
            </a:pPr>
            <a:endParaRPr lang="it-IT" dirty="0">
              <a:latin typeface="Aptos" panose="020B0004020202020204" pitchFamily="34" charset="0"/>
            </a:endParaRPr>
          </a:p>
        </p:txBody>
      </p:sp>
      <p:cxnSp>
        <p:nvCxnSpPr>
          <p:cNvPr id="9" name="Connettore 2 8"/>
          <p:cNvCxnSpPr>
            <a:cxnSpLocks/>
          </p:cNvCxnSpPr>
          <p:nvPr/>
        </p:nvCxnSpPr>
        <p:spPr>
          <a:xfrm flipH="1">
            <a:off x="5159375" y="3730336"/>
            <a:ext cx="233507" cy="82825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72071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JSON Web </a:t>
            </a:r>
            <a:r>
              <a:rPr lang="it-IT" dirty="0" err="1"/>
              <a:t>token</a:t>
            </a:r>
            <a:endParaRPr lang="en-GB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15</a:t>
            </a:fld>
            <a:endParaRPr lang="en-GB"/>
          </a:p>
        </p:txBody>
      </p:sp>
      <p:sp>
        <p:nvSpPr>
          <p:cNvPr id="7" name="Segnaposto contenuto 2"/>
          <p:cNvSpPr>
            <a:spLocks noGrp="1"/>
          </p:cNvSpPr>
          <p:nvPr>
            <p:ph idx="1"/>
          </p:nvPr>
        </p:nvSpPr>
        <p:spPr>
          <a:xfrm>
            <a:off x="428172" y="1266826"/>
            <a:ext cx="11368314" cy="4858203"/>
          </a:xfrm>
        </p:spPr>
        <p:txBody>
          <a:bodyPr/>
          <a:lstStyle/>
          <a:p>
            <a:pPr marL="0" indent="0">
              <a:buNone/>
            </a:pPr>
            <a:r>
              <a:rPr lang="en-US" altLang="en-US" dirty="0">
                <a:solidFill>
                  <a:srgbClr val="C7254E"/>
                </a:solidFill>
              </a:rPr>
              <a:t>	</a:t>
            </a:r>
            <a:r>
              <a:rPr lang="en-US" altLang="en-US" dirty="0" err="1">
                <a:solidFill>
                  <a:srgbClr val="C7254E"/>
                </a:solidFill>
              </a:rPr>
              <a:t>xxxxx</a:t>
            </a:r>
            <a:r>
              <a:rPr lang="en-US" altLang="en-US" dirty="0" err="1"/>
              <a:t>.</a:t>
            </a:r>
            <a:r>
              <a:rPr lang="en-US" altLang="en-US" dirty="0" err="1">
                <a:solidFill>
                  <a:srgbClr val="00B050"/>
                </a:solidFill>
              </a:rPr>
              <a:t>yyyyy</a:t>
            </a:r>
            <a:r>
              <a:rPr lang="en-US" altLang="en-US" dirty="0" err="1"/>
              <a:t>.</a:t>
            </a:r>
            <a:r>
              <a:rPr lang="en-US" altLang="en-US" dirty="0" err="1">
                <a:solidFill>
                  <a:srgbClr val="0070C0"/>
                </a:solidFill>
              </a:rPr>
              <a:t>zzzzz</a:t>
            </a:r>
            <a:endParaRPr lang="en-US" altLang="en-US" dirty="0">
              <a:solidFill>
                <a:srgbClr val="0070C0"/>
              </a:solidFill>
            </a:endParaRPr>
          </a:p>
          <a:p>
            <a:endParaRPr lang="en-GB" dirty="0"/>
          </a:p>
        </p:txBody>
      </p:sp>
      <p:sp>
        <p:nvSpPr>
          <p:cNvPr id="9" name="Rettangolo 8"/>
          <p:cNvSpPr/>
          <p:nvPr/>
        </p:nvSpPr>
        <p:spPr>
          <a:xfrm>
            <a:off x="636153" y="2168175"/>
            <a:ext cx="839152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t-IT" sz="2400" dirty="0">
                <a:solidFill>
                  <a:srgbClr val="00B050"/>
                </a:solidFill>
                <a:latin typeface="Aptos" panose="020B0004020202020204" pitchFamily="34" charset="0"/>
              </a:rPr>
              <a:t>Payload</a:t>
            </a:r>
            <a:r>
              <a:rPr lang="it-IT" sz="2400" dirty="0">
                <a:latin typeface="Aptos" panose="020B0004020202020204" pitchFamily="34" charset="0"/>
              </a:rPr>
              <a:t>: </a:t>
            </a:r>
            <a:r>
              <a:rPr lang="it-IT" sz="2400" dirty="0" err="1">
                <a:latin typeface="Aptos" panose="020B0004020202020204" pitchFamily="34" charset="0"/>
              </a:rPr>
              <a:t>it</a:t>
            </a:r>
            <a:r>
              <a:rPr lang="it-IT" sz="2400" dirty="0">
                <a:latin typeface="Aptos" panose="020B0004020202020204" pitchFamily="34" charset="0"/>
              </a:rPr>
              <a:t> </a:t>
            </a:r>
            <a:r>
              <a:rPr lang="it-IT" sz="2400" dirty="0" err="1">
                <a:latin typeface="Aptos" panose="020B0004020202020204" pitchFamily="34" charset="0"/>
              </a:rPr>
              <a:t>contains</a:t>
            </a:r>
            <a:r>
              <a:rPr lang="it-IT" sz="2400" dirty="0">
                <a:latin typeface="Aptos" panose="020B0004020202020204" pitchFamily="34" charset="0"/>
              </a:rPr>
              <a:t> </a:t>
            </a:r>
            <a:r>
              <a:rPr lang="it-IT" sz="2400" dirty="0" err="1">
                <a:latin typeface="Aptos" panose="020B0004020202020204" pitchFamily="34" charset="0"/>
              </a:rPr>
              <a:t>claims</a:t>
            </a:r>
            <a:r>
              <a:rPr lang="it-IT" sz="2400" dirty="0">
                <a:latin typeface="Aptos" panose="020B0004020202020204" pitchFamily="34" charset="0"/>
              </a:rPr>
              <a:t>, i.e., some </a:t>
            </a:r>
            <a:r>
              <a:rPr lang="it-IT" sz="2400" dirty="0" err="1">
                <a:latin typeface="Aptos" panose="020B0004020202020204" pitchFamily="34" charset="0"/>
              </a:rPr>
              <a:t>statements</a:t>
            </a:r>
            <a:r>
              <a:rPr lang="it-IT" sz="2400" dirty="0">
                <a:latin typeface="Aptos" panose="020B0004020202020204" pitchFamily="34" charset="0"/>
              </a:rPr>
              <a:t>.</a:t>
            </a:r>
          </a:p>
        </p:txBody>
      </p:sp>
      <p:cxnSp>
        <p:nvCxnSpPr>
          <p:cNvPr id="10" name="Connettore 2 9"/>
          <p:cNvCxnSpPr/>
          <p:nvPr/>
        </p:nvCxnSpPr>
        <p:spPr>
          <a:xfrm flipH="1">
            <a:off x="2624666" y="1713429"/>
            <a:ext cx="23134" cy="45474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2" name="Tabella 11"/>
          <p:cNvGraphicFramePr>
            <a:graphicFrameLocks noGrp="1"/>
          </p:cNvGraphicFramePr>
          <p:nvPr/>
        </p:nvGraphicFramePr>
        <p:xfrm>
          <a:off x="511363" y="3852149"/>
          <a:ext cx="9547451" cy="2734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944632394"/>
                    </a:ext>
                  </a:extLst>
                </a:gridCol>
                <a:gridCol w="1698172">
                  <a:extLst>
                    <a:ext uri="{9D8B030D-6E8A-4147-A177-3AD203B41FA5}">
                      <a16:colId xmlns:a16="http://schemas.microsoft.com/office/drawing/2014/main" val="2563894591"/>
                    </a:ext>
                  </a:extLst>
                </a:gridCol>
                <a:gridCol w="7087279">
                  <a:extLst>
                    <a:ext uri="{9D8B030D-6E8A-4147-A177-3AD203B41FA5}">
                      <a16:colId xmlns:a16="http://schemas.microsoft.com/office/drawing/2014/main" val="3422392706"/>
                    </a:ext>
                  </a:extLst>
                </a:gridCol>
              </a:tblGrid>
              <a:tr h="349049">
                <a:tc>
                  <a:txBody>
                    <a:bodyPr/>
                    <a:lstStyle/>
                    <a:p>
                      <a:r>
                        <a:rPr lang="en-GB" sz="1600" dirty="0" err="1">
                          <a:effectLst/>
                          <a:latin typeface="Palatino Linotype" panose="02040502050505030304" pitchFamily="18" charset="0"/>
                        </a:rPr>
                        <a:t>iss</a:t>
                      </a:r>
                      <a:endParaRPr lang="en-GB" sz="1600" dirty="0"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59521" marR="59521" marT="29761" marB="29761" anchor="ctr"/>
                </a:tc>
                <a:tc>
                  <a:txBody>
                    <a:bodyPr/>
                    <a:lstStyle/>
                    <a:p>
                      <a:r>
                        <a:rPr lang="en-GB" sz="1600" dirty="0">
                          <a:effectLst/>
                          <a:latin typeface="Palatino Linotype" panose="02040502050505030304" pitchFamily="18" charset="0"/>
                        </a:rPr>
                        <a:t>Issuer</a:t>
                      </a:r>
                    </a:p>
                  </a:txBody>
                  <a:tcPr marL="59521" marR="59521" marT="29761" marB="29761" anchor="ctr"/>
                </a:tc>
                <a:tc>
                  <a:txBody>
                    <a:bodyPr/>
                    <a:lstStyle/>
                    <a:p>
                      <a:r>
                        <a:rPr lang="en-GB" sz="1600" dirty="0">
                          <a:effectLst/>
                          <a:latin typeface="Palatino Linotype" panose="02040502050505030304" pitchFamily="18" charset="0"/>
                        </a:rPr>
                        <a:t>Identifies principal that issued the JWT.</a:t>
                      </a:r>
                    </a:p>
                  </a:txBody>
                  <a:tcPr marL="59521" marR="59521" marT="29761" marB="29761" anchor="ctr"/>
                </a:tc>
                <a:extLst>
                  <a:ext uri="{0D108BD9-81ED-4DB2-BD59-A6C34878D82A}">
                    <a16:rowId xmlns:a16="http://schemas.microsoft.com/office/drawing/2014/main" val="20433711"/>
                  </a:ext>
                </a:extLst>
              </a:tr>
              <a:tr h="349049">
                <a:tc>
                  <a:txBody>
                    <a:bodyPr/>
                    <a:lstStyle/>
                    <a:p>
                      <a:r>
                        <a:rPr lang="en-GB" sz="1600" dirty="0">
                          <a:effectLst/>
                          <a:latin typeface="Palatino Linotype" panose="02040502050505030304" pitchFamily="18" charset="0"/>
                        </a:rPr>
                        <a:t>sub</a:t>
                      </a:r>
                    </a:p>
                  </a:txBody>
                  <a:tcPr marL="59521" marR="59521" marT="29761" marB="29761" anchor="ctr"/>
                </a:tc>
                <a:tc>
                  <a:txBody>
                    <a:bodyPr/>
                    <a:lstStyle/>
                    <a:p>
                      <a:r>
                        <a:rPr lang="en-GB" sz="1600" dirty="0">
                          <a:effectLst/>
                          <a:latin typeface="Palatino Linotype" panose="02040502050505030304" pitchFamily="18" charset="0"/>
                        </a:rPr>
                        <a:t>Subject</a:t>
                      </a:r>
                    </a:p>
                  </a:txBody>
                  <a:tcPr marL="59521" marR="59521" marT="29761" marB="29761" anchor="ctr"/>
                </a:tc>
                <a:tc>
                  <a:txBody>
                    <a:bodyPr/>
                    <a:lstStyle/>
                    <a:p>
                      <a:r>
                        <a:rPr lang="en-GB" sz="1600" dirty="0">
                          <a:effectLst/>
                          <a:latin typeface="Palatino Linotype" panose="02040502050505030304" pitchFamily="18" charset="0"/>
                        </a:rPr>
                        <a:t>Identifies the subject of the JWT.</a:t>
                      </a:r>
                    </a:p>
                  </a:txBody>
                  <a:tcPr marL="59521" marR="59521" marT="29761" marB="29761" anchor="ctr"/>
                </a:tc>
                <a:extLst>
                  <a:ext uri="{0D108BD9-81ED-4DB2-BD59-A6C34878D82A}">
                    <a16:rowId xmlns:a16="http://schemas.microsoft.com/office/drawing/2014/main" val="2472020253"/>
                  </a:ext>
                </a:extLst>
              </a:tr>
              <a:tr h="744561">
                <a:tc>
                  <a:txBody>
                    <a:bodyPr/>
                    <a:lstStyle/>
                    <a:p>
                      <a:r>
                        <a:rPr lang="en-GB" sz="1600" dirty="0" err="1">
                          <a:effectLst/>
                          <a:latin typeface="Palatino Linotype" panose="02040502050505030304" pitchFamily="18" charset="0"/>
                        </a:rPr>
                        <a:t>aud</a:t>
                      </a:r>
                      <a:endParaRPr lang="en-GB" sz="1600" dirty="0"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59521" marR="59521" marT="29761" marB="29761" anchor="ctr"/>
                </a:tc>
                <a:tc>
                  <a:txBody>
                    <a:bodyPr/>
                    <a:lstStyle/>
                    <a:p>
                      <a:r>
                        <a:rPr lang="en-GB" sz="1600" dirty="0">
                          <a:effectLst/>
                          <a:latin typeface="Palatino Linotype" panose="02040502050505030304" pitchFamily="18" charset="0"/>
                        </a:rPr>
                        <a:t>Audience</a:t>
                      </a:r>
                    </a:p>
                  </a:txBody>
                  <a:tcPr marL="59521" marR="59521" marT="29761" marB="29761" anchor="ctr"/>
                </a:tc>
                <a:tc>
                  <a:txBody>
                    <a:bodyPr/>
                    <a:lstStyle/>
                    <a:p>
                      <a:r>
                        <a:rPr lang="en-GB" sz="1600" dirty="0">
                          <a:effectLst/>
                          <a:latin typeface="Palatino Linotype" panose="02040502050505030304" pitchFamily="18" charset="0"/>
                        </a:rPr>
                        <a:t>Identifies the recipients that the JWT is intended for. If the principal processing the claim does not identify itself with a value in the </a:t>
                      </a:r>
                      <a:r>
                        <a:rPr lang="en-GB" sz="1600" dirty="0" err="1">
                          <a:effectLst/>
                          <a:latin typeface="Palatino Linotype" panose="02040502050505030304" pitchFamily="18" charset="0"/>
                        </a:rPr>
                        <a:t>aud</a:t>
                      </a:r>
                      <a:r>
                        <a:rPr lang="en-GB" sz="1600" dirty="0">
                          <a:effectLst/>
                          <a:latin typeface="Palatino Linotype" panose="02040502050505030304" pitchFamily="18" charset="0"/>
                        </a:rPr>
                        <a:t> claim when this claim is present, then the JWT must be rejected.</a:t>
                      </a:r>
                    </a:p>
                  </a:txBody>
                  <a:tcPr marL="59521" marR="59521" marT="29761" marB="29761" anchor="ctr"/>
                </a:tc>
                <a:extLst>
                  <a:ext uri="{0D108BD9-81ED-4DB2-BD59-A6C34878D82A}">
                    <a16:rowId xmlns:a16="http://schemas.microsoft.com/office/drawing/2014/main" val="1120949091"/>
                  </a:ext>
                </a:extLst>
              </a:tr>
              <a:tr h="515049">
                <a:tc>
                  <a:txBody>
                    <a:bodyPr/>
                    <a:lstStyle/>
                    <a:p>
                      <a:r>
                        <a:rPr lang="en-GB" sz="1600">
                          <a:effectLst/>
                          <a:latin typeface="Palatino Linotype" panose="02040502050505030304" pitchFamily="18" charset="0"/>
                        </a:rPr>
                        <a:t>exp</a:t>
                      </a:r>
                    </a:p>
                  </a:txBody>
                  <a:tcPr marL="59521" marR="59521" marT="29761" marB="29761" anchor="ctr"/>
                </a:tc>
                <a:tc>
                  <a:txBody>
                    <a:bodyPr/>
                    <a:lstStyle/>
                    <a:p>
                      <a:r>
                        <a:rPr lang="en-GB" sz="1600" dirty="0">
                          <a:effectLst/>
                          <a:latin typeface="Palatino Linotype" panose="02040502050505030304" pitchFamily="18" charset="0"/>
                        </a:rPr>
                        <a:t>Expiration Time</a:t>
                      </a:r>
                    </a:p>
                  </a:txBody>
                  <a:tcPr marL="59521" marR="59521" marT="29761" marB="29761" anchor="ctr"/>
                </a:tc>
                <a:tc>
                  <a:txBody>
                    <a:bodyPr/>
                    <a:lstStyle/>
                    <a:p>
                      <a:r>
                        <a:rPr lang="en-GB" sz="1600" dirty="0">
                          <a:effectLst/>
                          <a:latin typeface="Palatino Linotype" panose="02040502050505030304" pitchFamily="18" charset="0"/>
                        </a:rPr>
                        <a:t>Identifies the expiration time on and after which the JWT must not be accepted for processing. </a:t>
                      </a:r>
                    </a:p>
                  </a:txBody>
                  <a:tcPr marL="59521" marR="59521" marT="29761" marB="29761" anchor="ctr"/>
                </a:tc>
                <a:extLst>
                  <a:ext uri="{0D108BD9-81ED-4DB2-BD59-A6C34878D82A}">
                    <a16:rowId xmlns:a16="http://schemas.microsoft.com/office/drawing/2014/main" val="3975743850"/>
                  </a:ext>
                </a:extLst>
              </a:tr>
              <a:tr h="349049">
                <a:tc>
                  <a:txBody>
                    <a:bodyPr/>
                    <a:lstStyle/>
                    <a:p>
                      <a:r>
                        <a:rPr lang="en-GB" sz="1600">
                          <a:effectLst/>
                          <a:latin typeface="Palatino Linotype" panose="02040502050505030304" pitchFamily="18" charset="0"/>
                        </a:rPr>
                        <a:t>nbf</a:t>
                      </a:r>
                    </a:p>
                  </a:txBody>
                  <a:tcPr marL="59521" marR="59521" marT="29761" marB="29761" anchor="ctr"/>
                </a:tc>
                <a:tc>
                  <a:txBody>
                    <a:bodyPr/>
                    <a:lstStyle/>
                    <a:p>
                      <a:r>
                        <a:rPr lang="en-GB" sz="1600">
                          <a:effectLst/>
                          <a:latin typeface="Palatino Linotype" panose="02040502050505030304" pitchFamily="18" charset="0"/>
                        </a:rPr>
                        <a:t>Not Before</a:t>
                      </a:r>
                    </a:p>
                  </a:txBody>
                  <a:tcPr marL="59521" marR="59521" marT="29761" marB="29761" anchor="ctr"/>
                </a:tc>
                <a:tc>
                  <a:txBody>
                    <a:bodyPr/>
                    <a:lstStyle/>
                    <a:p>
                      <a:r>
                        <a:rPr lang="en-GB" sz="1600" dirty="0">
                          <a:effectLst/>
                          <a:latin typeface="Palatino Linotype" panose="02040502050505030304" pitchFamily="18" charset="0"/>
                        </a:rPr>
                        <a:t>Identifies the time on which the JWT will start to be accepted for processing. </a:t>
                      </a:r>
                    </a:p>
                  </a:txBody>
                  <a:tcPr marL="59521" marR="59521" marT="29761" marB="29761" anchor="ctr"/>
                </a:tc>
                <a:extLst>
                  <a:ext uri="{0D108BD9-81ED-4DB2-BD59-A6C34878D82A}">
                    <a16:rowId xmlns:a16="http://schemas.microsoft.com/office/drawing/2014/main" val="2742796700"/>
                  </a:ext>
                </a:extLst>
              </a:tr>
              <a:tr h="349049">
                <a:tc>
                  <a:txBody>
                    <a:bodyPr/>
                    <a:lstStyle/>
                    <a:p>
                      <a:r>
                        <a:rPr lang="en-GB" sz="1600">
                          <a:effectLst/>
                          <a:latin typeface="Palatino Linotype" panose="02040502050505030304" pitchFamily="18" charset="0"/>
                        </a:rPr>
                        <a:t>iat</a:t>
                      </a:r>
                    </a:p>
                  </a:txBody>
                  <a:tcPr marL="59521" marR="59521" marT="29761" marB="29761" anchor="ctr"/>
                </a:tc>
                <a:tc>
                  <a:txBody>
                    <a:bodyPr/>
                    <a:lstStyle/>
                    <a:p>
                      <a:r>
                        <a:rPr lang="en-GB" sz="1600">
                          <a:effectLst/>
                          <a:latin typeface="Palatino Linotype" panose="02040502050505030304" pitchFamily="18" charset="0"/>
                        </a:rPr>
                        <a:t>Issued at</a:t>
                      </a:r>
                    </a:p>
                  </a:txBody>
                  <a:tcPr marL="59521" marR="59521" marT="29761" marB="29761" anchor="ctr"/>
                </a:tc>
                <a:tc>
                  <a:txBody>
                    <a:bodyPr/>
                    <a:lstStyle/>
                    <a:p>
                      <a:r>
                        <a:rPr lang="en-GB" sz="1600" dirty="0">
                          <a:effectLst/>
                          <a:latin typeface="Palatino Linotype" panose="02040502050505030304" pitchFamily="18" charset="0"/>
                        </a:rPr>
                        <a:t>Identifies the time at which the JWT was issued. </a:t>
                      </a:r>
                    </a:p>
                  </a:txBody>
                  <a:tcPr marL="59521" marR="59521" marT="29761" marB="29761" anchor="ctr"/>
                </a:tc>
                <a:extLst>
                  <a:ext uri="{0D108BD9-81ED-4DB2-BD59-A6C34878D82A}">
                    <a16:rowId xmlns:a16="http://schemas.microsoft.com/office/drawing/2014/main" val="3236359202"/>
                  </a:ext>
                </a:extLst>
              </a:tr>
            </a:tbl>
          </a:graphicData>
        </a:graphic>
      </p:graphicFrame>
      <p:sp>
        <p:nvSpPr>
          <p:cNvPr id="13" name="CasellaDiTesto 12"/>
          <p:cNvSpPr txBox="1"/>
          <p:nvPr/>
        </p:nvSpPr>
        <p:spPr>
          <a:xfrm>
            <a:off x="0" y="3329437"/>
            <a:ext cx="47098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000" b="1" dirty="0">
                <a:latin typeface="Aptos" panose="020B0004020202020204" pitchFamily="34" charset="0"/>
              </a:rPr>
              <a:t>Standard </a:t>
            </a:r>
            <a:r>
              <a:rPr lang="it-IT" sz="2000" b="1" dirty="0" err="1">
                <a:latin typeface="Aptos" panose="020B0004020202020204" pitchFamily="34" charset="0"/>
              </a:rPr>
              <a:t>payload</a:t>
            </a:r>
            <a:r>
              <a:rPr lang="it-IT" sz="2000" b="1" dirty="0">
                <a:latin typeface="Aptos" panose="020B0004020202020204" pitchFamily="34" charset="0"/>
              </a:rPr>
              <a:t> </a:t>
            </a:r>
            <a:r>
              <a:rPr lang="it-IT" sz="2000" b="1" dirty="0" err="1">
                <a:latin typeface="Aptos" panose="020B0004020202020204" pitchFamily="34" charset="0"/>
              </a:rPr>
              <a:t>claim</a:t>
            </a:r>
            <a:r>
              <a:rPr lang="it-IT" sz="2000" b="1" dirty="0">
                <a:latin typeface="Aptos" panose="020B0004020202020204" pitchFamily="34" charset="0"/>
              </a:rPr>
              <a:t> </a:t>
            </a:r>
            <a:r>
              <a:rPr lang="it-IT" sz="2000" b="1" dirty="0" err="1">
                <a:latin typeface="Aptos" panose="020B0004020202020204" pitchFamily="34" charset="0"/>
              </a:rPr>
              <a:t>fields</a:t>
            </a:r>
            <a:endParaRPr lang="en-GB" sz="2000" b="1" dirty="0">
              <a:latin typeface="Aptos" panose="020B0004020202020204" pitchFamily="34" charset="0"/>
            </a:endParaRPr>
          </a:p>
        </p:txBody>
      </p:sp>
      <p:sp>
        <p:nvSpPr>
          <p:cNvPr id="14" name="Rettangolo 13"/>
          <p:cNvSpPr/>
          <p:nvPr/>
        </p:nvSpPr>
        <p:spPr>
          <a:xfrm>
            <a:off x="7876419" y="1131940"/>
            <a:ext cx="3920067" cy="2585323"/>
          </a:xfrm>
          <a:prstGeom prst="rect">
            <a:avLst/>
          </a:prstGeom>
          <a:ln>
            <a:solidFill>
              <a:srgbClr val="00B050"/>
            </a:solidFill>
          </a:ln>
        </p:spPr>
        <p:txBody>
          <a:bodyPr wrap="square">
            <a:spAutoFit/>
          </a:bodyPr>
          <a:lstStyle/>
          <a:p>
            <a:r>
              <a:rPr lang="en-GB" dirty="0">
                <a:latin typeface="Aptos" panose="020B0004020202020204" pitchFamily="34" charset="0"/>
              </a:rPr>
              <a:t>{ </a:t>
            </a:r>
          </a:p>
          <a:p>
            <a:r>
              <a:rPr lang="en-GB" dirty="0">
                <a:latin typeface="Aptos" panose="020B0004020202020204" pitchFamily="34" charset="0"/>
              </a:rPr>
              <a:t>"</a:t>
            </a:r>
            <a:r>
              <a:rPr lang="en-GB" dirty="0" err="1">
                <a:latin typeface="Aptos" panose="020B0004020202020204" pitchFamily="34" charset="0"/>
              </a:rPr>
              <a:t>iss</a:t>
            </a:r>
            <a:r>
              <a:rPr lang="en-GB" dirty="0">
                <a:latin typeface="Aptos" panose="020B0004020202020204" pitchFamily="34" charset="0"/>
              </a:rPr>
              <a:t>": "https://accounts.google.com", </a:t>
            </a:r>
          </a:p>
          <a:p>
            <a:r>
              <a:rPr lang="en-GB" dirty="0">
                <a:latin typeface="Aptos" panose="020B0004020202020204" pitchFamily="34" charset="0"/>
              </a:rPr>
              <a:t>"sub": "you@gmail.com", </a:t>
            </a:r>
          </a:p>
          <a:p>
            <a:r>
              <a:rPr lang="en-GB" dirty="0">
                <a:latin typeface="Aptos" panose="020B0004020202020204" pitchFamily="34" charset="0"/>
              </a:rPr>
              <a:t>"name": “John Smith" </a:t>
            </a:r>
          </a:p>
          <a:p>
            <a:r>
              <a:rPr lang="en-GB" dirty="0">
                <a:latin typeface="Aptos" panose="020B0004020202020204" pitchFamily="34" charset="0"/>
              </a:rPr>
              <a:t>"</a:t>
            </a:r>
            <a:r>
              <a:rPr lang="en-GB" dirty="0" err="1">
                <a:latin typeface="Aptos" panose="020B0004020202020204" pitchFamily="34" charset="0"/>
              </a:rPr>
              <a:t>aud</a:t>
            </a:r>
            <a:r>
              <a:rPr lang="en-GB" dirty="0">
                <a:latin typeface="Aptos" panose="020B0004020202020204" pitchFamily="34" charset="0"/>
              </a:rPr>
              <a:t>": "s6BhdRkqt3", </a:t>
            </a:r>
          </a:p>
          <a:p>
            <a:r>
              <a:rPr lang="en-GB" dirty="0">
                <a:latin typeface="Aptos" panose="020B0004020202020204" pitchFamily="34" charset="0"/>
              </a:rPr>
              <a:t>"</a:t>
            </a:r>
            <a:r>
              <a:rPr lang="en-GB" dirty="0" err="1">
                <a:latin typeface="Aptos" panose="020B0004020202020204" pitchFamily="34" charset="0"/>
              </a:rPr>
              <a:t>exp</a:t>
            </a:r>
            <a:r>
              <a:rPr lang="en-GB" dirty="0">
                <a:latin typeface="Aptos" panose="020B0004020202020204" pitchFamily="34" charset="0"/>
              </a:rPr>
              <a:t>": 1311281970, </a:t>
            </a:r>
          </a:p>
          <a:p>
            <a:r>
              <a:rPr lang="en-GB" dirty="0">
                <a:latin typeface="Aptos" panose="020B0004020202020204" pitchFamily="34" charset="0"/>
              </a:rPr>
              <a:t>"</a:t>
            </a:r>
            <a:r>
              <a:rPr lang="en-GB" dirty="0" err="1">
                <a:latin typeface="Aptos" panose="020B0004020202020204" pitchFamily="34" charset="0"/>
              </a:rPr>
              <a:t>iat</a:t>
            </a:r>
            <a:r>
              <a:rPr lang="en-GB" dirty="0">
                <a:latin typeface="Aptos" panose="020B0004020202020204" pitchFamily="34" charset="0"/>
              </a:rPr>
              <a:t>": 1311280970, </a:t>
            </a:r>
          </a:p>
          <a:p>
            <a:r>
              <a:rPr lang="en-GB" dirty="0">
                <a:latin typeface="Aptos" panose="020B0004020202020204" pitchFamily="34" charset="0"/>
              </a:rPr>
              <a:t>"</a:t>
            </a:r>
            <a:r>
              <a:rPr lang="en-GB" dirty="0" err="1">
                <a:latin typeface="Aptos" panose="020B0004020202020204" pitchFamily="34" charset="0"/>
              </a:rPr>
              <a:t>auth_time</a:t>
            </a:r>
            <a:r>
              <a:rPr lang="en-GB" dirty="0">
                <a:latin typeface="Aptos" panose="020B0004020202020204" pitchFamily="34" charset="0"/>
              </a:rPr>
              <a:t>": 1311280969</a:t>
            </a:r>
          </a:p>
          <a:p>
            <a:r>
              <a:rPr lang="en-GB" dirty="0">
                <a:latin typeface="Aptos" panose="020B0004020202020204" pitchFamily="34" charset="0"/>
              </a:rPr>
              <a:t>} </a:t>
            </a:r>
          </a:p>
        </p:txBody>
      </p:sp>
    </p:spTree>
    <p:extLst>
      <p:ext uri="{BB962C8B-B14F-4D97-AF65-F5344CB8AC3E}">
        <p14:creationId xmlns:p14="http://schemas.microsoft.com/office/powerpoint/2010/main" val="4995396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JSON Web </a:t>
            </a:r>
            <a:r>
              <a:rPr lang="it-IT" dirty="0" err="1"/>
              <a:t>token</a:t>
            </a:r>
            <a:endParaRPr lang="en-GB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16</a:t>
            </a:fld>
            <a:endParaRPr lang="en-GB"/>
          </a:p>
        </p:txBody>
      </p:sp>
      <p:sp>
        <p:nvSpPr>
          <p:cNvPr id="7" name="Segnaposto contenuto 2"/>
          <p:cNvSpPr>
            <a:spLocks noGrp="1"/>
          </p:cNvSpPr>
          <p:nvPr>
            <p:ph idx="1"/>
          </p:nvPr>
        </p:nvSpPr>
        <p:spPr>
          <a:xfrm>
            <a:off x="428172" y="1361167"/>
            <a:ext cx="11368314" cy="4858203"/>
          </a:xfrm>
        </p:spPr>
        <p:txBody>
          <a:bodyPr/>
          <a:lstStyle/>
          <a:p>
            <a:pPr marL="0" indent="0">
              <a:buNone/>
            </a:pPr>
            <a:r>
              <a:rPr lang="en-US" altLang="en-US" dirty="0">
                <a:solidFill>
                  <a:srgbClr val="C7254E"/>
                </a:solidFill>
              </a:rPr>
              <a:t>					</a:t>
            </a:r>
            <a:r>
              <a:rPr lang="en-US" altLang="en-US" dirty="0" err="1">
                <a:solidFill>
                  <a:srgbClr val="C7254E"/>
                </a:solidFill>
              </a:rPr>
              <a:t>xxxxx</a:t>
            </a:r>
            <a:r>
              <a:rPr lang="en-US" altLang="en-US" dirty="0" err="1"/>
              <a:t>.</a:t>
            </a:r>
            <a:r>
              <a:rPr lang="en-US" altLang="en-US" dirty="0" err="1">
                <a:solidFill>
                  <a:srgbClr val="00B050"/>
                </a:solidFill>
              </a:rPr>
              <a:t>yyyyy</a:t>
            </a:r>
            <a:r>
              <a:rPr lang="en-US" altLang="en-US" dirty="0" err="1"/>
              <a:t>.</a:t>
            </a:r>
            <a:r>
              <a:rPr lang="en-US" altLang="en-US" dirty="0" err="1">
                <a:solidFill>
                  <a:srgbClr val="0070C0"/>
                </a:solidFill>
              </a:rPr>
              <a:t>zzzzz</a:t>
            </a:r>
            <a:endParaRPr lang="en-US" altLang="en-US" dirty="0">
              <a:solidFill>
                <a:srgbClr val="0070C0"/>
              </a:solidFill>
            </a:endParaRPr>
          </a:p>
          <a:p>
            <a:pPr marL="0" indent="0">
              <a:buNone/>
            </a:pPr>
            <a:endParaRPr lang="en-US" altLang="en-US" dirty="0">
              <a:solidFill>
                <a:srgbClr val="0070C0"/>
              </a:solidFill>
            </a:endParaRPr>
          </a:p>
          <a:p>
            <a:pPr marL="0" indent="0">
              <a:buNone/>
            </a:pPr>
            <a:endParaRPr lang="en-US" altLang="en-US" dirty="0">
              <a:solidFill>
                <a:srgbClr val="0070C0"/>
              </a:solidFill>
            </a:endParaRPr>
          </a:p>
          <a:p>
            <a:r>
              <a:rPr lang="en-GB" dirty="0"/>
              <a:t>The signature is calculated by these steps:</a:t>
            </a:r>
          </a:p>
          <a:p>
            <a:pPr lvl="1"/>
            <a:r>
              <a:rPr lang="en-GB" sz="2400" dirty="0"/>
              <a:t>header and payload encoded using Base64url</a:t>
            </a:r>
          </a:p>
          <a:p>
            <a:pPr lvl="1"/>
            <a:r>
              <a:rPr lang="en-GB" sz="2400" dirty="0"/>
              <a:t>concatenation of the encoded header and payload with a separating character</a:t>
            </a:r>
          </a:p>
          <a:p>
            <a:pPr lvl="1"/>
            <a:r>
              <a:rPr lang="en-GB" sz="2400" dirty="0"/>
              <a:t>Encryption of the obtained string through the cryptographic algorithm specified in the header.</a:t>
            </a:r>
          </a:p>
          <a:p>
            <a:endParaRPr lang="en-GB" dirty="0"/>
          </a:p>
          <a:p>
            <a:pPr marL="0" indent="0">
              <a:buNone/>
            </a:pPr>
            <a:r>
              <a:rPr lang="it-IT" dirty="0"/>
              <a:t>RS256(</a:t>
            </a:r>
            <a:r>
              <a:rPr lang="en-GB" dirty="0"/>
              <a:t>base64UrlEncode(header) + "." + base64UrlEncode(payload), </a:t>
            </a:r>
            <a:r>
              <a:rPr lang="en-GB" dirty="0" err="1"/>
              <a:t>signature_key</a:t>
            </a:r>
            <a:r>
              <a:rPr lang="it-IT" dirty="0"/>
              <a:t>)</a:t>
            </a:r>
            <a:endParaRPr lang="en-GB" dirty="0"/>
          </a:p>
          <a:p>
            <a:pPr marL="0" indent="0">
              <a:buNone/>
            </a:pPr>
            <a:endParaRPr lang="en-US" altLang="en-US" dirty="0">
              <a:solidFill>
                <a:srgbClr val="0070C0"/>
              </a:solidFill>
            </a:endParaRPr>
          </a:p>
          <a:p>
            <a:endParaRPr lang="en-GB" dirty="0"/>
          </a:p>
        </p:txBody>
      </p:sp>
      <p:sp>
        <p:nvSpPr>
          <p:cNvPr id="9" name="Rettangolo 8"/>
          <p:cNvSpPr/>
          <p:nvPr/>
        </p:nvSpPr>
        <p:spPr>
          <a:xfrm>
            <a:off x="2864304" y="2140857"/>
            <a:ext cx="839152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t-IT" sz="2400" dirty="0" err="1">
                <a:solidFill>
                  <a:srgbClr val="0070C0"/>
                </a:solidFill>
                <a:latin typeface="Aptos" panose="020B0004020202020204" pitchFamily="34" charset="0"/>
              </a:rPr>
              <a:t>Signature</a:t>
            </a:r>
            <a:r>
              <a:rPr lang="it-IT" sz="2400" dirty="0">
                <a:latin typeface="Aptos" panose="020B0004020202020204" pitchFamily="34" charset="0"/>
              </a:rPr>
              <a:t>: </a:t>
            </a:r>
            <a:r>
              <a:rPr lang="it-IT" sz="2400" dirty="0" err="1">
                <a:latin typeface="Aptos" panose="020B0004020202020204" pitchFamily="34" charset="0"/>
              </a:rPr>
              <a:t>it</a:t>
            </a:r>
            <a:r>
              <a:rPr lang="it-IT" sz="2400" dirty="0">
                <a:latin typeface="Aptos" panose="020B0004020202020204" pitchFamily="34" charset="0"/>
              </a:rPr>
              <a:t> </a:t>
            </a:r>
            <a:r>
              <a:rPr lang="it-IT" sz="2400" dirty="0" err="1">
                <a:latin typeface="Aptos" panose="020B0004020202020204" pitchFamily="34" charset="0"/>
              </a:rPr>
              <a:t>contains</a:t>
            </a:r>
            <a:r>
              <a:rPr lang="it-IT" sz="2400" dirty="0">
                <a:latin typeface="Aptos" panose="020B0004020202020204" pitchFamily="34" charset="0"/>
              </a:rPr>
              <a:t> a </a:t>
            </a:r>
            <a:r>
              <a:rPr lang="it-IT" sz="2400" dirty="0" err="1">
                <a:latin typeface="Aptos" panose="020B0004020202020204" pitchFamily="34" charset="0"/>
              </a:rPr>
              <a:t>signature</a:t>
            </a:r>
            <a:r>
              <a:rPr lang="it-IT" sz="2400" dirty="0">
                <a:latin typeface="Aptos" panose="020B0004020202020204" pitchFamily="34" charset="0"/>
              </a:rPr>
              <a:t> of the </a:t>
            </a:r>
            <a:r>
              <a:rPr lang="it-IT" sz="2400" dirty="0" err="1">
                <a:latin typeface="Aptos" panose="020B0004020202020204" pitchFamily="34" charset="0"/>
              </a:rPr>
              <a:t>header</a:t>
            </a:r>
            <a:r>
              <a:rPr lang="it-IT" sz="2400" dirty="0">
                <a:latin typeface="Aptos" panose="020B0004020202020204" pitchFamily="34" charset="0"/>
              </a:rPr>
              <a:t> and </a:t>
            </a:r>
            <a:r>
              <a:rPr lang="it-IT" sz="2400" dirty="0" err="1">
                <a:latin typeface="Aptos" panose="020B0004020202020204" pitchFamily="34" charset="0"/>
              </a:rPr>
              <a:t>payload</a:t>
            </a:r>
            <a:endParaRPr lang="en-GB" sz="2400" dirty="0">
              <a:latin typeface="Aptos" panose="020B0004020202020204" pitchFamily="34" charset="0"/>
            </a:endParaRPr>
          </a:p>
        </p:txBody>
      </p:sp>
      <p:cxnSp>
        <p:nvCxnSpPr>
          <p:cNvPr id="10" name="Connettore 2 9"/>
          <p:cNvCxnSpPr>
            <a:cxnSpLocks/>
          </p:cNvCxnSpPr>
          <p:nvPr/>
        </p:nvCxnSpPr>
        <p:spPr>
          <a:xfrm flipH="1">
            <a:off x="6186663" y="1774763"/>
            <a:ext cx="637047" cy="42570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637470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Example</a:t>
            </a:r>
            <a:r>
              <a:rPr lang="it-IT" dirty="0"/>
              <a:t> of a JWT token</a:t>
            </a:r>
            <a:endParaRPr lang="en-GB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17</a:t>
            </a:fld>
            <a:endParaRPr lang="en-GB"/>
          </a:p>
        </p:txBody>
      </p:sp>
      <p:sp>
        <p:nvSpPr>
          <p:cNvPr id="6" name="Rettangolo 5"/>
          <p:cNvSpPr/>
          <p:nvPr/>
        </p:nvSpPr>
        <p:spPr>
          <a:xfrm>
            <a:off x="1863878" y="1209656"/>
            <a:ext cx="9643533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solidFill>
                  <a:srgbClr val="C00000"/>
                </a:solidFill>
                <a:latin typeface="Aptos" panose="020B0004020202020204" pitchFamily="34" charset="0"/>
              </a:rPr>
              <a:t>eyJhbGciOiJSUzI1NiIsImtpZCI6IkRNa3Itd0JqRU1EYnhOY25xaVJISVhu</a:t>
            </a:r>
          </a:p>
          <a:p>
            <a:r>
              <a:rPr lang="en-GB" dirty="0">
                <a:solidFill>
                  <a:srgbClr val="C00000"/>
                </a:solidFill>
                <a:latin typeface="Aptos" panose="020B0004020202020204" pitchFamily="34" charset="0"/>
              </a:rPr>
              <a:t>YUxubWI3UUpfWF9rWmJyaEtBMGMifQ</a:t>
            </a:r>
          </a:p>
          <a:p>
            <a:r>
              <a:rPr lang="en-GB" dirty="0">
                <a:latin typeface="Aptos" panose="020B0004020202020204" pitchFamily="34" charset="0"/>
              </a:rPr>
              <a:t>.</a:t>
            </a:r>
          </a:p>
          <a:p>
            <a:r>
              <a:rPr lang="en-GB" dirty="0">
                <a:solidFill>
                  <a:srgbClr val="00B050"/>
                </a:solidFill>
                <a:latin typeface="Aptos" panose="020B0004020202020204" pitchFamily="34" charset="0"/>
              </a:rPr>
              <a:t>eyJzdWIiOiIwMHU5bzFuaWtqdk9CZzVabzBoNyIsInZlciI6MSwiaXNzIjoi</a:t>
            </a:r>
          </a:p>
          <a:p>
            <a:r>
              <a:rPr lang="en-GB" dirty="0">
                <a:solidFill>
                  <a:srgbClr val="00B050"/>
                </a:solidFill>
                <a:latin typeface="Aptos" panose="020B0004020202020204" pitchFamily="34" charset="0"/>
              </a:rPr>
              <a:t>aHR0cHM6Ly9kZXYtMzQxNjA3Lm9rdGFwcmV2aWV3LmNvbS9vYXV0aDIvYXVz</a:t>
            </a:r>
          </a:p>
          <a:p>
            <a:r>
              <a:rPr lang="en-GB" dirty="0">
                <a:solidFill>
                  <a:srgbClr val="00B050"/>
                </a:solidFill>
                <a:latin typeface="Aptos" panose="020B0004020202020204" pitchFamily="34" charset="0"/>
              </a:rPr>
              <a:t>OW84d3ZraG9ja3c5VEwwaDciLCJhdWQiOiJsWFNlbkx4eFBpOGtRVmpKRTVz</a:t>
            </a:r>
          </a:p>
          <a:p>
            <a:r>
              <a:rPr lang="en-GB" dirty="0">
                <a:solidFill>
                  <a:srgbClr val="00B050"/>
                </a:solidFill>
                <a:latin typeface="Aptos" panose="020B0004020202020204" pitchFamily="34" charset="0"/>
              </a:rPr>
              <a:t>NCIsImlhdCI6MTUwOTA0OTg5OCwiZXhwIjoxNTA5MDUzNDk4LCJqdGkiOiJJ</a:t>
            </a:r>
          </a:p>
          <a:p>
            <a:r>
              <a:rPr lang="en-GB" dirty="0">
                <a:solidFill>
                  <a:srgbClr val="00B050"/>
                </a:solidFill>
                <a:latin typeface="Aptos" panose="020B0004020202020204" pitchFamily="34" charset="0"/>
              </a:rPr>
              <a:t>RC5oa2RXSXNBSXZTbnBGYVFHTVRYUGNVSmhhMkgwS2c5Ykl3ZEVvVm1ZZHN3</a:t>
            </a:r>
          </a:p>
          <a:p>
            <a:r>
              <a:rPr lang="en-GB" dirty="0">
                <a:solidFill>
                  <a:srgbClr val="00B050"/>
                </a:solidFill>
                <a:latin typeface="Aptos" panose="020B0004020202020204" pitchFamily="34" charset="0"/>
              </a:rPr>
              <a:t>IiwiYW1yIjpbImtiYSIsIm1mYSIsInB3ZCJdLCJpZHAiOiIwMG85bzFuaWpr</a:t>
            </a:r>
          </a:p>
          <a:p>
            <a:r>
              <a:rPr lang="en-GB" dirty="0">
                <a:solidFill>
                  <a:srgbClr val="00B050"/>
                </a:solidFill>
                <a:latin typeface="Aptos" panose="020B0004020202020204" pitchFamily="34" charset="0"/>
              </a:rPr>
              <a:t>aWpLeGNpbjBoNyIsIm5vbmNlIjoidWpwMmFzeHlqN2UiLCJhdXRoX3RpbWUi</a:t>
            </a:r>
          </a:p>
          <a:p>
            <a:r>
              <a:rPr lang="en-GB" dirty="0">
                <a:solidFill>
                  <a:srgbClr val="00B050"/>
                </a:solidFill>
                <a:latin typeface="Aptos" panose="020B0004020202020204" pitchFamily="34" charset="0"/>
              </a:rPr>
              <a:t>OjE1MDkwNDk3MTl9</a:t>
            </a:r>
          </a:p>
          <a:p>
            <a:r>
              <a:rPr lang="en-GB" dirty="0">
                <a:latin typeface="Aptos" panose="020B0004020202020204" pitchFamily="34" charset="0"/>
              </a:rPr>
              <a:t>.</a:t>
            </a:r>
          </a:p>
          <a:p>
            <a:r>
              <a:rPr lang="en-GB" dirty="0">
                <a:solidFill>
                  <a:srgbClr val="0070C0"/>
                </a:solidFill>
                <a:latin typeface="Aptos" panose="020B0004020202020204" pitchFamily="34" charset="0"/>
              </a:rPr>
              <a:t>dv4Ek8B4BDee1PcQT_4zm7kxDEY1sRIGbLoNtlodZcSzHzXU5GkKyl6sAVmdXOIPUlAIrJAhNfQWQ-</a:t>
            </a:r>
          </a:p>
          <a:p>
            <a:r>
              <a:rPr lang="en-GB" dirty="0">
                <a:solidFill>
                  <a:srgbClr val="0070C0"/>
                </a:solidFill>
                <a:latin typeface="Aptos" panose="020B0004020202020204" pitchFamily="34" charset="0"/>
              </a:rPr>
              <a:t>_XZLBVPjETiZE8CgNg5uqNmeXMUnYnQmvN5oWlXUZ8Gcub-GAbJ8-</a:t>
            </a:r>
          </a:p>
          <a:p>
            <a:r>
              <a:rPr lang="en-GB" dirty="0">
                <a:solidFill>
                  <a:srgbClr val="0070C0"/>
                </a:solidFill>
                <a:latin typeface="Aptos" panose="020B0004020202020204" pitchFamily="34" charset="0"/>
              </a:rPr>
              <a:t>NQuyBmyec1j3gmGzX3wemke8NkuI6SX2L4Wj1PyvkknBtbjfiF9ud1-</a:t>
            </a:r>
          </a:p>
          <a:p>
            <a:r>
              <a:rPr lang="en-GB" dirty="0">
                <a:solidFill>
                  <a:srgbClr val="0070C0"/>
                </a:solidFill>
                <a:latin typeface="Aptos" panose="020B0004020202020204" pitchFamily="34" charset="0"/>
              </a:rPr>
              <a:t>ERKbobaFbnjDFOFTzvL6g34SpMmZWy6uc_Hs--n4IC-ex-</a:t>
            </a:r>
          </a:p>
          <a:p>
            <a:r>
              <a:rPr lang="en-GB" dirty="0">
                <a:solidFill>
                  <a:srgbClr val="0070C0"/>
                </a:solidFill>
                <a:latin typeface="Aptos" panose="020B0004020202020204" pitchFamily="34" charset="0"/>
              </a:rPr>
              <a:t>_Ps3FcMwRggCW_-7o2FpH6rJTOGPZYrOx44n3ZwAu2dGm6axtPIsqU8b6sw7DaHpogD_hxsXgMIOzOBMbYsQEiczoGn71ZFz_1O7FiW4dH6g</a:t>
            </a:r>
          </a:p>
        </p:txBody>
      </p:sp>
      <p:sp>
        <p:nvSpPr>
          <p:cNvPr id="7" name="CasellaDiTesto 6"/>
          <p:cNvSpPr txBox="1"/>
          <p:nvPr/>
        </p:nvSpPr>
        <p:spPr>
          <a:xfrm>
            <a:off x="428172" y="1204219"/>
            <a:ext cx="15409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b="1" dirty="0" err="1">
                <a:solidFill>
                  <a:srgbClr val="C00000"/>
                </a:solidFill>
                <a:latin typeface="Aptos" panose="020B0004020202020204" pitchFamily="34" charset="0"/>
              </a:rPr>
              <a:t>Header</a:t>
            </a:r>
            <a:endParaRPr lang="en-GB" sz="2000" b="1" dirty="0">
              <a:solidFill>
                <a:srgbClr val="C00000"/>
              </a:solidFill>
              <a:latin typeface="Aptos" panose="020B0004020202020204" pitchFamily="34" charset="0"/>
            </a:endParaRPr>
          </a:p>
        </p:txBody>
      </p:sp>
      <p:sp>
        <p:nvSpPr>
          <p:cNvPr id="8" name="CasellaDiTesto 7"/>
          <p:cNvSpPr txBox="1"/>
          <p:nvPr/>
        </p:nvSpPr>
        <p:spPr>
          <a:xfrm>
            <a:off x="428172" y="2097923"/>
            <a:ext cx="15409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b="1" dirty="0" err="1">
                <a:solidFill>
                  <a:srgbClr val="00B050"/>
                </a:solidFill>
                <a:latin typeface="Aptos" panose="020B0004020202020204" pitchFamily="34" charset="0"/>
              </a:rPr>
              <a:t>Payload</a:t>
            </a:r>
            <a:endParaRPr lang="en-GB" sz="2000" b="1" dirty="0">
              <a:solidFill>
                <a:srgbClr val="00B050"/>
              </a:solidFill>
              <a:latin typeface="Aptos" panose="020B0004020202020204" pitchFamily="34" charset="0"/>
            </a:endParaRPr>
          </a:p>
        </p:txBody>
      </p:sp>
      <p:sp>
        <p:nvSpPr>
          <p:cNvPr id="9" name="CasellaDiTesto 8"/>
          <p:cNvSpPr txBox="1"/>
          <p:nvPr/>
        </p:nvSpPr>
        <p:spPr>
          <a:xfrm>
            <a:off x="428172" y="4500160"/>
            <a:ext cx="15409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b="1" dirty="0" err="1">
                <a:solidFill>
                  <a:srgbClr val="0070C0"/>
                </a:solidFill>
                <a:latin typeface="Aptos" panose="020B0004020202020204" pitchFamily="34" charset="0"/>
              </a:rPr>
              <a:t>Signature</a:t>
            </a:r>
            <a:endParaRPr lang="en-GB" sz="2000" b="1" dirty="0">
              <a:solidFill>
                <a:srgbClr val="0070C0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6126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BE60FB-C861-1E44-92E6-8F9396441C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How authorization works in t</a:t>
            </a:r>
            <a:r>
              <a:rPr lang="en-IT"/>
              <a:t>he </a:t>
            </a:r>
            <a:r>
              <a:rPr lang="en-IT" dirty="0"/>
              <a:t>IMPACT backend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D4BA52-23DB-D94D-9195-7777C71CD1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00260" y="2205415"/>
            <a:ext cx="3084303" cy="55463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IT" sz="1400" dirty="0"/>
              <a:t>Get token (JWT) using credentials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7ACF48-43BD-9049-83DA-4C0AF0AC5D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18</a:t>
            </a:fld>
            <a:endParaRPr lang="en-GB" dirty="0"/>
          </a:p>
        </p:txBody>
      </p:sp>
      <p:pic>
        <p:nvPicPr>
          <p:cNvPr id="6" name="Picture 5" descr="A picture containing text&#10;&#10;Description automatically generated">
            <a:extLst>
              <a:ext uri="{FF2B5EF4-FFF2-40B4-BE49-F238E27FC236}">
                <a16:creationId xmlns:a16="http://schemas.microsoft.com/office/drawing/2014/main" id="{68B4606E-6CE4-3D5F-4F4A-F88148AE3D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26000" y="3138404"/>
            <a:ext cx="2435304" cy="1718017"/>
          </a:xfrm>
          <a:prstGeom prst="rect">
            <a:avLst/>
          </a:prstGeom>
          <a:ln w="38100">
            <a:solidFill>
              <a:srgbClr val="C00000"/>
            </a:solidFill>
          </a:ln>
        </p:spPr>
      </p:pic>
      <p:pic>
        <p:nvPicPr>
          <p:cNvPr id="7" name="Graphic 6" descr="Key outline">
            <a:extLst>
              <a:ext uri="{FF2B5EF4-FFF2-40B4-BE49-F238E27FC236}">
                <a16:creationId xmlns:a16="http://schemas.microsoft.com/office/drawing/2014/main" id="{986DEE35-93E4-0B04-952C-441C7D79C08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585994" y="1971312"/>
            <a:ext cx="714266" cy="714266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D49FCE54-4F42-AAF9-4E62-B5F5431C2580}"/>
              </a:ext>
            </a:extLst>
          </p:cNvPr>
          <p:cNvSpPr txBox="1">
            <a:spLocks/>
          </p:cNvSpPr>
          <p:nvPr/>
        </p:nvSpPr>
        <p:spPr>
          <a:xfrm>
            <a:off x="8733704" y="4998245"/>
            <a:ext cx="3329616" cy="46598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" panose="05000000000000000000" pitchFamily="2" charset="2"/>
              <a:buNone/>
            </a:pPr>
            <a:r>
              <a:rPr lang="en-IT" sz="1600" b="1" dirty="0">
                <a:solidFill>
                  <a:srgbClr val="C00000"/>
                </a:solidFill>
                <a:latin typeface="Aptos" panose="020B0004020202020204" pitchFamily="34" charset="0"/>
              </a:rPr>
              <a:t>https://impact.dei.unipd.it/bwthw/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03EB194-617E-B58E-CE96-0B1F4BE0E372}"/>
              </a:ext>
            </a:extLst>
          </p:cNvPr>
          <p:cNvGrpSpPr/>
          <p:nvPr/>
        </p:nvGrpSpPr>
        <p:grpSpPr>
          <a:xfrm>
            <a:off x="227545" y="2883423"/>
            <a:ext cx="2102029" cy="2102029"/>
            <a:chOff x="0" y="1584963"/>
            <a:chExt cx="2102029" cy="2102029"/>
          </a:xfrm>
        </p:grpSpPr>
        <p:pic>
          <p:nvPicPr>
            <p:cNvPr id="10" name="Graphic 9" descr="Smart Phone outline">
              <a:extLst>
                <a:ext uri="{FF2B5EF4-FFF2-40B4-BE49-F238E27FC236}">
                  <a16:creationId xmlns:a16="http://schemas.microsoft.com/office/drawing/2014/main" id="{CA2DCB31-A77D-BD86-E4B0-289F26710DC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0" y="1584963"/>
              <a:ext cx="2102029" cy="2102029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E43A3C7F-BD6D-E717-036E-1B0293D02D3C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735199" y="2175669"/>
              <a:ext cx="623644" cy="920618"/>
            </a:xfrm>
            <a:prstGeom prst="rect">
              <a:avLst/>
            </a:prstGeom>
          </p:spPr>
        </p:pic>
      </p:grp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7D0427E-0CA4-C141-376F-AF9F36ED64FD}"/>
              </a:ext>
            </a:extLst>
          </p:cNvPr>
          <p:cNvSpPr txBox="1">
            <a:spLocks/>
          </p:cNvSpPr>
          <p:nvPr/>
        </p:nvSpPr>
        <p:spPr>
          <a:xfrm>
            <a:off x="339626" y="5019587"/>
            <a:ext cx="1869879" cy="5546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" panose="05000000000000000000" pitchFamily="2" charset="2"/>
              <a:buNone/>
            </a:pPr>
            <a:r>
              <a:rPr lang="en-IT" sz="1400" dirty="0">
                <a:latin typeface="Aptos" panose="020B0004020202020204" pitchFamily="34" charset="0"/>
              </a:rPr>
              <a:t>Your app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C213B210-5478-AFD9-1176-62D107898216}"/>
              </a:ext>
            </a:extLst>
          </p:cNvPr>
          <p:cNvSpPr txBox="1">
            <a:spLocks/>
          </p:cNvSpPr>
          <p:nvPr/>
        </p:nvSpPr>
        <p:spPr>
          <a:xfrm>
            <a:off x="4240759" y="1347068"/>
            <a:ext cx="2890093" cy="5546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" panose="05000000000000000000" pitchFamily="2" charset="2"/>
              <a:buNone/>
            </a:pPr>
            <a:r>
              <a:rPr lang="en-IT" sz="1600" b="1" dirty="0">
                <a:latin typeface="Aptos" panose="020B0004020202020204" pitchFamily="34" charset="0"/>
              </a:rPr>
              <a:t>HTTPS requests/responses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7006254-DE4F-A533-1A17-D61DFBB68069}"/>
              </a:ext>
            </a:extLst>
          </p:cNvPr>
          <p:cNvCxnSpPr>
            <a:cxnSpLocks/>
          </p:cNvCxnSpPr>
          <p:nvPr/>
        </p:nvCxnSpPr>
        <p:spPr>
          <a:xfrm>
            <a:off x="2578431" y="2726965"/>
            <a:ext cx="603216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E7666D22-148F-E6B1-E625-BD153859681B}"/>
              </a:ext>
            </a:extLst>
          </p:cNvPr>
          <p:cNvSpPr/>
          <p:nvPr/>
        </p:nvSpPr>
        <p:spPr>
          <a:xfrm>
            <a:off x="3252998" y="1971612"/>
            <a:ext cx="4717657" cy="3666342"/>
          </a:xfrm>
          <a:prstGeom prst="rect">
            <a:avLst/>
          </a:prstGeom>
          <a:noFill/>
          <a:ln w="28575">
            <a:prstDash val="dash"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>
              <a:latin typeface="Aptos" panose="020B0004020202020204" pitchFamily="34" charset="0"/>
            </a:endParaRPr>
          </a:p>
        </p:txBody>
      </p:sp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D464AFC2-A6C4-ABD4-F7AE-BE552A86545A}"/>
              </a:ext>
            </a:extLst>
          </p:cNvPr>
          <p:cNvSpPr txBox="1">
            <a:spLocks/>
          </p:cNvSpPr>
          <p:nvPr/>
        </p:nvSpPr>
        <p:spPr>
          <a:xfrm>
            <a:off x="4264151" y="3080089"/>
            <a:ext cx="3428009" cy="5546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" panose="05000000000000000000" pitchFamily="2" charset="2"/>
              <a:buNone/>
            </a:pPr>
            <a:r>
              <a:rPr lang="en-IT" sz="1400" dirty="0">
                <a:latin typeface="Aptos" panose="020B0004020202020204" pitchFamily="34" charset="0"/>
              </a:rPr>
              <a:t>(If credentials are ok) </a:t>
            </a:r>
            <a:r>
              <a:rPr lang="en-IT" sz="1400">
                <a:latin typeface="Aptos" panose="020B0004020202020204" pitchFamily="34" charset="0"/>
              </a:rPr>
              <a:t>Receive </a:t>
            </a:r>
            <a:r>
              <a:rPr lang="en-US" sz="1400" dirty="0">
                <a:latin typeface="Aptos" panose="020B0004020202020204" pitchFamily="34" charset="0"/>
              </a:rPr>
              <a:t>JWT </a:t>
            </a:r>
            <a:r>
              <a:rPr lang="en-IT" sz="1400">
                <a:latin typeface="Aptos" panose="020B0004020202020204" pitchFamily="34" charset="0"/>
              </a:rPr>
              <a:t>token</a:t>
            </a:r>
            <a:endParaRPr lang="en-IT" sz="1400" dirty="0">
              <a:latin typeface="Aptos" panose="020B0004020202020204" pitchFamily="34" charset="0"/>
            </a:endParaRP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14C6C3E2-5FB4-AED0-3124-135ECED0AF27}"/>
              </a:ext>
            </a:extLst>
          </p:cNvPr>
          <p:cNvCxnSpPr>
            <a:cxnSpLocks/>
          </p:cNvCxnSpPr>
          <p:nvPr/>
        </p:nvCxnSpPr>
        <p:spPr>
          <a:xfrm flipH="1">
            <a:off x="2629881" y="3606496"/>
            <a:ext cx="5973002" cy="21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4" name="Graphic 33" descr="Binary outline">
            <a:extLst>
              <a:ext uri="{FF2B5EF4-FFF2-40B4-BE49-F238E27FC236}">
                <a16:creationId xmlns:a16="http://schemas.microsoft.com/office/drawing/2014/main" id="{0720541E-6B9A-B5CD-2818-DCA19A577DC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606695" y="2873324"/>
            <a:ext cx="672864" cy="672864"/>
          </a:xfrm>
          <a:prstGeom prst="rect">
            <a:avLst/>
          </a:prstGeom>
        </p:spPr>
      </p:pic>
      <p:sp>
        <p:nvSpPr>
          <p:cNvPr id="35" name="Content Placeholder 2">
            <a:extLst>
              <a:ext uri="{FF2B5EF4-FFF2-40B4-BE49-F238E27FC236}">
                <a16:creationId xmlns:a16="http://schemas.microsoft.com/office/drawing/2014/main" id="{A0050E95-42A3-31EA-8810-95990719F38C}"/>
              </a:ext>
            </a:extLst>
          </p:cNvPr>
          <p:cNvSpPr txBox="1">
            <a:spLocks/>
          </p:cNvSpPr>
          <p:nvPr/>
        </p:nvSpPr>
        <p:spPr>
          <a:xfrm>
            <a:off x="4307977" y="3997413"/>
            <a:ext cx="3428009" cy="5546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" panose="05000000000000000000" pitchFamily="2" charset="2"/>
              <a:buNone/>
            </a:pPr>
            <a:r>
              <a:rPr lang="en-IT" sz="1400" dirty="0">
                <a:latin typeface="Aptos" panose="020B0004020202020204" pitchFamily="34" charset="0"/>
              </a:rPr>
              <a:t>Ask for specific data using token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E7E81774-D8F6-C5E2-8EFE-E7B443C47D75}"/>
              </a:ext>
            </a:extLst>
          </p:cNvPr>
          <p:cNvCxnSpPr>
            <a:cxnSpLocks/>
          </p:cNvCxnSpPr>
          <p:nvPr/>
        </p:nvCxnSpPr>
        <p:spPr>
          <a:xfrm>
            <a:off x="2586148" y="4518963"/>
            <a:ext cx="603216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" name="Content Placeholder 2">
            <a:extLst>
              <a:ext uri="{FF2B5EF4-FFF2-40B4-BE49-F238E27FC236}">
                <a16:creationId xmlns:a16="http://schemas.microsoft.com/office/drawing/2014/main" id="{32C270DE-6193-3578-5828-D3C1F577B3CB}"/>
              </a:ext>
            </a:extLst>
          </p:cNvPr>
          <p:cNvSpPr txBox="1">
            <a:spLocks/>
          </p:cNvSpPr>
          <p:nvPr/>
        </p:nvSpPr>
        <p:spPr>
          <a:xfrm>
            <a:off x="4151370" y="4879825"/>
            <a:ext cx="3819285" cy="5546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" panose="05000000000000000000" pitchFamily="2" charset="2"/>
              <a:buNone/>
            </a:pPr>
            <a:r>
              <a:rPr lang="en-IT" sz="1400" dirty="0">
                <a:latin typeface="Aptos" panose="020B0004020202020204" pitchFamily="34" charset="0"/>
              </a:rPr>
              <a:t>(If request is ok) Receive data (JSON format)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9122E6D7-845C-B8D8-5DC2-04CEF680E74E}"/>
              </a:ext>
            </a:extLst>
          </p:cNvPr>
          <p:cNvCxnSpPr>
            <a:cxnSpLocks/>
          </p:cNvCxnSpPr>
          <p:nvPr/>
        </p:nvCxnSpPr>
        <p:spPr>
          <a:xfrm flipH="1">
            <a:off x="2637598" y="5398494"/>
            <a:ext cx="5973002" cy="21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42" name="Graphic 41" descr="Question Mark outline">
            <a:extLst>
              <a:ext uri="{FF2B5EF4-FFF2-40B4-BE49-F238E27FC236}">
                <a16:creationId xmlns:a16="http://schemas.microsoft.com/office/drawing/2014/main" id="{CC724851-B09A-E88C-497A-18468B451933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660315" y="3821650"/>
            <a:ext cx="554632" cy="554632"/>
          </a:xfrm>
          <a:prstGeom prst="rect">
            <a:avLst/>
          </a:prstGeom>
        </p:spPr>
      </p:pic>
      <p:pic>
        <p:nvPicPr>
          <p:cNvPr id="44" name="Graphic 43" descr="Statistics outline">
            <a:extLst>
              <a:ext uri="{FF2B5EF4-FFF2-40B4-BE49-F238E27FC236}">
                <a16:creationId xmlns:a16="http://schemas.microsoft.com/office/drawing/2014/main" id="{2CCC07CF-26BB-0E3E-4A21-C1FEEA8686E1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480431" y="4558134"/>
            <a:ext cx="914400" cy="914400"/>
          </a:xfrm>
          <a:prstGeom prst="rect">
            <a:avLst/>
          </a:prstGeom>
        </p:spPr>
      </p:pic>
      <p:sp>
        <p:nvSpPr>
          <p:cNvPr id="9" name="Right Brace 8">
            <a:extLst>
              <a:ext uri="{FF2B5EF4-FFF2-40B4-BE49-F238E27FC236}">
                <a16:creationId xmlns:a16="http://schemas.microsoft.com/office/drawing/2014/main" id="{6D8BC53D-F5D3-7E6A-B844-3C833995685D}"/>
              </a:ext>
            </a:extLst>
          </p:cNvPr>
          <p:cNvSpPr/>
          <p:nvPr/>
        </p:nvSpPr>
        <p:spPr>
          <a:xfrm>
            <a:off x="8204224" y="1918814"/>
            <a:ext cx="484232" cy="1644488"/>
          </a:xfrm>
          <a:prstGeom prst="rightBrace">
            <a:avLst/>
          </a:prstGeom>
          <a:ln w="762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T">
              <a:latin typeface="Aptos" panose="020B0004020202020204" pitchFamily="34" charset="0"/>
            </a:endParaRPr>
          </a:p>
        </p:txBody>
      </p:sp>
      <p:sp>
        <p:nvSpPr>
          <p:cNvPr id="13" name="Right Brace 12">
            <a:extLst>
              <a:ext uri="{FF2B5EF4-FFF2-40B4-BE49-F238E27FC236}">
                <a16:creationId xmlns:a16="http://schemas.microsoft.com/office/drawing/2014/main" id="{3C0C7809-3ACB-8B12-DC7A-2C194194E4A8}"/>
              </a:ext>
            </a:extLst>
          </p:cNvPr>
          <p:cNvSpPr/>
          <p:nvPr/>
        </p:nvSpPr>
        <p:spPr>
          <a:xfrm rot="10800000">
            <a:off x="2548411" y="3804783"/>
            <a:ext cx="484232" cy="1644488"/>
          </a:xfrm>
          <a:prstGeom prst="rightBrace">
            <a:avLst/>
          </a:prstGeom>
          <a:ln w="762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T">
              <a:latin typeface="Aptos" panose="020B0004020202020204" pitchFamily="34" charset="0"/>
            </a:endParaRP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910D0B0D-6D93-8722-54ED-D97D07017C93}"/>
              </a:ext>
            </a:extLst>
          </p:cNvPr>
          <p:cNvSpPr txBox="1">
            <a:spLocks/>
          </p:cNvSpPr>
          <p:nvPr/>
        </p:nvSpPr>
        <p:spPr>
          <a:xfrm>
            <a:off x="9611394" y="1650775"/>
            <a:ext cx="2185092" cy="6040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latin typeface="Aptos" panose="020B0004020202020204" pitchFamily="34" charset="0"/>
              </a:rPr>
              <a:t>Authorization</a:t>
            </a:r>
            <a:endParaRPr lang="en-IT" b="1" dirty="0">
              <a:latin typeface="Aptos" panose="020B0004020202020204" pitchFamily="34" charset="0"/>
            </a:endParaRP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5554C46A-996D-E572-A123-A9B909315C26}"/>
              </a:ext>
            </a:extLst>
          </p:cNvPr>
          <p:cNvSpPr txBox="1">
            <a:spLocks/>
          </p:cNvSpPr>
          <p:nvPr/>
        </p:nvSpPr>
        <p:spPr>
          <a:xfrm>
            <a:off x="598801" y="6054329"/>
            <a:ext cx="1677133" cy="604041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latin typeface="Aptos" panose="020B0004020202020204" pitchFamily="34" charset="0"/>
              </a:rPr>
              <a:t>Receiving data</a:t>
            </a:r>
            <a:endParaRPr lang="en-IT" b="1" dirty="0">
              <a:latin typeface="Aptos" panose="020B0004020202020204" pitchFamily="34" charset="0"/>
            </a:endParaRP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C0A2A4FF-A642-7827-6850-D3D15871B90A}"/>
              </a:ext>
            </a:extLst>
          </p:cNvPr>
          <p:cNvCxnSpPr>
            <a:cxnSpLocks/>
            <a:endCxn id="17" idx="0"/>
          </p:cNvCxnSpPr>
          <p:nvPr/>
        </p:nvCxnSpPr>
        <p:spPr>
          <a:xfrm flipH="1">
            <a:off x="1437368" y="4627027"/>
            <a:ext cx="1141063" cy="14273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69F858CD-A623-6C8A-FE02-646D87B9E37A}"/>
              </a:ext>
            </a:extLst>
          </p:cNvPr>
          <p:cNvCxnSpPr>
            <a:cxnSpLocks/>
            <a:endCxn id="14" idx="1"/>
          </p:cNvCxnSpPr>
          <p:nvPr/>
        </p:nvCxnSpPr>
        <p:spPr>
          <a:xfrm flipV="1">
            <a:off x="8648338" y="1952796"/>
            <a:ext cx="963056" cy="8072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076564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BE60FB-C861-1E44-92E6-8F9396441C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T" dirty="0"/>
              <a:t>The </a:t>
            </a:r>
            <a:r>
              <a:rPr lang="en-IT"/>
              <a:t>IMPACT </a:t>
            </a:r>
            <a:r>
              <a:rPr lang="en-US" dirty="0"/>
              <a:t>user types and permissions</a:t>
            </a:r>
            <a:endParaRPr lang="en-IT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7ACF48-43BD-9049-83DA-4C0AF0AC5D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19</a:t>
            </a:fld>
            <a:endParaRPr lang="en-GB" dirty="0"/>
          </a:p>
        </p:txBody>
      </p:sp>
      <p:pic>
        <p:nvPicPr>
          <p:cNvPr id="17" name="Graphic 16" descr="Doctor male outline">
            <a:extLst>
              <a:ext uri="{FF2B5EF4-FFF2-40B4-BE49-F238E27FC236}">
                <a16:creationId xmlns:a16="http://schemas.microsoft.com/office/drawing/2014/main" id="{C5D874AF-D16B-C575-276E-B275896302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248835" y="2110408"/>
            <a:ext cx="1318591" cy="1318591"/>
          </a:xfrm>
          <a:prstGeom prst="rect">
            <a:avLst/>
          </a:prstGeom>
        </p:spPr>
      </p:pic>
      <p:pic>
        <p:nvPicPr>
          <p:cNvPr id="23" name="Graphic 22" descr="Male profile outline">
            <a:extLst>
              <a:ext uri="{FF2B5EF4-FFF2-40B4-BE49-F238E27FC236}">
                <a16:creationId xmlns:a16="http://schemas.microsoft.com/office/drawing/2014/main" id="{E2072228-9FF5-B619-8415-6EF90587583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883865" y="2110409"/>
            <a:ext cx="1318591" cy="1318591"/>
          </a:xfrm>
          <a:prstGeom prst="rect">
            <a:avLst/>
          </a:prstGeom>
        </p:spPr>
      </p:pic>
      <p:pic>
        <p:nvPicPr>
          <p:cNvPr id="29" name="Graphic 28" descr="Programmer male outline">
            <a:extLst>
              <a:ext uri="{FF2B5EF4-FFF2-40B4-BE49-F238E27FC236}">
                <a16:creationId xmlns:a16="http://schemas.microsoft.com/office/drawing/2014/main" id="{26646BC8-C15C-367B-EDCD-E54A54E7ABD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903948" y="2110407"/>
            <a:ext cx="1318591" cy="1318591"/>
          </a:xfrm>
          <a:prstGeom prst="rect">
            <a:avLst/>
          </a:prstGeom>
        </p:spPr>
      </p:pic>
      <p:pic>
        <p:nvPicPr>
          <p:cNvPr id="31" name="Graphic 30" descr="Scientist male with solid fill">
            <a:extLst>
              <a:ext uri="{FF2B5EF4-FFF2-40B4-BE49-F238E27FC236}">
                <a16:creationId xmlns:a16="http://schemas.microsoft.com/office/drawing/2014/main" id="{E25174A0-7974-134F-0322-48C824809A5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576392" y="2114414"/>
            <a:ext cx="1318590" cy="1318590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B9BDB107-F738-4F2B-A736-231BDF6D0C45}"/>
              </a:ext>
            </a:extLst>
          </p:cNvPr>
          <p:cNvSpPr txBox="1"/>
          <p:nvPr/>
        </p:nvSpPr>
        <p:spPr>
          <a:xfrm>
            <a:off x="1360674" y="3440070"/>
            <a:ext cx="2364971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effectLst/>
                <a:latin typeface="Aptos" panose="020B0004020202020204" pitchFamily="34" charset="0"/>
                <a:ea typeface="Palatino" pitchFamily="2" charset="77"/>
              </a:rPr>
              <a:t>Patient</a:t>
            </a:r>
          </a:p>
          <a:p>
            <a:pPr algn="ctr"/>
            <a:r>
              <a:rPr lang="en-US" sz="2000" dirty="0">
                <a:effectLst/>
                <a:latin typeface="Aptos" panose="020B0004020202020204" pitchFamily="34" charset="0"/>
                <a:ea typeface="Palatino" pitchFamily="2" charset="77"/>
              </a:rPr>
              <a:t>Generates and manages its data </a:t>
            </a:r>
            <a:endParaRPr lang="en-IT" sz="2000" dirty="0">
              <a:latin typeface="Aptos" panose="020B0004020202020204" pitchFamily="34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9E82A3D-033E-790A-9012-246488A98C98}"/>
              </a:ext>
            </a:extLst>
          </p:cNvPr>
          <p:cNvSpPr txBox="1"/>
          <p:nvPr/>
        </p:nvSpPr>
        <p:spPr>
          <a:xfrm>
            <a:off x="3844914" y="3440070"/>
            <a:ext cx="2126432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effectLst/>
                <a:latin typeface="Aptos" panose="020B0004020202020204" pitchFamily="34" charset="0"/>
                <a:ea typeface="Palatino" pitchFamily="2" charset="77"/>
              </a:rPr>
              <a:t>Clinician</a:t>
            </a:r>
          </a:p>
          <a:p>
            <a:pPr algn="ctr"/>
            <a:r>
              <a:rPr lang="en-US" sz="2000" dirty="0">
                <a:effectLst/>
                <a:latin typeface="Aptos" panose="020B0004020202020204" pitchFamily="34" charset="0"/>
                <a:ea typeface="Palatino" pitchFamily="2" charset="77"/>
              </a:rPr>
              <a:t>Enrolls patients, reviews data of patients in its clinical center, edits clinical study settings</a:t>
            </a:r>
            <a:endParaRPr lang="en-IT" sz="2000" dirty="0">
              <a:latin typeface="Aptos" panose="020B0004020202020204" pitchFamily="34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37DDE55-D6A2-18AD-B85F-9F5D0D7ECEC5}"/>
              </a:ext>
            </a:extLst>
          </p:cNvPr>
          <p:cNvSpPr txBox="1"/>
          <p:nvPr/>
        </p:nvSpPr>
        <p:spPr>
          <a:xfrm>
            <a:off x="6090615" y="3440070"/>
            <a:ext cx="2126433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effectLst/>
                <a:latin typeface="Aptos" panose="020B0004020202020204" pitchFamily="34" charset="0"/>
                <a:ea typeface="Palatino" pitchFamily="2" charset="77"/>
              </a:rPr>
              <a:t>Researcher</a:t>
            </a:r>
          </a:p>
          <a:p>
            <a:pPr algn="ctr"/>
            <a:r>
              <a:rPr lang="en-US" sz="2000" dirty="0">
                <a:latin typeface="Aptos" panose="020B0004020202020204" pitchFamily="34" charset="0"/>
                <a:ea typeface="Palatino" pitchFamily="2" charset="77"/>
              </a:rPr>
              <a:t>Accesses all data in read-only mode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1FAE7AE-BA56-7F13-7405-AB2C9B99A805}"/>
              </a:ext>
            </a:extLst>
          </p:cNvPr>
          <p:cNvSpPr txBox="1"/>
          <p:nvPr/>
        </p:nvSpPr>
        <p:spPr>
          <a:xfrm>
            <a:off x="8336317" y="3440070"/>
            <a:ext cx="2605296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effectLst/>
                <a:latin typeface="Aptos" panose="020B0004020202020204" pitchFamily="34" charset="0"/>
                <a:ea typeface="Palatino" pitchFamily="2" charset="77"/>
              </a:rPr>
              <a:t>Superuser/Study Administrator/Data Administrator</a:t>
            </a:r>
          </a:p>
          <a:p>
            <a:pPr algn="ctr"/>
            <a:r>
              <a:rPr lang="en-US" sz="2000" dirty="0">
                <a:latin typeface="Aptos" panose="020B0004020202020204" pitchFamily="34" charset="0"/>
                <a:ea typeface="Palatino" pitchFamily="2" charset="77"/>
              </a:rPr>
              <a:t>They have God-like powers</a:t>
            </a:r>
            <a:endParaRPr lang="en-IT" sz="2000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1261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BE60FB-C861-1E44-92E6-8F9396441C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T" dirty="0"/>
              <a:t>The researcher role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7ACF48-43BD-9049-83DA-4C0AF0AC5D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20</a:t>
            </a:fld>
            <a:endParaRPr lang="en-GB" dirty="0"/>
          </a:p>
        </p:txBody>
      </p:sp>
      <p:pic>
        <p:nvPicPr>
          <p:cNvPr id="31" name="Graphic 30" descr="Scientist male with solid fill">
            <a:extLst>
              <a:ext uri="{FF2B5EF4-FFF2-40B4-BE49-F238E27FC236}">
                <a16:creationId xmlns:a16="http://schemas.microsoft.com/office/drawing/2014/main" id="{E25174A0-7974-134F-0322-48C824809A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73574" y="1968641"/>
            <a:ext cx="1318590" cy="131859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B77E01-0E63-7C03-41B5-601C938FEC12}"/>
              </a:ext>
            </a:extLst>
          </p:cNvPr>
          <p:cNvSpPr txBox="1">
            <a:spLocks/>
          </p:cNvSpPr>
          <p:nvPr/>
        </p:nvSpPr>
        <p:spPr>
          <a:xfrm>
            <a:off x="532372" y="1314773"/>
            <a:ext cx="10986053" cy="53813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T" dirty="0">
                <a:latin typeface="Aptos" panose="020B0004020202020204" pitchFamily="34" charset="0"/>
              </a:rPr>
              <a:t>Each group will have access to the data using the researcher role</a:t>
            </a:r>
          </a:p>
          <a:p>
            <a:endParaRPr lang="en-IT" dirty="0">
              <a:latin typeface="Aptos" panose="020B0004020202020204" pitchFamily="34" charset="0"/>
            </a:endParaRPr>
          </a:p>
          <a:p>
            <a:endParaRPr lang="en-IT" dirty="0">
              <a:latin typeface="Aptos" panose="020B0004020202020204" pitchFamily="34" charset="0"/>
            </a:endParaRPr>
          </a:p>
          <a:p>
            <a:endParaRPr lang="en-IT" dirty="0">
              <a:latin typeface="Aptos" panose="020B0004020202020204" pitchFamily="34" charset="0"/>
            </a:endParaRPr>
          </a:p>
          <a:p>
            <a:endParaRPr lang="en-IT" dirty="0">
              <a:latin typeface="Aptos" panose="020B0004020202020204" pitchFamily="34" charset="0"/>
            </a:endParaRPr>
          </a:p>
          <a:p>
            <a:r>
              <a:rPr lang="en-IT" dirty="0">
                <a:latin typeface="Aptos" panose="020B0004020202020204" pitchFamily="34" charset="0"/>
              </a:rPr>
              <a:t>Each researcher in IMPACT is characterized by a username and an access expiration date. </a:t>
            </a:r>
          </a:p>
          <a:p>
            <a:r>
              <a:rPr lang="en-IT" dirty="0">
                <a:latin typeface="Aptos" panose="020B0004020202020204" pitchFamily="34" charset="0"/>
              </a:rPr>
              <a:t>The access expiration date defines the date until </a:t>
            </a:r>
            <a:r>
              <a:rPr lang="en-IT">
                <a:latin typeface="Aptos" panose="020B0004020202020204" pitchFamily="34" charset="0"/>
              </a:rPr>
              <a:t>a spec</a:t>
            </a:r>
            <a:r>
              <a:rPr lang="en-US" dirty="0" err="1">
                <a:latin typeface="Aptos" panose="020B0004020202020204" pitchFamily="34" charset="0"/>
              </a:rPr>
              <a:t>i</a:t>
            </a:r>
            <a:r>
              <a:rPr lang="en-IT">
                <a:latin typeface="Aptos" panose="020B0004020202020204" pitchFamily="34" charset="0"/>
              </a:rPr>
              <a:t>fic </a:t>
            </a:r>
            <a:r>
              <a:rPr lang="en-IT" dirty="0">
                <a:latin typeface="Aptos" panose="020B0004020202020204" pitchFamily="34" charset="0"/>
              </a:rPr>
              <a:t>researcher is allowed to access data stored in the IMPACT database. Two examples: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4EC22B2-A1BD-2D10-7A89-480BF41E3120}"/>
              </a:ext>
            </a:extLst>
          </p:cNvPr>
          <p:cNvSpPr txBox="1"/>
          <p:nvPr/>
        </p:nvSpPr>
        <p:spPr>
          <a:xfrm>
            <a:off x="1992164" y="2150882"/>
            <a:ext cx="704353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b="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{</a:t>
            </a:r>
          </a:p>
          <a:p>
            <a:r>
              <a:rPr lang="en-GB" sz="1400" b="0" dirty="0">
                <a:solidFill>
                  <a:srgbClr val="A31515"/>
                </a:solidFill>
                <a:effectLst/>
                <a:latin typeface="Aptos" panose="020B0004020202020204" pitchFamily="34" charset="0"/>
              </a:rPr>
              <a:t>"username"</a:t>
            </a:r>
            <a:r>
              <a:rPr lang="en-GB" sz="1400" b="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: </a:t>
            </a:r>
            <a:r>
              <a:rPr lang="en-GB" sz="1400" b="0" dirty="0">
                <a:solidFill>
                  <a:srgbClr val="0451A5"/>
                </a:solidFill>
                <a:effectLst/>
                <a:latin typeface="Aptos" panose="020B0004020202020204" pitchFamily="34" charset="0"/>
              </a:rPr>
              <a:t>”&lt;YOUR_USERNAME&gt;"</a:t>
            </a:r>
            <a:r>
              <a:rPr lang="en-GB" sz="1400" b="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,</a:t>
            </a:r>
          </a:p>
          <a:p>
            <a:r>
              <a:rPr lang="en-GB" sz="1400" b="0" dirty="0">
                <a:solidFill>
                  <a:srgbClr val="A31515"/>
                </a:solidFill>
                <a:effectLst/>
                <a:latin typeface="Aptos" panose="020B0004020202020204" pitchFamily="34" charset="0"/>
              </a:rPr>
              <a:t>"</a:t>
            </a:r>
            <a:r>
              <a:rPr lang="en-GB" sz="1400" b="0" dirty="0" err="1">
                <a:solidFill>
                  <a:srgbClr val="A31515"/>
                </a:solidFill>
                <a:effectLst/>
                <a:latin typeface="Aptos" panose="020B0004020202020204" pitchFamily="34" charset="0"/>
              </a:rPr>
              <a:t>access_expiration_date</a:t>
            </a:r>
            <a:r>
              <a:rPr lang="en-GB" sz="1400" b="0" dirty="0">
                <a:solidFill>
                  <a:srgbClr val="A31515"/>
                </a:solidFill>
                <a:effectLst/>
                <a:latin typeface="Aptos" panose="020B0004020202020204" pitchFamily="34" charset="0"/>
              </a:rPr>
              <a:t>"</a:t>
            </a:r>
            <a:r>
              <a:rPr lang="en-GB" sz="1400" b="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: </a:t>
            </a:r>
            <a:r>
              <a:rPr lang="en-GB" sz="1400" dirty="0">
                <a:solidFill>
                  <a:srgbClr val="0451A5"/>
                </a:solidFill>
                <a:effectLst/>
                <a:latin typeface="Aptos" panose="020B0004020202020204" pitchFamily="34" charset="0"/>
              </a:rPr>
              <a:t>“&lt;YOUR_ACCESS_EXPIRATION_DATE&gt;”</a:t>
            </a:r>
            <a:endParaRPr lang="en-GB" sz="1400" dirty="0">
              <a:solidFill>
                <a:srgbClr val="000000"/>
              </a:solidFill>
              <a:effectLst/>
              <a:latin typeface="Aptos" panose="020B0004020202020204" pitchFamily="34" charset="0"/>
            </a:endParaRPr>
          </a:p>
          <a:p>
            <a:r>
              <a:rPr lang="en-GB" sz="1400" b="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0387B44-76E3-8846-30BB-AB6EF319C7D6}"/>
              </a:ext>
            </a:extLst>
          </p:cNvPr>
          <p:cNvSpPr txBox="1"/>
          <p:nvPr/>
        </p:nvSpPr>
        <p:spPr>
          <a:xfrm>
            <a:off x="673574" y="5356035"/>
            <a:ext cx="704353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b="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{</a:t>
            </a:r>
          </a:p>
          <a:p>
            <a:r>
              <a:rPr lang="en-GB" sz="1400" b="0" dirty="0">
                <a:solidFill>
                  <a:srgbClr val="A31515"/>
                </a:solidFill>
                <a:effectLst/>
                <a:latin typeface="Aptos" panose="020B0004020202020204" pitchFamily="34" charset="0"/>
              </a:rPr>
              <a:t>"username"</a:t>
            </a:r>
            <a:r>
              <a:rPr lang="en-GB" sz="1400" b="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: </a:t>
            </a:r>
            <a:r>
              <a:rPr lang="en-GB" sz="1400" b="0" dirty="0">
                <a:solidFill>
                  <a:srgbClr val="0451A5"/>
                </a:solidFill>
                <a:effectLst/>
                <a:latin typeface="Aptos" panose="020B0004020202020204" pitchFamily="34" charset="0"/>
              </a:rPr>
              <a:t>"nmRTlOv7W8"</a:t>
            </a:r>
            <a:r>
              <a:rPr lang="en-GB" sz="1400" b="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,</a:t>
            </a:r>
          </a:p>
          <a:p>
            <a:r>
              <a:rPr lang="en-GB" sz="1400" b="0" dirty="0">
                <a:solidFill>
                  <a:srgbClr val="A31515"/>
                </a:solidFill>
                <a:effectLst/>
                <a:latin typeface="Aptos" panose="020B0004020202020204" pitchFamily="34" charset="0"/>
              </a:rPr>
              <a:t>"</a:t>
            </a:r>
            <a:r>
              <a:rPr lang="en-GB" sz="1400" b="0" dirty="0" err="1">
                <a:solidFill>
                  <a:srgbClr val="A31515"/>
                </a:solidFill>
                <a:effectLst/>
                <a:latin typeface="Aptos" panose="020B0004020202020204" pitchFamily="34" charset="0"/>
              </a:rPr>
              <a:t>access_expiration_date</a:t>
            </a:r>
            <a:r>
              <a:rPr lang="en-GB" sz="1400" b="0" dirty="0">
                <a:solidFill>
                  <a:srgbClr val="A31515"/>
                </a:solidFill>
                <a:effectLst/>
                <a:latin typeface="Aptos" panose="020B0004020202020204" pitchFamily="34" charset="0"/>
              </a:rPr>
              <a:t>"</a:t>
            </a:r>
            <a:r>
              <a:rPr lang="en-GB" sz="1400" b="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: </a:t>
            </a:r>
            <a:r>
              <a:rPr lang="en-GB" sz="1400" b="0" dirty="0">
                <a:solidFill>
                  <a:srgbClr val="0451A5"/>
                </a:solidFill>
                <a:effectLst/>
                <a:latin typeface="Aptos" panose="020B0004020202020204" pitchFamily="34" charset="0"/>
              </a:rPr>
              <a:t>"2024-09-30"</a:t>
            </a:r>
            <a:endParaRPr lang="en-GB" sz="1400" b="0" dirty="0">
              <a:solidFill>
                <a:srgbClr val="000000"/>
              </a:solidFill>
              <a:effectLst/>
              <a:latin typeface="Aptos" panose="020B0004020202020204" pitchFamily="34" charset="0"/>
            </a:endParaRPr>
          </a:p>
          <a:p>
            <a:r>
              <a:rPr lang="en-GB" sz="1400" b="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8AFD8F7-7E59-1C34-7EDD-B14102B9D521}"/>
              </a:ext>
            </a:extLst>
          </p:cNvPr>
          <p:cNvSpPr txBox="1"/>
          <p:nvPr/>
        </p:nvSpPr>
        <p:spPr>
          <a:xfrm>
            <a:off x="5908182" y="5356035"/>
            <a:ext cx="5395922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b="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{</a:t>
            </a:r>
          </a:p>
          <a:p>
            <a:r>
              <a:rPr lang="en-GB" sz="1400" b="0" dirty="0">
                <a:solidFill>
                  <a:srgbClr val="A31515"/>
                </a:solidFill>
                <a:effectLst/>
                <a:latin typeface="Aptos" panose="020B0004020202020204" pitchFamily="34" charset="0"/>
              </a:rPr>
              <a:t>"username"</a:t>
            </a:r>
            <a:r>
              <a:rPr lang="en-GB" sz="1400" b="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: </a:t>
            </a:r>
            <a:r>
              <a:rPr lang="en-GB" sz="1400" b="0" dirty="0">
                <a:solidFill>
                  <a:srgbClr val="0451A5"/>
                </a:solidFill>
                <a:effectLst/>
                <a:latin typeface="Aptos" panose="020B0004020202020204" pitchFamily="34" charset="0"/>
              </a:rPr>
              <a:t>"nmRTlOv7W8"</a:t>
            </a:r>
            <a:r>
              <a:rPr lang="en-GB" sz="1400" b="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,</a:t>
            </a:r>
          </a:p>
          <a:p>
            <a:r>
              <a:rPr lang="en-GB" sz="1400" b="0" dirty="0">
                <a:solidFill>
                  <a:srgbClr val="A31515"/>
                </a:solidFill>
                <a:effectLst/>
                <a:latin typeface="Aptos" panose="020B0004020202020204" pitchFamily="34" charset="0"/>
              </a:rPr>
              <a:t>"</a:t>
            </a:r>
            <a:r>
              <a:rPr lang="en-GB" sz="1400" b="0" dirty="0" err="1">
                <a:solidFill>
                  <a:srgbClr val="A31515"/>
                </a:solidFill>
                <a:effectLst/>
                <a:latin typeface="Aptos" panose="020B0004020202020204" pitchFamily="34" charset="0"/>
              </a:rPr>
              <a:t>access_expiration_date</a:t>
            </a:r>
            <a:r>
              <a:rPr lang="en-GB" sz="1400" b="0" dirty="0">
                <a:solidFill>
                  <a:srgbClr val="A31515"/>
                </a:solidFill>
                <a:effectLst/>
                <a:latin typeface="Aptos" panose="020B0004020202020204" pitchFamily="34" charset="0"/>
              </a:rPr>
              <a:t>"</a:t>
            </a:r>
            <a:r>
              <a:rPr lang="en-GB" sz="1400" b="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: </a:t>
            </a:r>
            <a:r>
              <a:rPr lang="en-GB" sz="1400" b="0" dirty="0">
                <a:solidFill>
                  <a:srgbClr val="0451A5"/>
                </a:solidFill>
                <a:effectLst/>
                <a:latin typeface="Aptos" panose="020B0004020202020204" pitchFamily="34" charset="0"/>
              </a:rPr>
              <a:t>null</a:t>
            </a:r>
            <a:endParaRPr lang="en-GB" sz="1400" b="0" dirty="0">
              <a:solidFill>
                <a:srgbClr val="000000"/>
              </a:solidFill>
              <a:effectLst/>
              <a:latin typeface="Aptos" panose="020B0004020202020204" pitchFamily="34" charset="0"/>
            </a:endParaRPr>
          </a:p>
          <a:p>
            <a:r>
              <a:rPr lang="en-GB" sz="1400" b="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99039111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Get the authorization: The IMPACT gate</a:t>
            </a:r>
          </a:p>
        </p:txBody>
      </p:sp>
      <p:pic>
        <p:nvPicPr>
          <p:cNvPr id="25" name="Picture 24" descr="A picture containing text, font, number, screenshot&#10;&#10;Description automatically generated">
            <a:extLst>
              <a:ext uri="{FF2B5EF4-FFF2-40B4-BE49-F238E27FC236}">
                <a16:creationId xmlns:a16="http://schemas.microsoft.com/office/drawing/2014/main" id="{936BA7AA-A185-DC18-A0DC-850EF432FFB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113217"/>
            <a:ext cx="11796486" cy="3541909"/>
          </a:xfrm>
          <a:prstGeom prst="rect">
            <a:avLst/>
          </a:prstGeom>
        </p:spPr>
      </p:pic>
      <p:pic>
        <p:nvPicPr>
          <p:cNvPr id="27" name="Picture 26" descr="A close-up of a sign&#10;&#10;Description automatically generated with low confidence">
            <a:extLst>
              <a:ext uri="{FF2B5EF4-FFF2-40B4-BE49-F238E27FC236}">
                <a16:creationId xmlns:a16="http://schemas.microsoft.com/office/drawing/2014/main" id="{8F4E9817-D3F6-AC09-6B5C-D0EAF63F7CD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29" y="1144998"/>
            <a:ext cx="11780157" cy="1968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457043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The IMPACT gate: token</a:t>
            </a:r>
          </a:p>
        </p:txBody>
      </p:sp>
      <p:pic>
        <p:nvPicPr>
          <p:cNvPr id="6" name="Picture 5" descr="A screenshot of a computer&#10;&#10;Description automatically generated with medium confidence">
            <a:extLst>
              <a:ext uri="{FF2B5EF4-FFF2-40B4-BE49-F238E27FC236}">
                <a16:creationId xmlns:a16="http://schemas.microsoft.com/office/drawing/2014/main" id="{794DBFBB-F85E-B3AE-79EE-F24CE0441C8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5705" y="1219776"/>
            <a:ext cx="8956295" cy="5638224"/>
          </a:xfrm>
          <a:prstGeom prst="rect">
            <a:avLst/>
          </a:prstGeom>
        </p:spPr>
      </p:pic>
      <p:sp>
        <p:nvSpPr>
          <p:cNvPr id="5" name="Segnaposto contenuto 2">
            <a:extLst>
              <a:ext uri="{FF2B5EF4-FFF2-40B4-BE49-F238E27FC236}">
                <a16:creationId xmlns:a16="http://schemas.microsoft.com/office/drawing/2014/main" id="{4ACE2A29-9ED4-0E4D-9E27-A8698B91D4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2" y="1361167"/>
            <a:ext cx="2720755" cy="5281458"/>
          </a:xfrm>
        </p:spPr>
        <p:txBody>
          <a:bodyPr>
            <a:normAutofit fontScale="92500" lnSpcReduction="10000"/>
          </a:bodyPr>
          <a:lstStyle/>
          <a:p>
            <a:r>
              <a:rPr lang="en-GB" dirty="0"/>
              <a:t>This endpoint allows to get the JWT token using your credentials</a:t>
            </a:r>
          </a:p>
          <a:p>
            <a:endParaRPr lang="en-GB" sz="2400" dirty="0"/>
          </a:p>
          <a:p>
            <a:r>
              <a:rPr lang="en-GB" dirty="0"/>
              <a:t>It needs 2 parameter provided in the request body</a:t>
            </a:r>
          </a:p>
          <a:p>
            <a:endParaRPr lang="en-GB" sz="2400" dirty="0"/>
          </a:p>
          <a:p>
            <a:r>
              <a:rPr lang="en-GB" dirty="0"/>
              <a:t>If successful (200) it will return a JSON containing the access and the refresh token pair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142025996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Get the token using POSTMAN</a:t>
            </a:r>
            <a:endParaRPr lang="en-IT" dirty="0"/>
          </a:p>
        </p:txBody>
      </p:sp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82E102B6-92E7-CC41-1E7F-F94ADEA27A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0816" y="1332238"/>
            <a:ext cx="7772400" cy="512108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340E440-0D42-02E8-D3DA-C3684E0B3FD5}"/>
              </a:ext>
            </a:extLst>
          </p:cNvPr>
          <p:cNvSpPr txBox="1"/>
          <p:nvPr/>
        </p:nvSpPr>
        <p:spPr>
          <a:xfrm>
            <a:off x="578784" y="3584167"/>
            <a:ext cx="3051568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{</a:t>
            </a:r>
          </a:p>
          <a:p>
            <a:r>
              <a:rPr lang="en-GB" sz="14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"username"</a:t>
            </a:r>
            <a:r>
              <a:rPr lang="en-GB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-GB" sz="1400" b="0" dirty="0">
                <a:solidFill>
                  <a:srgbClr val="0451A5"/>
                </a:solidFill>
                <a:effectLst/>
                <a:latin typeface="Menlo" panose="020B0609030804020204" pitchFamily="49" charset="0"/>
              </a:rPr>
              <a:t>"ZLCIyCWzX1"</a:t>
            </a:r>
            <a:r>
              <a:rPr lang="en-GB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</a:t>
            </a:r>
          </a:p>
          <a:p>
            <a:r>
              <a:rPr lang="en-GB" sz="14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”</a:t>
            </a:r>
            <a:r>
              <a:rPr lang="en-GB" sz="1400" dirty="0" err="1">
                <a:solidFill>
                  <a:srgbClr val="A31515"/>
                </a:solidFill>
                <a:latin typeface="Menlo" panose="020B0609030804020204" pitchFamily="49" charset="0"/>
              </a:rPr>
              <a:t>access_expiration_date</a:t>
            </a:r>
            <a:r>
              <a:rPr lang="en-GB" sz="14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GB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-GB" sz="14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2024-06-30</a:t>
            </a:r>
          </a:p>
          <a:p>
            <a:r>
              <a:rPr lang="en-GB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</p:txBody>
      </p:sp>
      <p:pic>
        <p:nvPicPr>
          <p:cNvPr id="9" name="Graphic 8" descr="Scientist male with solid fill">
            <a:extLst>
              <a:ext uri="{FF2B5EF4-FFF2-40B4-BE49-F238E27FC236}">
                <a16:creationId xmlns:a16="http://schemas.microsoft.com/office/drawing/2014/main" id="{4B8C210E-EBFB-5DF4-7694-4A06DE1F9AD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5719" y="2374367"/>
            <a:ext cx="1318590" cy="1318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012269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(Wrongly) Get the token using POSTMAN</a:t>
            </a:r>
            <a:endParaRPr lang="en-IT" dirty="0"/>
          </a:p>
        </p:txBody>
      </p:sp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1C05B9B0-B5BD-3800-A569-98FFAA84FA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1327" y="1283793"/>
            <a:ext cx="7772400" cy="5124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906799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(Wrongly) Get the token using POSTMAN</a:t>
            </a:r>
            <a:endParaRPr lang="en-IT" dirty="0"/>
          </a:p>
        </p:txBody>
      </p:sp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A30A4B0E-8BD0-F6C8-2B8D-9ED9D23900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9497" y="1344350"/>
            <a:ext cx="7772400" cy="5132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049581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Inspect the access token</a:t>
            </a:r>
            <a:endParaRPr lang="en-IT" dirty="0"/>
          </a:p>
        </p:txBody>
      </p:sp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74751E57-7795-05D7-4F36-9A8732E633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1972" y="1206646"/>
            <a:ext cx="5881205" cy="5489428"/>
          </a:xfrm>
          <a:prstGeom prst="rect">
            <a:avLst/>
          </a:prstGeom>
        </p:spPr>
      </p:pic>
      <p:sp>
        <p:nvSpPr>
          <p:cNvPr id="4" name="Segnaposto contenuto 2">
            <a:extLst>
              <a:ext uri="{FF2B5EF4-FFF2-40B4-BE49-F238E27FC236}">
                <a16:creationId xmlns:a16="http://schemas.microsoft.com/office/drawing/2014/main" id="{83F3D76F-5C61-DD33-6B6F-634A945945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2" y="1361167"/>
            <a:ext cx="3289984" cy="5281458"/>
          </a:xfrm>
        </p:spPr>
        <p:txBody>
          <a:bodyPr>
            <a:normAutofit/>
          </a:bodyPr>
          <a:lstStyle/>
          <a:p>
            <a:r>
              <a:rPr lang="en-GB" dirty="0"/>
              <a:t>We can inspect the content of the JWT token using an handful online tool:</a:t>
            </a:r>
          </a:p>
          <a:p>
            <a:endParaRPr lang="en-GB" dirty="0"/>
          </a:p>
          <a:p>
            <a:pPr marL="0" indent="0">
              <a:buNone/>
            </a:pPr>
            <a:r>
              <a:rPr lang="en-GB" dirty="0"/>
              <a:t> </a:t>
            </a:r>
            <a:r>
              <a:rPr lang="en-GB" dirty="0">
                <a:solidFill>
                  <a:srgbClr val="C00000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https://jwt.io</a:t>
            </a:r>
            <a:r>
              <a:rPr lang="en-GB" dirty="0">
                <a:solidFill>
                  <a:srgbClr val="C00000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52122456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The IMPACT gate: refresh</a:t>
            </a:r>
          </a:p>
        </p:txBody>
      </p:sp>
      <p:pic>
        <p:nvPicPr>
          <p:cNvPr id="4" name="Picture 3" descr="A screenshot of a computer&#10;&#10;Description automatically generated with medium confidence">
            <a:extLst>
              <a:ext uri="{FF2B5EF4-FFF2-40B4-BE49-F238E27FC236}">
                <a16:creationId xmlns:a16="http://schemas.microsoft.com/office/drawing/2014/main" id="{84A659B9-91E3-4A14-547C-04FD991260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9022" y="1197382"/>
            <a:ext cx="9553955" cy="5660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669408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Refresh the token using POSTMAN</a:t>
            </a:r>
            <a:endParaRPr lang="en-IT" dirty="0"/>
          </a:p>
        </p:txBody>
      </p:sp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C42F5EF5-F66B-6859-D14D-3B1FFC65EA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5166" y="1398850"/>
            <a:ext cx="7772400" cy="5103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354783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Inspect the new access token</a:t>
            </a:r>
            <a:endParaRPr lang="en-IT" dirty="0"/>
          </a:p>
        </p:txBody>
      </p:sp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B1BBEEFA-9EF7-4928-F5A6-CD4E87CF96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1342" y="1296793"/>
            <a:ext cx="5413378" cy="5252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996849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242402A-BE6A-BE40-4831-77E7103070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References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C1BC6E5-F9F5-AA1D-BD62-79BF41B741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 err="1"/>
              <a:t>Tanenbaum</a:t>
            </a:r>
            <a:r>
              <a:rPr lang="it-IT" dirty="0"/>
              <a:t>, </a:t>
            </a:r>
            <a:r>
              <a:rPr lang="it-IT" dirty="0" err="1"/>
              <a:t>Wetherall</a:t>
            </a:r>
            <a:r>
              <a:rPr lang="it-IT" dirty="0"/>
              <a:t> – Computer Networks – Fifth Edition</a:t>
            </a:r>
          </a:p>
          <a:p>
            <a:pPr lvl="1"/>
            <a:r>
              <a:rPr lang="it-IT" sz="2400" dirty="0" err="1"/>
              <a:t>Chapter</a:t>
            </a:r>
            <a:r>
              <a:rPr lang="it-IT" sz="2400" dirty="0"/>
              <a:t> 8 – Network security</a:t>
            </a:r>
          </a:p>
          <a:p>
            <a:pPr lvl="1"/>
            <a:endParaRPr lang="it-IT" sz="2400" dirty="0"/>
          </a:p>
          <a:p>
            <a:r>
              <a:rPr lang="it-IT" sz="2800" dirty="0" err="1"/>
              <a:t>jwt.io</a:t>
            </a:r>
            <a:r>
              <a:rPr lang="it-IT" sz="2800" dirty="0"/>
              <a:t>: </a:t>
            </a:r>
            <a:r>
              <a:rPr lang="it-IT" sz="2800" dirty="0">
                <a:solidFill>
                  <a:srgbClr val="C00000"/>
                </a:solidFill>
              </a:rPr>
              <a:t>https://</a:t>
            </a:r>
            <a:r>
              <a:rPr lang="it-IT" sz="2800" dirty="0" err="1">
                <a:solidFill>
                  <a:srgbClr val="C00000"/>
                </a:solidFill>
              </a:rPr>
              <a:t>jwt.io</a:t>
            </a:r>
            <a:r>
              <a:rPr lang="it-IT" sz="2800" dirty="0">
                <a:solidFill>
                  <a:srgbClr val="C00000"/>
                </a:solidFill>
              </a:rPr>
              <a:t> </a:t>
            </a:r>
          </a:p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BDDE0274-3613-AF73-FA54-29A8F55BCC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30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3973557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242</TotalTime>
  <Words>1836</Words>
  <Application>Microsoft Macintosh PowerPoint</Application>
  <PresentationFormat>Widescreen</PresentationFormat>
  <Paragraphs>315</Paragraphs>
  <Slides>30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9" baseType="lpstr">
      <vt:lpstr>Aptos</vt:lpstr>
      <vt:lpstr>Arial</vt:lpstr>
      <vt:lpstr>Calibri</vt:lpstr>
      <vt:lpstr>Courier New</vt:lpstr>
      <vt:lpstr>Menlo</vt:lpstr>
      <vt:lpstr>Palatino Linotype</vt:lpstr>
      <vt:lpstr>Times New Roman</vt:lpstr>
      <vt:lpstr>Wingdings</vt:lpstr>
      <vt:lpstr>Tema di Office</vt:lpstr>
      <vt:lpstr>PowerPoint Presentation</vt:lpstr>
      <vt:lpstr>Authorization</vt:lpstr>
      <vt:lpstr>Basic access authentication</vt:lpstr>
      <vt:lpstr>Basic access authentication</vt:lpstr>
      <vt:lpstr>Digest access authentication</vt:lpstr>
      <vt:lpstr>The problem of delegated authorization</vt:lpstr>
      <vt:lpstr>The incorrect solution: sharing login credentials</vt:lpstr>
      <vt:lpstr>OAuth protocol</vt:lpstr>
      <vt:lpstr>OAuth roles</vt:lpstr>
      <vt:lpstr>OAuth abstract model</vt:lpstr>
      <vt:lpstr>Application registration</vt:lpstr>
      <vt:lpstr>Example of delegated authentication with OAuth</vt:lpstr>
      <vt:lpstr>Refresh token</vt:lpstr>
      <vt:lpstr>JSON Web token</vt:lpstr>
      <vt:lpstr>JSON Web token</vt:lpstr>
      <vt:lpstr>JSON Web token</vt:lpstr>
      <vt:lpstr>Example of a JWT token</vt:lpstr>
      <vt:lpstr>How authorization works in the IMPACT backend</vt:lpstr>
      <vt:lpstr>The IMPACT user types and permissions</vt:lpstr>
      <vt:lpstr>The researcher role</vt:lpstr>
      <vt:lpstr>Get the authorization: The IMPACT gate</vt:lpstr>
      <vt:lpstr>The IMPACT gate: token</vt:lpstr>
      <vt:lpstr>Get the token using POSTMAN</vt:lpstr>
      <vt:lpstr>(Wrongly) Get the token using POSTMAN</vt:lpstr>
      <vt:lpstr>(Wrongly) Get the token using POSTMAN</vt:lpstr>
      <vt:lpstr>Inspect the access token</vt:lpstr>
      <vt:lpstr>The IMPACT gate: refresh</vt:lpstr>
      <vt:lpstr>Refresh the token using POSTMAN</vt:lpstr>
      <vt:lpstr>Inspect the new access token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Martina</dc:creator>
  <cp:lastModifiedBy>Giacomo Cappon</cp:lastModifiedBy>
  <cp:revision>540</cp:revision>
  <dcterms:created xsi:type="dcterms:W3CDTF">2021-07-19T09:08:13Z</dcterms:created>
  <dcterms:modified xsi:type="dcterms:W3CDTF">2025-04-14T09:58:19Z</dcterms:modified>
</cp:coreProperties>
</file>