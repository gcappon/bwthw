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9" r:id="rId2"/>
    <p:sldId id="369" r:id="rId3"/>
    <p:sldId id="304" r:id="rId4"/>
    <p:sldId id="370" r:id="rId5"/>
    <p:sldId id="313" r:id="rId6"/>
    <p:sldId id="314" r:id="rId7"/>
    <p:sldId id="315" r:id="rId8"/>
    <p:sldId id="316" r:id="rId9"/>
    <p:sldId id="371" r:id="rId10"/>
    <p:sldId id="326" r:id="rId11"/>
    <p:sldId id="317" r:id="rId12"/>
    <p:sldId id="318" r:id="rId13"/>
    <p:sldId id="319" r:id="rId14"/>
    <p:sldId id="320" r:id="rId15"/>
    <p:sldId id="321" r:id="rId16"/>
    <p:sldId id="322" r:id="rId17"/>
    <p:sldId id="323" r:id="rId18"/>
    <p:sldId id="324" r:id="rId19"/>
    <p:sldId id="372" r:id="rId20"/>
    <p:sldId id="349" r:id="rId21"/>
    <p:sldId id="327" r:id="rId22"/>
    <p:sldId id="346" r:id="rId23"/>
    <p:sldId id="373" r:id="rId24"/>
    <p:sldId id="303" r:id="rId25"/>
    <p:sldId id="374" r:id="rId26"/>
    <p:sldId id="309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132" autoAdjust="0"/>
    <p:restoredTop sz="90884"/>
  </p:normalViewPr>
  <p:slideViewPr>
    <p:cSldViewPr snapToGrid="0">
      <p:cViewPr varScale="1">
        <p:scale>
          <a:sx n="116" d="100"/>
          <a:sy n="116" d="100"/>
        </p:scale>
        <p:origin x="54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C4B3FE-0320-8142-8396-5C3025C019EC}" type="datetimeFigureOut">
              <a:rPr lang="en-IT" smtClean="0"/>
              <a:t>2/11/26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0F43FB-3F33-3F4B-9768-2FBED988F992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9294967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0105816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4077060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6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6797495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763347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8851899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10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2460998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6901614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7799996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6641294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7500223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4253214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16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7677426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5131714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18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3136608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85820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8387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28172" y="1364343"/>
            <a:ext cx="5591628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364343"/>
            <a:ext cx="5624286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948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456058" cy="1570716"/>
          </a:xfrm>
        </p:spPr>
        <p:txBody>
          <a:bodyPr anchor="ctr">
            <a:noAutofit/>
          </a:bodyPr>
          <a:lstStyle>
            <a:lvl1pPr marL="0" indent="0" algn="ctr">
              <a:buNone/>
              <a:defRPr sz="4800" b="1">
                <a:latin typeface="Aptos" panose="020B00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it-IT" dirty="0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2997200" y="855254"/>
            <a:ext cx="6125029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426028" y="4152532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9" name="Titolo 1"/>
          <p:cNvSpPr txBox="1">
            <a:spLocks/>
          </p:cNvSpPr>
          <p:nvPr userDrawn="1"/>
        </p:nvSpPr>
        <p:spPr>
          <a:xfrm>
            <a:off x="460370" y="1155224"/>
            <a:ext cx="10926088" cy="9459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r>
              <a:rPr lang="it-IT" sz="2800" b="0" dirty="0" err="1">
                <a:latin typeface="Aptos" panose="020B0004020202020204" pitchFamily="34" charset="0"/>
              </a:rPr>
              <a:t>Biomedical</a:t>
            </a:r>
            <a:r>
              <a:rPr lang="it-IT" sz="2800" b="0" dirty="0">
                <a:latin typeface="Aptos" panose="020B0004020202020204" pitchFamily="34" charset="0"/>
              </a:rPr>
              <a:t> </a:t>
            </a:r>
            <a:r>
              <a:rPr lang="it-IT" sz="2800" b="0" dirty="0" err="1">
                <a:latin typeface="Aptos" panose="020B0004020202020204" pitchFamily="34" charset="0"/>
              </a:rPr>
              <a:t>Wearable</a:t>
            </a:r>
            <a:r>
              <a:rPr lang="it-IT" sz="2800" b="0" dirty="0">
                <a:latin typeface="Aptos" panose="020B0004020202020204" pitchFamily="34" charset="0"/>
              </a:rPr>
              <a:t> Technologies </a:t>
            </a:r>
          </a:p>
          <a:p>
            <a:r>
              <a:rPr lang="it-IT" sz="2800" b="0" dirty="0">
                <a:latin typeface="Aptos" panose="020B0004020202020204" pitchFamily="34" charset="0"/>
              </a:rPr>
              <a:t>for Healthcare and </a:t>
            </a:r>
            <a:r>
              <a:rPr lang="it-IT" sz="2800" b="0" dirty="0" err="1">
                <a:latin typeface="Aptos" panose="020B0004020202020204" pitchFamily="34" charset="0"/>
              </a:rPr>
              <a:t>Wellbeing</a:t>
            </a:r>
            <a:r>
              <a:rPr lang="it-IT" sz="2800" b="0" dirty="0">
                <a:latin typeface="Aptos" panose="020B0004020202020204" pitchFamily="34" charset="0"/>
              </a:rPr>
              <a:t>  </a:t>
            </a:r>
            <a:endParaRPr lang="en-GB" sz="2800" b="0" dirty="0">
              <a:latin typeface="Aptos" panose="020B0004020202020204" pitchFamily="34" charset="0"/>
            </a:endParaRPr>
          </a:p>
        </p:txBody>
      </p:sp>
      <p:sp>
        <p:nvSpPr>
          <p:cNvPr id="10" name="Titolo 1"/>
          <p:cNvSpPr txBox="1">
            <a:spLocks/>
          </p:cNvSpPr>
          <p:nvPr userDrawn="1"/>
        </p:nvSpPr>
        <p:spPr>
          <a:xfrm>
            <a:off x="1426028" y="4424669"/>
            <a:ext cx="9456058" cy="6239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</a:rPr>
              <a:t>A.Y. 2024-2025</a:t>
            </a:r>
          </a:p>
        </p:txBody>
      </p:sp>
      <p:sp>
        <p:nvSpPr>
          <p:cNvPr id="14" name="CasellaDiTesto 13"/>
          <p:cNvSpPr txBox="1"/>
          <p:nvPr userDrawn="1"/>
        </p:nvSpPr>
        <p:spPr>
          <a:xfrm>
            <a:off x="2997200" y="133745"/>
            <a:ext cx="61250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University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Padova</a:t>
            </a:r>
            <a:b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</a:b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Department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Information </a:t>
            </a: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Engineering</a:t>
            </a:r>
            <a:endParaRPr lang="en-GB" sz="1100" cap="small" baseline="0" dirty="0">
              <a:latin typeface="Aptos" panose="020B0004020202020204" pitchFamily="34" charset="0"/>
            </a:endParaRPr>
          </a:p>
        </p:txBody>
      </p:sp>
      <p:pic>
        <p:nvPicPr>
          <p:cNvPr id="15" name="Immagine 14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70" y="5094383"/>
            <a:ext cx="1648258" cy="1648258"/>
          </a:xfrm>
          <a:prstGeom prst="rect">
            <a:avLst/>
          </a:prstGeom>
        </p:spPr>
      </p:pic>
      <p:pic>
        <p:nvPicPr>
          <p:cNvPr id="16" name="Immagine 15"/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5946" y="5094383"/>
            <a:ext cx="2153135" cy="13995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96487F-10E0-114E-8185-2B9A87D777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7534" y="4986716"/>
            <a:ext cx="4393045" cy="919388"/>
          </a:xfrm>
        </p:spPr>
        <p:txBody>
          <a:bodyPr>
            <a:normAutofit/>
          </a:bodyPr>
          <a:lstStyle>
            <a:lvl1pPr>
              <a:defRPr sz="3200">
                <a:latin typeface="Aptos" panose="020B0004020202020204" pitchFamily="34" charset="0"/>
              </a:defRPr>
            </a:lvl1pPr>
          </a:lstStyle>
          <a:p>
            <a:r>
              <a:rPr lang="en-IT" dirty="0"/>
              <a:t>Name Surname</a:t>
            </a:r>
          </a:p>
        </p:txBody>
      </p:sp>
    </p:spTree>
    <p:extLst>
      <p:ext uri="{BB962C8B-B14F-4D97-AF65-F5344CB8AC3E}">
        <p14:creationId xmlns:p14="http://schemas.microsoft.com/office/powerpoint/2010/main" val="255139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05962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6" name="Rettangolo arrotondato 5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0652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193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28172" y="1375682"/>
            <a:ext cx="11368314" cy="48219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1858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31DE2C5B-556E-47B8-A792-024C2FCA4AC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2879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49" r:id="rId3"/>
    <p:sldLayoutId id="2147483654" r:id="rId4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Clr>
          <a:srgbClr val="00B050"/>
        </a:buClr>
        <a:buFont typeface="Wingdings" panose="05000000000000000000" pitchFamily="2" charset="2"/>
        <a:buChar char="Ø"/>
        <a:defRPr sz="2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Times New Roman" panose="02020603050405020304" pitchFamily="18" charset="0"/>
        <a:buChar char="̶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flutter.dev/development/ui/layout/constraint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flutter.dev/development/ui/widgets/material" TargetMode="External"/><Relationship Id="rId7" Type="http://schemas.openxmlformats.org/officeDocument/2006/relationships/hyperlink" Target="https://docs.flutter.dev/development/ui/layout" TargetMode="External"/><Relationship Id="rId2" Type="http://schemas.openxmlformats.org/officeDocument/2006/relationships/hyperlink" Target="https://github.com/gcappon/bwthw/tree/master/lesson_08-implementing_ui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cs.flutter.dev/development/ui/layout/constraints" TargetMode="External"/><Relationship Id="rId5" Type="http://schemas.openxmlformats.org/officeDocument/2006/relationships/hyperlink" Target="https://docs.flutter.dev/reference/widgets" TargetMode="External"/><Relationship Id="rId4" Type="http://schemas.openxmlformats.org/officeDocument/2006/relationships/hyperlink" Target="https://docs.flutter.dev/development/ui/widget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7E0323C-B2D5-E147-A405-326B19A39E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Implementing</a:t>
            </a:r>
            <a:r>
              <a:rPr lang="en-IT"/>
              <a:t> </a:t>
            </a:r>
            <a:r>
              <a:rPr lang="en-IT" dirty="0"/>
              <a:t>UI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EB437F2-B298-5D42-A17B-E5DDC2184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/>
              <a:t>Giacomo Cappon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184054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b="1" dirty="0"/>
              <a:t>Recap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Building layouts in Flutter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Basic examples</a:t>
            </a:r>
          </a:p>
          <a:p>
            <a:endParaRPr lang="en-GB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Exercise 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Homework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Resources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687DA9-C7A9-FD4C-8AC4-415AD7ACB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6647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Recap: Widget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8101679" cy="5334907"/>
          </a:xfrm>
        </p:spPr>
        <p:txBody>
          <a:bodyPr>
            <a:normAutofit/>
          </a:bodyPr>
          <a:lstStyle/>
          <a:p>
            <a:r>
              <a:rPr lang="en-IT" dirty="0"/>
              <a:t>UIs are represented in Flutter hierarchically through a Widget tree</a:t>
            </a:r>
          </a:p>
          <a:p>
            <a:endParaRPr lang="en-IT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F17244-2987-0C44-87B6-12350657A197}"/>
              </a:ext>
            </a:extLst>
          </p:cNvPr>
          <p:cNvSpPr/>
          <p:nvPr/>
        </p:nvSpPr>
        <p:spPr>
          <a:xfrm>
            <a:off x="2530835" y="4506274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Text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790E9C1-3F85-B149-AF08-493FB64B5F8B}"/>
              </a:ext>
            </a:extLst>
          </p:cNvPr>
          <p:cNvSpPr/>
          <p:nvPr/>
        </p:nvSpPr>
        <p:spPr>
          <a:xfrm>
            <a:off x="3560790" y="2915041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Scaffold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1FF345-8737-D548-9561-D7C809EB55C2}"/>
              </a:ext>
            </a:extLst>
          </p:cNvPr>
          <p:cNvSpPr/>
          <p:nvPr/>
        </p:nvSpPr>
        <p:spPr>
          <a:xfrm>
            <a:off x="2530835" y="3735902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AppBar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D629AB-4658-6443-A7C6-B52E011176C4}"/>
              </a:ext>
            </a:extLst>
          </p:cNvPr>
          <p:cNvSpPr/>
          <p:nvPr/>
        </p:nvSpPr>
        <p:spPr>
          <a:xfrm>
            <a:off x="4617541" y="3735903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Center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6B1100-1A33-3F47-B7D6-5C6F3CB20427}"/>
              </a:ext>
            </a:extLst>
          </p:cNvPr>
          <p:cNvSpPr/>
          <p:nvPr/>
        </p:nvSpPr>
        <p:spPr>
          <a:xfrm>
            <a:off x="3560789" y="2130363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1400" dirty="0">
                <a:latin typeface="Courier" pitchFamily="2" charset="0"/>
              </a:rPr>
              <a:t>...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EF5F9FC-DC48-7148-A277-BA866C033DBC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>
            <a:off x="4289295" y="2582538"/>
            <a:ext cx="1" cy="332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A9DAB40-9F75-6C40-ADA9-EE743320AF29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3259341" y="3367216"/>
            <a:ext cx="1029955" cy="36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69970E2-EC0E-374A-A637-83FBF23B4915}"/>
              </a:ext>
            </a:extLst>
          </p:cNvPr>
          <p:cNvCxnSpPr>
            <a:cxnSpLocks/>
            <a:stCxn id="9" idx="2"/>
            <a:endCxn id="7" idx="0"/>
          </p:cNvCxnSpPr>
          <p:nvPr/>
        </p:nvCxnSpPr>
        <p:spPr>
          <a:xfrm>
            <a:off x="3259341" y="4188077"/>
            <a:ext cx="0" cy="3181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FDCEEF-24AE-3F44-A7DB-47789FBD0A73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4289296" y="3367216"/>
            <a:ext cx="1056751" cy="3686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6A69194-27AD-584F-BC0B-090B345B0D85}"/>
              </a:ext>
            </a:extLst>
          </p:cNvPr>
          <p:cNvCxnSpPr>
            <a:cxnSpLocks/>
            <a:stCxn id="10" idx="2"/>
            <a:endCxn id="17" idx="0"/>
          </p:cNvCxnSpPr>
          <p:nvPr/>
        </p:nvCxnSpPr>
        <p:spPr>
          <a:xfrm>
            <a:off x="5346047" y="4188078"/>
            <a:ext cx="9457" cy="3559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2149A3C-371D-D64A-95B2-62167F560E6E}"/>
              </a:ext>
            </a:extLst>
          </p:cNvPr>
          <p:cNvSpPr/>
          <p:nvPr/>
        </p:nvSpPr>
        <p:spPr>
          <a:xfrm>
            <a:off x="4626998" y="4544035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Column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8E011D-F531-1545-8C72-641D8CFE5FBE}"/>
              </a:ext>
            </a:extLst>
          </p:cNvPr>
          <p:cNvSpPr/>
          <p:nvPr/>
        </p:nvSpPr>
        <p:spPr>
          <a:xfrm>
            <a:off x="4626998" y="5221980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1100" dirty="0">
                <a:latin typeface="Courier" pitchFamily="2" charset="0"/>
              </a:rPr>
              <a:t>ElevatedButton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B070254-68C2-9743-8ED1-5443242C15F5}"/>
              </a:ext>
            </a:extLst>
          </p:cNvPr>
          <p:cNvSpPr/>
          <p:nvPr/>
        </p:nvSpPr>
        <p:spPr>
          <a:xfrm>
            <a:off x="6535773" y="5221979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Text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C487763-12BB-9644-8999-8E469261AB4C}"/>
              </a:ext>
            </a:extLst>
          </p:cNvPr>
          <p:cNvSpPr/>
          <p:nvPr/>
        </p:nvSpPr>
        <p:spPr>
          <a:xfrm>
            <a:off x="4626998" y="5831285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Courier" pitchFamily="2" charset="0"/>
              </a:rPr>
              <a:t>Text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7B56217-B678-B744-BC29-2E5A76132891}"/>
              </a:ext>
            </a:extLst>
          </p:cNvPr>
          <p:cNvSpPr/>
          <p:nvPr/>
        </p:nvSpPr>
        <p:spPr>
          <a:xfrm>
            <a:off x="2617226" y="5221978"/>
            <a:ext cx="1457011" cy="45217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T" sz="900" dirty="0">
                <a:latin typeface="Courier" pitchFamily="2" charset="0"/>
              </a:rPr>
              <a:t>MainAxisAlignment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56246BA-0DF6-B045-BF9B-5BF9D8846F1B}"/>
              </a:ext>
            </a:extLst>
          </p:cNvPr>
          <p:cNvCxnSpPr>
            <a:cxnSpLocks/>
            <a:stCxn id="18" idx="2"/>
            <a:endCxn id="20" idx="0"/>
          </p:cNvCxnSpPr>
          <p:nvPr/>
        </p:nvCxnSpPr>
        <p:spPr>
          <a:xfrm>
            <a:off x="5355504" y="5674155"/>
            <a:ext cx="0" cy="1571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25D1BF9-F1AC-814F-AFB6-0C7F7B7F21BE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5355504" y="4996210"/>
            <a:ext cx="0" cy="2257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2EA3A26-F0FA-1047-8250-DA5E6F987C35}"/>
              </a:ext>
            </a:extLst>
          </p:cNvPr>
          <p:cNvCxnSpPr>
            <a:cxnSpLocks/>
            <a:stCxn id="17" idx="2"/>
            <a:endCxn id="21" idx="0"/>
          </p:cNvCxnSpPr>
          <p:nvPr/>
        </p:nvCxnSpPr>
        <p:spPr>
          <a:xfrm flipH="1">
            <a:off x="3345732" y="4996210"/>
            <a:ext cx="2009772" cy="2257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E90ED98-8C65-1744-868C-20A3D79C4F52}"/>
              </a:ext>
            </a:extLst>
          </p:cNvPr>
          <p:cNvCxnSpPr>
            <a:cxnSpLocks/>
            <a:stCxn id="17" idx="2"/>
            <a:endCxn id="19" idx="0"/>
          </p:cNvCxnSpPr>
          <p:nvPr/>
        </p:nvCxnSpPr>
        <p:spPr>
          <a:xfrm>
            <a:off x="5355504" y="4996210"/>
            <a:ext cx="1908775" cy="2257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8E0C8E-F5FE-FA4E-AB89-EEB0E868A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</a:t>
            </a:fld>
            <a:endParaRPr lang="en-GB"/>
          </a:p>
        </p:txBody>
      </p:sp>
      <p:pic>
        <p:nvPicPr>
          <p:cNvPr id="6" name="Picture 5" descr="A screen shot of a phone&#10;&#10;Description automatically generated">
            <a:extLst>
              <a:ext uri="{FF2B5EF4-FFF2-40B4-BE49-F238E27FC236}">
                <a16:creationId xmlns:a16="http://schemas.microsoft.com/office/drawing/2014/main" id="{962C454D-2AC2-3E40-464C-0314B2319E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4927" y="1224642"/>
            <a:ext cx="2536093" cy="5496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9358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F8979-DA7B-E28C-14D0-2164E2C9D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18129-7E85-A3E4-B172-6F8D6D2C8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FE3B2-EBCF-008D-C90A-76882848E1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Recap</a:t>
            </a:r>
          </a:p>
          <a:p>
            <a:r>
              <a:rPr lang="en-GB" b="1" dirty="0"/>
              <a:t>Building layouts in Flutter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Basic examples</a:t>
            </a:r>
          </a:p>
          <a:p>
            <a:endParaRPr lang="en-GB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Exercise 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Homework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Resources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9C32F-C7E1-7B87-A8FA-524B25D95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7601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l</a:t>
            </a:r>
            <a:r>
              <a:rPr lang="en-IT"/>
              <a:t>ayouts </a:t>
            </a:r>
            <a:r>
              <a:rPr lang="en-IT" dirty="0"/>
              <a:t>in F</a:t>
            </a:r>
            <a:r>
              <a:rPr lang="en-GB" dirty="0"/>
              <a:t>l</a:t>
            </a:r>
            <a:r>
              <a:rPr lang="en-IT" dirty="0"/>
              <a:t>utter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0913119" cy="3280281"/>
          </a:xfrm>
        </p:spPr>
        <p:txBody>
          <a:bodyPr>
            <a:normAutofit/>
          </a:bodyPr>
          <a:lstStyle/>
          <a:p>
            <a:r>
              <a:rPr lang="en-US" dirty="0"/>
              <a:t>Layouts are organized in a Widget tree</a:t>
            </a:r>
          </a:p>
          <a:p>
            <a:endParaRPr lang="en-US" dirty="0"/>
          </a:p>
          <a:p>
            <a:r>
              <a:rPr lang="en-US" dirty="0"/>
              <a:t>But how a widget is sized and positioned somewhere?</a:t>
            </a:r>
          </a:p>
          <a:p>
            <a:endParaRPr lang="en-US" dirty="0"/>
          </a:p>
          <a:p>
            <a:r>
              <a:rPr lang="en-US" dirty="0"/>
              <a:t>To answer this question, we need to fully understand this rule: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sz="3200" b="1" dirty="0"/>
              <a:t>Constraints go down. Sizes go up. Parent sets position.</a:t>
            </a:r>
            <a:endParaRPr lang="en-IT" dirty="0"/>
          </a:p>
          <a:p>
            <a:endParaRPr lang="en-IT" dirty="0"/>
          </a:p>
          <a:p>
            <a:endParaRPr lang="en-IT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FE42408-202D-984E-98AF-6866BCCEC0C0}"/>
              </a:ext>
            </a:extLst>
          </p:cNvPr>
          <p:cNvSpPr txBox="1">
            <a:spLocks/>
          </p:cNvSpPr>
          <p:nvPr/>
        </p:nvSpPr>
        <p:spPr>
          <a:xfrm>
            <a:off x="428171" y="4985973"/>
            <a:ext cx="10913119" cy="14495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T" dirty="0">
              <a:latin typeface="Aptos" panose="020B0004020202020204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0F62D5C-9748-C24F-BD9A-05FFF0FA858F}"/>
              </a:ext>
            </a:extLst>
          </p:cNvPr>
          <p:cNvSpPr txBox="1">
            <a:spLocks/>
          </p:cNvSpPr>
          <p:nvPr/>
        </p:nvSpPr>
        <p:spPr>
          <a:xfrm>
            <a:off x="428171" y="5214047"/>
            <a:ext cx="3275726" cy="122147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latin typeface="Aptos" panose="020B0004020202020204" pitchFamily="34" charset="0"/>
              </a:rPr>
              <a:t>The set of 4 doubles: minimum and maximum height, minimum and maximum width.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4AF3B35-882F-7249-B1DE-21546FE250E2}"/>
              </a:ext>
            </a:extLst>
          </p:cNvPr>
          <p:cNvSpPr txBox="1">
            <a:spLocks/>
          </p:cNvSpPr>
          <p:nvPr/>
        </p:nvSpPr>
        <p:spPr>
          <a:xfrm>
            <a:off x="4325025" y="5214046"/>
            <a:ext cx="2266801" cy="12214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latin typeface="Aptos" panose="020B0004020202020204" pitchFamily="34" charset="0"/>
              </a:rPr>
              <a:t>The set of 2 doubles: height and width. 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0913FB4-14A1-2749-97AE-760309BB9C16}"/>
              </a:ext>
            </a:extLst>
          </p:cNvPr>
          <p:cNvSpPr txBox="1">
            <a:spLocks/>
          </p:cNvSpPr>
          <p:nvPr/>
        </p:nvSpPr>
        <p:spPr>
          <a:xfrm>
            <a:off x="8825740" y="5214046"/>
            <a:ext cx="2355404" cy="12214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latin typeface="Aptos" panose="020B0004020202020204" pitchFamily="34" charset="0"/>
              </a:rPr>
              <a:t>The set of 2 doubles: x and y.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3BC1788-B65C-B541-A2D4-1C3612737C9F}"/>
              </a:ext>
            </a:extLst>
          </p:cNvPr>
          <p:cNvCxnSpPr>
            <a:cxnSpLocks/>
          </p:cNvCxnSpPr>
          <p:nvPr/>
        </p:nvCxnSpPr>
        <p:spPr>
          <a:xfrm>
            <a:off x="1932972" y="4641448"/>
            <a:ext cx="0" cy="344525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AE84740-2C2D-7B4E-B6C7-799257264384}"/>
              </a:ext>
            </a:extLst>
          </p:cNvPr>
          <p:cNvCxnSpPr>
            <a:cxnSpLocks/>
          </p:cNvCxnSpPr>
          <p:nvPr/>
        </p:nvCxnSpPr>
        <p:spPr>
          <a:xfrm>
            <a:off x="5458425" y="4676743"/>
            <a:ext cx="0" cy="344525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03629E7-A52A-4C4E-90E6-8E1AAE35D708}"/>
              </a:ext>
            </a:extLst>
          </p:cNvPr>
          <p:cNvCxnSpPr>
            <a:cxnSpLocks/>
          </p:cNvCxnSpPr>
          <p:nvPr/>
        </p:nvCxnSpPr>
        <p:spPr>
          <a:xfrm>
            <a:off x="10023695" y="4701034"/>
            <a:ext cx="0" cy="344525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BFB67D0-4DE9-4643-89DC-27D149714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73039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l</a:t>
            </a:r>
            <a:r>
              <a:rPr lang="en-IT"/>
              <a:t>ayouts in F</a:t>
            </a:r>
            <a:r>
              <a:rPr lang="en-GB" dirty="0"/>
              <a:t>l</a:t>
            </a:r>
            <a:r>
              <a:rPr lang="en-IT"/>
              <a:t>utter 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717" y="1361167"/>
            <a:ext cx="10401410" cy="533490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b="1" dirty="0"/>
              <a:t>Constraints go down. Sizes go up. Parent sets position.</a:t>
            </a:r>
          </a:p>
          <a:p>
            <a:pPr marL="0" indent="0">
              <a:buNone/>
            </a:pPr>
            <a:endParaRPr lang="en-IT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FE42408-202D-984E-98AF-6866BCCEC0C0}"/>
              </a:ext>
            </a:extLst>
          </p:cNvPr>
          <p:cNvSpPr txBox="1">
            <a:spLocks/>
          </p:cNvSpPr>
          <p:nvPr/>
        </p:nvSpPr>
        <p:spPr>
          <a:xfrm>
            <a:off x="428171" y="4985973"/>
            <a:ext cx="10913119" cy="14495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T" dirty="0"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B33E84-AC0A-C147-95C3-F4F8C35EBC88}"/>
              </a:ext>
            </a:extLst>
          </p:cNvPr>
          <p:cNvSpPr/>
          <p:nvPr/>
        </p:nvSpPr>
        <p:spPr>
          <a:xfrm>
            <a:off x="10767166" y="1897703"/>
            <a:ext cx="1090363" cy="461665"/>
          </a:xfrm>
          <a:prstGeom prst="rect">
            <a:avLst/>
          </a:prstGeom>
          <a:ln w="28575">
            <a:solidFill>
              <a:schemeClr val="accent6"/>
            </a:solidFill>
          </a:ln>
        </p:spPr>
        <p:txBody>
          <a:bodyPr wrap="none">
            <a:spAutoFit/>
          </a:bodyPr>
          <a:lstStyle/>
          <a:p>
            <a:r>
              <a:rPr lang="en-US" sz="2400" b="1" dirty="0">
                <a:latin typeface="Aptos" panose="020B0004020202020204" pitchFamily="34" charset="0"/>
              </a:rPr>
              <a:t>Parent</a:t>
            </a:r>
            <a:endParaRPr lang="en-IT" sz="2400" dirty="0">
              <a:latin typeface="Aptos" panose="020B00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AFAA02A-8AA0-E347-96B5-57B6069648DD}"/>
              </a:ext>
            </a:extLst>
          </p:cNvPr>
          <p:cNvSpPr/>
          <p:nvPr/>
        </p:nvSpPr>
        <p:spPr>
          <a:xfrm>
            <a:off x="10709843" y="3879605"/>
            <a:ext cx="1205010" cy="461665"/>
          </a:xfrm>
          <a:prstGeom prst="rect">
            <a:avLst/>
          </a:prstGeom>
          <a:ln w="28575">
            <a:solidFill>
              <a:schemeClr val="accent6"/>
            </a:solidFill>
          </a:ln>
        </p:spPr>
        <p:txBody>
          <a:bodyPr wrap="none">
            <a:spAutoFit/>
          </a:bodyPr>
          <a:lstStyle/>
          <a:p>
            <a:r>
              <a:rPr lang="en-US" sz="2400" b="1" dirty="0">
                <a:latin typeface="Aptos" panose="020B0004020202020204" pitchFamily="34" charset="0"/>
              </a:rPr>
              <a:t>Widget</a:t>
            </a:r>
            <a:endParaRPr lang="en-IT" sz="2400" dirty="0">
              <a:latin typeface="Aptos" panose="020B00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630B82B-0923-184C-8B61-B2F93E894C79}"/>
              </a:ext>
            </a:extLst>
          </p:cNvPr>
          <p:cNvSpPr/>
          <p:nvPr/>
        </p:nvSpPr>
        <p:spPr>
          <a:xfrm>
            <a:off x="10587629" y="5811937"/>
            <a:ext cx="1449436" cy="461665"/>
          </a:xfrm>
          <a:prstGeom prst="rect">
            <a:avLst/>
          </a:prstGeom>
          <a:ln w="28575">
            <a:solidFill>
              <a:schemeClr val="accent6"/>
            </a:solidFill>
          </a:ln>
        </p:spPr>
        <p:txBody>
          <a:bodyPr wrap="none">
            <a:spAutoFit/>
          </a:bodyPr>
          <a:lstStyle/>
          <a:p>
            <a:r>
              <a:rPr lang="en-US" sz="2400" b="1" dirty="0">
                <a:latin typeface="Aptos" panose="020B0004020202020204" pitchFamily="34" charset="0"/>
              </a:rPr>
              <a:t>Children</a:t>
            </a:r>
            <a:endParaRPr lang="en-IT" sz="2400" dirty="0">
              <a:latin typeface="Aptos" panose="020B0004020202020204" pitchFamily="34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2B8C8F7-971D-D848-BE84-F79EBFEE9392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>
            <a:off x="11312348" y="2359368"/>
            <a:ext cx="0" cy="1520237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C20C4C9-6AA1-2C46-974D-800162FCACA4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1312347" y="4341270"/>
            <a:ext cx="1" cy="1470667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2EF72E83-19DC-C147-90C3-92A60D162273}"/>
              </a:ext>
            </a:extLst>
          </p:cNvPr>
          <p:cNvSpPr txBox="1">
            <a:spLocks/>
          </p:cNvSpPr>
          <p:nvPr/>
        </p:nvSpPr>
        <p:spPr>
          <a:xfrm>
            <a:off x="120919" y="1947271"/>
            <a:ext cx="7954445" cy="43263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" panose="05000000000000000000" pitchFamily="2" charset="2"/>
              <a:buNone/>
            </a:pPr>
            <a:endParaRPr lang="en-US" sz="3200" b="1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A widget gets its constraints from its parent and tells its children what are the constraints (i.e., “</a:t>
            </a:r>
            <a:r>
              <a:rPr lang="en-US" b="1" dirty="0">
                <a:latin typeface="Aptos" panose="020B0004020202020204" pitchFamily="34" charset="0"/>
              </a:rPr>
              <a:t>constraints go down</a:t>
            </a:r>
            <a:r>
              <a:rPr lang="en-US" dirty="0">
                <a:latin typeface="Aptos" panose="020B0004020202020204" pitchFamily="34" charset="0"/>
              </a:rPr>
              <a:t>”).</a:t>
            </a:r>
          </a:p>
          <a:p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A widget then asks its children the sizes they want to be (i.e., “</a:t>
            </a:r>
            <a:r>
              <a:rPr lang="en-US" b="1" dirty="0">
                <a:latin typeface="Aptos" panose="020B0004020202020204" pitchFamily="34" charset="0"/>
              </a:rPr>
              <a:t>sizes go up</a:t>
            </a:r>
            <a:r>
              <a:rPr lang="en-US" dirty="0">
                <a:latin typeface="Aptos" panose="020B0004020202020204" pitchFamily="34" charset="0"/>
              </a:rPr>
              <a:t>”).</a:t>
            </a:r>
          </a:p>
          <a:p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A widget positions its children (i.e., “</a:t>
            </a:r>
            <a:r>
              <a:rPr lang="en-US" b="1" dirty="0">
                <a:latin typeface="Aptos" panose="020B0004020202020204" pitchFamily="34" charset="0"/>
              </a:rPr>
              <a:t>parent sets position</a:t>
            </a:r>
            <a:r>
              <a:rPr lang="en-US" dirty="0">
                <a:latin typeface="Aptos" panose="020B0004020202020204" pitchFamily="34" charset="0"/>
              </a:rPr>
              <a:t>”).</a:t>
            </a:r>
            <a:endParaRPr lang="en-IT" dirty="0">
              <a:latin typeface="Aptos" panose="020B0004020202020204" pitchFamily="34" charset="0"/>
            </a:endParaRPr>
          </a:p>
          <a:p>
            <a:endParaRPr lang="en-IT" dirty="0">
              <a:latin typeface="Aptos" panose="020B0004020202020204" pitchFamily="34" charset="0"/>
            </a:endParaRPr>
          </a:p>
          <a:p>
            <a:endParaRPr lang="en-IT" dirty="0">
              <a:latin typeface="Aptos" panose="020B0004020202020204" pitchFamily="34" charset="0"/>
            </a:endParaRPr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59B12312-6E21-7144-8A5D-EDE71ED29FD0}"/>
              </a:ext>
            </a:extLst>
          </p:cNvPr>
          <p:cNvSpPr/>
          <p:nvPr/>
        </p:nvSpPr>
        <p:spPr>
          <a:xfrm rot="16200000">
            <a:off x="8382260" y="3787432"/>
            <a:ext cx="3491991" cy="635861"/>
          </a:xfrm>
          <a:prstGeom prst="rightArrow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SIZES</a:t>
            </a:r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BF778D0F-A7D0-7048-A712-8B7C4161D31C}"/>
              </a:ext>
            </a:extLst>
          </p:cNvPr>
          <p:cNvSpPr/>
          <p:nvPr/>
        </p:nvSpPr>
        <p:spPr>
          <a:xfrm rot="5400000">
            <a:off x="10515159" y="4836168"/>
            <a:ext cx="849858" cy="580580"/>
          </a:xfrm>
          <a:prstGeom prst="rightArrow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POS.</a:t>
            </a:r>
          </a:p>
        </p:txBody>
      </p:sp>
      <p:sp>
        <p:nvSpPr>
          <p:cNvPr id="36" name="Right Arrow 35">
            <a:extLst>
              <a:ext uri="{FF2B5EF4-FFF2-40B4-BE49-F238E27FC236}">
                <a16:creationId xmlns:a16="http://schemas.microsoft.com/office/drawing/2014/main" id="{8B83E54D-A615-A64D-9138-266A56F0D5BD}"/>
              </a:ext>
            </a:extLst>
          </p:cNvPr>
          <p:cNvSpPr/>
          <p:nvPr/>
        </p:nvSpPr>
        <p:spPr>
          <a:xfrm rot="5400000">
            <a:off x="7628879" y="3787432"/>
            <a:ext cx="3491991" cy="635861"/>
          </a:xfrm>
          <a:prstGeom prst="rightArrow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CONSTRAINTS</a:t>
            </a:r>
          </a:p>
        </p:txBody>
      </p:sp>
      <p:sp>
        <p:nvSpPr>
          <p:cNvPr id="37" name="Right Arrow 36">
            <a:extLst>
              <a:ext uri="{FF2B5EF4-FFF2-40B4-BE49-F238E27FC236}">
                <a16:creationId xmlns:a16="http://schemas.microsoft.com/office/drawing/2014/main" id="{AE3BF69F-B14F-DD43-A3BB-7482E2690815}"/>
              </a:ext>
            </a:extLst>
          </p:cNvPr>
          <p:cNvSpPr/>
          <p:nvPr/>
        </p:nvSpPr>
        <p:spPr>
          <a:xfrm rot="5400000">
            <a:off x="10511779" y="2907439"/>
            <a:ext cx="849858" cy="580580"/>
          </a:xfrm>
          <a:prstGeom prst="rightArrow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POS.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BC132D-7C9C-BB49-9BDA-2391B1F48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79444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Negotiating constraints, sizes, and position</a:t>
            </a:r>
            <a:endParaRPr lang="en-IT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FE42408-202D-984E-98AF-6866BCCEC0C0}"/>
              </a:ext>
            </a:extLst>
          </p:cNvPr>
          <p:cNvSpPr txBox="1">
            <a:spLocks/>
          </p:cNvSpPr>
          <p:nvPr/>
        </p:nvSpPr>
        <p:spPr>
          <a:xfrm>
            <a:off x="428171" y="4985973"/>
            <a:ext cx="10913119" cy="14495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T" dirty="0"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B33E84-AC0A-C147-95C3-F4F8C35EBC88}"/>
              </a:ext>
            </a:extLst>
          </p:cNvPr>
          <p:cNvSpPr/>
          <p:nvPr/>
        </p:nvSpPr>
        <p:spPr>
          <a:xfrm>
            <a:off x="10763229" y="3224373"/>
            <a:ext cx="1090363" cy="461665"/>
          </a:xfrm>
          <a:prstGeom prst="rect">
            <a:avLst/>
          </a:prstGeom>
          <a:ln w="28575">
            <a:solidFill>
              <a:schemeClr val="accent6"/>
            </a:solidFill>
          </a:ln>
        </p:spPr>
        <p:txBody>
          <a:bodyPr wrap="none">
            <a:spAutoFit/>
          </a:bodyPr>
          <a:lstStyle/>
          <a:p>
            <a:r>
              <a:rPr lang="en-US" sz="2400" b="1" dirty="0">
                <a:latin typeface="Aptos" panose="020B0004020202020204" pitchFamily="34" charset="0"/>
              </a:rPr>
              <a:t>Parent</a:t>
            </a:r>
            <a:endParaRPr lang="en-IT" sz="2400" dirty="0">
              <a:latin typeface="Aptos" panose="020B00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AFAA02A-8AA0-E347-96B5-57B6069648DD}"/>
              </a:ext>
            </a:extLst>
          </p:cNvPr>
          <p:cNvSpPr/>
          <p:nvPr/>
        </p:nvSpPr>
        <p:spPr>
          <a:xfrm>
            <a:off x="10705906" y="4728675"/>
            <a:ext cx="1205010" cy="461665"/>
          </a:xfrm>
          <a:prstGeom prst="rect">
            <a:avLst/>
          </a:prstGeom>
          <a:ln w="28575">
            <a:solidFill>
              <a:schemeClr val="accent6"/>
            </a:solidFill>
          </a:ln>
        </p:spPr>
        <p:txBody>
          <a:bodyPr wrap="none">
            <a:spAutoFit/>
          </a:bodyPr>
          <a:lstStyle/>
          <a:p>
            <a:r>
              <a:rPr lang="en-US" sz="2400" b="1" dirty="0">
                <a:latin typeface="Aptos" panose="020B0004020202020204" pitchFamily="34" charset="0"/>
              </a:rPr>
              <a:t>Widget</a:t>
            </a:r>
            <a:endParaRPr lang="en-IT" sz="2400" dirty="0">
              <a:latin typeface="Aptos" panose="020B00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630B82B-0923-184C-8B61-B2F93E894C79}"/>
              </a:ext>
            </a:extLst>
          </p:cNvPr>
          <p:cNvSpPr/>
          <p:nvPr/>
        </p:nvSpPr>
        <p:spPr>
          <a:xfrm>
            <a:off x="10587629" y="6232977"/>
            <a:ext cx="1449436" cy="461665"/>
          </a:xfrm>
          <a:prstGeom prst="rect">
            <a:avLst/>
          </a:prstGeom>
          <a:ln w="28575">
            <a:solidFill>
              <a:schemeClr val="accent6"/>
            </a:solidFill>
          </a:ln>
        </p:spPr>
        <p:txBody>
          <a:bodyPr wrap="none">
            <a:spAutoFit/>
          </a:bodyPr>
          <a:lstStyle/>
          <a:p>
            <a:r>
              <a:rPr lang="en-US" sz="2400" b="1" dirty="0">
                <a:latin typeface="Aptos" panose="020B0004020202020204" pitchFamily="34" charset="0"/>
              </a:rPr>
              <a:t>Children</a:t>
            </a:r>
            <a:endParaRPr lang="en-IT" sz="2400" dirty="0">
              <a:latin typeface="Aptos" panose="020B0004020202020204" pitchFamily="34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2B8C8F7-971D-D848-BE84-F79EBFEE9392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>
            <a:off x="11308411" y="3686038"/>
            <a:ext cx="0" cy="1042637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C20C4C9-6AA1-2C46-974D-800162FCACA4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11308411" y="5190340"/>
            <a:ext cx="3936" cy="1042637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2EF72E83-19DC-C147-90C3-92A60D162273}"/>
              </a:ext>
            </a:extLst>
          </p:cNvPr>
          <p:cNvSpPr txBox="1">
            <a:spLocks/>
          </p:cNvSpPr>
          <p:nvPr/>
        </p:nvSpPr>
        <p:spPr>
          <a:xfrm>
            <a:off x="184588" y="1279467"/>
            <a:ext cx="7559711" cy="557853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dirty="0">
                <a:latin typeface="Aptos" panose="020B0004020202020204" pitchFamily="34" charset="0"/>
              </a:rPr>
              <a:t>Widget</a:t>
            </a:r>
            <a:r>
              <a:rPr lang="en-GB" dirty="0">
                <a:latin typeface="Aptos" panose="020B0004020202020204" pitchFamily="34" charset="0"/>
              </a:rPr>
              <a:t>: “Hey parent, what are my constraints?”</a:t>
            </a:r>
          </a:p>
          <a:p>
            <a:r>
              <a:rPr lang="en-GB" b="1" dirty="0">
                <a:latin typeface="Aptos" panose="020B0004020202020204" pitchFamily="34" charset="0"/>
              </a:rPr>
              <a:t>Parent</a:t>
            </a:r>
            <a:r>
              <a:rPr lang="en-GB" dirty="0">
                <a:latin typeface="Aptos" panose="020B0004020202020204" pitchFamily="34" charset="0"/>
              </a:rPr>
              <a:t>: “You must be from 80 to 300 pixels wide, and 30 to 85 tall.”</a:t>
            </a:r>
          </a:p>
          <a:p>
            <a:r>
              <a:rPr lang="en-GB" b="1" dirty="0">
                <a:latin typeface="Aptos" panose="020B0004020202020204" pitchFamily="34" charset="0"/>
              </a:rPr>
              <a:t>Widget</a:t>
            </a:r>
            <a:r>
              <a:rPr lang="en-GB" dirty="0">
                <a:latin typeface="Aptos" panose="020B0004020202020204" pitchFamily="34" charset="0"/>
              </a:rPr>
              <a:t>: “Since I want to have 5 pixels of padding, then my children can have at most 290 pixels of width and 75 pixels of height.”</a:t>
            </a:r>
          </a:p>
          <a:p>
            <a:r>
              <a:rPr lang="en-GB" b="1" dirty="0">
                <a:latin typeface="Aptos" panose="020B0004020202020204" pitchFamily="34" charset="0"/>
              </a:rPr>
              <a:t>Widget</a:t>
            </a:r>
            <a:r>
              <a:rPr lang="en-GB" dirty="0">
                <a:latin typeface="Aptos" panose="020B0004020202020204" pitchFamily="34" charset="0"/>
              </a:rPr>
              <a:t>: “Hey first child, you must be from 0 to 290 pixels wide, and 0 to 75 tall.”</a:t>
            </a:r>
          </a:p>
          <a:p>
            <a:r>
              <a:rPr lang="en-GB" b="1" dirty="0">
                <a:latin typeface="Aptos" panose="020B0004020202020204" pitchFamily="34" charset="0"/>
              </a:rPr>
              <a:t>First child</a:t>
            </a:r>
            <a:r>
              <a:rPr lang="en-GB" dirty="0">
                <a:latin typeface="Aptos" panose="020B0004020202020204" pitchFamily="34" charset="0"/>
              </a:rPr>
              <a:t>: “OK, then I wish to be 290 pixels wide, and 20 pixels tall.”</a:t>
            </a:r>
          </a:p>
          <a:p>
            <a:r>
              <a:rPr lang="en-GB" b="1" dirty="0">
                <a:latin typeface="Aptos" panose="020B0004020202020204" pitchFamily="34" charset="0"/>
              </a:rPr>
              <a:t>Widget</a:t>
            </a:r>
            <a:r>
              <a:rPr lang="en-GB" dirty="0">
                <a:latin typeface="Aptos" panose="020B0004020202020204" pitchFamily="34" charset="0"/>
              </a:rPr>
              <a:t>: “Since I want to put my second child below the first one, this leaves only 55 pixels of height for my second child.”</a:t>
            </a:r>
          </a:p>
          <a:p>
            <a:r>
              <a:rPr lang="en-GB" b="1" dirty="0">
                <a:latin typeface="Aptos" panose="020B0004020202020204" pitchFamily="34" charset="0"/>
              </a:rPr>
              <a:t>Widget</a:t>
            </a:r>
            <a:r>
              <a:rPr lang="en-GB" dirty="0">
                <a:latin typeface="Aptos" panose="020B0004020202020204" pitchFamily="34" charset="0"/>
              </a:rPr>
              <a:t>: “Hey second child, You must be from 0 to 290 wide, and 0 to 55 tall.”</a:t>
            </a:r>
          </a:p>
          <a:p>
            <a:r>
              <a:rPr lang="en-GB" b="1" dirty="0">
                <a:latin typeface="Aptos" panose="020B0004020202020204" pitchFamily="34" charset="0"/>
              </a:rPr>
              <a:t>Second child</a:t>
            </a:r>
            <a:r>
              <a:rPr lang="en-GB" dirty="0">
                <a:latin typeface="Aptos" panose="020B0004020202020204" pitchFamily="34" charset="0"/>
              </a:rPr>
              <a:t>: “OK, I wish to be 140 pixels wide, and 30 pixels tall.”</a:t>
            </a:r>
          </a:p>
          <a:p>
            <a:r>
              <a:rPr lang="en-GB" b="1" dirty="0">
                <a:latin typeface="Aptos" panose="020B0004020202020204" pitchFamily="34" charset="0"/>
              </a:rPr>
              <a:t>Widget</a:t>
            </a:r>
            <a:r>
              <a:rPr lang="en-GB" dirty="0">
                <a:latin typeface="Aptos" panose="020B0004020202020204" pitchFamily="34" charset="0"/>
              </a:rPr>
              <a:t>: “Very well. My first child has position x: 5 and y: 5, and my second child has x: 80 and y: 25.”</a:t>
            </a:r>
          </a:p>
          <a:p>
            <a:r>
              <a:rPr lang="en-GB" b="1" dirty="0">
                <a:latin typeface="Aptos" panose="020B0004020202020204" pitchFamily="34" charset="0"/>
              </a:rPr>
              <a:t>Widget</a:t>
            </a:r>
            <a:r>
              <a:rPr lang="en-GB" dirty="0">
                <a:latin typeface="Aptos" panose="020B0004020202020204" pitchFamily="34" charset="0"/>
              </a:rPr>
              <a:t>: “Hey parent, I’ve decided that my size is going to be 300 pixels wide, and 60 pixels tall.”</a:t>
            </a:r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59B12312-6E21-7144-8A5D-EDE71ED29FD0}"/>
              </a:ext>
            </a:extLst>
          </p:cNvPr>
          <p:cNvSpPr/>
          <p:nvPr/>
        </p:nvSpPr>
        <p:spPr>
          <a:xfrm rot="16200000">
            <a:off x="9200335" y="4671648"/>
            <a:ext cx="2176462" cy="607198"/>
          </a:xfrm>
          <a:prstGeom prst="rightArrow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SIZES</a:t>
            </a:r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BF778D0F-A7D0-7048-A712-8B7C4161D31C}"/>
              </a:ext>
            </a:extLst>
          </p:cNvPr>
          <p:cNvSpPr/>
          <p:nvPr/>
        </p:nvSpPr>
        <p:spPr>
          <a:xfrm rot="5400000">
            <a:off x="10539746" y="5439792"/>
            <a:ext cx="849858" cy="580580"/>
          </a:xfrm>
          <a:prstGeom prst="rightArrow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POS.</a:t>
            </a:r>
          </a:p>
        </p:txBody>
      </p:sp>
      <p:sp>
        <p:nvSpPr>
          <p:cNvPr id="36" name="Right Arrow 35">
            <a:extLst>
              <a:ext uri="{FF2B5EF4-FFF2-40B4-BE49-F238E27FC236}">
                <a16:creationId xmlns:a16="http://schemas.microsoft.com/office/drawing/2014/main" id="{8B83E54D-A615-A64D-9138-266A56F0D5BD}"/>
              </a:ext>
            </a:extLst>
          </p:cNvPr>
          <p:cNvSpPr/>
          <p:nvPr/>
        </p:nvSpPr>
        <p:spPr>
          <a:xfrm rot="5400000">
            <a:off x="8589668" y="4668043"/>
            <a:ext cx="2165320" cy="635861"/>
          </a:xfrm>
          <a:prstGeom prst="rightArrow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CONSTRAINTS</a:t>
            </a:r>
          </a:p>
        </p:txBody>
      </p:sp>
      <p:sp>
        <p:nvSpPr>
          <p:cNvPr id="37" name="Right Arrow 36">
            <a:extLst>
              <a:ext uri="{FF2B5EF4-FFF2-40B4-BE49-F238E27FC236}">
                <a16:creationId xmlns:a16="http://schemas.microsoft.com/office/drawing/2014/main" id="{AE3BF69F-B14F-DD43-A3BB-7482E2690815}"/>
              </a:ext>
            </a:extLst>
          </p:cNvPr>
          <p:cNvSpPr/>
          <p:nvPr/>
        </p:nvSpPr>
        <p:spPr>
          <a:xfrm rot="5400000">
            <a:off x="10526859" y="3898643"/>
            <a:ext cx="849858" cy="580580"/>
          </a:xfrm>
          <a:prstGeom prst="rightArrow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POS.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4EABB4-64D7-7443-B88A-FC6DF111BB4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496" b="4926"/>
          <a:stretch/>
        </p:blipFill>
        <p:spPr>
          <a:xfrm>
            <a:off x="7578090" y="1204768"/>
            <a:ext cx="4611232" cy="177540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8A6D96-AC01-D94F-9464-FEDD2AC3B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85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  <a:endParaRPr lang="en-IT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FE42408-202D-984E-98AF-6866BCCEC0C0}"/>
              </a:ext>
            </a:extLst>
          </p:cNvPr>
          <p:cNvSpPr txBox="1">
            <a:spLocks/>
          </p:cNvSpPr>
          <p:nvPr/>
        </p:nvSpPr>
        <p:spPr>
          <a:xfrm>
            <a:off x="428171" y="4985973"/>
            <a:ext cx="10913119" cy="14495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T" dirty="0">
              <a:latin typeface="Aptos" panose="020B0004020202020204" pitchFamily="34" charset="0"/>
            </a:endParaRP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2EF72E83-19DC-C147-90C3-92A60D162273}"/>
              </a:ext>
            </a:extLst>
          </p:cNvPr>
          <p:cNvSpPr txBox="1">
            <a:spLocks/>
          </p:cNvSpPr>
          <p:nvPr/>
        </p:nvSpPr>
        <p:spPr>
          <a:xfrm>
            <a:off x="184588" y="1279467"/>
            <a:ext cx="8668744" cy="55785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latin typeface="Aptos" panose="020B0004020202020204" pitchFamily="34" charset="0"/>
              </a:rPr>
              <a:t>A widget can decide its own size only within the constraints given to it by its parent: a widget </a:t>
            </a:r>
            <a:r>
              <a:rPr lang="en-GB" b="1" dirty="0">
                <a:latin typeface="Aptos" panose="020B0004020202020204" pitchFamily="34" charset="0"/>
              </a:rPr>
              <a:t>can’t have any size it wants</a:t>
            </a:r>
            <a:r>
              <a:rPr lang="en-GB" dirty="0">
                <a:latin typeface="Aptos" panose="020B0004020202020204" pitchFamily="34" charset="0"/>
              </a:rPr>
              <a:t>.</a:t>
            </a:r>
          </a:p>
          <a:p>
            <a:endParaRPr lang="en-GB" dirty="0">
              <a:latin typeface="Aptos" panose="020B0004020202020204" pitchFamily="34" charset="0"/>
            </a:endParaRPr>
          </a:p>
          <a:p>
            <a:r>
              <a:rPr lang="en-GB" dirty="0">
                <a:latin typeface="Aptos" panose="020B0004020202020204" pitchFamily="34" charset="0"/>
              </a:rPr>
              <a:t>A widget </a:t>
            </a:r>
            <a:r>
              <a:rPr lang="en-GB" b="1" dirty="0">
                <a:latin typeface="Aptos" panose="020B0004020202020204" pitchFamily="34" charset="0"/>
              </a:rPr>
              <a:t>can’t know and doesn’t decide its own position in the screen</a:t>
            </a:r>
            <a:r>
              <a:rPr lang="en-GB" dirty="0">
                <a:latin typeface="Aptos" panose="020B0004020202020204" pitchFamily="34" charset="0"/>
              </a:rPr>
              <a:t>.</a:t>
            </a:r>
          </a:p>
          <a:p>
            <a:endParaRPr lang="en-GB" dirty="0">
              <a:latin typeface="Aptos" panose="020B0004020202020204" pitchFamily="34" charset="0"/>
            </a:endParaRPr>
          </a:p>
          <a:p>
            <a:r>
              <a:rPr lang="en-GB" dirty="0">
                <a:latin typeface="Aptos" panose="020B0004020202020204" pitchFamily="34" charset="0"/>
              </a:rPr>
              <a:t>It’s impossible to precisely define the size and position of any widget without taking into consideration the tree as a whole.</a:t>
            </a:r>
          </a:p>
          <a:p>
            <a:endParaRPr lang="en-GB" dirty="0">
              <a:latin typeface="Aptos" panose="020B0004020202020204" pitchFamily="34" charset="0"/>
            </a:endParaRPr>
          </a:p>
          <a:p>
            <a:r>
              <a:rPr lang="en-GB" dirty="0">
                <a:latin typeface="Aptos" panose="020B0004020202020204" pitchFamily="34" charset="0"/>
              </a:rPr>
              <a:t>If a child wants a different size from its parent and the parent doesn’t have enough information to align it, then </a:t>
            </a:r>
            <a:r>
              <a:rPr lang="en-GB" b="1" dirty="0">
                <a:latin typeface="Aptos" panose="020B0004020202020204" pitchFamily="34" charset="0"/>
              </a:rPr>
              <a:t>the child’s size might be ignored</a:t>
            </a:r>
            <a:r>
              <a:rPr lang="en-GB" dirty="0">
                <a:latin typeface="Aptos" panose="020B0004020202020204" pitchFamily="34" charset="0"/>
              </a:rPr>
              <a:t>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062154-BA53-9342-AE30-97F3797D3C41}"/>
              </a:ext>
            </a:extLst>
          </p:cNvPr>
          <p:cNvSpPr/>
          <p:nvPr/>
        </p:nvSpPr>
        <p:spPr>
          <a:xfrm>
            <a:off x="10767166" y="1897703"/>
            <a:ext cx="1090363" cy="461665"/>
          </a:xfrm>
          <a:prstGeom prst="rect">
            <a:avLst/>
          </a:prstGeom>
          <a:ln w="28575">
            <a:solidFill>
              <a:schemeClr val="accent6"/>
            </a:solidFill>
          </a:ln>
        </p:spPr>
        <p:txBody>
          <a:bodyPr wrap="none">
            <a:spAutoFit/>
          </a:bodyPr>
          <a:lstStyle/>
          <a:p>
            <a:r>
              <a:rPr lang="en-US" sz="2400" b="1" dirty="0">
                <a:latin typeface="Aptos" panose="020B0004020202020204" pitchFamily="34" charset="0"/>
              </a:rPr>
              <a:t>Parent</a:t>
            </a:r>
            <a:endParaRPr lang="en-IT" sz="2400" dirty="0">
              <a:latin typeface="Aptos" panose="020B00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3BC2CE0-5ADE-7741-B3B5-1EB72F843CB6}"/>
              </a:ext>
            </a:extLst>
          </p:cNvPr>
          <p:cNvSpPr/>
          <p:nvPr/>
        </p:nvSpPr>
        <p:spPr>
          <a:xfrm>
            <a:off x="10709843" y="3879605"/>
            <a:ext cx="1205010" cy="461665"/>
          </a:xfrm>
          <a:prstGeom prst="rect">
            <a:avLst/>
          </a:prstGeom>
          <a:ln w="28575">
            <a:solidFill>
              <a:schemeClr val="accent6"/>
            </a:solidFill>
          </a:ln>
        </p:spPr>
        <p:txBody>
          <a:bodyPr wrap="none">
            <a:spAutoFit/>
          </a:bodyPr>
          <a:lstStyle/>
          <a:p>
            <a:r>
              <a:rPr lang="en-US" sz="2400" b="1" dirty="0">
                <a:latin typeface="Aptos" panose="020B0004020202020204" pitchFamily="34" charset="0"/>
              </a:rPr>
              <a:t>Widget</a:t>
            </a:r>
            <a:endParaRPr lang="en-IT" sz="2400" dirty="0">
              <a:latin typeface="Aptos" panose="020B00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DEC1E4C-3178-6E4C-92F9-BC0F147EAD00}"/>
              </a:ext>
            </a:extLst>
          </p:cNvPr>
          <p:cNvSpPr/>
          <p:nvPr/>
        </p:nvSpPr>
        <p:spPr>
          <a:xfrm>
            <a:off x="10587629" y="5811937"/>
            <a:ext cx="1449436" cy="461665"/>
          </a:xfrm>
          <a:prstGeom prst="rect">
            <a:avLst/>
          </a:prstGeom>
          <a:ln w="28575">
            <a:solidFill>
              <a:schemeClr val="accent6"/>
            </a:solidFill>
          </a:ln>
        </p:spPr>
        <p:txBody>
          <a:bodyPr wrap="none">
            <a:spAutoFit/>
          </a:bodyPr>
          <a:lstStyle/>
          <a:p>
            <a:r>
              <a:rPr lang="en-US" sz="2400" b="1" dirty="0">
                <a:latin typeface="Aptos" panose="020B0004020202020204" pitchFamily="34" charset="0"/>
              </a:rPr>
              <a:t>Children</a:t>
            </a:r>
            <a:endParaRPr lang="en-IT" sz="2400" dirty="0">
              <a:latin typeface="Aptos" panose="020B000402020202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9F9E91E-61D1-7C4A-A12D-99C3526E9CD6}"/>
              </a:ext>
            </a:extLst>
          </p:cNvPr>
          <p:cNvCxnSpPr>
            <a:cxnSpLocks/>
            <a:stCxn id="16" idx="2"/>
            <a:endCxn id="18" idx="0"/>
          </p:cNvCxnSpPr>
          <p:nvPr/>
        </p:nvCxnSpPr>
        <p:spPr>
          <a:xfrm>
            <a:off x="11312348" y="2359368"/>
            <a:ext cx="0" cy="1520237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11B6D7D-97C1-1548-93C7-40347CAEAD6D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 flipH="1">
            <a:off x="11312347" y="4341270"/>
            <a:ext cx="1" cy="1470667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ight Arrow 22">
            <a:extLst>
              <a:ext uri="{FF2B5EF4-FFF2-40B4-BE49-F238E27FC236}">
                <a16:creationId xmlns:a16="http://schemas.microsoft.com/office/drawing/2014/main" id="{F2DC2D3F-3C6C-5C4B-BC0A-FDD810056F95}"/>
              </a:ext>
            </a:extLst>
          </p:cNvPr>
          <p:cNvSpPr/>
          <p:nvPr/>
        </p:nvSpPr>
        <p:spPr>
          <a:xfrm rot="16200000">
            <a:off x="8382260" y="3787432"/>
            <a:ext cx="3491991" cy="635861"/>
          </a:xfrm>
          <a:prstGeom prst="rightArrow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SIZES</a:t>
            </a:r>
          </a:p>
        </p:txBody>
      </p:sp>
      <p:sp>
        <p:nvSpPr>
          <p:cNvPr id="24" name="Right Arrow 23">
            <a:extLst>
              <a:ext uri="{FF2B5EF4-FFF2-40B4-BE49-F238E27FC236}">
                <a16:creationId xmlns:a16="http://schemas.microsoft.com/office/drawing/2014/main" id="{DDFBA33C-A2FE-D54C-832C-A16D54809D31}"/>
              </a:ext>
            </a:extLst>
          </p:cNvPr>
          <p:cNvSpPr/>
          <p:nvPr/>
        </p:nvSpPr>
        <p:spPr>
          <a:xfrm rot="5400000">
            <a:off x="10515159" y="4836168"/>
            <a:ext cx="849858" cy="580580"/>
          </a:xfrm>
          <a:prstGeom prst="rightArrow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POS.</a:t>
            </a:r>
          </a:p>
        </p:txBody>
      </p:sp>
      <p:sp>
        <p:nvSpPr>
          <p:cNvPr id="25" name="Right Arrow 24">
            <a:extLst>
              <a:ext uri="{FF2B5EF4-FFF2-40B4-BE49-F238E27FC236}">
                <a16:creationId xmlns:a16="http://schemas.microsoft.com/office/drawing/2014/main" id="{8DEE2880-C055-CE48-BB92-F9641D13235F}"/>
              </a:ext>
            </a:extLst>
          </p:cNvPr>
          <p:cNvSpPr/>
          <p:nvPr/>
        </p:nvSpPr>
        <p:spPr>
          <a:xfrm rot="5400000">
            <a:off x="7628879" y="3787432"/>
            <a:ext cx="3491991" cy="635861"/>
          </a:xfrm>
          <a:prstGeom prst="rightArrow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CONSTRAINTS</a:t>
            </a:r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E9DF6ADF-A04A-7F41-BC09-DC2990C79D0D}"/>
              </a:ext>
            </a:extLst>
          </p:cNvPr>
          <p:cNvSpPr/>
          <p:nvPr/>
        </p:nvSpPr>
        <p:spPr>
          <a:xfrm rot="5400000">
            <a:off x="10511779" y="2907439"/>
            <a:ext cx="849858" cy="580580"/>
          </a:xfrm>
          <a:prstGeom prst="rightArrow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>
                <a:latin typeface="Aptos" panose="020B0004020202020204" pitchFamily="34" charset="0"/>
              </a:rPr>
              <a:t>POS.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73148F-F269-CD48-9C5A-12692B305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0737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EADDF-94CB-EA28-C0CB-4CE3D1B81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978DC-FE29-CD16-FFED-7FEB6BF29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61EB1C-2F22-EF9B-2853-1EFD5A563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Recap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Building layouts in Flutter</a:t>
            </a:r>
          </a:p>
          <a:p>
            <a:r>
              <a:rPr lang="en-GB" b="1" dirty="0"/>
              <a:t>Basic examples</a:t>
            </a:r>
          </a:p>
          <a:p>
            <a:endParaRPr lang="en-GB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Exercise 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Homework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Resources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C32410-49DD-5C4E-C666-FC508CD63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4358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Dive into examples</a:t>
            </a:r>
            <a:endParaRPr lang="en-IT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FE42408-202D-984E-98AF-6866BCCEC0C0}"/>
              </a:ext>
            </a:extLst>
          </p:cNvPr>
          <p:cNvSpPr txBox="1">
            <a:spLocks/>
          </p:cNvSpPr>
          <p:nvPr/>
        </p:nvSpPr>
        <p:spPr>
          <a:xfrm>
            <a:off x="428171" y="4985973"/>
            <a:ext cx="10913119" cy="14495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T" dirty="0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2EF72E83-19DC-C147-90C3-92A60D162273}"/>
              </a:ext>
            </a:extLst>
          </p:cNvPr>
          <p:cNvSpPr txBox="1">
            <a:spLocks/>
          </p:cNvSpPr>
          <p:nvPr/>
        </p:nvSpPr>
        <p:spPr>
          <a:xfrm>
            <a:off x="184588" y="1279467"/>
            <a:ext cx="11156702" cy="55785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latin typeface="Aptos" panose="020B0004020202020204" pitchFamily="34" charset="0"/>
              </a:rPr>
              <a:t>In the “Understanding constraints” article by Marcelo Glasberg </a:t>
            </a:r>
            <a:r>
              <a:rPr lang="en-GB" dirty="0">
                <a:latin typeface="Aptos" panose="020B0004020202020204" pitchFamily="34" charset="0"/>
                <a:hlinkClick r:id="rId3"/>
              </a:rPr>
              <a:t>https://docs.flutter.dev/development/ui/layout/constraints</a:t>
            </a:r>
            <a:r>
              <a:rPr lang="en-GB" dirty="0">
                <a:latin typeface="Aptos" panose="020B0004020202020204" pitchFamily="34" charset="0"/>
              </a:rPr>
              <a:t> (you will also find the link in the Resources section of this presentation) there are a lot (29) of examples explaining how all of this works.</a:t>
            </a:r>
          </a:p>
          <a:p>
            <a:endParaRPr lang="en-GB" dirty="0">
              <a:latin typeface="Aptos" panose="020B0004020202020204" pitchFamily="34" charset="0"/>
            </a:endParaRPr>
          </a:p>
          <a:p>
            <a:r>
              <a:rPr lang="en-GB" dirty="0">
                <a:latin typeface="Aptos" panose="020B0004020202020204" pitchFamily="34" charset="0"/>
              </a:rPr>
              <a:t>Let’s report the most interesting ones.</a:t>
            </a:r>
          </a:p>
          <a:p>
            <a:pPr marL="0" indent="0">
              <a:buNone/>
            </a:pPr>
            <a:endParaRPr lang="en-GB" dirty="0">
              <a:latin typeface="Aptos" panose="020B0004020202020204" pitchFamily="34" charset="0"/>
            </a:endParaRPr>
          </a:p>
          <a:p>
            <a:pPr marL="0" indent="0">
              <a:buNone/>
            </a:pPr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5CF430-C59C-8F4F-8AEC-FEEBBB360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9471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</a:t>
            </a:r>
            <a:endParaRPr lang="en-IT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FE42408-202D-984E-98AF-6866BCCEC0C0}"/>
              </a:ext>
            </a:extLst>
          </p:cNvPr>
          <p:cNvSpPr txBox="1">
            <a:spLocks/>
          </p:cNvSpPr>
          <p:nvPr/>
        </p:nvSpPr>
        <p:spPr>
          <a:xfrm>
            <a:off x="428171" y="4985973"/>
            <a:ext cx="10913119" cy="14495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T" dirty="0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2EF72E83-19DC-C147-90C3-92A60D162273}"/>
              </a:ext>
            </a:extLst>
          </p:cNvPr>
          <p:cNvSpPr txBox="1">
            <a:spLocks/>
          </p:cNvSpPr>
          <p:nvPr/>
        </p:nvSpPr>
        <p:spPr>
          <a:xfrm>
            <a:off x="184588" y="1279467"/>
            <a:ext cx="7937012" cy="55785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Widget _example1() =&gt; Container(</a:t>
            </a:r>
            <a:r>
              <a:rPr lang="en-GB" dirty="0" err="1">
                <a:latin typeface="Courier" pitchFamily="2" charset="0"/>
              </a:rPr>
              <a:t>color</a:t>
            </a:r>
            <a:r>
              <a:rPr lang="en-GB" dirty="0">
                <a:latin typeface="Courier" pitchFamily="2" charset="0"/>
              </a:rPr>
              <a:t>: </a:t>
            </a:r>
            <a:r>
              <a:rPr lang="en-GB" dirty="0" err="1">
                <a:latin typeface="Courier" pitchFamily="2" charset="0"/>
              </a:rPr>
              <a:t>Colors.red</a:t>
            </a:r>
            <a:r>
              <a:rPr lang="en-GB" dirty="0">
                <a:latin typeface="Courier" pitchFamily="2" charset="0"/>
              </a:rPr>
              <a:t>);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>
                <a:latin typeface="Aptos" panose="020B0004020202020204" pitchFamily="34" charset="0"/>
              </a:rPr>
              <a:t>The screen is the parent of the Container, and it forces the </a:t>
            </a:r>
            <a:r>
              <a:rPr lang="en-GB" dirty="0">
                <a:latin typeface="Courier" pitchFamily="2" charset="0"/>
              </a:rPr>
              <a:t>Container </a:t>
            </a:r>
            <a:r>
              <a:rPr lang="en-GB" dirty="0">
                <a:latin typeface="Aptos" panose="020B0004020202020204" pitchFamily="34" charset="0"/>
              </a:rPr>
              <a:t>to be exactly the same size as the screen.</a:t>
            </a:r>
          </a:p>
          <a:p>
            <a:r>
              <a:rPr lang="en-GB" dirty="0">
                <a:latin typeface="Aptos" panose="020B0004020202020204" pitchFamily="34" charset="0"/>
              </a:rPr>
              <a:t>So the </a:t>
            </a:r>
            <a:r>
              <a:rPr lang="en-GB" dirty="0">
                <a:latin typeface="Courier" pitchFamily="2" charset="0"/>
              </a:rPr>
              <a:t>Container</a:t>
            </a:r>
            <a:r>
              <a:rPr lang="en-GB" dirty="0">
                <a:latin typeface="Aptos" panose="020B0004020202020204" pitchFamily="34" charset="0"/>
              </a:rPr>
              <a:t> fills the screen and paints it red.</a:t>
            </a:r>
          </a:p>
          <a:p>
            <a:pPr marL="0" indent="0">
              <a:buNone/>
            </a:pPr>
            <a:endParaRPr lang="en-GB" dirty="0">
              <a:latin typeface="Aptos" panose="020B0004020202020204" pitchFamily="34" charset="0"/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F84939-F630-0C4B-8344-79AA177704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2156" y="1732527"/>
            <a:ext cx="3434330" cy="262940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890E6E-D11C-8242-A36B-9CE43D1B2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16365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  <a:endParaRPr lang="en-IT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FE42408-202D-984E-98AF-6866BCCEC0C0}"/>
              </a:ext>
            </a:extLst>
          </p:cNvPr>
          <p:cNvSpPr txBox="1">
            <a:spLocks/>
          </p:cNvSpPr>
          <p:nvPr/>
        </p:nvSpPr>
        <p:spPr>
          <a:xfrm>
            <a:off x="428171" y="4985973"/>
            <a:ext cx="10913119" cy="14495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T" dirty="0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2EF72E83-19DC-C147-90C3-92A60D162273}"/>
              </a:ext>
            </a:extLst>
          </p:cNvPr>
          <p:cNvSpPr txBox="1">
            <a:spLocks/>
          </p:cNvSpPr>
          <p:nvPr/>
        </p:nvSpPr>
        <p:spPr>
          <a:xfrm>
            <a:off x="184588" y="1279467"/>
            <a:ext cx="7526612" cy="55785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Widget _example2() =&gt; Container(width: 100, height: 100, </a:t>
            </a:r>
            <a:r>
              <a:rPr lang="en-GB" dirty="0" err="1">
                <a:latin typeface="Courier" pitchFamily="2" charset="0"/>
              </a:rPr>
              <a:t>color</a:t>
            </a:r>
            <a:r>
              <a:rPr lang="en-GB" dirty="0">
                <a:latin typeface="Courier" pitchFamily="2" charset="0"/>
              </a:rPr>
              <a:t>: red);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>
                <a:latin typeface="Aptos" panose="020B0004020202020204" pitchFamily="34" charset="0"/>
              </a:rPr>
              <a:t>The red 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GB" dirty="0">
                <a:latin typeface="Aptos" panose="020B0004020202020204" pitchFamily="34" charset="0"/>
              </a:rPr>
              <a:t> wants to be 100 × 100, but it can’t, because the screen forces it to be exactly the same size as the screen.</a:t>
            </a:r>
          </a:p>
          <a:p>
            <a:endParaRPr lang="en-GB" dirty="0">
              <a:latin typeface="Aptos" panose="020B0004020202020204" pitchFamily="34" charset="0"/>
            </a:endParaRPr>
          </a:p>
          <a:p>
            <a:r>
              <a:rPr lang="en-GB" dirty="0">
                <a:latin typeface="Aptos" panose="020B0004020202020204" pitchFamily="34" charset="0"/>
              </a:rPr>
              <a:t>The 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GB" dirty="0">
                <a:latin typeface="Aptos" panose="020B0004020202020204" pitchFamily="34" charset="0"/>
              </a:rPr>
              <a:t> fills the screen.</a:t>
            </a:r>
          </a:p>
          <a:p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F84939-F630-0C4B-8344-79AA177704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2156" y="1732527"/>
            <a:ext cx="3434330" cy="262940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013E51-BAB0-DC4A-86CA-3C2758E7E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94781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3</a:t>
            </a:r>
            <a:endParaRPr lang="en-IT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FE42408-202D-984E-98AF-6866BCCEC0C0}"/>
              </a:ext>
            </a:extLst>
          </p:cNvPr>
          <p:cNvSpPr txBox="1">
            <a:spLocks/>
          </p:cNvSpPr>
          <p:nvPr/>
        </p:nvSpPr>
        <p:spPr>
          <a:xfrm>
            <a:off x="428171" y="4985973"/>
            <a:ext cx="10913119" cy="14495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T" dirty="0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2EF72E83-19DC-C147-90C3-92A60D162273}"/>
              </a:ext>
            </a:extLst>
          </p:cNvPr>
          <p:cNvSpPr txBox="1">
            <a:spLocks/>
          </p:cNvSpPr>
          <p:nvPr/>
        </p:nvSpPr>
        <p:spPr>
          <a:xfrm>
            <a:off x="184588" y="1279467"/>
            <a:ext cx="8177568" cy="55785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Widget _example3() =&gt; </a:t>
            </a:r>
            <a:r>
              <a:rPr lang="en-GB" dirty="0" err="1">
                <a:latin typeface="Courier" pitchFamily="2" charset="0"/>
              </a:rPr>
              <a:t>Center</a:t>
            </a:r>
            <a:r>
              <a:rPr lang="en-GB" dirty="0">
                <a:latin typeface="Courier" pitchFamily="2" charset="0"/>
              </a:rPr>
              <a:t>(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  child: Container(width: 100, height: 100, </a:t>
            </a:r>
            <a:r>
              <a:rPr lang="en-GB" dirty="0" err="1">
                <a:latin typeface="Courier" pitchFamily="2" charset="0"/>
              </a:rPr>
              <a:t>color</a:t>
            </a:r>
            <a:r>
              <a:rPr lang="en-GB" dirty="0">
                <a:latin typeface="Courier" pitchFamily="2" charset="0"/>
              </a:rPr>
              <a:t>: red),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);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>
                <a:latin typeface="Aptos" panose="020B0004020202020204" pitchFamily="34" charset="0"/>
              </a:rPr>
              <a:t>The screen forces the 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Center</a:t>
            </a:r>
            <a:r>
              <a:rPr lang="en-GB" dirty="0">
                <a:latin typeface="Aptos" panose="020B0004020202020204" pitchFamily="34" charset="0"/>
              </a:rPr>
              <a:t> to be exactly the same size as the screen, so the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Center</a:t>
            </a:r>
            <a:r>
              <a:rPr lang="en-GB" dirty="0">
                <a:latin typeface="Aptos" panose="020B0004020202020204" pitchFamily="34" charset="0"/>
              </a:rPr>
              <a:t> fills the screen.</a:t>
            </a:r>
          </a:p>
          <a:p>
            <a:r>
              <a:rPr lang="en-GB" dirty="0">
                <a:latin typeface="Aptos" panose="020B0004020202020204" pitchFamily="34" charset="0"/>
              </a:rPr>
              <a:t>The 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Center</a:t>
            </a:r>
            <a:r>
              <a:rPr lang="en-GB" dirty="0">
                <a:latin typeface="Aptos" panose="020B0004020202020204" pitchFamily="34" charset="0"/>
              </a:rPr>
              <a:t> tells the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GB" dirty="0">
                <a:latin typeface="Aptos" panose="020B0004020202020204" pitchFamily="34" charset="0"/>
              </a:rPr>
              <a:t> that it can be any size it wants, but not bigger than the screen. Now the 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GB" dirty="0">
                <a:latin typeface="Aptos" panose="020B0004020202020204" pitchFamily="34" charset="0"/>
              </a:rPr>
              <a:t> can be 100 × 100.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4253FE-C507-5240-ACAC-739F057F3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1993" y="1872027"/>
            <a:ext cx="2974493" cy="224946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A1B2A6-C7ED-4A49-BFC3-4D1873401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15853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6</a:t>
            </a:r>
            <a:endParaRPr lang="en-IT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FE42408-202D-984E-98AF-6866BCCEC0C0}"/>
              </a:ext>
            </a:extLst>
          </p:cNvPr>
          <p:cNvSpPr txBox="1">
            <a:spLocks/>
          </p:cNvSpPr>
          <p:nvPr/>
        </p:nvSpPr>
        <p:spPr>
          <a:xfrm>
            <a:off x="428171" y="4985973"/>
            <a:ext cx="10913119" cy="14495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T" dirty="0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2EF72E83-19DC-C147-90C3-92A60D162273}"/>
              </a:ext>
            </a:extLst>
          </p:cNvPr>
          <p:cNvSpPr txBox="1">
            <a:spLocks/>
          </p:cNvSpPr>
          <p:nvPr/>
        </p:nvSpPr>
        <p:spPr>
          <a:xfrm>
            <a:off x="184588" y="1279467"/>
            <a:ext cx="7958612" cy="55785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Widget _example6() =&gt; </a:t>
            </a:r>
            <a:r>
              <a:rPr lang="en-GB" dirty="0" err="1">
                <a:latin typeface="Courier" pitchFamily="2" charset="0"/>
              </a:rPr>
              <a:t>Center</a:t>
            </a:r>
            <a:r>
              <a:rPr lang="en-GB" dirty="0">
                <a:latin typeface="Courier" pitchFamily="2" charset="0"/>
              </a:rPr>
              <a:t>(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  child: Container(</a:t>
            </a:r>
            <a:r>
              <a:rPr lang="en-GB" dirty="0" err="1">
                <a:latin typeface="Courier" pitchFamily="2" charset="0"/>
              </a:rPr>
              <a:t>color</a:t>
            </a:r>
            <a:r>
              <a:rPr lang="en-GB" dirty="0">
                <a:latin typeface="Courier" pitchFamily="2" charset="0"/>
              </a:rPr>
              <a:t>: red),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>
                <a:latin typeface="Aptos" panose="020B0004020202020204" pitchFamily="34" charset="0"/>
              </a:rPr>
              <a:t>The screen forces the 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Center</a:t>
            </a:r>
            <a:r>
              <a:rPr lang="en-GB" dirty="0">
                <a:latin typeface="Aptos" panose="020B0004020202020204" pitchFamily="34" charset="0"/>
              </a:rPr>
              <a:t> to be exactly the same size as the screen, so the 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Center</a:t>
            </a:r>
            <a:r>
              <a:rPr lang="en-GB" dirty="0">
                <a:latin typeface="Aptos" panose="020B0004020202020204" pitchFamily="34" charset="0"/>
              </a:rPr>
              <a:t> fills the screen.</a:t>
            </a:r>
          </a:p>
          <a:p>
            <a:r>
              <a:rPr lang="en-GB" dirty="0">
                <a:latin typeface="Aptos" panose="020B0004020202020204" pitchFamily="34" charset="0"/>
              </a:rPr>
              <a:t>The 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Center</a:t>
            </a:r>
            <a:r>
              <a:rPr lang="en-GB" dirty="0">
                <a:latin typeface="Aptos" panose="020B0004020202020204" pitchFamily="34" charset="0"/>
              </a:rPr>
              <a:t> tells the 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GB" dirty="0">
                <a:latin typeface="Aptos" panose="020B0004020202020204" pitchFamily="34" charset="0"/>
              </a:rPr>
              <a:t> that it can be any size it wants, but not bigger than the screen. Since the 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GB" dirty="0">
                <a:latin typeface="Aptos" panose="020B0004020202020204" pitchFamily="34" charset="0"/>
              </a:rPr>
              <a:t> has no child and no fixed size, it decides it wants to be as big as possible, so it fills the whole screen.</a:t>
            </a:r>
          </a:p>
          <a:p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F84939-F630-0C4B-8344-79AA177704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2156" y="1732527"/>
            <a:ext cx="3434330" cy="262940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014C80-2E95-F347-9FD4-2D3B1644E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31742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7</a:t>
            </a:r>
            <a:endParaRPr lang="en-IT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FE42408-202D-984E-98AF-6866BCCEC0C0}"/>
              </a:ext>
            </a:extLst>
          </p:cNvPr>
          <p:cNvSpPr txBox="1">
            <a:spLocks/>
          </p:cNvSpPr>
          <p:nvPr/>
        </p:nvSpPr>
        <p:spPr>
          <a:xfrm>
            <a:off x="428171" y="4985973"/>
            <a:ext cx="10913119" cy="14495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T" dirty="0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2EF72E83-19DC-C147-90C3-92A60D162273}"/>
              </a:ext>
            </a:extLst>
          </p:cNvPr>
          <p:cNvSpPr txBox="1">
            <a:spLocks/>
          </p:cNvSpPr>
          <p:nvPr/>
        </p:nvSpPr>
        <p:spPr>
          <a:xfrm>
            <a:off x="184588" y="1279467"/>
            <a:ext cx="8177568" cy="557853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Widget _example7() =&gt; </a:t>
            </a:r>
            <a:r>
              <a:rPr lang="en-GB" dirty="0" err="1">
                <a:latin typeface="Courier" pitchFamily="2" charset="0"/>
              </a:rPr>
              <a:t>Center</a:t>
            </a:r>
            <a:r>
              <a:rPr lang="en-GB" dirty="0">
                <a:latin typeface="Courier" pitchFamily="2" charset="0"/>
              </a:rPr>
              <a:t>(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  child: Container(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    </a:t>
            </a:r>
            <a:r>
              <a:rPr lang="en-GB" dirty="0" err="1">
                <a:latin typeface="Courier" pitchFamily="2" charset="0"/>
              </a:rPr>
              <a:t>color</a:t>
            </a:r>
            <a:r>
              <a:rPr lang="en-GB" dirty="0">
                <a:latin typeface="Courier" pitchFamily="2" charset="0"/>
              </a:rPr>
              <a:t>: red,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    child: Container(</a:t>
            </a:r>
            <a:r>
              <a:rPr lang="en-GB" dirty="0" err="1">
                <a:latin typeface="Courier" pitchFamily="2" charset="0"/>
              </a:rPr>
              <a:t>color</a:t>
            </a:r>
            <a:r>
              <a:rPr lang="en-GB" dirty="0">
                <a:latin typeface="Courier" pitchFamily="2" charset="0"/>
              </a:rPr>
              <a:t>: green, width: 30, height: 30),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  ),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);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>
                <a:latin typeface="Aptos" panose="020B0004020202020204" pitchFamily="34" charset="0"/>
              </a:rPr>
              <a:t>The screen forces the 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Center</a:t>
            </a:r>
            <a:r>
              <a:rPr lang="en-GB" dirty="0">
                <a:latin typeface="Aptos" panose="020B0004020202020204" pitchFamily="34" charset="0"/>
              </a:rPr>
              <a:t> to be exactly the same size as the screen, so the 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Center</a:t>
            </a:r>
            <a:r>
              <a:rPr lang="en-GB" dirty="0">
                <a:latin typeface="Aptos" panose="020B0004020202020204" pitchFamily="34" charset="0"/>
              </a:rPr>
              <a:t> fills the screen.</a:t>
            </a:r>
          </a:p>
          <a:p>
            <a:r>
              <a:rPr lang="en-GB" dirty="0">
                <a:latin typeface="Aptos" panose="020B0004020202020204" pitchFamily="34" charset="0"/>
              </a:rPr>
              <a:t>The 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Center</a:t>
            </a:r>
            <a:r>
              <a:rPr lang="en-GB" dirty="0">
                <a:latin typeface="Aptos" panose="020B0004020202020204" pitchFamily="34" charset="0"/>
              </a:rPr>
              <a:t> tells the red 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GB" dirty="0">
                <a:latin typeface="Aptos" panose="020B0004020202020204" pitchFamily="34" charset="0"/>
              </a:rPr>
              <a:t> that it can be any size it wants, but not bigger than the screen. Since the red 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GB" dirty="0">
                <a:latin typeface="Aptos" panose="020B0004020202020204" pitchFamily="34" charset="0"/>
              </a:rPr>
              <a:t> has no size but has a child, it decides it wants to be the same size as its child.</a:t>
            </a:r>
          </a:p>
          <a:p>
            <a:r>
              <a:rPr lang="en-GB" dirty="0">
                <a:latin typeface="Aptos" panose="020B0004020202020204" pitchFamily="34" charset="0"/>
              </a:rPr>
              <a:t>The red 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GB" dirty="0">
                <a:latin typeface="Aptos" panose="020B0004020202020204" pitchFamily="34" charset="0"/>
              </a:rPr>
              <a:t> tells its child that it can be any size it wants, but not bigger than the screen.</a:t>
            </a:r>
          </a:p>
          <a:p>
            <a:r>
              <a:rPr lang="en-GB" dirty="0">
                <a:latin typeface="Aptos" panose="020B0004020202020204" pitchFamily="34" charset="0"/>
              </a:rPr>
              <a:t>The child is a green 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GB" dirty="0">
                <a:latin typeface="Aptos" panose="020B0004020202020204" pitchFamily="34" charset="0"/>
              </a:rPr>
              <a:t> that wants to be 30 × 30. Given that the red 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GB" dirty="0">
                <a:latin typeface="Aptos" panose="020B0004020202020204" pitchFamily="34" charset="0"/>
              </a:rPr>
              <a:t> sizes itself to the size of its child, it is also 30 × 30. The red </a:t>
            </a:r>
            <a:r>
              <a:rPr lang="en-GB" dirty="0" err="1">
                <a:latin typeface="Aptos" panose="020B0004020202020204" pitchFamily="34" charset="0"/>
              </a:rPr>
              <a:t>color</a:t>
            </a:r>
            <a:r>
              <a:rPr lang="en-GB" dirty="0">
                <a:latin typeface="Aptos" panose="020B0004020202020204" pitchFamily="34" charset="0"/>
              </a:rPr>
              <a:t> isn’t visible because the green 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GB" dirty="0">
                <a:latin typeface="Aptos" panose="020B0004020202020204" pitchFamily="34" charset="0"/>
              </a:rPr>
              <a:t> entirely covers the red 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GB" dirty="0">
                <a:latin typeface="Aptos" panose="020B0004020202020204" pitchFamily="34" charset="0"/>
              </a:rPr>
              <a:t>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B64F6B-1EDE-DD4E-A8B3-4DBB3BC068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502" y="1527947"/>
            <a:ext cx="3152346" cy="2374111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11BC2E-B0F8-6740-A77C-DA442F04D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94440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14</a:t>
            </a:r>
            <a:endParaRPr lang="en-IT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FE42408-202D-984E-98AF-6866BCCEC0C0}"/>
              </a:ext>
            </a:extLst>
          </p:cNvPr>
          <p:cNvSpPr txBox="1">
            <a:spLocks/>
          </p:cNvSpPr>
          <p:nvPr/>
        </p:nvSpPr>
        <p:spPr>
          <a:xfrm>
            <a:off x="428171" y="4985973"/>
            <a:ext cx="10913119" cy="14495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T" dirty="0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2EF72E83-19DC-C147-90C3-92A60D162273}"/>
              </a:ext>
            </a:extLst>
          </p:cNvPr>
          <p:cNvSpPr txBox="1">
            <a:spLocks/>
          </p:cNvSpPr>
          <p:nvPr/>
        </p:nvSpPr>
        <p:spPr>
          <a:xfrm>
            <a:off x="184588" y="1279467"/>
            <a:ext cx="8177568" cy="55785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Widget _example14() =&gt; </a:t>
            </a:r>
            <a:r>
              <a:rPr lang="en-GB" dirty="0" err="1">
                <a:latin typeface="Courier" pitchFamily="2" charset="0"/>
              </a:rPr>
              <a:t>UnconstrainedBox</a:t>
            </a:r>
            <a:r>
              <a:rPr lang="en-GB" dirty="0">
                <a:latin typeface="Courier" pitchFamily="2" charset="0"/>
              </a:rPr>
              <a:t>(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  child: Container(</a:t>
            </a:r>
            <a:r>
              <a:rPr lang="en-GB" dirty="0" err="1">
                <a:latin typeface="Courier" pitchFamily="2" charset="0"/>
              </a:rPr>
              <a:t>color</a:t>
            </a:r>
            <a:r>
              <a:rPr lang="en-GB" dirty="0">
                <a:latin typeface="Courier" pitchFamily="2" charset="0"/>
              </a:rPr>
              <a:t>: red, width: 4000, height: 50),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);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>
                <a:latin typeface="Aptos" panose="020B0004020202020204" pitchFamily="34" charset="0"/>
              </a:rPr>
              <a:t>The screen forces the 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UnconstrainedBox</a:t>
            </a:r>
            <a:r>
              <a:rPr lang="en-GB" dirty="0">
                <a:latin typeface="Aptos" panose="020B0004020202020204" pitchFamily="34" charset="0"/>
              </a:rPr>
              <a:t> to be exactly the same size as the screen, and 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UnconstrainedBox</a:t>
            </a:r>
            <a:r>
              <a:rPr lang="en-GB" dirty="0">
                <a:latin typeface="Aptos" panose="020B0004020202020204" pitchFamily="34" charset="0"/>
              </a:rPr>
              <a:t> lets its child 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GB" dirty="0">
                <a:latin typeface="Aptos" panose="020B0004020202020204" pitchFamily="34" charset="0"/>
              </a:rPr>
              <a:t> be any size it wants.</a:t>
            </a:r>
          </a:p>
          <a:p>
            <a:r>
              <a:rPr lang="en-GB" dirty="0">
                <a:latin typeface="Aptos" panose="020B0004020202020204" pitchFamily="34" charset="0"/>
              </a:rPr>
              <a:t>Unfortunately, in this case the 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GB" dirty="0">
                <a:latin typeface="Aptos" panose="020B0004020202020204" pitchFamily="34" charset="0"/>
              </a:rPr>
              <a:t> is 4000 pixels wide and is too big to fit in the 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UnconstrainedBox</a:t>
            </a:r>
            <a:r>
              <a:rPr lang="en-GB" dirty="0">
                <a:latin typeface="Aptos" panose="020B0004020202020204" pitchFamily="34" charset="0"/>
              </a:rPr>
              <a:t>, so the 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UnconstrainedBox</a:t>
            </a:r>
            <a:r>
              <a:rPr lang="en-GB" dirty="0">
                <a:latin typeface="Aptos" panose="020B0004020202020204" pitchFamily="34" charset="0"/>
              </a:rPr>
              <a:t> displays the much dreaded “overflow warning”.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645B47-D259-194A-B092-2FBEC5592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4219" y="2170078"/>
            <a:ext cx="3343193" cy="251784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42AFA5-A7AA-A84D-8B49-453D837BC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57811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18</a:t>
            </a:r>
            <a:endParaRPr lang="en-IT" dirty="0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2EF72E83-19DC-C147-90C3-92A60D162273}"/>
              </a:ext>
            </a:extLst>
          </p:cNvPr>
          <p:cNvSpPr txBox="1">
            <a:spLocks/>
          </p:cNvSpPr>
          <p:nvPr/>
        </p:nvSpPr>
        <p:spPr>
          <a:xfrm>
            <a:off x="184588" y="1279467"/>
            <a:ext cx="8177568" cy="55785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Widget _example18() =&gt; </a:t>
            </a:r>
            <a:r>
              <a:rPr lang="en-GB" dirty="0" err="1">
                <a:latin typeface="Courier" pitchFamily="2" charset="0"/>
              </a:rPr>
              <a:t>const</a:t>
            </a:r>
            <a:r>
              <a:rPr lang="en-GB" dirty="0">
                <a:latin typeface="Courier" pitchFamily="2" charset="0"/>
              </a:rPr>
              <a:t> </a:t>
            </a:r>
            <a:r>
              <a:rPr lang="en-GB" dirty="0" err="1">
                <a:latin typeface="Courier" pitchFamily="2" charset="0"/>
              </a:rPr>
              <a:t>FittedBox</a:t>
            </a:r>
            <a:r>
              <a:rPr lang="en-GB" dirty="0">
                <a:latin typeface="Courier" pitchFamily="2" charset="0"/>
              </a:rPr>
              <a:t>(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  child: Text('Some Example Text.'),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);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>
                <a:latin typeface="Aptos" panose="020B0004020202020204" pitchFamily="34" charset="0"/>
              </a:rPr>
              <a:t>The screen forces the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FittedBox</a:t>
            </a:r>
            <a:r>
              <a:rPr lang="en-GB" dirty="0">
                <a:latin typeface="Aptos" panose="020B0004020202020204" pitchFamily="34" charset="0"/>
              </a:rPr>
              <a:t> to be exactly the same size as the screen. The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en-GB" dirty="0">
                <a:latin typeface="Aptos" panose="020B0004020202020204" pitchFamily="34" charset="0"/>
              </a:rPr>
              <a:t> has some natural width (also called its intrinsic width) that depends on the amount of text, its font size, and so on.</a:t>
            </a:r>
          </a:p>
          <a:p>
            <a:endParaRPr lang="en-GB" dirty="0">
              <a:latin typeface="Aptos" panose="020B0004020202020204" pitchFamily="34" charset="0"/>
            </a:endParaRPr>
          </a:p>
          <a:p>
            <a:r>
              <a:rPr lang="en-GB" dirty="0">
                <a:latin typeface="Aptos" panose="020B0004020202020204" pitchFamily="34" charset="0"/>
              </a:rPr>
              <a:t>The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FittedBox</a:t>
            </a:r>
            <a:r>
              <a:rPr lang="en-GB" dirty="0">
                <a:latin typeface="Aptos" panose="020B0004020202020204" pitchFamily="34" charset="0"/>
              </a:rPr>
              <a:t> lets the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en-GB" dirty="0">
                <a:latin typeface="Aptos" panose="020B0004020202020204" pitchFamily="34" charset="0"/>
              </a:rPr>
              <a:t> be any size it wants, but after the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en-GB" dirty="0">
                <a:latin typeface="Aptos" panose="020B0004020202020204" pitchFamily="34" charset="0"/>
              </a:rPr>
              <a:t> tells its size to the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FittedBox</a:t>
            </a:r>
            <a:r>
              <a:rPr lang="en-GB" dirty="0">
                <a:latin typeface="Aptos" panose="020B0004020202020204" pitchFamily="34" charset="0"/>
              </a:rPr>
              <a:t>, the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FittedBox</a:t>
            </a:r>
            <a:r>
              <a:rPr lang="en-GB" dirty="0">
                <a:latin typeface="Aptos" panose="020B0004020202020204" pitchFamily="34" charset="0"/>
              </a:rPr>
              <a:t> scales the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en-GB" dirty="0">
                <a:latin typeface="Aptos" panose="020B0004020202020204" pitchFamily="34" charset="0"/>
              </a:rPr>
              <a:t> until it fills all of the available width.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BEA295-BDE0-E64F-A82D-B9AB9DADAA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5683" y="1385673"/>
            <a:ext cx="2979351" cy="225313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D3B438-F56A-F849-86BD-60CA8F7E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106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19</a:t>
            </a:r>
            <a:endParaRPr lang="en-IT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FE42408-202D-984E-98AF-6866BCCEC0C0}"/>
              </a:ext>
            </a:extLst>
          </p:cNvPr>
          <p:cNvSpPr txBox="1">
            <a:spLocks/>
          </p:cNvSpPr>
          <p:nvPr/>
        </p:nvSpPr>
        <p:spPr>
          <a:xfrm>
            <a:off x="428171" y="4985973"/>
            <a:ext cx="10913119" cy="14495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T" dirty="0"/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2EF72E83-19DC-C147-90C3-92A60D162273}"/>
              </a:ext>
            </a:extLst>
          </p:cNvPr>
          <p:cNvSpPr txBox="1">
            <a:spLocks/>
          </p:cNvSpPr>
          <p:nvPr/>
        </p:nvSpPr>
        <p:spPr>
          <a:xfrm>
            <a:off x="184588" y="1279467"/>
            <a:ext cx="8177568" cy="55785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Widget _example19() =&gt; </a:t>
            </a:r>
            <a:r>
              <a:rPr lang="en-GB" dirty="0" err="1">
                <a:latin typeface="Courier" pitchFamily="2" charset="0"/>
              </a:rPr>
              <a:t>const</a:t>
            </a:r>
            <a:r>
              <a:rPr lang="en-GB" dirty="0">
                <a:latin typeface="Courier" pitchFamily="2" charset="0"/>
              </a:rPr>
              <a:t> </a:t>
            </a:r>
            <a:r>
              <a:rPr lang="en-GB" dirty="0" err="1">
                <a:latin typeface="Courier" pitchFamily="2" charset="0"/>
              </a:rPr>
              <a:t>Center</a:t>
            </a:r>
            <a:r>
              <a:rPr lang="en-GB" dirty="0">
                <a:latin typeface="Courier" pitchFamily="2" charset="0"/>
              </a:rPr>
              <a:t>(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  child: </a:t>
            </a:r>
            <a:r>
              <a:rPr lang="en-GB" dirty="0" err="1">
                <a:latin typeface="Courier" pitchFamily="2" charset="0"/>
              </a:rPr>
              <a:t>FittedBox</a:t>
            </a:r>
            <a:r>
              <a:rPr lang="en-GB" dirty="0">
                <a:latin typeface="Courier" pitchFamily="2" charset="0"/>
              </a:rPr>
              <a:t>(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    child: Text('Some Example Text.'),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  ),</a:t>
            </a:r>
          </a:p>
          <a:p>
            <a:pPr marL="0" indent="0">
              <a:buNone/>
            </a:pPr>
            <a:r>
              <a:rPr lang="en-GB" dirty="0">
                <a:latin typeface="Courier" pitchFamily="2" charset="0"/>
              </a:rPr>
              <a:t>);</a:t>
            </a:r>
            <a:endParaRPr lang="en-GB" dirty="0"/>
          </a:p>
          <a:p>
            <a:r>
              <a:rPr lang="en-GB" dirty="0">
                <a:latin typeface="Aptos" panose="020B0004020202020204" pitchFamily="34" charset="0"/>
              </a:rPr>
              <a:t>But what happens if you put the 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FittedBox</a:t>
            </a:r>
            <a:r>
              <a:rPr lang="en-GB" dirty="0">
                <a:latin typeface="Aptos" panose="020B0004020202020204" pitchFamily="34" charset="0"/>
              </a:rPr>
              <a:t> inside of a 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Center</a:t>
            </a:r>
            <a:r>
              <a:rPr lang="en-GB" dirty="0">
                <a:latin typeface="Aptos" panose="020B0004020202020204" pitchFamily="34" charset="0"/>
              </a:rPr>
              <a:t> widget? The 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Center</a:t>
            </a:r>
            <a:r>
              <a:rPr lang="en-GB" dirty="0">
                <a:latin typeface="Aptos" panose="020B0004020202020204" pitchFamily="34" charset="0"/>
              </a:rPr>
              <a:t> lets the 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FittedBox</a:t>
            </a:r>
            <a:r>
              <a:rPr lang="en-GB" dirty="0">
                <a:latin typeface="Aptos" panose="020B0004020202020204" pitchFamily="34" charset="0"/>
              </a:rPr>
              <a:t> be any size it wants, up to the screen size.</a:t>
            </a:r>
          </a:p>
          <a:p>
            <a:r>
              <a:rPr lang="en-GB" dirty="0">
                <a:latin typeface="Aptos" panose="020B0004020202020204" pitchFamily="34" charset="0"/>
              </a:rPr>
              <a:t>The 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FittedBox</a:t>
            </a:r>
            <a:r>
              <a:rPr lang="en-GB" dirty="0">
                <a:latin typeface="Aptos" panose="020B0004020202020204" pitchFamily="34" charset="0"/>
              </a:rPr>
              <a:t> then sizes itself to the 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en-GB" dirty="0">
                <a:latin typeface="Aptos" panose="020B0004020202020204" pitchFamily="34" charset="0"/>
              </a:rPr>
              <a:t>, and lets the 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en-GB" dirty="0">
                <a:latin typeface="Aptos" panose="020B0004020202020204" pitchFamily="34" charset="0"/>
              </a:rPr>
              <a:t> be any size it wants. Since both 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FittedBox</a:t>
            </a:r>
            <a:r>
              <a:rPr lang="en-GB" dirty="0">
                <a:latin typeface="Aptos" panose="020B0004020202020204" pitchFamily="34" charset="0"/>
              </a:rPr>
              <a:t> and the 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en-GB" dirty="0">
                <a:latin typeface="Aptos" panose="020B0004020202020204" pitchFamily="34" charset="0"/>
              </a:rPr>
              <a:t> have the same size, no scaling happens.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46ED28-A9A1-FE45-8B94-04D911A6B0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2497" y="1441107"/>
            <a:ext cx="3189416" cy="2421963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CD93429-A352-8142-B812-7653DB1B99A6}"/>
              </a:ext>
            </a:extLst>
          </p:cNvPr>
          <p:cNvSpPr txBox="1">
            <a:spLocks/>
          </p:cNvSpPr>
          <p:nvPr/>
        </p:nvSpPr>
        <p:spPr>
          <a:xfrm>
            <a:off x="0" y="6548909"/>
            <a:ext cx="12192000" cy="3554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Full example 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in l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esson_08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-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implement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ing</a:t>
            </a: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_ui/layout_basics/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ED7A9E9-5F0B-4543-9654-93A495E50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77670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CD786-9F2C-3AB3-FD29-A90E8E2E9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DE261-6611-8CBA-FA55-1277526AB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A505A-C4CD-1728-C35C-B46A82A9AC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Recap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Building layouts in Flutter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Basic examples</a:t>
            </a:r>
          </a:p>
          <a:p>
            <a:endParaRPr lang="en-GB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GB" b="1" dirty="0"/>
              <a:t>Exercise</a:t>
            </a:r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 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Homework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Resources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6734D1-28E3-1B1D-CBC2-7EDF8A169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95224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5787277" cy="5334907"/>
          </a:xfrm>
        </p:spPr>
        <p:txBody>
          <a:bodyPr>
            <a:normAutofit/>
          </a:bodyPr>
          <a:lstStyle/>
          <a:p>
            <a:r>
              <a:rPr lang="en-GB" dirty="0"/>
              <a:t>Exercise 05.01</a:t>
            </a:r>
          </a:p>
          <a:p>
            <a:endParaRPr lang="en-GB" dirty="0"/>
          </a:p>
          <a:p>
            <a:pPr lvl="1"/>
            <a:r>
              <a:rPr lang="en-US" dirty="0"/>
              <a:t>Create a new project ‘</a:t>
            </a:r>
            <a:r>
              <a:rPr lang="en-US" dirty="0" err="1"/>
              <a:t>reproduce_layout</a:t>
            </a:r>
            <a:r>
              <a:rPr lang="en-US" dirty="0"/>
              <a:t>’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Reproduce, as close as possible, the layout on the right.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Hint: I used the following widgets: </a:t>
            </a:r>
            <a:r>
              <a:rPr lang="en-US" dirty="0" err="1"/>
              <a:t>AppBar</a:t>
            </a:r>
            <a:r>
              <a:rPr lang="en-US" dirty="0"/>
              <a:t>, Text, Container, Icon, </a:t>
            </a:r>
            <a:r>
              <a:rPr lang="en-US" dirty="0" err="1"/>
              <a:t>SizedBox</a:t>
            </a:r>
            <a:r>
              <a:rPr lang="en-US" dirty="0"/>
              <a:t>, Column, Row, Colors, and some others…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E1AA86-E502-C847-8FDA-5F3696AE2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20</a:t>
            </a:fld>
            <a:endParaRPr lang="en-GB"/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14B64064-18EE-D6EB-976B-75E0FDCB0F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5405" y="445366"/>
            <a:ext cx="2895630" cy="6276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310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5787277" cy="5334907"/>
          </a:xfrm>
        </p:spPr>
        <p:txBody>
          <a:bodyPr>
            <a:normAutofit/>
          </a:bodyPr>
          <a:lstStyle/>
          <a:p>
            <a:r>
              <a:rPr lang="en-GB" dirty="0"/>
              <a:t>Exercise 05.02</a:t>
            </a:r>
          </a:p>
          <a:p>
            <a:endParaRPr lang="en-GB" dirty="0"/>
          </a:p>
          <a:p>
            <a:pPr lvl="1"/>
            <a:r>
              <a:rPr lang="en-GB" dirty="0"/>
              <a:t>Create a new project ‘</a:t>
            </a:r>
            <a:r>
              <a:rPr lang="en-GB" dirty="0" err="1"/>
              <a:t>exercise_listview</a:t>
            </a:r>
            <a:r>
              <a:rPr lang="en-GB" dirty="0"/>
              <a:t>’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Copy the code of </a:t>
            </a:r>
            <a:r>
              <a:rPr lang="en-GB" dirty="0" err="1"/>
              <a:t>main.dart</a:t>
            </a:r>
            <a:r>
              <a:rPr lang="en-GB" dirty="0"/>
              <a:t> of ‘scaffolding’ into the </a:t>
            </a:r>
            <a:r>
              <a:rPr lang="en-GB" dirty="0" err="1"/>
              <a:t>main.dart</a:t>
            </a:r>
            <a:r>
              <a:rPr lang="en-GB" dirty="0"/>
              <a:t> of ‘</a:t>
            </a:r>
            <a:r>
              <a:rPr lang="en-GB" dirty="0" err="1"/>
              <a:t>exercise_view</a:t>
            </a:r>
            <a:r>
              <a:rPr lang="en-GB" dirty="0"/>
              <a:t>’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Modify the </a:t>
            </a:r>
            <a:r>
              <a:rPr lang="en-GB" dirty="0" err="1"/>
              <a:t>ListView</a:t>
            </a:r>
            <a:r>
              <a:rPr lang="en-GB" dirty="0"/>
              <a:t> so that the app looks like the app on the right </a:t>
            </a:r>
            <a:r>
              <a:rPr lang="en-IT" dirty="0"/>
              <a:t>(hint: I used Icons.info)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BB973-5833-B045-A0E7-EB9FA50DB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21</a:t>
            </a:fld>
            <a:endParaRPr lang="en-GB"/>
          </a:p>
        </p:txBody>
      </p:sp>
      <p:pic>
        <p:nvPicPr>
          <p:cNvPr id="7" name="Picture 6" descr="A screenshot of a phone&#10;&#10;Description automatically generated">
            <a:extLst>
              <a:ext uri="{FF2B5EF4-FFF2-40B4-BE49-F238E27FC236}">
                <a16:creationId xmlns:a16="http://schemas.microsoft.com/office/drawing/2014/main" id="{17CE5C8A-62CD-C9F4-98B0-DA495AE471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607147"/>
            <a:ext cx="2652530" cy="5749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7570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5787277" cy="5334907"/>
          </a:xfrm>
        </p:spPr>
        <p:txBody>
          <a:bodyPr>
            <a:normAutofit/>
          </a:bodyPr>
          <a:lstStyle/>
          <a:p>
            <a:r>
              <a:rPr lang="en-GB" dirty="0"/>
              <a:t>Exercise 05.03</a:t>
            </a:r>
          </a:p>
          <a:p>
            <a:endParaRPr lang="en-GB" dirty="0"/>
          </a:p>
          <a:p>
            <a:pPr lvl="1"/>
            <a:r>
              <a:rPr lang="en-US" dirty="0"/>
              <a:t>Install the </a:t>
            </a:r>
            <a:r>
              <a:rPr lang="en-US" dirty="0" err="1"/>
              <a:t>english_words</a:t>
            </a:r>
            <a:r>
              <a:rPr lang="en-US" dirty="0"/>
              <a:t> package into the ‘</a:t>
            </a:r>
            <a:r>
              <a:rPr lang="en-US" dirty="0" err="1"/>
              <a:t>exercise_listview</a:t>
            </a:r>
            <a:r>
              <a:rPr lang="en-US" dirty="0"/>
              <a:t>’ app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Starting from the code of exercise 05.02, modify each </a:t>
            </a:r>
            <a:r>
              <a:rPr lang="en-US" dirty="0" err="1"/>
              <a:t>ListTile</a:t>
            </a:r>
            <a:r>
              <a:rPr lang="en-US" dirty="0"/>
              <a:t> in order to have as a title a random word in uppercase generated using the </a:t>
            </a:r>
            <a:r>
              <a:rPr lang="en-US" dirty="0" err="1"/>
              <a:t>english_words</a:t>
            </a:r>
            <a:r>
              <a:rPr lang="en-US" dirty="0"/>
              <a:t> package just installed 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AE98F8-E068-B648-9420-A83412812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22</a:t>
            </a:fld>
            <a:endParaRPr lang="en-GB"/>
          </a:p>
        </p:txBody>
      </p:sp>
      <p:pic>
        <p:nvPicPr>
          <p:cNvPr id="6" name="Picture 5" descr="A screenshot of a phone&#10;&#10;Description automatically generated">
            <a:extLst>
              <a:ext uri="{FF2B5EF4-FFF2-40B4-BE49-F238E27FC236}">
                <a16:creationId xmlns:a16="http://schemas.microsoft.com/office/drawing/2014/main" id="{BA827384-EC48-9507-B9C7-84A8CB3356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1878" y="592047"/>
            <a:ext cx="2599082" cy="5633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4818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62C20-E9B8-9BF4-EC6A-D9AF52202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B509D-5BCC-57D2-5C3C-51B8548E2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604666-D7DE-421F-2DC5-06942D0BB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Recap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Building layouts in Flutter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Basic examples</a:t>
            </a:r>
          </a:p>
          <a:p>
            <a:endParaRPr lang="en-GB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Exercise </a:t>
            </a:r>
          </a:p>
          <a:p>
            <a:r>
              <a:rPr lang="en-GB" b="1" dirty="0"/>
              <a:t>Homework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Resources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E237E3-0209-77FA-C0E8-DE1227B00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84104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Homework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dirty="0"/>
              <a:t>Get familiar with UI constraints</a:t>
            </a:r>
          </a:p>
          <a:p>
            <a:endParaRPr lang="en-GB" dirty="0"/>
          </a:p>
          <a:p>
            <a:r>
              <a:rPr lang="en-GB" dirty="0"/>
              <a:t>Get fluent in writing simple UIs</a:t>
            </a:r>
          </a:p>
          <a:p>
            <a:pPr marL="0" indent="0">
              <a:buNone/>
            </a:pPr>
            <a:br>
              <a:rPr lang="en-GB" dirty="0"/>
            </a:b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6071D-B21F-F249-B0F5-02EF48A6C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53784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DFB31-4718-C125-0DDD-0533A3BEA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4A85B-DD34-83B7-1D20-062B0970E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25E64-D222-43F6-D493-98E51AE43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213368" cy="5334907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Recap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Building layouts in Flutter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Basic examples</a:t>
            </a:r>
          </a:p>
          <a:p>
            <a:endParaRPr lang="en-GB" dirty="0">
              <a:solidFill>
                <a:schemeClr val="bg2">
                  <a:lumMod val="90000"/>
                </a:schemeClr>
              </a:solidFill>
            </a:endParaRP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Exercise </a:t>
            </a:r>
          </a:p>
          <a:p>
            <a:r>
              <a:rPr lang="en-GB" dirty="0">
                <a:solidFill>
                  <a:schemeClr val="bg2">
                    <a:lumMod val="90000"/>
                  </a:schemeClr>
                </a:solidFill>
              </a:rPr>
              <a:t>Homework</a:t>
            </a:r>
          </a:p>
          <a:p>
            <a:r>
              <a:rPr lang="en-GB" b="1" dirty="0"/>
              <a:t>Resources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0399E-7C73-6B11-6AD8-7BDAD0115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86416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1" y="1361167"/>
            <a:ext cx="10913119" cy="5334907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Code repository of today’s lesson and exercises solution</a:t>
            </a:r>
          </a:p>
          <a:p>
            <a:pPr lvl="1"/>
            <a:r>
              <a:rPr lang="en-GB" dirty="0">
                <a:hlinkClick r:id="rId2"/>
              </a:rPr>
              <a:t>https://github.com/gcappon/bwthw/tree/master/lesson_08-implementing_ui</a:t>
            </a:r>
            <a:r>
              <a:rPr lang="en-GB" dirty="0"/>
              <a:t>  </a:t>
            </a:r>
          </a:p>
          <a:p>
            <a:endParaRPr lang="en-US" dirty="0"/>
          </a:p>
          <a:p>
            <a:r>
              <a:rPr lang="en-IT"/>
              <a:t>Material </a:t>
            </a:r>
            <a:r>
              <a:rPr lang="en-IT" dirty="0"/>
              <a:t>Widgets for UI </a:t>
            </a:r>
          </a:p>
          <a:p>
            <a:pPr lvl="1"/>
            <a:r>
              <a:rPr lang="en-GB" dirty="0">
                <a:hlinkClick r:id="rId3"/>
              </a:rPr>
              <a:t>https://docs.flutter.dev/development/ui/widgets/material</a:t>
            </a:r>
            <a:endParaRPr lang="en-GB" dirty="0"/>
          </a:p>
          <a:p>
            <a:pPr lvl="1"/>
            <a:endParaRPr lang="en-IT" dirty="0"/>
          </a:p>
          <a:p>
            <a:r>
              <a:rPr lang="en-IT" dirty="0"/>
              <a:t>(Some) Widget for UI Catalog </a:t>
            </a:r>
          </a:p>
          <a:p>
            <a:pPr lvl="1"/>
            <a:r>
              <a:rPr lang="en-GB" dirty="0">
                <a:hlinkClick r:id="rId4"/>
              </a:rPr>
              <a:t>https://docs.flutter.dev/development/ui/widgets</a:t>
            </a:r>
            <a:endParaRPr lang="en-GB" dirty="0"/>
          </a:p>
          <a:p>
            <a:pPr lvl="1"/>
            <a:endParaRPr lang="en-IT" dirty="0"/>
          </a:p>
          <a:p>
            <a:r>
              <a:rPr lang="en-IT" dirty="0"/>
              <a:t>F</a:t>
            </a:r>
            <a:r>
              <a:rPr lang="en-GB" dirty="0"/>
              <a:t>l</a:t>
            </a:r>
            <a:r>
              <a:rPr lang="en-IT" dirty="0"/>
              <a:t>utter Widget list</a:t>
            </a:r>
          </a:p>
          <a:p>
            <a:pPr lvl="1"/>
            <a:r>
              <a:rPr lang="en-GB" dirty="0">
                <a:hlinkClick r:id="rId5"/>
              </a:rPr>
              <a:t>https://docs.flutter.dev/reference/widgets</a:t>
            </a:r>
            <a:endParaRPr lang="en-GB" dirty="0"/>
          </a:p>
          <a:p>
            <a:pPr lvl="1"/>
            <a:endParaRPr lang="en-IT" dirty="0"/>
          </a:p>
          <a:p>
            <a:r>
              <a:rPr lang="en-IT" dirty="0"/>
              <a:t>Understanding constraints</a:t>
            </a:r>
          </a:p>
          <a:p>
            <a:pPr lvl="1"/>
            <a:r>
              <a:rPr lang="en-GB" dirty="0">
                <a:hlinkClick r:id="rId6"/>
              </a:rPr>
              <a:t>https://docs.flutter.dev/development/ui/layout/constraints</a:t>
            </a:r>
            <a:endParaRPr lang="en-IT" dirty="0"/>
          </a:p>
          <a:p>
            <a:endParaRPr lang="en-IT" dirty="0"/>
          </a:p>
          <a:p>
            <a:r>
              <a:rPr lang="en-IT" dirty="0"/>
              <a:t>Layouts in Flutter</a:t>
            </a:r>
          </a:p>
          <a:p>
            <a:pPr lvl="1"/>
            <a:r>
              <a:rPr lang="en-GB" dirty="0">
                <a:hlinkClick r:id="rId7"/>
              </a:rPr>
              <a:t>https://docs.flutter.dev/development/ui/layout</a:t>
            </a:r>
            <a:r>
              <a:rPr lang="en-GB" dirty="0"/>
              <a:t> </a:t>
            </a:r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98909-7415-7B42-B6AC-1CD2CE51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7718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10244</TotalTime>
  <Words>1760</Words>
  <Application>Microsoft Macintosh PowerPoint</Application>
  <PresentationFormat>Widescreen</PresentationFormat>
  <Paragraphs>271</Paragraphs>
  <Slides>26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Aptos</vt:lpstr>
      <vt:lpstr>Arial</vt:lpstr>
      <vt:lpstr>Calibri</vt:lpstr>
      <vt:lpstr>Courier</vt:lpstr>
      <vt:lpstr>Courier New</vt:lpstr>
      <vt:lpstr>Times New Roman</vt:lpstr>
      <vt:lpstr>Wingdings</vt:lpstr>
      <vt:lpstr>Tema di Office</vt:lpstr>
      <vt:lpstr>Giacomo Cappon</vt:lpstr>
      <vt:lpstr>Outline</vt:lpstr>
      <vt:lpstr>Recap: Widget tree</vt:lpstr>
      <vt:lpstr>Outline</vt:lpstr>
      <vt:lpstr>Building layouts in Flutter </vt:lpstr>
      <vt:lpstr>Building layouts in Flutter </vt:lpstr>
      <vt:lpstr>Negotiating constraints, sizes, and position</vt:lpstr>
      <vt:lpstr>Limitations</vt:lpstr>
      <vt:lpstr>Outline</vt:lpstr>
      <vt:lpstr>Dive into examples</vt:lpstr>
      <vt:lpstr>Example 1</vt:lpstr>
      <vt:lpstr>Example 2</vt:lpstr>
      <vt:lpstr>Example 3</vt:lpstr>
      <vt:lpstr>Example 6</vt:lpstr>
      <vt:lpstr>Example 7</vt:lpstr>
      <vt:lpstr>Example 14</vt:lpstr>
      <vt:lpstr>Example 18</vt:lpstr>
      <vt:lpstr>Example 19</vt:lpstr>
      <vt:lpstr>Outline</vt:lpstr>
      <vt:lpstr>Exercise</vt:lpstr>
      <vt:lpstr>Exercise</vt:lpstr>
      <vt:lpstr>Exercise</vt:lpstr>
      <vt:lpstr>Outline</vt:lpstr>
      <vt:lpstr>Homework </vt:lpstr>
      <vt:lpstr>Outline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Martina</dc:creator>
  <cp:lastModifiedBy>Giacomo Cappon</cp:lastModifiedBy>
  <cp:revision>128</cp:revision>
  <dcterms:created xsi:type="dcterms:W3CDTF">2021-07-19T09:08:13Z</dcterms:created>
  <dcterms:modified xsi:type="dcterms:W3CDTF">2026-02-11T14:41:17Z</dcterms:modified>
</cp:coreProperties>
</file>