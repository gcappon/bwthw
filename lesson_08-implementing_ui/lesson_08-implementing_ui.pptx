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9" r:id="rId2"/>
    <p:sldId id="369" r:id="rId3"/>
    <p:sldId id="304" r:id="rId4"/>
    <p:sldId id="370" r:id="rId5"/>
    <p:sldId id="313" r:id="rId6"/>
    <p:sldId id="314" r:id="rId7"/>
    <p:sldId id="315" r:id="rId8"/>
    <p:sldId id="316" r:id="rId9"/>
    <p:sldId id="371" r:id="rId10"/>
    <p:sldId id="32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72" r:id="rId20"/>
    <p:sldId id="349" r:id="rId21"/>
    <p:sldId id="327" r:id="rId22"/>
    <p:sldId id="346" r:id="rId23"/>
    <p:sldId id="373" r:id="rId24"/>
    <p:sldId id="303" r:id="rId25"/>
    <p:sldId id="374" r:id="rId26"/>
    <p:sldId id="30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32" autoAdjust="0"/>
    <p:restoredTop sz="90884"/>
  </p:normalViewPr>
  <p:slideViewPr>
    <p:cSldViewPr snapToGrid="0">
      <p:cViewPr varScale="1">
        <p:scale>
          <a:sx n="116" d="100"/>
          <a:sy n="116" d="100"/>
        </p:scale>
        <p:origin x="54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2/19/26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07706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7974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6334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51899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46099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90161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79999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64129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50022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425321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767742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513171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13660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2025-2026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evelopment/ui/layout/constraint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evelopment/ui/widgets/material" TargetMode="External"/><Relationship Id="rId7" Type="http://schemas.openxmlformats.org/officeDocument/2006/relationships/hyperlink" Target="https://docs.flutter.dev/development/ui/layout" TargetMode="External"/><Relationship Id="rId2" Type="http://schemas.openxmlformats.org/officeDocument/2006/relationships/hyperlink" Target="https://github.com/gcappon/bwthw/tree/master/lesson_08-implementing_ui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flutter.dev/development/ui/layout/constraints" TargetMode="External"/><Relationship Id="rId5" Type="http://schemas.openxmlformats.org/officeDocument/2006/relationships/hyperlink" Target="https://docs.flutter.dev/reference/widgets" TargetMode="External"/><Relationship Id="rId4" Type="http://schemas.openxmlformats.org/officeDocument/2006/relationships/hyperlink" Target="https://docs.flutter.dev/development/ui/widge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Implementing</a:t>
            </a:r>
            <a:r>
              <a:rPr lang="en-IT"/>
              <a:t> </a:t>
            </a:r>
            <a:r>
              <a:rPr lang="en-IT" dirty="0"/>
              <a:t>UI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b="1" dirty="0"/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Building layouts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Basic examples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87DA9-C7A9-FD4C-8AC4-415AD7AC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64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Recap: Widget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101679" cy="5334907"/>
          </a:xfrm>
        </p:spPr>
        <p:txBody>
          <a:bodyPr>
            <a:normAutofit/>
          </a:bodyPr>
          <a:lstStyle/>
          <a:p>
            <a:r>
              <a:rPr lang="en-IT" dirty="0"/>
              <a:t>UIs are represented in Flutter hierarchically through a Widget tree</a:t>
            </a:r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17244-2987-0C44-87B6-12350657A197}"/>
              </a:ext>
            </a:extLst>
          </p:cNvPr>
          <p:cNvSpPr/>
          <p:nvPr/>
        </p:nvSpPr>
        <p:spPr>
          <a:xfrm>
            <a:off x="2530835" y="450627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0E9C1-3F85-B149-AF08-493FB64B5F8B}"/>
              </a:ext>
            </a:extLst>
          </p:cNvPr>
          <p:cNvSpPr/>
          <p:nvPr/>
        </p:nvSpPr>
        <p:spPr>
          <a:xfrm>
            <a:off x="3560790" y="291504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Scaffold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1FF345-8737-D548-9561-D7C809EB55C2}"/>
              </a:ext>
            </a:extLst>
          </p:cNvPr>
          <p:cNvSpPr/>
          <p:nvPr/>
        </p:nvSpPr>
        <p:spPr>
          <a:xfrm>
            <a:off x="2530835" y="373590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D629AB-4658-6443-A7C6-B52E011176C4}"/>
              </a:ext>
            </a:extLst>
          </p:cNvPr>
          <p:cNvSpPr/>
          <p:nvPr/>
        </p:nvSpPr>
        <p:spPr>
          <a:xfrm>
            <a:off x="4617541" y="373590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6B1100-1A33-3F47-B7D6-5C6F3CB20427}"/>
              </a:ext>
            </a:extLst>
          </p:cNvPr>
          <p:cNvSpPr/>
          <p:nvPr/>
        </p:nvSpPr>
        <p:spPr>
          <a:xfrm>
            <a:off x="3560789" y="213036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F5F9FC-DC48-7148-A277-BA866C033DBC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4289295" y="2582538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A9DAB40-9F75-6C40-ADA9-EE743320AF29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3259341" y="3367216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9970E2-EC0E-374A-A637-83FBF23B4915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3259341" y="4188077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FDCEEF-24AE-3F44-A7DB-47789FBD0A7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289296" y="3367216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6A69194-27AD-584F-BC0B-090B345B0D85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>
            <a:off x="5346047" y="4188078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2149A3C-371D-D64A-95B2-62167F560E6E}"/>
              </a:ext>
            </a:extLst>
          </p:cNvPr>
          <p:cNvSpPr/>
          <p:nvPr/>
        </p:nvSpPr>
        <p:spPr>
          <a:xfrm>
            <a:off x="4626998" y="454403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Column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8E011D-F531-1545-8C72-641D8CFE5FBE}"/>
              </a:ext>
            </a:extLst>
          </p:cNvPr>
          <p:cNvSpPr/>
          <p:nvPr/>
        </p:nvSpPr>
        <p:spPr>
          <a:xfrm>
            <a:off x="4626998" y="522198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ElevatedButton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70254-68C2-9743-8ED1-5443242C15F5}"/>
              </a:ext>
            </a:extLst>
          </p:cNvPr>
          <p:cNvSpPr/>
          <p:nvPr/>
        </p:nvSpPr>
        <p:spPr>
          <a:xfrm>
            <a:off x="6535773" y="522197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487763-12BB-9644-8999-8E469261AB4C}"/>
              </a:ext>
            </a:extLst>
          </p:cNvPr>
          <p:cNvSpPr/>
          <p:nvPr/>
        </p:nvSpPr>
        <p:spPr>
          <a:xfrm>
            <a:off x="4626998" y="583128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B56217-B678-B744-BC29-2E5A76132891}"/>
              </a:ext>
            </a:extLst>
          </p:cNvPr>
          <p:cNvSpPr/>
          <p:nvPr/>
        </p:nvSpPr>
        <p:spPr>
          <a:xfrm>
            <a:off x="2617226" y="522197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MainAxisAlignment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56246BA-0DF6-B045-BF9B-5BF9D8846F1B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5355504" y="5674155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5D1BF9-F1AC-814F-AFB6-0C7F7B7F21BE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355504" y="4996210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EA3A26-F0FA-1047-8250-DA5E6F987C35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3345732" y="4996210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E90ED98-8C65-1744-868C-20A3D79C4F52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5355504" y="4996210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E0C8E-F5FE-FA4E-AB89-EEB0E868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pic>
        <p:nvPicPr>
          <p:cNvPr id="6" name="Picture 5" descr="A screen shot of a phone&#10;&#10;Description automatically generated">
            <a:extLst>
              <a:ext uri="{FF2B5EF4-FFF2-40B4-BE49-F238E27FC236}">
                <a16:creationId xmlns:a16="http://schemas.microsoft.com/office/drawing/2014/main" id="{962C454D-2AC2-3E40-464C-0314B2319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4927" y="1224642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93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8979-DA7B-E28C-14D0-2164E2C9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8129-7E85-A3E4-B172-6F8D6D2C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FE3B2-EBCF-008D-C90A-76882848E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b="1" dirty="0"/>
              <a:t>Building layouts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Basic examples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9C32F-C7E1-7B87-A8FA-524B25D9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60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</a:t>
            </a:r>
            <a:r>
              <a:rPr lang="en-IT"/>
              <a:t>ayouts </a:t>
            </a:r>
            <a:r>
              <a:rPr lang="en-IT" dirty="0"/>
              <a:t>in F</a:t>
            </a:r>
            <a:r>
              <a:rPr lang="en-GB" dirty="0"/>
              <a:t>l</a:t>
            </a:r>
            <a:r>
              <a:rPr lang="en-IT" dirty="0"/>
              <a:t>utter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3280281"/>
          </a:xfrm>
        </p:spPr>
        <p:txBody>
          <a:bodyPr>
            <a:normAutofit/>
          </a:bodyPr>
          <a:lstStyle/>
          <a:p>
            <a:r>
              <a:rPr lang="en-US" dirty="0"/>
              <a:t>Layouts are organized in a Widget tree</a:t>
            </a:r>
          </a:p>
          <a:p>
            <a:endParaRPr lang="en-US" dirty="0"/>
          </a:p>
          <a:p>
            <a:r>
              <a:rPr lang="en-US" dirty="0"/>
              <a:t>But how a widget is sized and positioned somewhere?</a:t>
            </a:r>
          </a:p>
          <a:p>
            <a:endParaRPr lang="en-US" dirty="0"/>
          </a:p>
          <a:p>
            <a:r>
              <a:rPr lang="en-US" dirty="0"/>
              <a:t>To answer this question, we need to fully understand this rule: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3200" b="1" dirty="0"/>
              <a:t>Constraints go down. Sizes go up. Parent sets position.</a:t>
            </a:r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F62D5C-9748-C24F-BD9A-05FFF0FA858F}"/>
              </a:ext>
            </a:extLst>
          </p:cNvPr>
          <p:cNvSpPr txBox="1">
            <a:spLocks/>
          </p:cNvSpPr>
          <p:nvPr/>
        </p:nvSpPr>
        <p:spPr>
          <a:xfrm>
            <a:off x="428171" y="5214047"/>
            <a:ext cx="3275726" cy="12214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Aptos" panose="020B0004020202020204" pitchFamily="34" charset="0"/>
              </a:rPr>
              <a:t>The set of 4 doubles: minimum and maximum height, minimum and maximum width.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4AF3B35-882F-7249-B1DE-21546FE250E2}"/>
              </a:ext>
            </a:extLst>
          </p:cNvPr>
          <p:cNvSpPr txBox="1">
            <a:spLocks/>
          </p:cNvSpPr>
          <p:nvPr/>
        </p:nvSpPr>
        <p:spPr>
          <a:xfrm>
            <a:off x="4325025" y="5214046"/>
            <a:ext cx="2266801" cy="1221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The set of 2 doubles: height and width.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913FB4-14A1-2749-97AE-760309BB9C16}"/>
              </a:ext>
            </a:extLst>
          </p:cNvPr>
          <p:cNvSpPr txBox="1">
            <a:spLocks/>
          </p:cNvSpPr>
          <p:nvPr/>
        </p:nvSpPr>
        <p:spPr>
          <a:xfrm>
            <a:off x="8825740" y="5214046"/>
            <a:ext cx="2355404" cy="1221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Aptos" panose="020B0004020202020204" pitchFamily="34" charset="0"/>
              </a:rPr>
              <a:t>The set of 2 doubles: x and y.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BC1788-B65C-B541-A2D4-1C3612737C9F}"/>
              </a:ext>
            </a:extLst>
          </p:cNvPr>
          <p:cNvCxnSpPr>
            <a:cxnSpLocks/>
          </p:cNvCxnSpPr>
          <p:nvPr/>
        </p:nvCxnSpPr>
        <p:spPr>
          <a:xfrm>
            <a:off x="1932972" y="4641448"/>
            <a:ext cx="0" cy="3445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AE84740-2C2D-7B4E-B6C7-799257264384}"/>
              </a:ext>
            </a:extLst>
          </p:cNvPr>
          <p:cNvCxnSpPr>
            <a:cxnSpLocks/>
          </p:cNvCxnSpPr>
          <p:nvPr/>
        </p:nvCxnSpPr>
        <p:spPr>
          <a:xfrm>
            <a:off x="5458425" y="4676743"/>
            <a:ext cx="0" cy="3445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3629E7-A52A-4C4E-90E6-8E1AAE35D708}"/>
              </a:ext>
            </a:extLst>
          </p:cNvPr>
          <p:cNvCxnSpPr>
            <a:cxnSpLocks/>
          </p:cNvCxnSpPr>
          <p:nvPr/>
        </p:nvCxnSpPr>
        <p:spPr>
          <a:xfrm>
            <a:off x="10023695" y="4701034"/>
            <a:ext cx="0" cy="34452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FB67D0-4DE9-4643-89DC-27D14971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303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l</a:t>
            </a:r>
            <a:r>
              <a:rPr lang="en-IT"/>
              <a:t>ayouts in F</a:t>
            </a:r>
            <a:r>
              <a:rPr lang="en-GB" dirty="0"/>
              <a:t>l</a:t>
            </a:r>
            <a:r>
              <a:rPr lang="en-IT"/>
              <a:t>utter 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17" y="1361167"/>
            <a:ext cx="10401410" cy="53349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Constraints go down. Sizes go up. Parent sets position.</a:t>
            </a:r>
          </a:p>
          <a:p>
            <a:pPr marL="0" indent="0">
              <a:buNone/>
            </a:pP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33E84-AC0A-C147-95C3-F4F8C35EBC88}"/>
              </a:ext>
            </a:extLst>
          </p:cNvPr>
          <p:cNvSpPr/>
          <p:nvPr/>
        </p:nvSpPr>
        <p:spPr>
          <a:xfrm>
            <a:off x="10767166" y="1897703"/>
            <a:ext cx="1090363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Parent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AA02A-8AA0-E347-96B5-57B6069648DD}"/>
              </a:ext>
            </a:extLst>
          </p:cNvPr>
          <p:cNvSpPr/>
          <p:nvPr/>
        </p:nvSpPr>
        <p:spPr>
          <a:xfrm>
            <a:off x="10709843" y="3879605"/>
            <a:ext cx="1205010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Widget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0B82B-0923-184C-8B61-B2F93E894C79}"/>
              </a:ext>
            </a:extLst>
          </p:cNvPr>
          <p:cNvSpPr/>
          <p:nvPr/>
        </p:nvSpPr>
        <p:spPr>
          <a:xfrm>
            <a:off x="10587629" y="5811937"/>
            <a:ext cx="1449436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Children</a:t>
            </a:r>
            <a:endParaRPr lang="en-IT" sz="2400" dirty="0"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B8C8F7-971D-D848-BE84-F79EBFEE939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11312348" y="2359368"/>
            <a:ext cx="0" cy="15202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20C4C9-6AA1-2C46-974D-800162FCACA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11312347" y="4341270"/>
            <a:ext cx="1" cy="147066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20919" y="1947271"/>
            <a:ext cx="7954445" cy="43263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endParaRPr lang="en-US" sz="3200" b="1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 widget gets its constraints from its parent and tells its children what are the constraints (i.e., “</a:t>
            </a:r>
            <a:r>
              <a:rPr lang="en-US" b="1" dirty="0">
                <a:latin typeface="Aptos" panose="020B0004020202020204" pitchFamily="34" charset="0"/>
              </a:rPr>
              <a:t>constraints go down</a:t>
            </a:r>
            <a:r>
              <a:rPr lang="en-US" dirty="0">
                <a:latin typeface="Aptos" panose="020B0004020202020204" pitchFamily="34" charset="0"/>
              </a:rPr>
              <a:t>”).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 widget then asks its children the sizes they want to be (i.e., “</a:t>
            </a:r>
            <a:r>
              <a:rPr lang="en-US" b="1" dirty="0">
                <a:latin typeface="Aptos" panose="020B0004020202020204" pitchFamily="34" charset="0"/>
              </a:rPr>
              <a:t>sizes go up</a:t>
            </a:r>
            <a:r>
              <a:rPr lang="en-US" dirty="0">
                <a:latin typeface="Aptos" panose="020B0004020202020204" pitchFamily="34" charset="0"/>
              </a:rPr>
              <a:t>”).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 widget positions its children (i.e., “</a:t>
            </a:r>
            <a:r>
              <a:rPr lang="en-US" b="1" dirty="0">
                <a:latin typeface="Aptos" panose="020B0004020202020204" pitchFamily="34" charset="0"/>
              </a:rPr>
              <a:t>parent sets position</a:t>
            </a:r>
            <a:r>
              <a:rPr lang="en-US" dirty="0">
                <a:latin typeface="Aptos" panose="020B0004020202020204" pitchFamily="34" charset="0"/>
              </a:rPr>
              <a:t>”).</a:t>
            </a:r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9B12312-6E21-7144-8A5D-EDE71ED29FD0}"/>
              </a:ext>
            </a:extLst>
          </p:cNvPr>
          <p:cNvSpPr/>
          <p:nvPr/>
        </p:nvSpPr>
        <p:spPr>
          <a:xfrm rot="16200000">
            <a:off x="8382260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SIZES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BF778D0F-A7D0-7048-A712-8B7C4161D31C}"/>
              </a:ext>
            </a:extLst>
          </p:cNvPr>
          <p:cNvSpPr/>
          <p:nvPr/>
        </p:nvSpPr>
        <p:spPr>
          <a:xfrm rot="5400000">
            <a:off x="10515159" y="4836168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8B83E54D-A615-A64D-9138-266A56F0D5BD}"/>
              </a:ext>
            </a:extLst>
          </p:cNvPr>
          <p:cNvSpPr/>
          <p:nvPr/>
        </p:nvSpPr>
        <p:spPr>
          <a:xfrm rot="5400000">
            <a:off x="7628879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CONSTRAINTS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AE3BF69F-B14F-DD43-A3BB-7482E2690815}"/>
              </a:ext>
            </a:extLst>
          </p:cNvPr>
          <p:cNvSpPr/>
          <p:nvPr/>
        </p:nvSpPr>
        <p:spPr>
          <a:xfrm rot="5400000">
            <a:off x="10511779" y="2907439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C132D-7C9C-BB49-9BDA-2391B1F4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794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Negotiating constraints, sizes, and position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B33E84-AC0A-C147-95C3-F4F8C35EBC88}"/>
              </a:ext>
            </a:extLst>
          </p:cNvPr>
          <p:cNvSpPr/>
          <p:nvPr/>
        </p:nvSpPr>
        <p:spPr>
          <a:xfrm>
            <a:off x="10763229" y="3224373"/>
            <a:ext cx="1090363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Parent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AA02A-8AA0-E347-96B5-57B6069648DD}"/>
              </a:ext>
            </a:extLst>
          </p:cNvPr>
          <p:cNvSpPr/>
          <p:nvPr/>
        </p:nvSpPr>
        <p:spPr>
          <a:xfrm>
            <a:off x="10705906" y="4728675"/>
            <a:ext cx="1205010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Widget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30B82B-0923-184C-8B61-B2F93E894C79}"/>
              </a:ext>
            </a:extLst>
          </p:cNvPr>
          <p:cNvSpPr/>
          <p:nvPr/>
        </p:nvSpPr>
        <p:spPr>
          <a:xfrm>
            <a:off x="10587629" y="6232977"/>
            <a:ext cx="1449436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Children</a:t>
            </a:r>
            <a:endParaRPr lang="en-IT" sz="2400" dirty="0">
              <a:latin typeface="Aptos" panose="020B00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2B8C8F7-971D-D848-BE84-F79EBFEE9392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11308411" y="3686038"/>
            <a:ext cx="0" cy="10426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C20C4C9-6AA1-2C46-974D-800162FCACA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1308411" y="5190340"/>
            <a:ext cx="3936" cy="10426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559711" cy="55785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parent, what are my constraints?”</a:t>
            </a:r>
          </a:p>
          <a:p>
            <a:r>
              <a:rPr lang="en-GB" b="1" dirty="0">
                <a:latin typeface="Aptos" panose="020B0004020202020204" pitchFamily="34" charset="0"/>
              </a:rPr>
              <a:t>Parent</a:t>
            </a:r>
            <a:r>
              <a:rPr lang="en-GB" dirty="0">
                <a:latin typeface="Aptos" panose="020B0004020202020204" pitchFamily="34" charset="0"/>
              </a:rPr>
              <a:t>: “You must be from 80 to 300 pixels wide, and 30 to 85 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“Since I want to have 5 pixels of padding, then my children can have at most 290 pixels of width and 75 pixels of height.”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first child, you must be from 0 to 290 pixels wide, and 0 to 75 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First child</a:t>
            </a:r>
            <a:r>
              <a:rPr lang="en-GB" dirty="0">
                <a:latin typeface="Aptos" panose="020B0004020202020204" pitchFamily="34" charset="0"/>
              </a:rPr>
              <a:t>: “OK, then I wish to be 290 pixels wide, and 20 pixels 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“Since I want to put my second child below the first one, this leaves only 55 pixels of height for my second child.”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second child, You must be from 0 to 290 wide, and 0 to 55 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Second child</a:t>
            </a:r>
            <a:r>
              <a:rPr lang="en-GB" dirty="0">
                <a:latin typeface="Aptos" panose="020B0004020202020204" pitchFamily="34" charset="0"/>
              </a:rPr>
              <a:t>: “OK, I wish to be 140 pixels wide, and 30 pixels tall.”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“Very well. My first child has position x: 5 and y: 5, and my second child has x: 80 and y: 25.”</a:t>
            </a:r>
          </a:p>
          <a:p>
            <a:r>
              <a:rPr lang="en-GB" b="1" dirty="0">
                <a:latin typeface="Aptos" panose="020B0004020202020204" pitchFamily="34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: “Hey parent, I’ve decided that my size is going to be 300 pixels wide, and 60 pixels tall.”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59B12312-6E21-7144-8A5D-EDE71ED29FD0}"/>
              </a:ext>
            </a:extLst>
          </p:cNvPr>
          <p:cNvSpPr/>
          <p:nvPr/>
        </p:nvSpPr>
        <p:spPr>
          <a:xfrm rot="16200000">
            <a:off x="9200335" y="4671648"/>
            <a:ext cx="2176462" cy="607198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SIZES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BF778D0F-A7D0-7048-A712-8B7C4161D31C}"/>
              </a:ext>
            </a:extLst>
          </p:cNvPr>
          <p:cNvSpPr/>
          <p:nvPr/>
        </p:nvSpPr>
        <p:spPr>
          <a:xfrm rot="5400000">
            <a:off x="10539746" y="5439792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8B83E54D-A615-A64D-9138-266A56F0D5BD}"/>
              </a:ext>
            </a:extLst>
          </p:cNvPr>
          <p:cNvSpPr/>
          <p:nvPr/>
        </p:nvSpPr>
        <p:spPr>
          <a:xfrm rot="5400000">
            <a:off x="8589668" y="4668043"/>
            <a:ext cx="2165320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CONSTRAINTS</a:t>
            </a:r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AE3BF69F-B14F-DD43-A3BB-7482E2690815}"/>
              </a:ext>
            </a:extLst>
          </p:cNvPr>
          <p:cNvSpPr/>
          <p:nvPr/>
        </p:nvSpPr>
        <p:spPr>
          <a:xfrm rot="5400000">
            <a:off x="10526859" y="3898643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EABB4-64D7-7443-B88A-FC6DF111BB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496" b="4926"/>
          <a:stretch/>
        </p:blipFill>
        <p:spPr>
          <a:xfrm>
            <a:off x="7578090" y="1204768"/>
            <a:ext cx="4611232" cy="17754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8A6D96-AC01-D94F-9464-FEDD2AC3B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5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668744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ptos" panose="020B0004020202020204" pitchFamily="34" charset="0"/>
              </a:rPr>
              <a:t>A widget can decide its own size only within the constraints given to it by its parent: a widget </a:t>
            </a:r>
            <a:r>
              <a:rPr lang="en-GB" b="1" dirty="0">
                <a:latin typeface="Aptos" panose="020B0004020202020204" pitchFamily="34" charset="0"/>
              </a:rPr>
              <a:t>can’t have any size it wants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A widget </a:t>
            </a:r>
            <a:r>
              <a:rPr lang="en-GB" b="1" dirty="0">
                <a:latin typeface="Aptos" panose="020B0004020202020204" pitchFamily="34" charset="0"/>
              </a:rPr>
              <a:t>can’t know and doesn’t decide its own position in the screen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It’s impossible to precisely define the size and position of any widget without taking into consideration the tree as a whole.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If a child wants a different size from its parent and the parent doesn’t have enough information to align it, then </a:t>
            </a:r>
            <a:r>
              <a:rPr lang="en-GB" b="1" dirty="0">
                <a:latin typeface="Aptos" panose="020B0004020202020204" pitchFamily="34" charset="0"/>
              </a:rPr>
              <a:t>the child’s size might be ignored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62154-BA53-9342-AE30-97F3797D3C41}"/>
              </a:ext>
            </a:extLst>
          </p:cNvPr>
          <p:cNvSpPr/>
          <p:nvPr/>
        </p:nvSpPr>
        <p:spPr>
          <a:xfrm>
            <a:off x="10767166" y="1897703"/>
            <a:ext cx="1090363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Parent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C2CE0-5ADE-7741-B3B5-1EB72F843CB6}"/>
              </a:ext>
            </a:extLst>
          </p:cNvPr>
          <p:cNvSpPr/>
          <p:nvPr/>
        </p:nvSpPr>
        <p:spPr>
          <a:xfrm>
            <a:off x="10709843" y="3879605"/>
            <a:ext cx="1205010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Widget</a:t>
            </a:r>
            <a:endParaRPr lang="en-IT" sz="2400" dirty="0">
              <a:latin typeface="Aptos" panose="020B00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EC1E4C-3178-6E4C-92F9-BC0F147EAD00}"/>
              </a:ext>
            </a:extLst>
          </p:cNvPr>
          <p:cNvSpPr/>
          <p:nvPr/>
        </p:nvSpPr>
        <p:spPr>
          <a:xfrm>
            <a:off x="10587629" y="5811937"/>
            <a:ext cx="1449436" cy="461665"/>
          </a:xfrm>
          <a:prstGeom prst="rect">
            <a:avLst/>
          </a:prstGeom>
          <a:ln w="28575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Children</a:t>
            </a:r>
            <a:endParaRPr lang="en-IT" sz="2400" dirty="0">
              <a:latin typeface="Aptos" panose="020B00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F9E91E-61D1-7C4A-A12D-99C3526E9CD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>
            <a:off x="11312348" y="2359368"/>
            <a:ext cx="0" cy="152023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11B6D7D-97C1-1548-93C7-40347CAEAD6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11312347" y="4341270"/>
            <a:ext cx="1" cy="1470667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2DC2D3F-3C6C-5C4B-BC0A-FDD810056F95}"/>
              </a:ext>
            </a:extLst>
          </p:cNvPr>
          <p:cNvSpPr/>
          <p:nvPr/>
        </p:nvSpPr>
        <p:spPr>
          <a:xfrm rot="16200000">
            <a:off x="8382260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SIZES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DDFBA33C-A2FE-D54C-832C-A16D54809D31}"/>
              </a:ext>
            </a:extLst>
          </p:cNvPr>
          <p:cNvSpPr/>
          <p:nvPr/>
        </p:nvSpPr>
        <p:spPr>
          <a:xfrm rot="5400000">
            <a:off x="10515159" y="4836168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DEE2880-C055-CE48-BB92-F9641D13235F}"/>
              </a:ext>
            </a:extLst>
          </p:cNvPr>
          <p:cNvSpPr/>
          <p:nvPr/>
        </p:nvSpPr>
        <p:spPr>
          <a:xfrm rot="5400000">
            <a:off x="7628879" y="3787432"/>
            <a:ext cx="3491991" cy="635861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CONSTRAINTS</a:t>
            </a:r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E9DF6ADF-A04A-7F41-BC09-DC2990C79D0D}"/>
              </a:ext>
            </a:extLst>
          </p:cNvPr>
          <p:cNvSpPr/>
          <p:nvPr/>
        </p:nvSpPr>
        <p:spPr>
          <a:xfrm rot="5400000">
            <a:off x="10511779" y="2907439"/>
            <a:ext cx="849858" cy="580580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Aptos" panose="020B0004020202020204" pitchFamily="34" charset="0"/>
              </a:rPr>
              <a:t>POS.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73148F-F269-CD48-9C5A-12692B30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73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EADDF-94CB-EA28-C0CB-4CE3D1B8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78DC-FE29-CD16-FFED-7FEB6BF2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1EB1C-2F22-EF9B-2853-1EFD5A563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Building layouts in Flutter</a:t>
            </a:r>
          </a:p>
          <a:p>
            <a:r>
              <a:rPr lang="en-GB" b="1" dirty="0"/>
              <a:t>Basic examples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32410-49DD-5C4E-C666-FC508CD6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43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 into examples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1115670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ptos" panose="020B0004020202020204" pitchFamily="34" charset="0"/>
              </a:rPr>
              <a:t>In the “Understanding constraints” article by Marcelo Glasberg </a:t>
            </a:r>
            <a:r>
              <a:rPr lang="en-GB" dirty="0">
                <a:latin typeface="Aptos" panose="020B0004020202020204" pitchFamily="34" charset="0"/>
                <a:hlinkClick r:id="rId3"/>
              </a:rPr>
              <a:t>https://docs.flutter.dev/development/ui/layout/constraints</a:t>
            </a:r>
            <a:r>
              <a:rPr lang="en-GB" dirty="0">
                <a:latin typeface="Aptos" panose="020B0004020202020204" pitchFamily="34" charset="0"/>
              </a:rPr>
              <a:t> (you will also find the link in the Resources section of this presentation) there are a lot (29) of examples explaining how all of this works.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Let’s report the most interesting ones.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CF430-C59C-8F4F-8AEC-FEEBBB360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47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93701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_example1() =&gt; Container(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Colors.red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is the parent of the Container, and it forces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>
                <a:latin typeface="Aptos" panose="020B0004020202020204" pitchFamily="34" charset="0"/>
              </a:rPr>
              <a:t>to be exactly the same size as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So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fills the screen and paints it red.</a:t>
            </a:r>
          </a:p>
          <a:p>
            <a:pPr marL="0" indent="0">
              <a:buNone/>
            </a:pPr>
            <a:endParaRPr lang="en-GB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84939-F630-0C4B-8344-79AA1777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56" y="1732527"/>
            <a:ext cx="3434330" cy="26294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90E6E-D11C-8242-A36B-9CE43D1B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636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52661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_example2() =&gt; Container(width: 100, height: 100,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red);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red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wants to be 100 × 100, but it can’t, because the screen forces it to be exactly the same size as the screen.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84939-F630-0C4B-8344-79AA1777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56" y="1732527"/>
            <a:ext cx="3434330" cy="26294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013E51-BAB0-DC4A-86CA-3C2758E7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478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_example3()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Container(width: 100, height: 100,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red),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to be exactly the same size as the screen, so the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tells the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it can be any size it wants, but not bigger than the screen. Now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can be 100 × 100.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253FE-C507-5240-ACAC-739F057F3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993" y="1872027"/>
            <a:ext cx="2974493" cy="224946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A1B2A6-C7ED-4A49-BFC3-4D187340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158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6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7958612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_example6()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Container(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red),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to be exactly the same size as the screen, so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tells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it can be any size it wants, but not bigger than the screen. Since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has no child and no fixed size, it decides it wants to be as big as possible, so it fills the whole screen.</a:t>
            </a:r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84939-F630-0C4B-8344-79AA17770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156" y="1732527"/>
            <a:ext cx="3434330" cy="262940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14C80-2E95-F347-9FD4-2D3B1644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174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7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_example7() =&gt; </a:t>
            </a:r>
            <a:r>
              <a:rPr lang="en-GB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Container(</a:t>
            </a:r>
          </a:p>
          <a:p>
            <a:pPr marL="0" indent="0">
              <a:buNone/>
            </a:pP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</a:t>
            </a:r>
            <a:r>
              <a:rPr lang="en-GB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red,</a:t>
            </a:r>
          </a:p>
          <a:p>
            <a:pPr marL="0" indent="0">
              <a:buNone/>
            </a:pP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child: Container(</a:t>
            </a:r>
            <a:r>
              <a:rPr lang="en-GB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green, width: 30, height: 30),</a:t>
            </a:r>
          </a:p>
          <a:p>
            <a:pPr marL="0" indent="0">
              <a:buNone/>
            </a:pP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pPr marL="0" indent="0">
              <a:buNone/>
            </a:pP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to be exactly the same size as the screen, so the </a:t>
            </a:r>
            <a:r>
              <a:rPr lang="en-GB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fills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sz="2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tells the red </a:t>
            </a: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it can be any size it wants, but not bigger than the screen. Since the red </a:t>
            </a: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has no size but has a child, it decides it wants to be the same size as its child.</a:t>
            </a:r>
          </a:p>
          <a:p>
            <a:r>
              <a:rPr lang="en-GB" dirty="0">
                <a:latin typeface="Aptos" panose="020B0004020202020204" pitchFamily="34" charset="0"/>
              </a:rPr>
              <a:t>The red </a:t>
            </a:r>
            <a:r>
              <a:rPr lang="en-GB" sz="2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tells its child that it can be any size it wants, but not bigger than the screen.</a:t>
            </a:r>
          </a:p>
          <a:p>
            <a:r>
              <a:rPr lang="en-GB" dirty="0">
                <a:latin typeface="Aptos" panose="020B0004020202020204" pitchFamily="34" charset="0"/>
              </a:rPr>
              <a:t>The child is a green </a:t>
            </a:r>
            <a:r>
              <a:rPr lang="en-GB" sz="2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that wants to be 30 × 30. Given that the red </a:t>
            </a:r>
            <a:r>
              <a:rPr lang="en-GB" sz="2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sizes itself to the size of its child, it is also 30 × 30. The red </a:t>
            </a:r>
            <a:r>
              <a:rPr lang="en-GB" dirty="0" err="1">
                <a:latin typeface="Aptos" panose="020B0004020202020204" pitchFamily="34" charset="0"/>
              </a:rPr>
              <a:t>color</a:t>
            </a:r>
            <a:r>
              <a:rPr lang="en-GB" dirty="0">
                <a:latin typeface="Aptos" panose="020B0004020202020204" pitchFamily="34" charset="0"/>
              </a:rPr>
              <a:t> isn’t visible because the green </a:t>
            </a:r>
            <a:r>
              <a:rPr lang="en-GB" sz="29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entirely covers the red </a:t>
            </a:r>
            <a:r>
              <a:rPr lang="en-GB" sz="2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64F6B-1EDE-DD4E-A8B3-4DBB3BC06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502" y="1527947"/>
            <a:ext cx="3152346" cy="237411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11BC2E-B0F8-6740-A77C-DA442F04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444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14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_example14()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UnconstrainedBox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Container(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color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red, width: 4000, height: 50),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 to be exactly the same size as the screen, and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 lets its child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be any size it wants.</a:t>
            </a:r>
          </a:p>
          <a:p>
            <a:r>
              <a:rPr lang="en-GB" dirty="0">
                <a:latin typeface="Aptos" panose="020B0004020202020204" pitchFamily="34" charset="0"/>
              </a:rPr>
              <a:t>Unfortunately, in this case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Container</a:t>
            </a:r>
            <a:r>
              <a:rPr lang="en-GB" dirty="0">
                <a:latin typeface="Aptos" panose="020B0004020202020204" pitchFamily="34" charset="0"/>
              </a:rPr>
              <a:t> is 4000 pixels wide and is too big to fit in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, so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UnconstrainedBox</a:t>
            </a:r>
            <a:r>
              <a:rPr lang="en-GB" dirty="0">
                <a:latin typeface="Aptos" panose="020B0004020202020204" pitchFamily="34" charset="0"/>
              </a:rPr>
              <a:t> displays the much dreaded “overflow warning”.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645B47-D259-194A-B092-2FBEC5592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4219" y="2170078"/>
            <a:ext cx="3343193" cy="25178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42AFA5-A7AA-A84D-8B49-453D837B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781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18</a:t>
            </a:r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_example18()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Text('Some Example Text.'),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latin typeface="Aptos" panose="020B0004020202020204" pitchFamily="34" charset="0"/>
              </a:rPr>
              <a:t>The screen forces 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 to be exactly the same size as the screen. The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has some natural width (also called its intrinsic width) that depends on the amount of text, its font size, and so on.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 lets the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be any size it wants, but after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tells its size to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, 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 scales the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 until it fills all of the available width.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EA295-BDE0-E64F-A82D-B9AB9DAD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683" y="1385673"/>
            <a:ext cx="2979351" cy="22531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D3B438-F56A-F849-86BD-60CA8F7E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210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19</a:t>
            </a:r>
            <a:endParaRPr lang="en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E42408-202D-984E-98AF-6866BCCEC0C0}"/>
              </a:ext>
            </a:extLst>
          </p:cNvPr>
          <p:cNvSpPr txBox="1">
            <a:spLocks/>
          </p:cNvSpPr>
          <p:nvPr/>
        </p:nvSpPr>
        <p:spPr>
          <a:xfrm>
            <a:off x="428171" y="4985973"/>
            <a:ext cx="10913119" cy="1449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T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EF72E83-19DC-C147-90C3-92A60D162273}"/>
              </a:ext>
            </a:extLst>
          </p:cNvPr>
          <p:cNvSpPr txBox="1">
            <a:spLocks/>
          </p:cNvSpPr>
          <p:nvPr/>
        </p:nvSpPr>
        <p:spPr>
          <a:xfrm>
            <a:off x="184588" y="1279467"/>
            <a:ext cx="8177568" cy="5578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Widget _example19() =&gt;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const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child: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 child: Text('Some Example Text.'),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),</a:t>
            </a:r>
          </a:p>
          <a:p>
            <a:pPr marL="0" indent="0">
              <a:buNone/>
            </a:pP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);</a:t>
            </a:r>
          </a:p>
          <a:p>
            <a:r>
              <a:rPr lang="en-GB" dirty="0">
                <a:latin typeface="Aptos" panose="020B0004020202020204" pitchFamily="34" charset="0"/>
              </a:rPr>
              <a:t>But what happens if you put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inside of a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widget?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Center</a:t>
            </a:r>
            <a:r>
              <a:rPr lang="en-GB" dirty="0">
                <a:latin typeface="Aptos" panose="020B0004020202020204" pitchFamily="34" charset="0"/>
              </a:rPr>
              <a:t> lets 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be any size it wants, up to the screen size.</a:t>
            </a:r>
          </a:p>
          <a:p>
            <a:r>
              <a:rPr lang="en-GB" dirty="0">
                <a:latin typeface="Aptos" panose="020B0004020202020204" pitchFamily="34" charset="0"/>
              </a:rPr>
              <a:t>The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then sizes itself to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, and lets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 be any size it wants. Since both 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FittedBox</a:t>
            </a:r>
            <a:r>
              <a:rPr lang="en-GB" dirty="0">
                <a:latin typeface="Aptos" panose="020B0004020202020204" pitchFamily="34" charset="0"/>
              </a:rPr>
              <a:t> and the 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Text</a:t>
            </a:r>
            <a:r>
              <a:rPr lang="en-GB" dirty="0">
                <a:latin typeface="Aptos" panose="020B0004020202020204" pitchFamily="34" charset="0"/>
              </a:rPr>
              <a:t> have the same size, no scaling happens.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6ED28-A9A1-FE45-8B94-04D911A6B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497" y="1441107"/>
            <a:ext cx="3189416" cy="2421963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CD93429-A352-8142-B812-7653DB1B99A6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 l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esson_08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-</a:t>
            </a:r>
            <a:r>
              <a:rPr lang="en-US" sz="1600" dirty="0">
                <a:latin typeface="Aptos" panose="020B0004020202020204" pitchFamily="34" charset="0"/>
                <a:ea typeface="Palatino" pitchFamily="2" charset="77"/>
              </a:rPr>
              <a:t>implement</a:t>
            </a:r>
            <a:r>
              <a:rPr lang="en-IT" sz="1600">
                <a:latin typeface="Aptos" panose="020B0004020202020204" pitchFamily="34" charset="0"/>
                <a:ea typeface="Palatino" pitchFamily="2" charset="77"/>
              </a:rPr>
              <a:t>ing</a:t>
            </a: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_ui/layout_basics/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7A9E9-5F0B-4543-9654-93A495E50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767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D786-9F2C-3AB3-FD29-A90E8E2E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E261-6611-8CBA-FA55-1277526A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A505A-C4CD-1728-C35C-B46A82A9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Building layouts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Basic examples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b="1" dirty="0"/>
              <a:t>Exercise</a:t>
            </a:r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734D1-28E3-1B1D-CBC2-7EDF8A16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9522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01</a:t>
            </a:r>
          </a:p>
          <a:p>
            <a:endParaRPr lang="en-GB" dirty="0"/>
          </a:p>
          <a:p>
            <a:pPr lvl="1"/>
            <a:r>
              <a:rPr lang="en-US" dirty="0"/>
              <a:t>Create a new project ‘</a:t>
            </a:r>
            <a:r>
              <a:rPr lang="en-US" dirty="0" err="1"/>
              <a:t>reproduce_layout</a:t>
            </a:r>
            <a:r>
              <a:rPr lang="en-US" dirty="0"/>
              <a:t>’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Reproduce, as close as possible, the layout on the right.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Hint: I used the following widgets: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AppBar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Text, Container, Icon,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SizedBox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, Column, Row, Colors</a:t>
            </a:r>
            <a:r>
              <a:rPr lang="en-US" dirty="0"/>
              <a:t>, and some others…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AA86-E502-C847-8FDA-5F3696AE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4B64064-18EE-D6EB-976B-75E0FDCB0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5405" y="445366"/>
            <a:ext cx="2895630" cy="62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1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02</a:t>
            </a:r>
          </a:p>
          <a:p>
            <a:endParaRPr lang="en-GB" dirty="0"/>
          </a:p>
          <a:p>
            <a:pPr lvl="1"/>
            <a:r>
              <a:rPr lang="en-GB" dirty="0"/>
              <a:t>Create a new project ‘</a:t>
            </a:r>
            <a:r>
              <a:rPr lang="en-GB" dirty="0" err="1"/>
              <a:t>exercise_listview</a:t>
            </a:r>
            <a:r>
              <a:rPr lang="en-GB" dirty="0"/>
              <a:t>’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Copy the code of </a:t>
            </a:r>
            <a:r>
              <a:rPr lang="en-GB" dirty="0" err="1"/>
              <a:t>main.dart</a:t>
            </a:r>
            <a:r>
              <a:rPr lang="en-GB" dirty="0"/>
              <a:t> of ‘scaffolding’ into the </a:t>
            </a:r>
            <a:r>
              <a:rPr lang="en-GB" dirty="0" err="1"/>
              <a:t>main.dart</a:t>
            </a:r>
            <a:r>
              <a:rPr lang="en-GB" dirty="0"/>
              <a:t> of ‘</a:t>
            </a:r>
            <a:r>
              <a:rPr lang="en-GB" dirty="0" err="1"/>
              <a:t>exercise_view</a:t>
            </a:r>
            <a:r>
              <a:rPr lang="en-GB" dirty="0"/>
              <a:t>’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Modify the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ListView</a:t>
            </a:r>
            <a:r>
              <a:rPr lang="en-GB" dirty="0"/>
              <a:t> so that the app looks like the app on the right </a:t>
            </a:r>
            <a:r>
              <a:rPr lang="en-IT" dirty="0"/>
              <a:t>(hint: I used Icons.info)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B973-5833-B045-A0E7-EB9FA50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17CE5C8A-62CD-C9F4-98B0-DA495AE47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607147"/>
            <a:ext cx="2652530" cy="574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757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5787277" cy="5334907"/>
          </a:xfrm>
        </p:spPr>
        <p:txBody>
          <a:bodyPr>
            <a:normAutofit/>
          </a:bodyPr>
          <a:lstStyle/>
          <a:p>
            <a:r>
              <a:rPr lang="en-GB" dirty="0"/>
              <a:t>Exercise 03</a:t>
            </a:r>
          </a:p>
          <a:p>
            <a:endParaRPr lang="en-GB" dirty="0"/>
          </a:p>
          <a:p>
            <a:pPr lvl="1"/>
            <a:r>
              <a:rPr lang="en-US" dirty="0"/>
              <a:t>Install the </a:t>
            </a:r>
            <a:r>
              <a:rPr lang="en-US" dirty="0" err="1"/>
              <a:t>english_words</a:t>
            </a:r>
            <a:r>
              <a:rPr lang="en-US" dirty="0"/>
              <a:t> package into the ‘</a:t>
            </a:r>
            <a:r>
              <a:rPr lang="en-US" dirty="0" err="1"/>
              <a:t>exercise_listview</a:t>
            </a:r>
            <a:r>
              <a:rPr lang="en-US" dirty="0"/>
              <a:t>’ app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Starting from the code of exercise 02, modify each </a:t>
            </a:r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ListTile</a:t>
            </a:r>
            <a:r>
              <a:rPr lang="en-US" dirty="0"/>
              <a:t> in order to show as title, every time you restart the app, a random word in uppercase generated using the </a:t>
            </a:r>
            <a:r>
              <a:rPr lang="en-US" dirty="0" err="1"/>
              <a:t>english_words</a:t>
            </a:r>
            <a:r>
              <a:rPr lang="en-US" dirty="0"/>
              <a:t> package just installed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E98F8-E068-B648-9420-A8341281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BA827384-EC48-9507-B9C7-84A8CB335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878" y="592047"/>
            <a:ext cx="2599082" cy="563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1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2C20-E9B8-9BF4-EC6A-D9AF5220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509D-5BCC-57D2-5C3C-51B8548E2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4666-D7DE-421F-2DC5-06942D0BB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Building layouts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Basic examples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b="1" dirty="0"/>
              <a:t>Homework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237E3-0209-77FA-C0E8-DE1227B0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84104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Get familiar with UI constraints</a:t>
            </a:r>
          </a:p>
          <a:p>
            <a:endParaRPr lang="en-GB" dirty="0"/>
          </a:p>
          <a:p>
            <a:r>
              <a:rPr lang="en-GB" dirty="0"/>
              <a:t>Get fluent in writing simple UIs</a:t>
            </a:r>
          </a:p>
          <a:p>
            <a:pPr marL="0" indent="0">
              <a:buNone/>
            </a:pP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6071D-B21F-F249-B0F5-02EF48A6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378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FB31-4718-C125-0DDD-0533A3BE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A85B-DD34-83B7-1D20-062B0970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25E64-D222-43F6-D493-98E51AE4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Recap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Building layouts in Flutter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Basic examples</a:t>
            </a:r>
          </a:p>
          <a:p>
            <a:endParaRPr lang="en-GB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Exercise </a:t>
            </a:r>
          </a:p>
          <a:p>
            <a:r>
              <a:rPr lang="en-GB" dirty="0">
                <a:solidFill>
                  <a:schemeClr val="bg2">
                    <a:lumMod val="90000"/>
                  </a:schemeClr>
                </a:solidFill>
              </a:rPr>
              <a:t>Homework</a:t>
            </a:r>
          </a:p>
          <a:p>
            <a:r>
              <a:rPr lang="en-GB" b="1" dirty="0"/>
              <a:t>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0399E-7C73-6B11-6AD8-7BDAD011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8641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Code repository of today’s lesson and exercises solution</a:t>
            </a:r>
          </a:p>
          <a:p>
            <a:pPr lvl="1"/>
            <a:r>
              <a:rPr lang="en-GB" dirty="0">
                <a:hlinkClick r:id="rId2"/>
              </a:rPr>
              <a:t>https://github.com/gcappon/bwthw/tree/master/lesson_08-implementing_ui</a:t>
            </a:r>
            <a:r>
              <a:rPr lang="en-GB" dirty="0"/>
              <a:t>  </a:t>
            </a:r>
          </a:p>
          <a:p>
            <a:endParaRPr lang="en-US" dirty="0"/>
          </a:p>
          <a:p>
            <a:r>
              <a:rPr lang="en-IT"/>
              <a:t>Material </a:t>
            </a:r>
            <a:r>
              <a:rPr lang="en-IT" dirty="0"/>
              <a:t>Widgets for UI </a:t>
            </a:r>
          </a:p>
          <a:p>
            <a:pPr lvl="1"/>
            <a:r>
              <a:rPr lang="en-GB" dirty="0">
                <a:hlinkClick r:id="rId3"/>
              </a:rPr>
              <a:t>https://docs.flutter.dev/development/ui/widgets/material</a:t>
            </a:r>
            <a:endParaRPr lang="en-GB" dirty="0"/>
          </a:p>
          <a:p>
            <a:pPr lvl="1"/>
            <a:endParaRPr lang="en-IT" dirty="0"/>
          </a:p>
          <a:p>
            <a:r>
              <a:rPr lang="en-IT" dirty="0"/>
              <a:t>(Some) Widget for UI Catalog </a:t>
            </a:r>
          </a:p>
          <a:p>
            <a:pPr lvl="1"/>
            <a:r>
              <a:rPr lang="en-GB" dirty="0">
                <a:hlinkClick r:id="rId4"/>
              </a:rPr>
              <a:t>https://docs.flutter.dev/development/ui/widgets</a:t>
            </a:r>
            <a:endParaRPr lang="en-GB" dirty="0"/>
          </a:p>
          <a:p>
            <a:pPr lvl="1"/>
            <a:endParaRPr lang="en-IT" dirty="0"/>
          </a:p>
          <a:p>
            <a:r>
              <a:rPr lang="en-IT" dirty="0"/>
              <a:t>F</a:t>
            </a:r>
            <a:r>
              <a:rPr lang="en-GB" dirty="0"/>
              <a:t>l</a:t>
            </a:r>
            <a:r>
              <a:rPr lang="en-IT" dirty="0"/>
              <a:t>utter Widget list</a:t>
            </a:r>
          </a:p>
          <a:p>
            <a:pPr lvl="1"/>
            <a:r>
              <a:rPr lang="en-GB" dirty="0">
                <a:hlinkClick r:id="rId5"/>
              </a:rPr>
              <a:t>https://docs.flutter.dev/reference/widgets</a:t>
            </a:r>
            <a:endParaRPr lang="en-GB" dirty="0"/>
          </a:p>
          <a:p>
            <a:pPr lvl="1"/>
            <a:endParaRPr lang="en-IT" dirty="0"/>
          </a:p>
          <a:p>
            <a:r>
              <a:rPr lang="en-IT" dirty="0"/>
              <a:t>Understanding constraints</a:t>
            </a:r>
          </a:p>
          <a:p>
            <a:pPr lvl="1"/>
            <a:r>
              <a:rPr lang="en-GB" dirty="0">
                <a:hlinkClick r:id="rId6"/>
              </a:rPr>
              <a:t>https://docs.flutter.dev/development/ui/layout/constraints</a:t>
            </a:r>
            <a:endParaRPr lang="en-IT" dirty="0"/>
          </a:p>
          <a:p>
            <a:endParaRPr lang="en-IT" dirty="0"/>
          </a:p>
          <a:p>
            <a:r>
              <a:rPr lang="en-IT" dirty="0"/>
              <a:t>Layouts in Flutter</a:t>
            </a:r>
          </a:p>
          <a:p>
            <a:pPr lvl="1"/>
            <a:r>
              <a:rPr lang="en-GB" dirty="0">
                <a:hlinkClick r:id="rId7"/>
              </a:rPr>
              <a:t>https://docs.flutter.dev/development/ui/layout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98909-7415-7B42-B6AC-1CD2CE516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10249</TotalTime>
  <Words>1767</Words>
  <Application>Microsoft Macintosh PowerPoint</Application>
  <PresentationFormat>Widescreen</PresentationFormat>
  <Paragraphs>271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Calibri</vt:lpstr>
      <vt:lpstr>Courier</vt:lpstr>
      <vt:lpstr>Courier New</vt:lpstr>
      <vt:lpstr>Menlo</vt:lpstr>
      <vt:lpstr>Times New Roman</vt:lpstr>
      <vt:lpstr>Wingdings</vt:lpstr>
      <vt:lpstr>Tema di Office</vt:lpstr>
      <vt:lpstr>Giacomo Cappon</vt:lpstr>
      <vt:lpstr>Outline</vt:lpstr>
      <vt:lpstr>Recap: Widget tree</vt:lpstr>
      <vt:lpstr>Outline</vt:lpstr>
      <vt:lpstr>Building layouts in Flutter </vt:lpstr>
      <vt:lpstr>Building layouts in Flutter </vt:lpstr>
      <vt:lpstr>Negotiating constraints, sizes, and position</vt:lpstr>
      <vt:lpstr>Limitations</vt:lpstr>
      <vt:lpstr>Outline</vt:lpstr>
      <vt:lpstr>Dive into examples</vt:lpstr>
      <vt:lpstr>Example 1</vt:lpstr>
      <vt:lpstr>Example 2</vt:lpstr>
      <vt:lpstr>Example 3</vt:lpstr>
      <vt:lpstr>Example 6</vt:lpstr>
      <vt:lpstr>Example 7</vt:lpstr>
      <vt:lpstr>Example 14</vt:lpstr>
      <vt:lpstr>Example 18</vt:lpstr>
      <vt:lpstr>Example 19</vt:lpstr>
      <vt:lpstr>Outline</vt:lpstr>
      <vt:lpstr>Exercise</vt:lpstr>
      <vt:lpstr>Exercise</vt:lpstr>
      <vt:lpstr>Exercise</vt:lpstr>
      <vt:lpstr>Outline</vt:lpstr>
      <vt:lpstr>Homework </vt:lpstr>
      <vt:lpstr>Outline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129</cp:revision>
  <dcterms:created xsi:type="dcterms:W3CDTF">2021-07-19T09:08:13Z</dcterms:created>
  <dcterms:modified xsi:type="dcterms:W3CDTF">2026-02-19T10:10:47Z</dcterms:modified>
</cp:coreProperties>
</file>