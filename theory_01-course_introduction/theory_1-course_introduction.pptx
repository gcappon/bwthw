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266" r:id="rId3"/>
    <p:sldId id="257" r:id="rId4"/>
    <p:sldId id="259" r:id="rId5"/>
    <p:sldId id="284" r:id="rId6"/>
    <p:sldId id="265" r:id="rId7"/>
    <p:sldId id="406" r:id="rId8"/>
    <p:sldId id="395" r:id="rId9"/>
    <p:sldId id="267" r:id="rId10"/>
    <p:sldId id="290" r:id="rId11"/>
    <p:sldId id="291" r:id="rId12"/>
    <p:sldId id="292" r:id="rId13"/>
    <p:sldId id="393" r:id="rId14"/>
    <p:sldId id="394" r:id="rId15"/>
    <p:sldId id="396" r:id="rId16"/>
    <p:sldId id="398" r:id="rId17"/>
    <p:sldId id="289" r:id="rId18"/>
    <p:sldId id="287" r:id="rId19"/>
    <p:sldId id="405" r:id="rId20"/>
    <p:sldId id="397" r:id="rId21"/>
    <p:sldId id="399" r:id="rId22"/>
    <p:sldId id="400" r:id="rId23"/>
    <p:sldId id="401" r:id="rId24"/>
    <p:sldId id="404" r:id="rId25"/>
    <p:sldId id="402" r:id="rId26"/>
    <p:sldId id="403" r:id="rId2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B05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ile medio 2 - Color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Stile medio 1 - Colore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68D230F3-CF80-4859-8CE7-A43EE81993B5}" styleName="Stile chiaro 1 - Colore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70" autoAdjust="0"/>
    <p:restoredTop sz="94694" autoAdjust="0"/>
  </p:normalViewPr>
  <p:slideViewPr>
    <p:cSldViewPr snapToGrid="0">
      <p:cViewPr varScale="1">
        <p:scale>
          <a:sx n="121" d="100"/>
          <a:sy n="121" d="100"/>
        </p:scale>
        <p:origin x="20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Sales</c:v>
                </c:pt>
              </c:strCache>
            </c:strRef>
          </c:tx>
          <c:spPr>
            <a:solidFill>
              <a:schemeClr val="accent1"/>
            </a:solidFill>
          </c:spPr>
          <c:dPt>
            <c:idx val="0"/>
            <c:bubble3D val="0"/>
            <c:spPr>
              <a:solidFill>
                <a:schemeClr val="accent2"/>
              </a:solidFill>
              <a:ln w="19050">
                <a:solidFill>
                  <a:schemeClr val="lt1"/>
                </a:solidFill>
              </a:ln>
              <a:effectLst/>
            </c:spPr>
            <c:extLst>
              <c:ext xmlns:c16="http://schemas.microsoft.com/office/drawing/2014/chart" uri="{C3380CC4-5D6E-409C-BE32-E72D297353CC}">
                <c16:uniqueId val="{00000002-B02A-5C43-95B1-92A12F7B9586}"/>
              </c:ext>
            </c:extLst>
          </c:dPt>
          <c:dPt>
            <c:idx val="1"/>
            <c:bubble3D val="0"/>
            <c:spPr>
              <a:solidFill>
                <a:schemeClr val="accent1"/>
              </a:solidFill>
              <a:ln w="19050">
                <a:solidFill>
                  <a:schemeClr val="lt1"/>
                </a:solidFill>
              </a:ln>
              <a:effectLst/>
            </c:spPr>
            <c:extLst>
              <c:ext xmlns:c16="http://schemas.microsoft.com/office/drawing/2014/chart" uri="{C3380CC4-5D6E-409C-BE32-E72D297353CC}">
                <c16:uniqueId val="{00000003-C38D-B34E-BB69-7C4027709352}"/>
              </c:ext>
            </c:extLst>
          </c:dPt>
          <c:dPt>
            <c:idx val="2"/>
            <c:bubble3D val="0"/>
            <c:spPr>
              <a:solidFill>
                <a:schemeClr val="accent6"/>
              </a:solidFill>
              <a:ln w="19050">
                <a:solidFill>
                  <a:schemeClr val="lt1"/>
                </a:solidFill>
              </a:ln>
              <a:effectLst/>
            </c:spPr>
            <c:extLst>
              <c:ext xmlns:c16="http://schemas.microsoft.com/office/drawing/2014/chart" uri="{C3380CC4-5D6E-409C-BE32-E72D297353CC}">
                <c16:uniqueId val="{00000003-B02A-5C43-95B1-92A12F7B9586}"/>
              </c:ext>
            </c:extLst>
          </c:dPt>
          <c:cat>
            <c:strRef>
              <c:f>Sheet1!$A$2:$A$4</c:f>
              <c:strCache>
                <c:ptCount val="3"/>
                <c:pt idx="0">
                  <c:v>Core functionalities</c:v>
                </c:pt>
                <c:pt idx="1">
                  <c:v>Additional functionalities</c:v>
                </c:pt>
                <c:pt idx="2">
                  <c:v>Quality of teamwork</c:v>
                </c:pt>
              </c:strCache>
            </c:strRef>
          </c:cat>
          <c:val>
            <c:numRef>
              <c:f>Sheet1!$B$2:$B$4</c:f>
              <c:numCache>
                <c:formatCode>General</c:formatCode>
                <c:ptCount val="3"/>
                <c:pt idx="0">
                  <c:v>40</c:v>
                </c:pt>
                <c:pt idx="1">
                  <c:v>50</c:v>
                </c:pt>
                <c:pt idx="2">
                  <c:v>10</c:v>
                </c:pt>
              </c:numCache>
            </c:numRef>
          </c:val>
          <c:extLst>
            <c:ext xmlns:c16="http://schemas.microsoft.com/office/drawing/2014/chart" uri="{C3380CC4-5D6E-409C-BE32-E72D297353CC}">
              <c16:uniqueId val="{00000000-B02A-5C43-95B1-92A12F7B9586}"/>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2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0DFD464-F8EE-42BA-9BEF-F6DE8365F087}" type="datetimeFigureOut">
              <a:rPr lang="en-GB" smtClean="0"/>
              <a:t>03/02/2026</a:t>
            </a:fld>
            <a:endParaRPr lang="en-GB"/>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Modifica gli stili del testo dello schema</a:t>
            </a:r>
          </a:p>
          <a:p>
            <a:pPr lvl="1"/>
            <a:r>
              <a:rPr lang="it-IT"/>
              <a:t>Secondo livello</a:t>
            </a:r>
          </a:p>
          <a:p>
            <a:pPr lvl="2"/>
            <a:r>
              <a:rPr lang="it-IT"/>
              <a:t>Terzo livello</a:t>
            </a:r>
          </a:p>
          <a:p>
            <a:pPr lvl="3"/>
            <a:r>
              <a:rPr lang="it-IT"/>
              <a:t>Quarto livello</a:t>
            </a:r>
          </a:p>
          <a:p>
            <a:pPr lvl="4"/>
            <a:r>
              <a:rPr lang="it-IT"/>
              <a:t>Quinto livello</a:t>
            </a:r>
            <a:endParaRPr lang="en-GB"/>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8E2716-4F7E-4141-A218-58474614BAF2}" type="slidenum">
              <a:rPr lang="en-GB" smtClean="0"/>
              <a:t>‹#›</a:t>
            </a:fld>
            <a:endParaRPr lang="en-GB"/>
          </a:p>
        </p:txBody>
      </p:sp>
    </p:spTree>
    <p:extLst>
      <p:ext uri="{BB962C8B-B14F-4D97-AF65-F5344CB8AC3E}">
        <p14:creationId xmlns:p14="http://schemas.microsoft.com/office/powerpoint/2010/main" val="10801970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338E2716-4F7E-4141-A218-58474614BAF2}" type="slidenum">
              <a:rPr lang="en-GB" smtClean="0"/>
              <a:t>1</a:t>
            </a:fld>
            <a:endParaRPr lang="en-GB"/>
          </a:p>
        </p:txBody>
      </p:sp>
    </p:spTree>
    <p:extLst>
      <p:ext uri="{BB962C8B-B14F-4D97-AF65-F5344CB8AC3E}">
        <p14:creationId xmlns:p14="http://schemas.microsoft.com/office/powerpoint/2010/main" val="23361601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5</a:t>
            </a:fld>
            <a:endParaRPr lang="en-GB"/>
          </a:p>
        </p:txBody>
      </p:sp>
    </p:spTree>
    <p:extLst>
      <p:ext uri="{BB962C8B-B14F-4D97-AF65-F5344CB8AC3E}">
        <p14:creationId xmlns:p14="http://schemas.microsoft.com/office/powerpoint/2010/main" val="2707285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6</a:t>
            </a:fld>
            <a:endParaRPr lang="en-GB"/>
          </a:p>
        </p:txBody>
      </p:sp>
    </p:spTree>
    <p:extLst>
      <p:ext uri="{BB962C8B-B14F-4D97-AF65-F5344CB8AC3E}">
        <p14:creationId xmlns:p14="http://schemas.microsoft.com/office/powerpoint/2010/main" val="23749888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en-GB" dirty="0"/>
          </a:p>
        </p:txBody>
      </p:sp>
      <p:sp>
        <p:nvSpPr>
          <p:cNvPr id="4" name="Segnaposto numero diapositiva 3"/>
          <p:cNvSpPr>
            <a:spLocks noGrp="1"/>
          </p:cNvSpPr>
          <p:nvPr>
            <p:ph type="sldNum" sz="quarter" idx="10"/>
          </p:nvPr>
        </p:nvSpPr>
        <p:spPr/>
        <p:txBody>
          <a:bodyPr/>
          <a:lstStyle/>
          <a:p>
            <a:fld id="{338E2716-4F7E-4141-A218-58474614BAF2}" type="slidenum">
              <a:rPr lang="en-GB" smtClean="0"/>
              <a:t>7</a:t>
            </a:fld>
            <a:endParaRPr lang="en-GB"/>
          </a:p>
        </p:txBody>
      </p:sp>
    </p:spTree>
    <p:extLst>
      <p:ext uri="{BB962C8B-B14F-4D97-AF65-F5344CB8AC3E}">
        <p14:creationId xmlns:p14="http://schemas.microsoft.com/office/powerpoint/2010/main" val="11399639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698E5-24F4-E52C-E436-43E5C16AE35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982F3B4-3F24-F469-9DD1-C8C0DC5A48CF}"/>
              </a:ext>
            </a:extLst>
          </p:cNvPr>
          <p:cNvSpPr>
            <a:spLocks noGrp="1" noRot="1" noChangeAspect="1"/>
          </p:cNvSpPr>
          <p:nvPr>
            <p:ph type="sldImg"/>
          </p:nvPr>
        </p:nvSpPr>
        <p:spPr/>
      </p:sp>
      <p:sp>
        <p:nvSpPr>
          <p:cNvPr id="3" name="Segnaposto note 2">
            <a:extLst>
              <a:ext uri="{FF2B5EF4-FFF2-40B4-BE49-F238E27FC236}">
                <a16:creationId xmlns:a16="http://schemas.microsoft.com/office/drawing/2014/main" id="{97446930-99A7-FD09-FDD6-41CC8FA31844}"/>
              </a:ext>
            </a:extLst>
          </p:cNvPr>
          <p:cNvSpPr>
            <a:spLocks noGrp="1"/>
          </p:cNvSpPr>
          <p:nvPr>
            <p:ph type="body" idx="1"/>
          </p:nvPr>
        </p:nvSpPr>
        <p:spPr/>
        <p:txBody>
          <a:bodyPr/>
          <a:lstStyle/>
          <a:p>
            <a:endParaRPr lang="en-GB" dirty="0"/>
          </a:p>
        </p:txBody>
      </p:sp>
      <p:sp>
        <p:nvSpPr>
          <p:cNvPr id="4" name="Segnaposto numero diapositiva 3">
            <a:extLst>
              <a:ext uri="{FF2B5EF4-FFF2-40B4-BE49-F238E27FC236}">
                <a16:creationId xmlns:a16="http://schemas.microsoft.com/office/drawing/2014/main" id="{5BE85D59-4A0C-EA8E-DFB3-FA69D2ACF6EE}"/>
              </a:ext>
            </a:extLst>
          </p:cNvPr>
          <p:cNvSpPr>
            <a:spLocks noGrp="1"/>
          </p:cNvSpPr>
          <p:nvPr>
            <p:ph type="sldNum" sz="quarter" idx="10"/>
          </p:nvPr>
        </p:nvSpPr>
        <p:spPr/>
        <p:txBody>
          <a:bodyPr/>
          <a:lstStyle/>
          <a:p>
            <a:fld id="{338E2716-4F7E-4141-A218-58474614BAF2}" type="slidenum">
              <a:rPr lang="en-GB" smtClean="0"/>
              <a:t>8</a:t>
            </a:fld>
            <a:endParaRPr lang="en-GB"/>
          </a:p>
        </p:txBody>
      </p:sp>
    </p:spTree>
    <p:extLst>
      <p:ext uri="{BB962C8B-B14F-4D97-AF65-F5344CB8AC3E}">
        <p14:creationId xmlns:p14="http://schemas.microsoft.com/office/powerpoint/2010/main" val="97414216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a:p>
        </p:txBody>
      </p:sp>
      <p:sp>
        <p:nvSpPr>
          <p:cNvPr id="4" name="Slide Number Placeholder 3"/>
          <p:cNvSpPr>
            <a:spLocks noGrp="1"/>
          </p:cNvSpPr>
          <p:nvPr>
            <p:ph type="sldNum" sz="quarter" idx="5"/>
          </p:nvPr>
        </p:nvSpPr>
        <p:spPr/>
        <p:txBody>
          <a:bodyPr/>
          <a:lstStyle/>
          <a:p>
            <a:fld id="{CC0F43FB-3F33-3F4B-9768-2FBED988F992}" type="slidenum">
              <a:rPr lang="en-IT" smtClean="0"/>
              <a:t>10</a:t>
            </a:fld>
            <a:endParaRPr lang="en-IT"/>
          </a:p>
        </p:txBody>
      </p:sp>
    </p:spTree>
    <p:extLst>
      <p:ext uri="{BB962C8B-B14F-4D97-AF65-F5344CB8AC3E}">
        <p14:creationId xmlns:p14="http://schemas.microsoft.com/office/powerpoint/2010/main" val="134813621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11</a:t>
            </a:fld>
            <a:endParaRPr lang="en-IT"/>
          </a:p>
        </p:txBody>
      </p:sp>
    </p:spTree>
    <p:extLst>
      <p:ext uri="{BB962C8B-B14F-4D97-AF65-F5344CB8AC3E}">
        <p14:creationId xmlns:p14="http://schemas.microsoft.com/office/powerpoint/2010/main" val="20779415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12</a:t>
            </a:fld>
            <a:endParaRPr lang="en-IT"/>
          </a:p>
        </p:txBody>
      </p:sp>
    </p:spTree>
    <p:extLst>
      <p:ext uri="{BB962C8B-B14F-4D97-AF65-F5344CB8AC3E}">
        <p14:creationId xmlns:p14="http://schemas.microsoft.com/office/powerpoint/2010/main" val="4781260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13</a:t>
            </a:fld>
            <a:endParaRPr lang="en-IT"/>
          </a:p>
        </p:txBody>
      </p:sp>
    </p:spTree>
    <p:extLst>
      <p:ext uri="{BB962C8B-B14F-4D97-AF65-F5344CB8AC3E}">
        <p14:creationId xmlns:p14="http://schemas.microsoft.com/office/powerpoint/2010/main" val="703622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14</a:t>
            </a:fld>
            <a:endParaRPr lang="en-IT"/>
          </a:p>
        </p:txBody>
      </p:sp>
    </p:spTree>
    <p:extLst>
      <p:ext uri="{BB962C8B-B14F-4D97-AF65-F5344CB8AC3E}">
        <p14:creationId xmlns:p14="http://schemas.microsoft.com/office/powerpoint/2010/main" val="4600351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15</a:t>
            </a:fld>
            <a:endParaRPr lang="en-IT"/>
          </a:p>
        </p:txBody>
      </p:sp>
    </p:spTree>
    <p:extLst>
      <p:ext uri="{BB962C8B-B14F-4D97-AF65-F5344CB8AC3E}">
        <p14:creationId xmlns:p14="http://schemas.microsoft.com/office/powerpoint/2010/main" val="10102933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T" dirty="0"/>
          </a:p>
        </p:txBody>
      </p:sp>
      <p:sp>
        <p:nvSpPr>
          <p:cNvPr id="4" name="Slide Number Placeholder 3"/>
          <p:cNvSpPr>
            <a:spLocks noGrp="1"/>
          </p:cNvSpPr>
          <p:nvPr>
            <p:ph type="sldNum" sz="quarter" idx="5"/>
          </p:nvPr>
        </p:nvSpPr>
        <p:spPr/>
        <p:txBody>
          <a:bodyPr/>
          <a:lstStyle/>
          <a:p>
            <a:fld id="{CC0F43FB-3F33-3F4B-9768-2FBED988F992}" type="slidenum">
              <a:rPr lang="en-IT" smtClean="0"/>
              <a:t>16</a:t>
            </a:fld>
            <a:endParaRPr lang="en-IT"/>
          </a:p>
        </p:txBody>
      </p:sp>
    </p:spTree>
    <p:extLst>
      <p:ext uri="{BB962C8B-B14F-4D97-AF65-F5344CB8AC3E}">
        <p14:creationId xmlns:p14="http://schemas.microsoft.com/office/powerpoint/2010/main" val="8217165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3D290F-E0D5-C8C5-12F0-09B51033F7D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38ECD0-8E53-F0CF-BEC0-DD7B6B162E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E8FD3-3AB9-EE2A-1FCA-B73DC835FB47}"/>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11FC2EA6-89B3-3D42-DF7D-42CB518FBC5C}"/>
              </a:ext>
            </a:extLst>
          </p:cNvPr>
          <p:cNvSpPr>
            <a:spLocks noGrp="1"/>
          </p:cNvSpPr>
          <p:nvPr>
            <p:ph type="sldNum" sz="quarter" idx="5"/>
          </p:nvPr>
        </p:nvSpPr>
        <p:spPr/>
        <p:txBody>
          <a:bodyPr/>
          <a:lstStyle/>
          <a:p>
            <a:fld id="{CC0F43FB-3F33-3F4B-9768-2FBED988F992}" type="slidenum">
              <a:rPr lang="en-IT" smtClean="0"/>
              <a:t>20</a:t>
            </a:fld>
            <a:endParaRPr lang="en-IT"/>
          </a:p>
        </p:txBody>
      </p:sp>
    </p:spTree>
    <p:extLst>
      <p:ext uri="{BB962C8B-B14F-4D97-AF65-F5344CB8AC3E}">
        <p14:creationId xmlns:p14="http://schemas.microsoft.com/office/powerpoint/2010/main" val="262635056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5345-7E91-77FE-9197-53232FC5EA9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23601C-43A2-A6B9-E888-8098B706F9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FD758EC-9C2A-5E0B-EC62-2A02839271B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5BB0AF41-181E-05A7-E073-D08E9A3082DB}"/>
              </a:ext>
            </a:extLst>
          </p:cNvPr>
          <p:cNvSpPr>
            <a:spLocks noGrp="1"/>
          </p:cNvSpPr>
          <p:nvPr>
            <p:ph type="sldNum" sz="quarter" idx="5"/>
          </p:nvPr>
        </p:nvSpPr>
        <p:spPr/>
        <p:txBody>
          <a:bodyPr/>
          <a:lstStyle/>
          <a:p>
            <a:fld id="{CC0F43FB-3F33-3F4B-9768-2FBED988F992}" type="slidenum">
              <a:rPr lang="en-IT" smtClean="0"/>
              <a:t>21</a:t>
            </a:fld>
            <a:endParaRPr lang="en-IT"/>
          </a:p>
        </p:txBody>
      </p:sp>
    </p:spTree>
    <p:extLst>
      <p:ext uri="{BB962C8B-B14F-4D97-AF65-F5344CB8AC3E}">
        <p14:creationId xmlns:p14="http://schemas.microsoft.com/office/powerpoint/2010/main" val="117140697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93903-7D18-6BD9-8E53-79E4BF5EF14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2CFC42F-690D-B2D7-7FC9-A10EF92B0B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048C0E-26DC-87A1-72D4-7D7E45DBEA2F}"/>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BF35FC7-0A10-8E04-0B79-54752B92DEDC}"/>
              </a:ext>
            </a:extLst>
          </p:cNvPr>
          <p:cNvSpPr>
            <a:spLocks noGrp="1"/>
          </p:cNvSpPr>
          <p:nvPr>
            <p:ph type="sldNum" sz="quarter" idx="5"/>
          </p:nvPr>
        </p:nvSpPr>
        <p:spPr/>
        <p:txBody>
          <a:bodyPr/>
          <a:lstStyle/>
          <a:p>
            <a:fld id="{CC0F43FB-3F33-3F4B-9768-2FBED988F992}" type="slidenum">
              <a:rPr lang="en-IT" smtClean="0"/>
              <a:t>22</a:t>
            </a:fld>
            <a:endParaRPr lang="en-IT"/>
          </a:p>
        </p:txBody>
      </p:sp>
    </p:spTree>
    <p:extLst>
      <p:ext uri="{BB962C8B-B14F-4D97-AF65-F5344CB8AC3E}">
        <p14:creationId xmlns:p14="http://schemas.microsoft.com/office/powerpoint/2010/main" val="133728606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C88884-7ADD-DBC7-B350-C09278DFC7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BA5DDB8-7F15-D492-471C-88B537E84E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882E5DD-70CC-D286-D1E2-9DC6C048E040}"/>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A8C55378-102A-C9E4-C484-869023C38904}"/>
              </a:ext>
            </a:extLst>
          </p:cNvPr>
          <p:cNvSpPr>
            <a:spLocks noGrp="1"/>
          </p:cNvSpPr>
          <p:nvPr>
            <p:ph type="sldNum" sz="quarter" idx="5"/>
          </p:nvPr>
        </p:nvSpPr>
        <p:spPr/>
        <p:txBody>
          <a:bodyPr/>
          <a:lstStyle/>
          <a:p>
            <a:fld id="{CC0F43FB-3F33-3F4B-9768-2FBED988F992}" type="slidenum">
              <a:rPr lang="en-IT" smtClean="0"/>
              <a:t>23</a:t>
            </a:fld>
            <a:endParaRPr lang="en-IT"/>
          </a:p>
        </p:txBody>
      </p:sp>
    </p:spTree>
    <p:extLst>
      <p:ext uri="{BB962C8B-B14F-4D97-AF65-F5344CB8AC3E}">
        <p14:creationId xmlns:p14="http://schemas.microsoft.com/office/powerpoint/2010/main" val="22119426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1D667-B35D-6CBB-3622-4D3256CC08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3F66AEB-122F-FD47-9C0E-B3212E0613D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609BA5-E836-BBEE-2AF3-430D720A9442}"/>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0ABF371C-CDE0-CDF2-C0C1-C317792AADE5}"/>
              </a:ext>
            </a:extLst>
          </p:cNvPr>
          <p:cNvSpPr>
            <a:spLocks noGrp="1"/>
          </p:cNvSpPr>
          <p:nvPr>
            <p:ph type="sldNum" sz="quarter" idx="5"/>
          </p:nvPr>
        </p:nvSpPr>
        <p:spPr/>
        <p:txBody>
          <a:bodyPr/>
          <a:lstStyle/>
          <a:p>
            <a:fld id="{CC0F43FB-3F33-3F4B-9768-2FBED988F992}" type="slidenum">
              <a:rPr lang="en-IT" smtClean="0"/>
              <a:t>24</a:t>
            </a:fld>
            <a:endParaRPr lang="en-IT"/>
          </a:p>
        </p:txBody>
      </p:sp>
    </p:spTree>
    <p:extLst>
      <p:ext uri="{BB962C8B-B14F-4D97-AF65-F5344CB8AC3E}">
        <p14:creationId xmlns:p14="http://schemas.microsoft.com/office/powerpoint/2010/main" val="3113362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FA7186-9461-2346-CAA0-51B4A181CFB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7B467F3-563E-48F5-EF54-5D1B68F6D0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72B57A-DA96-0C67-B460-A3AEE23F8D91}"/>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45E6C819-7AC6-8714-3926-7A7189BEC3D4}"/>
              </a:ext>
            </a:extLst>
          </p:cNvPr>
          <p:cNvSpPr>
            <a:spLocks noGrp="1"/>
          </p:cNvSpPr>
          <p:nvPr>
            <p:ph type="sldNum" sz="quarter" idx="5"/>
          </p:nvPr>
        </p:nvSpPr>
        <p:spPr/>
        <p:txBody>
          <a:bodyPr/>
          <a:lstStyle/>
          <a:p>
            <a:fld id="{CC0F43FB-3F33-3F4B-9768-2FBED988F992}" type="slidenum">
              <a:rPr lang="en-IT" smtClean="0"/>
              <a:t>25</a:t>
            </a:fld>
            <a:endParaRPr lang="en-IT"/>
          </a:p>
        </p:txBody>
      </p:sp>
    </p:spTree>
    <p:extLst>
      <p:ext uri="{BB962C8B-B14F-4D97-AF65-F5344CB8AC3E}">
        <p14:creationId xmlns:p14="http://schemas.microsoft.com/office/powerpoint/2010/main" val="28109566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96D162-6DE4-C594-A1D9-43E680A917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618D1-FA34-850D-D737-00CE92CCBA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49D2DA9-693C-31FB-F555-69264F1F1794}"/>
              </a:ext>
            </a:extLst>
          </p:cNvPr>
          <p:cNvSpPr>
            <a:spLocks noGrp="1"/>
          </p:cNvSpPr>
          <p:nvPr>
            <p:ph type="body" idx="1"/>
          </p:nvPr>
        </p:nvSpPr>
        <p:spPr/>
        <p:txBody>
          <a:bodyPr/>
          <a:lstStyle/>
          <a:p>
            <a:endParaRPr lang="en-IT" dirty="0"/>
          </a:p>
        </p:txBody>
      </p:sp>
      <p:sp>
        <p:nvSpPr>
          <p:cNvPr id="4" name="Slide Number Placeholder 3">
            <a:extLst>
              <a:ext uri="{FF2B5EF4-FFF2-40B4-BE49-F238E27FC236}">
                <a16:creationId xmlns:a16="http://schemas.microsoft.com/office/drawing/2014/main" id="{9160BCB5-D64C-C8D4-4D7C-BD62331D017B}"/>
              </a:ext>
            </a:extLst>
          </p:cNvPr>
          <p:cNvSpPr>
            <a:spLocks noGrp="1"/>
          </p:cNvSpPr>
          <p:nvPr>
            <p:ph type="sldNum" sz="quarter" idx="5"/>
          </p:nvPr>
        </p:nvSpPr>
        <p:spPr/>
        <p:txBody>
          <a:bodyPr/>
          <a:lstStyle/>
          <a:p>
            <a:fld id="{CC0F43FB-3F33-3F4B-9768-2FBED988F992}" type="slidenum">
              <a:rPr lang="en-IT" smtClean="0"/>
              <a:t>26</a:t>
            </a:fld>
            <a:endParaRPr lang="en-IT"/>
          </a:p>
        </p:txBody>
      </p:sp>
    </p:spTree>
    <p:extLst>
      <p:ext uri="{BB962C8B-B14F-4D97-AF65-F5344CB8AC3E}">
        <p14:creationId xmlns:p14="http://schemas.microsoft.com/office/powerpoint/2010/main" val="7972573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Master" Target="../slideMasters/slideMaster1.xml"/><Relationship Id="rId5" Type="http://schemas.microsoft.com/office/2007/relationships/hdphoto" Target="../media/hdphoto2.wdp"/><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idx="1"/>
          </p:nvPr>
        </p:nvSpPr>
        <p:spPr>
          <a:xfrm>
            <a:off x="428172" y="1361167"/>
            <a:ext cx="11368314" cy="4858203"/>
          </a:xfrm>
        </p:spPr>
        <p:txBody>
          <a:bodyPr/>
          <a:lstStyle>
            <a:lvl5pPr>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a:p>
            <a:pPr lvl="4"/>
            <a:endParaRPr lang="en-GB" noProof="0" dirty="0"/>
          </a:p>
        </p:txBody>
      </p:sp>
      <p:sp>
        <p:nvSpPr>
          <p:cNvPr id="6" name="Segnaposto numero diapositiva 5"/>
          <p:cNvSpPr>
            <a:spLocks noGrp="1"/>
          </p:cNvSpPr>
          <p:nvPr>
            <p:ph type="sldNum" sz="quarter" idx="12"/>
          </p:nvPr>
        </p:nvSpPr>
        <p:spPr/>
        <p:txBody>
          <a:bodyPr/>
          <a:lstStyle/>
          <a:p>
            <a:fld id="{31DE2C5B-556E-47B8-A792-024C2FCA4ACC}" type="slidenum">
              <a:rPr lang="en-GB" smtClean="0"/>
              <a:t>‹#›</a:t>
            </a:fld>
            <a:endParaRPr lang="en-GB"/>
          </a:p>
        </p:txBody>
      </p:sp>
      <p:sp>
        <p:nvSpPr>
          <p:cNvPr id="7" name="Rettangolo arrotondato 6"/>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40383871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860243"/>
          </a:xfrm>
        </p:spPr>
        <p:txBody>
          <a:bodyPr/>
          <a:lstStyle>
            <a:lvl1pPr>
              <a:defRPr>
                <a:latin typeface="Aptos" panose="020B0004020202020204" pitchFamily="34" charset="0"/>
              </a:defRPr>
            </a:lvl1p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contenuto 2"/>
          <p:cNvSpPr>
            <a:spLocks noGrp="1"/>
          </p:cNvSpPr>
          <p:nvPr>
            <p:ph sz="half" idx="1"/>
          </p:nvPr>
        </p:nvSpPr>
        <p:spPr>
          <a:xfrm>
            <a:off x="428172" y="1364343"/>
            <a:ext cx="5591628"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4" name="Segnaposto contenuto 3"/>
          <p:cNvSpPr>
            <a:spLocks noGrp="1"/>
          </p:cNvSpPr>
          <p:nvPr>
            <p:ph sz="half" idx="2"/>
          </p:nvPr>
        </p:nvSpPr>
        <p:spPr>
          <a:xfrm>
            <a:off x="6172200" y="1364343"/>
            <a:ext cx="5624286" cy="4812620"/>
          </a:xfr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7" name="Segnaposto numero diapositiva 6"/>
          <p:cNvSpPr>
            <a:spLocks noGrp="1"/>
          </p:cNvSpPr>
          <p:nvPr>
            <p:ph type="sldNum" sz="quarter" idx="12"/>
          </p:nvPr>
        </p:nvSpPr>
        <p:spPr/>
        <p:txBody>
          <a:bodyPr/>
          <a:lstStyle>
            <a:lvl1pPr>
              <a:defRPr>
                <a:latin typeface="Aptos" panose="020B0004020202020204" pitchFamily="34" charset="0"/>
              </a:defRPr>
            </a:lvl1pPr>
          </a:lstStyle>
          <a:p>
            <a:fld id="{31DE2C5B-556E-47B8-A792-024C2FCA4ACC}" type="slidenum">
              <a:rPr lang="en-GB" smtClean="0"/>
              <a:pPr/>
              <a:t>‹#›</a:t>
            </a:fld>
            <a:endParaRPr lang="en-GB"/>
          </a:p>
        </p:txBody>
      </p:sp>
      <p:sp>
        <p:nvSpPr>
          <p:cNvPr id="8" name="Rettangolo arrotondato 7"/>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Tree>
    <p:extLst>
      <p:ext uri="{BB962C8B-B14F-4D97-AF65-F5344CB8AC3E}">
        <p14:creationId xmlns:p14="http://schemas.microsoft.com/office/powerpoint/2010/main" val="57594814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a titolo">
    <p:spTree>
      <p:nvGrpSpPr>
        <p:cNvPr id="1" name=""/>
        <p:cNvGrpSpPr/>
        <p:nvPr/>
      </p:nvGrpSpPr>
      <p:grpSpPr>
        <a:xfrm>
          <a:off x="0" y="0"/>
          <a:ext cx="0" cy="0"/>
          <a:chOff x="0" y="0"/>
          <a:chExt cx="0" cy="0"/>
        </a:xfrm>
      </p:grpSpPr>
      <p:sp>
        <p:nvSpPr>
          <p:cNvPr id="3" name="Sottotitolo 2"/>
          <p:cNvSpPr>
            <a:spLocks noGrp="1"/>
          </p:cNvSpPr>
          <p:nvPr>
            <p:ph type="subTitle" idx="1"/>
          </p:nvPr>
        </p:nvSpPr>
        <p:spPr>
          <a:xfrm>
            <a:off x="1426028" y="2355399"/>
            <a:ext cx="9456058" cy="1570716"/>
          </a:xfrm>
        </p:spPr>
        <p:txBody>
          <a:bodyPr anchor="ctr">
            <a:noAutofit/>
          </a:bodyPr>
          <a:lstStyle>
            <a:lvl1pPr marL="0" indent="0" algn="ctr">
              <a:buNone/>
              <a:defRPr sz="4800" b="1">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lang="it-IT" dirty="0"/>
          </a:p>
        </p:txBody>
      </p:sp>
      <p:sp>
        <p:nvSpPr>
          <p:cNvPr id="7" name="Rettangolo arrotondato 6"/>
          <p:cNvSpPr/>
          <p:nvPr userDrawn="1"/>
        </p:nvSpPr>
        <p:spPr>
          <a:xfrm>
            <a:off x="2997200" y="855254"/>
            <a:ext cx="6125029"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8" name="Rettangolo arrotondato 7"/>
          <p:cNvSpPr/>
          <p:nvPr userDrawn="1"/>
        </p:nvSpPr>
        <p:spPr>
          <a:xfrm>
            <a:off x="1426028" y="4152532"/>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Titolo 1"/>
          <p:cNvSpPr txBox="1">
            <a:spLocks/>
          </p:cNvSpPr>
          <p:nvPr userDrawn="1"/>
        </p:nvSpPr>
        <p:spPr>
          <a:xfrm>
            <a:off x="460370" y="1155224"/>
            <a:ext cx="10926088" cy="945923"/>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r>
              <a:rPr lang="it-IT" sz="2800" b="0" dirty="0" err="1">
                <a:latin typeface="Aptos" panose="020B0004020202020204" pitchFamily="34" charset="0"/>
              </a:rPr>
              <a:t>Biomedical</a:t>
            </a:r>
            <a:r>
              <a:rPr lang="it-IT" sz="2800" b="0" dirty="0">
                <a:latin typeface="Aptos" panose="020B0004020202020204" pitchFamily="34" charset="0"/>
              </a:rPr>
              <a:t> </a:t>
            </a:r>
            <a:r>
              <a:rPr lang="it-IT" sz="2800" b="0" dirty="0" err="1">
                <a:latin typeface="Aptos" panose="020B0004020202020204" pitchFamily="34" charset="0"/>
              </a:rPr>
              <a:t>Wearable</a:t>
            </a:r>
            <a:r>
              <a:rPr lang="it-IT" sz="2800" b="0" dirty="0">
                <a:latin typeface="Aptos" panose="020B0004020202020204" pitchFamily="34" charset="0"/>
              </a:rPr>
              <a:t> Technologies </a:t>
            </a:r>
          </a:p>
          <a:p>
            <a:r>
              <a:rPr lang="it-IT" sz="2800" b="0" dirty="0">
                <a:latin typeface="Aptos" panose="020B0004020202020204" pitchFamily="34" charset="0"/>
              </a:rPr>
              <a:t>for Healthcare and </a:t>
            </a:r>
            <a:r>
              <a:rPr lang="it-IT" sz="2800" b="0" dirty="0" err="1">
                <a:latin typeface="Aptos" panose="020B0004020202020204" pitchFamily="34" charset="0"/>
              </a:rPr>
              <a:t>Wellbeing</a:t>
            </a:r>
            <a:r>
              <a:rPr lang="it-IT" sz="2800" b="0" dirty="0">
                <a:latin typeface="Aptos" panose="020B0004020202020204" pitchFamily="34" charset="0"/>
              </a:rPr>
              <a:t>  </a:t>
            </a:r>
            <a:endParaRPr lang="en-GB" sz="2800" b="0" dirty="0">
              <a:latin typeface="Aptos" panose="020B0004020202020204" pitchFamily="34" charset="0"/>
            </a:endParaRPr>
          </a:p>
        </p:txBody>
      </p:sp>
      <p:sp>
        <p:nvSpPr>
          <p:cNvPr id="10" name="Titolo 1"/>
          <p:cNvSpPr txBox="1">
            <a:spLocks/>
          </p:cNvSpPr>
          <p:nvPr userDrawn="1"/>
        </p:nvSpPr>
        <p:spPr>
          <a:xfrm>
            <a:off x="1426028" y="4424669"/>
            <a:ext cx="9456058" cy="1005024"/>
          </a:xfrm>
          <a:prstGeom prst="rect">
            <a:avLst/>
          </a:prstGeom>
        </p:spPr>
        <p:txBody>
          <a:bodyPr vert="horz" lIns="91440" tIns="45720" rIns="91440" bIns="45720" rtlCol="0" anchor="ctr">
            <a:noAutofit/>
          </a:bodyPr>
          <a:lstStyle>
            <a:lvl1pPr algn="ctr" defTabSz="914400" rtl="0" eaLnBrk="1" latinLnBrk="0" hangingPunct="1">
              <a:lnSpc>
                <a:spcPct val="90000"/>
              </a:lnSpc>
              <a:spcBef>
                <a:spcPct val="0"/>
              </a:spcBef>
              <a:buNone/>
              <a:defRPr sz="2000" kern="1200" baseline="0">
                <a:solidFill>
                  <a:schemeClr val="tx1"/>
                </a:solidFill>
                <a:latin typeface="Palatino Linotype" panose="02040502050505030304" pitchFamily="18" charset="0"/>
                <a:ea typeface="+mj-ea"/>
                <a:cs typeface="+mj-cs"/>
              </a:defRPr>
            </a:lvl1pPr>
          </a:lstStyle>
          <a:p>
            <a:pPr>
              <a:spcAft>
                <a:spcPts val="600"/>
              </a:spcAft>
            </a:pPr>
            <a:r>
              <a:rPr lang="it-IT" sz="2800" dirty="0">
                <a:latin typeface="Aptos" panose="020B0004020202020204" pitchFamily="34" charset="0"/>
              </a:rPr>
              <a:t>A.Y. 2025-2026</a:t>
            </a:r>
          </a:p>
          <a:p>
            <a:pPr>
              <a:spcAft>
                <a:spcPts val="600"/>
              </a:spcAft>
            </a:pPr>
            <a:r>
              <a:rPr lang="it-IT" sz="2800" dirty="0">
                <a:latin typeface="Aptos" panose="020B0004020202020204" pitchFamily="34" charset="0"/>
              </a:rPr>
              <a:t>Giacomo Cappon</a:t>
            </a:r>
            <a:endParaRPr lang="en-GB" sz="2800" dirty="0">
              <a:latin typeface="Aptos" panose="020B0004020202020204" pitchFamily="34" charset="0"/>
            </a:endParaRPr>
          </a:p>
        </p:txBody>
      </p:sp>
      <p:sp>
        <p:nvSpPr>
          <p:cNvPr id="14" name="CasellaDiTesto 13"/>
          <p:cNvSpPr txBox="1"/>
          <p:nvPr userDrawn="1"/>
        </p:nvSpPr>
        <p:spPr>
          <a:xfrm>
            <a:off x="2997200" y="133745"/>
            <a:ext cx="6125030" cy="707886"/>
          </a:xfrm>
          <a:prstGeom prst="rect">
            <a:avLst/>
          </a:prstGeom>
          <a:noFill/>
        </p:spPr>
        <p:txBody>
          <a:bodyPr wrap="square" rtlCol="0">
            <a:spAutoFit/>
          </a:bodyPr>
          <a:lstStyle/>
          <a:p>
            <a:pPr algn="ct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University</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Padova</a:t>
            </a:r>
            <a:b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b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Department</a:t>
            </a:r>
            <a:r>
              <a:rPr kumimoji="0" lang="it-IT" sz="2000" b="0" i="0" u="none" strike="noStrike" kern="1200" cap="small" spc="0" normalizeH="0" baseline="0" noProof="0" dirty="0">
                <a:ln>
                  <a:noFill/>
                </a:ln>
                <a:solidFill>
                  <a:prstClr val="black"/>
                </a:solidFill>
                <a:effectLst/>
                <a:uLnTx/>
                <a:uFillTx/>
                <a:latin typeface="Aptos" panose="020B0004020202020204" pitchFamily="34" charset="0"/>
                <a:ea typeface="+mj-ea"/>
                <a:cs typeface="+mj-cs"/>
              </a:rPr>
              <a:t> of Information </a:t>
            </a:r>
            <a:r>
              <a:rPr kumimoji="0" lang="it-IT" sz="2000" b="0" i="0" u="none" strike="noStrike" kern="1200" cap="small" spc="0" normalizeH="0" baseline="0" noProof="0" dirty="0" err="1">
                <a:ln>
                  <a:noFill/>
                </a:ln>
                <a:solidFill>
                  <a:prstClr val="black"/>
                </a:solidFill>
                <a:effectLst/>
                <a:uLnTx/>
                <a:uFillTx/>
                <a:latin typeface="Aptos" panose="020B0004020202020204" pitchFamily="34" charset="0"/>
                <a:ea typeface="+mj-ea"/>
                <a:cs typeface="+mj-cs"/>
              </a:rPr>
              <a:t>Engineering</a:t>
            </a:r>
            <a:endParaRPr lang="en-GB" sz="1100" cap="small" baseline="0" dirty="0">
              <a:latin typeface="Aptos" panose="020B0004020202020204" pitchFamily="34" charset="0"/>
            </a:endParaRPr>
          </a:p>
        </p:txBody>
      </p:sp>
      <p:pic>
        <p:nvPicPr>
          <p:cNvPr id="15" name="Immagine 14"/>
          <p:cNvPicPr>
            <a:picLocks noChangeAspect="1"/>
          </p:cNvPicPr>
          <p:nvPr userDrawn="1"/>
        </p:nvPicPr>
        <p:blipFill>
          <a:blip r:embed="rId2" cstate="print">
            <a:extLst>
              <a:ext uri="{BEBA8EAE-BF5A-486C-A8C5-ECC9F3942E4B}">
                <a14:imgProps xmlns:a14="http://schemas.microsoft.com/office/drawing/2010/main">
                  <a14:imgLayer r:embed="rId3">
                    <a14:imgEffect>
                      <a14:artisticChalkSketch/>
                    </a14:imgEffect>
                  </a14:imgLayer>
                </a14:imgProps>
              </a:ext>
              <a:ext uri="{28A0092B-C50C-407E-A947-70E740481C1C}">
                <a14:useLocalDpi xmlns:a14="http://schemas.microsoft.com/office/drawing/2010/main" val="0"/>
              </a:ext>
            </a:extLst>
          </a:blip>
          <a:stretch>
            <a:fillRect/>
          </a:stretch>
        </p:blipFill>
        <p:spPr>
          <a:xfrm>
            <a:off x="460370" y="5094383"/>
            <a:ext cx="1648258" cy="1648258"/>
          </a:xfrm>
          <a:prstGeom prst="rect">
            <a:avLst/>
          </a:prstGeom>
        </p:spPr>
      </p:pic>
      <p:pic>
        <p:nvPicPr>
          <p:cNvPr id="16" name="Immagine 15"/>
          <p:cNvPicPr>
            <a:picLocks noChangeAspect="1"/>
          </p:cNvPicPr>
          <p:nvPr userDrawn="1"/>
        </p:nvPicPr>
        <p:blipFill>
          <a:blip r:embed="rId4">
            <a:extLst>
              <a:ext uri="{BEBA8EAE-BF5A-486C-A8C5-ECC9F3942E4B}">
                <a14:imgProps xmlns:a14="http://schemas.microsoft.com/office/drawing/2010/main">
                  <a14:imgLayer r:embed="rId5">
                    <a14:imgEffect>
                      <a14:saturation sat="0"/>
                    </a14:imgEffect>
                  </a14:imgLayer>
                </a14:imgProps>
              </a:ext>
              <a:ext uri="{28A0092B-C50C-407E-A947-70E740481C1C}">
                <a14:useLocalDpi xmlns:a14="http://schemas.microsoft.com/office/drawing/2010/main" val="0"/>
              </a:ext>
            </a:extLst>
          </a:blip>
          <a:stretch>
            <a:fillRect/>
          </a:stretch>
        </p:blipFill>
        <p:spPr>
          <a:xfrm>
            <a:off x="9735946" y="5094383"/>
            <a:ext cx="2153135" cy="1399538"/>
          </a:xfrm>
          <a:prstGeom prst="rect">
            <a:avLst/>
          </a:prstGeom>
        </p:spPr>
      </p:pic>
    </p:spTree>
    <p:extLst>
      <p:ext uri="{BB962C8B-B14F-4D97-AF65-F5344CB8AC3E}">
        <p14:creationId xmlns:p14="http://schemas.microsoft.com/office/powerpoint/2010/main" val="2551399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p:cNvSpPr>
            <a:spLocks noGrp="1"/>
          </p:cNvSpPr>
          <p:nvPr>
            <p:ph type="title"/>
          </p:nvPr>
        </p:nvSpPr>
        <p:spPr>
          <a:xfrm>
            <a:off x="428172" y="161926"/>
            <a:ext cx="11368314" cy="905962"/>
          </a:xfrm>
        </p:spPr>
        <p:txBody>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5" name="Segnaposto numero diapositiva 4"/>
          <p:cNvSpPr>
            <a:spLocks noGrp="1"/>
          </p:cNvSpPr>
          <p:nvPr>
            <p:ph type="sldNum" sz="quarter" idx="12"/>
          </p:nvPr>
        </p:nvSpPr>
        <p:spPr/>
        <p:txBody>
          <a:bodyPr/>
          <a:lstStyle/>
          <a:p>
            <a:fld id="{31DE2C5B-556E-47B8-A792-024C2FCA4ACC}" type="slidenum">
              <a:rPr lang="en-GB" smtClean="0"/>
              <a:t>‹#›</a:t>
            </a:fld>
            <a:endParaRPr lang="en-GB"/>
          </a:p>
        </p:txBody>
      </p:sp>
      <p:sp>
        <p:nvSpPr>
          <p:cNvPr id="6" name="Rettangolo arrotondato 5"/>
          <p:cNvSpPr/>
          <p:nvPr userDrawn="1"/>
        </p:nvSpPr>
        <p:spPr>
          <a:xfrm>
            <a:off x="1393371" y="1022169"/>
            <a:ext cx="9456058" cy="45719"/>
          </a:xfrm>
          <a:prstGeom prst="roundRect">
            <a:avLst>
              <a:gd name="adj" fmla="val 26104"/>
            </a:avLst>
          </a:prstGeom>
          <a:solidFill>
            <a:srgbClr val="00B050"/>
          </a:solid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22006527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p:cNvSpPr>
            <a:spLocks noGrp="1"/>
          </p:cNvSpPr>
          <p:nvPr>
            <p:ph type="title"/>
          </p:nvPr>
        </p:nvSpPr>
        <p:spPr>
          <a:xfrm>
            <a:off x="428172" y="161926"/>
            <a:ext cx="11368314" cy="919388"/>
          </a:xfrm>
          <a:prstGeom prst="rect">
            <a:avLst/>
          </a:prstGeom>
        </p:spPr>
        <p:txBody>
          <a:bodyPr vert="horz" lIns="91440" tIns="45720" rIns="91440" bIns="45720" rtlCol="0" anchor="ctr">
            <a:normAutofit/>
          </a:bodyPr>
          <a:lstStyle/>
          <a:p>
            <a:r>
              <a:rPr lang="en-GB" noProof="0" dirty="0"/>
              <a:t>Fare </a:t>
            </a:r>
            <a:r>
              <a:rPr lang="en-GB" noProof="0" dirty="0" err="1"/>
              <a:t>clic</a:t>
            </a:r>
            <a:r>
              <a:rPr lang="en-GB" noProof="0" dirty="0"/>
              <a:t> per </a:t>
            </a:r>
            <a:r>
              <a:rPr lang="en-GB" noProof="0" dirty="0" err="1"/>
              <a:t>modificare</a:t>
            </a:r>
            <a:r>
              <a:rPr lang="en-GB" noProof="0" dirty="0"/>
              <a:t> lo stile del </a:t>
            </a:r>
            <a:r>
              <a:rPr lang="en-GB" noProof="0" dirty="0" err="1"/>
              <a:t>titolo</a:t>
            </a:r>
            <a:endParaRPr lang="en-GB" noProof="0" dirty="0"/>
          </a:p>
        </p:txBody>
      </p:sp>
      <p:sp>
        <p:nvSpPr>
          <p:cNvPr id="3" name="Segnaposto testo 2"/>
          <p:cNvSpPr>
            <a:spLocks noGrp="1"/>
          </p:cNvSpPr>
          <p:nvPr>
            <p:ph type="body" idx="1"/>
          </p:nvPr>
        </p:nvSpPr>
        <p:spPr>
          <a:xfrm>
            <a:off x="428172" y="1375682"/>
            <a:ext cx="11368314" cy="4821918"/>
          </a:xfrm>
          <a:prstGeom prst="rect">
            <a:avLst/>
          </a:prstGeom>
        </p:spPr>
        <p:txBody>
          <a:bodyPr vert="horz" lIns="91440" tIns="45720" rIns="91440" bIns="45720" rtlCol="0">
            <a:normAutofit/>
          </a:bodyPr>
          <a:lstStyle/>
          <a:p>
            <a:pPr lvl="0"/>
            <a:r>
              <a:rPr lang="en-GB" noProof="0" dirty="0" err="1"/>
              <a:t>Modifica</a:t>
            </a:r>
            <a:r>
              <a:rPr lang="en-GB" noProof="0" dirty="0"/>
              <a:t> </a:t>
            </a:r>
            <a:r>
              <a:rPr lang="en-GB" noProof="0" dirty="0" err="1"/>
              <a:t>gli</a:t>
            </a:r>
            <a:r>
              <a:rPr lang="en-GB" noProof="0" dirty="0"/>
              <a:t> </a:t>
            </a:r>
            <a:r>
              <a:rPr lang="en-GB" noProof="0" dirty="0" err="1"/>
              <a:t>stili</a:t>
            </a:r>
            <a:r>
              <a:rPr lang="en-GB" noProof="0" dirty="0"/>
              <a:t> del </a:t>
            </a:r>
            <a:r>
              <a:rPr lang="en-GB" noProof="0" dirty="0" err="1"/>
              <a:t>testo</a:t>
            </a:r>
            <a:r>
              <a:rPr lang="en-GB" noProof="0" dirty="0"/>
              <a:t> </a:t>
            </a:r>
            <a:r>
              <a:rPr lang="en-GB" noProof="0" dirty="0" err="1"/>
              <a:t>dello</a:t>
            </a:r>
            <a:r>
              <a:rPr lang="en-GB" noProof="0" dirty="0"/>
              <a:t> schema</a:t>
            </a:r>
          </a:p>
          <a:p>
            <a:pPr lvl="1"/>
            <a:r>
              <a:rPr lang="en-GB" noProof="0" dirty="0"/>
              <a:t>Secondo </a:t>
            </a:r>
            <a:r>
              <a:rPr lang="en-GB" noProof="0" dirty="0" err="1"/>
              <a:t>livello</a:t>
            </a:r>
            <a:endParaRPr lang="en-GB" noProof="0" dirty="0"/>
          </a:p>
          <a:p>
            <a:pPr lvl="2"/>
            <a:r>
              <a:rPr lang="en-GB" noProof="0" dirty="0" err="1"/>
              <a:t>Terzo</a:t>
            </a:r>
            <a:r>
              <a:rPr lang="en-GB" noProof="0" dirty="0"/>
              <a:t> </a:t>
            </a:r>
            <a:r>
              <a:rPr lang="en-GB" noProof="0" dirty="0" err="1"/>
              <a:t>livello</a:t>
            </a:r>
            <a:endParaRPr lang="en-GB" noProof="0" dirty="0"/>
          </a:p>
          <a:p>
            <a:pPr lvl="3"/>
            <a:r>
              <a:rPr lang="en-GB" noProof="0" dirty="0"/>
              <a:t>Quarto </a:t>
            </a:r>
            <a:r>
              <a:rPr lang="en-GB" noProof="0" dirty="0" err="1"/>
              <a:t>livello</a:t>
            </a:r>
            <a:endParaRPr lang="en-GB" noProof="0" dirty="0"/>
          </a:p>
          <a:p>
            <a:pPr lvl="4"/>
            <a:r>
              <a:rPr lang="en-GB" noProof="0" dirty="0"/>
              <a:t>Quinto </a:t>
            </a:r>
            <a:r>
              <a:rPr lang="en-GB" noProof="0" dirty="0" err="1"/>
              <a:t>livello</a:t>
            </a:r>
            <a:endParaRPr lang="en-GB" noProof="0" dirty="0"/>
          </a:p>
        </p:txBody>
      </p:sp>
      <p:sp>
        <p:nvSpPr>
          <p:cNvPr id="6" name="Segnaposto numero diapositiva 5"/>
          <p:cNvSpPr>
            <a:spLocks noGrp="1"/>
          </p:cNvSpPr>
          <p:nvPr>
            <p:ph type="sldNum" sz="quarter" idx="4"/>
          </p:nvPr>
        </p:nvSpPr>
        <p:spPr>
          <a:xfrm>
            <a:off x="8610600" y="6356350"/>
            <a:ext cx="3185886" cy="365125"/>
          </a:xfrm>
          <a:prstGeom prst="rect">
            <a:avLst/>
          </a:prstGeom>
        </p:spPr>
        <p:txBody>
          <a:bodyPr vert="horz" lIns="91440" tIns="45720" rIns="91440" bIns="45720" rtlCol="0" anchor="ctr"/>
          <a:lstStyle>
            <a:lvl1pPr algn="r">
              <a:defRPr sz="1200">
                <a:solidFill>
                  <a:schemeClr val="tx1">
                    <a:tint val="75000"/>
                  </a:schemeClr>
                </a:solidFill>
                <a:latin typeface="Aptos" panose="020B0004020202020204" pitchFamily="34" charset="0"/>
              </a:defRPr>
            </a:lvl1pPr>
          </a:lstStyle>
          <a:p>
            <a:fld id="{31DE2C5B-556E-47B8-A792-024C2FCA4ACC}" type="slidenum">
              <a:rPr lang="en-GB" smtClean="0"/>
              <a:pPr/>
              <a:t>‹#›</a:t>
            </a:fld>
            <a:endParaRPr lang="en-GB"/>
          </a:p>
        </p:txBody>
      </p:sp>
    </p:spTree>
    <p:extLst>
      <p:ext uri="{BB962C8B-B14F-4D97-AF65-F5344CB8AC3E}">
        <p14:creationId xmlns:p14="http://schemas.microsoft.com/office/powerpoint/2010/main" val="892879000"/>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49" r:id="rId3"/>
    <p:sldLayoutId id="2147483654" r:id="rId4"/>
  </p:sldLayoutIdLst>
  <p:hf hdr="0" dt="0"/>
  <p:txStyles>
    <p:titleStyle>
      <a:lvl1pPr algn="ctr" defTabSz="914400" rtl="0" eaLnBrk="1" latinLnBrk="0" hangingPunct="1">
        <a:lnSpc>
          <a:spcPct val="90000"/>
        </a:lnSpc>
        <a:spcBef>
          <a:spcPct val="0"/>
        </a:spcBef>
        <a:buNone/>
        <a:defRPr sz="3600" kern="1200">
          <a:solidFill>
            <a:schemeClr val="tx1"/>
          </a:solidFill>
          <a:latin typeface="Aptos" panose="020B0004020202020204" pitchFamily="34" charset="0"/>
          <a:ea typeface="+mj-ea"/>
          <a:cs typeface="+mj-cs"/>
        </a:defRPr>
      </a:lvl1pPr>
    </p:titleStyle>
    <p:body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hyperlink" Target="https://gcappon.github.io/" TargetMode="External"/><Relationship Id="rId2" Type="http://schemas.openxmlformats.org/officeDocument/2006/relationships/hyperlink" Target="mailto:giacomo.cappon@unipd.it" TargetMode="Externa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hyperlink" Target="https://github.com/gcappo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7.sv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svg"/><Relationship Id="rId11" Type="http://schemas.openxmlformats.org/officeDocument/2006/relationships/image" Target="../media/image18.png"/><Relationship Id="rId5" Type="http://schemas.openxmlformats.org/officeDocument/2006/relationships/image" Target="../media/image12.png"/><Relationship Id="rId10" Type="http://schemas.openxmlformats.org/officeDocument/2006/relationships/image" Target="../media/image17.svg"/><Relationship Id="rId4" Type="http://schemas.openxmlformats.org/officeDocument/2006/relationships/image" Target="../media/image11.svg"/><Relationship Id="rId9"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11.svg"/><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3" Type="http://schemas.openxmlformats.org/officeDocument/2006/relationships/hyperlink" Target="mailto:luca.cossu@phd.unipd.it" TargetMode="External"/><Relationship Id="rId2" Type="http://schemas.openxmlformats.org/officeDocument/2006/relationships/image" Target="../media/image24.jpg"/><Relationship Id="rId1" Type="http://schemas.openxmlformats.org/officeDocument/2006/relationships/slideLayout" Target="../slideLayouts/slideLayout1.xml"/><Relationship Id="rId6" Type="http://schemas.openxmlformats.org/officeDocument/2006/relationships/image" Target="../media/image26.png"/><Relationship Id="rId5" Type="http://schemas.openxmlformats.org/officeDocument/2006/relationships/image" Target="../media/image25.jpg"/><Relationship Id="rId4" Type="http://schemas.openxmlformats.org/officeDocument/2006/relationships/hyperlink" Target="mailto:alberto.gastaldello.2@phd.unipd.it"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image" Target="../media/image27.jpg"/><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sv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ottotitolo 1"/>
          <p:cNvSpPr>
            <a:spLocks noGrp="1"/>
          </p:cNvSpPr>
          <p:nvPr>
            <p:ph type="subTitle" idx="1"/>
          </p:nvPr>
        </p:nvSpPr>
        <p:spPr/>
        <p:txBody>
          <a:bodyPr/>
          <a:lstStyle/>
          <a:p>
            <a:r>
              <a:rPr lang="it-IT" dirty="0" err="1"/>
              <a:t>Introduction</a:t>
            </a:r>
            <a:endParaRPr lang="en-GB" dirty="0"/>
          </a:p>
        </p:txBody>
      </p:sp>
    </p:spTree>
    <p:extLst>
      <p:ext uri="{BB962C8B-B14F-4D97-AF65-F5344CB8AC3E}">
        <p14:creationId xmlns:p14="http://schemas.microsoft.com/office/powerpoint/2010/main" val="40681856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olo 2"/>
          <p:cNvSpPr>
            <a:spLocks noGrp="1"/>
          </p:cNvSpPr>
          <p:nvPr>
            <p:ph type="title"/>
          </p:nvPr>
        </p:nvSpPr>
        <p:spPr/>
        <p:txBody>
          <a:bodyPr/>
          <a:lstStyle/>
          <a:p>
            <a:r>
              <a:rPr lang="it-IT" dirty="0"/>
              <a:t>Who </a:t>
            </a:r>
            <a:r>
              <a:rPr lang="it-IT" dirty="0" err="1"/>
              <a:t>am</a:t>
            </a:r>
            <a:r>
              <a:rPr lang="it-IT" dirty="0"/>
              <a:t> I</a:t>
            </a:r>
            <a:endParaRPr lang="en-GB" dirty="0"/>
          </a:p>
        </p:txBody>
      </p:sp>
      <p:sp>
        <p:nvSpPr>
          <p:cNvPr id="4" name="Segnaposto contenuto 3"/>
          <p:cNvSpPr>
            <a:spLocks noGrp="1"/>
          </p:cNvSpPr>
          <p:nvPr>
            <p:ph idx="1"/>
          </p:nvPr>
        </p:nvSpPr>
        <p:spPr>
          <a:xfrm>
            <a:off x="428173" y="1361167"/>
            <a:ext cx="7460051" cy="4858203"/>
          </a:xfrm>
        </p:spPr>
        <p:txBody>
          <a:bodyPr/>
          <a:lstStyle/>
          <a:p>
            <a:r>
              <a:rPr lang="en-GB" b="1" dirty="0"/>
              <a:t>Giacomo Cappon</a:t>
            </a:r>
          </a:p>
          <a:p>
            <a:pPr lvl="1"/>
            <a:r>
              <a:rPr lang="en-GB" dirty="0"/>
              <a:t>Assistant Professor, Department of Information Engineering, University of Padova</a:t>
            </a:r>
          </a:p>
          <a:p>
            <a:pPr lvl="1"/>
            <a:r>
              <a:rPr lang="en-GB" dirty="0"/>
              <a:t>PhD in Information Engineering, curriculum Bioengineering</a:t>
            </a:r>
          </a:p>
          <a:p>
            <a:pPr lvl="1"/>
            <a:r>
              <a:rPr lang="en-GB" dirty="0"/>
              <a:t>Main research interests: signal processing; decision support systems; wearable sensors; digital health; ai for medicine</a:t>
            </a:r>
          </a:p>
          <a:p>
            <a:pPr marL="457200" lvl="1" indent="0">
              <a:buNone/>
            </a:pPr>
            <a:endParaRPr lang="en-GB" dirty="0"/>
          </a:p>
          <a:p>
            <a:r>
              <a:rPr lang="en-GB" dirty="0"/>
              <a:t>Contacts</a:t>
            </a:r>
          </a:p>
          <a:p>
            <a:pPr lvl="1"/>
            <a:r>
              <a:rPr lang="en-GB" dirty="0"/>
              <a:t>email: </a:t>
            </a:r>
            <a:r>
              <a:rPr lang="en-GB" dirty="0">
                <a:hlinkClick r:id="rId2"/>
              </a:rPr>
              <a:t>giacomo.cappon@unipd.it</a:t>
            </a:r>
            <a:endParaRPr lang="en-GB" dirty="0"/>
          </a:p>
          <a:p>
            <a:pPr lvl="1"/>
            <a:r>
              <a:rPr lang="en-GB" dirty="0"/>
              <a:t>personal website: </a:t>
            </a:r>
            <a:r>
              <a:rPr lang="en-GB" dirty="0">
                <a:hlinkClick r:id="rId3"/>
              </a:rPr>
              <a:t>https://gcappon.github.io</a:t>
            </a:r>
            <a:r>
              <a:rPr lang="en-GB" dirty="0"/>
              <a:t>  </a:t>
            </a:r>
          </a:p>
          <a:p>
            <a:pPr lvl="1"/>
            <a:r>
              <a:rPr lang="en-GB" dirty="0"/>
              <a:t>public repos: </a:t>
            </a:r>
            <a:r>
              <a:rPr lang="en-GB" dirty="0">
                <a:hlinkClick r:id="rId4"/>
              </a:rPr>
              <a:t>https://github.com/gcappon</a:t>
            </a:r>
            <a:r>
              <a:rPr lang="en-GB" dirty="0"/>
              <a:t> </a:t>
            </a:r>
          </a:p>
        </p:txBody>
      </p:sp>
      <p:pic>
        <p:nvPicPr>
          <p:cNvPr id="2" name="Immagine 1"/>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887968" y="1724071"/>
            <a:ext cx="2168039" cy="2168039"/>
          </a:xfrm>
          <a:prstGeom prst="rect">
            <a:avLst/>
          </a:prstGeom>
        </p:spPr>
      </p:pic>
      <p:sp>
        <p:nvSpPr>
          <p:cNvPr id="6" name="Segnaposto numero diapositiva 5"/>
          <p:cNvSpPr>
            <a:spLocks noGrp="1"/>
          </p:cNvSpPr>
          <p:nvPr>
            <p:ph type="sldNum" sz="quarter" idx="12"/>
          </p:nvPr>
        </p:nvSpPr>
        <p:spPr/>
        <p:txBody>
          <a:bodyPr/>
          <a:lstStyle/>
          <a:p>
            <a:fld id="{31DE2C5B-556E-47B8-A792-024C2FCA4ACC}" type="slidenum">
              <a:rPr lang="en-GB" smtClean="0"/>
              <a:t>2</a:t>
            </a:fld>
            <a:endParaRPr lang="en-GB"/>
          </a:p>
        </p:txBody>
      </p:sp>
    </p:spTree>
    <p:extLst>
      <p:ext uri="{BB962C8B-B14F-4D97-AF65-F5344CB8AC3E}">
        <p14:creationId xmlns:p14="http://schemas.microsoft.com/office/powerpoint/2010/main" val="36662195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p>
        </p:txBody>
      </p:sp>
      <p:sp>
        <p:nvSpPr>
          <p:cNvPr id="3" name="Segnaposto contenuto 2"/>
          <p:cNvSpPr>
            <a:spLocks noGrp="1"/>
          </p:cNvSpPr>
          <p:nvPr>
            <p:ph idx="1"/>
          </p:nvPr>
        </p:nvSpPr>
        <p:spPr>
          <a:xfrm>
            <a:off x="428172" y="1843433"/>
            <a:ext cx="9303657" cy="4858203"/>
          </a:xfrm>
        </p:spPr>
        <p:txBody>
          <a:bodyPr/>
          <a:lstStyle/>
          <a:p>
            <a:r>
              <a:rPr lang="en-US" b="1" dirty="0"/>
              <a:t>E-health</a:t>
            </a:r>
            <a:r>
              <a:rPr lang="en-US" dirty="0"/>
              <a:t> or </a:t>
            </a:r>
            <a:r>
              <a:rPr lang="en-US" b="1" dirty="0"/>
              <a:t>digital health</a:t>
            </a:r>
            <a:r>
              <a:rPr lang="en-US" dirty="0"/>
              <a:t>: The use of modern Information and Communication Technologies (ICT) to efficiently deliver all kinds of healthcare services</a:t>
            </a:r>
          </a:p>
          <a:p>
            <a:pPr lvl="1"/>
            <a:r>
              <a:rPr lang="en-US" dirty="0"/>
              <a:t>Examples: EHR, telemedicine systems</a:t>
            </a:r>
          </a:p>
          <a:p>
            <a:pPr lvl="1"/>
            <a:endParaRPr lang="en-US" dirty="0"/>
          </a:p>
          <a:p>
            <a:r>
              <a:rPr lang="en-US" b="1" dirty="0"/>
              <a:t>Wearables</a:t>
            </a:r>
            <a:r>
              <a:rPr lang="en-US" dirty="0"/>
              <a:t>: electronic devices worn close to and/or on the surface of the skin, which detect, analyze and transmit biomedical data, such as heart rate, activity, blood pressure, temperature, etc.</a:t>
            </a:r>
          </a:p>
          <a:p>
            <a:endParaRPr lang="en-US" b="1" dirty="0"/>
          </a:p>
          <a:p>
            <a:r>
              <a:rPr lang="en-US" b="1" dirty="0"/>
              <a:t>Internet-of-thing (</a:t>
            </a:r>
            <a:r>
              <a:rPr lang="en-US" b="1" dirty="0" err="1"/>
              <a:t>IoT</a:t>
            </a:r>
            <a:r>
              <a:rPr lang="en-US" b="1" dirty="0"/>
              <a:t>) wearables</a:t>
            </a:r>
            <a:r>
              <a:rPr lang="en-US" dirty="0"/>
              <a:t>: Wearables that connect and exchange data with other devices (wearable or not) and systems over the Internet or other communication networks</a:t>
            </a:r>
          </a:p>
          <a:p>
            <a:pPr lvl="1"/>
            <a:endParaRPr lang="en-GB" dirty="0"/>
          </a:p>
        </p:txBody>
      </p:sp>
      <p:sp>
        <p:nvSpPr>
          <p:cNvPr id="4" name="Ovale 3"/>
          <p:cNvSpPr/>
          <p:nvPr/>
        </p:nvSpPr>
        <p:spPr>
          <a:xfrm>
            <a:off x="9551443" y="1891972"/>
            <a:ext cx="2593910" cy="2603241"/>
          </a:xfrm>
          <a:prstGeom prst="ellipse">
            <a:avLst/>
          </a:prstGeom>
          <a:solidFill>
            <a:schemeClr val="accent6"/>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5" name="Ovale 4"/>
          <p:cNvSpPr/>
          <p:nvPr/>
        </p:nvSpPr>
        <p:spPr>
          <a:xfrm>
            <a:off x="9887345" y="2381342"/>
            <a:ext cx="1980000" cy="1980000"/>
          </a:xfrm>
          <a:prstGeom prst="ellipse">
            <a:avLst/>
          </a:prstGeom>
          <a:solidFill>
            <a:schemeClr val="accent6">
              <a:lumMod val="40000"/>
              <a:lumOff val="60000"/>
            </a:schemeClr>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latin typeface="Aptos" panose="020B0004020202020204" pitchFamily="34" charset="0"/>
            </a:endParaRPr>
          </a:p>
        </p:txBody>
      </p:sp>
      <p:sp>
        <p:nvSpPr>
          <p:cNvPr id="7" name="CasellaDiTesto 6"/>
          <p:cNvSpPr txBox="1"/>
          <p:nvPr/>
        </p:nvSpPr>
        <p:spPr>
          <a:xfrm>
            <a:off x="9841719" y="2001858"/>
            <a:ext cx="2013358" cy="369332"/>
          </a:xfrm>
          <a:prstGeom prst="rect">
            <a:avLst/>
          </a:prstGeom>
          <a:noFill/>
        </p:spPr>
        <p:txBody>
          <a:bodyPr wrap="square" rtlCol="0">
            <a:spAutoFit/>
          </a:bodyPr>
          <a:lstStyle/>
          <a:p>
            <a:pPr algn="ctr"/>
            <a:r>
              <a:rPr lang="it-IT" dirty="0">
                <a:latin typeface="Aptos" panose="020B0004020202020204" pitchFamily="34" charset="0"/>
              </a:rPr>
              <a:t>E-</a:t>
            </a:r>
            <a:r>
              <a:rPr lang="it-IT" dirty="0" err="1">
                <a:latin typeface="Aptos" panose="020B0004020202020204" pitchFamily="34" charset="0"/>
              </a:rPr>
              <a:t>health</a:t>
            </a:r>
            <a:endParaRPr lang="en-GB" dirty="0">
              <a:latin typeface="Aptos" panose="020B0004020202020204" pitchFamily="34" charset="0"/>
            </a:endParaRPr>
          </a:p>
        </p:txBody>
      </p:sp>
      <p:sp>
        <p:nvSpPr>
          <p:cNvPr id="8" name="CasellaDiTesto 7"/>
          <p:cNvSpPr txBox="1"/>
          <p:nvPr/>
        </p:nvSpPr>
        <p:spPr>
          <a:xfrm>
            <a:off x="9841719" y="2533138"/>
            <a:ext cx="2013358" cy="369332"/>
          </a:xfrm>
          <a:prstGeom prst="rect">
            <a:avLst/>
          </a:prstGeom>
          <a:noFill/>
        </p:spPr>
        <p:txBody>
          <a:bodyPr wrap="square" rtlCol="0">
            <a:spAutoFit/>
          </a:bodyPr>
          <a:lstStyle/>
          <a:p>
            <a:pPr algn="ctr"/>
            <a:r>
              <a:rPr lang="it-IT" dirty="0" err="1">
                <a:latin typeface="Aptos" panose="020B0004020202020204" pitchFamily="34" charset="0"/>
              </a:rPr>
              <a:t>Wearables</a:t>
            </a:r>
            <a:endParaRPr lang="en-GB" dirty="0">
              <a:latin typeface="Aptos" panose="020B0004020202020204" pitchFamily="34" charset="0"/>
            </a:endParaRPr>
          </a:p>
        </p:txBody>
      </p:sp>
      <p:grpSp>
        <p:nvGrpSpPr>
          <p:cNvPr id="11" name="Gruppo 10">
            <a:extLst>
              <a:ext uri="{FF2B5EF4-FFF2-40B4-BE49-F238E27FC236}">
                <a16:creationId xmlns:a16="http://schemas.microsoft.com/office/drawing/2014/main" id="{D185594D-6EAA-3F45-877F-0D678EDFDF5E}"/>
              </a:ext>
            </a:extLst>
          </p:cNvPr>
          <p:cNvGrpSpPr/>
          <p:nvPr/>
        </p:nvGrpSpPr>
        <p:grpSpPr>
          <a:xfrm>
            <a:off x="10137474" y="3036341"/>
            <a:ext cx="1467474" cy="1224000"/>
            <a:chOff x="9981958" y="2693250"/>
            <a:chExt cx="1467474" cy="1224000"/>
          </a:xfrm>
        </p:grpSpPr>
        <p:sp>
          <p:nvSpPr>
            <p:cNvPr id="6" name="Ovale 5"/>
            <p:cNvSpPr/>
            <p:nvPr/>
          </p:nvSpPr>
          <p:spPr>
            <a:xfrm>
              <a:off x="10109829" y="2693250"/>
              <a:ext cx="1224000" cy="1224000"/>
            </a:xfrm>
            <a:prstGeom prst="ellipse">
              <a:avLst/>
            </a:prstGeom>
            <a:solidFill>
              <a:srgbClr val="FFFF00"/>
            </a:solidFill>
            <a:ln>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latin typeface="Aptos" panose="020B0004020202020204" pitchFamily="34" charset="0"/>
              </a:endParaRPr>
            </a:p>
          </p:txBody>
        </p:sp>
        <p:sp>
          <p:nvSpPr>
            <p:cNvPr id="9" name="CasellaDiTesto 8"/>
            <p:cNvSpPr txBox="1"/>
            <p:nvPr/>
          </p:nvSpPr>
          <p:spPr>
            <a:xfrm>
              <a:off x="9981958" y="2946671"/>
              <a:ext cx="1467474" cy="646331"/>
            </a:xfrm>
            <a:prstGeom prst="rect">
              <a:avLst/>
            </a:prstGeom>
            <a:noFill/>
          </p:spPr>
          <p:txBody>
            <a:bodyPr wrap="square" rtlCol="0">
              <a:spAutoFit/>
            </a:bodyPr>
            <a:lstStyle/>
            <a:p>
              <a:pPr algn="ctr"/>
              <a:r>
                <a:rPr lang="it-IT" dirty="0" err="1">
                  <a:latin typeface="Aptos" panose="020B0004020202020204" pitchFamily="34" charset="0"/>
                </a:rPr>
                <a:t>IoT</a:t>
              </a:r>
              <a:r>
                <a:rPr lang="it-IT" dirty="0">
                  <a:latin typeface="Aptos" panose="020B0004020202020204" pitchFamily="34" charset="0"/>
                </a:rPr>
                <a:t> </a:t>
              </a:r>
              <a:r>
                <a:rPr lang="it-IT" dirty="0" err="1">
                  <a:latin typeface="Aptos" panose="020B0004020202020204" pitchFamily="34" charset="0"/>
                </a:rPr>
                <a:t>wearables</a:t>
              </a:r>
              <a:endParaRPr lang="en-GB" dirty="0">
                <a:latin typeface="Aptos" panose="020B0004020202020204" pitchFamily="34" charset="0"/>
              </a:endParaRPr>
            </a:p>
          </p:txBody>
        </p:sp>
      </p:grpSp>
      <p:sp>
        <p:nvSpPr>
          <p:cNvPr id="12" name="CasellaDiTesto 11"/>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Biomedical wearable technologies…</a:t>
            </a:r>
          </a:p>
        </p:txBody>
      </p:sp>
      <p:sp>
        <p:nvSpPr>
          <p:cNvPr id="10" name="Segnaposto numero diapositiva 9"/>
          <p:cNvSpPr>
            <a:spLocks noGrp="1"/>
          </p:cNvSpPr>
          <p:nvPr>
            <p:ph type="sldNum" sz="quarter" idx="12"/>
          </p:nvPr>
        </p:nvSpPr>
        <p:spPr/>
        <p:txBody>
          <a:bodyPr/>
          <a:lstStyle/>
          <a:p>
            <a:fld id="{31DE2C5B-556E-47B8-A792-024C2FCA4ACC}" type="slidenum">
              <a:rPr lang="en-GB" smtClean="0"/>
              <a:t>3</a:t>
            </a:fld>
            <a:endParaRPr lang="en-GB"/>
          </a:p>
        </p:txBody>
      </p:sp>
    </p:spTree>
    <p:extLst>
      <p:ext uri="{BB962C8B-B14F-4D97-AF65-F5344CB8AC3E}">
        <p14:creationId xmlns:p14="http://schemas.microsoft.com/office/powerpoint/2010/main" val="3276749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p:bldP spid="8"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en-US" dirty="0"/>
              <a:t>What is the course about?</a:t>
            </a:r>
            <a:endParaRPr lang="en-GB" dirty="0"/>
          </a:p>
        </p:txBody>
      </p:sp>
      <p:sp>
        <p:nvSpPr>
          <p:cNvPr id="3" name="Segnaposto contenuto 2"/>
          <p:cNvSpPr>
            <a:spLocks noGrp="1"/>
          </p:cNvSpPr>
          <p:nvPr>
            <p:ph idx="1"/>
          </p:nvPr>
        </p:nvSpPr>
        <p:spPr>
          <a:xfrm>
            <a:off x="428172" y="1914007"/>
            <a:ext cx="11368314" cy="2941457"/>
          </a:xfrm>
        </p:spPr>
        <p:txBody>
          <a:bodyPr/>
          <a:lstStyle/>
          <a:p>
            <a:r>
              <a:rPr lang="en-US" dirty="0"/>
              <a:t>Our society is facing some important global health challenges</a:t>
            </a:r>
          </a:p>
          <a:p>
            <a:pPr lvl="1"/>
            <a:r>
              <a:rPr lang="en-US" b="1" dirty="0"/>
              <a:t>Lifestyle-related illnesses </a:t>
            </a:r>
            <a:r>
              <a:rPr lang="en-US" dirty="0"/>
              <a:t>driven by sedentary life, consumption of processed and fast foods, alcohol drinking and smoking</a:t>
            </a:r>
            <a:endParaRPr lang="en-US" b="1" dirty="0"/>
          </a:p>
          <a:p>
            <a:pPr lvl="2"/>
            <a:r>
              <a:rPr lang="en-US" dirty="0"/>
              <a:t>Need to change the paradigm of healthcare, from a mostly reactive system to a </a:t>
            </a:r>
            <a:r>
              <a:rPr lang="en-US" b="1" dirty="0"/>
              <a:t>proactive system</a:t>
            </a:r>
            <a:endParaRPr lang="en-US" dirty="0"/>
          </a:p>
          <a:p>
            <a:pPr lvl="1"/>
            <a:endParaRPr lang="en-US" dirty="0"/>
          </a:p>
          <a:p>
            <a:pPr lvl="1"/>
            <a:r>
              <a:rPr lang="en-US" b="1" dirty="0"/>
              <a:t>Population ageing</a:t>
            </a:r>
            <a:r>
              <a:rPr lang="en-US" dirty="0"/>
              <a:t> rises </a:t>
            </a:r>
            <a:r>
              <a:rPr lang="en-US" dirty="0">
                <a:sym typeface="Wingdings" panose="05000000000000000000" pitchFamily="2" charset="2"/>
              </a:rPr>
              <a:t>the demand of health services and the healthcare expenditure.</a:t>
            </a:r>
          </a:p>
          <a:p>
            <a:pPr lvl="2"/>
            <a:r>
              <a:rPr lang="en-US" dirty="0">
                <a:sym typeface="Wingdings" panose="05000000000000000000" pitchFamily="2" charset="2"/>
              </a:rPr>
              <a:t>Need to </a:t>
            </a:r>
            <a:r>
              <a:rPr lang="en-US" b="1" dirty="0">
                <a:sym typeface="Wingdings" panose="05000000000000000000" pitchFamily="2" charset="2"/>
              </a:rPr>
              <a:t>decentralizing the healthcare </a:t>
            </a:r>
          </a:p>
          <a:p>
            <a:pPr lvl="2"/>
            <a:r>
              <a:rPr lang="en-US" dirty="0">
                <a:sym typeface="Wingdings" panose="05000000000000000000" pitchFamily="2" charset="2"/>
              </a:rPr>
              <a:t>Covid-19 pandemic called for urgent delivery of healthcare at home</a:t>
            </a:r>
            <a:endParaRPr lang="en-US" dirty="0"/>
          </a:p>
        </p:txBody>
      </p:sp>
      <p:sp>
        <p:nvSpPr>
          <p:cNvPr id="5" name="CasellaDiTesto 4"/>
          <p:cNvSpPr txBox="1"/>
          <p:nvPr/>
        </p:nvSpPr>
        <p:spPr>
          <a:xfrm>
            <a:off x="525463" y="1237255"/>
            <a:ext cx="9353725" cy="461665"/>
          </a:xfrm>
          <a:prstGeom prst="rect">
            <a:avLst/>
          </a:prstGeom>
          <a:noFill/>
        </p:spPr>
        <p:txBody>
          <a:bodyPr wrap="square" rtlCol="0">
            <a:spAutoFit/>
          </a:bodyPr>
          <a:lstStyle/>
          <a:p>
            <a:r>
              <a:rPr lang="en-US" sz="2400" b="1" dirty="0">
                <a:latin typeface="Aptos" panose="020B0004020202020204" pitchFamily="34" charset="0"/>
              </a:rPr>
              <a:t>… for healthcare and wellbeing</a:t>
            </a:r>
          </a:p>
        </p:txBody>
      </p:sp>
      <p:sp>
        <p:nvSpPr>
          <p:cNvPr id="4" name="Rettangolo 3"/>
          <p:cNvSpPr/>
          <p:nvPr/>
        </p:nvSpPr>
        <p:spPr>
          <a:xfrm>
            <a:off x="411843" y="5003175"/>
            <a:ext cx="11368314" cy="935334"/>
          </a:xfrm>
          <a:prstGeom prst="rect">
            <a:avLst/>
          </a:prstGeom>
          <a:solidFill>
            <a:schemeClr val="bg1"/>
          </a:solid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latin typeface="Aptos" panose="020B0004020202020204" pitchFamily="34" charset="0"/>
              </a:rPr>
              <a:t>Biomedical wearable technologies are fundamental to make healthcare scalable and accessible outside the hospital setting and deliver personalized and preventive health services</a:t>
            </a:r>
            <a:r>
              <a:rPr lang="en-US" sz="2400" b="1" dirty="0">
                <a:solidFill>
                  <a:schemeClr val="tx1"/>
                </a:solidFill>
                <a:latin typeface="Aptos" panose="020B0004020202020204" pitchFamily="34" charset="0"/>
              </a:rPr>
              <a:t>  </a:t>
            </a:r>
          </a:p>
        </p:txBody>
      </p:sp>
      <p:sp>
        <p:nvSpPr>
          <p:cNvPr id="6" name="Segnaposto numero diapositiva 5"/>
          <p:cNvSpPr>
            <a:spLocks noGrp="1"/>
          </p:cNvSpPr>
          <p:nvPr>
            <p:ph type="sldNum" sz="quarter" idx="12"/>
          </p:nvPr>
        </p:nvSpPr>
        <p:spPr/>
        <p:txBody>
          <a:bodyPr/>
          <a:lstStyle/>
          <a:p>
            <a:fld id="{31DE2C5B-556E-47B8-A792-024C2FCA4ACC}" type="slidenum">
              <a:rPr lang="en-GB" smtClean="0"/>
              <a:t>4</a:t>
            </a:fld>
            <a:endParaRPr lang="en-GB"/>
          </a:p>
        </p:txBody>
      </p:sp>
    </p:spTree>
    <p:extLst>
      <p:ext uri="{BB962C8B-B14F-4D97-AF65-F5344CB8AC3E}">
        <p14:creationId xmlns:p14="http://schemas.microsoft.com/office/powerpoint/2010/main" val="135071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Theory </a:t>
            </a:r>
            <a:r>
              <a:rPr lang="it-IT" dirty="0" err="1"/>
              <a:t>program</a:t>
            </a:r>
            <a:endParaRPr lang="en-GB" dirty="0"/>
          </a:p>
        </p:txBody>
      </p:sp>
      <p:sp>
        <p:nvSpPr>
          <p:cNvPr id="6" name="Segnaposto contenuto 5"/>
          <p:cNvSpPr>
            <a:spLocks noGrp="1"/>
          </p:cNvSpPr>
          <p:nvPr>
            <p:ph idx="1"/>
          </p:nvPr>
        </p:nvSpPr>
        <p:spPr/>
        <p:txBody>
          <a:bodyPr>
            <a:normAutofit/>
          </a:bodyPr>
          <a:lstStyle/>
          <a:p>
            <a:r>
              <a:rPr lang="en-GB" dirty="0"/>
              <a:t>The theoretical part of the course will cover the following:</a:t>
            </a:r>
          </a:p>
          <a:p>
            <a:pPr lvl="1"/>
            <a:r>
              <a:rPr lang="en-GB" dirty="0"/>
              <a:t>Wearable sensor technologies</a:t>
            </a:r>
          </a:p>
          <a:p>
            <a:pPr lvl="1"/>
            <a:r>
              <a:rPr lang="en-GB" dirty="0"/>
              <a:t>Health design thinking</a:t>
            </a:r>
          </a:p>
          <a:p>
            <a:pPr lvl="1"/>
            <a:r>
              <a:rPr lang="en-GB" dirty="0"/>
              <a:t>Elements of UI/UX Design</a:t>
            </a:r>
          </a:p>
          <a:p>
            <a:pPr lvl="1"/>
            <a:r>
              <a:rPr lang="en-GB" dirty="0"/>
              <a:t>Evaluation of app usability</a:t>
            </a:r>
          </a:p>
          <a:p>
            <a:pPr lvl="1"/>
            <a:r>
              <a:rPr lang="en-GB" dirty="0"/>
              <a:t>Fundamentals of network architectures and the HTTP communication protocol</a:t>
            </a:r>
          </a:p>
          <a:p>
            <a:pPr lvl="1"/>
            <a:r>
              <a:rPr lang="en-GB" dirty="0"/>
              <a:t>The representational state transfer (REST) paradigm</a:t>
            </a:r>
          </a:p>
          <a:p>
            <a:pPr lvl="1"/>
            <a:r>
              <a:rPr lang="en-GB" dirty="0"/>
              <a:t>Application programming interfaces (APIs)</a:t>
            </a:r>
          </a:p>
          <a:p>
            <a:pPr lvl="1"/>
            <a:r>
              <a:rPr lang="en-GB" dirty="0"/>
              <a:t>Elements of network security</a:t>
            </a:r>
          </a:p>
          <a:p>
            <a:pPr lvl="1"/>
            <a:r>
              <a:rPr lang="en-GB" dirty="0"/>
              <a:t>Authentication protocols</a:t>
            </a:r>
          </a:p>
          <a:p>
            <a:pPr lvl="1"/>
            <a:r>
              <a:rPr lang="en-GB" dirty="0"/>
              <a:t>Regulation for health data management</a:t>
            </a:r>
          </a:p>
          <a:p>
            <a:pPr lvl="1"/>
            <a:endParaRPr lang="it-IT" dirty="0"/>
          </a:p>
          <a:p>
            <a:endParaRPr lang="it-IT" dirty="0"/>
          </a:p>
          <a:p>
            <a:endParaRPr lang="it-IT"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5</a:t>
            </a:fld>
            <a:endParaRPr lang="en-GB"/>
          </a:p>
        </p:txBody>
      </p:sp>
    </p:spTree>
    <p:extLst>
      <p:ext uri="{BB962C8B-B14F-4D97-AF65-F5344CB8AC3E}">
        <p14:creationId xmlns:p14="http://schemas.microsoft.com/office/powerpoint/2010/main" val="14275732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endParaRPr lang="en-GB" dirty="0"/>
          </a:p>
        </p:txBody>
      </p:sp>
      <p:sp>
        <p:nvSpPr>
          <p:cNvPr id="6" name="Segnaposto contenuto 5"/>
          <p:cNvSpPr>
            <a:spLocks noGrp="1"/>
          </p:cNvSpPr>
          <p:nvPr>
            <p:ph idx="1"/>
          </p:nvPr>
        </p:nvSpPr>
        <p:spPr>
          <a:xfrm>
            <a:off x="428172" y="1361167"/>
            <a:ext cx="11368314" cy="4858203"/>
          </a:xfrm>
        </p:spPr>
        <p:txBody>
          <a:bodyPr>
            <a:normAutofit/>
          </a:bodyPr>
          <a:lstStyle/>
          <a:p>
            <a:r>
              <a:rPr lang="en-GB" dirty="0"/>
              <a:t>The laboratorial part of the course will cover the following: </a:t>
            </a:r>
          </a:p>
          <a:p>
            <a:pPr lvl="1"/>
            <a:r>
              <a:rPr lang="en-GB" dirty="0"/>
              <a:t>The Git version control system</a:t>
            </a:r>
          </a:p>
          <a:p>
            <a:pPr lvl="1"/>
            <a:r>
              <a:rPr lang="en-GB" dirty="0"/>
              <a:t>Dart programming language and the Flutter framework</a:t>
            </a:r>
          </a:p>
          <a:p>
            <a:pPr lvl="1"/>
            <a:r>
              <a:rPr lang="en-GB" dirty="0"/>
              <a:t>Building mobile/web applications in Flutter</a:t>
            </a:r>
          </a:p>
          <a:p>
            <a:pPr lvl="1"/>
            <a:r>
              <a:rPr lang="en-GB" dirty="0"/>
              <a:t>User Interface design</a:t>
            </a:r>
          </a:p>
          <a:p>
            <a:pPr lvl="1"/>
            <a:r>
              <a:rPr lang="en-GB" dirty="0"/>
              <a:t>Navigation</a:t>
            </a:r>
          </a:p>
          <a:p>
            <a:pPr lvl="1"/>
            <a:r>
              <a:rPr lang="en-GB" dirty="0"/>
              <a:t>State management</a:t>
            </a:r>
          </a:p>
          <a:p>
            <a:pPr lvl="1"/>
            <a:r>
              <a:rPr lang="en-GB" dirty="0"/>
              <a:t>Basic data persistence</a:t>
            </a:r>
          </a:p>
          <a:p>
            <a:pPr lvl="1"/>
            <a:r>
              <a:rPr lang="en-GB" dirty="0"/>
              <a:t>Networking</a:t>
            </a:r>
          </a:p>
          <a:p>
            <a:pPr lvl="1"/>
            <a:r>
              <a:rPr lang="en-GB" dirty="0"/>
              <a:t>Integrating AI models in mobile applications</a:t>
            </a:r>
          </a:p>
          <a:p>
            <a:pPr lvl="1"/>
            <a:endParaRPr lang="en-GB" dirty="0"/>
          </a:p>
          <a:p>
            <a:r>
              <a:rPr lang="en-GB" dirty="0"/>
              <a:t>Workshop…</a:t>
            </a:r>
          </a:p>
        </p:txBody>
      </p:sp>
      <p:sp>
        <p:nvSpPr>
          <p:cNvPr id="2" name="Segnaposto numero diapositiva 1"/>
          <p:cNvSpPr>
            <a:spLocks noGrp="1"/>
          </p:cNvSpPr>
          <p:nvPr>
            <p:ph type="sldNum" sz="quarter" idx="12"/>
          </p:nvPr>
        </p:nvSpPr>
        <p:spPr/>
        <p:txBody>
          <a:bodyPr/>
          <a:lstStyle/>
          <a:p>
            <a:fld id="{31DE2C5B-556E-47B8-A792-024C2FCA4ACC}" type="slidenum">
              <a:rPr lang="en-GB" smtClean="0"/>
              <a:t>6</a:t>
            </a:fld>
            <a:endParaRPr lang="en-GB"/>
          </a:p>
        </p:txBody>
      </p:sp>
    </p:spTree>
    <p:extLst>
      <p:ext uri="{BB962C8B-B14F-4D97-AF65-F5344CB8AC3E}">
        <p14:creationId xmlns:p14="http://schemas.microsoft.com/office/powerpoint/2010/main" val="19375972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olo 4"/>
          <p:cNvSpPr>
            <a:spLocks noGrp="1"/>
          </p:cNvSpPr>
          <p:nvPr>
            <p:ph type="title"/>
          </p:nvPr>
        </p:nvSpPr>
        <p:spPr/>
        <p:txBody>
          <a:bodyPr/>
          <a:lstStyle/>
          <a:p>
            <a:r>
              <a:rPr lang="it-IT" dirty="0"/>
              <a:t>Lab </a:t>
            </a:r>
            <a:r>
              <a:rPr lang="it-IT" dirty="0" err="1"/>
              <a:t>program</a:t>
            </a:r>
            <a:r>
              <a:rPr lang="it-IT" dirty="0"/>
              <a:t> - The workshop</a:t>
            </a:r>
            <a:endParaRPr lang="en-GB" dirty="0"/>
          </a:p>
        </p:txBody>
      </p:sp>
      <p:sp>
        <p:nvSpPr>
          <p:cNvPr id="6" name="Segnaposto contenuto 5"/>
          <p:cNvSpPr>
            <a:spLocks noGrp="1"/>
          </p:cNvSpPr>
          <p:nvPr>
            <p:ph idx="1"/>
          </p:nvPr>
        </p:nvSpPr>
        <p:spPr>
          <a:xfrm>
            <a:off x="428172" y="1361167"/>
            <a:ext cx="6016696" cy="5334907"/>
          </a:xfrm>
        </p:spPr>
        <p:txBody>
          <a:bodyPr>
            <a:normAutofit/>
          </a:bodyPr>
          <a:lstStyle/>
          <a:p>
            <a:r>
              <a:rPr lang="en-GB" dirty="0"/>
              <a:t>2-hours workshop where we will set up a fake clinical trial aimed at evaluating the cardiovascular tone in a cohort of healthy subjects using an experimental algorithm</a:t>
            </a:r>
          </a:p>
          <a:p>
            <a:endParaRPr lang="en-GB" dirty="0"/>
          </a:p>
          <a:p>
            <a:endParaRPr lang="en-GB" dirty="0"/>
          </a:p>
          <a:p>
            <a:endParaRPr lang="en-GB" dirty="0"/>
          </a:p>
          <a:p>
            <a:endParaRPr lang="en-GB" dirty="0"/>
          </a:p>
          <a:p>
            <a:endParaRPr lang="en-GB" dirty="0"/>
          </a:p>
          <a:p>
            <a:r>
              <a:rPr lang="en-GB" dirty="0"/>
              <a:t>The fastest 5 students to submit the right answer will get a +1 to the final evaluation.</a:t>
            </a:r>
          </a:p>
          <a:p>
            <a:endParaRPr lang="en-GB" dirty="0"/>
          </a:p>
          <a:p>
            <a:endParaRPr lang="en-GB" dirty="0"/>
          </a:p>
          <a:p>
            <a:pPr lvl="1"/>
            <a:endParaRPr lang="en-GB" dirty="0"/>
          </a:p>
        </p:txBody>
      </p:sp>
      <p:sp>
        <p:nvSpPr>
          <p:cNvPr id="2" name="Segnaposto numero diapositiva 1"/>
          <p:cNvSpPr>
            <a:spLocks noGrp="1"/>
          </p:cNvSpPr>
          <p:nvPr>
            <p:ph type="sldNum" sz="quarter" idx="12"/>
          </p:nvPr>
        </p:nvSpPr>
        <p:spPr/>
        <p:txBody>
          <a:bodyPr/>
          <a:lstStyle/>
          <a:p>
            <a:fld id="{31DE2C5B-556E-47B8-A792-024C2FCA4ACC}" type="slidenum">
              <a:rPr lang="en-GB" smtClean="0"/>
              <a:t>7</a:t>
            </a:fld>
            <a:endParaRPr lang="en-GB"/>
          </a:p>
        </p:txBody>
      </p:sp>
      <p:sp>
        <p:nvSpPr>
          <p:cNvPr id="3" name="Rectangle 2">
            <a:extLst>
              <a:ext uri="{FF2B5EF4-FFF2-40B4-BE49-F238E27FC236}">
                <a16:creationId xmlns:a16="http://schemas.microsoft.com/office/drawing/2014/main" id="{3CF01D30-25FF-A464-7F67-76360D9C81C7}"/>
              </a:ext>
            </a:extLst>
          </p:cNvPr>
          <p:cNvSpPr/>
          <p:nvPr/>
        </p:nvSpPr>
        <p:spPr>
          <a:xfrm>
            <a:off x="7338152" y="1407768"/>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1. Trial setup</a:t>
            </a:r>
          </a:p>
        </p:txBody>
      </p:sp>
      <p:sp>
        <p:nvSpPr>
          <p:cNvPr id="4" name="Rectangle 3">
            <a:extLst>
              <a:ext uri="{FF2B5EF4-FFF2-40B4-BE49-F238E27FC236}">
                <a16:creationId xmlns:a16="http://schemas.microsoft.com/office/drawing/2014/main" id="{F355DA76-C949-FBA7-F19B-B2681BEF76B6}"/>
              </a:ext>
            </a:extLst>
          </p:cNvPr>
          <p:cNvSpPr/>
          <p:nvPr/>
        </p:nvSpPr>
        <p:spPr>
          <a:xfrm>
            <a:off x="7338152" y="2530165"/>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2. Data collection using a wearable and an app</a:t>
            </a:r>
          </a:p>
        </p:txBody>
      </p:sp>
      <p:sp>
        <p:nvSpPr>
          <p:cNvPr id="7" name="Rectangle 6">
            <a:extLst>
              <a:ext uri="{FF2B5EF4-FFF2-40B4-BE49-F238E27FC236}">
                <a16:creationId xmlns:a16="http://schemas.microsoft.com/office/drawing/2014/main" id="{8DADA1B7-0CF8-E402-5B14-12803EF97505}"/>
              </a:ext>
            </a:extLst>
          </p:cNvPr>
          <p:cNvSpPr/>
          <p:nvPr/>
        </p:nvSpPr>
        <p:spPr>
          <a:xfrm>
            <a:off x="7338152" y="3652562"/>
            <a:ext cx="2544896" cy="661012"/>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r>
              <a:rPr lang="en-US" dirty="0">
                <a:latin typeface="Aptos" panose="020B0004020202020204" pitchFamily="34" charset="0"/>
                <a:ea typeface="Palatino" pitchFamily="2" charset="77"/>
              </a:rPr>
              <a:t>3. Data preparation</a:t>
            </a:r>
          </a:p>
        </p:txBody>
      </p:sp>
      <p:sp>
        <p:nvSpPr>
          <p:cNvPr id="8" name="Rectangle 7">
            <a:extLst>
              <a:ext uri="{FF2B5EF4-FFF2-40B4-BE49-F238E27FC236}">
                <a16:creationId xmlns:a16="http://schemas.microsoft.com/office/drawing/2014/main" id="{BC309BBA-502D-E590-BBE2-4B6D25A82C3E}"/>
              </a:ext>
            </a:extLst>
          </p:cNvPr>
          <p:cNvSpPr/>
          <p:nvPr/>
        </p:nvSpPr>
        <p:spPr>
          <a:xfrm>
            <a:off x="7338152" y="4774959"/>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4. Data analysis</a:t>
            </a:r>
          </a:p>
        </p:txBody>
      </p:sp>
      <p:sp>
        <p:nvSpPr>
          <p:cNvPr id="9" name="Rectangle 8">
            <a:extLst>
              <a:ext uri="{FF2B5EF4-FFF2-40B4-BE49-F238E27FC236}">
                <a16:creationId xmlns:a16="http://schemas.microsoft.com/office/drawing/2014/main" id="{AB862AA0-B559-9687-D694-D4FC5179D012}"/>
              </a:ext>
            </a:extLst>
          </p:cNvPr>
          <p:cNvSpPr/>
          <p:nvPr/>
        </p:nvSpPr>
        <p:spPr>
          <a:xfrm>
            <a:off x="7338152" y="5897356"/>
            <a:ext cx="2544896" cy="661012"/>
          </a:xfrm>
          <a:prstGeom prst="rect">
            <a:avLst/>
          </a:prstGeom>
          <a:ln w="28575"/>
        </p:spPr>
        <p:style>
          <a:lnRef idx="2">
            <a:schemeClr val="accent6"/>
          </a:lnRef>
          <a:fillRef idx="1">
            <a:schemeClr val="lt1"/>
          </a:fillRef>
          <a:effectRef idx="0">
            <a:schemeClr val="accent6"/>
          </a:effectRef>
          <a:fontRef idx="minor">
            <a:schemeClr val="dk1"/>
          </a:fontRef>
        </p:style>
        <p:txBody>
          <a:bodyPr rtlCol="0" anchor="ctr"/>
          <a:lstStyle/>
          <a:p>
            <a:pPr algn="ctr"/>
            <a:r>
              <a:rPr lang="en-US" b="1" dirty="0">
                <a:latin typeface="Aptos" panose="020B0004020202020204" pitchFamily="34" charset="0"/>
                <a:ea typeface="Palatino" pitchFamily="2" charset="77"/>
              </a:rPr>
              <a:t>5. Trial outcome</a:t>
            </a:r>
          </a:p>
        </p:txBody>
      </p:sp>
      <p:sp>
        <p:nvSpPr>
          <p:cNvPr id="10" name="Right Brace 9">
            <a:extLst>
              <a:ext uri="{FF2B5EF4-FFF2-40B4-BE49-F238E27FC236}">
                <a16:creationId xmlns:a16="http://schemas.microsoft.com/office/drawing/2014/main" id="{A4B60173-A7FE-F61A-37F8-6965F45032AD}"/>
              </a:ext>
            </a:extLst>
          </p:cNvPr>
          <p:cNvSpPr/>
          <p:nvPr/>
        </p:nvSpPr>
        <p:spPr>
          <a:xfrm>
            <a:off x="9883048" y="1712329"/>
            <a:ext cx="374574" cy="230252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1" name="Right Brace 10">
            <a:extLst>
              <a:ext uri="{FF2B5EF4-FFF2-40B4-BE49-F238E27FC236}">
                <a16:creationId xmlns:a16="http://schemas.microsoft.com/office/drawing/2014/main" id="{B96513B9-D6BA-F122-28A3-A160CC8970AE}"/>
              </a:ext>
            </a:extLst>
          </p:cNvPr>
          <p:cNvSpPr/>
          <p:nvPr/>
        </p:nvSpPr>
        <p:spPr>
          <a:xfrm>
            <a:off x="9883048" y="5050440"/>
            <a:ext cx="374574" cy="1177422"/>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latin typeface="Aptos" panose="020B0004020202020204" pitchFamily="34" charset="0"/>
            </a:endParaRPr>
          </a:p>
        </p:txBody>
      </p:sp>
      <p:sp>
        <p:nvSpPr>
          <p:cNvPr id="12" name="Segnaposto contenuto 5">
            <a:extLst>
              <a:ext uri="{FF2B5EF4-FFF2-40B4-BE49-F238E27FC236}">
                <a16:creationId xmlns:a16="http://schemas.microsoft.com/office/drawing/2014/main" id="{92A8F913-F681-690D-F89A-A419783EDA5C}"/>
              </a:ext>
            </a:extLst>
          </p:cNvPr>
          <p:cNvSpPr txBox="1">
            <a:spLocks/>
          </p:cNvSpPr>
          <p:nvPr/>
        </p:nvSpPr>
        <p:spPr>
          <a:xfrm>
            <a:off x="10257622" y="2620671"/>
            <a:ext cx="1783178"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Together</a:t>
            </a:r>
          </a:p>
          <a:p>
            <a:endParaRPr lang="en-GB" b="1" dirty="0">
              <a:latin typeface="Aptos" panose="020B0004020202020204" pitchFamily="34" charset="0"/>
            </a:endParaRPr>
          </a:p>
          <a:p>
            <a:pPr lvl="1"/>
            <a:endParaRPr lang="en-GB" b="1" dirty="0">
              <a:latin typeface="Aptos" panose="020B0004020202020204" pitchFamily="34" charset="0"/>
            </a:endParaRPr>
          </a:p>
        </p:txBody>
      </p:sp>
      <p:sp>
        <p:nvSpPr>
          <p:cNvPr id="13" name="Segnaposto contenuto 5">
            <a:extLst>
              <a:ext uri="{FF2B5EF4-FFF2-40B4-BE49-F238E27FC236}">
                <a16:creationId xmlns:a16="http://schemas.microsoft.com/office/drawing/2014/main" id="{3EB01B8C-F8AF-F744-BB5C-73A294321FE2}"/>
              </a:ext>
            </a:extLst>
          </p:cNvPr>
          <p:cNvSpPr txBox="1">
            <a:spLocks/>
          </p:cNvSpPr>
          <p:nvPr/>
        </p:nvSpPr>
        <p:spPr>
          <a:xfrm>
            <a:off x="10257621" y="5435971"/>
            <a:ext cx="1934379" cy="634087"/>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latin typeface="Aptos" panose="020B0004020202020204" pitchFamily="34" charset="0"/>
              </a:rPr>
              <a:t>Individually</a:t>
            </a:r>
          </a:p>
          <a:p>
            <a:endParaRPr lang="en-GB" b="1" dirty="0">
              <a:latin typeface="Aptos" panose="020B0004020202020204" pitchFamily="34" charset="0"/>
            </a:endParaRPr>
          </a:p>
          <a:p>
            <a:pPr lvl="1"/>
            <a:endParaRPr lang="en-GB" b="1" dirty="0">
              <a:latin typeface="Aptos" panose="020B0004020202020204" pitchFamily="34" charset="0"/>
            </a:endParaRPr>
          </a:p>
        </p:txBody>
      </p:sp>
      <p:pic>
        <p:nvPicPr>
          <p:cNvPr id="14" name="Picture 13">
            <a:extLst>
              <a:ext uri="{FF2B5EF4-FFF2-40B4-BE49-F238E27FC236}">
                <a16:creationId xmlns:a16="http://schemas.microsoft.com/office/drawing/2014/main" id="{1C16D7A5-7443-1C92-5FC5-BA46D95CE261}"/>
              </a:ext>
            </a:extLst>
          </p:cNvPr>
          <p:cNvPicPr>
            <a:picLocks noChangeAspect="1"/>
          </p:cNvPicPr>
          <p:nvPr/>
        </p:nvPicPr>
        <p:blipFill>
          <a:blip r:embed="rId3"/>
          <a:stretch>
            <a:fillRect/>
          </a:stretch>
        </p:blipFill>
        <p:spPr>
          <a:xfrm>
            <a:off x="428172" y="3191177"/>
            <a:ext cx="3166431" cy="1553530"/>
          </a:xfrm>
          <a:prstGeom prst="rect">
            <a:avLst/>
          </a:prstGeom>
        </p:spPr>
      </p:pic>
      <p:pic>
        <p:nvPicPr>
          <p:cNvPr id="16" name="Picture 15">
            <a:extLst>
              <a:ext uri="{FF2B5EF4-FFF2-40B4-BE49-F238E27FC236}">
                <a16:creationId xmlns:a16="http://schemas.microsoft.com/office/drawing/2014/main" id="{17A55369-27DD-6052-AADC-B0739FB8674D}"/>
              </a:ext>
            </a:extLst>
          </p:cNvPr>
          <p:cNvPicPr>
            <a:picLocks noChangeAspect="1"/>
          </p:cNvPicPr>
          <p:nvPr/>
        </p:nvPicPr>
        <p:blipFill>
          <a:blip r:embed="rId4"/>
          <a:stretch>
            <a:fillRect/>
          </a:stretch>
        </p:blipFill>
        <p:spPr>
          <a:xfrm>
            <a:off x="3754549" y="3219801"/>
            <a:ext cx="2690319" cy="1705979"/>
          </a:xfrm>
          <a:prstGeom prst="rect">
            <a:avLst/>
          </a:prstGeom>
        </p:spPr>
      </p:pic>
    </p:spTree>
    <p:extLst>
      <p:ext uri="{BB962C8B-B14F-4D97-AF65-F5344CB8AC3E}">
        <p14:creationId xmlns:p14="http://schemas.microsoft.com/office/powerpoint/2010/main" val="37078066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34B114-5E3B-29B6-C5A1-5B8E5FC06E43}"/>
            </a:ext>
          </a:extLst>
        </p:cNvPr>
        <p:cNvGrpSpPr/>
        <p:nvPr/>
      </p:nvGrpSpPr>
      <p:grpSpPr>
        <a:xfrm>
          <a:off x="0" y="0"/>
          <a:ext cx="0" cy="0"/>
          <a:chOff x="0" y="0"/>
          <a:chExt cx="0" cy="0"/>
        </a:xfrm>
      </p:grpSpPr>
      <p:sp>
        <p:nvSpPr>
          <p:cNvPr id="5" name="Titolo 4">
            <a:extLst>
              <a:ext uri="{FF2B5EF4-FFF2-40B4-BE49-F238E27FC236}">
                <a16:creationId xmlns:a16="http://schemas.microsoft.com/office/drawing/2014/main" id="{B7B345EF-7BA8-DC56-C69C-3B8D7E90FE63}"/>
              </a:ext>
            </a:extLst>
          </p:cNvPr>
          <p:cNvSpPr>
            <a:spLocks noGrp="1"/>
          </p:cNvSpPr>
          <p:nvPr>
            <p:ph type="title"/>
          </p:nvPr>
        </p:nvSpPr>
        <p:spPr/>
        <p:txBody>
          <a:bodyPr/>
          <a:lstStyle/>
          <a:p>
            <a:r>
              <a:rPr lang="it-IT" dirty="0" err="1"/>
              <a:t>Prerequisites</a:t>
            </a:r>
            <a:r>
              <a:rPr lang="it-IT" dirty="0"/>
              <a:t> &amp; End of class goals</a:t>
            </a:r>
            <a:endParaRPr lang="en-GB" dirty="0"/>
          </a:p>
        </p:txBody>
      </p:sp>
      <p:sp>
        <p:nvSpPr>
          <p:cNvPr id="6" name="Segnaposto contenuto 5">
            <a:extLst>
              <a:ext uri="{FF2B5EF4-FFF2-40B4-BE49-F238E27FC236}">
                <a16:creationId xmlns:a16="http://schemas.microsoft.com/office/drawing/2014/main" id="{47A8037C-40C4-E670-E0E2-3491F7A4BB2F}"/>
              </a:ext>
            </a:extLst>
          </p:cNvPr>
          <p:cNvSpPr>
            <a:spLocks noGrp="1"/>
          </p:cNvSpPr>
          <p:nvPr>
            <p:ph idx="1"/>
          </p:nvPr>
        </p:nvSpPr>
        <p:spPr/>
        <p:txBody>
          <a:bodyPr>
            <a:normAutofit/>
          </a:bodyPr>
          <a:lstStyle/>
          <a:p>
            <a:r>
              <a:rPr lang="en-GB" dirty="0"/>
              <a:t>Prerequisites</a:t>
            </a:r>
          </a:p>
          <a:p>
            <a:pPr lvl="1"/>
            <a:r>
              <a:rPr lang="en-GB" dirty="0"/>
              <a:t>Basic:</a:t>
            </a:r>
          </a:p>
          <a:p>
            <a:pPr lvl="2"/>
            <a:r>
              <a:rPr lang="en-GB" dirty="0"/>
              <a:t>Propension for programming, Python</a:t>
            </a:r>
          </a:p>
          <a:p>
            <a:pPr lvl="1"/>
            <a:r>
              <a:rPr lang="en-GB" dirty="0"/>
              <a:t>Preferable:</a:t>
            </a:r>
          </a:p>
          <a:p>
            <a:pPr lvl="2"/>
            <a:r>
              <a:rPr lang="en-GB" dirty="0"/>
              <a:t>Object-oriented programming</a:t>
            </a:r>
          </a:p>
          <a:p>
            <a:pPr lvl="2"/>
            <a:endParaRPr lang="en-GB" dirty="0"/>
          </a:p>
          <a:p>
            <a:pPr lvl="2"/>
            <a:endParaRPr lang="en-GB" dirty="0"/>
          </a:p>
          <a:p>
            <a:r>
              <a:rPr lang="en-GB" dirty="0"/>
              <a:t>End of class goals</a:t>
            </a:r>
          </a:p>
          <a:p>
            <a:pPr lvl="1"/>
            <a:r>
              <a:rPr lang="en-GB" dirty="0"/>
              <a:t>Knowing how wearable devices communicates to the end-user</a:t>
            </a:r>
          </a:p>
          <a:p>
            <a:pPr lvl="1"/>
            <a:r>
              <a:rPr lang="en-GB" dirty="0"/>
              <a:t>Designing digital solutions to enhance healthcare and well-being</a:t>
            </a:r>
          </a:p>
          <a:p>
            <a:pPr lvl="1"/>
            <a:r>
              <a:rPr lang="en-GB" dirty="0"/>
              <a:t>Developing a fully functioning mobile application </a:t>
            </a:r>
          </a:p>
          <a:p>
            <a:pPr lvl="2"/>
            <a:endParaRPr lang="en-GB" dirty="0"/>
          </a:p>
          <a:p>
            <a:pPr lvl="2"/>
            <a:endParaRPr lang="en-GB" dirty="0"/>
          </a:p>
        </p:txBody>
      </p:sp>
      <p:sp>
        <p:nvSpPr>
          <p:cNvPr id="2" name="Segnaposto numero diapositiva 1">
            <a:extLst>
              <a:ext uri="{FF2B5EF4-FFF2-40B4-BE49-F238E27FC236}">
                <a16:creationId xmlns:a16="http://schemas.microsoft.com/office/drawing/2014/main" id="{546F5AA3-F5BE-04C3-FA2A-41F4B0F7C155}"/>
              </a:ext>
            </a:extLst>
          </p:cNvPr>
          <p:cNvSpPr>
            <a:spLocks noGrp="1"/>
          </p:cNvSpPr>
          <p:nvPr>
            <p:ph type="sldNum" sz="quarter" idx="12"/>
          </p:nvPr>
        </p:nvSpPr>
        <p:spPr/>
        <p:txBody>
          <a:bodyPr/>
          <a:lstStyle/>
          <a:p>
            <a:fld id="{31DE2C5B-556E-47B8-A792-024C2FCA4ACC}" type="slidenum">
              <a:rPr lang="en-GB" smtClean="0"/>
              <a:t>8</a:t>
            </a:fld>
            <a:endParaRPr lang="en-GB"/>
          </a:p>
        </p:txBody>
      </p:sp>
      <p:pic>
        <p:nvPicPr>
          <p:cNvPr id="4" name="Graphic 3" descr="Web design outline">
            <a:extLst>
              <a:ext uri="{FF2B5EF4-FFF2-40B4-BE49-F238E27FC236}">
                <a16:creationId xmlns:a16="http://schemas.microsoft.com/office/drawing/2014/main" id="{393E78A7-8711-D8BA-9A6D-3E4B10149BB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9890165" y="1573149"/>
            <a:ext cx="1759527" cy="1759527"/>
          </a:xfrm>
          <a:prstGeom prst="rect">
            <a:avLst/>
          </a:prstGeom>
        </p:spPr>
      </p:pic>
      <p:pic>
        <p:nvPicPr>
          <p:cNvPr id="8" name="Graphic 7" descr="Bullseye outline">
            <a:extLst>
              <a:ext uri="{FF2B5EF4-FFF2-40B4-BE49-F238E27FC236}">
                <a16:creationId xmlns:a16="http://schemas.microsoft.com/office/drawing/2014/main" id="{E0D7932D-A883-7DBC-9E00-1FB64163EF7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9890165" y="4528333"/>
            <a:ext cx="1759527" cy="1759527"/>
          </a:xfrm>
          <a:prstGeom prst="rect">
            <a:avLst/>
          </a:prstGeom>
        </p:spPr>
      </p:pic>
    </p:spTree>
    <p:extLst>
      <p:ext uri="{BB962C8B-B14F-4D97-AF65-F5344CB8AC3E}">
        <p14:creationId xmlns:p14="http://schemas.microsoft.com/office/powerpoint/2010/main" val="38310294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The </a:t>
            </a:r>
            <a:r>
              <a:rPr lang="it-IT" dirty="0" err="1"/>
              <a:t>exam</a:t>
            </a:r>
            <a:endParaRPr lang="en-GB" dirty="0"/>
          </a:p>
        </p:txBody>
      </p:sp>
      <p:sp>
        <p:nvSpPr>
          <p:cNvPr id="3" name="Segnaposto contenuto 2"/>
          <p:cNvSpPr>
            <a:spLocks noGrp="1"/>
          </p:cNvSpPr>
          <p:nvPr>
            <p:ph idx="1"/>
          </p:nvPr>
        </p:nvSpPr>
        <p:spPr>
          <a:xfrm>
            <a:off x="428172" y="1361166"/>
            <a:ext cx="11368314" cy="5242834"/>
          </a:xfrm>
        </p:spPr>
        <p:txBody>
          <a:bodyPr>
            <a:normAutofit/>
          </a:bodyPr>
          <a:lstStyle/>
          <a:p>
            <a:r>
              <a:rPr lang="en-US" b="1" dirty="0"/>
              <a:t>Written test</a:t>
            </a:r>
            <a:r>
              <a:rPr lang="en-US" dirty="0"/>
              <a:t>: Theory exam</a:t>
            </a:r>
          </a:p>
          <a:p>
            <a:pPr lvl="1"/>
            <a:r>
              <a:rPr lang="en-US" dirty="0"/>
              <a:t>4 open questions</a:t>
            </a:r>
          </a:p>
          <a:p>
            <a:pPr lvl="1"/>
            <a:r>
              <a:rPr lang="en-US" dirty="0"/>
              <a:t>Duration: 90 min</a:t>
            </a:r>
          </a:p>
          <a:p>
            <a:pPr lvl="1"/>
            <a:r>
              <a:rPr lang="en-US" dirty="0"/>
              <a:t>Max vote: 20/30</a:t>
            </a:r>
          </a:p>
          <a:p>
            <a:pPr lvl="1"/>
            <a:endParaRPr lang="en-US" dirty="0"/>
          </a:p>
          <a:p>
            <a:pPr lvl="1"/>
            <a:endParaRPr lang="en-US" dirty="0"/>
          </a:p>
          <a:p>
            <a:r>
              <a:rPr lang="en-US" b="1" dirty="0"/>
              <a:t>Project</a:t>
            </a:r>
            <a:r>
              <a:rPr lang="en-US" dirty="0"/>
              <a:t>: Development of an application that integrates and elaborates data from a smartwatch. To be done in groups of 3 students. </a:t>
            </a:r>
          </a:p>
          <a:p>
            <a:pPr lvl="1"/>
            <a:r>
              <a:rPr lang="en-US" dirty="0"/>
              <a:t>Duration of the discussion: 45 min (25 min presentation + 20 min Q&amp;A)</a:t>
            </a:r>
          </a:p>
          <a:p>
            <a:pPr lvl="1"/>
            <a:r>
              <a:rPr lang="en-US" dirty="0"/>
              <a:t>Max vote: 12/30</a:t>
            </a:r>
          </a:p>
          <a:p>
            <a:pPr lvl="1"/>
            <a:endParaRPr lang="en-US" dirty="0"/>
          </a:p>
          <a:p>
            <a:r>
              <a:rPr lang="en-US" b="1" dirty="0"/>
              <a:t>Final mark</a:t>
            </a:r>
            <a:r>
              <a:rPr lang="en-US" dirty="0"/>
              <a:t>: sum of the votes of the written test and the project.</a:t>
            </a:r>
          </a:p>
        </p:txBody>
      </p:sp>
      <p:sp>
        <p:nvSpPr>
          <p:cNvPr id="5" name="Rettangolo 4"/>
          <p:cNvSpPr/>
          <p:nvPr/>
        </p:nvSpPr>
        <p:spPr>
          <a:xfrm>
            <a:off x="6196411" y="1361166"/>
            <a:ext cx="5425956" cy="1574800"/>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ctr"/>
          <a:lstStyle/>
          <a:p>
            <a:pPr algn="ctr"/>
            <a:r>
              <a:rPr lang="en-GB" b="1" dirty="0">
                <a:latin typeface="Aptos" panose="020B0004020202020204" pitchFamily="34" charset="0"/>
              </a:rPr>
              <a:t>Dates of the written test</a:t>
            </a:r>
            <a:endParaRPr lang="en-GB" dirty="0">
              <a:latin typeface="Aptos" panose="020B0004020202020204" pitchFamily="34" charset="0"/>
            </a:endParaRPr>
          </a:p>
          <a:p>
            <a:pPr marL="285750" indent="-285750">
              <a:buClr>
                <a:srgbClr val="00B050"/>
              </a:buClr>
              <a:buFont typeface="Wingdings" panose="05000000000000000000" pitchFamily="2" charset="2"/>
              <a:buChar char="§"/>
            </a:pPr>
            <a:r>
              <a:rPr lang="en-GB" dirty="0">
                <a:latin typeface="Aptos" panose="020B0004020202020204" pitchFamily="34" charset="0"/>
              </a:rPr>
              <a:t>First attempt: 18 Jun 2026, 14:00 (Room </a:t>
            </a:r>
            <a:r>
              <a:rPr lang="en-GB" dirty="0" err="1">
                <a:latin typeface="Aptos" panose="020B0004020202020204" pitchFamily="34" charset="0"/>
              </a:rPr>
              <a:t>Me+Ne</a:t>
            </a:r>
            <a:r>
              <a:rPr lang="en-GB" dirty="0">
                <a:latin typeface="Aptos" panose="020B0004020202020204" pitchFamily="34" charset="0"/>
              </a:rPr>
              <a:t>)</a:t>
            </a:r>
          </a:p>
          <a:p>
            <a:pPr marL="285750" indent="-285750">
              <a:buClr>
                <a:srgbClr val="00B050"/>
              </a:buClr>
              <a:buFont typeface="Wingdings" panose="05000000000000000000" pitchFamily="2" charset="2"/>
              <a:buChar char="§"/>
            </a:pPr>
            <a:r>
              <a:rPr lang="en-GB" dirty="0">
                <a:latin typeface="Aptos" panose="020B0004020202020204" pitchFamily="34" charset="0"/>
              </a:rPr>
              <a:t>Second round: 07 Jul 2026,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Third round: 28 Aug 2026, 14:00 (Room De)</a:t>
            </a:r>
          </a:p>
          <a:p>
            <a:pPr marL="285750" indent="-285750">
              <a:buClr>
                <a:srgbClr val="00B050"/>
              </a:buClr>
              <a:buFont typeface="Wingdings" panose="05000000000000000000" pitchFamily="2" charset="2"/>
              <a:buChar char="§"/>
            </a:pPr>
            <a:r>
              <a:rPr lang="en-GB" dirty="0">
                <a:latin typeface="Aptos" panose="020B0004020202020204" pitchFamily="34" charset="0"/>
              </a:rPr>
              <a:t>Fourth round: 01 Feb 2027, 14:00 (Room Ee)</a:t>
            </a:r>
          </a:p>
        </p:txBody>
      </p:sp>
      <p:sp>
        <p:nvSpPr>
          <p:cNvPr id="6" name="Segnaposto numero diapositiva 5"/>
          <p:cNvSpPr>
            <a:spLocks noGrp="1"/>
          </p:cNvSpPr>
          <p:nvPr>
            <p:ph type="sldNum" sz="quarter" idx="12"/>
          </p:nvPr>
        </p:nvSpPr>
        <p:spPr/>
        <p:txBody>
          <a:bodyPr/>
          <a:lstStyle/>
          <a:p>
            <a:fld id="{31DE2C5B-556E-47B8-A792-024C2FCA4ACC}" type="slidenum">
              <a:rPr lang="en-GB" smtClean="0"/>
              <a:t>9</a:t>
            </a:fld>
            <a:endParaRPr lang="en-GB"/>
          </a:p>
        </p:txBody>
      </p:sp>
    </p:spTree>
    <p:extLst>
      <p:ext uri="{BB962C8B-B14F-4D97-AF65-F5344CB8AC3E}">
        <p14:creationId xmlns:p14="http://schemas.microsoft.com/office/powerpoint/2010/main" val="30477482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lstStyle/>
          <a:p>
            <a:r>
              <a:rPr lang="en-US" dirty="0"/>
              <a:t>Project: </a:t>
            </a:r>
            <a:r>
              <a:rPr lang="en-IT"/>
              <a:t>What’s the spirit here</a:t>
            </a:r>
            <a:endParaRPr lang="en-IT" dirty="0"/>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6"/>
            <a:ext cx="11368314" cy="5334907"/>
          </a:xfrm>
        </p:spPr>
        <p:txBody>
          <a:bodyPr>
            <a:normAutofit/>
          </a:bodyPr>
          <a:lstStyle/>
          <a:p>
            <a:r>
              <a:rPr lang="en-IT" dirty="0"/>
              <a:t>The goal is learning </a:t>
            </a:r>
            <a:r>
              <a:rPr lang="en-IT" b="1" dirty="0"/>
              <a:t>“How to </a:t>
            </a:r>
            <a:r>
              <a:rPr lang="en-IT" b="1"/>
              <a:t>do SOMETHING</a:t>
            </a:r>
            <a:r>
              <a:rPr lang="en-US" b="1" dirty="0"/>
              <a:t> ORIGINAL</a:t>
            </a:r>
            <a:r>
              <a:rPr lang="en-IT" b="1"/>
              <a:t> </a:t>
            </a:r>
            <a:r>
              <a:rPr lang="en-IT" b="1" dirty="0"/>
              <a:t>using wearable devices”</a:t>
            </a:r>
          </a:p>
          <a:p>
            <a:endParaRPr lang="en-IT" dirty="0"/>
          </a:p>
          <a:p>
            <a:r>
              <a:rPr lang="en-IT" dirty="0"/>
              <a:t>What </a:t>
            </a:r>
            <a:r>
              <a:rPr lang="en-IT" b="1" dirty="0"/>
              <a:t>I DO </a:t>
            </a:r>
            <a:r>
              <a:rPr lang="en-IT" dirty="0"/>
              <a:t>expect from you</a:t>
            </a:r>
          </a:p>
          <a:p>
            <a:pPr lvl="1"/>
            <a:r>
              <a:rPr lang="en-IT" dirty="0"/>
              <a:t>To use your imagination to create that SOMETHING</a:t>
            </a:r>
          </a:p>
          <a:p>
            <a:pPr lvl="1"/>
            <a:r>
              <a:rPr lang="en-IT" dirty="0"/>
              <a:t>To learn to build something from scratch</a:t>
            </a:r>
          </a:p>
          <a:p>
            <a:pPr lvl="1"/>
            <a:r>
              <a:rPr lang="en-IT" dirty="0"/>
              <a:t>To use code built by others </a:t>
            </a:r>
          </a:p>
          <a:p>
            <a:pPr lvl="1"/>
            <a:r>
              <a:rPr lang="en-IT" dirty="0"/>
              <a:t>To work together</a:t>
            </a:r>
          </a:p>
          <a:p>
            <a:pPr lvl="1"/>
            <a:r>
              <a:rPr lang="en-IT" dirty="0"/>
              <a:t>To use Google and StackOverflow</a:t>
            </a:r>
          </a:p>
          <a:p>
            <a:endParaRPr lang="en-IT" dirty="0"/>
          </a:p>
          <a:p>
            <a:r>
              <a:rPr lang="en-IT" dirty="0"/>
              <a:t>What </a:t>
            </a:r>
            <a:r>
              <a:rPr lang="en-IT" b="1" dirty="0"/>
              <a:t>I DO NOT </a:t>
            </a:r>
            <a:r>
              <a:rPr lang="en-IT" dirty="0"/>
              <a:t>expect from you</a:t>
            </a:r>
          </a:p>
          <a:p>
            <a:pPr lvl="1"/>
            <a:r>
              <a:rPr lang="en-IT" dirty="0"/>
              <a:t>To create the new Google </a:t>
            </a:r>
          </a:p>
          <a:p>
            <a:pPr lvl="1"/>
            <a:r>
              <a:rPr lang="en-IT" dirty="0"/>
              <a:t>To reinvent the wheel (copying others code is fine)</a:t>
            </a:r>
          </a:p>
          <a:p>
            <a:pPr lvl="1"/>
            <a:r>
              <a:rPr lang="en-IT" dirty="0"/>
              <a:t>To create extra complicated UI with animations </a:t>
            </a:r>
            <a:r>
              <a:rPr lang="en-IT"/>
              <a:t>and stuff</a:t>
            </a:r>
            <a:endParaRPr lang="en-IT" dirty="0"/>
          </a:p>
        </p:txBody>
      </p:sp>
      <p:sp>
        <p:nvSpPr>
          <p:cNvPr id="4" name="Slide Number Placeholder 3">
            <a:extLst>
              <a:ext uri="{FF2B5EF4-FFF2-40B4-BE49-F238E27FC236}">
                <a16:creationId xmlns:a16="http://schemas.microsoft.com/office/drawing/2014/main" id="{B8AB4CC2-5FCF-4B45-B2DB-81D138824661}"/>
              </a:ext>
            </a:extLst>
          </p:cNvPr>
          <p:cNvSpPr>
            <a:spLocks noGrp="1"/>
          </p:cNvSpPr>
          <p:nvPr>
            <p:ph type="sldNum" sz="quarter" idx="12"/>
          </p:nvPr>
        </p:nvSpPr>
        <p:spPr/>
        <p:txBody>
          <a:bodyPr/>
          <a:lstStyle/>
          <a:p>
            <a:fld id="{31DE2C5B-556E-47B8-A792-024C2FCA4ACC}" type="slidenum">
              <a:rPr lang="en-GB" smtClean="0"/>
              <a:t>10</a:t>
            </a:fld>
            <a:endParaRPr lang="en-GB" dirty="0"/>
          </a:p>
        </p:txBody>
      </p:sp>
    </p:spTree>
    <p:extLst>
      <p:ext uri="{BB962C8B-B14F-4D97-AF65-F5344CB8AC3E}">
        <p14:creationId xmlns:p14="http://schemas.microsoft.com/office/powerpoint/2010/main" val="441552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Project structure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lnSpcReduction="10000"/>
          </a:bodyPr>
          <a:lstStyle/>
          <a:p>
            <a:r>
              <a:rPr lang="en-IT" dirty="0"/>
              <a:t>The project consists of building an app for iOS or Android that collects user data from a wearable device through </a:t>
            </a:r>
            <a:r>
              <a:rPr lang="en-IT"/>
              <a:t>Web APIs, </a:t>
            </a:r>
            <a:r>
              <a:rPr lang="en-IT" dirty="0"/>
              <a:t>visualizes them, and does some tricks with them.</a:t>
            </a:r>
          </a:p>
          <a:p>
            <a:endParaRPr lang="en-IT" dirty="0"/>
          </a:p>
          <a:p>
            <a:r>
              <a:rPr lang="en-IT" dirty="0"/>
              <a:t>Core functionalities:</a:t>
            </a:r>
          </a:p>
          <a:p>
            <a:pPr lvl="1"/>
            <a:r>
              <a:rPr lang="en-US" dirty="0"/>
              <a:t>Correct app flow</a:t>
            </a:r>
          </a:p>
          <a:p>
            <a:pPr lvl="1"/>
            <a:r>
              <a:rPr lang="en-IT"/>
              <a:t>User </a:t>
            </a:r>
            <a:r>
              <a:rPr lang="en-IT" dirty="0"/>
              <a:t>authentication and management</a:t>
            </a:r>
          </a:p>
          <a:p>
            <a:pPr lvl="1"/>
            <a:r>
              <a:rPr lang="en-IT" dirty="0"/>
              <a:t>Data collection</a:t>
            </a:r>
          </a:p>
          <a:p>
            <a:pPr lvl="1"/>
            <a:r>
              <a:rPr lang="en-IT"/>
              <a:t>Data </a:t>
            </a:r>
            <a:r>
              <a:rPr lang="en-IT" dirty="0"/>
              <a:t>visualization and presentation</a:t>
            </a:r>
          </a:p>
          <a:p>
            <a:pPr lvl="1"/>
            <a:endParaRPr lang="en-IT" dirty="0"/>
          </a:p>
          <a:p>
            <a:r>
              <a:rPr lang="en-IT" dirty="0"/>
              <a:t>Additional fuctionalities </a:t>
            </a:r>
            <a:r>
              <a:rPr lang="en-IT" dirty="0">
                <a:sym typeface="Wingdings" pitchFamily="2" charset="2"/>
              </a:rPr>
              <a:t> It’s up to you! </a:t>
            </a:r>
            <a:br>
              <a:rPr lang="en-IT" dirty="0">
                <a:sym typeface="Wingdings" pitchFamily="2" charset="2"/>
              </a:rPr>
            </a:br>
            <a:r>
              <a:rPr lang="en-IT" dirty="0">
                <a:sym typeface="Wingdings" pitchFamily="2" charset="2"/>
              </a:rPr>
              <a:t>Some examples:</a:t>
            </a:r>
          </a:p>
          <a:p>
            <a:pPr lvl="1"/>
            <a:r>
              <a:rPr lang="en-IT" dirty="0">
                <a:sym typeface="Wingdings" pitchFamily="2" charset="2"/>
              </a:rPr>
              <a:t>Run some analysis on data and provide suggestions to the user</a:t>
            </a:r>
          </a:p>
          <a:p>
            <a:pPr lvl="1"/>
            <a:r>
              <a:rPr lang="en-IT" dirty="0">
                <a:sym typeface="Wingdings" pitchFamily="2" charset="2"/>
              </a:rPr>
              <a:t>Implement some literature algorithm</a:t>
            </a:r>
          </a:p>
          <a:p>
            <a:pPr lvl="1"/>
            <a:r>
              <a:rPr lang="en-IT" dirty="0"/>
              <a:t>…</a:t>
            </a:r>
          </a:p>
        </p:txBody>
      </p:sp>
      <p:pic>
        <p:nvPicPr>
          <p:cNvPr id="5" name="Graphic 4" descr="Smart Phone outline">
            <a:extLst>
              <a:ext uri="{FF2B5EF4-FFF2-40B4-BE49-F238E27FC236}">
                <a16:creationId xmlns:a16="http://schemas.microsoft.com/office/drawing/2014/main" id="{78A8D23E-0756-2147-ACC2-504D5D08A446}"/>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71265" y="2228532"/>
            <a:ext cx="2336041" cy="2336041"/>
          </a:xfrm>
          <a:prstGeom prst="rect">
            <a:avLst/>
          </a:prstGeom>
        </p:spPr>
      </p:pic>
      <p:pic>
        <p:nvPicPr>
          <p:cNvPr id="7" name="Graphic 6" descr="Internet Of Things outline">
            <a:extLst>
              <a:ext uri="{FF2B5EF4-FFF2-40B4-BE49-F238E27FC236}">
                <a16:creationId xmlns:a16="http://schemas.microsoft.com/office/drawing/2014/main" id="{ECADEE4B-11CF-4A4B-A5E4-ACAE7D850CED}"/>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8106344" y="2527792"/>
            <a:ext cx="1737519" cy="1737519"/>
          </a:xfrm>
          <a:prstGeom prst="rect">
            <a:avLst/>
          </a:prstGeom>
        </p:spPr>
      </p:pic>
      <p:pic>
        <p:nvPicPr>
          <p:cNvPr id="9" name="Graphic 8" descr="Ethernet outline">
            <a:extLst>
              <a:ext uri="{FF2B5EF4-FFF2-40B4-BE49-F238E27FC236}">
                <a16:creationId xmlns:a16="http://schemas.microsoft.com/office/drawing/2014/main" id="{E7678299-0C23-9D41-8D1F-9C0BD76AACF0}"/>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9843863" y="2863884"/>
            <a:ext cx="914400" cy="914400"/>
          </a:xfrm>
          <a:prstGeom prst="rect">
            <a:avLst/>
          </a:prstGeom>
        </p:spPr>
      </p:pic>
      <p:pic>
        <p:nvPicPr>
          <p:cNvPr id="11" name="Graphic 10" descr="Gears outline">
            <a:extLst>
              <a:ext uri="{FF2B5EF4-FFF2-40B4-BE49-F238E27FC236}">
                <a16:creationId xmlns:a16="http://schemas.microsoft.com/office/drawing/2014/main" id="{D0AA5189-336A-034D-9196-3F7957D7F260}"/>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10882085" y="2939352"/>
            <a:ext cx="914400" cy="914400"/>
          </a:xfrm>
          <a:prstGeom prst="rect">
            <a:avLst/>
          </a:prstGeom>
        </p:spPr>
      </p:pic>
      <p:pic>
        <p:nvPicPr>
          <p:cNvPr id="12" name="Picture 11">
            <a:extLst>
              <a:ext uri="{FF2B5EF4-FFF2-40B4-BE49-F238E27FC236}">
                <a16:creationId xmlns:a16="http://schemas.microsoft.com/office/drawing/2014/main" id="{F9970AB4-79AF-DB44-BC6E-1792D58874FE}"/>
              </a:ext>
            </a:extLst>
          </p:cNvPr>
          <p:cNvPicPr>
            <a:picLocks noChangeAspect="1"/>
          </p:cNvPicPr>
          <p:nvPr/>
        </p:nvPicPr>
        <p:blipFill>
          <a:blip r:embed="rId11"/>
          <a:stretch>
            <a:fillRect/>
          </a:stretch>
        </p:blipFill>
        <p:spPr>
          <a:xfrm>
            <a:off x="8532206" y="4297379"/>
            <a:ext cx="1422400" cy="1422400"/>
          </a:xfrm>
          <a:prstGeom prst="rect">
            <a:avLst/>
          </a:prstGeom>
        </p:spPr>
      </p:pic>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11</a:t>
            </a:fld>
            <a:endParaRPr lang="en-GB" dirty="0"/>
          </a:p>
        </p:txBody>
      </p:sp>
    </p:spTree>
    <p:extLst>
      <p:ext uri="{BB962C8B-B14F-4D97-AF65-F5344CB8AC3E}">
        <p14:creationId xmlns:p14="http://schemas.microsoft.com/office/powerpoint/2010/main" val="26068311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Grading</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p:txBody>
          <a:bodyPr>
            <a:normAutofit/>
          </a:bodyPr>
          <a:lstStyle/>
          <a:p>
            <a:r>
              <a:rPr lang="en-IT" dirty="0"/>
              <a:t>W</a:t>
            </a:r>
            <a:r>
              <a:rPr lang="en-GB" dirty="0"/>
              <a:t>ha</a:t>
            </a:r>
            <a:r>
              <a:rPr lang="en-IT" dirty="0"/>
              <a:t>t are the grading criteria</a:t>
            </a:r>
          </a:p>
          <a:p>
            <a:pPr lvl="1"/>
            <a:r>
              <a:rPr lang="en-IT"/>
              <a:t>Compliance </a:t>
            </a:r>
            <a:r>
              <a:rPr lang="en-IT" dirty="0"/>
              <a:t>to </a:t>
            </a:r>
            <a:r>
              <a:rPr lang="en-IT"/>
              <a:t>core functionalities</a:t>
            </a:r>
            <a:endParaRPr lang="en-US" dirty="0"/>
          </a:p>
          <a:p>
            <a:pPr lvl="1"/>
            <a:r>
              <a:rPr lang="en-IT"/>
              <a:t>Originality of the additional feature</a:t>
            </a:r>
          </a:p>
          <a:p>
            <a:pPr lvl="1"/>
            <a:r>
              <a:rPr lang="en-IT"/>
              <a:t>Quality of teamwork </a:t>
            </a:r>
            <a:endParaRPr lang="en-IT" dirty="0"/>
          </a:p>
          <a:p>
            <a:pPr marL="0" indent="0">
              <a:buNone/>
            </a:pPr>
            <a:endParaRPr lang="en-IT" dirty="0"/>
          </a:p>
          <a:p>
            <a:r>
              <a:rPr lang="en-IT" dirty="0"/>
              <a:t>How much these criteria matter?</a:t>
            </a:r>
          </a:p>
          <a:p>
            <a:pPr lvl="1"/>
            <a:r>
              <a:rPr lang="en-IT" dirty="0"/>
              <a:t>Core functionalities</a:t>
            </a:r>
            <a:r>
              <a:rPr lang="en-IT"/>
              <a:t>: </a:t>
            </a:r>
            <a:r>
              <a:rPr lang="en-US" dirty="0"/>
              <a:t>40</a:t>
            </a:r>
            <a:r>
              <a:rPr lang="en-IT"/>
              <a:t>%</a:t>
            </a:r>
            <a:endParaRPr lang="en-IT" dirty="0"/>
          </a:p>
          <a:p>
            <a:pPr lvl="1"/>
            <a:r>
              <a:rPr lang="en-US" dirty="0"/>
              <a:t>A</a:t>
            </a:r>
            <a:r>
              <a:rPr lang="en-IT"/>
              <a:t>dditional </a:t>
            </a:r>
            <a:r>
              <a:rPr lang="en-IT" dirty="0"/>
              <a:t>app functionalities</a:t>
            </a:r>
            <a:r>
              <a:rPr lang="en-IT"/>
              <a:t>: </a:t>
            </a:r>
            <a:r>
              <a:rPr lang="en-US" dirty="0"/>
              <a:t>50</a:t>
            </a:r>
            <a:r>
              <a:rPr lang="en-IT"/>
              <a:t>%</a:t>
            </a:r>
            <a:endParaRPr lang="en-IT" dirty="0"/>
          </a:p>
          <a:p>
            <a:pPr lvl="1"/>
            <a:r>
              <a:rPr lang="en-IT" dirty="0"/>
              <a:t>Quality of teamwork</a:t>
            </a:r>
            <a:r>
              <a:rPr lang="en-IT"/>
              <a:t>: </a:t>
            </a:r>
            <a:r>
              <a:rPr lang="en-US" dirty="0"/>
              <a:t>10</a:t>
            </a:r>
            <a:r>
              <a:rPr lang="en-IT"/>
              <a:t>%</a:t>
            </a:r>
            <a:endParaRPr lang="en-IT" dirty="0"/>
          </a:p>
        </p:txBody>
      </p:sp>
      <p:graphicFrame>
        <p:nvGraphicFramePr>
          <p:cNvPr id="4" name="Chart 3">
            <a:extLst>
              <a:ext uri="{FF2B5EF4-FFF2-40B4-BE49-F238E27FC236}">
                <a16:creationId xmlns:a16="http://schemas.microsoft.com/office/drawing/2014/main" id="{2DB37CC9-83F2-9D40-9D73-29E50E4A90FF}"/>
              </a:ext>
            </a:extLst>
          </p:cNvPr>
          <p:cNvGraphicFramePr/>
          <p:nvPr>
            <p:extLst>
              <p:ext uri="{D42A27DB-BD31-4B8C-83A1-F6EECF244321}">
                <p14:modId xmlns:p14="http://schemas.microsoft.com/office/powerpoint/2010/main" val="2992050634"/>
              </p:ext>
            </p:extLst>
          </p:nvPr>
        </p:nvGraphicFramePr>
        <p:xfrm>
          <a:off x="6373504" y="1361168"/>
          <a:ext cx="5527344" cy="4858202"/>
        </p:xfrm>
        <a:graphic>
          <a:graphicData uri="http://schemas.openxmlformats.org/drawingml/2006/chart">
            <c:chart xmlns:c="http://schemas.openxmlformats.org/drawingml/2006/chart" xmlns:r="http://schemas.openxmlformats.org/officeDocument/2006/relationships" r:id="rId3"/>
          </a:graphicData>
        </a:graphic>
      </p:graphicFrame>
      <p:sp>
        <p:nvSpPr>
          <p:cNvPr id="5" name="Slide Number Placeholder 4">
            <a:extLst>
              <a:ext uri="{FF2B5EF4-FFF2-40B4-BE49-F238E27FC236}">
                <a16:creationId xmlns:a16="http://schemas.microsoft.com/office/drawing/2014/main" id="{1DF51094-64B1-C544-B8D7-90029F9E4D63}"/>
              </a:ext>
            </a:extLst>
          </p:cNvPr>
          <p:cNvSpPr>
            <a:spLocks noGrp="1"/>
          </p:cNvSpPr>
          <p:nvPr>
            <p:ph type="sldNum" sz="quarter" idx="12"/>
          </p:nvPr>
        </p:nvSpPr>
        <p:spPr/>
        <p:txBody>
          <a:bodyPr/>
          <a:lstStyle/>
          <a:p>
            <a:fld id="{31DE2C5B-556E-47B8-A792-024C2FCA4ACC}" type="slidenum">
              <a:rPr lang="en-GB" smtClean="0"/>
              <a:t>12</a:t>
            </a:fld>
            <a:endParaRPr lang="en-GB" dirty="0"/>
          </a:p>
        </p:txBody>
      </p:sp>
    </p:spTree>
    <p:extLst>
      <p:ext uri="{BB962C8B-B14F-4D97-AF65-F5344CB8AC3E}">
        <p14:creationId xmlns:p14="http://schemas.microsoft.com/office/powerpoint/2010/main" val="18127897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a:bodyPr>
          <a:lstStyle/>
          <a:p>
            <a:r>
              <a:rPr lang="en-IT" dirty="0"/>
              <a:t>Your app must represent a solution for the current SDGs (Sustainable Development Goals) targets</a:t>
            </a:r>
          </a:p>
          <a:p>
            <a:endParaRPr lang="en-IT" dirty="0"/>
          </a:p>
          <a:p>
            <a:r>
              <a:rPr lang="en-IT" dirty="0"/>
              <a:t>SDG are 17 topics representing the current </a:t>
            </a:r>
            <a:br>
              <a:rPr lang="en-IT" dirty="0"/>
            </a:br>
            <a:r>
              <a:rPr lang="en-IT" dirty="0"/>
              <a:t>big challenges humanity must face and solve</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13</a:t>
            </a:fld>
            <a:endParaRPr lang="en-GB" dirty="0"/>
          </a:p>
        </p:txBody>
      </p:sp>
      <p:pic>
        <p:nvPicPr>
          <p:cNvPr id="8" name="Picture 7" descr="Website&#10;&#10;Description automatically generated">
            <a:extLst>
              <a:ext uri="{FF2B5EF4-FFF2-40B4-BE49-F238E27FC236}">
                <a16:creationId xmlns:a16="http://schemas.microsoft.com/office/drawing/2014/main" id="{45CB5F36-C212-74E0-FA86-35977EC098A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31748" y="2112530"/>
            <a:ext cx="5023137" cy="4095891"/>
          </a:xfrm>
          <a:prstGeom prst="rect">
            <a:avLst/>
          </a:prstGeom>
        </p:spPr>
      </p:pic>
      <p:pic>
        <p:nvPicPr>
          <p:cNvPr id="1026" name="Picture 2">
            <a:extLst>
              <a:ext uri="{FF2B5EF4-FFF2-40B4-BE49-F238E27FC236}">
                <a16:creationId xmlns:a16="http://schemas.microsoft.com/office/drawing/2014/main" id="{22BB70CE-3C3B-1BC8-3337-D43BD9B1B53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18941" y="3429000"/>
            <a:ext cx="5331986" cy="32488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090414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Choose your target</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20000"/>
          </a:bodyPr>
          <a:lstStyle/>
          <a:p>
            <a:r>
              <a:rPr lang="en-IT" dirty="0"/>
              <a:t>These are the target you can choose from (see </a:t>
            </a:r>
            <a:r>
              <a:rPr lang="en-IT"/>
              <a:t>the </a:t>
            </a:r>
            <a:r>
              <a:rPr lang="en-US" dirty="0" err="1"/>
              <a:t>elearning</a:t>
            </a:r>
            <a:r>
              <a:rPr lang="en-IT"/>
              <a:t> </a:t>
            </a:r>
            <a:r>
              <a:rPr lang="en-IT" dirty="0"/>
              <a:t>page for more details):</a:t>
            </a:r>
          </a:p>
          <a:p>
            <a:endParaRPr lang="en-IT" dirty="0"/>
          </a:p>
          <a:p>
            <a:pPr lvl="1"/>
            <a:r>
              <a:rPr lang="en-GB" b="1" u="sng" dirty="0"/>
              <a:t>SDG 2: Target 2.2</a:t>
            </a:r>
            <a:r>
              <a:rPr lang="en-GB" dirty="0"/>
              <a:t> (By 2030, end all forms of malnutrition, including achieving, by 2025, the internationally agreed targets on stunting and wasting in children under 5 years of age, and address the nutritional needs of adolescent girls, pregnant and lactating women and older persons)</a:t>
            </a:r>
            <a:endParaRPr lang="en-IT" dirty="0"/>
          </a:p>
          <a:p>
            <a:pPr lvl="1"/>
            <a:r>
              <a:rPr lang="en-GB" b="1" u="sng" dirty="0"/>
              <a:t>SDG 2: Target 2.3</a:t>
            </a:r>
            <a:r>
              <a:rPr lang="en-GB" dirty="0"/>
              <a:t> (By 2030, double the agricultural productivity and incomes of small-scale food producers, in particular women, indigenous peoples, family farmers, pastoralists and fishers, including through secure and equal access to land, other productive resources and inputs, knowledge, financial services, markets and opportunities for value addition and non-farm employment)</a:t>
            </a:r>
          </a:p>
          <a:p>
            <a:pPr lvl="1"/>
            <a:r>
              <a:rPr lang="en-GB" b="1" u="sng" dirty="0"/>
              <a:t>SDG 3: Target 3.4 </a:t>
            </a:r>
            <a:r>
              <a:rPr lang="en-GB" dirty="0"/>
              <a:t>(By 2030, reduce by one third premature mortality from non-communicable diseases through prevention and treatment and promote mental health and well-being) </a:t>
            </a:r>
          </a:p>
          <a:p>
            <a:pPr lvl="1"/>
            <a:r>
              <a:rPr lang="en-GB" b="1" u="sng" dirty="0"/>
              <a:t>SDG 3: Target 3.5</a:t>
            </a:r>
            <a:r>
              <a:rPr lang="en-GB" dirty="0"/>
              <a:t> (Strengthen the prevention and treatment of substance abuse, including narcotic drug abuse and harmful use of alcohol)</a:t>
            </a:r>
          </a:p>
          <a:p>
            <a:pPr lvl="1"/>
            <a:r>
              <a:rPr lang="en-GB" b="1" u="sng" dirty="0"/>
              <a:t>SDG 4: Target 4.7 </a:t>
            </a:r>
            <a:r>
              <a:rPr lang="en-GB" dirty="0"/>
              <a:t>(By 2030, ensure that all learners acquire the knowledge and skills needed to promote sustainable development, including, among others, through education for sustainable development and sustainable lifestyles, human rights, gender equality, promotion of a culture of peace and non-violence, global citizenship and appreciation of cultural diversity and of culture’s contribution to sustainable development) </a:t>
            </a:r>
          </a:p>
          <a:p>
            <a:pPr lvl="1"/>
            <a:r>
              <a:rPr lang="en-GB" b="1" u="sng" dirty="0"/>
              <a:t>SDG 8: Target 8.9 </a:t>
            </a:r>
            <a:r>
              <a:rPr lang="en-GB" dirty="0"/>
              <a:t>(By 2030, devise and implement policies to promote sustainable tourism that creates jobs and promotes local culture and products)</a:t>
            </a:r>
            <a:endParaRPr lang="en-IT" dirty="0"/>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14</a:t>
            </a:fld>
            <a:endParaRPr lang="en-GB" dirty="0"/>
          </a:p>
        </p:txBody>
      </p:sp>
    </p:spTree>
    <p:extLst>
      <p:ext uri="{BB962C8B-B14F-4D97-AF65-F5344CB8AC3E}">
        <p14:creationId xmlns:p14="http://schemas.microsoft.com/office/powerpoint/2010/main" val="404324787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Data source</a:t>
            </a:r>
          </a:p>
        </p:txBody>
      </p:sp>
      <p:sp>
        <p:nvSpPr>
          <p:cNvPr id="3" name="Content Placeholder 2">
            <a:extLst>
              <a:ext uri="{FF2B5EF4-FFF2-40B4-BE49-F238E27FC236}">
                <a16:creationId xmlns:a16="http://schemas.microsoft.com/office/drawing/2014/main" id="{ECD4BA52-23DB-D94D-9195-7777C71CD155}"/>
              </a:ext>
            </a:extLst>
          </p:cNvPr>
          <p:cNvSpPr>
            <a:spLocks noGrp="1"/>
          </p:cNvSpPr>
          <p:nvPr>
            <p:ph idx="1"/>
          </p:nvPr>
        </p:nvSpPr>
        <p:spPr>
          <a:xfrm>
            <a:off x="428172" y="1361167"/>
            <a:ext cx="11368314" cy="5334907"/>
          </a:xfrm>
        </p:spPr>
        <p:txBody>
          <a:bodyPr>
            <a:normAutofit fontScale="92500" lnSpcReduction="10000"/>
          </a:bodyPr>
          <a:lstStyle/>
          <a:p>
            <a:endParaRPr lang="en-IT" dirty="0"/>
          </a:p>
          <a:p>
            <a:r>
              <a:rPr lang="en-IT" dirty="0"/>
              <a:t>Data that you will use are collected by me using a Fitbit Versa 2</a:t>
            </a:r>
          </a:p>
          <a:p>
            <a:endParaRPr lang="en-IT" dirty="0"/>
          </a:p>
          <a:p>
            <a:r>
              <a:rPr lang="en-IT" dirty="0"/>
              <a:t>Data are available starting from 09/02 and will be collected up </a:t>
            </a:r>
            <a:r>
              <a:rPr lang="en-IT"/>
              <a:t>to 30/11</a:t>
            </a:r>
            <a:endParaRPr lang="en-US" dirty="0"/>
          </a:p>
          <a:p>
            <a:endParaRPr lang="en-US" dirty="0"/>
          </a:p>
          <a:p>
            <a:r>
              <a:rPr lang="en-US" dirty="0"/>
              <a:t>The following data “types” are included(see mor details in the Appendix)</a:t>
            </a:r>
            <a:r>
              <a:rPr lang="en-IT"/>
              <a:t>:</a:t>
            </a:r>
            <a:endParaRPr lang="en-IT" dirty="0"/>
          </a:p>
          <a:p>
            <a:pPr lvl="1"/>
            <a:r>
              <a:rPr lang="en-IT" dirty="0"/>
              <a:t>Calories</a:t>
            </a:r>
          </a:p>
          <a:p>
            <a:pPr lvl="1"/>
            <a:r>
              <a:rPr lang="en-IT" dirty="0"/>
              <a:t>Distance</a:t>
            </a:r>
          </a:p>
          <a:p>
            <a:pPr lvl="1"/>
            <a:r>
              <a:rPr lang="en-IT" dirty="0"/>
              <a:t>Exercise sessions</a:t>
            </a:r>
          </a:p>
          <a:p>
            <a:pPr lvl="1"/>
            <a:r>
              <a:rPr lang="en-IT" dirty="0"/>
              <a:t>Heart rate</a:t>
            </a:r>
          </a:p>
          <a:p>
            <a:pPr lvl="1"/>
            <a:r>
              <a:rPr lang="en-IT" dirty="0"/>
              <a:t>Resting heart rate (Estimated)</a:t>
            </a:r>
          </a:p>
          <a:p>
            <a:pPr lvl="1"/>
            <a:r>
              <a:rPr lang="en-IT" dirty="0"/>
              <a:t>Sleep</a:t>
            </a:r>
          </a:p>
          <a:p>
            <a:pPr lvl="1"/>
            <a:r>
              <a:rPr lang="en-IT"/>
              <a:t>Steps</a:t>
            </a:r>
            <a:endParaRPr lang="en-US" dirty="0"/>
          </a:p>
          <a:p>
            <a:pPr lvl="1"/>
            <a:endParaRPr lang="en-IT" dirty="0"/>
          </a:p>
          <a:p>
            <a:r>
              <a:rPr lang="en-IT" dirty="0"/>
              <a:t>Your project must use at least 1 type of data</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15</a:t>
            </a:fld>
            <a:endParaRPr lang="en-GB" dirty="0"/>
          </a:p>
        </p:txBody>
      </p:sp>
      <p:pic>
        <p:nvPicPr>
          <p:cNvPr id="9" name="Picture 8">
            <a:extLst>
              <a:ext uri="{FF2B5EF4-FFF2-40B4-BE49-F238E27FC236}">
                <a16:creationId xmlns:a16="http://schemas.microsoft.com/office/drawing/2014/main" id="{7C73BE74-2A1A-858A-D7FE-ED2AFECA5AFE}"/>
              </a:ext>
            </a:extLst>
          </p:cNvPr>
          <p:cNvPicPr>
            <a:picLocks noChangeAspect="1"/>
          </p:cNvPicPr>
          <p:nvPr/>
        </p:nvPicPr>
        <p:blipFill>
          <a:blip r:embed="rId3"/>
          <a:stretch>
            <a:fillRect/>
          </a:stretch>
        </p:blipFill>
        <p:spPr>
          <a:xfrm>
            <a:off x="8784760" y="3965924"/>
            <a:ext cx="2438746" cy="2572988"/>
          </a:xfrm>
          <a:prstGeom prst="rect">
            <a:avLst/>
          </a:prstGeom>
        </p:spPr>
      </p:pic>
    </p:spTree>
    <p:extLst>
      <p:ext uri="{BB962C8B-B14F-4D97-AF65-F5344CB8AC3E}">
        <p14:creationId xmlns:p14="http://schemas.microsoft.com/office/powerpoint/2010/main" val="28773782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BE60FB-C861-1E44-92E6-8F9396441CB2}"/>
              </a:ext>
            </a:extLst>
          </p:cNvPr>
          <p:cNvSpPr>
            <a:spLocks noGrp="1"/>
          </p:cNvSpPr>
          <p:nvPr>
            <p:ph type="title"/>
          </p:nvPr>
        </p:nvSpPr>
        <p:spPr/>
        <p:txBody>
          <a:bodyPr>
            <a:normAutofit/>
          </a:bodyPr>
          <a:lstStyle/>
          <a:p>
            <a:r>
              <a:rPr lang="en-IT" dirty="0"/>
              <a:t>How to get data - The IMPACT backend</a:t>
            </a:r>
          </a:p>
        </p:txBody>
      </p:sp>
      <p:sp>
        <p:nvSpPr>
          <p:cNvPr id="4" name="Slide Number Placeholder 3">
            <a:extLst>
              <a:ext uri="{FF2B5EF4-FFF2-40B4-BE49-F238E27FC236}">
                <a16:creationId xmlns:a16="http://schemas.microsoft.com/office/drawing/2014/main" id="{C57ACF48-43BD-9049-83DA-4C0AF0AC5D28}"/>
              </a:ext>
            </a:extLst>
          </p:cNvPr>
          <p:cNvSpPr>
            <a:spLocks noGrp="1"/>
          </p:cNvSpPr>
          <p:nvPr>
            <p:ph type="sldNum" sz="quarter" idx="12"/>
          </p:nvPr>
        </p:nvSpPr>
        <p:spPr/>
        <p:txBody>
          <a:bodyPr/>
          <a:lstStyle/>
          <a:p>
            <a:fld id="{31DE2C5B-556E-47B8-A792-024C2FCA4ACC}" type="slidenum">
              <a:rPr lang="en-GB" smtClean="0"/>
              <a:t>16</a:t>
            </a:fld>
            <a:endParaRPr lang="en-GB" dirty="0"/>
          </a:p>
        </p:txBody>
      </p:sp>
      <p:pic>
        <p:nvPicPr>
          <p:cNvPr id="6" name="Picture 5" descr="A picture containing text&#10;&#10;Description automatically generated">
            <a:extLst>
              <a:ext uri="{FF2B5EF4-FFF2-40B4-BE49-F238E27FC236}">
                <a16:creationId xmlns:a16="http://schemas.microsoft.com/office/drawing/2014/main" id="{68B4606E-6CE4-3D5F-4F4A-F88148AE3D5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392948" y="1981579"/>
            <a:ext cx="2435304" cy="1718017"/>
          </a:xfrm>
          <a:prstGeom prst="rect">
            <a:avLst/>
          </a:prstGeom>
          <a:ln w="38100">
            <a:solidFill>
              <a:srgbClr val="C00000"/>
            </a:solidFill>
          </a:ln>
        </p:spPr>
      </p:pic>
      <p:sp>
        <p:nvSpPr>
          <p:cNvPr id="8" name="Content Placeholder 2">
            <a:extLst>
              <a:ext uri="{FF2B5EF4-FFF2-40B4-BE49-F238E27FC236}">
                <a16:creationId xmlns:a16="http://schemas.microsoft.com/office/drawing/2014/main" id="{D49FCE54-4F42-AAF9-4E62-B5F5431C2580}"/>
              </a:ext>
            </a:extLst>
          </p:cNvPr>
          <p:cNvSpPr txBox="1">
            <a:spLocks/>
          </p:cNvSpPr>
          <p:nvPr/>
        </p:nvSpPr>
        <p:spPr>
          <a:xfrm>
            <a:off x="6900652" y="3841420"/>
            <a:ext cx="3329616" cy="465985"/>
          </a:xfrm>
          <a:prstGeom prst="rect">
            <a:avLst/>
          </a:prstGeom>
        </p:spPr>
        <p:txBody>
          <a:bodyPr vert="horz" lIns="91440" tIns="45720" rIns="91440" bIns="45720" rtlCol="0">
            <a:normAutofit fontScale="925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1600" b="1" dirty="0">
                <a:solidFill>
                  <a:srgbClr val="C00000"/>
                </a:solidFill>
                <a:latin typeface="Aptos" panose="020B0004020202020204" pitchFamily="34" charset="0"/>
              </a:rPr>
              <a:t>https://impact.dei.unipd.it/bwthw/</a:t>
            </a:r>
          </a:p>
        </p:txBody>
      </p:sp>
      <p:grpSp>
        <p:nvGrpSpPr>
          <p:cNvPr id="12" name="Group 11">
            <a:extLst>
              <a:ext uri="{FF2B5EF4-FFF2-40B4-BE49-F238E27FC236}">
                <a16:creationId xmlns:a16="http://schemas.microsoft.com/office/drawing/2014/main" id="{D03EB194-617E-B58E-CE96-0B1F4BE0E372}"/>
              </a:ext>
            </a:extLst>
          </p:cNvPr>
          <p:cNvGrpSpPr/>
          <p:nvPr/>
        </p:nvGrpSpPr>
        <p:grpSpPr>
          <a:xfrm>
            <a:off x="1770295" y="1241872"/>
            <a:ext cx="3276939" cy="3147039"/>
            <a:chOff x="0" y="1584963"/>
            <a:chExt cx="2102029" cy="2102029"/>
          </a:xfrm>
        </p:grpSpPr>
        <p:pic>
          <p:nvPicPr>
            <p:cNvPr id="10" name="Graphic 9" descr="Smart Phone outline">
              <a:extLst>
                <a:ext uri="{FF2B5EF4-FFF2-40B4-BE49-F238E27FC236}">
                  <a16:creationId xmlns:a16="http://schemas.microsoft.com/office/drawing/2014/main" id="{CA2DCB31-A77D-BD86-E4B0-289F26710DCE}"/>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0" y="1584963"/>
              <a:ext cx="2102029" cy="2102029"/>
            </a:xfrm>
            <a:prstGeom prst="rect">
              <a:avLst/>
            </a:prstGeom>
          </p:spPr>
        </p:pic>
        <p:pic>
          <p:nvPicPr>
            <p:cNvPr id="11" name="Picture 10">
              <a:extLst>
                <a:ext uri="{FF2B5EF4-FFF2-40B4-BE49-F238E27FC236}">
                  <a16:creationId xmlns:a16="http://schemas.microsoft.com/office/drawing/2014/main" id="{E43A3C7F-BD6D-E717-036E-1B0293D02D3C}"/>
                </a:ext>
              </a:extLst>
            </p:cNvPr>
            <p:cNvPicPr>
              <a:picLocks noChangeAspect="1"/>
            </p:cNvPicPr>
            <p:nvPr/>
          </p:nvPicPr>
          <p:blipFill>
            <a:blip r:embed="rId6"/>
            <a:stretch>
              <a:fillRect/>
            </a:stretch>
          </p:blipFill>
          <p:spPr>
            <a:xfrm>
              <a:off x="735199" y="2175669"/>
              <a:ext cx="623644" cy="920618"/>
            </a:xfrm>
            <a:prstGeom prst="rect">
              <a:avLst/>
            </a:prstGeom>
          </p:spPr>
        </p:pic>
      </p:grpSp>
      <p:sp>
        <p:nvSpPr>
          <p:cNvPr id="5" name="Content Placeholder 2">
            <a:extLst>
              <a:ext uri="{FF2B5EF4-FFF2-40B4-BE49-F238E27FC236}">
                <a16:creationId xmlns:a16="http://schemas.microsoft.com/office/drawing/2014/main" id="{97D0427E-0CA4-C141-376F-AF9F36ED64FD}"/>
              </a:ext>
            </a:extLst>
          </p:cNvPr>
          <p:cNvSpPr txBox="1">
            <a:spLocks/>
          </p:cNvSpPr>
          <p:nvPr/>
        </p:nvSpPr>
        <p:spPr>
          <a:xfrm>
            <a:off x="2396167" y="4523058"/>
            <a:ext cx="1869879" cy="554632"/>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800" u="sng" dirty="0">
                <a:latin typeface="Aptos" panose="020B0004020202020204" pitchFamily="34" charset="0"/>
              </a:rPr>
              <a:t>Your app</a:t>
            </a:r>
          </a:p>
        </p:txBody>
      </p:sp>
      <p:sp>
        <p:nvSpPr>
          <p:cNvPr id="15" name="Content Placeholder 2">
            <a:extLst>
              <a:ext uri="{FF2B5EF4-FFF2-40B4-BE49-F238E27FC236}">
                <a16:creationId xmlns:a16="http://schemas.microsoft.com/office/drawing/2014/main" id="{C213B210-5478-AFD9-1176-62D107898216}"/>
              </a:ext>
            </a:extLst>
          </p:cNvPr>
          <p:cNvSpPr txBox="1">
            <a:spLocks/>
          </p:cNvSpPr>
          <p:nvPr/>
        </p:nvSpPr>
        <p:spPr>
          <a:xfrm>
            <a:off x="4332148" y="2295394"/>
            <a:ext cx="2890093" cy="554632"/>
          </a:xfrm>
          <a:prstGeom prst="rect">
            <a:avLst/>
          </a:prstGeom>
        </p:spPr>
        <p:txBody>
          <a:bodyPr vert="horz" lIns="91440" tIns="45720" rIns="91440" bIns="45720" rtlCol="0">
            <a:normAutofit fontScale="92500" lnSpcReduction="20000"/>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Wingdings" panose="05000000000000000000" pitchFamily="2" charset="2"/>
              <a:buNone/>
            </a:pPr>
            <a:r>
              <a:rPr lang="en-IT" sz="2000" b="1">
                <a:latin typeface="Aptos" panose="020B0004020202020204" pitchFamily="34" charset="0"/>
              </a:rPr>
              <a:t>HTTP </a:t>
            </a:r>
            <a:r>
              <a:rPr lang="en-IT" sz="2000" b="1" dirty="0">
                <a:latin typeface="Aptos" panose="020B0004020202020204" pitchFamily="34" charset="0"/>
              </a:rPr>
              <a:t>requests/responses</a:t>
            </a:r>
          </a:p>
        </p:txBody>
      </p:sp>
      <p:cxnSp>
        <p:nvCxnSpPr>
          <p:cNvPr id="16" name="Straight Arrow Connector 15">
            <a:extLst>
              <a:ext uri="{FF2B5EF4-FFF2-40B4-BE49-F238E27FC236}">
                <a16:creationId xmlns:a16="http://schemas.microsoft.com/office/drawing/2014/main" id="{E7006254-DE4F-A533-1A17-D61DFBB68069}"/>
              </a:ext>
            </a:extLst>
          </p:cNvPr>
          <p:cNvCxnSpPr>
            <a:cxnSpLocks/>
          </p:cNvCxnSpPr>
          <p:nvPr/>
        </p:nvCxnSpPr>
        <p:spPr>
          <a:xfrm>
            <a:off x="4727543" y="3075061"/>
            <a:ext cx="2099304"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id="{9122E6D7-845C-B8D8-5DC2-04CEF680E74E}"/>
              </a:ext>
            </a:extLst>
          </p:cNvPr>
          <p:cNvCxnSpPr>
            <a:cxnSpLocks/>
          </p:cNvCxnSpPr>
          <p:nvPr/>
        </p:nvCxnSpPr>
        <p:spPr>
          <a:xfrm flipH="1">
            <a:off x="4664557" y="3300097"/>
            <a:ext cx="2162290" cy="2194"/>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7" name="Content Placeholder 2">
            <a:extLst>
              <a:ext uri="{FF2B5EF4-FFF2-40B4-BE49-F238E27FC236}">
                <a16:creationId xmlns:a16="http://schemas.microsoft.com/office/drawing/2014/main" id="{2D70811A-5CAC-6350-9FA8-6A9C7D940D8D}"/>
              </a:ext>
            </a:extLst>
          </p:cNvPr>
          <p:cNvSpPr txBox="1">
            <a:spLocks/>
          </p:cNvSpPr>
          <p:nvPr/>
        </p:nvSpPr>
        <p:spPr>
          <a:xfrm>
            <a:off x="669231" y="5685760"/>
            <a:ext cx="11127255" cy="871564"/>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T" dirty="0">
                <a:latin typeface="Aptos" panose="020B0004020202020204" pitchFamily="34" charset="0"/>
              </a:rPr>
              <a:t>You will be provided with credentials (different for each group) and learn how to get </a:t>
            </a:r>
            <a:r>
              <a:rPr lang="en-IT">
                <a:latin typeface="Aptos" panose="020B0004020202020204" pitchFamily="34" charset="0"/>
              </a:rPr>
              <a:t>data </a:t>
            </a:r>
            <a:r>
              <a:rPr lang="en-US" dirty="0">
                <a:latin typeface="Aptos" panose="020B0004020202020204" pitchFamily="34" charset="0"/>
              </a:rPr>
              <a:t>during the lab </a:t>
            </a:r>
            <a:r>
              <a:rPr lang="en-IT">
                <a:latin typeface="Aptos" panose="020B0004020202020204" pitchFamily="34" charset="0"/>
              </a:rPr>
              <a:t>lesson</a:t>
            </a:r>
            <a:r>
              <a:rPr lang="en-US" dirty="0">
                <a:latin typeface="Aptos" panose="020B0004020202020204" pitchFamily="34" charset="0"/>
              </a:rPr>
              <a:t>s</a:t>
            </a:r>
            <a:endParaRPr lang="en-IT" dirty="0">
              <a:latin typeface="Aptos" panose="020B0004020202020204" pitchFamily="34" charset="0"/>
            </a:endParaRPr>
          </a:p>
        </p:txBody>
      </p:sp>
    </p:spTree>
    <p:extLst>
      <p:ext uri="{BB962C8B-B14F-4D97-AF65-F5344CB8AC3E}">
        <p14:creationId xmlns:p14="http://schemas.microsoft.com/office/powerpoint/2010/main" val="18076564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a:t>Optional tutoring activities</a:t>
            </a:r>
            <a:endParaRPr lang="en-GB" dirty="0"/>
          </a:p>
        </p:txBody>
      </p:sp>
      <p:sp>
        <p:nvSpPr>
          <p:cNvPr id="3" name="Segnaposto contenuto 2"/>
          <p:cNvSpPr>
            <a:spLocks noGrp="1"/>
          </p:cNvSpPr>
          <p:nvPr>
            <p:ph idx="1"/>
          </p:nvPr>
        </p:nvSpPr>
        <p:spPr>
          <a:xfrm>
            <a:off x="428170" y="1361166"/>
            <a:ext cx="11763829" cy="618539"/>
          </a:xfrm>
        </p:spPr>
        <p:txBody>
          <a:bodyPr>
            <a:normAutofit fontScale="92500"/>
          </a:bodyPr>
          <a:lstStyle/>
          <a:p>
            <a:r>
              <a:rPr lang="en-US" dirty="0"/>
              <a:t>Need help? They are here to cover your back with answers and optional tutoring activities</a:t>
            </a:r>
          </a:p>
        </p:txBody>
      </p:sp>
      <p:sp>
        <p:nvSpPr>
          <p:cNvPr id="5" name="Rettangolo 4"/>
          <p:cNvSpPr/>
          <p:nvPr/>
        </p:nvSpPr>
        <p:spPr>
          <a:xfrm>
            <a:off x="5486400" y="2195566"/>
            <a:ext cx="6585857" cy="2638236"/>
          </a:xfrm>
          <a:prstGeom prst="rect">
            <a:avLst/>
          </a:prstGeom>
          <a:ln w="57150">
            <a:solidFill>
              <a:srgbClr val="00B050"/>
            </a:solidFill>
          </a:ln>
        </p:spPr>
        <p:style>
          <a:lnRef idx="2">
            <a:schemeClr val="accent6"/>
          </a:lnRef>
          <a:fillRef idx="1">
            <a:schemeClr val="lt1"/>
          </a:fillRef>
          <a:effectRef idx="0">
            <a:schemeClr val="accent6"/>
          </a:effectRef>
          <a:fontRef idx="minor">
            <a:schemeClr val="dk1"/>
          </a:fontRef>
        </p:style>
        <p:txBody>
          <a:bodyPr rtlCol="0" anchor="t"/>
          <a:lstStyle/>
          <a:p>
            <a:pPr algn="ctr"/>
            <a:r>
              <a:rPr lang="en-GB" b="1" dirty="0">
                <a:highlight>
                  <a:srgbClr val="FFFF00"/>
                </a:highlight>
                <a:latin typeface="Aptos" panose="020B0004020202020204" pitchFamily="34" charset="0"/>
              </a:rPr>
              <a:t>Calendar of the optional tutoring activities</a:t>
            </a:r>
          </a:p>
          <a:p>
            <a:pPr algn="ctr"/>
            <a:endParaRPr lang="en-GB" dirty="0">
              <a:latin typeface="Aptos" panose="020B0004020202020204" pitchFamily="34" charset="0"/>
            </a:endParaRPr>
          </a:p>
        </p:txBody>
      </p:sp>
      <p:sp>
        <p:nvSpPr>
          <p:cNvPr id="6" name="Segnaposto numero diapositiva 5"/>
          <p:cNvSpPr>
            <a:spLocks noGrp="1"/>
          </p:cNvSpPr>
          <p:nvPr>
            <p:ph type="sldNum" sz="quarter" idx="12"/>
          </p:nvPr>
        </p:nvSpPr>
        <p:spPr/>
        <p:txBody>
          <a:bodyPr/>
          <a:lstStyle/>
          <a:p>
            <a:fld id="{31DE2C5B-556E-47B8-A792-024C2FCA4ACC}" type="slidenum">
              <a:rPr lang="en-GB" smtClean="0"/>
              <a:t>17</a:t>
            </a:fld>
            <a:endParaRPr lang="en-GB" dirty="0"/>
          </a:p>
        </p:txBody>
      </p:sp>
      <p:pic>
        <p:nvPicPr>
          <p:cNvPr id="4" name="Google Shape;98;p9" descr="Immagine che contiene Viso umano, persona, Fronte, Mento&#10;&#10;Descrizione generata automaticamente">
            <a:extLst>
              <a:ext uri="{FF2B5EF4-FFF2-40B4-BE49-F238E27FC236}">
                <a16:creationId xmlns:a16="http://schemas.microsoft.com/office/drawing/2014/main" id="{C73A1938-85C6-DC14-C277-6C82B5875B84}"/>
              </a:ext>
            </a:extLst>
          </p:cNvPr>
          <p:cNvPicPr preferRelativeResize="0">
            <a:picLocks noChangeAspect="1"/>
          </p:cNvPicPr>
          <p:nvPr/>
        </p:nvPicPr>
        <p:blipFill rotWithShape="1">
          <a:blip r:embed="rId2">
            <a:alphaModFix/>
          </a:blip>
          <a:srcRect t="-517"/>
          <a:stretch/>
        </p:blipFill>
        <p:spPr>
          <a:xfrm>
            <a:off x="428172" y="2149203"/>
            <a:ext cx="1659658" cy="1985014"/>
          </a:xfrm>
          <a:prstGeom prst="rect">
            <a:avLst/>
          </a:prstGeom>
          <a:noFill/>
          <a:ln>
            <a:noFill/>
          </a:ln>
        </p:spPr>
      </p:pic>
      <p:sp>
        <p:nvSpPr>
          <p:cNvPr id="8" name="Segnaposto contenuto 2">
            <a:extLst>
              <a:ext uri="{FF2B5EF4-FFF2-40B4-BE49-F238E27FC236}">
                <a16:creationId xmlns:a16="http://schemas.microsoft.com/office/drawing/2014/main" id="{702BA522-6E01-F8A9-9985-C031C76C2B43}"/>
              </a:ext>
            </a:extLst>
          </p:cNvPr>
          <p:cNvSpPr txBox="1">
            <a:spLocks/>
          </p:cNvSpPr>
          <p:nvPr/>
        </p:nvSpPr>
        <p:spPr>
          <a:xfrm>
            <a:off x="2190045" y="2996119"/>
            <a:ext cx="7197083" cy="3518303"/>
          </a:xfrm>
          <a:prstGeom prst="rect">
            <a:avLst/>
          </a:prstGeom>
        </p:spPr>
        <p:txBody>
          <a:bodyPr vert="horz" lIns="91440" tIns="45720" rIns="91440" bIns="45720" rtlCol="0">
            <a:normAutofit/>
          </a:bodyPr>
          <a:lstStyle>
            <a:lvl1pPr marL="342900" indent="-342900" algn="l" defTabSz="914400" rtl="0" eaLnBrk="1" latinLnBrk="0" hangingPunct="1">
              <a:lnSpc>
                <a:spcPct val="90000"/>
              </a:lnSpc>
              <a:spcBef>
                <a:spcPts val="1000"/>
              </a:spcBef>
              <a:buClr>
                <a:srgbClr val="00B050"/>
              </a:buClr>
              <a:buFont typeface="Wingdings" panose="05000000000000000000" pitchFamily="2" charset="2"/>
              <a:buChar char="Ø"/>
              <a:defRPr sz="2400" kern="1200">
                <a:solidFill>
                  <a:schemeClr val="tx1"/>
                </a:solidFill>
                <a:latin typeface="Palatino Linotype" panose="02040502050505030304" pitchFamily="18" charset="0"/>
                <a:ea typeface="+mn-ea"/>
                <a:cs typeface="+mn-cs"/>
              </a:defRPr>
            </a:lvl1pPr>
            <a:lvl2pPr marL="685800" indent="-228600" algn="l" defTabSz="914400" rtl="0" eaLnBrk="1" latinLnBrk="0" hangingPunct="1">
              <a:lnSpc>
                <a:spcPct val="90000"/>
              </a:lnSpc>
              <a:spcBef>
                <a:spcPts val="500"/>
              </a:spcBef>
              <a:buClr>
                <a:srgbClr val="00B050"/>
              </a:buClr>
              <a:buFont typeface="Wingdings" panose="05000000000000000000" pitchFamily="2" charset="2"/>
              <a:buChar char="§"/>
              <a:defRPr sz="2000" kern="1200">
                <a:solidFill>
                  <a:schemeClr val="tx1"/>
                </a:solidFill>
                <a:latin typeface="Palatino Linotype" panose="02040502050505030304" pitchFamily="18" charset="0"/>
                <a:ea typeface="+mn-ea"/>
                <a:cs typeface="+mn-cs"/>
              </a:defRPr>
            </a:lvl2pPr>
            <a:lvl3pPr marL="1143000" indent="-228600" algn="l" defTabSz="914400" rtl="0" eaLnBrk="1" latinLnBrk="0" hangingPunct="1">
              <a:lnSpc>
                <a:spcPct val="90000"/>
              </a:lnSpc>
              <a:spcBef>
                <a:spcPts val="500"/>
              </a:spcBef>
              <a:buClr>
                <a:srgbClr val="00B050"/>
              </a:buClr>
              <a:buFont typeface="Arial" panose="020B0604020202020204" pitchFamily="34" charset="0"/>
              <a:buChar char="•"/>
              <a:defRPr sz="1800" kern="1200">
                <a:solidFill>
                  <a:schemeClr val="tx1"/>
                </a:solidFill>
                <a:latin typeface="Palatino Linotype" panose="02040502050505030304" pitchFamily="18" charset="0"/>
                <a:ea typeface="+mn-ea"/>
                <a:cs typeface="+mn-cs"/>
              </a:defRPr>
            </a:lvl3pPr>
            <a:lvl4pPr marL="1600200" indent="-228600" algn="l" defTabSz="914400" rtl="0" eaLnBrk="1" latinLnBrk="0" hangingPunct="1">
              <a:lnSpc>
                <a:spcPct val="90000"/>
              </a:lnSpc>
              <a:spcBef>
                <a:spcPts val="500"/>
              </a:spcBef>
              <a:buClr>
                <a:srgbClr val="00B050"/>
              </a:buClr>
              <a:buFont typeface="Courier New" panose="02070309020205020404" pitchFamily="49" charset="0"/>
              <a:buChar char="o"/>
              <a:defRPr sz="1600" kern="1200">
                <a:solidFill>
                  <a:schemeClr val="tx1"/>
                </a:solidFill>
                <a:latin typeface="Palatino Linotype" panose="02040502050505030304" pitchFamily="18" charset="0"/>
                <a:ea typeface="+mn-ea"/>
                <a:cs typeface="+mn-cs"/>
              </a:defRPr>
            </a:lvl4pPr>
            <a:lvl5pPr marL="2057400" indent="-228600" algn="l" defTabSz="914400" rtl="0" eaLnBrk="1" latinLnBrk="0" hangingPunct="1">
              <a:lnSpc>
                <a:spcPct val="90000"/>
              </a:lnSpc>
              <a:spcBef>
                <a:spcPts val="500"/>
              </a:spcBef>
              <a:buClr>
                <a:srgbClr val="00B050"/>
              </a:buClr>
              <a:buFont typeface="Times New Roman" panose="02020603050405020304" pitchFamily="18" charset="0"/>
              <a:buChar char="̶"/>
              <a:defRPr sz="1600" kern="1200">
                <a:solidFill>
                  <a:schemeClr val="tx1"/>
                </a:solidFill>
                <a:latin typeface="Palatino Linotype" panose="02040502050505030304" pitchFamily="18"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1800" dirty="0">
                <a:latin typeface="Aptos" panose="020B0004020202020204" pitchFamily="34" charset="0"/>
              </a:rPr>
              <a:t>Luca Cossu</a:t>
            </a:r>
          </a:p>
          <a:p>
            <a:pPr marL="0" indent="0">
              <a:buNone/>
            </a:pPr>
            <a:r>
              <a:rPr lang="en-US" sz="1800" dirty="0">
                <a:solidFill>
                  <a:srgbClr val="C00000"/>
                </a:solidFill>
                <a:latin typeface="Aptos" panose="020B0004020202020204" pitchFamily="34" charset="0"/>
                <a:hlinkClick r:id="rId3">
                  <a:extLst>
                    <a:ext uri="{A12FA001-AC4F-418D-AE19-62706E023703}">
                      <ahyp:hlinkClr xmlns:ahyp="http://schemas.microsoft.com/office/drawing/2018/hyperlinkcolor" val="tx"/>
                    </a:ext>
                  </a:extLst>
                </a:hlinkClick>
              </a:rPr>
              <a:t>luca.cossu@phd.unipd.it</a:t>
            </a:r>
            <a:r>
              <a:rPr lang="en-US" sz="1800" dirty="0">
                <a:solidFill>
                  <a:srgbClr val="C00000"/>
                </a:solidFill>
                <a:latin typeface="Aptos" panose="020B0004020202020204" pitchFamily="34" charset="0"/>
              </a:rPr>
              <a:t> </a:t>
            </a:r>
          </a:p>
          <a:p>
            <a:endParaRPr lang="en-US" sz="1800" dirty="0">
              <a:latin typeface="Aptos" panose="020B0004020202020204" pitchFamily="34" charset="0"/>
            </a:endParaRPr>
          </a:p>
          <a:p>
            <a:endParaRPr lang="en-US" sz="1800" dirty="0">
              <a:latin typeface="Aptos" panose="020B0004020202020204" pitchFamily="34" charset="0"/>
            </a:endParaRPr>
          </a:p>
          <a:p>
            <a:endParaRPr lang="en-US" sz="1800" dirty="0">
              <a:latin typeface="Aptos" panose="020B0004020202020204" pitchFamily="34" charset="0"/>
            </a:endParaRPr>
          </a:p>
          <a:p>
            <a:r>
              <a:rPr lang="en-US" sz="1800" dirty="0">
                <a:latin typeface="Aptos" panose="020B0004020202020204" pitchFamily="34" charset="0"/>
              </a:rPr>
              <a:t>Alberto </a:t>
            </a:r>
            <a:r>
              <a:rPr lang="en-US" sz="1800" dirty="0" err="1">
                <a:latin typeface="Aptos" panose="020B0004020202020204" pitchFamily="34" charset="0"/>
              </a:rPr>
              <a:t>Gastaldello</a:t>
            </a:r>
            <a:endParaRPr lang="en-US" sz="1800" dirty="0">
              <a:solidFill>
                <a:srgbClr val="C00000"/>
              </a:solidFill>
              <a:latin typeface="Aptos" panose="020B0004020202020204" pitchFamily="34" charset="0"/>
            </a:endParaRPr>
          </a:p>
          <a:p>
            <a:pPr marL="0" indent="0">
              <a:buNone/>
            </a:pPr>
            <a:r>
              <a:rPr lang="en-US" sz="1800" dirty="0">
                <a:solidFill>
                  <a:srgbClr val="C00000"/>
                </a:solidFill>
                <a:latin typeface="Aptos" panose="020B0004020202020204" pitchFamily="34" charset="0"/>
                <a:hlinkClick r:id="rId4">
                  <a:extLst>
                    <a:ext uri="{A12FA001-AC4F-418D-AE19-62706E023703}">
                      <ahyp:hlinkClr xmlns:ahyp="http://schemas.microsoft.com/office/drawing/2018/hyperlinkcolor" val="tx"/>
                    </a:ext>
                  </a:extLst>
                </a:hlinkClick>
              </a:rPr>
              <a:t>alberto.gastaldello.2@phd.unipd.it</a:t>
            </a:r>
            <a:r>
              <a:rPr lang="en-US" sz="1800" dirty="0">
                <a:solidFill>
                  <a:srgbClr val="C00000"/>
                </a:solidFill>
                <a:latin typeface="Aptos" panose="020B0004020202020204" pitchFamily="34" charset="0"/>
              </a:rPr>
              <a:t> </a:t>
            </a:r>
            <a:br>
              <a:rPr lang="en-US" sz="1800" dirty="0">
                <a:latin typeface="Aptos" panose="020B0004020202020204" pitchFamily="34" charset="0"/>
              </a:rPr>
            </a:br>
            <a:endParaRPr lang="en-US" sz="1800" dirty="0">
              <a:latin typeface="Aptos" panose="020B0004020202020204" pitchFamily="34" charset="0"/>
            </a:endParaRPr>
          </a:p>
          <a:p>
            <a:endParaRPr lang="en-US" sz="1800" dirty="0">
              <a:latin typeface="Aptos" panose="020B0004020202020204" pitchFamily="34" charset="0"/>
            </a:endParaRPr>
          </a:p>
          <a:p>
            <a:endParaRPr lang="en-US" sz="1800" dirty="0">
              <a:latin typeface="Aptos" panose="020B0004020202020204" pitchFamily="34" charset="0"/>
            </a:endParaRPr>
          </a:p>
        </p:txBody>
      </p:sp>
      <p:pic>
        <p:nvPicPr>
          <p:cNvPr id="13" name="Picture 12" descr="A person wearing glasses and a blue jacket&#10;&#10;AI-generated content may be incorrect.">
            <a:extLst>
              <a:ext uri="{FF2B5EF4-FFF2-40B4-BE49-F238E27FC236}">
                <a16:creationId xmlns:a16="http://schemas.microsoft.com/office/drawing/2014/main" id="{988E4DF5-823B-DB3E-BE13-A68FBC5CC80A}"/>
              </a:ext>
            </a:extLst>
          </p:cNvPr>
          <p:cNvPicPr>
            <a:picLocks noChangeAspect="1"/>
          </p:cNvPicPr>
          <p:nvPr/>
        </p:nvPicPr>
        <p:blipFill>
          <a:blip r:embed="rId5">
            <a:extLst>
              <a:ext uri="{28A0092B-C50C-407E-A947-70E740481C1C}">
                <a14:useLocalDpi xmlns:a14="http://schemas.microsoft.com/office/drawing/2010/main" val="0"/>
              </a:ext>
            </a:extLst>
          </a:blip>
          <a:srcRect l="20234" t="7515" r="17055" b="32838"/>
          <a:stretch/>
        </p:blipFill>
        <p:spPr>
          <a:xfrm>
            <a:off x="428169" y="4347633"/>
            <a:ext cx="1663677" cy="1656714"/>
          </a:xfrm>
          <a:prstGeom prst="rect">
            <a:avLst/>
          </a:prstGeom>
        </p:spPr>
      </p:pic>
      <p:pic>
        <p:nvPicPr>
          <p:cNvPr id="9" name="Picture 8" descr="A table with text on it&#10;&#10;AI-generated content may be incorrect.">
            <a:extLst>
              <a:ext uri="{FF2B5EF4-FFF2-40B4-BE49-F238E27FC236}">
                <a16:creationId xmlns:a16="http://schemas.microsoft.com/office/drawing/2014/main" id="{7447DC5E-6376-B627-E750-1F857858527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5599127" y="2631395"/>
            <a:ext cx="6346438" cy="1989364"/>
          </a:xfrm>
          <a:prstGeom prst="rect">
            <a:avLst/>
          </a:prstGeom>
        </p:spPr>
      </p:pic>
    </p:spTree>
    <p:extLst>
      <p:ext uri="{BB962C8B-B14F-4D97-AF65-F5344CB8AC3E}">
        <p14:creationId xmlns:p14="http://schemas.microsoft.com/office/powerpoint/2010/main" val="3733545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p:cNvSpPr>
            <a:spLocks noGrp="1"/>
          </p:cNvSpPr>
          <p:nvPr>
            <p:ph type="title"/>
          </p:nvPr>
        </p:nvSpPr>
        <p:spPr/>
        <p:txBody>
          <a:bodyPr/>
          <a:lstStyle/>
          <a:p>
            <a:r>
              <a:rPr lang="it-IT" dirty="0" err="1"/>
              <a:t>Discord</a:t>
            </a:r>
            <a:r>
              <a:rPr lang="it-IT" dirty="0"/>
              <a:t> server</a:t>
            </a:r>
            <a:endParaRPr lang="en-GB" dirty="0"/>
          </a:p>
        </p:txBody>
      </p:sp>
      <p:sp>
        <p:nvSpPr>
          <p:cNvPr id="3" name="Segnaposto contenuto 2"/>
          <p:cNvSpPr>
            <a:spLocks noGrp="1"/>
          </p:cNvSpPr>
          <p:nvPr>
            <p:ph idx="1"/>
          </p:nvPr>
        </p:nvSpPr>
        <p:spPr>
          <a:xfrm>
            <a:off x="428172" y="4078014"/>
            <a:ext cx="11368314" cy="2525986"/>
          </a:xfrm>
        </p:spPr>
        <p:txBody>
          <a:bodyPr>
            <a:normAutofit/>
          </a:bodyPr>
          <a:lstStyle/>
          <a:p>
            <a:r>
              <a:rPr lang="en-US" dirty="0"/>
              <a:t>Join the Discord server to get in touch and ask questions</a:t>
            </a:r>
          </a:p>
          <a:p>
            <a:endParaRPr lang="en-US" dirty="0"/>
          </a:p>
          <a:p>
            <a:r>
              <a:rPr lang="en-US" b="1" dirty="0"/>
              <a:t>Link: </a:t>
            </a:r>
            <a:r>
              <a:rPr lang="en-US" b="1" dirty="0">
                <a:solidFill>
                  <a:srgbClr val="C00000"/>
                </a:solidFill>
              </a:rPr>
              <a:t>https://</a:t>
            </a:r>
            <a:r>
              <a:rPr lang="en-US" b="1" dirty="0" err="1">
                <a:solidFill>
                  <a:srgbClr val="C00000"/>
                </a:solidFill>
              </a:rPr>
              <a:t>discord.gg</a:t>
            </a:r>
            <a:r>
              <a:rPr lang="en-US" b="1" dirty="0">
                <a:solidFill>
                  <a:srgbClr val="C00000"/>
                </a:solidFill>
              </a:rPr>
              <a:t>/j76A3D27bm</a:t>
            </a:r>
          </a:p>
        </p:txBody>
      </p:sp>
      <p:sp>
        <p:nvSpPr>
          <p:cNvPr id="6" name="Segnaposto numero diapositiva 5"/>
          <p:cNvSpPr>
            <a:spLocks noGrp="1"/>
          </p:cNvSpPr>
          <p:nvPr>
            <p:ph type="sldNum" sz="quarter" idx="12"/>
          </p:nvPr>
        </p:nvSpPr>
        <p:spPr/>
        <p:txBody>
          <a:bodyPr/>
          <a:lstStyle/>
          <a:p>
            <a:fld id="{31DE2C5B-556E-47B8-A792-024C2FCA4ACC}" type="slidenum">
              <a:rPr lang="en-GB" smtClean="0"/>
              <a:t>18</a:t>
            </a:fld>
            <a:endParaRPr lang="en-GB"/>
          </a:p>
        </p:txBody>
      </p:sp>
      <p:pic>
        <p:nvPicPr>
          <p:cNvPr id="8" name="Picture 7" descr="A logo with text on it&#10;&#10;Description automatically generated">
            <a:extLst>
              <a:ext uri="{FF2B5EF4-FFF2-40B4-BE49-F238E27FC236}">
                <a16:creationId xmlns:a16="http://schemas.microsoft.com/office/drawing/2014/main" id="{7B03028D-19EA-9E88-FA17-669E796A6BF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39927" y="1563794"/>
            <a:ext cx="1865206" cy="1865206"/>
          </a:xfrm>
          <a:prstGeom prst="rect">
            <a:avLst/>
          </a:prstGeom>
          <a:ln>
            <a:solidFill>
              <a:srgbClr val="C00000"/>
            </a:solidFill>
          </a:ln>
        </p:spPr>
      </p:pic>
      <p:pic>
        <p:nvPicPr>
          <p:cNvPr id="1026" name="Picture 2" descr="Discord Proxy - Altri proxy - FineProxy.org">
            <a:extLst>
              <a:ext uri="{FF2B5EF4-FFF2-40B4-BE49-F238E27FC236}">
                <a16:creationId xmlns:a16="http://schemas.microsoft.com/office/drawing/2014/main" id="{25AECF0B-2128-FA74-A95A-7A0E6938F9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72085" y="1788281"/>
            <a:ext cx="1865206" cy="1416231"/>
          </a:xfrm>
          <a:prstGeom prst="rect">
            <a:avLst/>
          </a:prstGeom>
          <a:noFill/>
          <a:extLst>
            <a:ext uri="{909E8E84-426E-40DD-AFC4-6F175D3DCCD1}">
              <a14:hiddenFill xmlns:a14="http://schemas.microsoft.com/office/drawing/2010/main">
                <a:solidFill>
                  <a:srgbClr val="FFFFFF"/>
                </a:solidFill>
              </a14:hiddenFill>
            </a:ext>
          </a:extLst>
        </p:spPr>
      </p:pic>
      <p:pic>
        <p:nvPicPr>
          <p:cNvPr id="12" name="Graphic 11" descr="Add with solid fill">
            <a:extLst>
              <a:ext uri="{FF2B5EF4-FFF2-40B4-BE49-F238E27FC236}">
                <a16:creationId xmlns:a16="http://schemas.microsoft.com/office/drawing/2014/main" id="{5C0821A2-37BC-BAFE-EED5-38C7E19F325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5860009" y="2272850"/>
            <a:ext cx="457200" cy="457200"/>
          </a:xfrm>
          <a:prstGeom prst="rect">
            <a:avLst/>
          </a:prstGeom>
        </p:spPr>
      </p:pic>
      <p:pic>
        <p:nvPicPr>
          <p:cNvPr id="9" name="Picture 8" descr="A qr code with a white background&#10;&#10;Description automatically generated">
            <a:extLst>
              <a:ext uri="{FF2B5EF4-FFF2-40B4-BE49-F238E27FC236}">
                <a16:creationId xmlns:a16="http://schemas.microsoft.com/office/drawing/2014/main" id="{90046EB7-6187-6A4A-1324-88C6CC67B156}"/>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990172" y="3492858"/>
            <a:ext cx="2426741" cy="2426741"/>
          </a:xfrm>
          <a:prstGeom prst="rect">
            <a:avLst/>
          </a:prstGeom>
        </p:spPr>
      </p:pic>
    </p:spTree>
    <p:extLst>
      <p:ext uri="{BB962C8B-B14F-4D97-AF65-F5344CB8AC3E}">
        <p14:creationId xmlns:p14="http://schemas.microsoft.com/office/powerpoint/2010/main" val="22379530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96AAEF-8625-52E6-E8E7-EF8FFBCAAA1A}"/>
              </a:ext>
            </a:extLst>
          </p:cNvPr>
          <p:cNvSpPr>
            <a:spLocks noGrp="1"/>
          </p:cNvSpPr>
          <p:nvPr>
            <p:ph type="title"/>
          </p:nvPr>
        </p:nvSpPr>
        <p:spPr>
          <a:xfrm>
            <a:off x="411843" y="2976019"/>
            <a:ext cx="11368314" cy="905962"/>
          </a:xfrm>
        </p:spPr>
        <p:txBody>
          <a:bodyPr/>
          <a:lstStyle/>
          <a:p>
            <a:r>
              <a:rPr lang="en-US" b="1" dirty="0"/>
              <a:t>Appendix: Data source characteristics</a:t>
            </a:r>
          </a:p>
        </p:txBody>
      </p:sp>
      <p:sp>
        <p:nvSpPr>
          <p:cNvPr id="3" name="Slide Number Placeholder 2">
            <a:extLst>
              <a:ext uri="{FF2B5EF4-FFF2-40B4-BE49-F238E27FC236}">
                <a16:creationId xmlns:a16="http://schemas.microsoft.com/office/drawing/2014/main" id="{F9C5482D-A2CA-D94D-3900-2094D80D8C30}"/>
              </a:ext>
            </a:extLst>
          </p:cNvPr>
          <p:cNvSpPr>
            <a:spLocks noGrp="1"/>
          </p:cNvSpPr>
          <p:nvPr>
            <p:ph type="sldNum" sz="quarter" idx="12"/>
          </p:nvPr>
        </p:nvSpPr>
        <p:spPr/>
        <p:txBody>
          <a:bodyPr/>
          <a:lstStyle/>
          <a:p>
            <a:fld id="{31DE2C5B-556E-47B8-A792-024C2FCA4ACC}" type="slidenum">
              <a:rPr lang="en-GB" smtClean="0"/>
              <a:t>19</a:t>
            </a:fld>
            <a:endParaRPr lang="en-GB"/>
          </a:p>
        </p:txBody>
      </p:sp>
    </p:spTree>
    <p:extLst>
      <p:ext uri="{BB962C8B-B14F-4D97-AF65-F5344CB8AC3E}">
        <p14:creationId xmlns:p14="http://schemas.microsoft.com/office/powerpoint/2010/main" val="34668946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76F51E-8FDB-A631-111D-A989480852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7295913-D3C1-2185-09CA-C067F5AD2581}"/>
              </a:ext>
            </a:extLst>
          </p:cNvPr>
          <p:cNvSpPr>
            <a:spLocks noGrp="1"/>
          </p:cNvSpPr>
          <p:nvPr>
            <p:ph type="title"/>
          </p:nvPr>
        </p:nvSpPr>
        <p:spPr/>
        <p:txBody>
          <a:bodyPr>
            <a:normAutofit/>
          </a:bodyPr>
          <a:lstStyle/>
          <a:p>
            <a:r>
              <a:rPr lang="en-IT" dirty="0"/>
              <a:t>Focus on data – Calories</a:t>
            </a:r>
          </a:p>
        </p:txBody>
      </p:sp>
      <p:sp>
        <p:nvSpPr>
          <p:cNvPr id="3" name="Content Placeholder 2">
            <a:extLst>
              <a:ext uri="{FF2B5EF4-FFF2-40B4-BE49-F238E27FC236}">
                <a16:creationId xmlns:a16="http://schemas.microsoft.com/office/drawing/2014/main" id="{E9461580-0C76-6E1B-35D9-99ABB8E43F66}"/>
              </a:ext>
            </a:extLst>
          </p:cNvPr>
          <p:cNvSpPr>
            <a:spLocks noGrp="1"/>
          </p:cNvSpPr>
          <p:nvPr>
            <p:ph idx="1"/>
          </p:nvPr>
        </p:nvSpPr>
        <p:spPr>
          <a:xfrm>
            <a:off x="428172" y="1361167"/>
            <a:ext cx="11368314" cy="5334907"/>
          </a:xfrm>
        </p:spPr>
        <p:txBody>
          <a:bodyPr>
            <a:normAutofit/>
          </a:bodyPr>
          <a:lstStyle/>
          <a:p>
            <a:r>
              <a:rPr lang="en-IT" sz="2000" dirty="0"/>
              <a:t>Calories: a list with 1 data point exactly every minute</a:t>
            </a:r>
          </a:p>
          <a:p>
            <a:endParaRPr lang="en-IT" sz="2000" dirty="0"/>
          </a:p>
          <a:p>
            <a:r>
              <a:rPr lang="en-IT" sz="2000" dirty="0"/>
              <a:t>Fields meaning:</a:t>
            </a:r>
          </a:p>
          <a:p>
            <a:pPr lvl="1"/>
            <a:r>
              <a:rPr lang="en-IT" sz="1600" dirty="0"/>
              <a:t>time: timestamp (hh:mm:ss format) of the calory entry</a:t>
            </a:r>
          </a:p>
          <a:p>
            <a:pPr lvl="1"/>
            <a:r>
              <a:rPr lang="en-IT" sz="1600" dirty="0"/>
              <a:t>value: the calories spent during the last 1 minute (rest + active) </a:t>
            </a:r>
          </a:p>
          <a:p>
            <a:endParaRPr lang="en-IT" sz="2000" dirty="0"/>
          </a:p>
        </p:txBody>
      </p:sp>
      <p:sp>
        <p:nvSpPr>
          <p:cNvPr id="4" name="Slide Number Placeholder 3">
            <a:extLst>
              <a:ext uri="{FF2B5EF4-FFF2-40B4-BE49-F238E27FC236}">
                <a16:creationId xmlns:a16="http://schemas.microsoft.com/office/drawing/2014/main" id="{902C8FE7-AA71-B123-6BAF-FC9E9D5C5090}"/>
              </a:ext>
            </a:extLst>
          </p:cNvPr>
          <p:cNvSpPr>
            <a:spLocks noGrp="1"/>
          </p:cNvSpPr>
          <p:nvPr>
            <p:ph type="sldNum" sz="quarter" idx="12"/>
          </p:nvPr>
        </p:nvSpPr>
        <p:spPr/>
        <p:txBody>
          <a:bodyPr/>
          <a:lstStyle/>
          <a:p>
            <a:fld id="{31DE2C5B-556E-47B8-A792-024C2FCA4ACC}" type="slidenum">
              <a:rPr lang="en-GB" smtClean="0"/>
              <a:t>20</a:t>
            </a:fld>
            <a:endParaRPr lang="en-GB" dirty="0"/>
          </a:p>
        </p:txBody>
      </p:sp>
      <p:sp>
        <p:nvSpPr>
          <p:cNvPr id="6" name="TextBox 5">
            <a:extLst>
              <a:ext uri="{FF2B5EF4-FFF2-40B4-BE49-F238E27FC236}">
                <a16:creationId xmlns:a16="http://schemas.microsoft.com/office/drawing/2014/main" id="{1790FD65-3233-2F69-DE65-99A055CE03AE}"/>
              </a:ext>
            </a:extLst>
          </p:cNvPr>
          <p:cNvSpPr txBox="1"/>
          <p:nvPr/>
        </p:nvSpPr>
        <p:spPr>
          <a:xfrm>
            <a:off x="8715154" y="1835712"/>
            <a:ext cx="6097348" cy="4385816"/>
          </a:xfrm>
          <a:prstGeom prst="rect">
            <a:avLst/>
          </a:prstGeom>
          <a:noFill/>
        </p:spPr>
        <p:txBody>
          <a:bodyPr wrap="square">
            <a:spAutoFit/>
          </a:bodyPr>
          <a:lstStyle/>
          <a:p>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"00:00:00",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"00:01:00",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"00:02:00",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"00:03:00",</a:t>
            </a:r>
          </a:p>
          <a:p>
            <a:pPr lvl="1"/>
            <a:r>
              <a:rPr lang="en-GB" sz="900" b="0" dirty="0">
                <a:effectLst/>
                <a:latin typeface="Menlo" panose="020B0609030804020204" pitchFamily="49" charset="0"/>
              </a:rPr>
              <a:t>"value": "1.55"</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"00:04:00",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"00:05:00",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a:t>
            </a:r>
          </a:p>
          <a:p>
            <a:pPr lvl="1"/>
            <a:r>
              <a:rPr lang="en-GB" sz="900" b="0" dirty="0">
                <a:effectLst/>
                <a:latin typeface="Menlo" panose="020B0609030804020204" pitchFamily="49" charset="0"/>
              </a:rPr>
              <a:t>"time": "00:06:00",</a:t>
            </a:r>
          </a:p>
          <a:p>
            <a:pPr lvl="1"/>
            <a:r>
              <a:rPr lang="en-GB" sz="900" b="0" dirty="0">
                <a:effectLst/>
                <a:latin typeface="Menlo" panose="020B0609030804020204" pitchFamily="49" charset="0"/>
              </a:rPr>
              <a:t>"value": "1.29"</a:t>
            </a:r>
          </a:p>
          <a:p>
            <a:pPr lvl="1"/>
            <a:r>
              <a:rPr lang="en-GB" sz="900" b="0" dirty="0">
                <a:effectLst/>
                <a:latin typeface="Menlo" panose="020B0609030804020204" pitchFamily="49" charset="0"/>
              </a:rPr>
              <a:t>},</a:t>
            </a:r>
          </a:p>
          <a:p>
            <a:pPr lvl="1"/>
            <a:r>
              <a:rPr lang="en-GB" sz="900" dirty="0">
                <a:latin typeface="Menlo" panose="020B0609030804020204" pitchFamily="49" charset="0"/>
              </a:rPr>
              <a:t>...</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326369841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64DB3-B37E-D011-0310-FD08C2B425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E16089-BEB9-3578-250A-C353009BD458}"/>
              </a:ext>
            </a:extLst>
          </p:cNvPr>
          <p:cNvSpPr>
            <a:spLocks noGrp="1"/>
          </p:cNvSpPr>
          <p:nvPr>
            <p:ph type="title"/>
          </p:nvPr>
        </p:nvSpPr>
        <p:spPr/>
        <p:txBody>
          <a:bodyPr>
            <a:normAutofit/>
          </a:bodyPr>
          <a:lstStyle/>
          <a:p>
            <a:r>
              <a:rPr lang="en-IT" dirty="0"/>
              <a:t>Focus on data – Distance</a:t>
            </a:r>
          </a:p>
        </p:txBody>
      </p:sp>
      <p:sp>
        <p:nvSpPr>
          <p:cNvPr id="3" name="Content Placeholder 2">
            <a:extLst>
              <a:ext uri="{FF2B5EF4-FFF2-40B4-BE49-F238E27FC236}">
                <a16:creationId xmlns:a16="http://schemas.microsoft.com/office/drawing/2014/main" id="{642E4448-5F0F-B53B-4ED1-7825A1240CDD}"/>
              </a:ext>
            </a:extLst>
          </p:cNvPr>
          <p:cNvSpPr>
            <a:spLocks noGrp="1"/>
          </p:cNvSpPr>
          <p:nvPr>
            <p:ph idx="1"/>
          </p:nvPr>
        </p:nvSpPr>
        <p:spPr>
          <a:xfrm>
            <a:off x="428172" y="1361167"/>
            <a:ext cx="11368314" cy="5334907"/>
          </a:xfrm>
        </p:spPr>
        <p:txBody>
          <a:bodyPr>
            <a:normAutofit/>
          </a:bodyPr>
          <a:lstStyle/>
          <a:p>
            <a:r>
              <a:rPr lang="en-IT" sz="2000" dirty="0"/>
              <a:t>Distance: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distance entry</a:t>
            </a:r>
          </a:p>
          <a:p>
            <a:pPr lvl="1"/>
            <a:r>
              <a:rPr lang="en-IT" sz="1600" dirty="0"/>
              <a:t>value: the distance travelled between the last timestamp and now (in cm) </a:t>
            </a:r>
          </a:p>
          <a:p>
            <a:endParaRPr lang="en-IT" sz="2000" dirty="0"/>
          </a:p>
        </p:txBody>
      </p:sp>
      <p:sp>
        <p:nvSpPr>
          <p:cNvPr id="4" name="Slide Number Placeholder 3">
            <a:extLst>
              <a:ext uri="{FF2B5EF4-FFF2-40B4-BE49-F238E27FC236}">
                <a16:creationId xmlns:a16="http://schemas.microsoft.com/office/drawing/2014/main" id="{AB4C7DF1-254B-7A12-0344-96AD5B0851F3}"/>
              </a:ext>
            </a:extLst>
          </p:cNvPr>
          <p:cNvSpPr>
            <a:spLocks noGrp="1"/>
          </p:cNvSpPr>
          <p:nvPr>
            <p:ph type="sldNum" sz="quarter" idx="12"/>
          </p:nvPr>
        </p:nvSpPr>
        <p:spPr/>
        <p:txBody>
          <a:bodyPr/>
          <a:lstStyle/>
          <a:p>
            <a:fld id="{31DE2C5B-556E-47B8-A792-024C2FCA4ACC}" type="slidenum">
              <a:rPr lang="en-GB" smtClean="0"/>
              <a:t>21</a:t>
            </a:fld>
            <a:endParaRPr lang="en-GB" dirty="0"/>
          </a:p>
        </p:txBody>
      </p:sp>
      <p:sp>
        <p:nvSpPr>
          <p:cNvPr id="6" name="TextBox 5">
            <a:extLst>
              <a:ext uri="{FF2B5EF4-FFF2-40B4-BE49-F238E27FC236}">
                <a16:creationId xmlns:a16="http://schemas.microsoft.com/office/drawing/2014/main" id="{05DB0565-29C5-F926-427A-E01302ECC515}"/>
              </a:ext>
            </a:extLst>
          </p:cNvPr>
          <p:cNvSpPr txBox="1"/>
          <p:nvPr/>
        </p:nvSpPr>
        <p:spPr>
          <a:xfrm>
            <a:off x="9460264" y="1558713"/>
            <a:ext cx="6097348" cy="49398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"00:50:00",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"01:28:00",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"01:32:00",</a:t>
            </a:r>
          </a:p>
          <a:p>
            <a:r>
              <a:rPr lang="en-GB" sz="900" b="0" dirty="0">
                <a:effectLst/>
                <a:latin typeface="Menlo" panose="020B0609030804020204" pitchFamily="49" charset="0"/>
              </a:rPr>
              <a:t>        "value": "1440"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"01:33:00",</a:t>
            </a:r>
          </a:p>
          <a:p>
            <a:r>
              <a:rPr lang="en-GB" sz="900" b="0" dirty="0">
                <a:effectLst/>
                <a:latin typeface="Menlo" panose="020B0609030804020204" pitchFamily="49" charset="0"/>
              </a:rPr>
              <a:t>        "value": "3110"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"01:34:00",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"01:53:00",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"03:09:00",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197177623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4E98FD-CDA6-816C-3231-5FA37E39B1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F64660-769E-2BDE-6E45-60C431EB616A}"/>
              </a:ext>
            </a:extLst>
          </p:cNvPr>
          <p:cNvSpPr>
            <a:spLocks noGrp="1"/>
          </p:cNvSpPr>
          <p:nvPr>
            <p:ph type="title"/>
          </p:nvPr>
        </p:nvSpPr>
        <p:spPr/>
        <p:txBody>
          <a:bodyPr>
            <a:normAutofit/>
          </a:bodyPr>
          <a:lstStyle/>
          <a:p>
            <a:r>
              <a:rPr lang="en-IT" dirty="0"/>
              <a:t>Focus on data – Steps</a:t>
            </a:r>
          </a:p>
        </p:txBody>
      </p:sp>
      <p:sp>
        <p:nvSpPr>
          <p:cNvPr id="3" name="Content Placeholder 2">
            <a:extLst>
              <a:ext uri="{FF2B5EF4-FFF2-40B4-BE49-F238E27FC236}">
                <a16:creationId xmlns:a16="http://schemas.microsoft.com/office/drawing/2014/main" id="{B2DC9E2E-3F22-779F-EB84-70672512EDCB}"/>
              </a:ext>
            </a:extLst>
          </p:cNvPr>
          <p:cNvSpPr>
            <a:spLocks noGrp="1"/>
          </p:cNvSpPr>
          <p:nvPr>
            <p:ph idx="1"/>
          </p:nvPr>
        </p:nvSpPr>
        <p:spPr>
          <a:xfrm>
            <a:off x="428172" y="1361167"/>
            <a:ext cx="11368314" cy="5334907"/>
          </a:xfrm>
        </p:spPr>
        <p:txBody>
          <a:bodyPr>
            <a:normAutofit/>
          </a:bodyPr>
          <a:lstStyle/>
          <a:p>
            <a:r>
              <a:rPr lang="en-IT" sz="2000" dirty="0"/>
              <a:t>Steps: a list with 1 data point every minute or more depending on</a:t>
            </a:r>
            <a:br>
              <a:rPr lang="en-IT" sz="2000" dirty="0"/>
            </a:br>
            <a:r>
              <a:rPr lang="en-IT" sz="2000" dirty="0"/>
              <a:t>user’s movement</a:t>
            </a:r>
            <a:br>
              <a:rPr lang="en-IT" sz="2000" dirty="0"/>
            </a:br>
            <a:endParaRPr lang="en-IT" sz="2000" dirty="0"/>
          </a:p>
          <a:p>
            <a:endParaRPr lang="en-IT" sz="2000" dirty="0"/>
          </a:p>
          <a:p>
            <a:r>
              <a:rPr lang="en-IT" sz="2000" dirty="0"/>
              <a:t>Fields meaning:</a:t>
            </a:r>
          </a:p>
          <a:p>
            <a:pPr lvl="1"/>
            <a:r>
              <a:rPr lang="en-IT" sz="1600" dirty="0"/>
              <a:t>time: timestamp (hh:mm:ss format) of the step entry</a:t>
            </a:r>
          </a:p>
          <a:p>
            <a:pPr lvl="1"/>
            <a:r>
              <a:rPr lang="en-IT" sz="1600" dirty="0"/>
              <a:t>value: the number of steps done between the last timestamp and now </a:t>
            </a:r>
          </a:p>
          <a:p>
            <a:pPr lvl="1"/>
            <a:endParaRPr lang="en-IT" sz="1600" dirty="0"/>
          </a:p>
          <a:p>
            <a:pPr lvl="1"/>
            <a:endParaRPr lang="en-IT" sz="1600" dirty="0"/>
          </a:p>
          <a:p>
            <a:r>
              <a:rPr lang="en-IT" sz="2000" b="1" dirty="0"/>
              <a:t>Note</a:t>
            </a:r>
            <a:r>
              <a:rPr lang="en-IT" sz="2000" dirty="0"/>
              <a:t>: there can be days without data</a:t>
            </a:r>
          </a:p>
          <a:p>
            <a:pPr marL="0" indent="0">
              <a:buNone/>
            </a:pPr>
            <a:endParaRPr lang="en-IT" sz="2000" dirty="0"/>
          </a:p>
        </p:txBody>
      </p:sp>
      <p:sp>
        <p:nvSpPr>
          <p:cNvPr id="4" name="Slide Number Placeholder 3">
            <a:extLst>
              <a:ext uri="{FF2B5EF4-FFF2-40B4-BE49-F238E27FC236}">
                <a16:creationId xmlns:a16="http://schemas.microsoft.com/office/drawing/2014/main" id="{E269F16F-D833-2294-6997-4CD418E5D49F}"/>
              </a:ext>
            </a:extLst>
          </p:cNvPr>
          <p:cNvSpPr>
            <a:spLocks noGrp="1"/>
          </p:cNvSpPr>
          <p:nvPr>
            <p:ph type="sldNum" sz="quarter" idx="12"/>
          </p:nvPr>
        </p:nvSpPr>
        <p:spPr/>
        <p:txBody>
          <a:bodyPr/>
          <a:lstStyle/>
          <a:p>
            <a:fld id="{31DE2C5B-556E-47B8-A792-024C2FCA4ACC}" type="slidenum">
              <a:rPr lang="en-GB" smtClean="0"/>
              <a:t>22</a:t>
            </a:fld>
            <a:endParaRPr lang="en-GB" dirty="0"/>
          </a:p>
        </p:txBody>
      </p:sp>
      <p:sp>
        <p:nvSpPr>
          <p:cNvPr id="6" name="TextBox 5">
            <a:extLst>
              <a:ext uri="{FF2B5EF4-FFF2-40B4-BE49-F238E27FC236}">
                <a16:creationId xmlns:a16="http://schemas.microsoft.com/office/drawing/2014/main" id="{CDBE0FDB-BDE5-B42B-A60B-71CD03FEC494}"/>
              </a:ext>
            </a:extLst>
          </p:cNvPr>
          <p:cNvSpPr txBox="1"/>
          <p:nvPr/>
        </p:nvSpPr>
        <p:spPr>
          <a:xfrm>
            <a:off x="9460264" y="1558713"/>
            <a:ext cx="6097348" cy="4801314"/>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"00:07:00",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"00:10:00",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"01:57:00",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"02:29:00",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"02:40:00",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"02:57:00",</a:t>
            </a:r>
          </a:p>
          <a:p>
            <a:r>
              <a:rPr lang="en-GB" sz="900" b="0" dirty="0">
                <a:effectLst/>
                <a:latin typeface="Menlo" panose="020B0609030804020204" pitchFamily="49" charset="0"/>
              </a:rPr>
              <a:t>        "value": "11"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"02:58:00",</a:t>
            </a:r>
          </a:p>
          <a:p>
            <a:r>
              <a:rPr lang="en-GB" sz="900" b="0" dirty="0">
                <a:effectLst/>
                <a:latin typeface="Menlo" panose="020B0609030804020204" pitchFamily="49" charset="0"/>
              </a:rPr>
              <a:t>        "value": "18"</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"02:59:00",</a:t>
            </a:r>
          </a:p>
          <a:p>
            <a:r>
              <a:rPr lang="en-GB" sz="900" b="0" dirty="0">
                <a:effectLst/>
                <a:latin typeface="Menlo" panose="020B0609030804020204" pitchFamily="49" charset="0"/>
              </a:rPr>
              <a:t>        "value": "0"</a:t>
            </a:r>
          </a:p>
          <a:p>
            <a:r>
              <a:rPr lang="en-GB" sz="900" b="0" dirty="0">
                <a:effectLst/>
                <a:latin typeface="Menlo" panose="020B0609030804020204" pitchFamily="49" charset="0"/>
              </a:rPr>
              <a:t>    },</a:t>
            </a:r>
            <a:r>
              <a:rPr lang="en-GB" sz="900" dirty="0">
                <a:latin typeface="Menlo" panose="020B0609030804020204" pitchFamily="49" charset="0"/>
              </a:rPr>
              <a:t>    ...</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26972180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71191A-295B-DC56-0A07-BEF5FC91FC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C7E4585-480D-32C5-A46B-4E83DB2013ED}"/>
              </a:ext>
            </a:extLst>
          </p:cNvPr>
          <p:cNvSpPr>
            <a:spLocks noGrp="1"/>
          </p:cNvSpPr>
          <p:nvPr>
            <p:ph type="title"/>
          </p:nvPr>
        </p:nvSpPr>
        <p:spPr/>
        <p:txBody>
          <a:bodyPr>
            <a:normAutofit/>
          </a:bodyPr>
          <a:lstStyle/>
          <a:p>
            <a:r>
              <a:rPr lang="en-IT"/>
              <a:t>Heart </a:t>
            </a:r>
            <a:r>
              <a:rPr lang="en-IT" dirty="0"/>
              <a:t>rate</a:t>
            </a:r>
          </a:p>
        </p:txBody>
      </p:sp>
      <p:sp>
        <p:nvSpPr>
          <p:cNvPr id="3" name="Content Placeholder 2">
            <a:extLst>
              <a:ext uri="{FF2B5EF4-FFF2-40B4-BE49-F238E27FC236}">
                <a16:creationId xmlns:a16="http://schemas.microsoft.com/office/drawing/2014/main" id="{832C6F84-4E27-08C1-7D86-990628DE3182}"/>
              </a:ext>
            </a:extLst>
          </p:cNvPr>
          <p:cNvSpPr>
            <a:spLocks noGrp="1"/>
          </p:cNvSpPr>
          <p:nvPr>
            <p:ph idx="1"/>
          </p:nvPr>
        </p:nvSpPr>
        <p:spPr>
          <a:xfrm>
            <a:off x="428172" y="1361167"/>
            <a:ext cx="11368314" cy="5334907"/>
          </a:xfrm>
        </p:spPr>
        <p:txBody>
          <a:bodyPr>
            <a:normAutofit/>
          </a:bodyPr>
          <a:lstStyle/>
          <a:p>
            <a:r>
              <a:rPr lang="en-IT" sz="2000" dirty="0"/>
              <a:t>Heart rate: a list with 1 data point every 5 seconds.</a:t>
            </a:r>
            <a:br>
              <a:rPr lang="en-IT" sz="2000" dirty="0"/>
            </a:br>
            <a:endParaRPr lang="en-IT" sz="2000" dirty="0"/>
          </a:p>
          <a:p>
            <a:endParaRPr lang="en-IT" sz="2000" dirty="0"/>
          </a:p>
          <a:p>
            <a:r>
              <a:rPr lang="en-IT" sz="2000" dirty="0"/>
              <a:t>Fields meaning:</a:t>
            </a:r>
          </a:p>
          <a:p>
            <a:pPr lvl="1"/>
            <a:r>
              <a:rPr lang="en-IT" sz="1600" dirty="0"/>
              <a:t>time: timestamp (hh:mm:ss format) of the heart rate entry</a:t>
            </a:r>
          </a:p>
          <a:p>
            <a:pPr lvl="1"/>
            <a:r>
              <a:rPr lang="en-IT" sz="1600" dirty="0"/>
              <a:t>value: the heart rate at the current time (in bpm)</a:t>
            </a:r>
          </a:p>
          <a:p>
            <a:pPr lvl="1"/>
            <a:r>
              <a:rPr lang="en-IT" sz="1600" dirty="0"/>
              <a:t>confidence: a number from 0 to 3 defining how much the reading is reliable (this</a:t>
            </a:r>
            <a:br>
              <a:rPr lang="en-IT" sz="1600" dirty="0"/>
            </a:br>
            <a:r>
              <a:rPr lang="en-IT" sz="1600" dirty="0"/>
              <a:t>problably depends on user movement, etc. You can ignore it)</a:t>
            </a:r>
          </a:p>
          <a:p>
            <a:pPr lvl="1"/>
            <a:endParaRPr lang="en-IT" sz="1600" dirty="0"/>
          </a:p>
          <a:p>
            <a:r>
              <a:rPr lang="en-IT" sz="2000" b="1" dirty="0"/>
              <a:t>Note</a:t>
            </a:r>
            <a:r>
              <a:rPr lang="en-IT" sz="2000" dirty="0"/>
              <a:t>: there can be missing values</a:t>
            </a:r>
          </a:p>
        </p:txBody>
      </p:sp>
      <p:sp>
        <p:nvSpPr>
          <p:cNvPr id="4" name="Slide Number Placeholder 3">
            <a:extLst>
              <a:ext uri="{FF2B5EF4-FFF2-40B4-BE49-F238E27FC236}">
                <a16:creationId xmlns:a16="http://schemas.microsoft.com/office/drawing/2014/main" id="{2E082F8C-8806-F8E1-BAF0-C3F3309D137B}"/>
              </a:ext>
            </a:extLst>
          </p:cNvPr>
          <p:cNvSpPr>
            <a:spLocks noGrp="1"/>
          </p:cNvSpPr>
          <p:nvPr>
            <p:ph type="sldNum" sz="quarter" idx="12"/>
          </p:nvPr>
        </p:nvSpPr>
        <p:spPr/>
        <p:txBody>
          <a:bodyPr/>
          <a:lstStyle/>
          <a:p>
            <a:fld id="{31DE2C5B-556E-47B8-A792-024C2FCA4ACC}" type="slidenum">
              <a:rPr lang="en-GB" smtClean="0"/>
              <a:t>23</a:t>
            </a:fld>
            <a:endParaRPr lang="en-GB" dirty="0"/>
          </a:p>
        </p:txBody>
      </p:sp>
      <p:sp>
        <p:nvSpPr>
          <p:cNvPr id="6" name="TextBox 5">
            <a:extLst>
              <a:ext uri="{FF2B5EF4-FFF2-40B4-BE49-F238E27FC236}">
                <a16:creationId xmlns:a16="http://schemas.microsoft.com/office/drawing/2014/main" id="{B6CCA017-A8A5-F5EB-29CE-E2CD94DE705C}"/>
              </a:ext>
            </a:extLst>
          </p:cNvPr>
          <p:cNvSpPr txBox="1"/>
          <p:nvPr/>
        </p:nvSpPr>
        <p:spPr>
          <a:xfrm>
            <a:off x="8974741" y="1335766"/>
            <a:ext cx="6097348" cy="5355312"/>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a:t>
            </a:r>
          </a:p>
          <a:p>
            <a:r>
              <a:rPr lang="en-GB" sz="900" b="0" dirty="0">
                <a:effectLst/>
                <a:latin typeface="Menlo" panose="020B0609030804020204" pitchFamily="49" charset="0"/>
              </a:rPr>
              <a:t>        "time": "03:10:19",</a:t>
            </a:r>
          </a:p>
          <a:p>
            <a:r>
              <a:rPr lang="en-GB" sz="900" b="0" dirty="0">
                <a:effectLst/>
                <a:latin typeface="Menlo" panose="020B0609030804020204" pitchFamily="49" charset="0"/>
              </a:rPr>
              <a:t>        "value": 58,</a:t>
            </a:r>
          </a:p>
          <a:p>
            <a:r>
              <a:rPr lang="en-GB" sz="900" b="0" dirty="0">
                <a:effectLst/>
                <a:latin typeface="Menlo" panose="020B0609030804020204" pitchFamily="49" charset="0"/>
              </a:rPr>
              <a:t>        "confidence": 1</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"03:10:24",</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"03:10:29",</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"03:10:44",</a:t>
            </a:r>
          </a:p>
          <a:p>
            <a:r>
              <a:rPr lang="en-GB" sz="900" b="0" dirty="0">
                <a:effectLst/>
                <a:latin typeface="Menlo" panose="020B0609030804020204" pitchFamily="49" charset="0"/>
              </a:rPr>
              <a:t>        "value": 52,</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"03:10:54",</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"03:11:09",</a:t>
            </a:r>
          </a:p>
          <a:p>
            <a:r>
              <a:rPr lang="en-GB" sz="900" b="0" dirty="0">
                <a:effectLst/>
                <a:latin typeface="Menlo" panose="020B0609030804020204" pitchFamily="49" charset="0"/>
              </a:rPr>
              <a:t>        "value": 54,</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p>
          <a:p>
            <a:r>
              <a:rPr lang="en-GB" sz="900" b="0" dirty="0">
                <a:effectLst/>
                <a:latin typeface="Menlo" panose="020B0609030804020204" pitchFamily="49" charset="0"/>
              </a:rPr>
              <a:t>    {</a:t>
            </a:r>
          </a:p>
          <a:p>
            <a:r>
              <a:rPr lang="en-GB" sz="900" b="0" dirty="0">
                <a:effectLst/>
                <a:latin typeface="Menlo" panose="020B0609030804020204" pitchFamily="49" charset="0"/>
              </a:rPr>
              <a:t>        "time": "03:11:19",</a:t>
            </a:r>
          </a:p>
          <a:p>
            <a:r>
              <a:rPr lang="en-GB" sz="900" b="0" dirty="0">
                <a:effectLst/>
                <a:latin typeface="Menlo" panose="020B0609030804020204" pitchFamily="49" charset="0"/>
              </a:rPr>
              <a:t>        "value": 53,</a:t>
            </a:r>
          </a:p>
          <a:p>
            <a:r>
              <a:rPr lang="en-GB" sz="900" b="0" dirty="0">
                <a:effectLst/>
                <a:latin typeface="Menlo" panose="020B0609030804020204" pitchFamily="49" charset="0"/>
              </a:rPr>
              <a:t>        "confidence": 3</a:t>
            </a:r>
          </a:p>
          <a:p>
            <a:r>
              <a:rPr lang="en-GB" sz="900" b="0" dirty="0">
                <a:effectLst/>
                <a:latin typeface="Menlo" panose="020B0609030804020204" pitchFamily="49" charset="0"/>
              </a:rPr>
              <a:t>    },</a:t>
            </a:r>
            <a:br>
              <a:rPr lang="en-GB" sz="900" b="0" dirty="0">
                <a:effectLst/>
                <a:latin typeface="Menlo" panose="020B0609030804020204" pitchFamily="49" charset="0"/>
              </a:rPr>
            </a:br>
            <a:r>
              <a:rPr lang="en-GB" sz="900" b="0" dirty="0">
                <a:effectLst/>
                <a:latin typeface="Menlo" panose="020B0609030804020204" pitchFamily="49" charset="0"/>
              </a:rPr>
              <a:t>    </a:t>
            </a:r>
            <a:r>
              <a:rPr lang="en-GB" sz="900" dirty="0">
                <a:latin typeface="Menlo" panose="020B0609030804020204" pitchFamily="49" charset="0"/>
              </a:rPr>
              <a:t>...</a:t>
            </a:r>
          </a:p>
          <a:p>
            <a:r>
              <a:rPr lang="en-GB" sz="900" b="0" dirty="0">
                <a:effectLst/>
                <a:latin typeface="Menlo" panose="020B0609030804020204" pitchFamily="49" charset="0"/>
              </a:rPr>
              <a:t>]</a:t>
            </a:r>
          </a:p>
        </p:txBody>
      </p:sp>
      <p:cxnSp>
        <p:nvCxnSpPr>
          <p:cNvPr id="7" name="Straight Arrow Connector 6">
            <a:extLst>
              <a:ext uri="{FF2B5EF4-FFF2-40B4-BE49-F238E27FC236}">
                <a16:creationId xmlns:a16="http://schemas.microsoft.com/office/drawing/2014/main" id="{B5D66EA8-8778-DC83-A74F-727A844AEBB8}"/>
              </a:ext>
            </a:extLst>
          </p:cNvPr>
          <p:cNvCxnSpPr/>
          <p:nvPr/>
        </p:nvCxnSpPr>
        <p:spPr>
          <a:xfrm>
            <a:off x="4725749" y="4377791"/>
            <a:ext cx="4644828" cy="57453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4432521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59AED7-272F-5B9A-E203-82BA039C58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409D259-8389-6B47-3F61-D346AEB29CDA}"/>
              </a:ext>
            </a:extLst>
          </p:cNvPr>
          <p:cNvSpPr>
            <a:spLocks noGrp="1"/>
          </p:cNvSpPr>
          <p:nvPr>
            <p:ph type="title"/>
          </p:nvPr>
        </p:nvSpPr>
        <p:spPr/>
        <p:txBody>
          <a:bodyPr>
            <a:normAutofit/>
          </a:bodyPr>
          <a:lstStyle/>
          <a:p>
            <a:r>
              <a:rPr lang="en-IT"/>
              <a:t>Resting </a:t>
            </a:r>
            <a:r>
              <a:rPr lang="en-IT" dirty="0"/>
              <a:t>heart rate</a:t>
            </a:r>
          </a:p>
        </p:txBody>
      </p:sp>
      <p:sp>
        <p:nvSpPr>
          <p:cNvPr id="3" name="Content Placeholder 2">
            <a:extLst>
              <a:ext uri="{FF2B5EF4-FFF2-40B4-BE49-F238E27FC236}">
                <a16:creationId xmlns:a16="http://schemas.microsoft.com/office/drawing/2014/main" id="{3A8D5C17-DEE7-1E94-C024-7146F4C732A5}"/>
              </a:ext>
            </a:extLst>
          </p:cNvPr>
          <p:cNvSpPr>
            <a:spLocks noGrp="1"/>
          </p:cNvSpPr>
          <p:nvPr>
            <p:ph idx="1"/>
          </p:nvPr>
        </p:nvSpPr>
        <p:spPr>
          <a:xfrm>
            <a:off x="428172" y="1361167"/>
            <a:ext cx="11368314" cy="5334907"/>
          </a:xfrm>
        </p:spPr>
        <p:txBody>
          <a:bodyPr>
            <a:normAutofit/>
          </a:bodyPr>
          <a:lstStyle/>
          <a:p>
            <a:r>
              <a:rPr lang="en-IT" sz="2000" dirty="0"/>
              <a:t>Resting heart rate: an entry per day.</a:t>
            </a:r>
            <a:br>
              <a:rPr lang="en-IT" sz="2000" dirty="0"/>
            </a:br>
            <a:endParaRPr lang="en-IT" sz="2000" dirty="0"/>
          </a:p>
          <a:p>
            <a:endParaRPr lang="en-IT" sz="2000" dirty="0"/>
          </a:p>
          <a:p>
            <a:r>
              <a:rPr lang="en-IT" sz="2000" dirty="0"/>
              <a:t>Fields meaning:</a:t>
            </a:r>
          </a:p>
          <a:p>
            <a:pPr lvl="1"/>
            <a:r>
              <a:rPr lang="en-IT" sz="1600" dirty="0"/>
              <a:t>time: timestamp (hh:mm:ss format) of the resting heart rate entry (always 00:00:00)</a:t>
            </a:r>
          </a:p>
          <a:p>
            <a:pPr lvl="1"/>
            <a:r>
              <a:rPr lang="en-IT" sz="1600" dirty="0"/>
              <a:t>value: the estimated resting heart rate at the current time (in bpm)</a:t>
            </a:r>
          </a:p>
          <a:p>
            <a:pPr lvl="1"/>
            <a:r>
              <a:rPr lang="en-IT" sz="1600" dirty="0"/>
              <a:t>error: the estimate error (in %) (Can be ignored)</a:t>
            </a:r>
          </a:p>
          <a:p>
            <a:pPr lvl="1"/>
            <a:endParaRPr lang="en-IT" sz="1600" dirty="0"/>
          </a:p>
          <a:p>
            <a:r>
              <a:rPr lang="en-IT" sz="2000" b="1" dirty="0"/>
              <a:t>Note</a:t>
            </a:r>
            <a:r>
              <a:rPr lang="en-IT" sz="2000" dirty="0"/>
              <a:t>: there can be days without data</a:t>
            </a:r>
          </a:p>
        </p:txBody>
      </p:sp>
      <p:sp>
        <p:nvSpPr>
          <p:cNvPr id="4" name="Slide Number Placeholder 3">
            <a:extLst>
              <a:ext uri="{FF2B5EF4-FFF2-40B4-BE49-F238E27FC236}">
                <a16:creationId xmlns:a16="http://schemas.microsoft.com/office/drawing/2014/main" id="{EA3AAC1D-D3DB-FFF1-5D3E-99B2D7B2AAD9}"/>
              </a:ext>
            </a:extLst>
          </p:cNvPr>
          <p:cNvSpPr>
            <a:spLocks noGrp="1"/>
          </p:cNvSpPr>
          <p:nvPr>
            <p:ph type="sldNum" sz="quarter" idx="12"/>
          </p:nvPr>
        </p:nvSpPr>
        <p:spPr/>
        <p:txBody>
          <a:bodyPr/>
          <a:lstStyle/>
          <a:p>
            <a:fld id="{31DE2C5B-556E-47B8-A792-024C2FCA4ACC}" type="slidenum">
              <a:rPr lang="en-GB" smtClean="0"/>
              <a:t>24</a:t>
            </a:fld>
            <a:endParaRPr lang="en-GB" dirty="0"/>
          </a:p>
        </p:txBody>
      </p:sp>
      <p:sp>
        <p:nvSpPr>
          <p:cNvPr id="6" name="TextBox 5">
            <a:extLst>
              <a:ext uri="{FF2B5EF4-FFF2-40B4-BE49-F238E27FC236}">
                <a16:creationId xmlns:a16="http://schemas.microsoft.com/office/drawing/2014/main" id="{EC217DC8-AD74-FCFB-97C3-63025BFE3C42}"/>
              </a:ext>
            </a:extLst>
          </p:cNvPr>
          <p:cNvSpPr txBox="1"/>
          <p:nvPr/>
        </p:nvSpPr>
        <p:spPr>
          <a:xfrm>
            <a:off x="8456850" y="1629177"/>
            <a:ext cx="6097348" cy="784830"/>
          </a:xfrm>
          <a:prstGeom prst="rect">
            <a:avLst/>
          </a:prstGeom>
          <a:noFill/>
        </p:spPr>
        <p:txBody>
          <a:bodyPr wrap="square">
            <a:spAutoFit/>
          </a:bodyPr>
          <a:lstStyle/>
          <a:p>
            <a:r>
              <a:rPr lang="en-GB" sz="900" b="0" dirty="0">
                <a:effectLst/>
                <a:latin typeface="Menlo" panose="020B0609030804020204" pitchFamily="49" charset="0"/>
              </a:rPr>
              <a:t>{</a:t>
            </a:r>
          </a:p>
          <a:p>
            <a:r>
              <a:rPr lang="en-GB" sz="900" b="0" dirty="0">
                <a:effectLst/>
                <a:latin typeface="Menlo" panose="020B0609030804020204" pitchFamily="49" charset="0"/>
              </a:rPr>
              <a:t>    "time": "00:00:00",</a:t>
            </a:r>
          </a:p>
          <a:p>
            <a:r>
              <a:rPr lang="en-GB" sz="900" b="0" dirty="0">
                <a:effectLst/>
                <a:latin typeface="Menlo" panose="020B0609030804020204" pitchFamily="49" charset="0"/>
              </a:rPr>
              <a:t>    "value": 51.35,</a:t>
            </a:r>
          </a:p>
          <a:p>
            <a:r>
              <a:rPr lang="en-GB" sz="900" b="0" dirty="0">
                <a:effectLst/>
                <a:latin typeface="Menlo" panose="020B0609030804020204" pitchFamily="49" charset="0"/>
              </a:rPr>
              <a:t>    "error": 17.86</a:t>
            </a:r>
          </a:p>
          <a:p>
            <a:r>
              <a:rPr lang="en-GB" sz="900" b="0" dirty="0">
                <a:effectLst/>
                <a:latin typeface="Menlo" panose="020B0609030804020204" pitchFamily="49" charset="0"/>
              </a:rPr>
              <a:t>}</a:t>
            </a:r>
          </a:p>
        </p:txBody>
      </p:sp>
    </p:spTree>
    <p:extLst>
      <p:ext uri="{BB962C8B-B14F-4D97-AF65-F5344CB8AC3E}">
        <p14:creationId xmlns:p14="http://schemas.microsoft.com/office/powerpoint/2010/main" val="41536139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7AE818-3D3F-9318-801E-A15F4F9EE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B20834-0C07-2300-4D3F-8156C29C11A8}"/>
              </a:ext>
            </a:extLst>
          </p:cNvPr>
          <p:cNvSpPr>
            <a:spLocks noGrp="1"/>
          </p:cNvSpPr>
          <p:nvPr>
            <p:ph type="title"/>
          </p:nvPr>
        </p:nvSpPr>
        <p:spPr/>
        <p:txBody>
          <a:bodyPr>
            <a:normAutofit/>
          </a:bodyPr>
          <a:lstStyle/>
          <a:p>
            <a:r>
              <a:rPr lang="en-IT"/>
              <a:t>Exercise</a:t>
            </a:r>
            <a:endParaRPr lang="en-IT" dirty="0"/>
          </a:p>
        </p:txBody>
      </p:sp>
      <p:sp>
        <p:nvSpPr>
          <p:cNvPr id="3" name="Content Placeholder 2">
            <a:extLst>
              <a:ext uri="{FF2B5EF4-FFF2-40B4-BE49-F238E27FC236}">
                <a16:creationId xmlns:a16="http://schemas.microsoft.com/office/drawing/2014/main" id="{7C222461-A2ED-A7D6-A3D5-35620A60C75C}"/>
              </a:ext>
            </a:extLst>
          </p:cNvPr>
          <p:cNvSpPr>
            <a:spLocks noGrp="1"/>
          </p:cNvSpPr>
          <p:nvPr>
            <p:ph idx="1"/>
          </p:nvPr>
        </p:nvSpPr>
        <p:spPr>
          <a:xfrm>
            <a:off x="225871" y="1386568"/>
            <a:ext cx="11368314" cy="5334907"/>
          </a:xfrm>
        </p:spPr>
        <p:txBody>
          <a:bodyPr>
            <a:normAutofit lnSpcReduction="10000"/>
          </a:bodyPr>
          <a:lstStyle/>
          <a:p>
            <a:r>
              <a:rPr lang="en-IT" sz="1800" dirty="0"/>
              <a:t>Exercise: a list with 1 entry for each recorded exercise session</a:t>
            </a:r>
            <a:br>
              <a:rPr lang="en-IT" sz="1800" dirty="0"/>
            </a:br>
            <a:endParaRPr lang="en-IT" sz="1800" dirty="0"/>
          </a:p>
          <a:p>
            <a:r>
              <a:rPr lang="en-IT" sz="1800" dirty="0"/>
              <a:t>Fields meaning:</a:t>
            </a:r>
          </a:p>
          <a:p>
            <a:pPr lvl="1"/>
            <a:r>
              <a:rPr lang="en-IT" sz="1400" dirty="0"/>
              <a:t>activityName: the type of entry (“Corsa”: Run, “Bici”: bike, “Camminata”: Walk)</a:t>
            </a:r>
          </a:p>
          <a:p>
            <a:pPr lvl="1"/>
            <a:r>
              <a:rPr lang="en-IT" sz="1400" dirty="0"/>
              <a:t>averageHeartRate: the average heart rate during the session</a:t>
            </a:r>
          </a:p>
          <a:p>
            <a:pPr lvl="1"/>
            <a:r>
              <a:rPr lang="en-IT" sz="1400" dirty="0"/>
              <a:t>calories: the active calories spent during the session</a:t>
            </a:r>
          </a:p>
          <a:p>
            <a:pPr lvl="1"/>
            <a:r>
              <a:rPr lang="en-IT" sz="1400" dirty="0"/>
              <a:t>distance: the distance covered during the session</a:t>
            </a:r>
          </a:p>
          <a:p>
            <a:pPr lvl="1"/>
            <a:r>
              <a:rPr lang="en-IT" sz="1400" dirty="0"/>
              <a:t>distanceUnit: the unit of the “distance” field</a:t>
            </a:r>
          </a:p>
          <a:p>
            <a:pPr lvl="1"/>
            <a:r>
              <a:rPr lang="en-IT" sz="1400" dirty="0"/>
              <a:t>duration: the total duration of the session (in ms)</a:t>
            </a:r>
          </a:p>
          <a:p>
            <a:pPr lvl="1"/>
            <a:r>
              <a:rPr lang="en-IT" sz="1400" dirty="0"/>
              <a:t>activeDuration: the total active duration of the session (in ms)</a:t>
            </a:r>
          </a:p>
          <a:p>
            <a:pPr lvl="1"/>
            <a:r>
              <a:rPr lang="en-IT" sz="1400" dirty="0"/>
              <a:t>steps: the total number of steps done during the session (if “Corsa” or ”Camminata”)</a:t>
            </a:r>
          </a:p>
          <a:p>
            <a:pPr lvl="1"/>
            <a:r>
              <a:rPr lang="en-IT" sz="1400" dirty="0"/>
              <a:t>logType: how this record was logged (“tracker” or “auto_detected”)</a:t>
            </a:r>
          </a:p>
          <a:p>
            <a:pPr lvl="1"/>
            <a:r>
              <a:rPr lang="en-IT" sz="1400" dirty="0"/>
              <a:t>heartRateZones: a list that summarizes the number of minutes and calories</a:t>
            </a:r>
            <a:br>
              <a:rPr lang="en-IT" sz="1400" dirty="0"/>
            </a:br>
            <a:r>
              <a:rPr lang="en-IT" sz="1400" dirty="0"/>
              <a:t>spent in specific heart rate ranges (from min to max)</a:t>
            </a:r>
          </a:p>
          <a:p>
            <a:pPr lvl="1"/>
            <a:r>
              <a:rPr lang="en-IT" sz="1400" dirty="0"/>
              <a:t>speed: the average speed (in km/h)</a:t>
            </a:r>
          </a:p>
          <a:p>
            <a:pPr lvl="1"/>
            <a:r>
              <a:rPr lang="en-IT" sz="1400" dirty="0"/>
              <a:t>vo2max: the estimated running VO2Max (only for “Corsa” activities)</a:t>
            </a:r>
          </a:p>
          <a:p>
            <a:pPr lvl="1"/>
            <a:r>
              <a:rPr lang="en-IT" sz="1400" dirty="0"/>
              <a:t>elevationGain: the elevation gained during the session</a:t>
            </a:r>
          </a:p>
          <a:p>
            <a:pPr lvl="1"/>
            <a:r>
              <a:rPr lang="en-IT" sz="1400" dirty="0"/>
              <a:t>time: the starting time of the session (format hh:mm:ss)</a:t>
            </a:r>
          </a:p>
          <a:p>
            <a:pPr lvl="1"/>
            <a:endParaRPr lang="en-IT" sz="1400" dirty="0"/>
          </a:p>
          <a:p>
            <a:r>
              <a:rPr lang="en-IT" sz="1800" b="1" dirty="0"/>
              <a:t>Note</a:t>
            </a:r>
            <a:r>
              <a:rPr lang="en-IT" sz="1800" dirty="0"/>
              <a:t>: different activity types can have (slightly) different fields</a:t>
            </a:r>
          </a:p>
          <a:p>
            <a:r>
              <a:rPr lang="en-IT" sz="1800" b="1" dirty="0"/>
              <a:t>Note</a:t>
            </a:r>
            <a:r>
              <a:rPr lang="en-IT" sz="1800" dirty="0"/>
              <a:t>: there can be days without data</a:t>
            </a:r>
          </a:p>
          <a:p>
            <a:endParaRPr lang="en-IT" sz="1800" dirty="0"/>
          </a:p>
        </p:txBody>
      </p:sp>
      <p:sp>
        <p:nvSpPr>
          <p:cNvPr id="4" name="Slide Number Placeholder 3">
            <a:extLst>
              <a:ext uri="{FF2B5EF4-FFF2-40B4-BE49-F238E27FC236}">
                <a16:creationId xmlns:a16="http://schemas.microsoft.com/office/drawing/2014/main" id="{5942F582-187B-E2DF-8C89-5837C0735FB9}"/>
              </a:ext>
            </a:extLst>
          </p:cNvPr>
          <p:cNvSpPr>
            <a:spLocks noGrp="1"/>
          </p:cNvSpPr>
          <p:nvPr>
            <p:ph type="sldNum" sz="quarter" idx="12"/>
          </p:nvPr>
        </p:nvSpPr>
        <p:spPr/>
        <p:txBody>
          <a:bodyPr/>
          <a:lstStyle/>
          <a:p>
            <a:fld id="{31DE2C5B-556E-47B8-A792-024C2FCA4ACC}" type="slidenum">
              <a:rPr lang="en-GB" smtClean="0"/>
              <a:t>25</a:t>
            </a:fld>
            <a:endParaRPr lang="en-GB" dirty="0"/>
          </a:p>
        </p:txBody>
      </p:sp>
      <p:sp>
        <p:nvSpPr>
          <p:cNvPr id="6" name="TextBox 5">
            <a:extLst>
              <a:ext uri="{FF2B5EF4-FFF2-40B4-BE49-F238E27FC236}">
                <a16:creationId xmlns:a16="http://schemas.microsoft.com/office/drawing/2014/main" id="{1CA0C2E3-0C87-C767-9E82-38DE747A35AC}"/>
              </a:ext>
            </a:extLst>
          </p:cNvPr>
          <p:cNvSpPr txBox="1"/>
          <p:nvPr/>
        </p:nvSpPr>
        <p:spPr>
          <a:xfrm>
            <a:off x="7154869" y="1160666"/>
            <a:ext cx="6097348" cy="5370701"/>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"Corsa",</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143,</a:t>
            </a:r>
          </a:p>
          <a:p>
            <a:r>
              <a:rPr lang="en-GB" sz="700" b="0" dirty="0">
                <a:effectLst/>
                <a:latin typeface="Menlo" panose="020B0609030804020204" pitchFamily="49" charset="0"/>
              </a:rPr>
              <a:t>        "calories": 727,</a:t>
            </a:r>
          </a:p>
          <a:p>
            <a:r>
              <a:rPr lang="en-GB" sz="700" b="0" dirty="0">
                <a:effectLst/>
                <a:latin typeface="Menlo" panose="020B0609030804020204" pitchFamily="49" charset="0"/>
              </a:rPr>
              <a:t>        "distance": 8.474117,</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3.548E+6,</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3.214E+6,</a:t>
            </a:r>
          </a:p>
          <a:p>
            <a:r>
              <a:rPr lang="en-GB" sz="700" b="0" dirty="0">
                <a:effectLst/>
                <a:latin typeface="Menlo" panose="020B0609030804020204" pitchFamily="49" charset="0"/>
              </a:rPr>
              <a:t>        "steps": 8604,</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3,</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30.146219999999971</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137,</a:t>
            </a:r>
          </a:p>
          <a:p>
            <a:r>
              <a:rPr lang="en-GB" sz="700" b="0" dirty="0">
                <a:effectLst/>
                <a:latin typeface="Menlo" panose="020B0609030804020204" pitchFamily="49" charset="0"/>
              </a:rPr>
              <a:t>                "minutes": 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97.13782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137,</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48,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659.73843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0,</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0</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9.4981754822650917,</a:t>
            </a:r>
          </a:p>
          <a:p>
            <a:r>
              <a:rPr lang="en-GB" sz="700" b="0" dirty="0">
                <a:effectLst/>
                <a:latin typeface="Menlo" panose="020B0609030804020204" pitchFamily="49" charset="0"/>
              </a:rPr>
              <a:t>        "vo2Max": {</a:t>
            </a:r>
          </a:p>
          <a:p>
            <a:r>
              <a:rPr lang="en-GB" sz="700" b="0" dirty="0">
                <a:effectLst/>
                <a:latin typeface="Menlo" panose="020B0609030804020204" pitchFamily="49" charset="0"/>
              </a:rPr>
              <a:t>            "vo2Max": 48.77853</a:t>
            </a:r>
          </a:p>
          <a:p>
            <a:r>
              <a:rPr lang="en-GB" sz="700" b="0" dirty="0">
                <a:effectLst/>
                <a:latin typeface="Menlo" panose="020B0609030804020204" pitchFamily="49" charset="0"/>
              </a:rPr>
              <a:t>        },</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28.042,</a:t>
            </a:r>
          </a:p>
          <a:p>
            <a:r>
              <a:rPr lang="en-GB" sz="700" b="0" dirty="0">
                <a:effectLst/>
                <a:latin typeface="Menlo" panose="020B0609030804020204" pitchFamily="49" charset="0"/>
              </a:rPr>
              <a:t>        "time": "11:22:43"</a:t>
            </a:r>
          </a:p>
          <a:p>
            <a:r>
              <a:rPr lang="en-GB" sz="700" b="0" dirty="0">
                <a:effectLst/>
                <a:latin typeface="Menlo" panose="020B0609030804020204" pitchFamily="49" charset="0"/>
              </a:rPr>
              <a:t>    },</a:t>
            </a:r>
            <a:endParaRPr lang="en-GB" sz="700" dirty="0">
              <a:latin typeface="Menlo" panose="020B0609030804020204" pitchFamily="49" charset="0"/>
            </a:endParaRPr>
          </a:p>
          <a:p>
            <a:endParaRPr lang="en-GB" sz="700" b="0" dirty="0">
              <a:effectLst/>
              <a:latin typeface="Menlo" panose="020B0609030804020204" pitchFamily="49" charset="0"/>
            </a:endParaRPr>
          </a:p>
        </p:txBody>
      </p:sp>
      <p:sp>
        <p:nvSpPr>
          <p:cNvPr id="5" name="TextBox 4">
            <a:extLst>
              <a:ext uri="{FF2B5EF4-FFF2-40B4-BE49-F238E27FC236}">
                <a16:creationId xmlns:a16="http://schemas.microsoft.com/office/drawing/2014/main" id="{7E790A02-CB85-2544-9B72-CD047002E125}"/>
              </a:ext>
            </a:extLst>
          </p:cNvPr>
          <p:cNvSpPr txBox="1"/>
          <p:nvPr/>
        </p:nvSpPr>
        <p:spPr>
          <a:xfrm>
            <a:off x="9321510" y="1305759"/>
            <a:ext cx="6097348" cy="4832092"/>
          </a:xfrm>
          <a:prstGeom prst="rect">
            <a:avLst/>
          </a:prstGeom>
          <a:noFill/>
        </p:spPr>
        <p:txBody>
          <a:bodyPr wrap="square">
            <a:spAutoFit/>
          </a:bodyPr>
          <a:lstStyle/>
          <a:p>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activityName</a:t>
            </a:r>
            <a:r>
              <a:rPr lang="en-GB" sz="700" b="0" dirty="0">
                <a:effectLst/>
                <a:latin typeface="Menlo" panose="020B0609030804020204" pitchFamily="49" charset="0"/>
              </a:rPr>
              <a:t>": "</a:t>
            </a:r>
            <a:r>
              <a:rPr lang="en-GB" sz="700" b="0" dirty="0" err="1">
                <a:effectLst/>
                <a:latin typeface="Menlo" panose="020B0609030804020204" pitchFamily="49" charset="0"/>
              </a:rPr>
              <a:t>Bici</a:t>
            </a:r>
            <a:r>
              <a:rPr lang="en-GB" sz="700" b="0" dirty="0">
                <a:effectLst/>
                <a:latin typeface="Menlo" panose="020B0609030804020204" pitchFamily="49" charset="0"/>
              </a:rPr>
              <a:t>",</a:t>
            </a:r>
          </a:p>
          <a:p>
            <a:r>
              <a:rPr lang="en-GB" sz="700" b="0" dirty="0">
                <a:effectLst/>
                <a:latin typeface="Menlo" panose="020B0609030804020204" pitchFamily="49" charset="0"/>
              </a:rPr>
              <a:t>        "</a:t>
            </a:r>
            <a:r>
              <a:rPr lang="en-GB" sz="700" b="0" dirty="0" err="1">
                <a:effectLst/>
                <a:latin typeface="Menlo" panose="020B0609030804020204" pitchFamily="49" charset="0"/>
              </a:rPr>
              <a:t>averageHeartRate</a:t>
            </a:r>
            <a:r>
              <a:rPr lang="en-GB" sz="700" b="0" dirty="0">
                <a:effectLst/>
                <a:latin typeface="Menlo" panose="020B0609030804020204" pitchFamily="49" charset="0"/>
              </a:rPr>
              <a:t>": 150,</a:t>
            </a:r>
          </a:p>
          <a:p>
            <a:r>
              <a:rPr lang="en-GB" sz="700" b="0" dirty="0">
                <a:effectLst/>
                <a:latin typeface="Menlo" panose="020B0609030804020204" pitchFamily="49" charset="0"/>
              </a:rPr>
              <a:t>        "calories": 3893,</a:t>
            </a:r>
          </a:p>
          <a:p>
            <a:r>
              <a:rPr lang="en-GB" sz="700" b="0" dirty="0">
                <a:effectLst/>
                <a:latin typeface="Menlo" panose="020B0609030804020204" pitchFamily="49" charset="0"/>
              </a:rPr>
              <a:t>        "distance": 140.143695,</a:t>
            </a:r>
          </a:p>
          <a:p>
            <a:r>
              <a:rPr lang="en-GB" sz="700" b="0" dirty="0">
                <a:effectLst/>
                <a:latin typeface="Menlo" panose="020B0609030804020204" pitchFamily="49" charset="0"/>
              </a:rPr>
              <a:t>        "</a:t>
            </a:r>
            <a:r>
              <a:rPr lang="en-GB" sz="700" b="0" dirty="0" err="1">
                <a:effectLst/>
                <a:latin typeface="Menlo" panose="020B0609030804020204" pitchFamily="49" charset="0"/>
              </a:rPr>
              <a:t>distanceUnit</a:t>
            </a:r>
            <a:r>
              <a:rPr lang="en-GB" sz="700" b="0" dirty="0">
                <a:effectLst/>
                <a:latin typeface="Menlo" panose="020B0609030804020204" pitchFamily="49" charset="0"/>
              </a:rPr>
              <a:t>": "</a:t>
            </a:r>
            <a:r>
              <a:rPr lang="en-GB" sz="700" b="0" dirty="0" err="1">
                <a:effectLst/>
                <a:latin typeface="Menlo" panose="020B0609030804020204" pitchFamily="49" charset="0"/>
              </a:rPr>
              <a:t>Kilometer</a:t>
            </a:r>
            <a:r>
              <a:rPr lang="en-GB" sz="700" b="0" dirty="0">
                <a:effectLst/>
                <a:latin typeface="Menlo" panose="020B0609030804020204" pitchFamily="49" charset="0"/>
              </a:rPr>
              <a:t>",</a:t>
            </a:r>
          </a:p>
          <a:p>
            <a:r>
              <a:rPr lang="en-GB" sz="700" b="0" dirty="0">
                <a:effectLst/>
                <a:latin typeface="Menlo" panose="020B0609030804020204" pitchFamily="49" charset="0"/>
              </a:rPr>
              <a:t>        "duration": 2.0901E+7,</a:t>
            </a:r>
          </a:p>
          <a:p>
            <a:r>
              <a:rPr lang="en-GB" sz="700" b="0" dirty="0">
                <a:effectLst/>
                <a:latin typeface="Menlo" panose="020B0609030804020204" pitchFamily="49" charset="0"/>
              </a:rPr>
              <a:t>        "</a:t>
            </a:r>
            <a:r>
              <a:rPr lang="en-GB" sz="700" b="0" dirty="0" err="1">
                <a:effectLst/>
                <a:latin typeface="Menlo" panose="020B0609030804020204" pitchFamily="49" charset="0"/>
              </a:rPr>
              <a:t>activeDuration</a:t>
            </a:r>
            <a:r>
              <a:rPr lang="en-GB" sz="700" b="0" dirty="0">
                <a:effectLst/>
                <a:latin typeface="Menlo" panose="020B0609030804020204" pitchFamily="49" charset="0"/>
              </a:rPr>
              <a:t>": 1.756E+7,</a:t>
            </a:r>
          </a:p>
          <a:p>
            <a:r>
              <a:rPr lang="en-GB" sz="700" b="0" dirty="0">
                <a:effectLst/>
                <a:latin typeface="Menlo" panose="020B0609030804020204" pitchFamily="49" charset="0"/>
              </a:rPr>
              <a:t>        "</a:t>
            </a:r>
            <a:r>
              <a:rPr lang="en-GB" sz="700" b="0" dirty="0" err="1">
                <a:effectLst/>
                <a:latin typeface="Menlo" panose="020B0609030804020204" pitchFamily="49" charset="0"/>
              </a:rPr>
              <a:t>logType</a:t>
            </a:r>
            <a:r>
              <a:rPr lang="en-GB" sz="700" b="0" dirty="0">
                <a:effectLst/>
                <a:latin typeface="Menlo" panose="020B0609030804020204" pitchFamily="49" charset="0"/>
              </a:rPr>
              <a:t>": "tracker",</a:t>
            </a:r>
          </a:p>
          <a:p>
            <a:r>
              <a:rPr lang="en-GB" sz="700" b="0" dirty="0">
                <a:effectLst/>
                <a:latin typeface="Menlo" panose="020B0609030804020204" pitchFamily="49" charset="0"/>
              </a:rPr>
              <a:t>        "</a:t>
            </a:r>
            <a:r>
              <a:rPr lang="en-GB" sz="700" b="0" dirty="0" err="1">
                <a:effectLst/>
                <a:latin typeface="Menlo" panose="020B0609030804020204" pitchFamily="49" charset="0"/>
              </a:rPr>
              <a:t>heartRateZones</a:t>
            </a:r>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Fuori</a:t>
            </a:r>
            <a:r>
              <a:rPr lang="en-GB" sz="700" b="0" dirty="0">
                <a:effectLst/>
                <a:latin typeface="Menlo" panose="020B0609030804020204" pitchFamily="49" charset="0"/>
              </a:rPr>
              <a:t> zona",</a:t>
            </a:r>
          </a:p>
          <a:p>
            <a:r>
              <a:rPr lang="en-GB" sz="700" b="0" dirty="0">
                <a:effectLst/>
                <a:latin typeface="Menlo" panose="020B0609030804020204" pitchFamily="49" charset="0"/>
              </a:rPr>
              <a:t>                "min": 30,</a:t>
            </a:r>
          </a:p>
          <a:p>
            <a:r>
              <a:rPr lang="en-GB" sz="700" b="0" dirty="0">
                <a:effectLst/>
                <a:latin typeface="Menlo" panose="020B0609030804020204" pitchFamily="49" charset="0"/>
              </a:rPr>
              <a:t>                "max": 110,</a:t>
            </a:r>
          </a:p>
          <a:p>
            <a:r>
              <a:rPr lang="en-GB" sz="700" b="0" dirty="0">
                <a:effectLst/>
                <a:latin typeface="Menlo" panose="020B0609030804020204" pitchFamily="49" charset="0"/>
              </a:rPr>
              <a:t>                "minutes": 28,</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214.83527999999842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"Grassi </a:t>
            </a:r>
            <a:r>
              <a:rPr lang="en-GB" sz="700" b="0" dirty="0" err="1">
                <a:effectLst/>
                <a:latin typeface="Menlo" panose="020B0609030804020204" pitchFamily="49" charset="0"/>
              </a:rPr>
              <a:t>bruciati</a:t>
            </a:r>
            <a:r>
              <a:rPr lang="en-GB" sz="700" b="0" dirty="0">
                <a:effectLst/>
                <a:latin typeface="Menlo" panose="020B0609030804020204" pitchFamily="49" charset="0"/>
              </a:rPr>
              <a:t>",</a:t>
            </a:r>
          </a:p>
          <a:p>
            <a:r>
              <a:rPr lang="en-GB" sz="700" b="0" dirty="0">
                <a:effectLst/>
                <a:latin typeface="Menlo" panose="020B0609030804020204" pitchFamily="49" charset="0"/>
              </a:rPr>
              <a:t>                "min": 110,</a:t>
            </a:r>
          </a:p>
          <a:p>
            <a:r>
              <a:rPr lang="en-GB" sz="700" b="0" dirty="0">
                <a:effectLst/>
                <a:latin typeface="Menlo" panose="020B0609030804020204" pitchFamily="49" charset="0"/>
              </a:rPr>
              <a:t>                "max": 136,</a:t>
            </a:r>
          </a:p>
          <a:p>
            <a:r>
              <a:rPr lang="en-GB" sz="700" b="0" dirty="0">
                <a:effectLst/>
                <a:latin typeface="Menlo" panose="020B0609030804020204" pitchFamily="49" charset="0"/>
              </a:rPr>
              <a:t>                "minutes": 64,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664.55027999999993</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Attivita</a:t>
            </a:r>
            <a:r>
              <a:rPr lang="en-GB" sz="700" b="0" dirty="0">
                <a:effectLst/>
                <a:latin typeface="Menlo" panose="020B0609030804020204" pitchFamily="49" charset="0"/>
              </a:rPr>
              <a:t> </a:t>
            </a:r>
            <a:r>
              <a:rPr lang="en-GB" sz="700" b="0" dirty="0" err="1">
                <a:effectLst/>
                <a:latin typeface="Menlo" panose="020B0609030804020204" pitchFamily="49" charset="0"/>
              </a:rPr>
              <a:t>aerobica</a:t>
            </a:r>
            <a:r>
              <a:rPr lang="en-GB" sz="700" b="0" dirty="0">
                <a:effectLst/>
                <a:latin typeface="Menlo" panose="020B0609030804020204" pitchFamily="49" charset="0"/>
              </a:rPr>
              <a:t>",</a:t>
            </a:r>
          </a:p>
          <a:p>
            <a:r>
              <a:rPr lang="en-GB" sz="700" b="0" dirty="0">
                <a:effectLst/>
                <a:latin typeface="Menlo" panose="020B0609030804020204" pitchFamily="49" charset="0"/>
              </a:rPr>
              <a:t>                "min": 136,</a:t>
            </a:r>
          </a:p>
          <a:p>
            <a:r>
              <a:rPr lang="en-GB" sz="700" b="0" dirty="0">
                <a:effectLst/>
                <a:latin typeface="Menlo" panose="020B0609030804020204" pitchFamily="49" charset="0"/>
              </a:rPr>
              <a:t>                "max": 170,</a:t>
            </a:r>
          </a:p>
          <a:p>
            <a:r>
              <a:rPr lang="en-GB" sz="700" b="0" dirty="0">
                <a:effectLst/>
                <a:latin typeface="Menlo" panose="020B0609030804020204" pitchFamily="49" charset="0"/>
              </a:rPr>
              <a:t>                "minutes": 232,</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3167.1500100000012</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"name": "</a:t>
            </a:r>
            <a:r>
              <a:rPr lang="en-GB" sz="700" b="0" dirty="0" err="1">
                <a:effectLst/>
                <a:latin typeface="Menlo" panose="020B0609030804020204" pitchFamily="49" charset="0"/>
              </a:rPr>
              <a:t>Picco</a:t>
            </a:r>
            <a:r>
              <a:rPr lang="en-GB" sz="700" b="0" dirty="0">
                <a:effectLst/>
                <a:latin typeface="Menlo" panose="020B0609030804020204" pitchFamily="49" charset="0"/>
              </a:rPr>
              <a:t>",</a:t>
            </a:r>
          </a:p>
          <a:p>
            <a:r>
              <a:rPr lang="en-GB" sz="700" b="0" dirty="0">
                <a:effectLst/>
                <a:latin typeface="Menlo" panose="020B0609030804020204" pitchFamily="49" charset="0"/>
              </a:rPr>
              <a:t>                "min": 170,</a:t>
            </a:r>
          </a:p>
          <a:p>
            <a:r>
              <a:rPr lang="en-GB" sz="700" b="0" dirty="0">
                <a:effectLst/>
                <a:latin typeface="Menlo" panose="020B0609030804020204" pitchFamily="49" charset="0"/>
              </a:rPr>
              <a:t>                "max": 220,</a:t>
            </a:r>
          </a:p>
          <a:p>
            <a:r>
              <a:rPr lang="en-GB" sz="700" b="0" dirty="0">
                <a:effectLst/>
                <a:latin typeface="Menlo" panose="020B0609030804020204" pitchFamily="49" charset="0"/>
              </a:rPr>
              <a:t>                "minutes": 24,</a:t>
            </a:r>
          </a:p>
          <a:p>
            <a:r>
              <a:rPr lang="en-GB" sz="700" b="0" dirty="0">
                <a:effectLst/>
                <a:latin typeface="Menlo" panose="020B0609030804020204" pitchFamily="49" charset="0"/>
              </a:rPr>
              <a:t>                "</a:t>
            </a:r>
            <a:r>
              <a:rPr lang="en-GB" sz="700" b="0" dirty="0" err="1">
                <a:effectLst/>
                <a:latin typeface="Menlo" panose="020B0609030804020204" pitchFamily="49" charset="0"/>
              </a:rPr>
              <a:t>caloriesOut</a:t>
            </a:r>
            <a:r>
              <a:rPr lang="en-GB" sz="700" b="0" dirty="0">
                <a:effectLst/>
                <a:latin typeface="Menlo" panose="020B0609030804020204" pitchFamily="49" charset="0"/>
              </a:rPr>
              <a:t>": 377.76059999999995</a:t>
            </a:r>
          </a:p>
          <a:p>
            <a:r>
              <a:rPr lang="en-GB" sz="700" b="0" dirty="0">
                <a:effectLst/>
                <a:latin typeface="Menlo" panose="020B0609030804020204" pitchFamily="49" charset="0"/>
              </a:rPr>
              <a:t>            }</a:t>
            </a:r>
          </a:p>
          <a:p>
            <a:r>
              <a:rPr lang="en-GB" sz="700" b="0" dirty="0">
                <a:effectLst/>
                <a:latin typeface="Menlo" panose="020B0609030804020204" pitchFamily="49" charset="0"/>
              </a:rPr>
              <a:t>        ],</a:t>
            </a:r>
          </a:p>
          <a:p>
            <a:r>
              <a:rPr lang="en-GB" sz="700" b="0" dirty="0">
                <a:effectLst/>
                <a:latin typeface="Menlo" panose="020B0609030804020204" pitchFamily="49" charset="0"/>
              </a:rPr>
              <a:t>        "speed": 28.734978587699313,</a:t>
            </a:r>
          </a:p>
          <a:p>
            <a:r>
              <a:rPr lang="en-GB" sz="700" b="0" dirty="0">
                <a:effectLst/>
                <a:latin typeface="Menlo" panose="020B0609030804020204" pitchFamily="49" charset="0"/>
              </a:rPr>
              <a:t>        "</a:t>
            </a:r>
            <a:r>
              <a:rPr lang="en-GB" sz="700" b="0" dirty="0" err="1">
                <a:effectLst/>
                <a:latin typeface="Menlo" panose="020B0609030804020204" pitchFamily="49" charset="0"/>
              </a:rPr>
              <a:t>elevationGain</a:t>
            </a:r>
            <a:r>
              <a:rPr lang="en-GB" sz="700" b="0" dirty="0">
                <a:effectLst/>
                <a:latin typeface="Menlo" panose="020B0609030804020204" pitchFamily="49" charset="0"/>
              </a:rPr>
              <a:t>": 663.55,</a:t>
            </a:r>
          </a:p>
          <a:p>
            <a:r>
              <a:rPr lang="en-GB" sz="700" b="0" dirty="0">
                <a:effectLst/>
                <a:latin typeface="Menlo" panose="020B0609030804020204" pitchFamily="49" charset="0"/>
              </a:rPr>
              <a:t>        "time": "11:03:54"</a:t>
            </a:r>
          </a:p>
          <a:p>
            <a:r>
              <a:rPr lang="en-GB" sz="700" b="0" dirty="0">
                <a:effectLst/>
                <a:latin typeface="Menlo" panose="020B0609030804020204" pitchFamily="49" charset="0"/>
              </a:rPr>
              <a:t>    },</a:t>
            </a:r>
            <a:r>
              <a:rPr lang="en-GB" sz="700" dirty="0">
                <a:latin typeface="Menlo" panose="020B0609030804020204" pitchFamily="49" charset="0"/>
              </a:rPr>
              <a:t>...</a:t>
            </a:r>
          </a:p>
          <a:p>
            <a:r>
              <a:rPr lang="en-GB" sz="700" b="0" dirty="0">
                <a:effectLst/>
                <a:latin typeface="Menlo" panose="020B0609030804020204" pitchFamily="49" charset="0"/>
              </a:rPr>
              <a:t>]</a:t>
            </a:r>
          </a:p>
        </p:txBody>
      </p:sp>
    </p:spTree>
    <p:extLst>
      <p:ext uri="{BB962C8B-B14F-4D97-AF65-F5344CB8AC3E}">
        <p14:creationId xmlns:p14="http://schemas.microsoft.com/office/powerpoint/2010/main" val="152626014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C50462-43F0-5E62-AA7A-94B546D43B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5AAE91-A4B0-2BEE-5104-CE4FB9F0D69D}"/>
              </a:ext>
            </a:extLst>
          </p:cNvPr>
          <p:cNvSpPr>
            <a:spLocks noGrp="1"/>
          </p:cNvSpPr>
          <p:nvPr>
            <p:ph type="title"/>
          </p:nvPr>
        </p:nvSpPr>
        <p:spPr/>
        <p:txBody>
          <a:bodyPr>
            <a:normAutofit/>
          </a:bodyPr>
          <a:lstStyle/>
          <a:p>
            <a:r>
              <a:rPr lang="en-IT"/>
              <a:t>Sleep</a:t>
            </a:r>
            <a:endParaRPr lang="en-IT" dirty="0"/>
          </a:p>
        </p:txBody>
      </p:sp>
      <p:sp>
        <p:nvSpPr>
          <p:cNvPr id="3" name="Content Placeholder 2">
            <a:extLst>
              <a:ext uri="{FF2B5EF4-FFF2-40B4-BE49-F238E27FC236}">
                <a16:creationId xmlns:a16="http://schemas.microsoft.com/office/drawing/2014/main" id="{BF71A747-510E-5181-4360-E5E8001AA001}"/>
              </a:ext>
            </a:extLst>
          </p:cNvPr>
          <p:cNvSpPr>
            <a:spLocks noGrp="1"/>
          </p:cNvSpPr>
          <p:nvPr>
            <p:ph idx="1"/>
          </p:nvPr>
        </p:nvSpPr>
        <p:spPr>
          <a:xfrm>
            <a:off x="428172" y="1361167"/>
            <a:ext cx="11368314" cy="5334907"/>
          </a:xfrm>
        </p:spPr>
        <p:txBody>
          <a:bodyPr>
            <a:normAutofit lnSpcReduction="10000"/>
          </a:bodyPr>
          <a:lstStyle/>
          <a:p>
            <a:r>
              <a:rPr lang="en-IT" sz="2000" dirty="0"/>
              <a:t>Sleep: a list with 1 entry for each sleep session</a:t>
            </a:r>
            <a:br>
              <a:rPr lang="en-IT" sz="2000" dirty="0"/>
            </a:br>
            <a:endParaRPr lang="en-IT" sz="2000" dirty="0"/>
          </a:p>
          <a:p>
            <a:r>
              <a:rPr lang="en-IT" sz="2000" dirty="0"/>
              <a:t>Fields meaning:</a:t>
            </a:r>
          </a:p>
          <a:p>
            <a:pPr lvl="1"/>
            <a:r>
              <a:rPr lang="en-IT" sz="1600" dirty="0"/>
              <a:t>dateOfSleep: day associated to the sleep entry (MM-DD format)</a:t>
            </a:r>
          </a:p>
          <a:p>
            <a:pPr lvl="1"/>
            <a:r>
              <a:rPr lang="en-IT" sz="1600" dirty="0"/>
              <a:t>startTime: the starting timestamp of the sleep (MM-DD hh:mm:ss format)</a:t>
            </a:r>
          </a:p>
          <a:p>
            <a:pPr lvl="1"/>
            <a:r>
              <a:rPr lang="en-IT" sz="1600" dirty="0"/>
              <a:t>endTime: the ending timestamp of the sleep (MM-DD hh:mm:ss format)</a:t>
            </a:r>
          </a:p>
          <a:p>
            <a:pPr lvl="1"/>
            <a:r>
              <a:rPr lang="en-IT" sz="1600" dirty="0"/>
              <a:t>duration: the duration of the sleep session (in ms)</a:t>
            </a:r>
          </a:p>
          <a:p>
            <a:pPr lvl="1"/>
            <a:r>
              <a:rPr lang="en-IT" sz="1600" dirty="0"/>
              <a:t>minutesToFallAsleep: the number of minutes spent to fall asleep</a:t>
            </a:r>
          </a:p>
          <a:p>
            <a:pPr lvl="1"/>
            <a:r>
              <a:rPr lang="en-IT" sz="1600" dirty="0"/>
              <a:t>minutesAsleep: the number of minutes asleep during the sleep entry</a:t>
            </a:r>
          </a:p>
          <a:p>
            <a:pPr lvl="1"/>
            <a:r>
              <a:rPr lang="en-IT" sz="1600" dirty="0"/>
              <a:t>minutesAwake: the number of minutes awake during the sleep entry</a:t>
            </a:r>
          </a:p>
          <a:p>
            <a:pPr lvl="1"/>
            <a:r>
              <a:rPr lang="en-IT" sz="1600" dirty="0"/>
              <a:t>minutesAfterWakeup: the number of minutes the user spent in bed after waking up</a:t>
            </a:r>
          </a:p>
          <a:p>
            <a:pPr lvl="1"/>
            <a:r>
              <a:rPr lang="en-IT" sz="1600" dirty="0"/>
              <a:t>efficiency: the estimated sleep efficiency (from 0 to 100) </a:t>
            </a:r>
          </a:p>
          <a:p>
            <a:pPr lvl="1"/>
            <a:r>
              <a:rPr lang="en-IT" sz="1600" dirty="0"/>
              <a:t>logType: how the entry was logged (always “auto_detected”)</a:t>
            </a:r>
          </a:p>
          <a:p>
            <a:pPr lvl="1"/>
            <a:r>
              <a:rPr lang="en-IT" sz="1600" dirty="0"/>
              <a:t>mainSleep: a boolean indicating if the entry corresponds to the main sleep session</a:t>
            </a:r>
          </a:p>
          <a:p>
            <a:pPr lvl="1"/>
            <a:r>
              <a:rPr lang="en-IT" sz="1600" dirty="0"/>
              <a:t>levels: a summary of the sleeping stages (deep/wake/light/rem/restless) during the sleep session</a:t>
            </a:r>
          </a:p>
          <a:p>
            <a:pPr lvl="1"/>
            <a:r>
              <a:rPr lang="en-IT" sz="1600" dirty="0"/>
              <a:t>data: the stage profile of the sleep session. Each entry contains the starting timestamp, the level,</a:t>
            </a:r>
            <a:br>
              <a:rPr lang="en-IT" sz="1600" dirty="0"/>
            </a:br>
            <a:r>
              <a:rPr lang="en-IT" sz="1600" dirty="0"/>
              <a:t>and how much it lasted. </a:t>
            </a:r>
          </a:p>
          <a:p>
            <a:pPr lvl="1"/>
            <a:endParaRPr lang="en-IT" sz="1600" dirty="0"/>
          </a:p>
          <a:p>
            <a:r>
              <a:rPr lang="en-IT" sz="2000" b="1" dirty="0"/>
              <a:t>Note</a:t>
            </a:r>
            <a:r>
              <a:rPr lang="en-IT" sz="2000" dirty="0"/>
              <a:t>: there can be days without data </a:t>
            </a:r>
          </a:p>
        </p:txBody>
      </p:sp>
      <p:sp>
        <p:nvSpPr>
          <p:cNvPr id="4" name="Slide Number Placeholder 3">
            <a:extLst>
              <a:ext uri="{FF2B5EF4-FFF2-40B4-BE49-F238E27FC236}">
                <a16:creationId xmlns:a16="http://schemas.microsoft.com/office/drawing/2014/main" id="{16C860CF-890E-7C37-3BCC-A33E4DAC14E0}"/>
              </a:ext>
            </a:extLst>
          </p:cNvPr>
          <p:cNvSpPr>
            <a:spLocks noGrp="1"/>
          </p:cNvSpPr>
          <p:nvPr>
            <p:ph type="sldNum" sz="quarter" idx="12"/>
          </p:nvPr>
        </p:nvSpPr>
        <p:spPr/>
        <p:txBody>
          <a:bodyPr/>
          <a:lstStyle/>
          <a:p>
            <a:fld id="{31DE2C5B-556E-47B8-A792-024C2FCA4ACC}" type="slidenum">
              <a:rPr lang="en-GB" smtClean="0"/>
              <a:t>26</a:t>
            </a:fld>
            <a:endParaRPr lang="en-GB" dirty="0"/>
          </a:p>
        </p:txBody>
      </p:sp>
      <p:sp>
        <p:nvSpPr>
          <p:cNvPr id="6" name="TextBox 5">
            <a:extLst>
              <a:ext uri="{FF2B5EF4-FFF2-40B4-BE49-F238E27FC236}">
                <a16:creationId xmlns:a16="http://schemas.microsoft.com/office/drawing/2014/main" id="{CF92C6C7-BED7-2FDA-DB28-96FB48248580}"/>
              </a:ext>
            </a:extLst>
          </p:cNvPr>
          <p:cNvSpPr txBox="1"/>
          <p:nvPr/>
        </p:nvSpPr>
        <p:spPr>
          <a:xfrm>
            <a:off x="9022651" y="1361167"/>
            <a:ext cx="6097348" cy="5355312"/>
          </a:xfrm>
          <a:prstGeom prst="rect">
            <a:avLst/>
          </a:prstGeom>
          <a:noFill/>
        </p:spPr>
        <p:txBody>
          <a:bodyPr wrap="square">
            <a:spAutoFit/>
          </a:bodyPr>
          <a:lstStyle/>
          <a:p>
            <a:r>
              <a:rPr lang="en-GB" sz="600" b="0" dirty="0">
                <a:effectLst/>
                <a:latin typeface="Menlo" panose="020B0609030804020204" pitchFamily="49" charset="0"/>
              </a:rPr>
              <a:t>[</a:t>
            </a:r>
          </a:p>
          <a:p>
            <a:r>
              <a:rPr lang="en-GB" sz="600" b="0" dirty="0">
                <a:effectLst/>
                <a:latin typeface="Menlo" panose="020B0609030804020204" pitchFamily="49" charset="0"/>
              </a:rPr>
              <a:t>{</a:t>
            </a:r>
          </a:p>
          <a:p>
            <a:r>
              <a:rPr lang="en-GB" sz="600" b="0" dirty="0">
                <a:effectLst/>
                <a:latin typeface="Menlo" panose="020B0609030804020204" pitchFamily="49" charset="0"/>
              </a:rPr>
              <a:t>    "</a:t>
            </a:r>
            <a:r>
              <a:rPr lang="en-GB" sz="600" b="0" dirty="0" err="1">
                <a:effectLst/>
                <a:latin typeface="Menlo" panose="020B0609030804020204" pitchFamily="49" charset="0"/>
              </a:rPr>
              <a:t>dateOfSleep</a:t>
            </a:r>
            <a:r>
              <a:rPr lang="en-GB" sz="600" b="0" dirty="0">
                <a:effectLst/>
                <a:latin typeface="Menlo" panose="020B0609030804020204" pitchFamily="49" charset="0"/>
              </a:rPr>
              <a:t>": "02-14",</a:t>
            </a:r>
          </a:p>
          <a:p>
            <a:r>
              <a:rPr lang="en-GB" sz="600" b="0" dirty="0">
                <a:effectLst/>
                <a:latin typeface="Menlo" panose="020B0609030804020204" pitchFamily="49" charset="0"/>
              </a:rPr>
              <a:t>    "</a:t>
            </a:r>
            <a:r>
              <a:rPr lang="en-GB" sz="600" b="0" dirty="0" err="1">
                <a:effectLst/>
                <a:latin typeface="Menlo" panose="020B0609030804020204" pitchFamily="49" charset="0"/>
              </a:rPr>
              <a:t>startTime</a:t>
            </a:r>
            <a:r>
              <a:rPr lang="en-GB" sz="600" b="0" dirty="0">
                <a:effectLst/>
                <a:latin typeface="Menlo" panose="020B0609030804020204" pitchFamily="49" charset="0"/>
              </a:rPr>
              <a:t>": "02-13 22:44:00",</a:t>
            </a:r>
          </a:p>
          <a:p>
            <a:r>
              <a:rPr lang="en-GB" sz="600" b="0" dirty="0">
                <a:effectLst/>
                <a:latin typeface="Menlo" panose="020B0609030804020204" pitchFamily="49" charset="0"/>
              </a:rPr>
              <a:t>    "</a:t>
            </a:r>
            <a:r>
              <a:rPr lang="en-GB" sz="600" b="0" dirty="0" err="1">
                <a:effectLst/>
                <a:latin typeface="Menlo" panose="020B0609030804020204" pitchFamily="49" charset="0"/>
              </a:rPr>
              <a:t>endTime</a:t>
            </a:r>
            <a:r>
              <a:rPr lang="en-GB" sz="600" b="0" dirty="0">
                <a:effectLst/>
                <a:latin typeface="Menlo" panose="020B0609030804020204" pitchFamily="49" charset="0"/>
              </a:rPr>
              <a:t>": "02-14 06:36:30",</a:t>
            </a:r>
          </a:p>
          <a:p>
            <a:r>
              <a:rPr lang="en-GB" sz="600" b="0" dirty="0">
                <a:effectLst/>
                <a:latin typeface="Menlo" panose="020B0609030804020204" pitchFamily="49" charset="0"/>
              </a:rPr>
              <a:t>    "duration": 2.832E+7,</a:t>
            </a:r>
          </a:p>
          <a:p>
            <a:r>
              <a:rPr lang="en-GB" sz="600" b="0" dirty="0">
                <a:effectLst/>
                <a:latin typeface="Menlo" panose="020B0609030804020204" pitchFamily="49" charset="0"/>
              </a:rPr>
              <a:t>    "</a:t>
            </a:r>
            <a:r>
              <a:rPr lang="en-GB" sz="600" b="0" dirty="0" err="1">
                <a:effectLst/>
                <a:latin typeface="Menlo" panose="020B0609030804020204" pitchFamily="49" charset="0"/>
              </a:rPr>
              <a:t>minutesToFallAsleep</a:t>
            </a:r>
            <a:r>
              <a:rPr lang="en-GB" sz="600" b="0" dirty="0">
                <a:effectLst/>
                <a:latin typeface="Menlo" panose="020B0609030804020204" pitchFamily="49" charset="0"/>
              </a:rPr>
              <a:t>": 0,</a:t>
            </a:r>
          </a:p>
          <a:p>
            <a:r>
              <a:rPr lang="en-GB" sz="600" b="0" dirty="0">
                <a:effectLst/>
                <a:latin typeface="Menlo" panose="020B0609030804020204" pitchFamily="49" charset="0"/>
              </a:rPr>
              <a:t>    "</a:t>
            </a:r>
            <a:r>
              <a:rPr lang="en-GB" sz="600" b="0" dirty="0" err="1">
                <a:effectLst/>
                <a:latin typeface="Menlo" panose="020B0609030804020204" pitchFamily="49" charset="0"/>
              </a:rPr>
              <a:t>minutesAsleep</a:t>
            </a:r>
            <a:r>
              <a:rPr lang="en-GB" sz="600" b="0" dirty="0">
                <a:effectLst/>
                <a:latin typeface="Menlo" panose="020B0609030804020204" pitchFamily="49" charset="0"/>
              </a:rPr>
              <a:t>": 429,</a:t>
            </a:r>
          </a:p>
          <a:p>
            <a:r>
              <a:rPr lang="en-GB" sz="600" b="0" dirty="0">
                <a:effectLst/>
                <a:latin typeface="Menlo" panose="020B0609030804020204" pitchFamily="49" charset="0"/>
              </a:rPr>
              <a:t>    "</a:t>
            </a:r>
            <a:r>
              <a:rPr lang="en-GB" sz="600" b="0" dirty="0" err="1">
                <a:effectLst/>
                <a:latin typeface="Menlo" panose="020B0609030804020204" pitchFamily="49" charset="0"/>
              </a:rPr>
              <a:t>minutesAwake</a:t>
            </a:r>
            <a:r>
              <a:rPr lang="en-GB" sz="600" b="0" dirty="0">
                <a:effectLst/>
                <a:latin typeface="Menlo" panose="020B0609030804020204" pitchFamily="49" charset="0"/>
              </a:rPr>
              <a:t>": 43,</a:t>
            </a:r>
          </a:p>
          <a:p>
            <a:r>
              <a:rPr lang="en-GB" sz="600" b="0" dirty="0">
                <a:effectLst/>
                <a:latin typeface="Menlo" panose="020B0609030804020204" pitchFamily="49" charset="0"/>
              </a:rPr>
              <a:t>    "</a:t>
            </a:r>
            <a:r>
              <a:rPr lang="en-GB" sz="600" b="0" dirty="0" err="1">
                <a:effectLst/>
                <a:latin typeface="Menlo" panose="020B0609030804020204" pitchFamily="49" charset="0"/>
              </a:rPr>
              <a:t>minutesAfterWakeup</a:t>
            </a:r>
            <a:r>
              <a:rPr lang="en-GB" sz="600" b="0" dirty="0">
                <a:effectLst/>
                <a:latin typeface="Menlo" panose="020B0609030804020204" pitchFamily="49" charset="0"/>
              </a:rPr>
              <a:t>": 3,</a:t>
            </a:r>
          </a:p>
          <a:p>
            <a:r>
              <a:rPr lang="en-GB" sz="600" b="0" dirty="0">
                <a:effectLst/>
                <a:latin typeface="Menlo" panose="020B0609030804020204" pitchFamily="49" charset="0"/>
              </a:rPr>
              <a:t>    "</a:t>
            </a:r>
            <a:r>
              <a:rPr lang="en-GB" sz="600" b="0" dirty="0" err="1">
                <a:effectLst/>
                <a:latin typeface="Menlo" panose="020B0609030804020204" pitchFamily="49" charset="0"/>
              </a:rPr>
              <a:t>timeInBed</a:t>
            </a:r>
            <a:r>
              <a:rPr lang="en-GB" sz="600" b="0" dirty="0">
                <a:effectLst/>
                <a:latin typeface="Menlo" panose="020B0609030804020204" pitchFamily="49" charset="0"/>
              </a:rPr>
              <a:t>": 472,</a:t>
            </a:r>
          </a:p>
          <a:p>
            <a:r>
              <a:rPr lang="en-GB" sz="600" b="0" dirty="0">
                <a:effectLst/>
                <a:latin typeface="Menlo" panose="020B0609030804020204" pitchFamily="49" charset="0"/>
              </a:rPr>
              <a:t>    "efficiency": 96,</a:t>
            </a:r>
          </a:p>
          <a:p>
            <a:r>
              <a:rPr lang="en-GB" sz="600" b="0" dirty="0">
                <a:effectLst/>
                <a:latin typeface="Menlo" panose="020B0609030804020204" pitchFamily="49" charset="0"/>
              </a:rPr>
              <a:t>    "</a:t>
            </a:r>
            <a:r>
              <a:rPr lang="en-GB" sz="600" b="0" dirty="0" err="1">
                <a:effectLst/>
                <a:latin typeface="Menlo" panose="020B0609030804020204" pitchFamily="49" charset="0"/>
              </a:rPr>
              <a:t>logType</a:t>
            </a:r>
            <a:r>
              <a:rPr lang="en-GB" sz="600" b="0" dirty="0">
                <a:effectLst/>
                <a:latin typeface="Menlo" panose="020B0609030804020204" pitchFamily="49" charset="0"/>
              </a:rPr>
              <a:t>": "</a:t>
            </a:r>
            <a:r>
              <a:rPr lang="en-GB" sz="600" b="0" dirty="0" err="1">
                <a:effectLst/>
                <a:latin typeface="Menlo" panose="020B0609030804020204" pitchFamily="49" charset="0"/>
              </a:rPr>
              <a:t>auto_detected</a:t>
            </a:r>
            <a:r>
              <a:rPr lang="en-GB" sz="600" b="0" dirty="0">
                <a:effectLst/>
                <a:latin typeface="Menlo" panose="020B0609030804020204" pitchFamily="49" charset="0"/>
              </a:rPr>
              <a:t>",</a:t>
            </a:r>
            <a:br>
              <a:rPr lang="en-GB" sz="600" b="0" dirty="0">
                <a:effectLst/>
                <a:latin typeface="Menlo" panose="020B0609030804020204" pitchFamily="49" charset="0"/>
              </a:rPr>
            </a:br>
            <a:r>
              <a:rPr lang="en-GB" sz="600" b="0" dirty="0">
                <a:effectLst/>
                <a:latin typeface="Menlo" panose="020B0609030804020204" pitchFamily="49" charset="0"/>
              </a:rPr>
              <a:t>    ”</a:t>
            </a:r>
            <a:r>
              <a:rPr lang="en-GB" sz="600" b="0" dirty="0" err="1">
                <a:effectLst/>
                <a:latin typeface="Menlo" panose="020B0609030804020204" pitchFamily="49" charset="0"/>
              </a:rPr>
              <a:t>mainSleep</a:t>
            </a:r>
            <a:r>
              <a:rPr lang="en-GB" sz="600" b="0" dirty="0">
                <a:effectLst/>
                <a:latin typeface="Menlo" panose="020B0609030804020204" pitchFamily="49" charset="0"/>
              </a:rPr>
              <a:t>": true,</a:t>
            </a:r>
          </a:p>
          <a:p>
            <a:r>
              <a:rPr lang="en-GB" sz="600" b="0" dirty="0">
                <a:effectLst/>
                <a:latin typeface="Menlo" panose="020B0609030804020204" pitchFamily="49" charset="0"/>
              </a:rPr>
              <a:t>    "levels": {</a:t>
            </a:r>
          </a:p>
          <a:p>
            <a:r>
              <a:rPr lang="en-GB" sz="600" b="0" dirty="0">
                <a:effectLst/>
                <a:latin typeface="Menlo" panose="020B0609030804020204" pitchFamily="49" charset="0"/>
              </a:rPr>
              <a:t>        "summary": {</a:t>
            </a:r>
          </a:p>
          <a:p>
            <a:r>
              <a:rPr lang="en-GB" sz="600" b="0" dirty="0">
                <a:effectLst/>
                <a:latin typeface="Menlo" panose="020B0609030804020204" pitchFamily="49" charset="0"/>
              </a:rPr>
              <a:t>            "deep": {</a:t>
            </a:r>
          </a:p>
          <a:p>
            <a:r>
              <a:rPr lang="en-GB" sz="600" b="0" dirty="0">
                <a:effectLst/>
                <a:latin typeface="Menlo" panose="020B0609030804020204" pitchFamily="49" charset="0"/>
              </a:rPr>
              <a:t>                "count": 5,</a:t>
            </a:r>
          </a:p>
          <a:p>
            <a:r>
              <a:rPr lang="en-GB" sz="600" b="0" dirty="0">
                <a:effectLst/>
                <a:latin typeface="Menlo" panose="020B0609030804020204" pitchFamily="49" charset="0"/>
              </a:rPr>
              <a:t>                "minutes": 106,</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86</a:t>
            </a:r>
          </a:p>
          <a:p>
            <a:r>
              <a:rPr lang="en-GB" sz="600" b="0" dirty="0">
                <a:effectLst/>
                <a:latin typeface="Menlo" panose="020B0609030804020204" pitchFamily="49" charset="0"/>
              </a:rPr>
              <a:t>            },</a:t>
            </a:r>
          </a:p>
          <a:p>
            <a:r>
              <a:rPr lang="en-GB" sz="600" b="0" dirty="0">
                <a:effectLst/>
                <a:latin typeface="Menlo" panose="020B0609030804020204" pitchFamily="49" charset="0"/>
              </a:rPr>
              <a:t>            "wake": {</a:t>
            </a:r>
          </a:p>
          <a:p>
            <a:r>
              <a:rPr lang="en-GB" sz="600" b="0" dirty="0">
                <a:effectLst/>
                <a:latin typeface="Menlo" panose="020B0609030804020204" pitchFamily="49" charset="0"/>
              </a:rPr>
              <a:t>                "count": 34,</a:t>
            </a:r>
          </a:p>
          <a:p>
            <a:r>
              <a:rPr lang="en-GB" sz="600" b="0" dirty="0">
                <a:effectLst/>
                <a:latin typeface="Menlo" panose="020B0609030804020204" pitchFamily="49" charset="0"/>
              </a:rPr>
              <a:t>                "minutes": 43,</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46</a:t>
            </a:r>
          </a:p>
          <a:p>
            <a:r>
              <a:rPr lang="en-GB" sz="600" b="0" dirty="0">
                <a:effectLst/>
                <a:latin typeface="Menlo" panose="020B0609030804020204" pitchFamily="49" charset="0"/>
              </a:rPr>
              <a:t>            },</a:t>
            </a:r>
          </a:p>
          <a:p>
            <a:r>
              <a:rPr lang="en-GB" sz="600" b="0" dirty="0">
                <a:effectLst/>
                <a:latin typeface="Menlo" panose="020B0609030804020204" pitchFamily="49" charset="0"/>
              </a:rPr>
              <a:t>            "light": {</a:t>
            </a:r>
          </a:p>
          <a:p>
            <a:r>
              <a:rPr lang="en-GB" sz="600" b="0" dirty="0">
                <a:effectLst/>
                <a:latin typeface="Menlo" panose="020B0609030804020204" pitchFamily="49" charset="0"/>
              </a:rPr>
              <a:t>                "count": 28,</a:t>
            </a:r>
          </a:p>
          <a:p>
            <a:r>
              <a:rPr lang="en-GB" sz="600" b="0" dirty="0">
                <a:effectLst/>
                <a:latin typeface="Menlo" panose="020B0609030804020204" pitchFamily="49" charset="0"/>
              </a:rPr>
              <a:t>                "minutes": 235,</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281</a:t>
            </a:r>
          </a:p>
          <a:p>
            <a:r>
              <a:rPr lang="en-GB" sz="600" b="0" dirty="0">
                <a:effectLst/>
                <a:latin typeface="Menlo" panose="020B0609030804020204" pitchFamily="49" charset="0"/>
              </a:rPr>
              <a:t>            },</a:t>
            </a:r>
          </a:p>
          <a:p>
            <a:r>
              <a:rPr lang="en-GB" sz="600" b="0" dirty="0">
                <a:effectLst/>
                <a:latin typeface="Menlo" panose="020B0609030804020204" pitchFamily="49" charset="0"/>
              </a:rPr>
              <a:t>            "rem": {</a:t>
            </a:r>
          </a:p>
          <a:p>
            <a:r>
              <a:rPr lang="en-GB" sz="600" b="0" dirty="0">
                <a:effectLst/>
                <a:latin typeface="Menlo" panose="020B0609030804020204" pitchFamily="49" charset="0"/>
              </a:rPr>
              <a:t>                "count": 11,</a:t>
            </a:r>
          </a:p>
          <a:p>
            <a:r>
              <a:rPr lang="en-GB" sz="600" b="0" dirty="0">
                <a:effectLst/>
                <a:latin typeface="Menlo" panose="020B0609030804020204" pitchFamily="49" charset="0"/>
              </a:rPr>
              <a:t>                "minutes": 88,</a:t>
            </a:r>
          </a:p>
          <a:p>
            <a:r>
              <a:rPr lang="en-GB" sz="600" b="0" dirty="0">
                <a:effectLst/>
                <a:latin typeface="Menlo" panose="020B0609030804020204" pitchFamily="49" charset="0"/>
              </a:rPr>
              <a:t>                "</a:t>
            </a:r>
            <a:r>
              <a:rPr lang="en-GB" sz="600" b="0" dirty="0" err="1">
                <a:effectLst/>
                <a:latin typeface="Menlo" panose="020B0609030804020204" pitchFamily="49" charset="0"/>
              </a:rPr>
              <a:t>thirtyDayAvgMinutes</a:t>
            </a:r>
            <a:r>
              <a:rPr lang="en-GB" sz="600" b="0" dirty="0">
                <a:effectLst/>
                <a:latin typeface="Menlo" panose="020B0609030804020204" pitchFamily="49" charset="0"/>
              </a:rPr>
              <a:t>": 101</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"data":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22:44:00",</a:t>
            </a:r>
          </a:p>
          <a:p>
            <a:r>
              <a:rPr lang="en-GB" sz="600" b="0" dirty="0">
                <a:effectLst/>
                <a:latin typeface="Menlo" panose="020B0609030804020204" pitchFamily="49" charset="0"/>
              </a:rPr>
              <a:t>                "level": "wake",</a:t>
            </a:r>
          </a:p>
          <a:p>
            <a:r>
              <a:rPr lang="en-GB" sz="600" b="0" dirty="0">
                <a:effectLst/>
                <a:latin typeface="Menlo" panose="020B0609030804020204" pitchFamily="49" charset="0"/>
              </a:rPr>
              <a:t>                "seconds": 30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22:44:30",</a:t>
            </a:r>
          </a:p>
          <a:p>
            <a:r>
              <a:rPr lang="en-GB" sz="600" b="0" dirty="0">
                <a:effectLst/>
                <a:latin typeface="Menlo" panose="020B0609030804020204" pitchFamily="49" charset="0"/>
              </a:rPr>
              <a:t>                "level": "light",</a:t>
            </a:r>
          </a:p>
          <a:p>
            <a:r>
              <a:rPr lang="en-GB" sz="600" b="0" dirty="0">
                <a:effectLst/>
                <a:latin typeface="Menlo" panose="020B0609030804020204" pitchFamily="49" charset="0"/>
              </a:rPr>
              <a:t>                "seconds": 150</a:t>
            </a:r>
          </a:p>
          <a:p>
            <a:r>
              <a:rPr lang="en-GB" sz="600" b="0" dirty="0">
                <a:effectLst/>
                <a:latin typeface="Menlo" panose="020B0609030804020204" pitchFamily="49" charset="0"/>
              </a:rPr>
              <a:t>            },</a:t>
            </a:r>
          </a:p>
          <a:p>
            <a:r>
              <a:rPr lang="en-GB" sz="600" b="0" dirty="0">
                <a:effectLst/>
                <a:latin typeface="Menlo" panose="020B0609030804020204" pitchFamily="49" charset="0"/>
              </a:rPr>
              <a:t>            {</a:t>
            </a:r>
          </a:p>
          <a:p>
            <a:r>
              <a:rPr lang="en-GB" sz="600" b="0" dirty="0">
                <a:effectLst/>
                <a:latin typeface="Menlo" panose="020B0609030804020204" pitchFamily="49" charset="0"/>
              </a:rPr>
              <a:t>                "</a:t>
            </a:r>
            <a:r>
              <a:rPr lang="en-GB" sz="600" b="0" dirty="0" err="1">
                <a:effectLst/>
                <a:latin typeface="Menlo" panose="020B0609030804020204" pitchFamily="49" charset="0"/>
              </a:rPr>
              <a:t>dateTime</a:t>
            </a:r>
            <a:r>
              <a:rPr lang="en-GB" sz="600" b="0" dirty="0">
                <a:effectLst/>
                <a:latin typeface="Menlo" panose="020B0609030804020204" pitchFamily="49" charset="0"/>
              </a:rPr>
              <a:t>": "02-13 22:47:00",</a:t>
            </a:r>
          </a:p>
          <a:p>
            <a:r>
              <a:rPr lang="en-GB" sz="600" b="0" dirty="0">
                <a:effectLst/>
                <a:latin typeface="Menlo" panose="020B0609030804020204" pitchFamily="49" charset="0"/>
              </a:rPr>
              <a:t>                "level": "deep",</a:t>
            </a:r>
          </a:p>
          <a:p>
            <a:r>
              <a:rPr lang="en-GB" sz="600" b="0" dirty="0">
                <a:effectLst/>
                <a:latin typeface="Menlo" panose="020B0609030804020204" pitchFamily="49" charset="0"/>
              </a:rPr>
              <a:t>                "seconds": 1860</a:t>
            </a:r>
          </a:p>
          <a:p>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            ...</a:t>
            </a:r>
            <a:br>
              <a:rPr lang="en-GB" sz="600" b="0" dirty="0">
                <a:effectLst/>
                <a:latin typeface="Menlo" panose="020B0609030804020204" pitchFamily="49" charset="0"/>
              </a:rPr>
            </a:br>
            <a:r>
              <a:rPr lang="en-GB" sz="600" b="0" dirty="0">
                <a:effectLst/>
                <a:latin typeface="Menlo" panose="020B0609030804020204" pitchFamily="49" charset="0"/>
              </a:rPr>
              <a:t>},</a:t>
            </a:r>
          </a:p>
          <a:p>
            <a:r>
              <a:rPr lang="en-GB" sz="600" dirty="0">
                <a:latin typeface="Menlo" panose="020B0609030804020204" pitchFamily="49" charset="0"/>
              </a:rPr>
              <a:t>...</a:t>
            </a:r>
          </a:p>
          <a:p>
            <a:r>
              <a:rPr lang="en-GB" sz="600" b="0" dirty="0">
                <a:effectLst/>
                <a:latin typeface="Menlo" panose="020B0609030804020204" pitchFamily="49" charset="0"/>
              </a:rPr>
              <a:t>]</a:t>
            </a:r>
          </a:p>
        </p:txBody>
      </p:sp>
    </p:spTree>
    <p:extLst>
      <p:ext uri="{BB962C8B-B14F-4D97-AF65-F5344CB8AC3E}">
        <p14:creationId xmlns:p14="http://schemas.microsoft.com/office/powerpoint/2010/main" val="2884569043"/>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3570</TotalTime>
  <Words>3525</Words>
  <Application>Microsoft Macintosh PowerPoint</Application>
  <PresentationFormat>Widescreen</PresentationFormat>
  <Paragraphs>598</Paragraphs>
  <Slides>26</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26</vt:i4>
      </vt:variant>
    </vt:vector>
  </HeadingPairs>
  <TitlesOfParts>
    <vt:vector size="34" baseType="lpstr">
      <vt:lpstr>Aptos</vt:lpstr>
      <vt:lpstr>Arial</vt:lpstr>
      <vt:lpstr>Calibri</vt:lpstr>
      <vt:lpstr>Courier New</vt:lpstr>
      <vt:lpstr>Menlo</vt:lpstr>
      <vt:lpstr>Times New Roman</vt:lpstr>
      <vt:lpstr>Wingdings</vt:lpstr>
      <vt:lpstr>Tema di Office</vt:lpstr>
      <vt:lpstr>PowerPoint Presentation</vt:lpstr>
      <vt:lpstr>Who am I</vt:lpstr>
      <vt:lpstr>What is the course about?</vt:lpstr>
      <vt:lpstr>What is the course about?</vt:lpstr>
      <vt:lpstr>Theory program</vt:lpstr>
      <vt:lpstr>Lab program</vt:lpstr>
      <vt:lpstr>Lab program - The workshop</vt:lpstr>
      <vt:lpstr>Prerequisites &amp; End of class goals</vt:lpstr>
      <vt:lpstr>The exam</vt:lpstr>
      <vt:lpstr>Project: What’s the spirit here</vt:lpstr>
      <vt:lpstr>Project structure</vt:lpstr>
      <vt:lpstr>Grading</vt:lpstr>
      <vt:lpstr>Choose your target</vt:lpstr>
      <vt:lpstr>Choose your target</vt:lpstr>
      <vt:lpstr>Data source</vt:lpstr>
      <vt:lpstr>How to get data - The IMPACT backend</vt:lpstr>
      <vt:lpstr>Optional tutoring activities</vt:lpstr>
      <vt:lpstr>Discord server</vt:lpstr>
      <vt:lpstr>Appendix: Data source characteristics</vt:lpstr>
      <vt:lpstr>Focus on data – Calories</vt:lpstr>
      <vt:lpstr>Focus on data – Distance</vt:lpstr>
      <vt:lpstr>Focus on data – Steps</vt:lpstr>
      <vt:lpstr>Heart rate</vt:lpstr>
      <vt:lpstr>Resting heart rate</vt:lpstr>
      <vt:lpstr>Exercise</vt:lpstr>
      <vt:lpstr>Sleep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Martina</dc:creator>
  <cp:lastModifiedBy>Giacomo Cappon</cp:lastModifiedBy>
  <cp:revision>301</cp:revision>
  <dcterms:created xsi:type="dcterms:W3CDTF">2021-07-19T09:08:13Z</dcterms:created>
  <dcterms:modified xsi:type="dcterms:W3CDTF">2026-02-03T09:31:01Z</dcterms:modified>
</cp:coreProperties>
</file>