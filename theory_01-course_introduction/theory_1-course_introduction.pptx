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86" r:id="rId3"/>
    <p:sldId id="266" r:id="rId4"/>
    <p:sldId id="257" r:id="rId5"/>
    <p:sldId id="259" r:id="rId6"/>
    <p:sldId id="269" r:id="rId7"/>
    <p:sldId id="268" r:id="rId8"/>
    <p:sldId id="278" r:id="rId9"/>
    <p:sldId id="271" r:id="rId10"/>
    <p:sldId id="279" r:id="rId11"/>
    <p:sldId id="272" r:id="rId12"/>
    <p:sldId id="260" r:id="rId13"/>
    <p:sldId id="261" r:id="rId14"/>
    <p:sldId id="262" r:id="rId15"/>
    <p:sldId id="263" r:id="rId16"/>
    <p:sldId id="288" r:id="rId17"/>
    <p:sldId id="264" r:id="rId18"/>
    <p:sldId id="273" r:id="rId19"/>
    <p:sldId id="280" r:id="rId20"/>
    <p:sldId id="275" r:id="rId21"/>
    <p:sldId id="277" r:id="rId22"/>
    <p:sldId id="282" r:id="rId23"/>
    <p:sldId id="283" r:id="rId24"/>
    <p:sldId id="285" r:id="rId25"/>
    <p:sldId id="284" r:id="rId26"/>
    <p:sldId id="265" r:id="rId27"/>
    <p:sldId id="407" r:id="rId28"/>
    <p:sldId id="406" r:id="rId29"/>
    <p:sldId id="395" r:id="rId30"/>
    <p:sldId id="267" r:id="rId31"/>
    <p:sldId id="408" r:id="rId32"/>
    <p:sldId id="290" r:id="rId33"/>
    <p:sldId id="291" r:id="rId34"/>
    <p:sldId id="292" r:id="rId35"/>
    <p:sldId id="393" r:id="rId36"/>
    <p:sldId id="394" r:id="rId37"/>
    <p:sldId id="396" r:id="rId38"/>
    <p:sldId id="398" r:id="rId39"/>
    <p:sldId id="289" r:id="rId40"/>
    <p:sldId id="287" r:id="rId41"/>
    <p:sldId id="405" r:id="rId42"/>
    <p:sldId id="397" r:id="rId43"/>
    <p:sldId id="399" r:id="rId44"/>
    <p:sldId id="400" r:id="rId45"/>
    <p:sldId id="401" r:id="rId46"/>
    <p:sldId id="404" r:id="rId47"/>
    <p:sldId id="402" r:id="rId48"/>
    <p:sldId id="4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26" autoAdjust="0"/>
    <p:restoredTop sz="94656" autoAdjust="0"/>
  </p:normalViewPr>
  <p:slideViewPr>
    <p:cSldViewPr snapToGrid="0">
      <p:cViewPr varScale="1">
        <p:scale>
          <a:sx n="199" d="100"/>
          <a:sy n="199" d="100"/>
        </p:scale>
        <p:origin x="22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2-B02A-5C43-95B1-92A12F7B9586}"/>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38D-B34E-BB69-7C4027709352}"/>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3-B02A-5C43-95B1-92A12F7B9586}"/>
              </c:ext>
            </c:extLst>
          </c:dPt>
          <c:cat>
            <c:strRef>
              <c:f>Sheet1!$A$2:$A$4</c:f>
              <c:strCache>
                <c:ptCount val="3"/>
                <c:pt idx="0">
                  <c:v>Core functionalities</c:v>
                </c:pt>
                <c:pt idx="1">
                  <c:v>Additional functionalities</c:v>
                </c:pt>
                <c:pt idx="2">
                  <c:v>Quality of teamwork</c:v>
                </c:pt>
              </c:strCache>
            </c:strRef>
          </c:cat>
          <c:val>
            <c:numRef>
              <c:f>Sheet1!$B$2:$B$4</c:f>
              <c:numCache>
                <c:formatCode>General</c:formatCode>
                <c:ptCount val="3"/>
                <c:pt idx="0">
                  <c:v>50</c:v>
                </c:pt>
                <c:pt idx="1">
                  <c:v>45</c:v>
                </c:pt>
                <c:pt idx="2">
                  <c:v>5</c:v>
                </c:pt>
              </c:numCache>
            </c:numRef>
          </c:val>
          <c:extLst>
            <c:ext xmlns:c16="http://schemas.microsoft.com/office/drawing/2014/chart" uri="{C3380CC4-5D6E-409C-BE32-E72D297353CC}">
              <c16:uniqueId val="{00000000-B02A-5C43-95B1-92A12F7B958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FD464-F8EE-42BA-9BEF-F6DE8365F087}" type="datetimeFigureOut">
              <a:rPr lang="en-GB" smtClean="0"/>
              <a:t>25/02/2025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E2716-4F7E-4141-A218-58474614BAF2}" type="slidenum">
              <a:rPr lang="en-GB" smtClean="0"/>
              <a:t>‹#›</a:t>
            </a:fld>
            <a:endParaRPr lang="en-GB"/>
          </a:p>
        </p:txBody>
      </p:sp>
    </p:spTree>
    <p:extLst>
      <p:ext uri="{BB962C8B-B14F-4D97-AF65-F5344CB8AC3E}">
        <p14:creationId xmlns:p14="http://schemas.microsoft.com/office/powerpoint/2010/main" val="108019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38E2716-4F7E-4141-A218-58474614BAF2}" type="slidenum">
              <a:rPr lang="en-GB" smtClean="0"/>
              <a:t>1</a:t>
            </a:fld>
            <a:endParaRPr lang="en-GB"/>
          </a:p>
        </p:txBody>
      </p:sp>
    </p:spTree>
    <p:extLst>
      <p:ext uri="{BB962C8B-B14F-4D97-AF65-F5344CB8AC3E}">
        <p14:creationId xmlns:p14="http://schemas.microsoft.com/office/powerpoint/2010/main" val="233616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25</a:t>
            </a:fld>
            <a:endParaRPr lang="en-GB"/>
          </a:p>
        </p:txBody>
      </p:sp>
    </p:spTree>
    <p:extLst>
      <p:ext uri="{BB962C8B-B14F-4D97-AF65-F5344CB8AC3E}">
        <p14:creationId xmlns:p14="http://schemas.microsoft.com/office/powerpoint/2010/main" val="270728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26</a:t>
            </a:fld>
            <a:endParaRPr lang="en-GB"/>
          </a:p>
        </p:txBody>
      </p:sp>
    </p:spTree>
    <p:extLst>
      <p:ext uri="{BB962C8B-B14F-4D97-AF65-F5344CB8AC3E}">
        <p14:creationId xmlns:p14="http://schemas.microsoft.com/office/powerpoint/2010/main" val="2374988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338E2716-4F7E-4141-A218-58474614BAF2}" type="slidenum">
              <a:rPr lang="en-GB" smtClean="0"/>
              <a:t>28</a:t>
            </a:fld>
            <a:endParaRPr lang="en-GB"/>
          </a:p>
        </p:txBody>
      </p:sp>
    </p:spTree>
    <p:extLst>
      <p:ext uri="{BB962C8B-B14F-4D97-AF65-F5344CB8AC3E}">
        <p14:creationId xmlns:p14="http://schemas.microsoft.com/office/powerpoint/2010/main" val="1139963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8E5-24F4-E52C-E436-43E5C16AE35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982F3B4-3F24-F469-9DD1-C8C0DC5A48C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7446930-99A7-FD09-FDD6-41CC8FA31844}"/>
              </a:ext>
            </a:extLst>
          </p:cNvPr>
          <p:cNvSpPr>
            <a:spLocks noGrp="1"/>
          </p:cNvSpPr>
          <p:nvPr>
            <p:ph type="body" idx="1"/>
          </p:nvPr>
        </p:nvSpPr>
        <p:spPr/>
        <p:txBody>
          <a:bodyPr/>
          <a:lstStyle/>
          <a:p>
            <a:endParaRPr lang="en-GB" dirty="0"/>
          </a:p>
        </p:txBody>
      </p:sp>
      <p:sp>
        <p:nvSpPr>
          <p:cNvPr id="4" name="Segnaposto numero diapositiva 3">
            <a:extLst>
              <a:ext uri="{FF2B5EF4-FFF2-40B4-BE49-F238E27FC236}">
                <a16:creationId xmlns:a16="http://schemas.microsoft.com/office/drawing/2014/main" id="{5BE85D59-4A0C-EA8E-DFB3-FA69D2ACF6EE}"/>
              </a:ext>
            </a:extLst>
          </p:cNvPr>
          <p:cNvSpPr>
            <a:spLocks noGrp="1"/>
          </p:cNvSpPr>
          <p:nvPr>
            <p:ph type="sldNum" sz="quarter" idx="10"/>
          </p:nvPr>
        </p:nvSpPr>
        <p:spPr/>
        <p:txBody>
          <a:bodyPr/>
          <a:lstStyle/>
          <a:p>
            <a:fld id="{338E2716-4F7E-4141-A218-58474614BAF2}" type="slidenum">
              <a:rPr lang="en-GB" smtClean="0"/>
              <a:t>29</a:t>
            </a:fld>
            <a:endParaRPr lang="en-GB"/>
          </a:p>
        </p:txBody>
      </p:sp>
    </p:spTree>
    <p:extLst>
      <p:ext uri="{BB962C8B-B14F-4D97-AF65-F5344CB8AC3E}">
        <p14:creationId xmlns:p14="http://schemas.microsoft.com/office/powerpoint/2010/main" val="974142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32</a:t>
            </a:fld>
            <a:endParaRPr lang="en-IT"/>
          </a:p>
        </p:txBody>
      </p:sp>
    </p:spTree>
    <p:extLst>
      <p:ext uri="{BB962C8B-B14F-4D97-AF65-F5344CB8AC3E}">
        <p14:creationId xmlns:p14="http://schemas.microsoft.com/office/powerpoint/2010/main" val="1348136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33</a:t>
            </a:fld>
            <a:endParaRPr lang="en-IT"/>
          </a:p>
        </p:txBody>
      </p:sp>
    </p:spTree>
    <p:extLst>
      <p:ext uri="{BB962C8B-B14F-4D97-AF65-F5344CB8AC3E}">
        <p14:creationId xmlns:p14="http://schemas.microsoft.com/office/powerpoint/2010/main" val="207794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34</a:t>
            </a:fld>
            <a:endParaRPr lang="en-IT"/>
          </a:p>
        </p:txBody>
      </p:sp>
    </p:spTree>
    <p:extLst>
      <p:ext uri="{BB962C8B-B14F-4D97-AF65-F5344CB8AC3E}">
        <p14:creationId xmlns:p14="http://schemas.microsoft.com/office/powerpoint/2010/main" val="478126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35</a:t>
            </a:fld>
            <a:endParaRPr lang="en-IT"/>
          </a:p>
        </p:txBody>
      </p:sp>
    </p:spTree>
    <p:extLst>
      <p:ext uri="{BB962C8B-B14F-4D97-AF65-F5344CB8AC3E}">
        <p14:creationId xmlns:p14="http://schemas.microsoft.com/office/powerpoint/2010/main" val="70362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36</a:t>
            </a:fld>
            <a:endParaRPr lang="en-IT"/>
          </a:p>
        </p:txBody>
      </p:sp>
    </p:spTree>
    <p:extLst>
      <p:ext uri="{BB962C8B-B14F-4D97-AF65-F5344CB8AC3E}">
        <p14:creationId xmlns:p14="http://schemas.microsoft.com/office/powerpoint/2010/main" val="460035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37</a:t>
            </a:fld>
            <a:endParaRPr lang="en-IT"/>
          </a:p>
        </p:txBody>
      </p:sp>
    </p:spTree>
    <p:extLst>
      <p:ext uri="{BB962C8B-B14F-4D97-AF65-F5344CB8AC3E}">
        <p14:creationId xmlns:p14="http://schemas.microsoft.com/office/powerpoint/2010/main" val="1010293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38</a:t>
            </a:fld>
            <a:endParaRPr lang="en-IT"/>
          </a:p>
        </p:txBody>
      </p:sp>
    </p:spTree>
    <p:extLst>
      <p:ext uri="{BB962C8B-B14F-4D97-AF65-F5344CB8AC3E}">
        <p14:creationId xmlns:p14="http://schemas.microsoft.com/office/powerpoint/2010/main" val="821716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290F-E0D5-C8C5-12F0-09B51033F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8ECD0-8E53-F0CF-BEC0-DD7B6B162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E8FD3-3AB9-EE2A-1FCA-B73DC835FB47}"/>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11FC2EA6-89B3-3D42-DF7D-42CB518FBC5C}"/>
              </a:ext>
            </a:extLst>
          </p:cNvPr>
          <p:cNvSpPr>
            <a:spLocks noGrp="1"/>
          </p:cNvSpPr>
          <p:nvPr>
            <p:ph type="sldNum" sz="quarter" idx="5"/>
          </p:nvPr>
        </p:nvSpPr>
        <p:spPr/>
        <p:txBody>
          <a:bodyPr/>
          <a:lstStyle/>
          <a:p>
            <a:fld id="{CC0F43FB-3F33-3F4B-9768-2FBED988F992}" type="slidenum">
              <a:rPr lang="en-IT" smtClean="0"/>
              <a:t>42</a:t>
            </a:fld>
            <a:endParaRPr lang="en-IT"/>
          </a:p>
        </p:txBody>
      </p:sp>
    </p:spTree>
    <p:extLst>
      <p:ext uri="{BB962C8B-B14F-4D97-AF65-F5344CB8AC3E}">
        <p14:creationId xmlns:p14="http://schemas.microsoft.com/office/powerpoint/2010/main" val="2626350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5345-7E91-77FE-9197-53232FC5E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3601C-43A2-A6B9-E888-8098B706F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758EC-9C2A-5E0B-EC62-2A02839271B4}"/>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5BB0AF41-181E-05A7-E073-D08E9A3082DB}"/>
              </a:ext>
            </a:extLst>
          </p:cNvPr>
          <p:cNvSpPr>
            <a:spLocks noGrp="1"/>
          </p:cNvSpPr>
          <p:nvPr>
            <p:ph type="sldNum" sz="quarter" idx="5"/>
          </p:nvPr>
        </p:nvSpPr>
        <p:spPr/>
        <p:txBody>
          <a:bodyPr/>
          <a:lstStyle/>
          <a:p>
            <a:fld id="{CC0F43FB-3F33-3F4B-9768-2FBED988F992}" type="slidenum">
              <a:rPr lang="en-IT" smtClean="0"/>
              <a:t>43</a:t>
            </a:fld>
            <a:endParaRPr lang="en-IT"/>
          </a:p>
        </p:txBody>
      </p:sp>
    </p:spTree>
    <p:extLst>
      <p:ext uri="{BB962C8B-B14F-4D97-AF65-F5344CB8AC3E}">
        <p14:creationId xmlns:p14="http://schemas.microsoft.com/office/powerpoint/2010/main" val="1171406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93903-7D18-6BD9-8E53-79E4BF5EF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FC42F-690D-B2D7-7FC9-A10EF92B0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48C0E-26DC-87A1-72D4-7D7E45DBEA2F}"/>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4BF35FC7-0A10-8E04-0B79-54752B92DEDC}"/>
              </a:ext>
            </a:extLst>
          </p:cNvPr>
          <p:cNvSpPr>
            <a:spLocks noGrp="1"/>
          </p:cNvSpPr>
          <p:nvPr>
            <p:ph type="sldNum" sz="quarter" idx="5"/>
          </p:nvPr>
        </p:nvSpPr>
        <p:spPr/>
        <p:txBody>
          <a:bodyPr/>
          <a:lstStyle/>
          <a:p>
            <a:fld id="{CC0F43FB-3F33-3F4B-9768-2FBED988F992}" type="slidenum">
              <a:rPr lang="en-IT" smtClean="0"/>
              <a:t>44</a:t>
            </a:fld>
            <a:endParaRPr lang="en-IT"/>
          </a:p>
        </p:txBody>
      </p:sp>
    </p:spTree>
    <p:extLst>
      <p:ext uri="{BB962C8B-B14F-4D97-AF65-F5344CB8AC3E}">
        <p14:creationId xmlns:p14="http://schemas.microsoft.com/office/powerpoint/2010/main" val="1337286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88884-7ADD-DBC7-B350-C09278DFC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5DDB8-7F15-D492-471C-88B537E8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2E5DD-70CC-D286-D1E2-9DC6C048E040}"/>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A8C55378-102A-C9E4-C484-869023C38904}"/>
              </a:ext>
            </a:extLst>
          </p:cNvPr>
          <p:cNvSpPr>
            <a:spLocks noGrp="1"/>
          </p:cNvSpPr>
          <p:nvPr>
            <p:ph type="sldNum" sz="quarter" idx="5"/>
          </p:nvPr>
        </p:nvSpPr>
        <p:spPr/>
        <p:txBody>
          <a:bodyPr/>
          <a:lstStyle/>
          <a:p>
            <a:fld id="{CC0F43FB-3F33-3F4B-9768-2FBED988F992}" type="slidenum">
              <a:rPr lang="en-IT" smtClean="0"/>
              <a:t>45</a:t>
            </a:fld>
            <a:endParaRPr lang="en-IT"/>
          </a:p>
        </p:txBody>
      </p:sp>
    </p:spTree>
    <p:extLst>
      <p:ext uri="{BB962C8B-B14F-4D97-AF65-F5344CB8AC3E}">
        <p14:creationId xmlns:p14="http://schemas.microsoft.com/office/powerpoint/2010/main" val="221194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D667-B35D-6CBB-3622-4D3256CC0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66AEB-122F-FD47-9C0E-B3212E061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09BA5-E836-BBEE-2AF3-430D720A9442}"/>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0ABF371C-CDE0-CDF2-C0C1-C317792AADE5}"/>
              </a:ext>
            </a:extLst>
          </p:cNvPr>
          <p:cNvSpPr>
            <a:spLocks noGrp="1"/>
          </p:cNvSpPr>
          <p:nvPr>
            <p:ph type="sldNum" sz="quarter" idx="5"/>
          </p:nvPr>
        </p:nvSpPr>
        <p:spPr/>
        <p:txBody>
          <a:bodyPr/>
          <a:lstStyle/>
          <a:p>
            <a:fld id="{CC0F43FB-3F33-3F4B-9768-2FBED988F992}" type="slidenum">
              <a:rPr lang="en-IT" smtClean="0"/>
              <a:t>46</a:t>
            </a:fld>
            <a:endParaRPr lang="en-IT"/>
          </a:p>
        </p:txBody>
      </p:sp>
    </p:spTree>
    <p:extLst>
      <p:ext uri="{BB962C8B-B14F-4D97-AF65-F5344CB8AC3E}">
        <p14:creationId xmlns:p14="http://schemas.microsoft.com/office/powerpoint/2010/main" val="311336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7186-9461-2346-CAA0-51B4A181C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467F3-563E-48F5-EF54-5D1B68F6D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2B57A-DA96-0C67-B460-A3AEE23F8D91}"/>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45E6C819-7AC6-8714-3926-7A7189BEC3D4}"/>
              </a:ext>
            </a:extLst>
          </p:cNvPr>
          <p:cNvSpPr>
            <a:spLocks noGrp="1"/>
          </p:cNvSpPr>
          <p:nvPr>
            <p:ph type="sldNum" sz="quarter" idx="5"/>
          </p:nvPr>
        </p:nvSpPr>
        <p:spPr/>
        <p:txBody>
          <a:bodyPr/>
          <a:lstStyle/>
          <a:p>
            <a:fld id="{CC0F43FB-3F33-3F4B-9768-2FBED988F992}" type="slidenum">
              <a:rPr lang="en-IT" smtClean="0"/>
              <a:t>47</a:t>
            </a:fld>
            <a:endParaRPr lang="en-IT"/>
          </a:p>
        </p:txBody>
      </p:sp>
    </p:spTree>
    <p:extLst>
      <p:ext uri="{BB962C8B-B14F-4D97-AF65-F5344CB8AC3E}">
        <p14:creationId xmlns:p14="http://schemas.microsoft.com/office/powerpoint/2010/main" val="281095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6D162-6DE4-C594-A1D9-43E680A91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618D1-FA34-850D-D737-00CE92CCB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D2DA9-693C-31FB-F555-69264F1F1794}"/>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9160BCB5-D64C-C8D4-4D7C-BD62331D017B}"/>
              </a:ext>
            </a:extLst>
          </p:cNvPr>
          <p:cNvSpPr>
            <a:spLocks noGrp="1"/>
          </p:cNvSpPr>
          <p:nvPr>
            <p:ph type="sldNum" sz="quarter" idx="5"/>
          </p:nvPr>
        </p:nvSpPr>
        <p:spPr/>
        <p:txBody>
          <a:bodyPr/>
          <a:lstStyle/>
          <a:p>
            <a:fld id="{CC0F43FB-3F33-3F4B-9768-2FBED988F992}" type="slidenum">
              <a:rPr lang="en-IT" smtClean="0"/>
              <a:t>48</a:t>
            </a:fld>
            <a:endParaRPr lang="en-IT"/>
          </a:p>
        </p:txBody>
      </p:sp>
    </p:spTree>
    <p:extLst>
      <p:ext uri="{BB962C8B-B14F-4D97-AF65-F5344CB8AC3E}">
        <p14:creationId xmlns:p14="http://schemas.microsoft.com/office/powerpoint/2010/main" val="797257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cappon.github.io/" TargetMode="External"/><Relationship Id="rId2" Type="http://schemas.openxmlformats.org/officeDocument/2006/relationships/hyperlink" Target="mailto:giacomo.cappon@unipd.it"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github.com/gcapp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1.xml"/><Relationship Id="rId4" Type="http://schemas.openxmlformats.org/officeDocument/2006/relationships/image" Target="../media/image15.jfif"/></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7" Type="http://schemas.openxmlformats.org/officeDocument/2006/relationships/image" Target="../media/image23.jfif"/><Relationship Id="rId12" Type="http://schemas.openxmlformats.org/officeDocument/2006/relationships/image" Target="../media/image28.png"/><Relationship Id="rId17" Type="http://schemas.openxmlformats.org/officeDocument/2006/relationships/image" Target="../media/image33.jpeg"/><Relationship Id="rId2" Type="http://schemas.openxmlformats.org/officeDocument/2006/relationships/image" Target="../media/image18.png"/><Relationship Id="rId16" Type="http://schemas.openxmlformats.org/officeDocument/2006/relationships/image" Target="../media/image32.jpeg"/><Relationship Id="rId1" Type="http://schemas.openxmlformats.org/officeDocument/2006/relationships/slideLayout" Target="../slideLayouts/slideLayout1.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jpeg"/><Relationship Id="rId4" Type="http://schemas.openxmlformats.org/officeDocument/2006/relationships/image" Target="../media/image20.png"/><Relationship Id="rId9" Type="http://schemas.openxmlformats.org/officeDocument/2006/relationships/image" Target="../media/image25.jpeg"/><Relationship Id="rId1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xml"/><Relationship Id="rId5" Type="http://schemas.openxmlformats.org/officeDocument/2006/relationships/image" Target="../media/image36.jpg"/><Relationship Id="rId4" Type="http://schemas.openxmlformats.org/officeDocument/2006/relationships/image" Target="../media/image35.jpe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3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fif"/><Relationship Id="rId1" Type="http://schemas.openxmlformats.org/officeDocument/2006/relationships/slideLayout" Target="../slideLayouts/slideLayout1.xml"/><Relationship Id="rId4" Type="http://schemas.openxmlformats.org/officeDocument/2006/relationships/image" Target="../media/image4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eg"/><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22.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3.jpg"/></Relationships>
</file>

<file path=ppt/slides/_rels/slide24.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7" Type="http://schemas.openxmlformats.org/officeDocument/2006/relationships/image" Target="../media/image23.jfif"/><Relationship Id="rId12" Type="http://schemas.openxmlformats.org/officeDocument/2006/relationships/image" Target="../media/image28.png"/><Relationship Id="rId17" Type="http://schemas.openxmlformats.org/officeDocument/2006/relationships/image" Target="../media/image33.jpeg"/><Relationship Id="rId2" Type="http://schemas.openxmlformats.org/officeDocument/2006/relationships/image" Target="../media/image18.png"/><Relationship Id="rId16" Type="http://schemas.openxmlformats.org/officeDocument/2006/relationships/image" Target="../media/image32.jpeg"/><Relationship Id="rId20" Type="http://schemas.openxmlformats.org/officeDocument/2006/relationships/image" Target="../media/image39.svg"/><Relationship Id="rId1" Type="http://schemas.openxmlformats.org/officeDocument/2006/relationships/slideLayout" Target="../slideLayouts/slideLayout1.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jpeg"/><Relationship Id="rId19" Type="http://schemas.openxmlformats.org/officeDocument/2006/relationships/image" Target="../media/image38.png"/><Relationship Id="rId4" Type="http://schemas.openxmlformats.org/officeDocument/2006/relationships/image" Target="../media/image20.png"/><Relationship Id="rId9" Type="http://schemas.openxmlformats.org/officeDocument/2006/relationships/image" Target="../media/image25.jpeg"/><Relationship Id="rId1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61.sv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hyperlink" Target="mailto:luca.cossu@phd.unipd.it" TargetMode="External"/><Relationship Id="rId2" Type="http://schemas.openxmlformats.org/officeDocument/2006/relationships/image" Target="../media/image74.jpg"/><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jpg"/><Relationship Id="rId4" Type="http://schemas.openxmlformats.org/officeDocument/2006/relationships/hyperlink" Target="mailto:alberto.gastaldello.2@phd.unipd.it"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g"/><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svg"/><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it-IT" dirty="0" err="1"/>
              <a:t>Introduction</a:t>
            </a:r>
            <a:endParaRPr lang="en-GB" dirty="0"/>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E9562D-FAB1-9214-828E-6A4C1A9C4C65}"/>
              </a:ext>
            </a:extLst>
          </p:cNvPr>
          <p:cNvSpPr>
            <a:spLocks noGrp="1"/>
          </p:cNvSpPr>
          <p:nvPr>
            <p:ph type="title"/>
          </p:nvPr>
        </p:nvSpPr>
        <p:spPr/>
        <p:txBody>
          <a:bodyPr/>
          <a:lstStyle/>
          <a:p>
            <a:r>
              <a:rPr lang="it-IT" dirty="0"/>
              <a:t>Agenda</a:t>
            </a:r>
          </a:p>
        </p:txBody>
      </p:sp>
      <p:sp>
        <p:nvSpPr>
          <p:cNvPr id="3" name="Segnaposto contenuto 2">
            <a:extLst>
              <a:ext uri="{FF2B5EF4-FFF2-40B4-BE49-F238E27FC236}">
                <a16:creationId xmlns:a16="http://schemas.microsoft.com/office/drawing/2014/main" id="{ADABB2F5-81C2-118E-73A3-43CD4E82A911}"/>
              </a:ext>
            </a:extLst>
          </p:cNvPr>
          <p:cNvSpPr>
            <a:spLocks noGrp="1"/>
          </p:cNvSpPr>
          <p:nvPr>
            <p:ph idx="1"/>
          </p:nvPr>
        </p:nvSpPr>
        <p:spPr/>
        <p:txBody>
          <a:bodyPr/>
          <a:lstStyle/>
          <a:p>
            <a:pPr>
              <a:lnSpc>
                <a:spcPct val="150000"/>
              </a:lnSpc>
            </a:pPr>
            <a:r>
              <a:rPr lang="en-GB" dirty="0"/>
              <a:t>Teacher introduction</a:t>
            </a:r>
          </a:p>
          <a:p>
            <a:pPr>
              <a:lnSpc>
                <a:spcPct val="150000"/>
              </a:lnSpc>
            </a:pPr>
            <a:r>
              <a:rPr lang="en-GB" dirty="0"/>
              <a:t>What is the course about</a:t>
            </a:r>
          </a:p>
          <a:p>
            <a:pPr>
              <a:lnSpc>
                <a:spcPct val="150000"/>
              </a:lnSpc>
            </a:pPr>
            <a:r>
              <a:rPr lang="en-GB" dirty="0"/>
              <a:t>The architecture of wearable IoT systems</a:t>
            </a:r>
          </a:p>
          <a:p>
            <a:pPr>
              <a:lnSpc>
                <a:spcPct val="150000"/>
              </a:lnSpc>
            </a:pPr>
            <a:r>
              <a:rPr lang="en-GB" dirty="0"/>
              <a:t>Applications of wearable IoT in healthcare and wellbeing</a:t>
            </a:r>
          </a:p>
          <a:p>
            <a:pPr>
              <a:lnSpc>
                <a:spcPct val="150000"/>
              </a:lnSpc>
            </a:pPr>
            <a:r>
              <a:rPr lang="en-GB" dirty="0"/>
              <a:t>Course program</a:t>
            </a:r>
          </a:p>
          <a:p>
            <a:pPr>
              <a:lnSpc>
                <a:spcPct val="150000"/>
              </a:lnSpc>
            </a:pPr>
            <a:r>
              <a:rPr lang="en-GB" dirty="0"/>
              <a:t>The exam &amp; The project</a:t>
            </a:r>
          </a:p>
          <a:p>
            <a:pPr>
              <a:lnSpc>
                <a:spcPct val="150000"/>
              </a:lnSpc>
            </a:pPr>
            <a:r>
              <a:rPr lang="en-GB" dirty="0"/>
              <a:t>Appendix: Data source characteristics</a:t>
            </a:r>
          </a:p>
        </p:txBody>
      </p:sp>
      <p:sp>
        <p:nvSpPr>
          <p:cNvPr id="4" name="Segnaposto numero diapositiva 3">
            <a:extLst>
              <a:ext uri="{FF2B5EF4-FFF2-40B4-BE49-F238E27FC236}">
                <a16:creationId xmlns:a16="http://schemas.microsoft.com/office/drawing/2014/main" id="{C1E7AC35-9E13-3771-DCEC-E4EA4A791178}"/>
              </a:ext>
            </a:extLst>
          </p:cNvPr>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3151067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dirty="0"/>
              <a:t>Who </a:t>
            </a:r>
            <a:r>
              <a:rPr lang="it-IT" dirty="0" err="1"/>
              <a:t>am</a:t>
            </a:r>
            <a:r>
              <a:rPr lang="it-IT" dirty="0"/>
              <a:t> I</a:t>
            </a:r>
            <a:endParaRPr lang="en-GB" dirty="0"/>
          </a:p>
        </p:txBody>
      </p:sp>
      <p:sp>
        <p:nvSpPr>
          <p:cNvPr id="4" name="Segnaposto contenuto 3"/>
          <p:cNvSpPr>
            <a:spLocks noGrp="1"/>
          </p:cNvSpPr>
          <p:nvPr>
            <p:ph idx="1"/>
          </p:nvPr>
        </p:nvSpPr>
        <p:spPr>
          <a:xfrm>
            <a:off x="428173" y="1361167"/>
            <a:ext cx="7460051" cy="4858203"/>
          </a:xfrm>
        </p:spPr>
        <p:txBody>
          <a:bodyPr/>
          <a:lstStyle/>
          <a:p>
            <a:r>
              <a:rPr lang="en-GB" b="1" dirty="0"/>
              <a:t>Giacomo Cappon</a:t>
            </a:r>
          </a:p>
          <a:p>
            <a:pPr lvl="1"/>
            <a:r>
              <a:rPr lang="en-GB" dirty="0"/>
              <a:t>Assistant Professor, Department of Information Engineering, University of Padova</a:t>
            </a:r>
          </a:p>
          <a:p>
            <a:pPr lvl="1"/>
            <a:r>
              <a:rPr lang="en-GB" dirty="0"/>
              <a:t>PhD in Information Engineering, curriculum Bioengineering</a:t>
            </a:r>
          </a:p>
          <a:p>
            <a:pPr lvl="1"/>
            <a:r>
              <a:rPr lang="en-GB" dirty="0"/>
              <a:t>Main research interests: signal processing; decision support systems; wearable sensors; digital health; ai for medicine</a:t>
            </a:r>
          </a:p>
          <a:p>
            <a:pPr marL="457200" lvl="1" indent="0">
              <a:buNone/>
            </a:pPr>
            <a:endParaRPr lang="en-GB" dirty="0"/>
          </a:p>
          <a:p>
            <a:r>
              <a:rPr lang="en-GB" dirty="0"/>
              <a:t>Contacts</a:t>
            </a:r>
          </a:p>
          <a:p>
            <a:pPr lvl="1"/>
            <a:r>
              <a:rPr lang="en-GB" dirty="0"/>
              <a:t>email: </a:t>
            </a:r>
            <a:r>
              <a:rPr lang="en-GB" dirty="0">
                <a:hlinkClick r:id="rId2"/>
              </a:rPr>
              <a:t>giacomo.cappon@unipd.it</a:t>
            </a:r>
            <a:endParaRPr lang="en-GB" dirty="0"/>
          </a:p>
          <a:p>
            <a:pPr lvl="1"/>
            <a:r>
              <a:rPr lang="en-GB" dirty="0"/>
              <a:t>personal website: </a:t>
            </a:r>
            <a:r>
              <a:rPr lang="en-GB" dirty="0">
                <a:hlinkClick r:id="rId3"/>
              </a:rPr>
              <a:t>https://gcappon.github.io</a:t>
            </a:r>
            <a:r>
              <a:rPr lang="en-GB" dirty="0"/>
              <a:t>  </a:t>
            </a:r>
          </a:p>
          <a:p>
            <a:pPr lvl="1"/>
            <a:r>
              <a:rPr lang="en-GB" dirty="0"/>
              <a:t>public repos: </a:t>
            </a:r>
            <a:r>
              <a:rPr lang="en-GB" dirty="0">
                <a:hlinkClick r:id="rId4"/>
              </a:rPr>
              <a:t>https://github.com/gcappon</a:t>
            </a:r>
            <a:r>
              <a:rPr lang="en-GB" dirty="0"/>
              <a:t> </a:t>
            </a:r>
          </a:p>
        </p:txBody>
      </p:sp>
      <p:pic>
        <p:nvPicPr>
          <p:cNvPr id="2" name="Immagin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7968" y="1724071"/>
            <a:ext cx="2168039" cy="2168039"/>
          </a:xfrm>
          <a:prstGeom prst="rect">
            <a:avLst/>
          </a:prstGeom>
        </p:spPr>
      </p:pic>
      <p:sp>
        <p:nvSpPr>
          <p:cNvPr id="6" name="Segnaposto numero diapositiva 5"/>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366621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What is the course about?</a:t>
            </a:r>
          </a:p>
        </p:txBody>
      </p:sp>
      <p:sp>
        <p:nvSpPr>
          <p:cNvPr id="3" name="Segnaposto contenuto 2"/>
          <p:cNvSpPr>
            <a:spLocks noGrp="1"/>
          </p:cNvSpPr>
          <p:nvPr>
            <p:ph idx="1"/>
          </p:nvPr>
        </p:nvSpPr>
        <p:spPr>
          <a:xfrm>
            <a:off x="428172" y="1843433"/>
            <a:ext cx="9303657" cy="4858203"/>
          </a:xfrm>
        </p:spPr>
        <p:txBody>
          <a:bodyPr/>
          <a:lstStyle/>
          <a:p>
            <a:r>
              <a:rPr lang="en-US" b="1" dirty="0"/>
              <a:t>E-health</a:t>
            </a:r>
            <a:r>
              <a:rPr lang="en-US" dirty="0"/>
              <a:t> or </a:t>
            </a:r>
            <a:r>
              <a:rPr lang="en-US" b="1" dirty="0"/>
              <a:t>digital health</a:t>
            </a:r>
            <a:r>
              <a:rPr lang="en-US" dirty="0"/>
              <a:t>: The use of modern Information and Communication Technologies (ICT) to efficiently deliver all kinds of healthcare services</a:t>
            </a:r>
          </a:p>
          <a:p>
            <a:pPr lvl="1"/>
            <a:r>
              <a:rPr lang="en-US" dirty="0"/>
              <a:t>Examples: EHR, telemedicine systems</a:t>
            </a:r>
          </a:p>
          <a:p>
            <a:pPr lvl="1"/>
            <a:endParaRPr lang="en-US" dirty="0"/>
          </a:p>
          <a:p>
            <a:r>
              <a:rPr lang="en-US" b="1" dirty="0"/>
              <a:t>Wearables</a:t>
            </a:r>
            <a:r>
              <a:rPr lang="en-US" dirty="0"/>
              <a:t>: electronic devices worn close to and/or on the surface of the skin, which detect, analyze and transmit biomedical data, such as heart rate, activity, blood pressure, temperature, etc.</a:t>
            </a:r>
          </a:p>
          <a:p>
            <a:endParaRPr lang="en-US" b="1" dirty="0"/>
          </a:p>
          <a:p>
            <a:r>
              <a:rPr lang="en-US" b="1" dirty="0"/>
              <a:t>Internet-of-thing (</a:t>
            </a:r>
            <a:r>
              <a:rPr lang="en-US" b="1" dirty="0" err="1"/>
              <a:t>IoT</a:t>
            </a:r>
            <a:r>
              <a:rPr lang="en-US" b="1" dirty="0"/>
              <a:t>) wearables</a:t>
            </a:r>
            <a:r>
              <a:rPr lang="en-US" dirty="0"/>
              <a:t>: Wearables that connect and exchange data with other devices (wearable or not) and systems over the Internet or other communication networks</a:t>
            </a:r>
          </a:p>
          <a:p>
            <a:pPr lvl="1"/>
            <a:endParaRPr lang="en-GB" dirty="0"/>
          </a:p>
        </p:txBody>
      </p:sp>
      <p:sp>
        <p:nvSpPr>
          <p:cNvPr id="4" name="Ovale 3"/>
          <p:cNvSpPr/>
          <p:nvPr/>
        </p:nvSpPr>
        <p:spPr>
          <a:xfrm>
            <a:off x="9551443" y="1891972"/>
            <a:ext cx="2593910" cy="2603241"/>
          </a:xfrm>
          <a:prstGeom prst="ellipse">
            <a:avLst/>
          </a:prstGeom>
          <a:solidFill>
            <a:schemeClr val="accent6"/>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5" name="Ovale 4"/>
          <p:cNvSpPr/>
          <p:nvPr/>
        </p:nvSpPr>
        <p:spPr>
          <a:xfrm>
            <a:off x="9887345" y="2381342"/>
            <a:ext cx="1980000" cy="1980000"/>
          </a:xfrm>
          <a:prstGeom prst="ellipse">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CasellaDiTesto 6"/>
          <p:cNvSpPr txBox="1"/>
          <p:nvPr/>
        </p:nvSpPr>
        <p:spPr>
          <a:xfrm>
            <a:off x="9841719" y="2001858"/>
            <a:ext cx="2013358" cy="369332"/>
          </a:xfrm>
          <a:prstGeom prst="rect">
            <a:avLst/>
          </a:prstGeom>
          <a:noFill/>
        </p:spPr>
        <p:txBody>
          <a:bodyPr wrap="square" rtlCol="0">
            <a:spAutoFit/>
          </a:bodyPr>
          <a:lstStyle/>
          <a:p>
            <a:pPr algn="ctr"/>
            <a:r>
              <a:rPr lang="it-IT" dirty="0">
                <a:latin typeface="Aptos" panose="020B0004020202020204" pitchFamily="34" charset="0"/>
              </a:rPr>
              <a:t>E-</a:t>
            </a:r>
            <a:r>
              <a:rPr lang="it-IT" dirty="0" err="1">
                <a:latin typeface="Aptos" panose="020B0004020202020204" pitchFamily="34" charset="0"/>
              </a:rPr>
              <a:t>health</a:t>
            </a:r>
            <a:endParaRPr lang="en-GB" dirty="0">
              <a:latin typeface="Aptos" panose="020B0004020202020204" pitchFamily="34" charset="0"/>
            </a:endParaRPr>
          </a:p>
        </p:txBody>
      </p:sp>
      <p:sp>
        <p:nvSpPr>
          <p:cNvPr id="8" name="CasellaDiTesto 7"/>
          <p:cNvSpPr txBox="1"/>
          <p:nvPr/>
        </p:nvSpPr>
        <p:spPr>
          <a:xfrm>
            <a:off x="9841719" y="2533138"/>
            <a:ext cx="2013358" cy="369332"/>
          </a:xfrm>
          <a:prstGeom prst="rect">
            <a:avLst/>
          </a:prstGeom>
          <a:noFill/>
        </p:spPr>
        <p:txBody>
          <a:bodyPr wrap="square" rtlCol="0">
            <a:spAutoFit/>
          </a:bodyPr>
          <a:lstStyle/>
          <a:p>
            <a:pPr algn="ctr"/>
            <a:r>
              <a:rPr lang="it-IT" dirty="0" err="1">
                <a:latin typeface="Aptos" panose="020B0004020202020204" pitchFamily="34" charset="0"/>
              </a:rPr>
              <a:t>Wearables</a:t>
            </a:r>
            <a:endParaRPr lang="en-GB" dirty="0">
              <a:latin typeface="Aptos" panose="020B0004020202020204" pitchFamily="34" charset="0"/>
            </a:endParaRPr>
          </a:p>
        </p:txBody>
      </p:sp>
      <p:grpSp>
        <p:nvGrpSpPr>
          <p:cNvPr id="11" name="Gruppo 10">
            <a:extLst>
              <a:ext uri="{FF2B5EF4-FFF2-40B4-BE49-F238E27FC236}">
                <a16:creationId xmlns:a16="http://schemas.microsoft.com/office/drawing/2014/main" id="{D185594D-6EAA-3F45-877F-0D678EDFDF5E}"/>
              </a:ext>
            </a:extLst>
          </p:cNvPr>
          <p:cNvGrpSpPr/>
          <p:nvPr/>
        </p:nvGrpSpPr>
        <p:grpSpPr>
          <a:xfrm>
            <a:off x="10137474" y="3036341"/>
            <a:ext cx="1467474" cy="1224000"/>
            <a:chOff x="9981958" y="2693250"/>
            <a:chExt cx="1467474" cy="1224000"/>
          </a:xfrm>
        </p:grpSpPr>
        <p:sp>
          <p:nvSpPr>
            <p:cNvPr id="6" name="Ovale 5"/>
            <p:cNvSpPr/>
            <p:nvPr/>
          </p:nvSpPr>
          <p:spPr>
            <a:xfrm>
              <a:off x="10109829" y="2693250"/>
              <a:ext cx="1224000" cy="1224000"/>
            </a:xfrm>
            <a:prstGeom prst="ellipse">
              <a:avLst/>
            </a:prstGeom>
            <a:solidFill>
              <a:srgbClr val="FFFF0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CasellaDiTesto 8"/>
            <p:cNvSpPr txBox="1"/>
            <p:nvPr/>
          </p:nvSpPr>
          <p:spPr>
            <a:xfrm>
              <a:off x="9981958" y="2946671"/>
              <a:ext cx="1467474" cy="646331"/>
            </a:xfrm>
            <a:prstGeom prst="rect">
              <a:avLst/>
            </a:prstGeom>
            <a:noFill/>
          </p:spPr>
          <p:txBody>
            <a:bodyPr wrap="square" rtlCol="0">
              <a:spAutoFit/>
            </a:bodyPr>
            <a:lstStyle/>
            <a:p>
              <a:pPr algn="ctr"/>
              <a:r>
                <a:rPr lang="it-IT" dirty="0" err="1">
                  <a:latin typeface="Aptos" panose="020B0004020202020204" pitchFamily="34" charset="0"/>
                </a:rPr>
                <a:t>IoT</a:t>
              </a:r>
              <a:r>
                <a:rPr lang="it-IT" dirty="0">
                  <a:latin typeface="Aptos" panose="020B0004020202020204" pitchFamily="34" charset="0"/>
                </a:rPr>
                <a:t> </a:t>
              </a:r>
              <a:r>
                <a:rPr lang="it-IT" dirty="0" err="1">
                  <a:latin typeface="Aptos" panose="020B0004020202020204" pitchFamily="34" charset="0"/>
                </a:rPr>
                <a:t>wearables</a:t>
              </a:r>
              <a:endParaRPr lang="en-GB" dirty="0">
                <a:latin typeface="Aptos" panose="020B0004020202020204" pitchFamily="34" charset="0"/>
              </a:endParaRPr>
            </a:p>
          </p:txBody>
        </p:sp>
      </p:grpSp>
      <p:sp>
        <p:nvSpPr>
          <p:cNvPr id="12" name="CasellaDiTesto 11"/>
          <p:cNvSpPr txBox="1"/>
          <p:nvPr/>
        </p:nvSpPr>
        <p:spPr>
          <a:xfrm>
            <a:off x="525463" y="1237255"/>
            <a:ext cx="9353725" cy="461665"/>
          </a:xfrm>
          <a:prstGeom prst="rect">
            <a:avLst/>
          </a:prstGeom>
          <a:noFill/>
        </p:spPr>
        <p:txBody>
          <a:bodyPr wrap="square" rtlCol="0">
            <a:spAutoFit/>
          </a:bodyPr>
          <a:lstStyle/>
          <a:p>
            <a:r>
              <a:rPr lang="en-US" sz="2400" b="1" dirty="0">
                <a:latin typeface="Aptos" panose="020B0004020202020204" pitchFamily="34" charset="0"/>
              </a:rPr>
              <a:t>Biomedical wearable technologies…</a:t>
            </a:r>
          </a:p>
        </p:txBody>
      </p:sp>
      <p:sp>
        <p:nvSpPr>
          <p:cNvPr id="10" name="Segnaposto numero diapositiva 9"/>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327674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What is the course about?</a:t>
            </a:r>
            <a:endParaRPr lang="en-GB" dirty="0"/>
          </a:p>
        </p:txBody>
      </p:sp>
      <p:sp>
        <p:nvSpPr>
          <p:cNvPr id="3" name="Segnaposto contenuto 2"/>
          <p:cNvSpPr>
            <a:spLocks noGrp="1"/>
          </p:cNvSpPr>
          <p:nvPr>
            <p:ph idx="1"/>
          </p:nvPr>
        </p:nvSpPr>
        <p:spPr>
          <a:xfrm>
            <a:off x="428172" y="1914007"/>
            <a:ext cx="11368314" cy="2941457"/>
          </a:xfrm>
        </p:spPr>
        <p:txBody>
          <a:bodyPr/>
          <a:lstStyle/>
          <a:p>
            <a:r>
              <a:rPr lang="en-US" dirty="0"/>
              <a:t>Our society is facing some important global health challenges</a:t>
            </a:r>
          </a:p>
          <a:p>
            <a:pPr lvl="1"/>
            <a:r>
              <a:rPr lang="en-US" b="1" dirty="0"/>
              <a:t>Lifestyle-related illnesses </a:t>
            </a:r>
            <a:r>
              <a:rPr lang="en-US" dirty="0"/>
              <a:t>driven by sedentary life, consumption of processed and fast foods, alcohol drinking and smoking</a:t>
            </a:r>
            <a:endParaRPr lang="en-US" b="1" dirty="0"/>
          </a:p>
          <a:p>
            <a:pPr lvl="2"/>
            <a:r>
              <a:rPr lang="en-US" dirty="0"/>
              <a:t>Need to change the paradigm of healthcare, from a mostly reactive system to a </a:t>
            </a:r>
            <a:r>
              <a:rPr lang="en-US" b="1" dirty="0"/>
              <a:t>proactive system</a:t>
            </a:r>
            <a:endParaRPr lang="en-US" dirty="0"/>
          </a:p>
          <a:p>
            <a:pPr lvl="1"/>
            <a:endParaRPr lang="en-US" dirty="0"/>
          </a:p>
          <a:p>
            <a:pPr lvl="1"/>
            <a:r>
              <a:rPr lang="en-US" b="1" dirty="0"/>
              <a:t>Population ageing</a:t>
            </a:r>
            <a:r>
              <a:rPr lang="en-US" dirty="0"/>
              <a:t> rises </a:t>
            </a:r>
            <a:r>
              <a:rPr lang="en-US" dirty="0">
                <a:sym typeface="Wingdings" panose="05000000000000000000" pitchFamily="2" charset="2"/>
              </a:rPr>
              <a:t>the demand of health services and the healthcare expenditure.</a:t>
            </a:r>
          </a:p>
          <a:p>
            <a:pPr lvl="2"/>
            <a:r>
              <a:rPr lang="en-US" dirty="0">
                <a:sym typeface="Wingdings" panose="05000000000000000000" pitchFamily="2" charset="2"/>
              </a:rPr>
              <a:t>Need to </a:t>
            </a:r>
            <a:r>
              <a:rPr lang="en-US" b="1" dirty="0">
                <a:sym typeface="Wingdings" panose="05000000000000000000" pitchFamily="2" charset="2"/>
              </a:rPr>
              <a:t>decentralizing the healthcare </a:t>
            </a:r>
          </a:p>
          <a:p>
            <a:pPr lvl="2"/>
            <a:r>
              <a:rPr lang="en-US" dirty="0">
                <a:sym typeface="Wingdings" panose="05000000000000000000" pitchFamily="2" charset="2"/>
              </a:rPr>
              <a:t>Covid-19 pandemic called for urgent delivery of healthcare at home</a:t>
            </a:r>
            <a:endParaRPr lang="en-US" dirty="0"/>
          </a:p>
        </p:txBody>
      </p:sp>
      <p:sp>
        <p:nvSpPr>
          <p:cNvPr id="5" name="CasellaDiTesto 4"/>
          <p:cNvSpPr txBox="1"/>
          <p:nvPr/>
        </p:nvSpPr>
        <p:spPr>
          <a:xfrm>
            <a:off x="525463" y="1237255"/>
            <a:ext cx="9353725" cy="461665"/>
          </a:xfrm>
          <a:prstGeom prst="rect">
            <a:avLst/>
          </a:prstGeom>
          <a:noFill/>
        </p:spPr>
        <p:txBody>
          <a:bodyPr wrap="square" rtlCol="0">
            <a:spAutoFit/>
          </a:bodyPr>
          <a:lstStyle/>
          <a:p>
            <a:r>
              <a:rPr lang="en-US" sz="2400" b="1" dirty="0">
                <a:latin typeface="Aptos" panose="020B0004020202020204" pitchFamily="34" charset="0"/>
              </a:rPr>
              <a:t>… for healthcare and wellbeing</a:t>
            </a:r>
          </a:p>
        </p:txBody>
      </p:sp>
      <p:sp>
        <p:nvSpPr>
          <p:cNvPr id="4" name="Rettangolo 3"/>
          <p:cNvSpPr/>
          <p:nvPr/>
        </p:nvSpPr>
        <p:spPr>
          <a:xfrm>
            <a:off x="411843" y="5003175"/>
            <a:ext cx="11368314" cy="935334"/>
          </a:xfrm>
          <a:prstGeom prst="rect">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ptos" panose="020B0004020202020204" pitchFamily="34" charset="0"/>
              </a:rPr>
              <a:t>Biomedical wearable technologies are fundamental to make healthcare scalable and accessible outside the hospital setting and deliver personalized and preventive health services</a:t>
            </a:r>
            <a:r>
              <a:rPr lang="en-US" sz="2400" b="1" dirty="0">
                <a:solidFill>
                  <a:schemeClr val="tx1"/>
                </a:solidFill>
                <a:latin typeface="Aptos" panose="020B0004020202020204" pitchFamily="34" charset="0"/>
              </a:rPr>
              <a:t>  </a:t>
            </a:r>
          </a:p>
        </p:txBody>
      </p:sp>
      <p:sp>
        <p:nvSpPr>
          <p:cNvPr id="6" name="Segnaposto numero diapositiva 5"/>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135071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Towards a new model of healthcare</a:t>
            </a:r>
          </a:p>
        </p:txBody>
      </p:sp>
      <p:sp>
        <p:nvSpPr>
          <p:cNvPr id="5" name="Segnaposto contenuto 5"/>
          <p:cNvSpPr>
            <a:spLocks noGrp="1"/>
          </p:cNvSpPr>
          <p:nvPr>
            <p:ph idx="1"/>
          </p:nvPr>
        </p:nvSpPr>
        <p:spPr>
          <a:xfrm>
            <a:off x="428172" y="1361167"/>
            <a:ext cx="11368314" cy="5320987"/>
          </a:xfrm>
        </p:spPr>
        <p:txBody>
          <a:bodyPr>
            <a:normAutofit/>
          </a:bodyPr>
          <a:lstStyle/>
          <a:p>
            <a:r>
              <a:rPr lang="en-US" b="1" dirty="0"/>
              <a:t>Traditional healthcare system</a:t>
            </a:r>
            <a:r>
              <a:rPr lang="en-US" dirty="0"/>
              <a:t>:</a:t>
            </a:r>
          </a:p>
          <a:p>
            <a:pPr lvl="1"/>
            <a:r>
              <a:rPr lang="en-US" b="1" dirty="0"/>
              <a:t>Reactive</a:t>
            </a:r>
            <a:r>
              <a:rPr lang="en-US" dirty="0"/>
              <a:t>: focused on treating</a:t>
            </a:r>
          </a:p>
          <a:p>
            <a:pPr lvl="1"/>
            <a:r>
              <a:rPr lang="en-US" b="1" dirty="0"/>
              <a:t>Centralized</a:t>
            </a:r>
            <a:r>
              <a:rPr lang="en-US" dirty="0"/>
              <a:t>: healthcare at hospitals</a:t>
            </a:r>
          </a:p>
          <a:p>
            <a:pPr lvl="1"/>
            <a:r>
              <a:rPr lang="en-US" b="1" dirty="0"/>
              <a:t>Population-based</a:t>
            </a:r>
            <a:r>
              <a:rPr lang="en-US" dirty="0"/>
              <a:t>: maximizing health outcomes of a certain population </a:t>
            </a:r>
          </a:p>
          <a:p>
            <a:pPr lvl="1"/>
            <a:r>
              <a:rPr lang="en-US" b="1" dirty="0"/>
              <a:t>Doctor-centric</a:t>
            </a:r>
            <a:r>
              <a:rPr lang="en-US" dirty="0"/>
              <a:t>: only </a:t>
            </a:r>
            <a:r>
              <a:rPr lang="en-GB" dirty="0"/>
              <a:t>doctor responsible for the patient's care</a:t>
            </a:r>
          </a:p>
          <a:p>
            <a:pPr lvl="1"/>
            <a:endParaRPr lang="en-US" dirty="0"/>
          </a:p>
          <a:p>
            <a:r>
              <a:rPr lang="en-US" dirty="0"/>
              <a:t>Biomedical wearable technologies play an important role in realizing a </a:t>
            </a:r>
            <a:r>
              <a:rPr lang="en-US" b="1" dirty="0"/>
              <a:t>new model of healthcare </a:t>
            </a:r>
            <a:r>
              <a:rPr lang="en-US" dirty="0"/>
              <a:t>which is:</a:t>
            </a:r>
          </a:p>
          <a:p>
            <a:pPr lvl="1"/>
            <a:r>
              <a:rPr lang="en-GB" b="1" dirty="0"/>
              <a:t>Decentralized</a:t>
            </a:r>
            <a:r>
              <a:rPr lang="en-GB" dirty="0"/>
              <a:t>: healthcare at home to reduce pressure on hospitals</a:t>
            </a:r>
          </a:p>
          <a:p>
            <a:pPr lvl="1"/>
            <a:r>
              <a:rPr lang="en-US" b="1" dirty="0"/>
              <a:t>Proactive</a:t>
            </a:r>
            <a:r>
              <a:rPr lang="en-US" dirty="0"/>
              <a:t>: focused on prevention</a:t>
            </a:r>
          </a:p>
          <a:p>
            <a:pPr lvl="1"/>
            <a:r>
              <a:rPr lang="en-GB" b="1" dirty="0"/>
              <a:t>Personalized</a:t>
            </a:r>
            <a:r>
              <a:rPr lang="en-GB" dirty="0"/>
              <a:t>: maximising the health outcomes of single individuals</a:t>
            </a:r>
          </a:p>
          <a:p>
            <a:pPr lvl="1"/>
            <a:r>
              <a:rPr lang="en-GB" b="1" dirty="0"/>
              <a:t>Participatory</a:t>
            </a:r>
            <a:r>
              <a:rPr lang="en-GB" dirty="0"/>
              <a:t>: engaging individuals in the healthcare process</a:t>
            </a:r>
          </a:p>
          <a:p>
            <a:pPr lvl="1"/>
            <a:r>
              <a:rPr lang="en-US" b="1" dirty="0"/>
              <a:t>Sustainable</a:t>
            </a:r>
            <a:r>
              <a:rPr lang="it-IT" dirty="0"/>
              <a:t>: </a:t>
            </a:r>
            <a:r>
              <a:rPr lang="en-GB" dirty="0"/>
              <a:t>better management of resources, patient prioritization</a:t>
            </a:r>
          </a:p>
        </p:txBody>
      </p:sp>
      <p:sp>
        <p:nvSpPr>
          <p:cNvPr id="3" name="Segnaposto numero diapositiva 2"/>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1403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normAutofit fontScale="90000"/>
          </a:bodyPr>
          <a:lstStyle/>
          <a:p>
            <a:r>
              <a:rPr lang="it-IT" dirty="0" err="1"/>
              <a:t>Examples</a:t>
            </a:r>
            <a:r>
              <a:rPr lang="it-IT" dirty="0"/>
              <a:t> of </a:t>
            </a:r>
            <a:r>
              <a:rPr lang="it-IT" dirty="0" err="1"/>
              <a:t>biomedical</a:t>
            </a:r>
            <a:r>
              <a:rPr lang="it-IT" dirty="0"/>
              <a:t> wearable </a:t>
            </a:r>
            <a:r>
              <a:rPr lang="it-IT" dirty="0" err="1"/>
              <a:t>technologies</a:t>
            </a:r>
            <a:br>
              <a:rPr lang="it-IT" dirty="0"/>
            </a:br>
            <a:r>
              <a:rPr lang="it-IT" dirty="0"/>
              <a:t>Heart rate monitor</a:t>
            </a:r>
            <a:endParaRPr lang="en-GB" dirty="0"/>
          </a:p>
        </p:txBody>
      </p:sp>
      <p:sp>
        <p:nvSpPr>
          <p:cNvPr id="6" name="Segnaposto contenuto 5"/>
          <p:cNvSpPr>
            <a:spLocks noGrp="1"/>
          </p:cNvSpPr>
          <p:nvPr>
            <p:ph idx="1"/>
          </p:nvPr>
        </p:nvSpPr>
        <p:spPr>
          <a:xfrm>
            <a:off x="428172" y="1361167"/>
            <a:ext cx="11368314" cy="1818131"/>
          </a:xfrm>
        </p:spPr>
        <p:txBody>
          <a:bodyPr>
            <a:normAutofit/>
          </a:bodyPr>
          <a:lstStyle/>
          <a:p>
            <a:r>
              <a:rPr lang="en-GB" sz="2000" dirty="0"/>
              <a:t>Heart rate (HR): frequency of heart beats [beats/min]</a:t>
            </a:r>
          </a:p>
          <a:p>
            <a:r>
              <a:rPr lang="en-GB" sz="2000" dirty="0"/>
              <a:t>Monitoring HR allows to detect bradycardia (slow HR), tachycardia (fast HR) or arrhythmia (irregular HR)</a:t>
            </a:r>
          </a:p>
        </p:txBody>
      </p:sp>
      <p:sp>
        <p:nvSpPr>
          <p:cNvPr id="4" name="Segnaposto contenuto 5"/>
          <p:cNvSpPr txBox="1">
            <a:spLocks/>
          </p:cNvSpPr>
          <p:nvPr/>
        </p:nvSpPr>
        <p:spPr>
          <a:xfrm>
            <a:off x="428173" y="2553286"/>
            <a:ext cx="4326708" cy="2171114"/>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000" dirty="0">
                <a:latin typeface="Aptos" panose="020B0004020202020204" pitchFamily="34" charset="0"/>
              </a:rPr>
              <a:t>In hospital:</a:t>
            </a:r>
          </a:p>
          <a:p>
            <a:r>
              <a:rPr lang="en-GB" sz="2000" b="1" dirty="0">
                <a:latin typeface="Aptos" panose="020B0004020202020204" pitchFamily="34" charset="0"/>
              </a:rPr>
              <a:t>Electrocardiogram (ECG)</a:t>
            </a:r>
            <a:r>
              <a:rPr lang="en-GB" sz="2000" dirty="0">
                <a:latin typeface="Aptos" panose="020B0004020202020204" pitchFamily="34" charset="0"/>
              </a:rPr>
              <a:t>: electrical activity of the heart measured by on skin electrodes (usually 12) </a:t>
            </a:r>
          </a:p>
          <a:p>
            <a:r>
              <a:rPr lang="en-GB" sz="2000" dirty="0">
                <a:latin typeface="Aptos" panose="020B0004020202020204" pitchFamily="34" charset="0"/>
              </a:rPr>
              <a:t>HR determined as the frequency of peaks of the R wave</a:t>
            </a:r>
          </a:p>
        </p:txBody>
      </p:sp>
      <p:pic>
        <p:nvPicPr>
          <p:cNvPr id="2" name="Immagin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8583" y="2542554"/>
            <a:ext cx="2970611" cy="2465607"/>
          </a:xfrm>
          <a:prstGeom prst="rect">
            <a:avLst/>
          </a:prstGeom>
        </p:spPr>
      </p:pic>
      <p:pic>
        <p:nvPicPr>
          <p:cNvPr id="3" name="Immagin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25471" y="3904734"/>
            <a:ext cx="2901334" cy="2862649"/>
          </a:xfrm>
          <a:prstGeom prst="rect">
            <a:avLst/>
          </a:prstGeom>
        </p:spPr>
      </p:pic>
      <p:pic>
        <p:nvPicPr>
          <p:cNvPr id="8" name="Immagin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5554" y="5336058"/>
            <a:ext cx="4410677" cy="1234990"/>
          </a:xfrm>
          <a:prstGeom prst="rect">
            <a:avLst/>
          </a:prstGeom>
        </p:spPr>
      </p:pic>
      <p:sp>
        <p:nvSpPr>
          <p:cNvPr id="7" name="Segnaposto numero diapositiva 6"/>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2319407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1377" y="1758406"/>
            <a:ext cx="1932740" cy="2411093"/>
          </a:xfrm>
          <a:prstGeom prst="rect">
            <a:avLst/>
          </a:prstGeom>
        </p:spPr>
      </p:pic>
      <p:sp>
        <p:nvSpPr>
          <p:cNvPr id="5" name="Titolo 4"/>
          <p:cNvSpPr>
            <a:spLocks noGrp="1"/>
          </p:cNvSpPr>
          <p:nvPr>
            <p:ph type="title"/>
          </p:nvPr>
        </p:nvSpPr>
        <p:spPr/>
        <p:txBody>
          <a:bodyPr>
            <a:normAutofit fontScale="90000"/>
          </a:bodyPr>
          <a:lstStyle/>
          <a:p>
            <a:r>
              <a:rPr lang="en-GB"/>
              <a:t>Examples of biomedical wearable technologies</a:t>
            </a:r>
            <a:br>
              <a:rPr lang="en-GB"/>
            </a:br>
            <a:r>
              <a:rPr lang="en-GB"/>
              <a:t>Heart rate monitor</a:t>
            </a:r>
          </a:p>
        </p:txBody>
      </p:sp>
      <p:sp>
        <p:nvSpPr>
          <p:cNvPr id="7" name="Segnaposto contenuto 5"/>
          <p:cNvSpPr txBox="1">
            <a:spLocks/>
          </p:cNvSpPr>
          <p:nvPr/>
        </p:nvSpPr>
        <p:spPr>
          <a:xfrm>
            <a:off x="6931839" y="1361167"/>
            <a:ext cx="5182548" cy="1942206"/>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1" dirty="0">
                <a:latin typeface="Aptos" panose="020B0004020202020204" pitchFamily="34" charset="0"/>
              </a:rPr>
              <a:t>Smartwatches</a:t>
            </a:r>
            <a:r>
              <a:rPr lang="en-GB" sz="1800" dirty="0">
                <a:latin typeface="Aptos" panose="020B0004020202020204" pitchFamily="34" charset="0"/>
              </a:rPr>
              <a:t> use an optical sensor that shines light and measures changes in light </a:t>
            </a:r>
            <a:r>
              <a:rPr lang="en-GB" sz="1800" dirty="0" err="1">
                <a:latin typeface="Aptos" panose="020B0004020202020204" pitchFamily="34" charset="0"/>
              </a:rPr>
              <a:t>absorpion</a:t>
            </a:r>
            <a:r>
              <a:rPr lang="en-GB" sz="1800" dirty="0">
                <a:latin typeface="Aptos" panose="020B0004020202020204" pitchFamily="34" charset="0"/>
              </a:rPr>
              <a:t> to estimate changes in capillary blood volume</a:t>
            </a:r>
          </a:p>
          <a:p>
            <a:r>
              <a:rPr lang="en-GB" sz="1800" dirty="0">
                <a:latin typeface="Aptos" panose="020B0004020202020204" pitchFamily="34" charset="0"/>
              </a:rPr>
              <a:t>Resulting signal: </a:t>
            </a:r>
            <a:r>
              <a:rPr lang="en-GB" sz="1800" dirty="0" err="1">
                <a:latin typeface="Aptos" panose="020B0004020202020204" pitchFamily="34" charset="0"/>
              </a:rPr>
              <a:t>photoplethysmogram</a:t>
            </a:r>
            <a:r>
              <a:rPr lang="en-GB" sz="1800" dirty="0">
                <a:latin typeface="Aptos" panose="020B0004020202020204" pitchFamily="34" charset="0"/>
              </a:rPr>
              <a:t> (PPG)</a:t>
            </a:r>
          </a:p>
          <a:p>
            <a:r>
              <a:rPr lang="en-GB" sz="1800" dirty="0">
                <a:latin typeface="Aptos" panose="020B0004020202020204" pitchFamily="34" charset="0"/>
              </a:rPr>
              <a:t>HR estimated as the frequency of P waves</a:t>
            </a:r>
          </a:p>
        </p:txBody>
      </p:sp>
      <p:pic>
        <p:nvPicPr>
          <p:cNvPr id="2" name="Immagine 1"/>
          <p:cNvPicPr>
            <a:picLocks noChangeAspect="1"/>
          </p:cNvPicPr>
          <p:nvPr/>
        </p:nvPicPr>
        <p:blipFill rotWithShape="1">
          <a:blip r:embed="rId3">
            <a:extLst>
              <a:ext uri="{28A0092B-C50C-407E-A947-70E740481C1C}">
                <a14:useLocalDpi xmlns:a14="http://schemas.microsoft.com/office/drawing/2010/main" val="0"/>
              </a:ext>
            </a:extLst>
          </a:blip>
          <a:srcRect l="11053" t="19752" r="13514"/>
          <a:stretch/>
        </p:blipFill>
        <p:spPr>
          <a:xfrm>
            <a:off x="6451021" y="4674909"/>
            <a:ext cx="2125798" cy="1459023"/>
          </a:xfrm>
          <a:prstGeom prst="rect">
            <a:avLst/>
          </a:prstGeom>
        </p:spPr>
      </p:pic>
      <p:pic>
        <p:nvPicPr>
          <p:cNvPr id="3" name="Immagine 2"/>
          <p:cNvPicPr>
            <a:picLocks noChangeAspect="1"/>
          </p:cNvPicPr>
          <p:nvPr/>
        </p:nvPicPr>
        <p:blipFill rotWithShape="1">
          <a:blip r:embed="rId4">
            <a:extLst>
              <a:ext uri="{28A0092B-C50C-407E-A947-70E740481C1C}">
                <a14:useLocalDpi xmlns:a14="http://schemas.microsoft.com/office/drawing/2010/main" val="0"/>
              </a:ext>
            </a:extLst>
          </a:blip>
          <a:srcRect l="6442" r="20343"/>
          <a:stretch/>
        </p:blipFill>
        <p:spPr>
          <a:xfrm>
            <a:off x="8648552" y="4445041"/>
            <a:ext cx="3371474" cy="2054911"/>
          </a:xfrm>
          <a:prstGeom prst="rect">
            <a:avLst/>
          </a:prstGeom>
        </p:spPr>
      </p:pic>
      <p:sp>
        <p:nvSpPr>
          <p:cNvPr id="8" name="Segnaposto contenuto 7"/>
          <p:cNvSpPr>
            <a:spLocks noGrp="1"/>
          </p:cNvSpPr>
          <p:nvPr>
            <p:ph idx="1"/>
          </p:nvPr>
        </p:nvSpPr>
        <p:spPr>
          <a:xfrm>
            <a:off x="428172" y="1361167"/>
            <a:ext cx="4584503" cy="2263382"/>
          </a:xfrm>
        </p:spPr>
        <p:txBody>
          <a:bodyPr>
            <a:normAutofit/>
          </a:bodyPr>
          <a:lstStyle/>
          <a:p>
            <a:r>
              <a:rPr lang="en-GB" sz="1800" b="1" dirty="0">
                <a:latin typeface="Aptos" panose="020B0004020202020204" pitchFamily="34" charset="0"/>
              </a:rPr>
              <a:t>Holter monitor</a:t>
            </a:r>
            <a:r>
              <a:rPr lang="en-GB" sz="1800" dirty="0">
                <a:latin typeface="Aptos" panose="020B0004020202020204" pitchFamily="34" charset="0"/>
              </a:rPr>
              <a:t>: portable ECG monitor, 5 electrodes placed on the chest</a:t>
            </a:r>
          </a:p>
          <a:p>
            <a:r>
              <a:rPr lang="en-GB" sz="1800" dirty="0">
                <a:latin typeface="Aptos" panose="020B0004020202020204" pitchFamily="34" charset="0"/>
              </a:rPr>
              <a:t>Used for medical purpose</a:t>
            </a:r>
          </a:p>
          <a:p>
            <a:r>
              <a:rPr lang="en-GB" sz="1800" dirty="0">
                <a:latin typeface="Aptos" panose="020B0004020202020204" pitchFamily="34" charset="0"/>
              </a:rPr>
              <a:t>Low portability, used for 24-72 hours</a:t>
            </a:r>
          </a:p>
          <a:p>
            <a:endParaRPr lang="en-GB" sz="1800" dirty="0"/>
          </a:p>
        </p:txBody>
      </p:sp>
      <p:sp>
        <p:nvSpPr>
          <p:cNvPr id="11" name="Segnaposto contenuto 5"/>
          <p:cNvSpPr txBox="1">
            <a:spLocks/>
          </p:cNvSpPr>
          <p:nvPr/>
        </p:nvSpPr>
        <p:spPr>
          <a:xfrm>
            <a:off x="428172" y="4212517"/>
            <a:ext cx="4786378" cy="1682715"/>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1" dirty="0">
                <a:latin typeface="Aptos" panose="020B0004020202020204" pitchFamily="34" charset="0"/>
              </a:rPr>
              <a:t>Chest straps</a:t>
            </a:r>
            <a:r>
              <a:rPr lang="en-GB" sz="1800" dirty="0">
                <a:latin typeface="Aptos" panose="020B0004020202020204" pitchFamily="34" charset="0"/>
              </a:rPr>
              <a:t>: electrical activity of the heart measured with electrodes integrated in a chest band/strap</a:t>
            </a:r>
          </a:p>
        </p:txBody>
      </p:sp>
      <p:pic>
        <p:nvPicPr>
          <p:cNvPr id="12" name="Immagin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0493" y="5090528"/>
            <a:ext cx="3019425" cy="1514475"/>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372236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69036" y="4833442"/>
            <a:ext cx="2527450" cy="1659023"/>
          </a:xfrm>
          <a:prstGeom prst="rect">
            <a:avLst/>
          </a:prstGeom>
        </p:spPr>
      </p:pic>
      <p:sp>
        <p:nvSpPr>
          <p:cNvPr id="5" name="Titolo 4"/>
          <p:cNvSpPr>
            <a:spLocks noGrp="1"/>
          </p:cNvSpPr>
          <p:nvPr>
            <p:ph type="title"/>
          </p:nvPr>
        </p:nvSpPr>
        <p:spPr/>
        <p:txBody>
          <a:bodyPr>
            <a:normAutofit fontScale="90000"/>
          </a:bodyPr>
          <a:lstStyle/>
          <a:p>
            <a:r>
              <a:rPr lang="en-US" dirty="0"/>
              <a:t>Examples of biomedical wearable technologies</a:t>
            </a:r>
            <a:br>
              <a:rPr lang="en-US" dirty="0"/>
            </a:br>
            <a:r>
              <a:rPr lang="en-US" dirty="0"/>
              <a:t>Glucose monitoring sensors</a:t>
            </a:r>
          </a:p>
        </p:txBody>
      </p:sp>
      <p:sp>
        <p:nvSpPr>
          <p:cNvPr id="6" name="Segnaposto contenuto 5"/>
          <p:cNvSpPr>
            <a:spLocks noGrp="1"/>
          </p:cNvSpPr>
          <p:nvPr>
            <p:ph idx="1"/>
          </p:nvPr>
        </p:nvSpPr>
        <p:spPr/>
        <p:txBody>
          <a:bodyPr>
            <a:normAutofit/>
          </a:bodyPr>
          <a:lstStyle/>
          <a:p>
            <a:r>
              <a:rPr lang="en-US" sz="2000" dirty="0"/>
              <a:t>Blood glucose (BG) concentration: concentration of glucose in the blood [mg/dL or mmol/L]</a:t>
            </a:r>
          </a:p>
          <a:p>
            <a:r>
              <a:rPr lang="en-US" sz="2000" dirty="0"/>
              <a:t>Abnormal BG levels, e.g., hyperglycemia (too high BG) and hypoglycemia (too low BG), may occur in people with metabolism disorders (e.g., diabetes).</a:t>
            </a:r>
          </a:p>
        </p:txBody>
      </p:sp>
      <p:sp>
        <p:nvSpPr>
          <p:cNvPr id="4" name="Segnaposto contenuto 5"/>
          <p:cNvSpPr txBox="1">
            <a:spLocks/>
          </p:cNvSpPr>
          <p:nvPr/>
        </p:nvSpPr>
        <p:spPr>
          <a:xfrm>
            <a:off x="428172" y="2881202"/>
            <a:ext cx="9154740" cy="3677166"/>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u="sng" dirty="0">
                <a:latin typeface="Aptos" panose="020B0004020202020204" pitchFamily="34" charset="0"/>
              </a:rPr>
              <a:t>In hospital/laboratory:</a:t>
            </a:r>
          </a:p>
          <a:p>
            <a:r>
              <a:rPr lang="en-US" sz="2000" b="1" dirty="0">
                <a:latin typeface="Aptos" panose="020B0004020202020204" pitchFamily="34" charset="0"/>
              </a:rPr>
              <a:t>Biochemistry analyzers</a:t>
            </a:r>
            <a:endParaRPr lang="en-US" sz="2000" dirty="0">
              <a:latin typeface="Aptos" panose="020B0004020202020204" pitchFamily="34" charset="0"/>
            </a:endParaRPr>
          </a:p>
          <a:p>
            <a:pPr lvl="1"/>
            <a:r>
              <a:rPr lang="en-US" sz="1600" dirty="0">
                <a:latin typeface="Aptos" panose="020B0004020202020204" pitchFamily="34" charset="0"/>
              </a:rPr>
              <a:t>Exploit a chemical reaction driven by specific enzymes (e.g., glucose-oxidase)</a:t>
            </a:r>
          </a:p>
          <a:p>
            <a:pPr lvl="1"/>
            <a:r>
              <a:rPr lang="en-US" sz="1600" dirty="0">
                <a:latin typeface="Aptos" panose="020B0004020202020204" pitchFamily="34" charset="0"/>
              </a:rPr>
              <a:t>Invasive (blood sample required), only sparse measurements possible</a:t>
            </a:r>
          </a:p>
          <a:p>
            <a:pPr marL="0" indent="0" algn="ctr">
              <a:buNone/>
            </a:pPr>
            <a:endParaRPr lang="en-US" sz="2000" dirty="0">
              <a:latin typeface="Aptos" panose="020B0004020202020204" pitchFamily="34" charset="0"/>
            </a:endParaRPr>
          </a:p>
          <a:p>
            <a:pPr marL="0" indent="0" algn="ctr">
              <a:buNone/>
            </a:pPr>
            <a:r>
              <a:rPr lang="en-US" sz="2000" u="sng" dirty="0">
                <a:latin typeface="Aptos" panose="020B0004020202020204" pitchFamily="34" charset="0"/>
              </a:rPr>
              <a:t>At home: </a:t>
            </a:r>
          </a:p>
          <a:p>
            <a:r>
              <a:rPr lang="en-US" sz="2000" b="1" dirty="0">
                <a:latin typeface="Aptos" panose="020B0004020202020204" pitchFamily="34" charset="0"/>
              </a:rPr>
              <a:t>Self-monitoring of blood glucose (SMBG) or glucometer</a:t>
            </a:r>
            <a:r>
              <a:rPr lang="en-US" sz="2000" dirty="0">
                <a:latin typeface="Aptos" panose="020B0004020202020204" pitchFamily="34" charset="0"/>
              </a:rPr>
              <a:t>: </a:t>
            </a:r>
          </a:p>
          <a:p>
            <a:pPr lvl="1"/>
            <a:r>
              <a:rPr lang="en-US" sz="1600" dirty="0">
                <a:latin typeface="Aptos" panose="020B0004020202020204" pitchFamily="34" charset="0"/>
              </a:rPr>
              <a:t>drop of capillary blood collected by </a:t>
            </a:r>
            <a:r>
              <a:rPr lang="en-US" sz="1600" dirty="0" err="1">
                <a:latin typeface="Aptos" panose="020B0004020202020204" pitchFamily="34" charset="0"/>
              </a:rPr>
              <a:t>fingerprick</a:t>
            </a:r>
            <a:r>
              <a:rPr lang="en-US" sz="1600" dirty="0">
                <a:latin typeface="Aptos" panose="020B0004020202020204" pitchFamily="34" charset="0"/>
              </a:rPr>
              <a:t> and put in a test strip </a:t>
            </a:r>
          </a:p>
          <a:p>
            <a:pPr lvl="1"/>
            <a:r>
              <a:rPr lang="en-US" sz="1600" dirty="0">
                <a:latin typeface="Aptos" panose="020B0004020202020204" pitchFamily="34" charset="0"/>
              </a:rPr>
              <a:t>a portable glucose analyzer, through an electrochemical sensor, detects the BG concentration in the capillary blood</a:t>
            </a:r>
          </a:p>
          <a:p>
            <a:pPr lvl="1"/>
            <a:r>
              <a:rPr lang="en-US" sz="1600" dirty="0">
                <a:latin typeface="Aptos" panose="020B0004020202020204" pitchFamily="34" charset="0"/>
              </a:rPr>
              <a:t>Minimally-invasive but not wearable: only sparse measurements possible (e.g., 3-4 per day)</a:t>
            </a:r>
          </a:p>
        </p:txBody>
      </p:sp>
      <p:pic>
        <p:nvPicPr>
          <p:cNvPr id="3" name="Immagin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54626" y="2881202"/>
            <a:ext cx="1748917" cy="1781579"/>
          </a:xfrm>
          <a:prstGeom prst="rect">
            <a:avLst/>
          </a:prstGeom>
        </p:spPr>
      </p:pic>
      <p:sp>
        <p:nvSpPr>
          <p:cNvPr id="2" name="Segnaposto numero diapositiva 1"/>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357725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normAutofit fontScale="90000"/>
          </a:bodyPr>
          <a:lstStyle/>
          <a:p>
            <a:r>
              <a:rPr lang="en-US" dirty="0"/>
              <a:t>Examples of biomedical wearable technologies</a:t>
            </a:r>
            <a:br>
              <a:rPr lang="en-US" dirty="0"/>
            </a:br>
            <a:r>
              <a:rPr lang="en-US" dirty="0"/>
              <a:t>Glucose monitoring sensors</a:t>
            </a:r>
          </a:p>
        </p:txBody>
      </p:sp>
      <p:sp>
        <p:nvSpPr>
          <p:cNvPr id="6" name="Segnaposto contenuto 5"/>
          <p:cNvSpPr>
            <a:spLocks noGrp="1"/>
          </p:cNvSpPr>
          <p:nvPr>
            <p:ph idx="1"/>
          </p:nvPr>
        </p:nvSpPr>
        <p:spPr>
          <a:xfrm>
            <a:off x="428172" y="1553369"/>
            <a:ext cx="6277428" cy="4525244"/>
          </a:xfrm>
        </p:spPr>
        <p:txBody>
          <a:bodyPr>
            <a:normAutofit/>
          </a:bodyPr>
          <a:lstStyle/>
          <a:p>
            <a:r>
              <a:rPr lang="en-US" sz="2000" b="1" dirty="0"/>
              <a:t>Continuous glucose monitoring (CGM) sensors</a:t>
            </a:r>
          </a:p>
          <a:p>
            <a:pPr lvl="1"/>
            <a:r>
              <a:rPr lang="en-US" dirty="0"/>
              <a:t>Minimally-invasive sensors measuring glucose concentration in the interstitial fluid at almost continuous time (e.g., every 5 min) for several consecutive days (e.g., 10 days)</a:t>
            </a:r>
          </a:p>
          <a:p>
            <a:pPr lvl="1"/>
            <a:r>
              <a:rPr lang="en-US" dirty="0"/>
              <a:t>Needle electrode placed under the skin, exploiting glucose oxidation reaction</a:t>
            </a:r>
          </a:p>
          <a:p>
            <a:pPr lvl="1"/>
            <a:r>
              <a:rPr lang="en-US" dirty="0"/>
              <a:t>The transmitter, placed over the electrode, wirelessly transfers the measured data to a portable display device</a:t>
            </a:r>
          </a:p>
          <a:p>
            <a:pPr lvl="1"/>
            <a:r>
              <a:rPr lang="en-US" dirty="0"/>
              <a:t>Mainly used in people with type 1 diabetes</a:t>
            </a:r>
          </a:p>
          <a:p>
            <a:pPr lvl="1"/>
            <a:endParaRPr lang="en-US" sz="1600" dirty="0"/>
          </a:p>
        </p:txBody>
      </p:sp>
      <p:pic>
        <p:nvPicPr>
          <p:cNvPr id="2" name="Immagin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6714" y="4110681"/>
            <a:ext cx="3496468" cy="1967932"/>
          </a:xfrm>
          <a:prstGeom prst="rect">
            <a:avLst/>
          </a:prstGeom>
        </p:spPr>
      </p:pic>
      <p:pic>
        <p:nvPicPr>
          <p:cNvPr id="8" name="Immagin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7859" y="1553369"/>
            <a:ext cx="3209062" cy="2253555"/>
          </a:xfrm>
          <a:prstGeom prst="rect">
            <a:avLst/>
          </a:prstGeom>
        </p:spPr>
      </p:pic>
      <p:pic>
        <p:nvPicPr>
          <p:cNvPr id="9" name="Immagin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6921" y="1629682"/>
            <a:ext cx="1832219" cy="1873485"/>
          </a:xfrm>
          <a:prstGeom prst="rect">
            <a:avLst/>
          </a:prstGeom>
        </p:spPr>
      </p:pic>
      <p:sp>
        <p:nvSpPr>
          <p:cNvPr id="3" name="Segnaposto numero diapositiva 2"/>
          <p:cNvSpPr>
            <a:spLocks noGrp="1"/>
          </p:cNvSpPr>
          <p:nvPr>
            <p:ph type="sldNum" sz="quarter" idx="12"/>
          </p:nvPr>
        </p:nvSpPr>
        <p:spPr/>
        <p:txBody>
          <a:bodyPr/>
          <a:lstStyle/>
          <a:p>
            <a:fld id="{31DE2C5B-556E-47B8-A792-024C2FCA4ACC}" type="slidenum">
              <a:rPr lang="en-GB" smtClean="0"/>
              <a:t>10</a:t>
            </a:fld>
            <a:endParaRPr lang="en-GB"/>
          </a:p>
        </p:txBody>
      </p:sp>
    </p:spTree>
    <p:extLst>
      <p:ext uri="{BB962C8B-B14F-4D97-AF65-F5344CB8AC3E}">
        <p14:creationId xmlns:p14="http://schemas.microsoft.com/office/powerpoint/2010/main" val="4240518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Modern wearable technologies become </a:t>
            </a:r>
            <a:r>
              <a:rPr lang="en-US" dirty="0" err="1"/>
              <a:t>IoT</a:t>
            </a:r>
            <a:endParaRPr lang="en-US" dirty="0"/>
          </a:p>
        </p:txBody>
      </p:sp>
      <p:sp>
        <p:nvSpPr>
          <p:cNvPr id="5" name="Segnaposto contenuto 5"/>
          <p:cNvSpPr>
            <a:spLocks noGrp="1"/>
          </p:cNvSpPr>
          <p:nvPr>
            <p:ph idx="1"/>
          </p:nvPr>
        </p:nvSpPr>
        <p:spPr>
          <a:xfrm>
            <a:off x="428172" y="1361167"/>
            <a:ext cx="11368314" cy="4858203"/>
          </a:xfrm>
        </p:spPr>
        <p:txBody>
          <a:bodyPr/>
          <a:lstStyle/>
          <a:p>
            <a:r>
              <a:rPr lang="en-US" dirty="0"/>
              <a:t>Modern wearable sensors can wirelessly connect to internet-connected devices, such as smartphones, by which the user can share their data with other people (e.g., doctor or family/friends) and upload them in the cloud   </a:t>
            </a:r>
          </a:p>
        </p:txBody>
      </p:sp>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041" y="2973801"/>
            <a:ext cx="3711080" cy="2968864"/>
          </a:xfrm>
          <a:prstGeom prst="rect">
            <a:avLst/>
          </a:prstGeom>
        </p:spPr>
      </p:pic>
      <p:pic>
        <p:nvPicPr>
          <p:cNvPr id="6" name="Immagin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3091" y="2973801"/>
            <a:ext cx="4456573" cy="2968864"/>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2942485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The architecture of wearable </a:t>
            </a:r>
            <a:r>
              <a:rPr lang="en-US" dirty="0" err="1"/>
              <a:t>IoT</a:t>
            </a:r>
            <a:r>
              <a:rPr lang="en-US" dirty="0"/>
              <a:t> systems</a:t>
            </a:r>
          </a:p>
        </p:txBody>
      </p:sp>
      <p:sp>
        <p:nvSpPr>
          <p:cNvPr id="4" name="Rettangolo arrotondato 3"/>
          <p:cNvSpPr/>
          <p:nvPr/>
        </p:nvSpPr>
        <p:spPr>
          <a:xfrm>
            <a:off x="586154" y="5457092"/>
            <a:ext cx="10861431" cy="1260000"/>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 name="CasellaDiTesto 4"/>
          <p:cNvSpPr txBox="1"/>
          <p:nvPr/>
        </p:nvSpPr>
        <p:spPr>
          <a:xfrm>
            <a:off x="658166" y="5902426"/>
            <a:ext cx="2620108" cy="369332"/>
          </a:xfrm>
          <a:prstGeom prst="rect">
            <a:avLst/>
          </a:prstGeom>
          <a:noFill/>
        </p:spPr>
        <p:txBody>
          <a:bodyPr wrap="square" rtlCol="0">
            <a:spAutoFit/>
          </a:bodyPr>
          <a:lstStyle/>
          <a:p>
            <a:r>
              <a:rPr lang="it-IT" b="1" dirty="0">
                <a:latin typeface="Aptos" panose="020B0004020202020204" pitchFamily="34" charset="0"/>
              </a:rPr>
              <a:t>1. </a:t>
            </a:r>
            <a:r>
              <a:rPr lang="it-IT" b="1" dirty="0" err="1">
                <a:latin typeface="Aptos" panose="020B0004020202020204" pitchFamily="34" charset="0"/>
              </a:rPr>
              <a:t>Sensing</a:t>
            </a:r>
            <a:r>
              <a:rPr lang="it-IT" b="1" dirty="0">
                <a:latin typeface="Aptos" panose="020B0004020202020204" pitchFamily="34" charset="0"/>
              </a:rPr>
              <a:t> </a:t>
            </a:r>
            <a:r>
              <a:rPr lang="it-IT" b="1" dirty="0" err="1">
                <a:latin typeface="Aptos" panose="020B0004020202020204" pitchFamily="34" charset="0"/>
              </a:rPr>
              <a:t>layer</a:t>
            </a:r>
            <a:endParaRPr lang="en-GB" b="1" dirty="0">
              <a:latin typeface="Aptos" panose="020B0004020202020204" pitchFamily="34" charset="0"/>
            </a:endParaRPr>
          </a:p>
        </p:txBody>
      </p:sp>
      <p:sp>
        <p:nvSpPr>
          <p:cNvPr id="6" name="Rettangolo arrotondato 5"/>
          <p:cNvSpPr/>
          <p:nvPr/>
        </p:nvSpPr>
        <p:spPr>
          <a:xfrm>
            <a:off x="586154" y="4091374"/>
            <a:ext cx="10861431" cy="1260000"/>
          </a:xfrm>
          <a:prstGeom prst="round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CasellaDiTesto 6"/>
          <p:cNvSpPr txBox="1"/>
          <p:nvPr/>
        </p:nvSpPr>
        <p:spPr>
          <a:xfrm>
            <a:off x="658166" y="4536708"/>
            <a:ext cx="2620108" cy="369332"/>
          </a:xfrm>
          <a:prstGeom prst="rect">
            <a:avLst/>
          </a:prstGeom>
          <a:noFill/>
        </p:spPr>
        <p:txBody>
          <a:bodyPr wrap="square" rtlCol="0">
            <a:spAutoFit/>
          </a:bodyPr>
          <a:lstStyle/>
          <a:p>
            <a:r>
              <a:rPr lang="it-IT" b="1" dirty="0">
                <a:latin typeface="Aptos" panose="020B0004020202020204" pitchFamily="34" charset="0"/>
              </a:rPr>
              <a:t>2. Network </a:t>
            </a:r>
            <a:r>
              <a:rPr lang="it-IT" b="1" dirty="0" err="1">
                <a:latin typeface="Aptos" panose="020B0004020202020204" pitchFamily="34" charset="0"/>
              </a:rPr>
              <a:t>layer</a:t>
            </a:r>
            <a:endParaRPr lang="en-GB" b="1" dirty="0">
              <a:latin typeface="Aptos" panose="020B0004020202020204" pitchFamily="34" charset="0"/>
            </a:endParaRPr>
          </a:p>
        </p:txBody>
      </p:sp>
      <p:sp>
        <p:nvSpPr>
          <p:cNvPr id="8" name="Rettangolo arrotondato 7"/>
          <p:cNvSpPr/>
          <p:nvPr/>
        </p:nvSpPr>
        <p:spPr>
          <a:xfrm>
            <a:off x="586153" y="2719790"/>
            <a:ext cx="10861431" cy="1260000"/>
          </a:xfrm>
          <a:prstGeom prst="round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9" name="CasellaDiTesto 8"/>
          <p:cNvSpPr txBox="1"/>
          <p:nvPr/>
        </p:nvSpPr>
        <p:spPr>
          <a:xfrm>
            <a:off x="666143" y="3037008"/>
            <a:ext cx="2804745" cy="646331"/>
          </a:xfrm>
          <a:prstGeom prst="rect">
            <a:avLst/>
          </a:prstGeom>
          <a:noFill/>
        </p:spPr>
        <p:txBody>
          <a:bodyPr wrap="square" rtlCol="0">
            <a:spAutoFit/>
          </a:bodyPr>
          <a:lstStyle/>
          <a:p>
            <a:r>
              <a:rPr lang="it-IT" b="1" dirty="0">
                <a:latin typeface="Aptos" panose="020B0004020202020204" pitchFamily="34" charset="0"/>
              </a:rPr>
              <a:t>3. Data </a:t>
            </a:r>
            <a:r>
              <a:rPr lang="it-IT" b="1" dirty="0" err="1">
                <a:latin typeface="Aptos" panose="020B0004020202020204" pitchFamily="34" charset="0"/>
              </a:rPr>
              <a:t>storing</a:t>
            </a:r>
            <a:r>
              <a:rPr lang="it-IT" b="1" dirty="0">
                <a:latin typeface="Aptos" panose="020B0004020202020204" pitchFamily="34" charset="0"/>
              </a:rPr>
              <a:t> and processing </a:t>
            </a:r>
            <a:r>
              <a:rPr lang="it-IT" b="1" dirty="0" err="1">
                <a:latin typeface="Aptos" panose="020B0004020202020204" pitchFamily="34" charset="0"/>
              </a:rPr>
              <a:t>layer</a:t>
            </a:r>
            <a:endParaRPr lang="en-GB" b="1" dirty="0">
              <a:latin typeface="Aptos" panose="020B0004020202020204" pitchFamily="34" charset="0"/>
            </a:endParaRPr>
          </a:p>
        </p:txBody>
      </p:sp>
      <p:sp>
        <p:nvSpPr>
          <p:cNvPr id="10" name="Rettangolo arrotondato 9"/>
          <p:cNvSpPr/>
          <p:nvPr/>
        </p:nvSpPr>
        <p:spPr>
          <a:xfrm>
            <a:off x="586153" y="1331674"/>
            <a:ext cx="10796954" cy="1260000"/>
          </a:xfrm>
          <a:prstGeom prst="roundRect">
            <a:avLst/>
          </a:prstGeom>
          <a:no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1" name="CasellaDiTesto 10"/>
          <p:cNvSpPr txBox="1"/>
          <p:nvPr/>
        </p:nvSpPr>
        <p:spPr>
          <a:xfrm>
            <a:off x="658166" y="1777008"/>
            <a:ext cx="2620108" cy="369332"/>
          </a:xfrm>
          <a:prstGeom prst="rect">
            <a:avLst/>
          </a:prstGeom>
          <a:noFill/>
        </p:spPr>
        <p:txBody>
          <a:bodyPr wrap="square" rtlCol="0">
            <a:spAutoFit/>
          </a:bodyPr>
          <a:lstStyle/>
          <a:p>
            <a:r>
              <a:rPr lang="it-IT" b="1" dirty="0">
                <a:latin typeface="Aptos" panose="020B0004020202020204" pitchFamily="34" charset="0"/>
              </a:rPr>
              <a:t>4. Application </a:t>
            </a:r>
            <a:r>
              <a:rPr lang="it-IT" b="1" dirty="0" err="1">
                <a:latin typeface="Aptos" panose="020B0004020202020204" pitchFamily="34" charset="0"/>
              </a:rPr>
              <a:t>layer</a:t>
            </a:r>
            <a:endParaRPr lang="en-GB" b="1" dirty="0">
              <a:latin typeface="Aptos" panose="020B0004020202020204" pitchFamily="34" charset="0"/>
            </a:endParaRPr>
          </a:p>
        </p:txBody>
      </p:sp>
      <p:sp>
        <p:nvSpPr>
          <p:cNvPr id="12" name="CasellaDiTesto 11"/>
          <p:cNvSpPr txBox="1"/>
          <p:nvPr/>
        </p:nvSpPr>
        <p:spPr>
          <a:xfrm>
            <a:off x="3206262" y="1488831"/>
            <a:ext cx="1453661" cy="369332"/>
          </a:xfrm>
          <a:prstGeom prst="rect">
            <a:avLst/>
          </a:prstGeom>
          <a:noFill/>
        </p:spPr>
        <p:txBody>
          <a:bodyPr wrap="square" rtlCol="0">
            <a:spAutoFit/>
          </a:bodyPr>
          <a:lstStyle/>
          <a:p>
            <a:r>
              <a:rPr lang="it-IT" dirty="0">
                <a:latin typeface="Aptos" panose="020B0004020202020204" pitchFamily="34" charset="0"/>
              </a:rPr>
              <a:t>Alerts</a:t>
            </a:r>
            <a:endParaRPr lang="en-GB" dirty="0">
              <a:latin typeface="Aptos" panose="020B0004020202020204" pitchFamily="34" charset="0"/>
            </a:endParaRPr>
          </a:p>
        </p:txBody>
      </p:sp>
      <p:sp>
        <p:nvSpPr>
          <p:cNvPr id="13" name="CasellaDiTesto 12"/>
          <p:cNvSpPr txBox="1"/>
          <p:nvPr/>
        </p:nvSpPr>
        <p:spPr>
          <a:xfrm>
            <a:off x="4654063" y="1488831"/>
            <a:ext cx="2344614" cy="369332"/>
          </a:xfrm>
          <a:prstGeom prst="rect">
            <a:avLst/>
          </a:prstGeom>
          <a:noFill/>
        </p:spPr>
        <p:txBody>
          <a:bodyPr wrap="square" rtlCol="0">
            <a:spAutoFit/>
          </a:bodyPr>
          <a:lstStyle/>
          <a:p>
            <a:r>
              <a:rPr lang="it-IT" dirty="0" err="1">
                <a:latin typeface="Aptos" panose="020B0004020202020204" pitchFamily="34" charset="0"/>
              </a:rPr>
              <a:t>Decision-support</a:t>
            </a:r>
            <a:endParaRPr lang="en-GB" dirty="0">
              <a:latin typeface="Aptos" panose="020B0004020202020204" pitchFamily="34" charset="0"/>
            </a:endParaRPr>
          </a:p>
        </p:txBody>
      </p:sp>
      <p:sp>
        <p:nvSpPr>
          <p:cNvPr id="14" name="CasellaDiTesto 13"/>
          <p:cNvSpPr txBox="1"/>
          <p:nvPr/>
        </p:nvSpPr>
        <p:spPr>
          <a:xfrm>
            <a:off x="6998677" y="1488831"/>
            <a:ext cx="1260231" cy="369332"/>
          </a:xfrm>
          <a:prstGeom prst="rect">
            <a:avLst/>
          </a:prstGeom>
          <a:noFill/>
        </p:spPr>
        <p:txBody>
          <a:bodyPr wrap="square" rtlCol="0">
            <a:spAutoFit/>
          </a:bodyPr>
          <a:lstStyle/>
          <a:p>
            <a:r>
              <a:rPr lang="it-IT" dirty="0" err="1">
                <a:latin typeface="Aptos" panose="020B0004020202020204" pitchFamily="34" charset="0"/>
              </a:rPr>
              <a:t>Event</a:t>
            </a:r>
            <a:r>
              <a:rPr lang="it-IT" dirty="0">
                <a:latin typeface="Aptos" panose="020B0004020202020204" pitchFamily="34" charset="0"/>
              </a:rPr>
              <a:t> log</a:t>
            </a:r>
            <a:endParaRPr lang="en-GB" dirty="0">
              <a:latin typeface="Aptos" panose="020B0004020202020204" pitchFamily="34" charset="0"/>
            </a:endParaRPr>
          </a:p>
        </p:txBody>
      </p:sp>
      <p:sp>
        <p:nvSpPr>
          <p:cNvPr id="15" name="CasellaDiTesto 14"/>
          <p:cNvSpPr txBox="1"/>
          <p:nvPr/>
        </p:nvSpPr>
        <p:spPr>
          <a:xfrm>
            <a:off x="8991601" y="1501647"/>
            <a:ext cx="2086707" cy="369332"/>
          </a:xfrm>
          <a:prstGeom prst="rect">
            <a:avLst/>
          </a:prstGeom>
          <a:noFill/>
        </p:spPr>
        <p:txBody>
          <a:bodyPr wrap="square" rtlCol="0">
            <a:spAutoFit/>
          </a:bodyPr>
          <a:lstStyle/>
          <a:p>
            <a:r>
              <a:rPr lang="it-IT" dirty="0">
                <a:latin typeface="Aptos" panose="020B0004020202020204" pitchFamily="34" charset="0"/>
              </a:rPr>
              <a:t>Self-management</a:t>
            </a:r>
            <a:endParaRPr lang="en-GB" dirty="0">
              <a:latin typeface="Aptos" panose="020B0004020202020204" pitchFamily="34" charset="0"/>
            </a:endParaRPr>
          </a:p>
        </p:txBody>
      </p:sp>
      <p:sp>
        <p:nvSpPr>
          <p:cNvPr id="16" name="CasellaDiTesto 15"/>
          <p:cNvSpPr txBox="1"/>
          <p:nvPr/>
        </p:nvSpPr>
        <p:spPr>
          <a:xfrm>
            <a:off x="5701662" y="2801335"/>
            <a:ext cx="1922585" cy="369332"/>
          </a:xfrm>
          <a:prstGeom prst="rect">
            <a:avLst/>
          </a:prstGeom>
          <a:noFill/>
        </p:spPr>
        <p:txBody>
          <a:bodyPr wrap="square" rtlCol="0">
            <a:spAutoFit/>
          </a:bodyPr>
          <a:lstStyle/>
          <a:p>
            <a:r>
              <a:rPr lang="it-IT" dirty="0">
                <a:latin typeface="Aptos" panose="020B0004020202020204" pitchFamily="34" charset="0"/>
              </a:rPr>
              <a:t>Data </a:t>
            </a:r>
            <a:r>
              <a:rPr lang="it-IT" dirty="0" err="1">
                <a:latin typeface="Aptos" panose="020B0004020202020204" pitchFamily="34" charset="0"/>
              </a:rPr>
              <a:t>analyses</a:t>
            </a:r>
            <a:endParaRPr lang="en-GB" dirty="0">
              <a:latin typeface="Aptos" panose="020B0004020202020204" pitchFamily="34" charset="0"/>
            </a:endParaRPr>
          </a:p>
        </p:txBody>
      </p:sp>
      <p:sp>
        <p:nvSpPr>
          <p:cNvPr id="17" name="CasellaDiTesto 16"/>
          <p:cNvSpPr txBox="1"/>
          <p:nvPr/>
        </p:nvSpPr>
        <p:spPr>
          <a:xfrm>
            <a:off x="8302649" y="2811852"/>
            <a:ext cx="3845171" cy="369332"/>
          </a:xfrm>
          <a:prstGeom prst="rect">
            <a:avLst/>
          </a:prstGeom>
          <a:noFill/>
        </p:spPr>
        <p:txBody>
          <a:bodyPr wrap="square" rtlCol="0">
            <a:spAutoFit/>
          </a:bodyPr>
          <a:lstStyle/>
          <a:p>
            <a:pPr algn="ctr"/>
            <a:r>
              <a:rPr lang="it-IT" dirty="0" err="1">
                <a:latin typeface="Aptos" panose="020B0004020202020204" pitchFamily="34" charset="0"/>
              </a:rPr>
              <a:t>Modeling</a:t>
            </a:r>
            <a:r>
              <a:rPr lang="it-IT" dirty="0">
                <a:latin typeface="Aptos" panose="020B0004020202020204" pitchFamily="34" charset="0"/>
              </a:rPr>
              <a:t> </a:t>
            </a:r>
          </a:p>
        </p:txBody>
      </p:sp>
      <p:sp>
        <p:nvSpPr>
          <p:cNvPr id="18" name="CasellaDiTesto 17"/>
          <p:cNvSpPr txBox="1"/>
          <p:nvPr/>
        </p:nvSpPr>
        <p:spPr>
          <a:xfrm>
            <a:off x="7527578" y="2808458"/>
            <a:ext cx="2819399" cy="369332"/>
          </a:xfrm>
          <a:prstGeom prst="rect">
            <a:avLst/>
          </a:prstGeom>
          <a:noFill/>
        </p:spPr>
        <p:txBody>
          <a:bodyPr wrap="square" rtlCol="0">
            <a:spAutoFit/>
          </a:bodyPr>
          <a:lstStyle/>
          <a:p>
            <a:r>
              <a:rPr lang="it-IT" dirty="0" err="1">
                <a:latin typeface="Aptos" panose="020B0004020202020204" pitchFamily="34" charset="0"/>
              </a:rPr>
              <a:t>Signal</a:t>
            </a:r>
            <a:r>
              <a:rPr lang="it-IT" dirty="0">
                <a:latin typeface="Aptos" panose="020B0004020202020204" pitchFamily="34" charset="0"/>
              </a:rPr>
              <a:t> processing</a:t>
            </a:r>
            <a:endParaRPr lang="en-GB" dirty="0">
              <a:latin typeface="Aptos" panose="020B0004020202020204" pitchFamily="34" charset="0"/>
            </a:endParaRPr>
          </a:p>
        </p:txBody>
      </p:sp>
      <p:sp>
        <p:nvSpPr>
          <p:cNvPr id="19" name="CasellaDiTesto 18"/>
          <p:cNvSpPr txBox="1"/>
          <p:nvPr/>
        </p:nvSpPr>
        <p:spPr>
          <a:xfrm>
            <a:off x="2642052" y="4178031"/>
            <a:ext cx="2442348" cy="369332"/>
          </a:xfrm>
          <a:prstGeom prst="rect">
            <a:avLst/>
          </a:prstGeom>
          <a:noFill/>
        </p:spPr>
        <p:txBody>
          <a:bodyPr wrap="square" rtlCol="0">
            <a:spAutoFit/>
          </a:bodyPr>
          <a:lstStyle/>
          <a:p>
            <a:pPr algn="ctr"/>
            <a:r>
              <a:rPr lang="it-IT" dirty="0">
                <a:latin typeface="Aptos" panose="020B0004020202020204" pitchFamily="34" charset="0"/>
              </a:rPr>
              <a:t>Gateway </a:t>
            </a:r>
            <a:r>
              <a:rPr lang="it-IT" dirty="0" err="1">
                <a:latin typeface="Aptos" panose="020B0004020202020204" pitchFamily="34" charset="0"/>
              </a:rPr>
              <a:t>device</a:t>
            </a:r>
            <a:endParaRPr lang="en-GB" dirty="0">
              <a:latin typeface="Aptos" panose="020B0004020202020204" pitchFamily="34" charset="0"/>
            </a:endParaRPr>
          </a:p>
        </p:txBody>
      </p:sp>
      <p:sp>
        <p:nvSpPr>
          <p:cNvPr id="20" name="CasellaDiTesto 19"/>
          <p:cNvSpPr txBox="1"/>
          <p:nvPr/>
        </p:nvSpPr>
        <p:spPr>
          <a:xfrm>
            <a:off x="5704075" y="4141499"/>
            <a:ext cx="1922585" cy="646331"/>
          </a:xfrm>
          <a:prstGeom prst="rect">
            <a:avLst/>
          </a:prstGeom>
          <a:noFill/>
        </p:spPr>
        <p:txBody>
          <a:bodyPr wrap="square" rtlCol="0">
            <a:spAutoFit/>
          </a:bodyPr>
          <a:lstStyle/>
          <a:p>
            <a:r>
              <a:rPr lang="it-IT" dirty="0" err="1">
                <a:latin typeface="Aptos" panose="020B0004020202020204" pitchFamily="34" charset="0"/>
              </a:rPr>
              <a:t>WiFi</a:t>
            </a:r>
            <a:r>
              <a:rPr lang="it-IT" dirty="0">
                <a:latin typeface="Aptos" panose="020B0004020202020204" pitchFamily="34" charset="0"/>
              </a:rPr>
              <a:t>, </a:t>
            </a:r>
          </a:p>
          <a:p>
            <a:r>
              <a:rPr lang="it-IT" dirty="0">
                <a:latin typeface="Aptos" panose="020B0004020202020204" pitchFamily="34" charset="0"/>
              </a:rPr>
              <a:t>Router </a:t>
            </a:r>
            <a:endParaRPr lang="en-GB" dirty="0">
              <a:latin typeface="Aptos" panose="020B0004020202020204" pitchFamily="34" charset="0"/>
            </a:endParaRPr>
          </a:p>
        </p:txBody>
      </p:sp>
      <p:sp>
        <p:nvSpPr>
          <p:cNvPr id="22" name="CasellaDiTesto 21"/>
          <p:cNvSpPr txBox="1"/>
          <p:nvPr/>
        </p:nvSpPr>
        <p:spPr>
          <a:xfrm>
            <a:off x="9174823" y="4234017"/>
            <a:ext cx="1922585" cy="369332"/>
          </a:xfrm>
          <a:prstGeom prst="rect">
            <a:avLst/>
          </a:prstGeom>
          <a:noFill/>
        </p:spPr>
        <p:txBody>
          <a:bodyPr wrap="square" rtlCol="0">
            <a:spAutoFit/>
          </a:bodyPr>
          <a:lstStyle/>
          <a:p>
            <a:r>
              <a:rPr lang="it-IT" dirty="0">
                <a:latin typeface="Aptos" panose="020B0004020202020204" pitchFamily="34" charset="0"/>
              </a:rPr>
              <a:t>Internet</a:t>
            </a:r>
            <a:endParaRPr lang="en-GB" dirty="0">
              <a:latin typeface="Aptos" panose="020B0004020202020204" pitchFamily="34" charset="0"/>
            </a:endParaRPr>
          </a:p>
        </p:txBody>
      </p:sp>
      <p:sp>
        <p:nvSpPr>
          <p:cNvPr id="23" name="CasellaDiTesto 22"/>
          <p:cNvSpPr txBox="1"/>
          <p:nvPr/>
        </p:nvSpPr>
        <p:spPr>
          <a:xfrm>
            <a:off x="6187264" y="5525689"/>
            <a:ext cx="1541585" cy="369332"/>
          </a:xfrm>
          <a:prstGeom prst="rect">
            <a:avLst/>
          </a:prstGeom>
          <a:noFill/>
        </p:spPr>
        <p:txBody>
          <a:bodyPr wrap="square" rtlCol="0">
            <a:spAutoFit/>
          </a:bodyPr>
          <a:lstStyle/>
          <a:p>
            <a:r>
              <a:rPr lang="it-IT" dirty="0" err="1">
                <a:latin typeface="Aptos" panose="020B0004020202020204" pitchFamily="34" charset="0"/>
              </a:rPr>
              <a:t>Sensors</a:t>
            </a:r>
            <a:endParaRPr lang="en-GB" sz="2400" dirty="0">
              <a:latin typeface="Aptos" panose="020B0004020202020204" pitchFamily="34" charset="0"/>
            </a:endParaRPr>
          </a:p>
        </p:txBody>
      </p:sp>
      <p:sp>
        <p:nvSpPr>
          <p:cNvPr id="24" name="CasellaDiTesto 23"/>
          <p:cNvSpPr txBox="1"/>
          <p:nvPr/>
        </p:nvSpPr>
        <p:spPr>
          <a:xfrm>
            <a:off x="3114146" y="5660879"/>
            <a:ext cx="2086711" cy="307777"/>
          </a:xfrm>
          <a:prstGeom prst="rect">
            <a:avLst/>
          </a:prstGeom>
          <a:noFill/>
        </p:spPr>
        <p:txBody>
          <a:bodyPr wrap="square" rtlCol="0">
            <a:spAutoFit/>
          </a:bodyPr>
          <a:lstStyle/>
          <a:p>
            <a:r>
              <a:rPr lang="it-IT" sz="1400" dirty="0">
                <a:latin typeface="Aptos" panose="020B0004020202020204" pitchFamily="34" charset="0"/>
              </a:rPr>
              <a:t>Activity </a:t>
            </a:r>
            <a:r>
              <a:rPr lang="it-IT" sz="1400" dirty="0" err="1">
                <a:latin typeface="Aptos" panose="020B0004020202020204" pitchFamily="34" charset="0"/>
              </a:rPr>
              <a:t>tracker</a:t>
            </a:r>
            <a:endParaRPr lang="en-GB" sz="1400" dirty="0">
              <a:latin typeface="Aptos" panose="020B0004020202020204" pitchFamily="34" charset="0"/>
            </a:endParaRPr>
          </a:p>
        </p:txBody>
      </p:sp>
      <p:sp>
        <p:nvSpPr>
          <p:cNvPr id="25" name="CasellaDiTesto 24"/>
          <p:cNvSpPr txBox="1"/>
          <p:nvPr/>
        </p:nvSpPr>
        <p:spPr>
          <a:xfrm>
            <a:off x="5068973" y="6332950"/>
            <a:ext cx="2086711" cy="307777"/>
          </a:xfrm>
          <a:prstGeom prst="rect">
            <a:avLst/>
          </a:prstGeom>
          <a:noFill/>
        </p:spPr>
        <p:txBody>
          <a:bodyPr wrap="square" rtlCol="0">
            <a:spAutoFit/>
          </a:bodyPr>
          <a:lstStyle/>
          <a:p>
            <a:r>
              <a:rPr lang="it-IT" sz="1400" dirty="0">
                <a:latin typeface="Aptos" panose="020B0004020202020204" pitchFamily="34" charset="0"/>
              </a:rPr>
              <a:t>Blood pressure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6" name="CasellaDiTesto 25"/>
          <p:cNvSpPr txBox="1"/>
          <p:nvPr/>
        </p:nvSpPr>
        <p:spPr>
          <a:xfrm>
            <a:off x="7728849" y="5701229"/>
            <a:ext cx="2086711" cy="307777"/>
          </a:xfrm>
          <a:prstGeom prst="rect">
            <a:avLst/>
          </a:prstGeom>
          <a:noFill/>
        </p:spPr>
        <p:txBody>
          <a:bodyPr wrap="square" rtlCol="0">
            <a:spAutoFit/>
          </a:bodyPr>
          <a:lstStyle/>
          <a:p>
            <a:r>
              <a:rPr lang="it-IT" sz="1400" dirty="0">
                <a:latin typeface="Aptos" panose="020B0004020202020204" pitchFamily="34" charset="0"/>
              </a:rPr>
              <a:t>ECG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7" name="CasellaDiTesto 26"/>
          <p:cNvSpPr txBox="1"/>
          <p:nvPr/>
        </p:nvSpPr>
        <p:spPr>
          <a:xfrm>
            <a:off x="9709775" y="6332949"/>
            <a:ext cx="2086711" cy="307777"/>
          </a:xfrm>
          <a:prstGeom prst="rect">
            <a:avLst/>
          </a:prstGeom>
          <a:noFill/>
        </p:spPr>
        <p:txBody>
          <a:bodyPr wrap="square" rtlCol="0">
            <a:spAutoFit/>
          </a:bodyPr>
          <a:lstStyle/>
          <a:p>
            <a:r>
              <a:rPr lang="it-IT" sz="1400" dirty="0" err="1">
                <a:latin typeface="Aptos" panose="020B0004020202020204" pitchFamily="34" charset="0"/>
              </a:rPr>
              <a:t>Glucose</a:t>
            </a:r>
            <a:r>
              <a:rPr lang="it-IT" sz="1400" dirty="0">
                <a:latin typeface="Aptos" panose="020B0004020202020204" pitchFamily="34" charset="0"/>
              </a:rPr>
              <a:t>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9" name="Nuvola 28"/>
          <p:cNvSpPr/>
          <p:nvPr/>
        </p:nvSpPr>
        <p:spPr>
          <a:xfrm>
            <a:off x="9087036" y="4595118"/>
            <a:ext cx="1148861" cy="468923"/>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latin typeface="Aptos" panose="020B0004020202020204" pitchFamily="34" charset="0"/>
            </a:endParaRPr>
          </a:p>
        </p:txBody>
      </p:sp>
      <p:sp>
        <p:nvSpPr>
          <p:cNvPr id="30" name="Freccia bidirezionale orizzontale 29"/>
          <p:cNvSpPr/>
          <p:nvPr/>
        </p:nvSpPr>
        <p:spPr>
          <a:xfrm>
            <a:off x="4317616" y="4744982"/>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32" name="Immagine 31"/>
          <p:cNvPicPr>
            <a:picLocks noChangeAspect="1"/>
          </p:cNvPicPr>
          <p:nvPr/>
        </p:nvPicPr>
        <p:blipFill rotWithShape="1">
          <a:blip r:embed="rId2" cstate="print">
            <a:extLst>
              <a:ext uri="{28A0092B-C50C-407E-A947-70E740481C1C}">
                <a14:useLocalDpi xmlns:a14="http://schemas.microsoft.com/office/drawing/2010/main" val="0"/>
              </a:ext>
            </a:extLst>
          </a:blip>
          <a:srcRect t="13660" b="12302"/>
          <a:stretch/>
        </p:blipFill>
        <p:spPr>
          <a:xfrm>
            <a:off x="6568116" y="4163857"/>
            <a:ext cx="790166" cy="585025"/>
          </a:xfrm>
          <a:prstGeom prst="rect">
            <a:avLst/>
          </a:prstGeom>
        </p:spPr>
      </p:pic>
      <p:sp>
        <p:nvSpPr>
          <p:cNvPr id="34" name="CasellaDiTesto 33"/>
          <p:cNvSpPr txBox="1"/>
          <p:nvPr/>
        </p:nvSpPr>
        <p:spPr>
          <a:xfrm>
            <a:off x="5832653" y="4855596"/>
            <a:ext cx="751125" cy="369332"/>
          </a:xfrm>
          <a:prstGeom prst="rect">
            <a:avLst/>
          </a:prstGeom>
          <a:noFill/>
        </p:spPr>
        <p:txBody>
          <a:bodyPr wrap="square" rtlCol="0">
            <a:spAutoFit/>
          </a:bodyPr>
          <a:lstStyle/>
          <a:p>
            <a:r>
              <a:rPr lang="it-IT" dirty="0">
                <a:latin typeface="Aptos" panose="020B0004020202020204" pitchFamily="34" charset="0"/>
              </a:rPr>
              <a:t>GSM</a:t>
            </a:r>
            <a:endParaRPr lang="en-GB" dirty="0">
              <a:latin typeface="Aptos" panose="020B0004020202020204" pitchFamily="34" charset="0"/>
            </a:endParaRPr>
          </a:p>
        </p:txBody>
      </p:sp>
      <p:pic>
        <p:nvPicPr>
          <p:cNvPr id="35" name="Immagine 34"/>
          <p:cNvPicPr>
            <a:picLocks noChangeAspect="1"/>
          </p:cNvPicPr>
          <p:nvPr/>
        </p:nvPicPr>
        <p:blipFill rotWithShape="1">
          <a:blip r:embed="rId3" cstate="print">
            <a:extLst>
              <a:ext uri="{28A0092B-C50C-407E-A947-70E740481C1C}">
                <a14:useLocalDpi xmlns:a14="http://schemas.microsoft.com/office/drawing/2010/main" val="0"/>
              </a:ext>
            </a:extLst>
          </a:blip>
          <a:srcRect t="2223" b="9488"/>
          <a:stretch/>
        </p:blipFill>
        <p:spPr>
          <a:xfrm>
            <a:off x="6721426" y="4783171"/>
            <a:ext cx="510962" cy="487222"/>
          </a:xfrm>
          <a:prstGeom prst="rect">
            <a:avLst/>
          </a:prstGeom>
        </p:spPr>
      </p:pic>
      <p:pic>
        <p:nvPicPr>
          <p:cNvPr id="36" name="Immagin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0888" y="4505560"/>
            <a:ext cx="791025" cy="791025"/>
          </a:xfrm>
          <a:prstGeom prst="rect">
            <a:avLst/>
          </a:prstGeom>
        </p:spPr>
      </p:pic>
      <p:pic>
        <p:nvPicPr>
          <p:cNvPr id="37" name="Immagine 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6846" y="1788867"/>
            <a:ext cx="654524" cy="654524"/>
          </a:xfrm>
          <a:prstGeom prst="rect">
            <a:avLst/>
          </a:prstGeom>
        </p:spPr>
      </p:pic>
      <p:pic>
        <p:nvPicPr>
          <p:cNvPr id="38" name="Immagine 37"/>
          <p:cNvPicPr>
            <a:picLocks noChangeAspect="1"/>
          </p:cNvPicPr>
          <p:nvPr/>
        </p:nvPicPr>
        <p:blipFill rotWithShape="1">
          <a:blip r:embed="rId6" cstate="print">
            <a:biLevel thresh="75000"/>
            <a:extLst>
              <a:ext uri="{28A0092B-C50C-407E-A947-70E740481C1C}">
                <a14:useLocalDpi xmlns:a14="http://schemas.microsoft.com/office/drawing/2010/main" val="0"/>
              </a:ext>
            </a:extLst>
          </a:blip>
          <a:srcRect t="15649" b="14795"/>
          <a:stretch/>
        </p:blipFill>
        <p:spPr>
          <a:xfrm>
            <a:off x="3308809" y="5959420"/>
            <a:ext cx="966237" cy="672070"/>
          </a:xfrm>
          <a:prstGeom prst="rect">
            <a:avLst/>
          </a:prstGeom>
        </p:spPr>
      </p:pic>
      <p:pic>
        <p:nvPicPr>
          <p:cNvPr id="39" name="Immagine 38"/>
          <p:cNvPicPr>
            <a:picLocks noChangeAspect="1"/>
          </p:cNvPicPr>
          <p:nvPr/>
        </p:nvPicPr>
        <p:blipFill rotWithShape="1">
          <a:blip r:embed="rId7" cstate="print">
            <a:extLst>
              <a:ext uri="{28A0092B-C50C-407E-A947-70E740481C1C}">
                <a14:useLocalDpi xmlns:a14="http://schemas.microsoft.com/office/drawing/2010/main" val="0"/>
              </a:ext>
            </a:extLst>
          </a:blip>
          <a:srcRect t="13351" b="10889"/>
          <a:stretch/>
        </p:blipFill>
        <p:spPr>
          <a:xfrm>
            <a:off x="5261453" y="5725827"/>
            <a:ext cx="815078" cy="617508"/>
          </a:xfrm>
          <a:prstGeom prst="rect">
            <a:avLst/>
          </a:prstGeom>
        </p:spPr>
      </p:pic>
      <p:pic>
        <p:nvPicPr>
          <p:cNvPr id="40" name="Immagine 39"/>
          <p:cNvPicPr>
            <a:picLocks noChangeAspect="1"/>
          </p:cNvPicPr>
          <p:nvPr/>
        </p:nvPicPr>
        <p:blipFill rotWithShape="1">
          <a:blip r:embed="rId8" cstate="print">
            <a:biLevel thresh="75000"/>
            <a:extLst>
              <a:ext uri="{28A0092B-C50C-407E-A947-70E740481C1C}">
                <a14:useLocalDpi xmlns:a14="http://schemas.microsoft.com/office/drawing/2010/main" val="0"/>
              </a:ext>
            </a:extLst>
          </a:blip>
          <a:srcRect l="20118" t="11966" r="19396" b="26154"/>
          <a:stretch/>
        </p:blipFill>
        <p:spPr>
          <a:xfrm>
            <a:off x="7973057" y="5969126"/>
            <a:ext cx="577215" cy="623737"/>
          </a:xfrm>
          <a:prstGeom prst="rect">
            <a:avLst/>
          </a:prstGeom>
        </p:spPr>
      </p:pic>
      <p:pic>
        <p:nvPicPr>
          <p:cNvPr id="41" name="Immagine 40"/>
          <p:cNvPicPr>
            <a:picLocks noChangeAspect="1"/>
          </p:cNvPicPr>
          <p:nvPr/>
        </p:nvPicPr>
        <p:blipFill rotWithShape="1">
          <a:blip r:embed="rId9" cstate="print">
            <a:biLevel thresh="50000"/>
            <a:extLst>
              <a:ext uri="{28A0092B-C50C-407E-A947-70E740481C1C}">
                <a14:useLocalDpi xmlns:a14="http://schemas.microsoft.com/office/drawing/2010/main" val="0"/>
              </a:ext>
            </a:extLst>
          </a:blip>
          <a:srcRect l="11349" r="13195"/>
          <a:stretch/>
        </p:blipFill>
        <p:spPr>
          <a:xfrm>
            <a:off x="9853211" y="5725826"/>
            <a:ext cx="1175410" cy="594235"/>
          </a:xfrm>
          <a:prstGeom prst="rect">
            <a:avLst/>
          </a:prstGeom>
        </p:spPr>
      </p:pic>
      <p:pic>
        <p:nvPicPr>
          <p:cNvPr id="42" name="Immagine 41"/>
          <p:cNvPicPr>
            <a:picLocks noChangeAspect="1"/>
          </p:cNvPicPr>
          <p:nvPr/>
        </p:nvPicPr>
        <p:blipFill rotWithShape="1">
          <a:blip r:embed="rId10" cstate="print">
            <a:extLst>
              <a:ext uri="{28A0092B-C50C-407E-A947-70E740481C1C}">
                <a14:useLocalDpi xmlns:a14="http://schemas.microsoft.com/office/drawing/2010/main" val="0"/>
              </a:ext>
            </a:extLst>
          </a:blip>
          <a:srcRect t="14470"/>
          <a:stretch/>
        </p:blipFill>
        <p:spPr>
          <a:xfrm>
            <a:off x="6165335" y="3177790"/>
            <a:ext cx="738082" cy="631281"/>
          </a:xfrm>
          <a:prstGeom prst="rect">
            <a:avLst/>
          </a:prstGeom>
        </p:spPr>
      </p:pic>
      <p:pic>
        <p:nvPicPr>
          <p:cNvPr id="43" name="Immagine 42"/>
          <p:cNvPicPr>
            <a:picLocks noChangeAspect="1"/>
          </p:cNvPicPr>
          <p:nvPr/>
        </p:nvPicPr>
        <p:blipFill>
          <a:blip r:embed="rId11" cstate="print">
            <a:biLevel thresh="75000"/>
            <a:extLst>
              <a:ext uri="{28A0092B-C50C-407E-A947-70E740481C1C}">
                <a14:useLocalDpi xmlns:a14="http://schemas.microsoft.com/office/drawing/2010/main" val="0"/>
              </a:ext>
            </a:extLst>
          </a:blip>
          <a:stretch>
            <a:fillRect/>
          </a:stretch>
        </p:blipFill>
        <p:spPr>
          <a:xfrm>
            <a:off x="7883204" y="3153651"/>
            <a:ext cx="1082830" cy="693804"/>
          </a:xfrm>
          <a:prstGeom prst="rect">
            <a:avLst/>
          </a:prstGeom>
        </p:spPr>
      </p:pic>
      <p:pic>
        <p:nvPicPr>
          <p:cNvPr id="44" name="Immagine 4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727043" y="3240823"/>
            <a:ext cx="1190766" cy="567904"/>
          </a:xfrm>
          <a:prstGeom prst="rect">
            <a:avLst/>
          </a:prstGeom>
        </p:spPr>
      </p:pic>
      <p:pic>
        <p:nvPicPr>
          <p:cNvPr id="45" name="Picture 2"/>
          <p:cNvPicPr>
            <a:picLocks noChangeAspect="1" noChangeArrowheads="1"/>
          </p:cNvPicPr>
          <p:nvPr/>
        </p:nvPicPr>
        <p:blipFill>
          <a:blip r:embed="rId13" cstate="print">
            <a:biLevel thresh="75000"/>
          </a:blip>
          <a:srcRect l="5016" t="4758" r="50097" b="4943"/>
          <a:stretch>
            <a:fillRect/>
          </a:stretch>
        </p:blipFill>
        <p:spPr bwMode="auto">
          <a:xfrm>
            <a:off x="5510026" y="1846052"/>
            <a:ext cx="638548" cy="657936"/>
          </a:xfrm>
          <a:prstGeom prst="rect">
            <a:avLst/>
          </a:prstGeom>
          <a:noFill/>
          <a:ln w="9525">
            <a:noFill/>
            <a:miter lim="800000"/>
            <a:headEnd/>
            <a:tailEnd/>
          </a:ln>
          <a:effectLst/>
        </p:spPr>
      </p:pic>
      <p:pic>
        <p:nvPicPr>
          <p:cNvPr id="46" name="Immagine 4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57846" y="1812020"/>
            <a:ext cx="725623" cy="725623"/>
          </a:xfrm>
          <a:prstGeom prst="rect">
            <a:avLst/>
          </a:prstGeom>
        </p:spPr>
      </p:pic>
      <p:pic>
        <p:nvPicPr>
          <p:cNvPr id="47" name="Immagine 46"/>
          <p:cNvPicPr>
            <a:picLocks noChangeAspect="1"/>
          </p:cNvPicPr>
          <p:nvPr/>
        </p:nvPicPr>
        <p:blipFill rotWithShape="1">
          <a:blip r:embed="rId15" cstate="print">
            <a:extLst>
              <a:ext uri="{28A0092B-C50C-407E-A947-70E740481C1C}">
                <a14:useLocalDpi xmlns:a14="http://schemas.microsoft.com/office/drawing/2010/main" val="0"/>
              </a:ext>
            </a:extLst>
          </a:blip>
          <a:srcRect l="28374" t="6540" r="27640"/>
          <a:stretch/>
        </p:blipFill>
        <p:spPr>
          <a:xfrm>
            <a:off x="9655162" y="1833686"/>
            <a:ext cx="423584" cy="722471"/>
          </a:xfrm>
          <a:prstGeom prst="rect">
            <a:avLst/>
          </a:prstGeom>
        </p:spPr>
      </p:pic>
      <p:pic>
        <p:nvPicPr>
          <p:cNvPr id="48" name="Immagine 47"/>
          <p:cNvPicPr>
            <a:picLocks noChangeAspect="1"/>
          </p:cNvPicPr>
          <p:nvPr/>
        </p:nvPicPr>
        <p:blipFill rotWithShape="1">
          <a:blip r:embed="rId16" cstate="print">
            <a:duotone>
              <a:schemeClr val="accent3">
                <a:shade val="45000"/>
                <a:satMod val="135000"/>
              </a:schemeClr>
              <a:prstClr val="white"/>
            </a:duotone>
            <a:extLst>
              <a:ext uri="{28A0092B-C50C-407E-A947-70E740481C1C}">
                <a14:useLocalDpi xmlns:a14="http://schemas.microsoft.com/office/drawing/2010/main" val="0"/>
              </a:ext>
            </a:extLst>
          </a:blip>
          <a:srcRect l="18566" t="16998" r="18567" b="18788"/>
          <a:stretch/>
        </p:blipFill>
        <p:spPr>
          <a:xfrm>
            <a:off x="9727043" y="2044594"/>
            <a:ext cx="291353" cy="198495"/>
          </a:xfrm>
          <a:prstGeom prst="rect">
            <a:avLst/>
          </a:prstGeom>
        </p:spPr>
      </p:pic>
      <p:sp>
        <p:nvSpPr>
          <p:cNvPr id="51" name="Freccia bidirezionale orizzontale 50"/>
          <p:cNvSpPr/>
          <p:nvPr/>
        </p:nvSpPr>
        <p:spPr>
          <a:xfrm>
            <a:off x="7652240" y="4731501"/>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53" name="Immagine 52"/>
          <p:cNvPicPr>
            <a:picLocks noChangeAspect="1"/>
          </p:cNvPicPr>
          <p:nvPr/>
        </p:nvPicPr>
        <p:blipFill rotWithShape="1">
          <a:blip r:embed="rId17" cstate="print">
            <a:biLevel thresh="75000"/>
            <a:extLst>
              <a:ext uri="{28A0092B-C50C-407E-A947-70E740481C1C}">
                <a14:useLocalDpi xmlns:a14="http://schemas.microsoft.com/office/drawing/2010/main" val="0"/>
              </a:ext>
            </a:extLst>
          </a:blip>
          <a:srcRect l="32956" r="37156" b="37692"/>
          <a:stretch/>
        </p:blipFill>
        <p:spPr>
          <a:xfrm>
            <a:off x="7301040" y="1809632"/>
            <a:ext cx="464960" cy="700322"/>
          </a:xfrm>
          <a:prstGeom prst="rect">
            <a:avLst/>
          </a:prstGeom>
        </p:spPr>
      </p:pic>
      <p:sp>
        <p:nvSpPr>
          <p:cNvPr id="49" name="CasellaDiTesto 48"/>
          <p:cNvSpPr txBox="1"/>
          <p:nvPr/>
        </p:nvSpPr>
        <p:spPr>
          <a:xfrm>
            <a:off x="3692770" y="2801335"/>
            <a:ext cx="1922585" cy="369332"/>
          </a:xfrm>
          <a:prstGeom prst="rect">
            <a:avLst/>
          </a:prstGeom>
          <a:noFill/>
        </p:spPr>
        <p:txBody>
          <a:bodyPr wrap="square" rtlCol="0">
            <a:spAutoFit/>
          </a:bodyPr>
          <a:lstStyle/>
          <a:p>
            <a:r>
              <a:rPr lang="it-IT" dirty="0">
                <a:latin typeface="Aptos" panose="020B0004020202020204" pitchFamily="34" charset="0"/>
              </a:rPr>
              <a:t>Database</a:t>
            </a:r>
            <a:endParaRPr lang="en-GB" dirty="0">
              <a:latin typeface="Aptos" panose="020B0004020202020204" pitchFamily="34" charset="0"/>
            </a:endParaRPr>
          </a:p>
        </p:txBody>
      </p:sp>
      <p:pic>
        <p:nvPicPr>
          <p:cNvPr id="3" name="Immagine 2"/>
          <p:cNvPicPr>
            <a:picLocks noChangeAspect="1"/>
          </p:cNvPicPr>
          <p:nvPr/>
        </p:nvPicPr>
        <p:blipFill rotWithShape="1">
          <a:blip r:embed="rId18" cstate="print">
            <a:biLevel thresh="75000"/>
            <a:extLst>
              <a:ext uri="{28A0092B-C50C-407E-A947-70E740481C1C}">
                <a14:useLocalDpi xmlns:a14="http://schemas.microsoft.com/office/drawing/2010/main" val="0"/>
              </a:ext>
            </a:extLst>
          </a:blip>
          <a:srcRect t="10794" b="16165"/>
          <a:stretch/>
        </p:blipFill>
        <p:spPr>
          <a:xfrm>
            <a:off x="3733874" y="3112824"/>
            <a:ext cx="1017056" cy="784655"/>
          </a:xfrm>
          <a:prstGeom prst="rect">
            <a:avLst/>
          </a:prstGeom>
        </p:spPr>
      </p:pic>
      <p:sp>
        <p:nvSpPr>
          <p:cNvPr id="21" name="Segnaposto numero diapositiva 20"/>
          <p:cNvSpPr>
            <a:spLocks noGrp="1"/>
          </p:cNvSpPr>
          <p:nvPr>
            <p:ph type="sldNum" sz="quarter" idx="12"/>
          </p:nvPr>
        </p:nvSpPr>
        <p:spPr/>
        <p:txBody>
          <a:bodyPr/>
          <a:lstStyle/>
          <a:p>
            <a:fld id="{31DE2C5B-556E-47B8-A792-024C2FCA4ACC}" type="slidenum">
              <a:rPr lang="en-GB" smtClean="0"/>
              <a:t>12</a:t>
            </a:fld>
            <a:endParaRPr lang="en-GB"/>
          </a:p>
        </p:txBody>
      </p:sp>
    </p:spTree>
    <p:extLst>
      <p:ext uri="{BB962C8B-B14F-4D97-AF65-F5344CB8AC3E}">
        <p14:creationId xmlns:p14="http://schemas.microsoft.com/office/powerpoint/2010/main" val="1983806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1. Sensing layer</a:t>
            </a:r>
          </a:p>
        </p:txBody>
      </p:sp>
      <p:sp>
        <p:nvSpPr>
          <p:cNvPr id="14" name="Segnaposto contenuto 13"/>
          <p:cNvSpPr>
            <a:spLocks noGrp="1"/>
          </p:cNvSpPr>
          <p:nvPr>
            <p:ph idx="1"/>
          </p:nvPr>
        </p:nvSpPr>
        <p:spPr>
          <a:xfrm>
            <a:off x="428172" y="1361167"/>
            <a:ext cx="8445664" cy="2639333"/>
          </a:xfrm>
        </p:spPr>
        <p:txBody>
          <a:bodyPr/>
          <a:lstStyle/>
          <a:p>
            <a:r>
              <a:rPr lang="en-US" dirty="0"/>
              <a:t>This layer includes sensors, which are responsible for: </a:t>
            </a:r>
          </a:p>
          <a:p>
            <a:pPr lvl="1"/>
            <a:r>
              <a:rPr lang="en-US" sz="2200" b="1" dirty="0"/>
              <a:t>Collecting the data </a:t>
            </a:r>
            <a:r>
              <a:rPr lang="en-US" sz="2200" dirty="0"/>
              <a:t>either directly from the body through contact sensors or from peripheral sensors providing indirect information of body and </a:t>
            </a:r>
            <a:r>
              <a:rPr lang="en-US" sz="2200" dirty="0" err="1"/>
              <a:t>behaviours</a:t>
            </a:r>
            <a:r>
              <a:rPr lang="en-US" sz="2200" dirty="0"/>
              <a:t> </a:t>
            </a:r>
          </a:p>
          <a:p>
            <a:pPr lvl="1"/>
            <a:r>
              <a:rPr lang="en-US" sz="2200" b="1" dirty="0"/>
              <a:t>Preparing the data </a:t>
            </a:r>
            <a:r>
              <a:rPr lang="en-US" sz="2200" dirty="0"/>
              <a:t>for on-board analysis, closed-loop feedback or remote transmission for more comprehensive analysis and storing </a:t>
            </a:r>
          </a:p>
          <a:p>
            <a:pPr marL="457200" lvl="1" indent="0">
              <a:buNone/>
            </a:pPr>
            <a:endParaRPr lang="en-US" dirty="0"/>
          </a:p>
          <a:p>
            <a:pPr lvl="1"/>
            <a:endParaRPr lang="en-US" dirty="0"/>
          </a:p>
          <a:p>
            <a:pPr lvl="1"/>
            <a:endParaRPr lang="en-US" dirty="0"/>
          </a:p>
        </p:txBody>
      </p:sp>
      <p:sp>
        <p:nvSpPr>
          <p:cNvPr id="15" name="CasellaDiTesto 14"/>
          <p:cNvSpPr txBox="1"/>
          <p:nvPr/>
        </p:nvSpPr>
        <p:spPr>
          <a:xfrm>
            <a:off x="9221242" y="1671241"/>
            <a:ext cx="2086711" cy="307777"/>
          </a:xfrm>
          <a:prstGeom prst="rect">
            <a:avLst/>
          </a:prstGeom>
          <a:noFill/>
        </p:spPr>
        <p:txBody>
          <a:bodyPr wrap="square" rtlCol="0">
            <a:spAutoFit/>
          </a:bodyPr>
          <a:lstStyle/>
          <a:p>
            <a:r>
              <a:rPr lang="en-US" sz="1400" dirty="0">
                <a:latin typeface="Aptos" panose="020B0004020202020204" pitchFamily="34" charset="0"/>
              </a:rPr>
              <a:t>ECG sensor</a:t>
            </a:r>
          </a:p>
        </p:txBody>
      </p:sp>
      <p:sp>
        <p:nvSpPr>
          <p:cNvPr id="16" name="CasellaDiTesto 15"/>
          <p:cNvSpPr txBox="1"/>
          <p:nvPr/>
        </p:nvSpPr>
        <p:spPr>
          <a:xfrm>
            <a:off x="10508805" y="1688586"/>
            <a:ext cx="2086711" cy="307777"/>
          </a:xfrm>
          <a:prstGeom prst="rect">
            <a:avLst/>
          </a:prstGeom>
          <a:noFill/>
        </p:spPr>
        <p:txBody>
          <a:bodyPr wrap="square" rtlCol="0">
            <a:spAutoFit/>
          </a:bodyPr>
          <a:lstStyle/>
          <a:p>
            <a:r>
              <a:rPr lang="it-IT" sz="1400" dirty="0" err="1">
                <a:latin typeface="Aptos" panose="020B0004020202020204" pitchFamily="34" charset="0"/>
              </a:rPr>
              <a:t>Glucose</a:t>
            </a:r>
            <a:r>
              <a:rPr lang="it-IT" sz="1400" dirty="0">
                <a:latin typeface="Aptos" panose="020B0004020202020204" pitchFamily="34" charset="0"/>
              </a:rPr>
              <a:t> </a:t>
            </a:r>
            <a:r>
              <a:rPr lang="it-IT" sz="1400" dirty="0" err="1">
                <a:latin typeface="Aptos" panose="020B0004020202020204" pitchFamily="34" charset="0"/>
              </a:rPr>
              <a:t>sensor</a:t>
            </a:r>
            <a:endParaRPr lang="en-GB" sz="1400" dirty="0">
              <a:latin typeface="Aptos" panose="020B0004020202020204" pitchFamily="34" charset="0"/>
            </a:endParaRPr>
          </a:p>
        </p:txBody>
      </p:sp>
      <p:pic>
        <p:nvPicPr>
          <p:cNvPr id="17" name="Immagine 16"/>
          <p:cNvPicPr>
            <a:picLocks noChangeAspect="1"/>
          </p:cNvPicPr>
          <p:nvPr/>
        </p:nvPicPr>
        <p:blipFill rotWithShape="1">
          <a:blip r:embed="rId2" cstate="print">
            <a:biLevel thresh="75000"/>
            <a:extLst>
              <a:ext uri="{28A0092B-C50C-407E-A947-70E740481C1C}">
                <a14:useLocalDpi xmlns:a14="http://schemas.microsoft.com/office/drawing/2010/main" val="0"/>
              </a:ext>
            </a:extLst>
          </a:blip>
          <a:srcRect l="20118" t="11966" r="19396" b="26154"/>
          <a:stretch/>
        </p:blipFill>
        <p:spPr>
          <a:xfrm>
            <a:off x="9465450" y="1939138"/>
            <a:ext cx="577215" cy="623737"/>
          </a:xfrm>
          <a:prstGeom prst="rect">
            <a:avLst/>
          </a:prstGeom>
        </p:spPr>
      </p:pic>
      <p:pic>
        <p:nvPicPr>
          <p:cNvPr id="18" name="Immagine 17"/>
          <p:cNvPicPr>
            <a:picLocks noChangeAspect="1"/>
          </p:cNvPicPr>
          <p:nvPr/>
        </p:nvPicPr>
        <p:blipFill rotWithShape="1">
          <a:blip r:embed="rId3" cstate="print">
            <a:biLevel thresh="50000"/>
            <a:extLst>
              <a:ext uri="{28A0092B-C50C-407E-A947-70E740481C1C}">
                <a14:useLocalDpi xmlns:a14="http://schemas.microsoft.com/office/drawing/2010/main" val="0"/>
              </a:ext>
            </a:extLst>
          </a:blip>
          <a:srcRect l="11349" r="13195"/>
          <a:stretch/>
        </p:blipFill>
        <p:spPr>
          <a:xfrm>
            <a:off x="10543602" y="2013709"/>
            <a:ext cx="1175410" cy="594235"/>
          </a:xfrm>
          <a:prstGeom prst="rect">
            <a:avLst/>
          </a:prstGeom>
        </p:spPr>
      </p:pic>
      <p:sp>
        <p:nvSpPr>
          <p:cNvPr id="19" name="CasellaDiTesto 18"/>
          <p:cNvSpPr txBox="1"/>
          <p:nvPr/>
        </p:nvSpPr>
        <p:spPr>
          <a:xfrm>
            <a:off x="9500246" y="1284563"/>
            <a:ext cx="2086711" cy="369332"/>
          </a:xfrm>
          <a:prstGeom prst="rect">
            <a:avLst/>
          </a:prstGeom>
          <a:noFill/>
        </p:spPr>
        <p:txBody>
          <a:bodyPr wrap="square" rtlCol="0">
            <a:spAutoFit/>
          </a:bodyPr>
          <a:lstStyle/>
          <a:p>
            <a:r>
              <a:rPr lang="en-US" b="1" dirty="0">
                <a:latin typeface="Aptos" panose="020B0004020202020204" pitchFamily="34" charset="0"/>
              </a:rPr>
              <a:t>Contact sensors</a:t>
            </a:r>
          </a:p>
        </p:txBody>
      </p:sp>
      <p:sp>
        <p:nvSpPr>
          <p:cNvPr id="20" name="CasellaDiTesto 19"/>
          <p:cNvSpPr txBox="1"/>
          <p:nvPr/>
        </p:nvSpPr>
        <p:spPr>
          <a:xfrm>
            <a:off x="9305555" y="2830772"/>
            <a:ext cx="2476091" cy="369332"/>
          </a:xfrm>
          <a:prstGeom prst="rect">
            <a:avLst/>
          </a:prstGeom>
          <a:noFill/>
        </p:spPr>
        <p:txBody>
          <a:bodyPr wrap="square" rtlCol="0">
            <a:spAutoFit/>
          </a:bodyPr>
          <a:lstStyle/>
          <a:p>
            <a:r>
              <a:rPr lang="en-US" b="1" dirty="0">
                <a:latin typeface="Aptos" panose="020B0004020202020204" pitchFamily="34" charset="0"/>
              </a:rPr>
              <a:t>Peripheral sensors</a:t>
            </a:r>
          </a:p>
        </p:txBody>
      </p:sp>
      <p:sp>
        <p:nvSpPr>
          <p:cNvPr id="21" name="CasellaDiTesto 20"/>
          <p:cNvSpPr txBox="1"/>
          <p:nvPr/>
        </p:nvSpPr>
        <p:spPr>
          <a:xfrm>
            <a:off x="8945041" y="3200104"/>
            <a:ext cx="1491792" cy="307777"/>
          </a:xfrm>
          <a:prstGeom prst="rect">
            <a:avLst/>
          </a:prstGeom>
          <a:noFill/>
        </p:spPr>
        <p:txBody>
          <a:bodyPr wrap="square" rtlCol="0">
            <a:spAutoFit/>
          </a:bodyPr>
          <a:lstStyle/>
          <a:p>
            <a:pPr algn="ctr"/>
            <a:r>
              <a:rPr lang="en-US" sz="1400" dirty="0">
                <a:latin typeface="Aptos" panose="020B0004020202020204" pitchFamily="34" charset="0"/>
              </a:rPr>
              <a:t>Step counter</a:t>
            </a:r>
          </a:p>
        </p:txBody>
      </p:sp>
      <p:sp>
        <p:nvSpPr>
          <p:cNvPr id="23" name="CasellaDiTesto 22"/>
          <p:cNvSpPr txBox="1"/>
          <p:nvPr/>
        </p:nvSpPr>
        <p:spPr>
          <a:xfrm>
            <a:off x="10181078" y="3206391"/>
            <a:ext cx="2086711" cy="307777"/>
          </a:xfrm>
          <a:prstGeom prst="rect">
            <a:avLst/>
          </a:prstGeom>
          <a:noFill/>
        </p:spPr>
        <p:txBody>
          <a:bodyPr wrap="square" rtlCol="0">
            <a:spAutoFit/>
          </a:bodyPr>
          <a:lstStyle/>
          <a:p>
            <a:pPr algn="ctr"/>
            <a:r>
              <a:rPr lang="it-IT" sz="1400" dirty="0" err="1">
                <a:latin typeface="Aptos" panose="020B0004020202020204" pitchFamily="34" charset="0"/>
              </a:rPr>
              <a:t>Microphone</a:t>
            </a:r>
            <a:r>
              <a:rPr lang="it-IT" sz="1400" dirty="0">
                <a:latin typeface="Aptos" panose="020B0004020202020204" pitchFamily="34" charset="0"/>
              </a:rPr>
              <a:t> and camera</a:t>
            </a:r>
            <a:endParaRPr lang="en-GB" sz="1400" dirty="0">
              <a:latin typeface="Aptos" panose="020B0004020202020204" pitchFamily="34" charset="0"/>
            </a:endParaRPr>
          </a:p>
        </p:txBody>
      </p:sp>
      <p:pic>
        <p:nvPicPr>
          <p:cNvPr id="5" name="Immagine 4"/>
          <p:cNvPicPr>
            <a:picLocks noChangeAspect="1"/>
          </p:cNvPicPr>
          <p:nvPr/>
        </p:nvPicPr>
        <p:blipFill rotWithShape="1">
          <a:blip r:embed="rId4" cstate="print">
            <a:extLst>
              <a:ext uri="{28A0092B-C50C-407E-A947-70E740481C1C}">
                <a14:useLocalDpi xmlns:a14="http://schemas.microsoft.com/office/drawing/2010/main" val="0"/>
              </a:ext>
            </a:extLst>
          </a:blip>
          <a:srcRect t="18636" b="22879"/>
          <a:stretch/>
        </p:blipFill>
        <p:spPr>
          <a:xfrm>
            <a:off x="10740145" y="3705002"/>
            <a:ext cx="1043357" cy="659022"/>
          </a:xfrm>
          <a:prstGeom prst="rect">
            <a:avLst/>
          </a:prstGeom>
        </p:spPr>
      </p:pic>
      <p:sp>
        <p:nvSpPr>
          <p:cNvPr id="25" name="Segnaposto contenuto 13"/>
          <p:cNvSpPr txBox="1">
            <a:spLocks/>
          </p:cNvSpPr>
          <p:nvPr/>
        </p:nvSpPr>
        <p:spPr>
          <a:xfrm>
            <a:off x="428171" y="4000501"/>
            <a:ext cx="11257939" cy="225919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ptos" panose="020B0004020202020204" pitchFamily="34" charset="0"/>
              </a:rPr>
              <a:t>Key components of </a:t>
            </a:r>
            <a:r>
              <a:rPr lang="en-US" dirty="0" err="1">
                <a:latin typeface="Aptos" panose="020B0004020202020204" pitchFamily="34" charset="0"/>
              </a:rPr>
              <a:t>IoT</a:t>
            </a:r>
            <a:r>
              <a:rPr lang="en-US" dirty="0">
                <a:latin typeface="Aptos" panose="020B0004020202020204" pitchFamily="34" charset="0"/>
              </a:rPr>
              <a:t> wearable sensors:</a:t>
            </a:r>
          </a:p>
          <a:p>
            <a:pPr lvl="1"/>
            <a:r>
              <a:rPr lang="en-US" sz="2200" dirty="0">
                <a:latin typeface="Aptos" panose="020B0004020202020204" pitchFamily="34" charset="0"/>
              </a:rPr>
              <a:t>Miniaturized </a:t>
            </a:r>
            <a:r>
              <a:rPr lang="en-US" sz="2200" b="1" dirty="0">
                <a:latin typeface="Aptos" panose="020B0004020202020204" pitchFamily="34" charset="0"/>
              </a:rPr>
              <a:t>sensor hardware</a:t>
            </a:r>
          </a:p>
          <a:p>
            <a:pPr lvl="1"/>
            <a:r>
              <a:rPr lang="en-US" sz="2200" b="1" dirty="0">
                <a:latin typeface="Aptos" panose="020B0004020202020204" pitchFamily="34" charset="0"/>
              </a:rPr>
              <a:t>Embedded processor </a:t>
            </a:r>
            <a:r>
              <a:rPr lang="en-US" sz="2200" dirty="0">
                <a:latin typeface="Aptos" panose="020B0004020202020204" pitchFamily="34" charset="0"/>
              </a:rPr>
              <a:t>with storage capabilities, power management and communication circuits</a:t>
            </a:r>
          </a:p>
          <a:p>
            <a:r>
              <a:rPr lang="en-US" dirty="0">
                <a:latin typeface="Aptos" panose="020B0004020202020204" pitchFamily="34" charset="0"/>
              </a:rPr>
              <a:t>Typically, limited computing power and storage capabilities. </a:t>
            </a:r>
          </a:p>
          <a:p>
            <a:pPr lvl="1"/>
            <a:endParaRPr lang="en-US" dirty="0">
              <a:latin typeface="Aptos" panose="020B0004020202020204" pitchFamily="34" charset="0"/>
            </a:endParaRPr>
          </a:p>
          <a:p>
            <a:pPr lvl="1"/>
            <a:endParaRPr lang="en-US" dirty="0">
              <a:latin typeface="Aptos" panose="020B0004020202020204" pitchFamily="34" charset="0"/>
            </a:endParaRPr>
          </a:p>
        </p:txBody>
      </p:sp>
      <p:pic>
        <p:nvPicPr>
          <p:cNvPr id="26" name="Immagine 25"/>
          <p:cNvPicPr>
            <a:picLocks noChangeAspect="1"/>
          </p:cNvPicPr>
          <p:nvPr/>
        </p:nvPicPr>
        <p:blipFill rotWithShape="1">
          <a:blip r:embed="rId5">
            <a:biLevel thresh="75000"/>
            <a:extLst>
              <a:ext uri="{28A0092B-C50C-407E-A947-70E740481C1C}">
                <a14:useLocalDpi xmlns:a14="http://schemas.microsoft.com/office/drawing/2010/main" val="0"/>
              </a:ext>
            </a:extLst>
          </a:blip>
          <a:srcRect t="11707" b="11065"/>
          <a:stretch/>
        </p:blipFill>
        <p:spPr>
          <a:xfrm>
            <a:off x="9151653" y="3476463"/>
            <a:ext cx="1112944" cy="902841"/>
          </a:xfrm>
          <a:prstGeom prst="rect">
            <a:avLst/>
          </a:prstGeom>
        </p:spPr>
      </p:pic>
      <p:sp>
        <p:nvSpPr>
          <p:cNvPr id="3" name="Segnaposto numero diapositiva 2"/>
          <p:cNvSpPr>
            <a:spLocks noGrp="1"/>
          </p:cNvSpPr>
          <p:nvPr>
            <p:ph type="sldNum" sz="quarter" idx="12"/>
          </p:nvPr>
        </p:nvSpPr>
        <p:spPr/>
        <p:txBody>
          <a:bodyPr/>
          <a:lstStyle/>
          <a:p>
            <a:fld id="{31DE2C5B-556E-47B8-A792-024C2FCA4ACC}" type="slidenum">
              <a:rPr lang="en-GB" smtClean="0"/>
              <a:t>13</a:t>
            </a:fld>
            <a:endParaRPr lang="en-GB"/>
          </a:p>
        </p:txBody>
      </p:sp>
    </p:spTree>
    <p:extLst>
      <p:ext uri="{BB962C8B-B14F-4D97-AF65-F5344CB8AC3E}">
        <p14:creationId xmlns:p14="http://schemas.microsoft.com/office/powerpoint/2010/main" val="363068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2. Network </a:t>
            </a:r>
            <a:r>
              <a:rPr lang="it-IT" dirty="0" err="1"/>
              <a:t>layer</a:t>
            </a:r>
            <a:endParaRPr lang="en-GB" dirty="0"/>
          </a:p>
        </p:txBody>
      </p:sp>
      <p:sp>
        <p:nvSpPr>
          <p:cNvPr id="6" name="Segnaposto contenuto 5"/>
          <p:cNvSpPr>
            <a:spLocks noGrp="1"/>
          </p:cNvSpPr>
          <p:nvPr>
            <p:ph idx="1"/>
          </p:nvPr>
        </p:nvSpPr>
        <p:spPr/>
        <p:txBody>
          <a:bodyPr/>
          <a:lstStyle/>
          <a:p>
            <a:r>
              <a:rPr lang="en-US" dirty="0"/>
              <a:t>Fore more comprehensive data analysis and storage, the sensor layer need to transmit the data to </a:t>
            </a:r>
            <a:r>
              <a:rPr lang="en-US" b="1" dirty="0"/>
              <a:t>cloud computing servers </a:t>
            </a:r>
            <a:r>
              <a:rPr lang="en-US" dirty="0"/>
              <a:t>(remotely-located computing machines).</a:t>
            </a:r>
          </a:p>
          <a:p>
            <a:r>
              <a:rPr lang="en-US" dirty="0"/>
              <a:t>This transmission can be mediated by a companion device that serves as a </a:t>
            </a:r>
            <a:r>
              <a:rPr lang="en-US" b="1" dirty="0"/>
              <a:t>gateway</a:t>
            </a:r>
            <a:r>
              <a:rPr lang="en-US" dirty="0"/>
              <a:t>, i.e., it enables the information to flow from sensors to the cloud server.</a:t>
            </a:r>
          </a:p>
          <a:p>
            <a:pPr lvl="1"/>
            <a:r>
              <a:rPr lang="en-US" dirty="0"/>
              <a:t>Example of gateway devices: smartphones, tablets and PCs.</a:t>
            </a:r>
          </a:p>
          <a:p>
            <a:r>
              <a:rPr lang="en-US" dirty="0"/>
              <a:t>The communication must be </a:t>
            </a:r>
            <a:r>
              <a:rPr lang="en-US" b="1" dirty="0"/>
              <a:t>secured </a:t>
            </a:r>
            <a:r>
              <a:rPr lang="en-US" dirty="0"/>
              <a:t>through:</a:t>
            </a:r>
          </a:p>
          <a:p>
            <a:pPr lvl="2"/>
            <a:r>
              <a:rPr lang="en-US" dirty="0"/>
              <a:t>Authentication protocols for writing, modifying and accessing the data</a:t>
            </a:r>
          </a:p>
          <a:p>
            <a:pPr lvl="2"/>
            <a:r>
              <a:rPr lang="en-US" dirty="0"/>
              <a:t>Security and privacy protocols for preserving the data</a:t>
            </a:r>
          </a:p>
          <a:p>
            <a:endParaRPr lang="en-US" dirty="0"/>
          </a:p>
          <a:p>
            <a:endParaRPr lang="en-GB" dirty="0"/>
          </a:p>
        </p:txBody>
      </p:sp>
      <p:pic>
        <p:nvPicPr>
          <p:cNvPr id="4" name="Immagine 3"/>
          <p:cNvPicPr>
            <a:picLocks noChangeAspect="1"/>
          </p:cNvPicPr>
          <p:nvPr/>
        </p:nvPicPr>
        <p:blipFill rotWithShape="1">
          <a:blip r:embed="rId2" cstate="print">
            <a:biLevel thresh="75000"/>
            <a:extLst>
              <a:ext uri="{28A0092B-C50C-407E-A947-70E740481C1C}">
                <a14:useLocalDpi xmlns:a14="http://schemas.microsoft.com/office/drawing/2010/main" val="0"/>
              </a:ext>
            </a:extLst>
          </a:blip>
          <a:srcRect t="15649" b="14795"/>
          <a:stretch/>
        </p:blipFill>
        <p:spPr>
          <a:xfrm>
            <a:off x="1698883" y="5127778"/>
            <a:ext cx="1721102" cy="1197119"/>
          </a:xfrm>
          <a:prstGeom prst="rect">
            <a:avLst/>
          </a:prstGeom>
        </p:spPr>
      </p:pic>
      <p:sp>
        <p:nvSpPr>
          <p:cNvPr id="7" name="CasellaDiTesto 6"/>
          <p:cNvSpPr txBox="1"/>
          <p:nvPr/>
        </p:nvSpPr>
        <p:spPr>
          <a:xfrm>
            <a:off x="1942608" y="4709445"/>
            <a:ext cx="2086711" cy="461665"/>
          </a:xfrm>
          <a:prstGeom prst="rect">
            <a:avLst/>
          </a:prstGeom>
          <a:noFill/>
        </p:spPr>
        <p:txBody>
          <a:bodyPr wrap="square" rtlCol="0">
            <a:spAutoFit/>
          </a:bodyPr>
          <a:lstStyle/>
          <a:p>
            <a:r>
              <a:rPr lang="en-US" sz="2400" dirty="0">
                <a:latin typeface="Aptos" panose="020B0004020202020204" pitchFamily="34" charset="0"/>
              </a:rPr>
              <a:t>Sensor</a:t>
            </a:r>
          </a:p>
        </p:txBody>
      </p:sp>
      <p:sp>
        <p:nvSpPr>
          <p:cNvPr id="8" name="CasellaDiTesto 7"/>
          <p:cNvSpPr txBox="1"/>
          <p:nvPr/>
        </p:nvSpPr>
        <p:spPr>
          <a:xfrm>
            <a:off x="4685740" y="4649166"/>
            <a:ext cx="2442348" cy="461665"/>
          </a:xfrm>
          <a:prstGeom prst="rect">
            <a:avLst/>
          </a:prstGeom>
          <a:noFill/>
        </p:spPr>
        <p:txBody>
          <a:bodyPr wrap="square" rtlCol="0">
            <a:spAutoFit/>
          </a:bodyPr>
          <a:lstStyle/>
          <a:p>
            <a:pPr algn="ctr"/>
            <a:r>
              <a:rPr lang="it-IT" sz="2400" dirty="0">
                <a:latin typeface="Aptos" panose="020B0004020202020204" pitchFamily="34" charset="0"/>
              </a:rPr>
              <a:t>Gateway </a:t>
            </a:r>
            <a:r>
              <a:rPr lang="it-IT" sz="2400" dirty="0" err="1">
                <a:latin typeface="Aptos" panose="020B0004020202020204" pitchFamily="34" charset="0"/>
              </a:rPr>
              <a:t>device</a:t>
            </a:r>
            <a:endParaRPr lang="en-GB" sz="2400" dirty="0">
              <a:latin typeface="Aptos" panose="020B0004020202020204" pitchFamily="34" charset="0"/>
            </a:endParaRPr>
          </a:p>
        </p:txBody>
      </p:sp>
      <p:pic>
        <p:nvPicPr>
          <p:cNvPr id="9" name="Immagin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45196" y="5163389"/>
            <a:ext cx="1123436" cy="1123436"/>
          </a:xfrm>
          <a:prstGeom prst="rect">
            <a:avLst/>
          </a:prstGeom>
        </p:spPr>
      </p:pic>
      <p:sp>
        <p:nvSpPr>
          <p:cNvPr id="10" name="Freccia bidirezionale orizzontale 9"/>
          <p:cNvSpPr/>
          <p:nvPr/>
        </p:nvSpPr>
        <p:spPr>
          <a:xfrm>
            <a:off x="7193103" y="5573270"/>
            <a:ext cx="1566825" cy="379817"/>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1" name="CasellaDiTesto 10"/>
          <p:cNvSpPr txBox="1"/>
          <p:nvPr/>
        </p:nvSpPr>
        <p:spPr>
          <a:xfrm>
            <a:off x="9228096" y="4709445"/>
            <a:ext cx="2535732" cy="461665"/>
          </a:xfrm>
          <a:prstGeom prst="rect">
            <a:avLst/>
          </a:prstGeom>
          <a:noFill/>
        </p:spPr>
        <p:txBody>
          <a:bodyPr wrap="square" rtlCol="0">
            <a:spAutoFit/>
          </a:bodyPr>
          <a:lstStyle/>
          <a:p>
            <a:r>
              <a:rPr lang="it-IT" sz="2400" dirty="0" err="1">
                <a:latin typeface="Aptos" panose="020B0004020202020204" pitchFamily="34" charset="0"/>
              </a:rPr>
              <a:t>Cloud</a:t>
            </a:r>
            <a:r>
              <a:rPr lang="it-IT" sz="2400" dirty="0">
                <a:latin typeface="Aptos" panose="020B0004020202020204" pitchFamily="34" charset="0"/>
              </a:rPr>
              <a:t> server</a:t>
            </a:r>
            <a:endParaRPr lang="en-GB" sz="2400" dirty="0">
              <a:latin typeface="Aptos" panose="020B0004020202020204" pitchFamily="34" charset="0"/>
            </a:endParaRPr>
          </a:p>
        </p:txBody>
      </p:sp>
      <p:pic>
        <p:nvPicPr>
          <p:cNvPr id="2" name="Immagine 1"/>
          <p:cNvPicPr>
            <a:picLocks noChangeAspect="1"/>
          </p:cNvPicPr>
          <p:nvPr/>
        </p:nvPicPr>
        <p:blipFill rotWithShape="1">
          <a:blip r:embed="rId4" cstate="print">
            <a:extLst>
              <a:ext uri="{28A0092B-C50C-407E-A947-70E740481C1C}">
                <a14:useLocalDpi xmlns:a14="http://schemas.microsoft.com/office/drawing/2010/main" val="0"/>
              </a:ext>
            </a:extLst>
          </a:blip>
          <a:srcRect t="16818" b="22879"/>
          <a:stretch/>
        </p:blipFill>
        <p:spPr>
          <a:xfrm>
            <a:off x="9228096" y="5171110"/>
            <a:ext cx="2067564" cy="1346548"/>
          </a:xfrm>
          <a:prstGeom prst="rect">
            <a:avLst/>
          </a:prstGeom>
        </p:spPr>
      </p:pic>
      <p:sp>
        <p:nvSpPr>
          <p:cNvPr id="15" name="CasellaDiTesto 14"/>
          <p:cNvSpPr txBox="1"/>
          <p:nvPr/>
        </p:nvSpPr>
        <p:spPr>
          <a:xfrm>
            <a:off x="2793530" y="6055993"/>
            <a:ext cx="2442348" cy="461665"/>
          </a:xfrm>
          <a:prstGeom prst="rect">
            <a:avLst/>
          </a:prstGeom>
          <a:noFill/>
        </p:spPr>
        <p:txBody>
          <a:bodyPr wrap="square" rtlCol="0">
            <a:spAutoFit/>
          </a:bodyPr>
          <a:lstStyle/>
          <a:p>
            <a:pPr algn="ctr"/>
            <a:r>
              <a:rPr lang="it-IT" sz="2400" dirty="0">
                <a:latin typeface="Aptos" panose="020B0004020202020204" pitchFamily="34" charset="0"/>
              </a:rPr>
              <a:t>Bluetooth</a:t>
            </a:r>
            <a:endParaRPr lang="en-GB" sz="2400" dirty="0">
              <a:latin typeface="Aptos" panose="020B0004020202020204" pitchFamily="34" charset="0"/>
            </a:endParaRPr>
          </a:p>
        </p:txBody>
      </p:sp>
      <p:sp>
        <p:nvSpPr>
          <p:cNvPr id="16" name="CasellaDiTesto 15"/>
          <p:cNvSpPr txBox="1"/>
          <p:nvPr/>
        </p:nvSpPr>
        <p:spPr>
          <a:xfrm>
            <a:off x="6788783" y="6027003"/>
            <a:ext cx="2442348" cy="830997"/>
          </a:xfrm>
          <a:prstGeom prst="rect">
            <a:avLst/>
          </a:prstGeom>
          <a:noFill/>
        </p:spPr>
        <p:txBody>
          <a:bodyPr wrap="square" rtlCol="0">
            <a:spAutoFit/>
          </a:bodyPr>
          <a:lstStyle/>
          <a:p>
            <a:pPr algn="ctr"/>
            <a:r>
              <a:rPr lang="it-IT" sz="2400" dirty="0" err="1">
                <a:latin typeface="Aptos" panose="020B0004020202020204" pitchFamily="34" charset="0"/>
              </a:rPr>
              <a:t>WiFi</a:t>
            </a:r>
            <a:endParaRPr lang="it-IT" sz="2400" dirty="0">
              <a:latin typeface="Aptos" panose="020B0004020202020204" pitchFamily="34" charset="0"/>
            </a:endParaRPr>
          </a:p>
          <a:p>
            <a:pPr algn="ctr"/>
            <a:r>
              <a:rPr lang="it-IT" sz="2400" dirty="0">
                <a:latin typeface="Aptos" panose="020B0004020202020204" pitchFamily="34" charset="0"/>
              </a:rPr>
              <a:t>GSM</a:t>
            </a:r>
            <a:endParaRPr lang="en-GB" sz="2400" dirty="0">
              <a:latin typeface="Aptos" panose="020B0004020202020204" pitchFamily="34" charset="0"/>
            </a:endParaRPr>
          </a:p>
        </p:txBody>
      </p:sp>
      <p:sp>
        <p:nvSpPr>
          <p:cNvPr id="12" name="Segnaposto numero diapositiva 11"/>
          <p:cNvSpPr>
            <a:spLocks noGrp="1"/>
          </p:cNvSpPr>
          <p:nvPr>
            <p:ph type="sldNum" sz="quarter" idx="12"/>
          </p:nvPr>
        </p:nvSpPr>
        <p:spPr/>
        <p:txBody>
          <a:bodyPr/>
          <a:lstStyle/>
          <a:p>
            <a:fld id="{31DE2C5B-556E-47B8-A792-024C2FCA4ACC}" type="slidenum">
              <a:rPr lang="en-GB" smtClean="0"/>
              <a:t>14</a:t>
            </a:fld>
            <a:endParaRPr lang="en-GB"/>
          </a:p>
        </p:txBody>
      </p:sp>
      <p:sp>
        <p:nvSpPr>
          <p:cNvPr id="13" name="Freccia bidirezionale orizzontale 9">
            <a:extLst>
              <a:ext uri="{FF2B5EF4-FFF2-40B4-BE49-F238E27FC236}">
                <a16:creationId xmlns:a16="http://schemas.microsoft.com/office/drawing/2014/main" id="{069BCFC6-1A04-8AB0-138F-32E64868B15E}"/>
              </a:ext>
            </a:extLst>
          </p:cNvPr>
          <p:cNvSpPr/>
          <p:nvPr/>
        </p:nvSpPr>
        <p:spPr>
          <a:xfrm>
            <a:off x="3361043" y="5567796"/>
            <a:ext cx="1566825" cy="379817"/>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Tree>
    <p:extLst>
      <p:ext uri="{BB962C8B-B14F-4D97-AF65-F5344CB8AC3E}">
        <p14:creationId xmlns:p14="http://schemas.microsoft.com/office/powerpoint/2010/main" val="2146097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en-US" dirty="0"/>
              <a:t>3. Data storing and processing layer</a:t>
            </a:r>
          </a:p>
        </p:txBody>
      </p:sp>
      <p:sp>
        <p:nvSpPr>
          <p:cNvPr id="6" name="Segnaposto contenuto 5"/>
          <p:cNvSpPr>
            <a:spLocks noGrp="1"/>
          </p:cNvSpPr>
          <p:nvPr>
            <p:ph idx="1"/>
          </p:nvPr>
        </p:nvSpPr>
        <p:spPr/>
        <p:txBody>
          <a:bodyPr>
            <a:normAutofit/>
          </a:bodyPr>
          <a:lstStyle/>
          <a:p>
            <a:r>
              <a:rPr lang="en-US" dirty="0"/>
              <a:t>Layer responsible for data storing and complex processing</a:t>
            </a:r>
          </a:p>
          <a:p>
            <a:endParaRPr lang="en-US" dirty="0"/>
          </a:p>
          <a:p>
            <a:r>
              <a:rPr lang="en-US" dirty="0"/>
              <a:t>Key components: </a:t>
            </a:r>
          </a:p>
          <a:p>
            <a:pPr lvl="1"/>
            <a:r>
              <a:rPr lang="en-US" b="1" dirty="0"/>
              <a:t>Database</a:t>
            </a:r>
            <a:r>
              <a:rPr lang="en-US" dirty="0"/>
              <a:t> for structured data storing</a:t>
            </a:r>
          </a:p>
          <a:p>
            <a:pPr lvl="2"/>
            <a:r>
              <a:rPr lang="en-US" dirty="0"/>
              <a:t>Data organized based on a specific data model (relational, hierarchical, object-oriented,…)</a:t>
            </a:r>
          </a:p>
          <a:p>
            <a:pPr lvl="2"/>
            <a:endParaRPr lang="en-US" dirty="0"/>
          </a:p>
          <a:p>
            <a:pPr lvl="1"/>
            <a:r>
              <a:rPr lang="en-US" b="1" dirty="0"/>
              <a:t>Algorithms </a:t>
            </a:r>
            <a:r>
              <a:rPr lang="en-US" dirty="0"/>
              <a:t>for data processing</a:t>
            </a:r>
            <a:endParaRPr lang="en-US" b="1" dirty="0"/>
          </a:p>
          <a:p>
            <a:pPr lvl="2"/>
            <a:r>
              <a:rPr lang="en-US" dirty="0"/>
              <a:t>Statistical analysis</a:t>
            </a:r>
          </a:p>
          <a:p>
            <a:pPr lvl="2"/>
            <a:r>
              <a:rPr lang="en-US" dirty="0"/>
              <a:t>Feature extraction (e.g., heart rate, calories expenditure, …)</a:t>
            </a:r>
          </a:p>
          <a:p>
            <a:pPr lvl="2"/>
            <a:r>
              <a:rPr lang="en-US" dirty="0"/>
              <a:t>Signal processing (e.g., filtering, artifact removal, …)</a:t>
            </a:r>
          </a:p>
          <a:p>
            <a:pPr lvl="2"/>
            <a:r>
              <a:rPr lang="en-US" dirty="0"/>
              <a:t>Data mining (e.g., cluster analysis, anomaly detection, sequential pattern extraction, …)</a:t>
            </a:r>
          </a:p>
          <a:p>
            <a:pPr lvl="2"/>
            <a:r>
              <a:rPr lang="en-US" dirty="0"/>
              <a:t>Data modeling (knowledge-based, data-driven or hybrid approaches)</a:t>
            </a:r>
          </a:p>
          <a:p>
            <a:pPr lvl="2"/>
            <a:r>
              <a:rPr lang="en-US" dirty="0"/>
              <a:t>Artificial intelligence (knowledge representation, machine learning, natural language processing, machine perception, automated planning, …)   </a:t>
            </a:r>
          </a:p>
        </p:txBody>
      </p:sp>
      <p:sp>
        <p:nvSpPr>
          <p:cNvPr id="2" name="Segnaposto numero diapositiva 1"/>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2889721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en-US" dirty="0"/>
              <a:t>3. Data storing and processing layer</a:t>
            </a:r>
          </a:p>
        </p:txBody>
      </p:sp>
      <p:sp>
        <p:nvSpPr>
          <p:cNvPr id="6" name="Segnaposto contenuto 5"/>
          <p:cNvSpPr>
            <a:spLocks noGrp="1"/>
          </p:cNvSpPr>
          <p:nvPr>
            <p:ph idx="1"/>
          </p:nvPr>
        </p:nvSpPr>
        <p:spPr/>
        <p:txBody>
          <a:bodyPr>
            <a:normAutofit/>
          </a:bodyPr>
          <a:lstStyle/>
          <a:p>
            <a:r>
              <a:rPr lang="en-US" dirty="0"/>
              <a:t>Layer responsible for data storing and complex processing</a:t>
            </a:r>
          </a:p>
          <a:p>
            <a:endParaRPr lang="en-US" dirty="0"/>
          </a:p>
          <a:p>
            <a:r>
              <a:rPr lang="en-US" dirty="0"/>
              <a:t>Key components: </a:t>
            </a:r>
          </a:p>
          <a:p>
            <a:pPr lvl="1"/>
            <a:r>
              <a:rPr lang="en-US" b="1" dirty="0"/>
              <a:t>Database</a:t>
            </a:r>
            <a:r>
              <a:rPr lang="en-US" dirty="0"/>
              <a:t> for structured data storing</a:t>
            </a:r>
          </a:p>
          <a:p>
            <a:pPr lvl="2"/>
            <a:r>
              <a:rPr lang="en-US" dirty="0"/>
              <a:t>Data organized based on a specific data model (relational, hierarchical, object-oriented,…)</a:t>
            </a:r>
          </a:p>
          <a:p>
            <a:pPr lvl="2"/>
            <a:endParaRPr lang="en-US" dirty="0"/>
          </a:p>
          <a:p>
            <a:pPr lvl="1"/>
            <a:r>
              <a:rPr lang="en-US" b="1" dirty="0"/>
              <a:t>Algorithms </a:t>
            </a:r>
            <a:r>
              <a:rPr lang="en-US" dirty="0"/>
              <a:t>for data processing</a:t>
            </a:r>
            <a:endParaRPr lang="en-US" b="1" dirty="0"/>
          </a:p>
          <a:p>
            <a:pPr lvl="2"/>
            <a:r>
              <a:rPr lang="en-US" dirty="0"/>
              <a:t>Statistical analysis</a:t>
            </a:r>
          </a:p>
          <a:p>
            <a:pPr lvl="2"/>
            <a:r>
              <a:rPr lang="en-US" dirty="0"/>
              <a:t>Feature extraction (e.g., heart rate, calories expenditure, …)</a:t>
            </a:r>
          </a:p>
          <a:p>
            <a:pPr lvl="2"/>
            <a:r>
              <a:rPr lang="en-US" dirty="0"/>
              <a:t>Signal processing (e.g., filtering, artifact removal, …)</a:t>
            </a:r>
          </a:p>
          <a:p>
            <a:pPr lvl="2"/>
            <a:r>
              <a:rPr lang="en-US" dirty="0"/>
              <a:t>Data mining (e.g., cluster analysis, anomaly detection, sequential pattern extraction, …)</a:t>
            </a:r>
          </a:p>
          <a:p>
            <a:pPr lvl="2"/>
            <a:r>
              <a:rPr lang="en-US" dirty="0"/>
              <a:t>Data modeling (knowledge-based, data-driven or hybrid approaches)</a:t>
            </a:r>
          </a:p>
          <a:p>
            <a:pPr lvl="2"/>
            <a:r>
              <a:rPr lang="en-US" dirty="0"/>
              <a:t>Artificial intelligence (knowledge representation, machine learning, natural language processing, machine perception, automated planning, …)   </a:t>
            </a:r>
          </a:p>
        </p:txBody>
      </p:sp>
      <p:sp>
        <p:nvSpPr>
          <p:cNvPr id="2" name="Segnaposto numero diapositiva 1"/>
          <p:cNvSpPr>
            <a:spLocks noGrp="1"/>
          </p:cNvSpPr>
          <p:nvPr>
            <p:ph type="sldNum" sz="quarter" idx="12"/>
          </p:nvPr>
        </p:nvSpPr>
        <p:spPr/>
        <p:txBody>
          <a:bodyPr/>
          <a:lstStyle/>
          <a:p>
            <a:fld id="{31DE2C5B-556E-47B8-A792-024C2FCA4ACC}" type="slidenum">
              <a:rPr lang="en-GB" smtClean="0"/>
              <a:t>16</a:t>
            </a:fld>
            <a:endParaRPr lang="en-GB"/>
          </a:p>
        </p:txBody>
      </p:sp>
      <p:pic>
        <p:nvPicPr>
          <p:cNvPr id="3" name="Graphic 2" descr="Close with solid fill">
            <a:extLst>
              <a:ext uri="{FF2B5EF4-FFF2-40B4-BE49-F238E27FC236}">
                <a16:creationId xmlns:a16="http://schemas.microsoft.com/office/drawing/2014/main" id="{58F3DF7F-A0A0-2EBA-9A79-F1103A961A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3058" y="2669060"/>
            <a:ext cx="12575058" cy="651246"/>
          </a:xfrm>
          <a:prstGeom prst="rect">
            <a:avLst/>
          </a:prstGeom>
        </p:spPr>
      </p:pic>
      <p:sp>
        <p:nvSpPr>
          <p:cNvPr id="7" name="TextBox 6">
            <a:extLst>
              <a:ext uri="{FF2B5EF4-FFF2-40B4-BE49-F238E27FC236}">
                <a16:creationId xmlns:a16="http://schemas.microsoft.com/office/drawing/2014/main" id="{8E420B5D-6854-0831-7228-34ECA5D9F499}"/>
              </a:ext>
            </a:extLst>
          </p:cNvPr>
          <p:cNvSpPr txBox="1"/>
          <p:nvPr/>
        </p:nvSpPr>
        <p:spPr>
          <a:xfrm>
            <a:off x="6655143" y="2170859"/>
            <a:ext cx="2469402" cy="369332"/>
          </a:xfrm>
          <a:prstGeom prst="rect">
            <a:avLst/>
          </a:prstGeom>
          <a:solidFill>
            <a:srgbClr val="FFFF00"/>
          </a:solidFill>
          <a:ln>
            <a:solidFill>
              <a:srgbClr val="C00000"/>
            </a:solidFill>
          </a:ln>
        </p:spPr>
        <p:txBody>
          <a:bodyPr wrap="square">
            <a:spAutoFit/>
          </a:bodyPr>
          <a:lstStyle/>
          <a:p>
            <a:pPr algn="ctr"/>
            <a:r>
              <a:rPr lang="en-US" b="1" dirty="0">
                <a:latin typeface="Aptos" panose="020B0004020202020204" pitchFamily="34" charset="0"/>
                <a:ea typeface="Palatino" pitchFamily="2" charset="77"/>
              </a:rPr>
              <a:t>Topic not covered</a:t>
            </a:r>
          </a:p>
        </p:txBody>
      </p:sp>
    </p:spTree>
    <p:extLst>
      <p:ext uri="{BB962C8B-B14F-4D97-AF65-F5344CB8AC3E}">
        <p14:creationId xmlns:p14="http://schemas.microsoft.com/office/powerpoint/2010/main" val="1585463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4. Application </a:t>
            </a:r>
            <a:r>
              <a:rPr lang="it-IT" dirty="0" err="1"/>
              <a:t>layer</a:t>
            </a:r>
            <a:endParaRPr lang="en-GB" dirty="0"/>
          </a:p>
        </p:txBody>
      </p:sp>
      <p:sp>
        <p:nvSpPr>
          <p:cNvPr id="6" name="Segnaposto contenuto 5"/>
          <p:cNvSpPr>
            <a:spLocks noGrp="1"/>
          </p:cNvSpPr>
          <p:nvPr>
            <p:ph idx="1"/>
          </p:nvPr>
        </p:nvSpPr>
        <p:spPr/>
        <p:txBody>
          <a:bodyPr/>
          <a:lstStyle/>
          <a:p>
            <a:r>
              <a:rPr lang="en-GB" dirty="0"/>
              <a:t>Layer responsible for visualizing raw or processed data to end-users and for providing decision support to them through a software application</a:t>
            </a:r>
          </a:p>
          <a:p>
            <a:r>
              <a:rPr lang="it-IT" dirty="0" err="1"/>
              <a:t>Possible</a:t>
            </a:r>
            <a:r>
              <a:rPr lang="it-IT" dirty="0"/>
              <a:t> end-</a:t>
            </a:r>
            <a:r>
              <a:rPr lang="it-IT" dirty="0" err="1"/>
              <a:t>users</a:t>
            </a:r>
            <a:r>
              <a:rPr lang="it-IT" dirty="0"/>
              <a:t>: </a:t>
            </a:r>
            <a:r>
              <a:rPr lang="en-GB" dirty="0"/>
              <a:t>patients, physicians, caregivers, analysts, data managers, administrators, etc. </a:t>
            </a:r>
          </a:p>
          <a:p>
            <a:r>
              <a:rPr lang="it-IT" dirty="0" err="1"/>
              <a:t>Possible</a:t>
            </a:r>
            <a:r>
              <a:rPr lang="it-IT" dirty="0"/>
              <a:t> </a:t>
            </a:r>
            <a:r>
              <a:rPr lang="it-IT" dirty="0" err="1"/>
              <a:t>types</a:t>
            </a:r>
            <a:r>
              <a:rPr lang="it-IT" dirty="0"/>
              <a:t> of </a:t>
            </a:r>
            <a:r>
              <a:rPr lang="it-IT" dirty="0" err="1"/>
              <a:t>applications</a:t>
            </a:r>
            <a:r>
              <a:rPr lang="it-IT" dirty="0"/>
              <a:t>:  </a:t>
            </a:r>
            <a:endParaRPr lang="en-GB" dirty="0"/>
          </a:p>
        </p:txBody>
      </p:sp>
      <p:sp>
        <p:nvSpPr>
          <p:cNvPr id="2" name="CasellaDiTesto 1"/>
          <p:cNvSpPr txBox="1"/>
          <p:nvPr/>
        </p:nvSpPr>
        <p:spPr>
          <a:xfrm>
            <a:off x="1089423" y="3528503"/>
            <a:ext cx="1855177" cy="369332"/>
          </a:xfrm>
          <a:prstGeom prst="rect">
            <a:avLst/>
          </a:prstGeom>
          <a:noFill/>
        </p:spPr>
        <p:txBody>
          <a:bodyPr wrap="square" rtlCol="0">
            <a:spAutoFit/>
          </a:bodyPr>
          <a:lstStyle/>
          <a:p>
            <a:pPr algn="ctr"/>
            <a:r>
              <a:rPr lang="en-US" b="1" dirty="0">
                <a:latin typeface="Aptos" panose="020B0004020202020204" pitchFamily="34" charset="0"/>
              </a:rPr>
              <a:t>Mobile app</a:t>
            </a:r>
          </a:p>
        </p:txBody>
      </p:sp>
      <p:sp>
        <p:nvSpPr>
          <p:cNvPr id="7" name="CasellaDiTesto 6"/>
          <p:cNvSpPr txBox="1"/>
          <p:nvPr/>
        </p:nvSpPr>
        <p:spPr>
          <a:xfrm>
            <a:off x="5234008" y="3490095"/>
            <a:ext cx="1855177" cy="369332"/>
          </a:xfrm>
          <a:prstGeom prst="rect">
            <a:avLst/>
          </a:prstGeom>
          <a:noFill/>
        </p:spPr>
        <p:txBody>
          <a:bodyPr wrap="square" rtlCol="0">
            <a:spAutoFit/>
          </a:bodyPr>
          <a:lstStyle/>
          <a:p>
            <a:pPr algn="ctr"/>
            <a:r>
              <a:rPr lang="en-US" b="1" dirty="0">
                <a:latin typeface="Aptos" panose="020B0004020202020204" pitchFamily="34" charset="0"/>
              </a:rPr>
              <a:t>Desktop app</a:t>
            </a:r>
          </a:p>
        </p:txBody>
      </p:sp>
      <p:sp>
        <p:nvSpPr>
          <p:cNvPr id="8" name="CasellaDiTesto 7"/>
          <p:cNvSpPr txBox="1"/>
          <p:nvPr/>
        </p:nvSpPr>
        <p:spPr>
          <a:xfrm>
            <a:off x="9138209" y="3490095"/>
            <a:ext cx="1855177" cy="369332"/>
          </a:xfrm>
          <a:prstGeom prst="rect">
            <a:avLst/>
          </a:prstGeom>
          <a:noFill/>
        </p:spPr>
        <p:txBody>
          <a:bodyPr wrap="square" rtlCol="0">
            <a:spAutoFit/>
          </a:bodyPr>
          <a:lstStyle/>
          <a:p>
            <a:pPr algn="ctr"/>
            <a:r>
              <a:rPr lang="en-US" b="1" dirty="0">
                <a:latin typeface="Aptos" panose="020B0004020202020204" pitchFamily="34" charset="0"/>
              </a:rPr>
              <a:t>Web app</a:t>
            </a:r>
          </a:p>
        </p:txBody>
      </p:sp>
      <p:sp>
        <p:nvSpPr>
          <p:cNvPr id="9" name="CasellaDiTesto 8"/>
          <p:cNvSpPr txBox="1"/>
          <p:nvPr/>
        </p:nvSpPr>
        <p:spPr>
          <a:xfrm>
            <a:off x="4492293" y="5942369"/>
            <a:ext cx="3207414" cy="646331"/>
          </a:xfrm>
          <a:prstGeom prst="rect">
            <a:avLst/>
          </a:prstGeom>
          <a:noFill/>
        </p:spPr>
        <p:txBody>
          <a:bodyPr wrap="square" rtlCol="0">
            <a:spAutoFit/>
          </a:bodyPr>
          <a:lstStyle/>
          <a:p>
            <a:pPr algn="ctr"/>
            <a:r>
              <a:rPr lang="en-US" dirty="0">
                <a:latin typeface="Aptos" panose="020B0004020202020204" pitchFamily="34" charset="0"/>
              </a:rPr>
              <a:t>App installed in a computer. It can work offline. </a:t>
            </a:r>
          </a:p>
        </p:txBody>
      </p:sp>
      <p:sp>
        <p:nvSpPr>
          <p:cNvPr id="10" name="CasellaDiTesto 9"/>
          <p:cNvSpPr txBox="1"/>
          <p:nvPr/>
        </p:nvSpPr>
        <p:spPr>
          <a:xfrm>
            <a:off x="8386213" y="5847674"/>
            <a:ext cx="3317491" cy="923330"/>
          </a:xfrm>
          <a:prstGeom prst="rect">
            <a:avLst/>
          </a:prstGeom>
          <a:noFill/>
        </p:spPr>
        <p:txBody>
          <a:bodyPr wrap="square" rtlCol="0">
            <a:spAutoFit/>
          </a:bodyPr>
          <a:lstStyle/>
          <a:p>
            <a:pPr algn="ctr"/>
            <a:r>
              <a:rPr lang="en-US" dirty="0">
                <a:latin typeface="Aptos" panose="020B0004020202020204" pitchFamily="34" charset="0"/>
              </a:rPr>
              <a:t>App that runs on the browser.</a:t>
            </a:r>
          </a:p>
          <a:p>
            <a:pPr algn="ctr"/>
            <a:r>
              <a:rPr lang="en-US" dirty="0">
                <a:latin typeface="Aptos" panose="020B0004020202020204" pitchFamily="34" charset="0"/>
              </a:rPr>
              <a:t>Installation not required.  Internet access required.  </a:t>
            </a:r>
          </a:p>
        </p:txBody>
      </p:sp>
      <p:sp>
        <p:nvSpPr>
          <p:cNvPr id="11" name="CasellaDiTesto 10"/>
          <p:cNvSpPr txBox="1"/>
          <p:nvPr/>
        </p:nvSpPr>
        <p:spPr>
          <a:xfrm>
            <a:off x="338171" y="5942370"/>
            <a:ext cx="4115305" cy="646331"/>
          </a:xfrm>
          <a:prstGeom prst="rect">
            <a:avLst/>
          </a:prstGeom>
          <a:noFill/>
        </p:spPr>
        <p:txBody>
          <a:bodyPr wrap="square" rtlCol="0">
            <a:spAutoFit/>
          </a:bodyPr>
          <a:lstStyle/>
          <a:p>
            <a:r>
              <a:rPr lang="en-US" dirty="0">
                <a:latin typeface="Aptos" panose="020B0004020202020204" pitchFamily="34" charset="0"/>
              </a:rPr>
              <a:t>App installed in a mobile device (e.g. smartphone, smartwatch, tablet, etc.)</a:t>
            </a:r>
          </a:p>
        </p:txBody>
      </p:sp>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6233" y="3954778"/>
            <a:ext cx="2457450" cy="1866900"/>
          </a:xfrm>
          <a:prstGeom prst="rect">
            <a:avLst/>
          </a:prstGeom>
        </p:spPr>
      </p:pic>
      <p:pic>
        <p:nvPicPr>
          <p:cNvPr id="4" name="Immagin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802" y="3970435"/>
            <a:ext cx="3173591" cy="1785145"/>
          </a:xfrm>
          <a:prstGeom prst="rect">
            <a:avLst/>
          </a:prstGeom>
        </p:spPr>
      </p:pic>
      <p:pic>
        <p:nvPicPr>
          <p:cNvPr id="12" name="Immagine 11"/>
          <p:cNvPicPr>
            <a:picLocks noChangeAspect="1"/>
          </p:cNvPicPr>
          <p:nvPr/>
        </p:nvPicPr>
        <p:blipFill rotWithShape="1">
          <a:blip r:embed="rId4" cstate="print">
            <a:extLst>
              <a:ext uri="{28A0092B-C50C-407E-A947-70E740481C1C}">
                <a14:useLocalDpi xmlns:a14="http://schemas.microsoft.com/office/drawing/2010/main" val="0"/>
              </a:ext>
            </a:extLst>
          </a:blip>
          <a:srcRect l="5613" t="7500" r="40526" b="4945"/>
          <a:stretch/>
        </p:blipFill>
        <p:spPr>
          <a:xfrm>
            <a:off x="1510537" y="3954778"/>
            <a:ext cx="1012951" cy="1800802"/>
          </a:xfrm>
          <a:prstGeom prst="rect">
            <a:avLst/>
          </a:prstGeom>
        </p:spPr>
      </p:pic>
      <p:sp>
        <p:nvSpPr>
          <p:cNvPr id="13" name="Segnaposto numero diapositiva 12"/>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3984442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Applications of wearable </a:t>
            </a:r>
            <a:r>
              <a:rPr lang="en-US" dirty="0" err="1"/>
              <a:t>IoT</a:t>
            </a:r>
            <a:r>
              <a:rPr lang="en-US" dirty="0"/>
              <a:t> in healthcare and wellbeing</a:t>
            </a:r>
          </a:p>
        </p:txBody>
      </p:sp>
      <p:sp>
        <p:nvSpPr>
          <p:cNvPr id="3" name="Segnaposto contenuto 2"/>
          <p:cNvSpPr>
            <a:spLocks noGrp="1"/>
          </p:cNvSpPr>
          <p:nvPr>
            <p:ph idx="1"/>
          </p:nvPr>
        </p:nvSpPr>
        <p:spPr>
          <a:xfrm>
            <a:off x="428172" y="1522946"/>
            <a:ext cx="11368314" cy="4160401"/>
          </a:xfrm>
        </p:spPr>
        <p:txBody>
          <a:bodyPr>
            <a:normAutofit/>
          </a:bodyPr>
          <a:lstStyle/>
          <a:p>
            <a:pPr marL="0" indent="0">
              <a:buNone/>
            </a:pPr>
            <a:r>
              <a:rPr lang="en-US" sz="2200" dirty="0"/>
              <a:t>Some health applications: </a:t>
            </a:r>
          </a:p>
          <a:p>
            <a:r>
              <a:rPr lang="en-US" sz="2200" dirty="0" err="1"/>
              <a:t>Telemonitoring</a:t>
            </a:r>
            <a:r>
              <a:rPr lang="en-US" sz="2200" dirty="0"/>
              <a:t> and telemedicine in chronic diseases</a:t>
            </a:r>
          </a:p>
          <a:p>
            <a:r>
              <a:rPr lang="en-US" sz="2200" dirty="0"/>
              <a:t>Investigative monitoring for diagnostic purposes</a:t>
            </a:r>
          </a:p>
          <a:p>
            <a:r>
              <a:rPr lang="en-US" sz="2200" dirty="0"/>
              <a:t>Sensor-based biomechanical </a:t>
            </a:r>
            <a:r>
              <a:rPr lang="en-US" sz="2200" dirty="0" err="1"/>
              <a:t>telerehabilitation</a:t>
            </a:r>
            <a:endParaRPr lang="en-US" sz="2200" dirty="0"/>
          </a:p>
          <a:p>
            <a:endParaRPr lang="en-US" sz="2200" dirty="0"/>
          </a:p>
          <a:p>
            <a:pPr marL="0" indent="0">
              <a:buNone/>
            </a:pPr>
            <a:r>
              <a:rPr lang="en-US" sz="2200" dirty="0"/>
              <a:t>Some wellbeing applications: </a:t>
            </a:r>
          </a:p>
          <a:p>
            <a:r>
              <a:rPr lang="en-US" sz="2200" dirty="0"/>
              <a:t>Sport and fitness sensing</a:t>
            </a:r>
          </a:p>
          <a:p>
            <a:r>
              <a:rPr lang="en-US" sz="2200" dirty="0"/>
              <a:t>Activity and sleep monitoring</a:t>
            </a:r>
          </a:p>
          <a:p>
            <a:r>
              <a:rPr lang="en-US" sz="2200" dirty="0"/>
              <a:t>Falls detection</a:t>
            </a:r>
          </a:p>
          <a:p>
            <a:pPr marL="0" indent="0">
              <a:buNone/>
            </a:pPr>
            <a:endParaRPr lang="it-IT" sz="2200" dirty="0"/>
          </a:p>
          <a:p>
            <a:endParaRPr lang="it-IT" sz="2200" dirty="0"/>
          </a:p>
          <a:p>
            <a:endParaRPr lang="en-GB" sz="22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18</a:t>
            </a:fld>
            <a:endParaRPr lang="en-GB"/>
          </a:p>
        </p:txBody>
      </p:sp>
    </p:spTree>
    <p:extLst>
      <p:ext uri="{BB962C8B-B14F-4D97-AF65-F5344CB8AC3E}">
        <p14:creationId xmlns:p14="http://schemas.microsoft.com/office/powerpoint/2010/main" val="3084852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err="1"/>
              <a:t>Telemonitoring</a:t>
            </a:r>
            <a:r>
              <a:rPr lang="it-IT" dirty="0"/>
              <a:t> and telemedicine in </a:t>
            </a:r>
            <a:r>
              <a:rPr lang="it-IT" dirty="0" err="1"/>
              <a:t>chronic</a:t>
            </a:r>
            <a:r>
              <a:rPr lang="it-IT" dirty="0"/>
              <a:t> </a:t>
            </a:r>
            <a:r>
              <a:rPr lang="it-IT" dirty="0" err="1"/>
              <a:t>diseases</a:t>
            </a:r>
            <a:endParaRPr lang="en-US" dirty="0"/>
          </a:p>
        </p:txBody>
      </p:sp>
      <p:sp>
        <p:nvSpPr>
          <p:cNvPr id="3" name="Segnaposto contenuto 2"/>
          <p:cNvSpPr>
            <a:spLocks noGrp="1"/>
          </p:cNvSpPr>
          <p:nvPr>
            <p:ph idx="1"/>
          </p:nvPr>
        </p:nvSpPr>
        <p:spPr>
          <a:xfrm>
            <a:off x="428172" y="1361168"/>
            <a:ext cx="11368314" cy="4586552"/>
          </a:xfrm>
        </p:spPr>
        <p:txBody>
          <a:bodyPr>
            <a:normAutofit/>
          </a:bodyPr>
          <a:lstStyle/>
          <a:p>
            <a:r>
              <a:rPr lang="en-US" sz="2200" dirty="0"/>
              <a:t>Example: </a:t>
            </a:r>
            <a:r>
              <a:rPr lang="en-US" sz="2200" dirty="0" err="1"/>
              <a:t>Telemonitoring</a:t>
            </a:r>
            <a:r>
              <a:rPr lang="en-US" sz="2200" dirty="0"/>
              <a:t> of glucose concentration in people with diabetes</a:t>
            </a:r>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610" y="2112497"/>
            <a:ext cx="6991350" cy="4002295"/>
          </a:xfrm>
          <a:prstGeom prst="rect">
            <a:avLst/>
          </a:prstGeom>
        </p:spPr>
      </p:pic>
      <p:sp>
        <p:nvSpPr>
          <p:cNvPr id="5" name="Segnaposto contenuto 2"/>
          <p:cNvSpPr txBox="1">
            <a:spLocks/>
          </p:cNvSpPr>
          <p:nvPr/>
        </p:nvSpPr>
        <p:spPr>
          <a:xfrm>
            <a:off x="6826397" y="2271448"/>
            <a:ext cx="4970089" cy="367627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ptos" panose="020B0004020202020204" pitchFamily="34" charset="0"/>
              </a:rPr>
              <a:t>Through a dedicated telemonitoring application, the doctor can remotely review patients data at any time</a:t>
            </a:r>
          </a:p>
          <a:p>
            <a:r>
              <a:rPr lang="en-US" sz="2200" dirty="0">
                <a:latin typeface="Aptos" panose="020B0004020202020204" pitchFamily="34" charset="0"/>
              </a:rPr>
              <a:t>Continuous data synchronization</a:t>
            </a:r>
          </a:p>
          <a:p>
            <a:r>
              <a:rPr lang="en-US" sz="2200" dirty="0">
                <a:latin typeface="Aptos" panose="020B0004020202020204" pitchFamily="34" charset="0"/>
              </a:rPr>
              <a:t>Remote monitoring also possible for parents and caregivers</a:t>
            </a:r>
          </a:p>
        </p:txBody>
      </p:sp>
      <p:sp>
        <p:nvSpPr>
          <p:cNvPr id="6" name="Segnaposto numero diapositiva 5"/>
          <p:cNvSpPr>
            <a:spLocks noGrp="1"/>
          </p:cNvSpPr>
          <p:nvPr>
            <p:ph type="sldNum" sz="quarter" idx="12"/>
          </p:nvPr>
        </p:nvSpPr>
        <p:spPr/>
        <p:txBody>
          <a:bodyPr/>
          <a:lstStyle/>
          <a:p>
            <a:fld id="{31DE2C5B-556E-47B8-A792-024C2FCA4ACC}" type="slidenum">
              <a:rPr lang="en-GB" smtClean="0"/>
              <a:t>19</a:t>
            </a:fld>
            <a:endParaRPr lang="en-GB"/>
          </a:p>
        </p:txBody>
      </p:sp>
    </p:spTree>
    <p:extLst>
      <p:ext uri="{BB962C8B-B14F-4D97-AF65-F5344CB8AC3E}">
        <p14:creationId xmlns:p14="http://schemas.microsoft.com/office/powerpoint/2010/main" val="2271624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Sensor-</a:t>
            </a:r>
            <a:r>
              <a:rPr lang="it-IT" dirty="0" err="1"/>
              <a:t>based</a:t>
            </a:r>
            <a:r>
              <a:rPr lang="it-IT" dirty="0"/>
              <a:t> </a:t>
            </a:r>
            <a:r>
              <a:rPr lang="it-IT" dirty="0" err="1"/>
              <a:t>biomechanical</a:t>
            </a:r>
            <a:r>
              <a:rPr lang="it-IT" dirty="0"/>
              <a:t> </a:t>
            </a:r>
            <a:r>
              <a:rPr lang="it-IT" dirty="0" err="1"/>
              <a:t>telerehabilitation</a:t>
            </a:r>
            <a:endParaRPr lang="en-GB" dirty="0"/>
          </a:p>
        </p:txBody>
      </p:sp>
      <p:sp>
        <p:nvSpPr>
          <p:cNvPr id="3" name="Segnaposto contenuto 2"/>
          <p:cNvSpPr>
            <a:spLocks noGrp="1"/>
          </p:cNvSpPr>
          <p:nvPr>
            <p:ph idx="1"/>
          </p:nvPr>
        </p:nvSpPr>
        <p:spPr>
          <a:xfrm>
            <a:off x="428172" y="1361167"/>
            <a:ext cx="7611514" cy="4858203"/>
          </a:xfrm>
        </p:spPr>
        <p:txBody>
          <a:bodyPr>
            <a:normAutofit/>
          </a:bodyPr>
          <a:lstStyle/>
          <a:p>
            <a:r>
              <a:rPr lang="en-GB" dirty="0"/>
              <a:t>Key components: </a:t>
            </a:r>
          </a:p>
          <a:p>
            <a:pPr lvl="1"/>
            <a:r>
              <a:rPr lang="en-GB" dirty="0"/>
              <a:t>Wearable </a:t>
            </a:r>
            <a:r>
              <a:rPr lang="en-GB" b="1" dirty="0"/>
              <a:t>inertial sensors </a:t>
            </a:r>
            <a:r>
              <a:rPr lang="en-GB" dirty="0"/>
              <a:t>tracking patient’s movement </a:t>
            </a:r>
          </a:p>
          <a:p>
            <a:pPr lvl="1"/>
            <a:r>
              <a:rPr lang="en-GB" dirty="0"/>
              <a:t>I</a:t>
            </a:r>
            <a:r>
              <a:rPr lang="en-GB" b="1" dirty="0"/>
              <a:t>nteractive software</a:t>
            </a:r>
          </a:p>
          <a:p>
            <a:pPr lvl="2"/>
            <a:r>
              <a:rPr lang="en-GB" dirty="0"/>
              <a:t>displays personalized rehabilitation exercises</a:t>
            </a:r>
          </a:p>
          <a:p>
            <a:pPr lvl="2"/>
            <a:r>
              <a:rPr lang="en-GB" dirty="0"/>
              <a:t>receives the sensors’ data</a:t>
            </a:r>
          </a:p>
          <a:p>
            <a:pPr lvl="2"/>
            <a:r>
              <a:rPr lang="en-GB" dirty="0"/>
              <a:t>provides the real-time representations of the patient </a:t>
            </a:r>
          </a:p>
          <a:p>
            <a:pPr lvl="2"/>
            <a:r>
              <a:rPr lang="en-GB" dirty="0"/>
              <a:t>provides visual feedback to the patient, e.g. using an avatar</a:t>
            </a:r>
          </a:p>
          <a:p>
            <a:pPr lvl="1"/>
            <a:r>
              <a:rPr lang="en-GB" dirty="0"/>
              <a:t>A </a:t>
            </a:r>
            <a:r>
              <a:rPr lang="en-GB" b="1" dirty="0"/>
              <a:t>platform for clinicians </a:t>
            </a:r>
            <a:r>
              <a:rPr lang="en-GB" dirty="0"/>
              <a:t>to remotely follow the therapy sessions in real-time or review the data offline </a:t>
            </a:r>
          </a:p>
          <a:p>
            <a:pPr lvl="1"/>
            <a:endParaRPr lang="en-GB" dirty="0"/>
          </a:p>
          <a:p>
            <a:r>
              <a:rPr lang="en-GB" dirty="0"/>
              <a:t>Main application: remote monitoring of patient performance and progress in a rehabilitation programs (e.g., post-stroke, post-fall, or post-surgical operation)</a:t>
            </a:r>
          </a:p>
        </p:txBody>
      </p:sp>
      <p:pic>
        <p:nvPicPr>
          <p:cNvPr id="5" name="Immagin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2438" y="4336431"/>
            <a:ext cx="3761987" cy="1768134"/>
          </a:xfrm>
          <a:prstGeom prst="rect">
            <a:avLst/>
          </a:prstGeom>
        </p:spPr>
      </p:pic>
      <p:pic>
        <p:nvPicPr>
          <p:cNvPr id="6" name="Immagin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2438" y="1437825"/>
            <a:ext cx="3718226" cy="2482949"/>
          </a:xfrm>
          <a:prstGeom prst="rect">
            <a:avLst/>
          </a:prstGeom>
        </p:spPr>
      </p:pic>
      <p:sp>
        <p:nvSpPr>
          <p:cNvPr id="4" name="Segnaposto numero diapositiva 3"/>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360320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p:cNvPicPr>
            <a:picLocks noChangeAspect="1"/>
          </p:cNvPicPr>
          <p:nvPr/>
        </p:nvPicPr>
        <p:blipFill rotWithShape="1">
          <a:blip r:embed="rId2" cstate="print">
            <a:extLst>
              <a:ext uri="{28A0092B-C50C-407E-A947-70E740481C1C}">
                <a14:useLocalDpi xmlns:a14="http://schemas.microsoft.com/office/drawing/2010/main" val="0"/>
              </a:ext>
            </a:extLst>
          </a:blip>
          <a:srcRect l="12006" r="8173"/>
          <a:stretch/>
        </p:blipFill>
        <p:spPr>
          <a:xfrm>
            <a:off x="8434306" y="4613983"/>
            <a:ext cx="3362180" cy="2208774"/>
          </a:xfrm>
          <a:prstGeom prst="rect">
            <a:avLst/>
          </a:prstGeom>
        </p:spPr>
      </p:pic>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593" y="4723081"/>
            <a:ext cx="1831160" cy="1990578"/>
          </a:xfrm>
          <a:prstGeom prst="rect">
            <a:avLst/>
          </a:prstGeom>
        </p:spPr>
      </p:pic>
      <p:sp>
        <p:nvSpPr>
          <p:cNvPr id="2" name="Titolo 1"/>
          <p:cNvSpPr>
            <a:spLocks noGrp="1"/>
          </p:cNvSpPr>
          <p:nvPr>
            <p:ph type="title"/>
          </p:nvPr>
        </p:nvSpPr>
        <p:spPr/>
        <p:txBody>
          <a:bodyPr/>
          <a:lstStyle/>
          <a:p>
            <a:r>
              <a:rPr lang="it-IT" dirty="0"/>
              <a:t>Sport and fitness </a:t>
            </a:r>
            <a:r>
              <a:rPr lang="it-IT" dirty="0" err="1"/>
              <a:t>sensing</a:t>
            </a:r>
            <a:endParaRPr lang="en-GB" dirty="0"/>
          </a:p>
        </p:txBody>
      </p:sp>
      <p:sp>
        <p:nvSpPr>
          <p:cNvPr id="3" name="Segnaposto contenuto 2"/>
          <p:cNvSpPr>
            <a:spLocks noGrp="1"/>
          </p:cNvSpPr>
          <p:nvPr>
            <p:ph idx="1"/>
          </p:nvPr>
        </p:nvSpPr>
        <p:spPr>
          <a:xfrm>
            <a:off x="539496" y="1284967"/>
            <a:ext cx="11048920" cy="3329016"/>
          </a:xfrm>
        </p:spPr>
        <p:txBody>
          <a:bodyPr>
            <a:normAutofit lnSpcReduction="10000"/>
          </a:bodyPr>
          <a:lstStyle/>
          <a:p>
            <a:r>
              <a:rPr lang="en-GB" dirty="0"/>
              <a:t>Most common sensors: chest straps, wristbands, </a:t>
            </a:r>
            <a:r>
              <a:rPr lang="en-GB" dirty="0" err="1"/>
              <a:t>footpods</a:t>
            </a:r>
            <a:r>
              <a:rPr lang="en-GB" dirty="0"/>
              <a:t> and insoles, sensor patches, sensors in sportwear clothing (smart clothing), sensors in sportwear </a:t>
            </a:r>
            <a:r>
              <a:rPr lang="en-GB" dirty="0" err="1"/>
              <a:t>equipement</a:t>
            </a:r>
            <a:endParaRPr lang="en-GB" dirty="0"/>
          </a:p>
          <a:p>
            <a:r>
              <a:rPr lang="en-GB" b="1" dirty="0"/>
              <a:t>Real-time monitoring of performance and coaching </a:t>
            </a:r>
            <a:r>
              <a:rPr lang="en-GB" dirty="0"/>
              <a:t>through portable display devices </a:t>
            </a:r>
          </a:p>
          <a:p>
            <a:r>
              <a:rPr lang="en-GB" b="1" dirty="0"/>
              <a:t>Off-line review of sport statistics</a:t>
            </a:r>
            <a:r>
              <a:rPr lang="en-GB" dirty="0"/>
              <a:t>, on web-based portals</a:t>
            </a:r>
          </a:p>
          <a:p>
            <a:r>
              <a:rPr lang="en-GB" b="1" dirty="0"/>
              <a:t>Data sharing and social networking</a:t>
            </a:r>
            <a:endParaRPr lang="en-GB" dirty="0"/>
          </a:p>
          <a:p>
            <a:r>
              <a:rPr lang="en-GB" b="1" dirty="0"/>
              <a:t>Gamification of fitness data</a:t>
            </a:r>
            <a:r>
              <a:rPr lang="en-GB" dirty="0"/>
              <a:t>: gaming features (e.g. fitness challenges) encourage the adoption of fitness technologies.</a:t>
            </a:r>
          </a:p>
        </p:txBody>
      </p:sp>
      <p:pic>
        <p:nvPicPr>
          <p:cNvPr id="6" name="Immagine 5"/>
          <p:cNvPicPr>
            <a:picLocks noChangeAspect="1"/>
          </p:cNvPicPr>
          <p:nvPr/>
        </p:nvPicPr>
        <p:blipFill rotWithShape="1">
          <a:blip r:embed="rId4">
            <a:extLst>
              <a:ext uri="{28A0092B-C50C-407E-A947-70E740481C1C}">
                <a14:useLocalDpi xmlns:a14="http://schemas.microsoft.com/office/drawing/2010/main" val="0"/>
              </a:ext>
            </a:extLst>
          </a:blip>
          <a:srcRect l="19356" r="9446"/>
          <a:stretch/>
        </p:blipFill>
        <p:spPr>
          <a:xfrm>
            <a:off x="1401707" y="4890346"/>
            <a:ext cx="2827607" cy="1668022"/>
          </a:xfrm>
          <a:prstGeom prst="rect">
            <a:avLst/>
          </a:prstGeom>
        </p:spPr>
      </p:pic>
      <p:sp>
        <p:nvSpPr>
          <p:cNvPr id="7" name="Segnaposto numero diapositiva 6"/>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2934702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Activity and sleep monitoring</a:t>
            </a:r>
          </a:p>
        </p:txBody>
      </p:sp>
      <p:sp>
        <p:nvSpPr>
          <p:cNvPr id="3" name="Segnaposto contenuto 2"/>
          <p:cNvSpPr>
            <a:spLocks noGrp="1"/>
          </p:cNvSpPr>
          <p:nvPr>
            <p:ph idx="1"/>
          </p:nvPr>
        </p:nvSpPr>
        <p:spPr>
          <a:xfrm>
            <a:off x="428172" y="1361167"/>
            <a:ext cx="11358444" cy="4858203"/>
          </a:xfrm>
        </p:spPr>
        <p:txBody>
          <a:bodyPr>
            <a:normAutofit/>
          </a:bodyPr>
          <a:lstStyle/>
          <a:p>
            <a:r>
              <a:rPr lang="en-US" sz="2200" dirty="0"/>
              <a:t>Measurements of activity (steps, distance traveled, etc.), calorie balance, sleep quality.</a:t>
            </a:r>
          </a:p>
          <a:p>
            <a:r>
              <a:rPr lang="en-US" sz="2200" dirty="0"/>
              <a:t>Objectives: </a:t>
            </a:r>
          </a:p>
          <a:p>
            <a:pPr lvl="1"/>
            <a:r>
              <a:rPr lang="en-US" sz="2200" b="1" dirty="0"/>
              <a:t>Encourage movement </a:t>
            </a:r>
            <a:r>
              <a:rPr lang="en-US" sz="2200" dirty="0"/>
              <a:t>in sedentary individuals</a:t>
            </a:r>
          </a:p>
          <a:p>
            <a:pPr lvl="1"/>
            <a:r>
              <a:rPr lang="en-GB" sz="2200" b="1" dirty="0"/>
              <a:t>Obesity management</a:t>
            </a:r>
            <a:r>
              <a:rPr lang="en-GB" sz="2200" dirty="0"/>
              <a:t>: monitor an individual’s participation in a weight management program and maintain engagement</a:t>
            </a:r>
          </a:p>
          <a:p>
            <a:pPr lvl="1"/>
            <a:r>
              <a:rPr lang="it-IT" sz="2200" b="1" dirty="0" err="1"/>
              <a:t>Sleep</a:t>
            </a:r>
            <a:r>
              <a:rPr lang="it-IT" sz="2200" b="1" dirty="0"/>
              <a:t> </a:t>
            </a:r>
            <a:r>
              <a:rPr lang="it-IT" sz="2200" b="1" dirty="0" err="1"/>
              <a:t>monitoring</a:t>
            </a:r>
            <a:r>
              <a:rPr lang="it-IT" sz="2200" b="1" dirty="0"/>
              <a:t> </a:t>
            </a:r>
            <a:r>
              <a:rPr lang="it-IT" sz="2200" dirty="0"/>
              <a:t>by </a:t>
            </a:r>
            <a:r>
              <a:rPr lang="it-IT" sz="2200" dirty="0" err="1"/>
              <a:t>contact</a:t>
            </a:r>
            <a:r>
              <a:rPr lang="it-IT" sz="2200" dirty="0"/>
              <a:t> </a:t>
            </a:r>
            <a:r>
              <a:rPr lang="it-IT" sz="2200" dirty="0" err="1"/>
              <a:t>sensors</a:t>
            </a:r>
            <a:r>
              <a:rPr lang="it-IT" sz="2200" dirty="0"/>
              <a:t> (e.g. </a:t>
            </a:r>
            <a:r>
              <a:rPr lang="it-IT" sz="2200" dirty="0" err="1"/>
              <a:t>wristbands</a:t>
            </a:r>
            <a:r>
              <a:rPr lang="it-IT" sz="2200" dirty="0"/>
              <a:t>) or non-</a:t>
            </a:r>
            <a:r>
              <a:rPr lang="it-IT" sz="2200" dirty="0" err="1"/>
              <a:t>contact</a:t>
            </a:r>
            <a:r>
              <a:rPr lang="it-IT" sz="2200" dirty="0"/>
              <a:t> </a:t>
            </a:r>
            <a:r>
              <a:rPr lang="it-IT" sz="2200" dirty="0" err="1"/>
              <a:t>sensors</a:t>
            </a:r>
            <a:r>
              <a:rPr lang="it-IT" sz="2200" dirty="0"/>
              <a:t> (e.g. under-</a:t>
            </a:r>
            <a:r>
              <a:rPr lang="it-IT" sz="2200" dirty="0" err="1"/>
              <a:t>mattress</a:t>
            </a:r>
            <a:r>
              <a:rPr lang="it-IT" sz="2200" dirty="0"/>
              <a:t> </a:t>
            </a:r>
            <a:r>
              <a:rPr lang="it-IT" sz="2200" dirty="0" err="1"/>
              <a:t>sleep</a:t>
            </a:r>
            <a:r>
              <a:rPr lang="it-IT" sz="2200" dirty="0"/>
              <a:t> </a:t>
            </a:r>
            <a:r>
              <a:rPr lang="it-IT" sz="2200" dirty="0" err="1"/>
              <a:t>trackers</a:t>
            </a:r>
            <a:r>
              <a:rPr lang="it-IT" sz="2200" dirty="0"/>
              <a:t>) </a:t>
            </a:r>
          </a:p>
        </p:txBody>
      </p:sp>
      <p:pic>
        <p:nvPicPr>
          <p:cNvPr id="4" name="Immagin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86" y="3972929"/>
            <a:ext cx="2641614" cy="1765521"/>
          </a:xfrm>
          <a:prstGeom prst="rect">
            <a:avLst/>
          </a:prstGeom>
        </p:spPr>
      </p:pic>
      <p:pic>
        <p:nvPicPr>
          <p:cNvPr id="6" name="Immagine 5"/>
          <p:cNvPicPr>
            <a:picLocks noChangeAspect="1"/>
          </p:cNvPicPr>
          <p:nvPr/>
        </p:nvPicPr>
        <p:blipFill rotWithShape="1">
          <a:blip r:embed="rId3">
            <a:extLst>
              <a:ext uri="{28A0092B-C50C-407E-A947-70E740481C1C}">
                <a14:useLocalDpi xmlns:a14="http://schemas.microsoft.com/office/drawing/2010/main" val="0"/>
              </a:ext>
            </a:extLst>
          </a:blip>
          <a:srcRect t="31459"/>
          <a:stretch/>
        </p:blipFill>
        <p:spPr>
          <a:xfrm>
            <a:off x="9174248" y="4554063"/>
            <a:ext cx="2750967" cy="1885537"/>
          </a:xfrm>
          <a:prstGeom prst="rect">
            <a:avLst/>
          </a:prstGeom>
        </p:spPr>
      </p:pic>
      <p:sp>
        <p:nvSpPr>
          <p:cNvPr id="7" name="Rettangolo 6"/>
          <p:cNvSpPr/>
          <p:nvPr/>
        </p:nvSpPr>
        <p:spPr>
          <a:xfrm>
            <a:off x="3343993" y="4373448"/>
            <a:ext cx="5701526" cy="2246769"/>
          </a:xfrm>
          <a:prstGeom prst="rect">
            <a:avLst/>
          </a:prstGeom>
        </p:spPr>
        <p:txBody>
          <a:bodyPr wrap="square">
            <a:spAutoFit/>
          </a:bodyPr>
          <a:lstStyle/>
          <a:p>
            <a:r>
              <a:rPr lang="en-GB" sz="2000" u="sng" dirty="0">
                <a:latin typeface="Aptos" panose="020B0004020202020204" pitchFamily="34" charset="0"/>
              </a:rPr>
              <a:t>Baby sleep monitoring sensors</a:t>
            </a:r>
            <a:r>
              <a:rPr lang="en-GB" sz="2000" dirty="0">
                <a:latin typeface="Aptos" panose="020B0004020202020204" pitchFamily="34" charset="0"/>
              </a:rPr>
              <a:t>: </a:t>
            </a:r>
          </a:p>
          <a:p>
            <a:pPr marL="342900" indent="-342900">
              <a:buFont typeface="Arial" panose="020B0604020202020204" pitchFamily="34" charset="0"/>
              <a:buChar char="•"/>
            </a:pPr>
            <a:r>
              <a:rPr lang="en-GB" sz="2000" dirty="0">
                <a:latin typeface="Aptos" panose="020B0004020202020204" pitchFamily="34" charset="0"/>
              </a:rPr>
              <a:t>Inertial sensors monitor movement of the chest or stomach area </a:t>
            </a:r>
          </a:p>
          <a:p>
            <a:pPr marL="342900" indent="-342900">
              <a:buFont typeface="Arial" panose="020B0604020202020204" pitchFamily="34" charset="0"/>
              <a:buChar char="•"/>
            </a:pPr>
            <a:r>
              <a:rPr lang="en-GB" sz="2000" dirty="0">
                <a:latin typeface="Aptos" panose="020B0004020202020204" pitchFamily="34" charset="0"/>
              </a:rPr>
              <a:t>Built-in tactile stimulator triggered if no movement is detected for 15–20 seconds </a:t>
            </a:r>
          </a:p>
          <a:p>
            <a:pPr marL="342900" indent="-342900">
              <a:buFont typeface="Arial" panose="020B0604020202020204" pitchFamily="34" charset="0"/>
              <a:buChar char="•"/>
            </a:pPr>
            <a:r>
              <a:rPr lang="en-GB" sz="2000" dirty="0">
                <a:latin typeface="Aptos" panose="020B0004020202020204" pitchFamily="34" charset="0"/>
              </a:rPr>
              <a:t>If no movement detected after use of tactile stimulation, an alert is generated</a:t>
            </a:r>
          </a:p>
        </p:txBody>
      </p:sp>
      <p:sp>
        <p:nvSpPr>
          <p:cNvPr id="5" name="Segnaposto numero diapositiva 4"/>
          <p:cNvSpPr>
            <a:spLocks noGrp="1"/>
          </p:cNvSpPr>
          <p:nvPr>
            <p:ph type="sldNum" sz="quarter" idx="12"/>
          </p:nvPr>
        </p:nvSpPr>
        <p:spPr/>
        <p:txBody>
          <a:bodyPr/>
          <a:lstStyle/>
          <a:p>
            <a:fld id="{31DE2C5B-556E-47B8-A792-024C2FCA4ACC}" type="slidenum">
              <a:rPr lang="en-GB" smtClean="0"/>
              <a:t>22</a:t>
            </a:fld>
            <a:endParaRPr lang="en-GB"/>
          </a:p>
        </p:txBody>
      </p:sp>
    </p:spTree>
    <p:extLst>
      <p:ext uri="{BB962C8B-B14F-4D97-AF65-F5344CB8AC3E}">
        <p14:creationId xmlns:p14="http://schemas.microsoft.com/office/powerpoint/2010/main" val="76785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Fall </a:t>
            </a:r>
            <a:r>
              <a:rPr lang="it-IT" dirty="0" err="1"/>
              <a:t>detection</a:t>
            </a:r>
            <a:endParaRPr lang="en-GB" dirty="0"/>
          </a:p>
        </p:txBody>
      </p:sp>
      <p:sp>
        <p:nvSpPr>
          <p:cNvPr id="3" name="Segnaposto contenuto 2"/>
          <p:cNvSpPr>
            <a:spLocks noGrp="1"/>
          </p:cNvSpPr>
          <p:nvPr>
            <p:ph idx="1"/>
          </p:nvPr>
        </p:nvSpPr>
        <p:spPr/>
        <p:txBody>
          <a:bodyPr/>
          <a:lstStyle/>
          <a:p>
            <a:r>
              <a:rPr lang="en-US" sz="2200" dirty="0"/>
              <a:t>Falls-related injuries are the biggest cause of injury-related death in older adults</a:t>
            </a:r>
          </a:p>
          <a:p>
            <a:r>
              <a:rPr lang="en-US" sz="2200" b="1" dirty="0"/>
              <a:t>Fall detection devices</a:t>
            </a:r>
            <a:r>
              <a:rPr lang="en-US" sz="2200" dirty="0"/>
              <a:t>: </a:t>
            </a:r>
          </a:p>
          <a:p>
            <a:pPr lvl="1"/>
            <a:r>
              <a:rPr lang="en-US" sz="2200" dirty="0"/>
              <a:t>Detection device based on</a:t>
            </a:r>
            <a:r>
              <a:rPr lang="en-US" sz="2200" b="1" dirty="0"/>
              <a:t> inertial sensors </a:t>
            </a:r>
            <a:r>
              <a:rPr lang="en-US" sz="2200" dirty="0"/>
              <a:t>worn on the wrist or waist or as a pendant.</a:t>
            </a:r>
          </a:p>
          <a:p>
            <a:pPr lvl="1"/>
            <a:r>
              <a:rPr lang="en-US" sz="2200" dirty="0"/>
              <a:t>An algorithm analyses movement measurements in real-time and sends an </a:t>
            </a:r>
            <a:r>
              <a:rPr lang="en-US" sz="2200" b="1" dirty="0"/>
              <a:t>alert</a:t>
            </a:r>
            <a:r>
              <a:rPr lang="en-US" sz="2200" dirty="0"/>
              <a:t> to an in-home base station if a fall is detected.</a:t>
            </a:r>
          </a:p>
          <a:p>
            <a:pPr lvl="1"/>
            <a:r>
              <a:rPr lang="en-US" sz="2200" dirty="0"/>
              <a:t>The in-home base station notifies a call center, which contacts the wearer. </a:t>
            </a:r>
          </a:p>
          <a:p>
            <a:pPr lvl="1"/>
            <a:r>
              <a:rPr lang="en-US" sz="2200" dirty="0"/>
              <a:t>If an emergency is determined or there is no response, the call center notifies the </a:t>
            </a:r>
            <a:r>
              <a:rPr lang="en-US" sz="2200" b="1" dirty="0"/>
              <a:t>emergency services</a:t>
            </a:r>
            <a:r>
              <a:rPr lang="en-US" sz="2200" dirty="0"/>
              <a:t> and alerts designated caregivers and family.</a:t>
            </a:r>
          </a:p>
          <a:p>
            <a:r>
              <a:rPr lang="en-US" sz="2200" dirty="0"/>
              <a:t>Also available in smartwatches used for sport sensing</a:t>
            </a:r>
          </a:p>
          <a:p>
            <a:pPr lvl="1"/>
            <a:endParaRPr lang="en-GB" dirty="0"/>
          </a:p>
        </p:txBody>
      </p:sp>
      <p:pic>
        <p:nvPicPr>
          <p:cNvPr id="4" name="Immagine 3"/>
          <p:cNvPicPr>
            <a:picLocks noChangeAspect="1"/>
          </p:cNvPicPr>
          <p:nvPr/>
        </p:nvPicPr>
        <p:blipFill rotWithShape="1">
          <a:blip r:embed="rId2">
            <a:extLst>
              <a:ext uri="{28A0092B-C50C-407E-A947-70E740481C1C}">
                <a14:useLocalDpi xmlns:a14="http://schemas.microsoft.com/office/drawing/2010/main" val="0"/>
              </a:ext>
            </a:extLst>
          </a:blip>
          <a:srcRect b="22428"/>
          <a:stretch/>
        </p:blipFill>
        <p:spPr>
          <a:xfrm>
            <a:off x="8361675" y="4733264"/>
            <a:ext cx="3025976" cy="1266152"/>
          </a:xfrm>
          <a:prstGeom prst="rect">
            <a:avLst/>
          </a:prstGeom>
        </p:spPr>
      </p:pic>
      <p:pic>
        <p:nvPicPr>
          <p:cNvPr id="5" name="Immagin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8493" y="5174235"/>
            <a:ext cx="2541839" cy="1384133"/>
          </a:xfrm>
          <a:prstGeom prst="rect">
            <a:avLst/>
          </a:prstGeom>
        </p:spPr>
      </p:pic>
      <p:pic>
        <p:nvPicPr>
          <p:cNvPr id="6" name="Immagin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0332" y="5174235"/>
            <a:ext cx="1178120" cy="1514726"/>
          </a:xfrm>
          <a:prstGeom prst="rect">
            <a:avLst/>
          </a:prstGeom>
        </p:spPr>
      </p:pic>
      <p:sp>
        <p:nvSpPr>
          <p:cNvPr id="7" name="Segnaposto numero diapositiva 6"/>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1779941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The architecture of wearable </a:t>
            </a:r>
            <a:r>
              <a:rPr lang="en-US" dirty="0" err="1"/>
              <a:t>IoT</a:t>
            </a:r>
            <a:r>
              <a:rPr lang="en-US" dirty="0"/>
              <a:t> systems</a:t>
            </a:r>
          </a:p>
        </p:txBody>
      </p:sp>
      <p:sp>
        <p:nvSpPr>
          <p:cNvPr id="4" name="Rettangolo arrotondato 3"/>
          <p:cNvSpPr/>
          <p:nvPr/>
        </p:nvSpPr>
        <p:spPr>
          <a:xfrm>
            <a:off x="586154" y="5457092"/>
            <a:ext cx="10861431" cy="1260000"/>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5" name="CasellaDiTesto 4"/>
          <p:cNvSpPr txBox="1"/>
          <p:nvPr/>
        </p:nvSpPr>
        <p:spPr>
          <a:xfrm>
            <a:off x="658166" y="5902426"/>
            <a:ext cx="2620108" cy="369332"/>
          </a:xfrm>
          <a:prstGeom prst="rect">
            <a:avLst/>
          </a:prstGeom>
          <a:noFill/>
        </p:spPr>
        <p:txBody>
          <a:bodyPr wrap="square" rtlCol="0">
            <a:spAutoFit/>
          </a:bodyPr>
          <a:lstStyle/>
          <a:p>
            <a:r>
              <a:rPr lang="it-IT" b="1" dirty="0">
                <a:latin typeface="Aptos" panose="020B0004020202020204" pitchFamily="34" charset="0"/>
              </a:rPr>
              <a:t>1. </a:t>
            </a:r>
            <a:r>
              <a:rPr lang="it-IT" b="1" dirty="0" err="1">
                <a:latin typeface="Aptos" panose="020B0004020202020204" pitchFamily="34" charset="0"/>
              </a:rPr>
              <a:t>Sensing</a:t>
            </a:r>
            <a:r>
              <a:rPr lang="it-IT" b="1" dirty="0">
                <a:latin typeface="Aptos" panose="020B0004020202020204" pitchFamily="34" charset="0"/>
              </a:rPr>
              <a:t> </a:t>
            </a:r>
            <a:r>
              <a:rPr lang="it-IT" b="1" dirty="0" err="1">
                <a:latin typeface="Aptos" panose="020B0004020202020204" pitchFamily="34" charset="0"/>
              </a:rPr>
              <a:t>layer</a:t>
            </a:r>
            <a:endParaRPr lang="en-GB" b="1" dirty="0">
              <a:latin typeface="Aptos" panose="020B0004020202020204" pitchFamily="34" charset="0"/>
            </a:endParaRPr>
          </a:p>
        </p:txBody>
      </p:sp>
      <p:sp>
        <p:nvSpPr>
          <p:cNvPr id="6" name="Rettangolo arrotondato 5"/>
          <p:cNvSpPr/>
          <p:nvPr/>
        </p:nvSpPr>
        <p:spPr>
          <a:xfrm>
            <a:off x="586154" y="4091374"/>
            <a:ext cx="10861431" cy="1260000"/>
          </a:xfrm>
          <a:prstGeom prst="round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CasellaDiTesto 6"/>
          <p:cNvSpPr txBox="1"/>
          <p:nvPr/>
        </p:nvSpPr>
        <p:spPr>
          <a:xfrm>
            <a:off x="658166" y="4536708"/>
            <a:ext cx="2620108" cy="369332"/>
          </a:xfrm>
          <a:prstGeom prst="rect">
            <a:avLst/>
          </a:prstGeom>
          <a:noFill/>
        </p:spPr>
        <p:txBody>
          <a:bodyPr wrap="square" rtlCol="0">
            <a:spAutoFit/>
          </a:bodyPr>
          <a:lstStyle/>
          <a:p>
            <a:r>
              <a:rPr lang="it-IT" b="1" dirty="0">
                <a:latin typeface="Aptos" panose="020B0004020202020204" pitchFamily="34" charset="0"/>
              </a:rPr>
              <a:t>2. Network </a:t>
            </a:r>
            <a:r>
              <a:rPr lang="it-IT" b="1" dirty="0" err="1">
                <a:latin typeface="Aptos" panose="020B0004020202020204" pitchFamily="34" charset="0"/>
              </a:rPr>
              <a:t>layer</a:t>
            </a:r>
            <a:endParaRPr lang="en-GB" b="1" dirty="0">
              <a:latin typeface="Aptos" panose="020B0004020202020204" pitchFamily="34" charset="0"/>
            </a:endParaRPr>
          </a:p>
        </p:txBody>
      </p:sp>
      <p:sp>
        <p:nvSpPr>
          <p:cNvPr id="8" name="Rettangolo arrotondato 7"/>
          <p:cNvSpPr/>
          <p:nvPr/>
        </p:nvSpPr>
        <p:spPr>
          <a:xfrm>
            <a:off x="586153" y="2719790"/>
            <a:ext cx="10861431" cy="1260000"/>
          </a:xfrm>
          <a:prstGeom prst="roundRect">
            <a:avLst/>
          </a:prstGeom>
          <a:noFill/>
          <a:ln w="381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9" name="CasellaDiTesto 8"/>
          <p:cNvSpPr txBox="1"/>
          <p:nvPr/>
        </p:nvSpPr>
        <p:spPr>
          <a:xfrm>
            <a:off x="666143" y="3037008"/>
            <a:ext cx="2804745" cy="646331"/>
          </a:xfrm>
          <a:prstGeom prst="rect">
            <a:avLst/>
          </a:prstGeom>
          <a:noFill/>
        </p:spPr>
        <p:txBody>
          <a:bodyPr wrap="square" rtlCol="0">
            <a:spAutoFit/>
          </a:bodyPr>
          <a:lstStyle/>
          <a:p>
            <a:r>
              <a:rPr lang="it-IT" b="1" dirty="0">
                <a:latin typeface="Aptos" panose="020B0004020202020204" pitchFamily="34" charset="0"/>
              </a:rPr>
              <a:t>3. Data </a:t>
            </a:r>
            <a:r>
              <a:rPr lang="it-IT" b="1" dirty="0" err="1">
                <a:latin typeface="Aptos" panose="020B0004020202020204" pitchFamily="34" charset="0"/>
              </a:rPr>
              <a:t>storing</a:t>
            </a:r>
            <a:r>
              <a:rPr lang="it-IT" b="1" dirty="0">
                <a:latin typeface="Aptos" panose="020B0004020202020204" pitchFamily="34" charset="0"/>
              </a:rPr>
              <a:t> and processing </a:t>
            </a:r>
            <a:r>
              <a:rPr lang="it-IT" b="1" dirty="0" err="1">
                <a:latin typeface="Aptos" panose="020B0004020202020204" pitchFamily="34" charset="0"/>
              </a:rPr>
              <a:t>layer</a:t>
            </a:r>
            <a:endParaRPr lang="en-GB" b="1" dirty="0">
              <a:latin typeface="Aptos" panose="020B0004020202020204" pitchFamily="34" charset="0"/>
            </a:endParaRPr>
          </a:p>
        </p:txBody>
      </p:sp>
      <p:sp>
        <p:nvSpPr>
          <p:cNvPr id="10" name="Rettangolo arrotondato 9"/>
          <p:cNvSpPr/>
          <p:nvPr/>
        </p:nvSpPr>
        <p:spPr>
          <a:xfrm>
            <a:off x="586153" y="1331674"/>
            <a:ext cx="10796954" cy="1260000"/>
          </a:xfrm>
          <a:prstGeom prst="roundRect">
            <a:avLst/>
          </a:prstGeom>
          <a:noFill/>
          <a:ln w="3810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1" name="CasellaDiTesto 10"/>
          <p:cNvSpPr txBox="1"/>
          <p:nvPr/>
        </p:nvSpPr>
        <p:spPr>
          <a:xfrm>
            <a:off x="658166" y="1777008"/>
            <a:ext cx="2620108" cy="369332"/>
          </a:xfrm>
          <a:prstGeom prst="rect">
            <a:avLst/>
          </a:prstGeom>
          <a:noFill/>
        </p:spPr>
        <p:txBody>
          <a:bodyPr wrap="square" rtlCol="0">
            <a:spAutoFit/>
          </a:bodyPr>
          <a:lstStyle/>
          <a:p>
            <a:r>
              <a:rPr lang="it-IT" b="1" dirty="0">
                <a:latin typeface="Aptos" panose="020B0004020202020204" pitchFamily="34" charset="0"/>
              </a:rPr>
              <a:t>4. Application </a:t>
            </a:r>
            <a:r>
              <a:rPr lang="it-IT" b="1" dirty="0" err="1">
                <a:latin typeface="Aptos" panose="020B0004020202020204" pitchFamily="34" charset="0"/>
              </a:rPr>
              <a:t>layer</a:t>
            </a:r>
            <a:endParaRPr lang="en-GB" b="1" dirty="0">
              <a:latin typeface="Aptos" panose="020B0004020202020204" pitchFamily="34" charset="0"/>
            </a:endParaRPr>
          </a:p>
        </p:txBody>
      </p:sp>
      <p:sp>
        <p:nvSpPr>
          <p:cNvPr id="12" name="CasellaDiTesto 11"/>
          <p:cNvSpPr txBox="1"/>
          <p:nvPr/>
        </p:nvSpPr>
        <p:spPr>
          <a:xfrm>
            <a:off x="3206262" y="1488831"/>
            <a:ext cx="1453661" cy="369332"/>
          </a:xfrm>
          <a:prstGeom prst="rect">
            <a:avLst/>
          </a:prstGeom>
          <a:noFill/>
        </p:spPr>
        <p:txBody>
          <a:bodyPr wrap="square" rtlCol="0">
            <a:spAutoFit/>
          </a:bodyPr>
          <a:lstStyle/>
          <a:p>
            <a:r>
              <a:rPr lang="it-IT" dirty="0">
                <a:latin typeface="Aptos" panose="020B0004020202020204" pitchFamily="34" charset="0"/>
              </a:rPr>
              <a:t>Alerts</a:t>
            </a:r>
            <a:endParaRPr lang="en-GB" dirty="0">
              <a:latin typeface="Aptos" panose="020B0004020202020204" pitchFamily="34" charset="0"/>
            </a:endParaRPr>
          </a:p>
        </p:txBody>
      </p:sp>
      <p:sp>
        <p:nvSpPr>
          <p:cNvPr id="13" name="CasellaDiTesto 12"/>
          <p:cNvSpPr txBox="1"/>
          <p:nvPr/>
        </p:nvSpPr>
        <p:spPr>
          <a:xfrm>
            <a:off x="4654063" y="1488831"/>
            <a:ext cx="2344614" cy="369332"/>
          </a:xfrm>
          <a:prstGeom prst="rect">
            <a:avLst/>
          </a:prstGeom>
          <a:noFill/>
        </p:spPr>
        <p:txBody>
          <a:bodyPr wrap="square" rtlCol="0">
            <a:spAutoFit/>
          </a:bodyPr>
          <a:lstStyle/>
          <a:p>
            <a:r>
              <a:rPr lang="it-IT" dirty="0" err="1">
                <a:latin typeface="Aptos" panose="020B0004020202020204" pitchFamily="34" charset="0"/>
              </a:rPr>
              <a:t>Decision-support</a:t>
            </a:r>
            <a:endParaRPr lang="en-GB" dirty="0">
              <a:latin typeface="Aptos" panose="020B0004020202020204" pitchFamily="34" charset="0"/>
            </a:endParaRPr>
          </a:p>
        </p:txBody>
      </p:sp>
      <p:sp>
        <p:nvSpPr>
          <p:cNvPr id="14" name="CasellaDiTesto 13"/>
          <p:cNvSpPr txBox="1"/>
          <p:nvPr/>
        </p:nvSpPr>
        <p:spPr>
          <a:xfrm>
            <a:off x="6998677" y="1488831"/>
            <a:ext cx="1260231" cy="369332"/>
          </a:xfrm>
          <a:prstGeom prst="rect">
            <a:avLst/>
          </a:prstGeom>
          <a:noFill/>
        </p:spPr>
        <p:txBody>
          <a:bodyPr wrap="square" rtlCol="0">
            <a:spAutoFit/>
          </a:bodyPr>
          <a:lstStyle/>
          <a:p>
            <a:r>
              <a:rPr lang="it-IT" dirty="0" err="1">
                <a:latin typeface="Aptos" panose="020B0004020202020204" pitchFamily="34" charset="0"/>
              </a:rPr>
              <a:t>Event</a:t>
            </a:r>
            <a:r>
              <a:rPr lang="it-IT" dirty="0">
                <a:latin typeface="Aptos" panose="020B0004020202020204" pitchFamily="34" charset="0"/>
              </a:rPr>
              <a:t> log</a:t>
            </a:r>
            <a:endParaRPr lang="en-GB" dirty="0">
              <a:latin typeface="Aptos" panose="020B0004020202020204" pitchFamily="34" charset="0"/>
            </a:endParaRPr>
          </a:p>
        </p:txBody>
      </p:sp>
      <p:sp>
        <p:nvSpPr>
          <p:cNvPr id="15" name="CasellaDiTesto 14"/>
          <p:cNvSpPr txBox="1"/>
          <p:nvPr/>
        </p:nvSpPr>
        <p:spPr>
          <a:xfrm>
            <a:off x="8991601" y="1501647"/>
            <a:ext cx="2086707" cy="369332"/>
          </a:xfrm>
          <a:prstGeom prst="rect">
            <a:avLst/>
          </a:prstGeom>
          <a:noFill/>
        </p:spPr>
        <p:txBody>
          <a:bodyPr wrap="square" rtlCol="0">
            <a:spAutoFit/>
          </a:bodyPr>
          <a:lstStyle/>
          <a:p>
            <a:r>
              <a:rPr lang="it-IT" dirty="0">
                <a:latin typeface="Aptos" panose="020B0004020202020204" pitchFamily="34" charset="0"/>
              </a:rPr>
              <a:t>Self-management</a:t>
            </a:r>
            <a:endParaRPr lang="en-GB" dirty="0">
              <a:latin typeface="Aptos" panose="020B0004020202020204" pitchFamily="34" charset="0"/>
            </a:endParaRPr>
          </a:p>
        </p:txBody>
      </p:sp>
      <p:sp>
        <p:nvSpPr>
          <p:cNvPr id="16" name="CasellaDiTesto 15"/>
          <p:cNvSpPr txBox="1"/>
          <p:nvPr/>
        </p:nvSpPr>
        <p:spPr>
          <a:xfrm>
            <a:off x="5701662" y="2801335"/>
            <a:ext cx="1922585" cy="369332"/>
          </a:xfrm>
          <a:prstGeom prst="rect">
            <a:avLst/>
          </a:prstGeom>
          <a:noFill/>
        </p:spPr>
        <p:txBody>
          <a:bodyPr wrap="square" rtlCol="0">
            <a:spAutoFit/>
          </a:bodyPr>
          <a:lstStyle/>
          <a:p>
            <a:r>
              <a:rPr lang="it-IT" dirty="0">
                <a:latin typeface="Aptos" panose="020B0004020202020204" pitchFamily="34" charset="0"/>
              </a:rPr>
              <a:t>Data </a:t>
            </a:r>
            <a:r>
              <a:rPr lang="it-IT" dirty="0" err="1">
                <a:latin typeface="Aptos" panose="020B0004020202020204" pitchFamily="34" charset="0"/>
              </a:rPr>
              <a:t>analyses</a:t>
            </a:r>
            <a:endParaRPr lang="en-GB" dirty="0">
              <a:latin typeface="Aptos" panose="020B0004020202020204" pitchFamily="34" charset="0"/>
            </a:endParaRPr>
          </a:p>
        </p:txBody>
      </p:sp>
      <p:sp>
        <p:nvSpPr>
          <p:cNvPr id="17" name="CasellaDiTesto 16"/>
          <p:cNvSpPr txBox="1"/>
          <p:nvPr/>
        </p:nvSpPr>
        <p:spPr>
          <a:xfrm>
            <a:off x="8302649" y="2811852"/>
            <a:ext cx="3845171" cy="369332"/>
          </a:xfrm>
          <a:prstGeom prst="rect">
            <a:avLst/>
          </a:prstGeom>
          <a:noFill/>
        </p:spPr>
        <p:txBody>
          <a:bodyPr wrap="square" rtlCol="0">
            <a:spAutoFit/>
          </a:bodyPr>
          <a:lstStyle/>
          <a:p>
            <a:pPr algn="ctr"/>
            <a:r>
              <a:rPr lang="it-IT" dirty="0" err="1">
                <a:latin typeface="Aptos" panose="020B0004020202020204" pitchFamily="34" charset="0"/>
              </a:rPr>
              <a:t>Modeling</a:t>
            </a:r>
            <a:r>
              <a:rPr lang="it-IT" dirty="0">
                <a:latin typeface="Aptos" panose="020B0004020202020204" pitchFamily="34" charset="0"/>
              </a:rPr>
              <a:t> </a:t>
            </a:r>
          </a:p>
        </p:txBody>
      </p:sp>
      <p:sp>
        <p:nvSpPr>
          <p:cNvPr id="18" name="CasellaDiTesto 17"/>
          <p:cNvSpPr txBox="1"/>
          <p:nvPr/>
        </p:nvSpPr>
        <p:spPr>
          <a:xfrm>
            <a:off x="7527578" y="2808458"/>
            <a:ext cx="2819399" cy="369332"/>
          </a:xfrm>
          <a:prstGeom prst="rect">
            <a:avLst/>
          </a:prstGeom>
          <a:noFill/>
        </p:spPr>
        <p:txBody>
          <a:bodyPr wrap="square" rtlCol="0">
            <a:spAutoFit/>
          </a:bodyPr>
          <a:lstStyle/>
          <a:p>
            <a:r>
              <a:rPr lang="it-IT" dirty="0" err="1">
                <a:latin typeface="Aptos" panose="020B0004020202020204" pitchFamily="34" charset="0"/>
              </a:rPr>
              <a:t>Signal</a:t>
            </a:r>
            <a:r>
              <a:rPr lang="it-IT" dirty="0">
                <a:latin typeface="Aptos" panose="020B0004020202020204" pitchFamily="34" charset="0"/>
              </a:rPr>
              <a:t> processing</a:t>
            </a:r>
            <a:endParaRPr lang="en-GB" dirty="0">
              <a:latin typeface="Aptos" panose="020B0004020202020204" pitchFamily="34" charset="0"/>
            </a:endParaRPr>
          </a:p>
        </p:txBody>
      </p:sp>
      <p:sp>
        <p:nvSpPr>
          <p:cNvPr id="19" name="CasellaDiTesto 18"/>
          <p:cNvSpPr txBox="1"/>
          <p:nvPr/>
        </p:nvSpPr>
        <p:spPr>
          <a:xfrm>
            <a:off x="2642052" y="4178031"/>
            <a:ext cx="2442348" cy="369332"/>
          </a:xfrm>
          <a:prstGeom prst="rect">
            <a:avLst/>
          </a:prstGeom>
          <a:noFill/>
        </p:spPr>
        <p:txBody>
          <a:bodyPr wrap="square" rtlCol="0">
            <a:spAutoFit/>
          </a:bodyPr>
          <a:lstStyle/>
          <a:p>
            <a:pPr algn="ctr"/>
            <a:r>
              <a:rPr lang="it-IT" dirty="0">
                <a:latin typeface="Aptos" panose="020B0004020202020204" pitchFamily="34" charset="0"/>
              </a:rPr>
              <a:t>Gateway </a:t>
            </a:r>
            <a:r>
              <a:rPr lang="it-IT" dirty="0" err="1">
                <a:latin typeface="Aptos" panose="020B0004020202020204" pitchFamily="34" charset="0"/>
              </a:rPr>
              <a:t>device</a:t>
            </a:r>
            <a:endParaRPr lang="en-GB" dirty="0">
              <a:latin typeface="Aptos" panose="020B0004020202020204" pitchFamily="34" charset="0"/>
            </a:endParaRPr>
          </a:p>
        </p:txBody>
      </p:sp>
      <p:sp>
        <p:nvSpPr>
          <p:cNvPr id="20" name="CasellaDiTesto 19"/>
          <p:cNvSpPr txBox="1"/>
          <p:nvPr/>
        </p:nvSpPr>
        <p:spPr>
          <a:xfrm>
            <a:off x="5704075" y="4141499"/>
            <a:ext cx="1922585" cy="646331"/>
          </a:xfrm>
          <a:prstGeom prst="rect">
            <a:avLst/>
          </a:prstGeom>
          <a:noFill/>
        </p:spPr>
        <p:txBody>
          <a:bodyPr wrap="square" rtlCol="0">
            <a:spAutoFit/>
          </a:bodyPr>
          <a:lstStyle/>
          <a:p>
            <a:r>
              <a:rPr lang="it-IT" dirty="0" err="1">
                <a:latin typeface="Aptos" panose="020B0004020202020204" pitchFamily="34" charset="0"/>
              </a:rPr>
              <a:t>WiFi</a:t>
            </a:r>
            <a:r>
              <a:rPr lang="it-IT" dirty="0">
                <a:latin typeface="Aptos" panose="020B0004020202020204" pitchFamily="34" charset="0"/>
              </a:rPr>
              <a:t>, </a:t>
            </a:r>
          </a:p>
          <a:p>
            <a:r>
              <a:rPr lang="it-IT" dirty="0">
                <a:latin typeface="Aptos" panose="020B0004020202020204" pitchFamily="34" charset="0"/>
              </a:rPr>
              <a:t>Router </a:t>
            </a:r>
            <a:endParaRPr lang="en-GB" dirty="0">
              <a:latin typeface="Aptos" panose="020B0004020202020204" pitchFamily="34" charset="0"/>
            </a:endParaRPr>
          </a:p>
        </p:txBody>
      </p:sp>
      <p:sp>
        <p:nvSpPr>
          <p:cNvPr id="22" name="CasellaDiTesto 21"/>
          <p:cNvSpPr txBox="1"/>
          <p:nvPr/>
        </p:nvSpPr>
        <p:spPr>
          <a:xfrm>
            <a:off x="9174823" y="4234017"/>
            <a:ext cx="1922585" cy="369332"/>
          </a:xfrm>
          <a:prstGeom prst="rect">
            <a:avLst/>
          </a:prstGeom>
          <a:noFill/>
        </p:spPr>
        <p:txBody>
          <a:bodyPr wrap="square" rtlCol="0">
            <a:spAutoFit/>
          </a:bodyPr>
          <a:lstStyle/>
          <a:p>
            <a:r>
              <a:rPr lang="it-IT" dirty="0">
                <a:latin typeface="Aptos" panose="020B0004020202020204" pitchFamily="34" charset="0"/>
              </a:rPr>
              <a:t>Internet</a:t>
            </a:r>
            <a:endParaRPr lang="en-GB" dirty="0">
              <a:latin typeface="Aptos" panose="020B0004020202020204" pitchFamily="34" charset="0"/>
            </a:endParaRPr>
          </a:p>
        </p:txBody>
      </p:sp>
      <p:sp>
        <p:nvSpPr>
          <p:cNvPr id="23" name="CasellaDiTesto 22"/>
          <p:cNvSpPr txBox="1"/>
          <p:nvPr/>
        </p:nvSpPr>
        <p:spPr>
          <a:xfrm>
            <a:off x="6187264" y="5525689"/>
            <a:ext cx="1541585" cy="369332"/>
          </a:xfrm>
          <a:prstGeom prst="rect">
            <a:avLst/>
          </a:prstGeom>
          <a:noFill/>
        </p:spPr>
        <p:txBody>
          <a:bodyPr wrap="square" rtlCol="0">
            <a:spAutoFit/>
          </a:bodyPr>
          <a:lstStyle/>
          <a:p>
            <a:r>
              <a:rPr lang="it-IT" dirty="0" err="1">
                <a:latin typeface="Aptos" panose="020B0004020202020204" pitchFamily="34" charset="0"/>
              </a:rPr>
              <a:t>Sensors</a:t>
            </a:r>
            <a:endParaRPr lang="en-GB" sz="2400" dirty="0">
              <a:latin typeface="Aptos" panose="020B0004020202020204" pitchFamily="34" charset="0"/>
            </a:endParaRPr>
          </a:p>
        </p:txBody>
      </p:sp>
      <p:sp>
        <p:nvSpPr>
          <p:cNvPr id="24" name="CasellaDiTesto 23"/>
          <p:cNvSpPr txBox="1"/>
          <p:nvPr/>
        </p:nvSpPr>
        <p:spPr>
          <a:xfrm>
            <a:off x="3114146" y="5660879"/>
            <a:ext cx="2086711" cy="307777"/>
          </a:xfrm>
          <a:prstGeom prst="rect">
            <a:avLst/>
          </a:prstGeom>
          <a:noFill/>
        </p:spPr>
        <p:txBody>
          <a:bodyPr wrap="square" rtlCol="0">
            <a:spAutoFit/>
          </a:bodyPr>
          <a:lstStyle/>
          <a:p>
            <a:r>
              <a:rPr lang="it-IT" sz="1400" dirty="0">
                <a:latin typeface="Aptos" panose="020B0004020202020204" pitchFamily="34" charset="0"/>
              </a:rPr>
              <a:t>Activity </a:t>
            </a:r>
            <a:r>
              <a:rPr lang="it-IT" sz="1400" dirty="0" err="1">
                <a:latin typeface="Aptos" panose="020B0004020202020204" pitchFamily="34" charset="0"/>
              </a:rPr>
              <a:t>tracker</a:t>
            </a:r>
            <a:endParaRPr lang="en-GB" sz="1400" dirty="0">
              <a:latin typeface="Aptos" panose="020B0004020202020204" pitchFamily="34" charset="0"/>
            </a:endParaRPr>
          </a:p>
        </p:txBody>
      </p:sp>
      <p:sp>
        <p:nvSpPr>
          <p:cNvPr id="25" name="CasellaDiTesto 24"/>
          <p:cNvSpPr txBox="1"/>
          <p:nvPr/>
        </p:nvSpPr>
        <p:spPr>
          <a:xfrm>
            <a:off x="5068973" y="6332950"/>
            <a:ext cx="2086711" cy="307777"/>
          </a:xfrm>
          <a:prstGeom prst="rect">
            <a:avLst/>
          </a:prstGeom>
          <a:noFill/>
        </p:spPr>
        <p:txBody>
          <a:bodyPr wrap="square" rtlCol="0">
            <a:spAutoFit/>
          </a:bodyPr>
          <a:lstStyle/>
          <a:p>
            <a:r>
              <a:rPr lang="it-IT" sz="1400" dirty="0">
                <a:latin typeface="Aptos" panose="020B0004020202020204" pitchFamily="34" charset="0"/>
              </a:rPr>
              <a:t>Blood pressure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6" name="CasellaDiTesto 25"/>
          <p:cNvSpPr txBox="1"/>
          <p:nvPr/>
        </p:nvSpPr>
        <p:spPr>
          <a:xfrm>
            <a:off x="7728849" y="5701229"/>
            <a:ext cx="2086711" cy="307777"/>
          </a:xfrm>
          <a:prstGeom prst="rect">
            <a:avLst/>
          </a:prstGeom>
          <a:noFill/>
        </p:spPr>
        <p:txBody>
          <a:bodyPr wrap="square" rtlCol="0">
            <a:spAutoFit/>
          </a:bodyPr>
          <a:lstStyle/>
          <a:p>
            <a:r>
              <a:rPr lang="it-IT" sz="1400" dirty="0">
                <a:latin typeface="Aptos" panose="020B0004020202020204" pitchFamily="34" charset="0"/>
              </a:rPr>
              <a:t>ECG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7" name="CasellaDiTesto 26"/>
          <p:cNvSpPr txBox="1"/>
          <p:nvPr/>
        </p:nvSpPr>
        <p:spPr>
          <a:xfrm>
            <a:off x="9709775" y="6332949"/>
            <a:ext cx="2086711" cy="307777"/>
          </a:xfrm>
          <a:prstGeom prst="rect">
            <a:avLst/>
          </a:prstGeom>
          <a:noFill/>
        </p:spPr>
        <p:txBody>
          <a:bodyPr wrap="square" rtlCol="0">
            <a:spAutoFit/>
          </a:bodyPr>
          <a:lstStyle/>
          <a:p>
            <a:r>
              <a:rPr lang="it-IT" sz="1400" dirty="0" err="1">
                <a:latin typeface="Aptos" panose="020B0004020202020204" pitchFamily="34" charset="0"/>
              </a:rPr>
              <a:t>Glucose</a:t>
            </a:r>
            <a:r>
              <a:rPr lang="it-IT" sz="1400" dirty="0">
                <a:latin typeface="Aptos" panose="020B0004020202020204" pitchFamily="34" charset="0"/>
              </a:rPr>
              <a:t> </a:t>
            </a:r>
            <a:r>
              <a:rPr lang="it-IT" sz="1400" dirty="0" err="1">
                <a:latin typeface="Aptos" panose="020B0004020202020204" pitchFamily="34" charset="0"/>
              </a:rPr>
              <a:t>sensor</a:t>
            </a:r>
            <a:endParaRPr lang="en-GB" sz="1400" dirty="0">
              <a:latin typeface="Aptos" panose="020B0004020202020204" pitchFamily="34" charset="0"/>
            </a:endParaRPr>
          </a:p>
        </p:txBody>
      </p:sp>
      <p:sp>
        <p:nvSpPr>
          <p:cNvPr id="29" name="Nuvola 28"/>
          <p:cNvSpPr/>
          <p:nvPr/>
        </p:nvSpPr>
        <p:spPr>
          <a:xfrm>
            <a:off x="9087036" y="4595118"/>
            <a:ext cx="1148861" cy="468923"/>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latin typeface="Aptos" panose="020B0004020202020204" pitchFamily="34" charset="0"/>
            </a:endParaRPr>
          </a:p>
        </p:txBody>
      </p:sp>
      <p:sp>
        <p:nvSpPr>
          <p:cNvPr id="30" name="Freccia bidirezionale orizzontale 29"/>
          <p:cNvSpPr/>
          <p:nvPr/>
        </p:nvSpPr>
        <p:spPr>
          <a:xfrm>
            <a:off x="4317616" y="4744982"/>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32" name="Immagine 31"/>
          <p:cNvPicPr>
            <a:picLocks noChangeAspect="1"/>
          </p:cNvPicPr>
          <p:nvPr/>
        </p:nvPicPr>
        <p:blipFill rotWithShape="1">
          <a:blip r:embed="rId2" cstate="print">
            <a:extLst>
              <a:ext uri="{28A0092B-C50C-407E-A947-70E740481C1C}">
                <a14:useLocalDpi xmlns:a14="http://schemas.microsoft.com/office/drawing/2010/main" val="0"/>
              </a:ext>
            </a:extLst>
          </a:blip>
          <a:srcRect t="13660" b="12302"/>
          <a:stretch/>
        </p:blipFill>
        <p:spPr>
          <a:xfrm>
            <a:off x="6568116" y="4163857"/>
            <a:ext cx="790166" cy="585025"/>
          </a:xfrm>
          <a:prstGeom prst="rect">
            <a:avLst/>
          </a:prstGeom>
        </p:spPr>
      </p:pic>
      <p:sp>
        <p:nvSpPr>
          <p:cNvPr id="34" name="CasellaDiTesto 33"/>
          <p:cNvSpPr txBox="1"/>
          <p:nvPr/>
        </p:nvSpPr>
        <p:spPr>
          <a:xfrm>
            <a:off x="5832653" y="4855596"/>
            <a:ext cx="751125" cy="369332"/>
          </a:xfrm>
          <a:prstGeom prst="rect">
            <a:avLst/>
          </a:prstGeom>
          <a:noFill/>
        </p:spPr>
        <p:txBody>
          <a:bodyPr wrap="square" rtlCol="0">
            <a:spAutoFit/>
          </a:bodyPr>
          <a:lstStyle/>
          <a:p>
            <a:r>
              <a:rPr lang="it-IT" dirty="0">
                <a:latin typeface="Aptos" panose="020B0004020202020204" pitchFamily="34" charset="0"/>
              </a:rPr>
              <a:t>GSM</a:t>
            </a:r>
            <a:endParaRPr lang="en-GB" dirty="0">
              <a:latin typeface="Aptos" panose="020B0004020202020204" pitchFamily="34" charset="0"/>
            </a:endParaRPr>
          </a:p>
        </p:txBody>
      </p:sp>
      <p:pic>
        <p:nvPicPr>
          <p:cNvPr id="35" name="Immagine 34"/>
          <p:cNvPicPr>
            <a:picLocks noChangeAspect="1"/>
          </p:cNvPicPr>
          <p:nvPr/>
        </p:nvPicPr>
        <p:blipFill rotWithShape="1">
          <a:blip r:embed="rId3" cstate="print">
            <a:extLst>
              <a:ext uri="{28A0092B-C50C-407E-A947-70E740481C1C}">
                <a14:useLocalDpi xmlns:a14="http://schemas.microsoft.com/office/drawing/2010/main" val="0"/>
              </a:ext>
            </a:extLst>
          </a:blip>
          <a:srcRect t="2223" b="9488"/>
          <a:stretch/>
        </p:blipFill>
        <p:spPr>
          <a:xfrm>
            <a:off x="6721426" y="4783171"/>
            <a:ext cx="510962" cy="487222"/>
          </a:xfrm>
          <a:prstGeom prst="rect">
            <a:avLst/>
          </a:prstGeom>
        </p:spPr>
      </p:pic>
      <p:pic>
        <p:nvPicPr>
          <p:cNvPr id="36" name="Immagin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0888" y="4505560"/>
            <a:ext cx="791025" cy="791025"/>
          </a:xfrm>
          <a:prstGeom prst="rect">
            <a:avLst/>
          </a:prstGeom>
        </p:spPr>
      </p:pic>
      <p:pic>
        <p:nvPicPr>
          <p:cNvPr id="37" name="Immagine 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6846" y="1788867"/>
            <a:ext cx="654524" cy="654524"/>
          </a:xfrm>
          <a:prstGeom prst="rect">
            <a:avLst/>
          </a:prstGeom>
        </p:spPr>
      </p:pic>
      <p:pic>
        <p:nvPicPr>
          <p:cNvPr id="38" name="Immagine 37"/>
          <p:cNvPicPr>
            <a:picLocks noChangeAspect="1"/>
          </p:cNvPicPr>
          <p:nvPr/>
        </p:nvPicPr>
        <p:blipFill rotWithShape="1">
          <a:blip r:embed="rId6" cstate="print">
            <a:biLevel thresh="75000"/>
            <a:extLst>
              <a:ext uri="{28A0092B-C50C-407E-A947-70E740481C1C}">
                <a14:useLocalDpi xmlns:a14="http://schemas.microsoft.com/office/drawing/2010/main" val="0"/>
              </a:ext>
            </a:extLst>
          </a:blip>
          <a:srcRect t="15649" b="14795"/>
          <a:stretch/>
        </p:blipFill>
        <p:spPr>
          <a:xfrm>
            <a:off x="3308809" y="5959420"/>
            <a:ext cx="966237" cy="672070"/>
          </a:xfrm>
          <a:prstGeom prst="rect">
            <a:avLst/>
          </a:prstGeom>
        </p:spPr>
      </p:pic>
      <p:pic>
        <p:nvPicPr>
          <p:cNvPr id="39" name="Immagine 38"/>
          <p:cNvPicPr>
            <a:picLocks noChangeAspect="1"/>
          </p:cNvPicPr>
          <p:nvPr/>
        </p:nvPicPr>
        <p:blipFill rotWithShape="1">
          <a:blip r:embed="rId7" cstate="print">
            <a:extLst>
              <a:ext uri="{28A0092B-C50C-407E-A947-70E740481C1C}">
                <a14:useLocalDpi xmlns:a14="http://schemas.microsoft.com/office/drawing/2010/main" val="0"/>
              </a:ext>
            </a:extLst>
          </a:blip>
          <a:srcRect t="13351" b="10889"/>
          <a:stretch/>
        </p:blipFill>
        <p:spPr>
          <a:xfrm>
            <a:off x="5261453" y="5725827"/>
            <a:ext cx="815078" cy="617508"/>
          </a:xfrm>
          <a:prstGeom prst="rect">
            <a:avLst/>
          </a:prstGeom>
        </p:spPr>
      </p:pic>
      <p:pic>
        <p:nvPicPr>
          <p:cNvPr id="40" name="Immagine 39"/>
          <p:cNvPicPr>
            <a:picLocks noChangeAspect="1"/>
          </p:cNvPicPr>
          <p:nvPr/>
        </p:nvPicPr>
        <p:blipFill rotWithShape="1">
          <a:blip r:embed="rId8" cstate="print">
            <a:biLevel thresh="75000"/>
            <a:extLst>
              <a:ext uri="{28A0092B-C50C-407E-A947-70E740481C1C}">
                <a14:useLocalDpi xmlns:a14="http://schemas.microsoft.com/office/drawing/2010/main" val="0"/>
              </a:ext>
            </a:extLst>
          </a:blip>
          <a:srcRect l="20118" t="11966" r="19396" b="26154"/>
          <a:stretch/>
        </p:blipFill>
        <p:spPr>
          <a:xfrm>
            <a:off x="7973057" y="5969126"/>
            <a:ext cx="577215" cy="623737"/>
          </a:xfrm>
          <a:prstGeom prst="rect">
            <a:avLst/>
          </a:prstGeom>
        </p:spPr>
      </p:pic>
      <p:pic>
        <p:nvPicPr>
          <p:cNvPr id="41" name="Immagine 40"/>
          <p:cNvPicPr>
            <a:picLocks noChangeAspect="1"/>
          </p:cNvPicPr>
          <p:nvPr/>
        </p:nvPicPr>
        <p:blipFill rotWithShape="1">
          <a:blip r:embed="rId9" cstate="print">
            <a:biLevel thresh="50000"/>
            <a:extLst>
              <a:ext uri="{28A0092B-C50C-407E-A947-70E740481C1C}">
                <a14:useLocalDpi xmlns:a14="http://schemas.microsoft.com/office/drawing/2010/main" val="0"/>
              </a:ext>
            </a:extLst>
          </a:blip>
          <a:srcRect l="11349" r="13195"/>
          <a:stretch/>
        </p:blipFill>
        <p:spPr>
          <a:xfrm>
            <a:off x="9853211" y="5725826"/>
            <a:ext cx="1175410" cy="594235"/>
          </a:xfrm>
          <a:prstGeom prst="rect">
            <a:avLst/>
          </a:prstGeom>
        </p:spPr>
      </p:pic>
      <p:pic>
        <p:nvPicPr>
          <p:cNvPr id="42" name="Immagine 41"/>
          <p:cNvPicPr>
            <a:picLocks noChangeAspect="1"/>
          </p:cNvPicPr>
          <p:nvPr/>
        </p:nvPicPr>
        <p:blipFill rotWithShape="1">
          <a:blip r:embed="rId10" cstate="print">
            <a:extLst>
              <a:ext uri="{28A0092B-C50C-407E-A947-70E740481C1C}">
                <a14:useLocalDpi xmlns:a14="http://schemas.microsoft.com/office/drawing/2010/main" val="0"/>
              </a:ext>
            </a:extLst>
          </a:blip>
          <a:srcRect t="14470"/>
          <a:stretch/>
        </p:blipFill>
        <p:spPr>
          <a:xfrm>
            <a:off x="6165335" y="3177790"/>
            <a:ext cx="738082" cy="631281"/>
          </a:xfrm>
          <a:prstGeom prst="rect">
            <a:avLst/>
          </a:prstGeom>
        </p:spPr>
      </p:pic>
      <p:pic>
        <p:nvPicPr>
          <p:cNvPr id="43" name="Immagine 42"/>
          <p:cNvPicPr>
            <a:picLocks noChangeAspect="1"/>
          </p:cNvPicPr>
          <p:nvPr/>
        </p:nvPicPr>
        <p:blipFill>
          <a:blip r:embed="rId11" cstate="print">
            <a:biLevel thresh="75000"/>
            <a:extLst>
              <a:ext uri="{28A0092B-C50C-407E-A947-70E740481C1C}">
                <a14:useLocalDpi xmlns:a14="http://schemas.microsoft.com/office/drawing/2010/main" val="0"/>
              </a:ext>
            </a:extLst>
          </a:blip>
          <a:stretch>
            <a:fillRect/>
          </a:stretch>
        </p:blipFill>
        <p:spPr>
          <a:xfrm>
            <a:off x="7883204" y="3153651"/>
            <a:ext cx="1082830" cy="693804"/>
          </a:xfrm>
          <a:prstGeom prst="rect">
            <a:avLst/>
          </a:prstGeom>
        </p:spPr>
      </p:pic>
      <p:pic>
        <p:nvPicPr>
          <p:cNvPr id="44" name="Immagine 4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727043" y="3240823"/>
            <a:ext cx="1190766" cy="567904"/>
          </a:xfrm>
          <a:prstGeom prst="rect">
            <a:avLst/>
          </a:prstGeom>
        </p:spPr>
      </p:pic>
      <p:pic>
        <p:nvPicPr>
          <p:cNvPr id="45" name="Picture 2"/>
          <p:cNvPicPr>
            <a:picLocks noChangeAspect="1" noChangeArrowheads="1"/>
          </p:cNvPicPr>
          <p:nvPr/>
        </p:nvPicPr>
        <p:blipFill>
          <a:blip r:embed="rId13" cstate="print">
            <a:biLevel thresh="75000"/>
          </a:blip>
          <a:srcRect l="5016" t="4758" r="50097" b="4943"/>
          <a:stretch>
            <a:fillRect/>
          </a:stretch>
        </p:blipFill>
        <p:spPr bwMode="auto">
          <a:xfrm>
            <a:off x="5510026" y="1846052"/>
            <a:ext cx="638548" cy="657936"/>
          </a:xfrm>
          <a:prstGeom prst="rect">
            <a:avLst/>
          </a:prstGeom>
          <a:noFill/>
          <a:ln w="9525">
            <a:noFill/>
            <a:miter lim="800000"/>
            <a:headEnd/>
            <a:tailEnd/>
          </a:ln>
          <a:effectLst/>
        </p:spPr>
      </p:pic>
      <p:pic>
        <p:nvPicPr>
          <p:cNvPr id="46" name="Immagine 4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57846" y="1812020"/>
            <a:ext cx="725623" cy="725623"/>
          </a:xfrm>
          <a:prstGeom prst="rect">
            <a:avLst/>
          </a:prstGeom>
        </p:spPr>
      </p:pic>
      <p:pic>
        <p:nvPicPr>
          <p:cNvPr id="47" name="Immagine 46"/>
          <p:cNvPicPr>
            <a:picLocks noChangeAspect="1"/>
          </p:cNvPicPr>
          <p:nvPr/>
        </p:nvPicPr>
        <p:blipFill rotWithShape="1">
          <a:blip r:embed="rId15" cstate="print">
            <a:extLst>
              <a:ext uri="{28A0092B-C50C-407E-A947-70E740481C1C}">
                <a14:useLocalDpi xmlns:a14="http://schemas.microsoft.com/office/drawing/2010/main" val="0"/>
              </a:ext>
            </a:extLst>
          </a:blip>
          <a:srcRect l="28374" t="6540" r="27640"/>
          <a:stretch/>
        </p:blipFill>
        <p:spPr>
          <a:xfrm>
            <a:off x="9655162" y="1833686"/>
            <a:ext cx="423584" cy="722471"/>
          </a:xfrm>
          <a:prstGeom prst="rect">
            <a:avLst/>
          </a:prstGeom>
        </p:spPr>
      </p:pic>
      <p:pic>
        <p:nvPicPr>
          <p:cNvPr id="48" name="Immagine 47"/>
          <p:cNvPicPr>
            <a:picLocks noChangeAspect="1"/>
          </p:cNvPicPr>
          <p:nvPr/>
        </p:nvPicPr>
        <p:blipFill rotWithShape="1">
          <a:blip r:embed="rId16" cstate="print">
            <a:duotone>
              <a:schemeClr val="accent3">
                <a:shade val="45000"/>
                <a:satMod val="135000"/>
              </a:schemeClr>
              <a:prstClr val="white"/>
            </a:duotone>
            <a:extLst>
              <a:ext uri="{28A0092B-C50C-407E-A947-70E740481C1C}">
                <a14:useLocalDpi xmlns:a14="http://schemas.microsoft.com/office/drawing/2010/main" val="0"/>
              </a:ext>
            </a:extLst>
          </a:blip>
          <a:srcRect l="18566" t="16998" r="18567" b="18788"/>
          <a:stretch/>
        </p:blipFill>
        <p:spPr>
          <a:xfrm>
            <a:off x="9727043" y="2044594"/>
            <a:ext cx="291353" cy="198495"/>
          </a:xfrm>
          <a:prstGeom prst="rect">
            <a:avLst/>
          </a:prstGeom>
        </p:spPr>
      </p:pic>
      <p:sp>
        <p:nvSpPr>
          <p:cNvPr id="51" name="Freccia bidirezionale orizzontale 50"/>
          <p:cNvSpPr/>
          <p:nvPr/>
        </p:nvSpPr>
        <p:spPr>
          <a:xfrm>
            <a:off x="7652240" y="4731501"/>
            <a:ext cx="1226738" cy="169194"/>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pic>
        <p:nvPicPr>
          <p:cNvPr id="53" name="Immagine 52"/>
          <p:cNvPicPr>
            <a:picLocks noChangeAspect="1"/>
          </p:cNvPicPr>
          <p:nvPr/>
        </p:nvPicPr>
        <p:blipFill rotWithShape="1">
          <a:blip r:embed="rId17" cstate="print">
            <a:biLevel thresh="75000"/>
            <a:extLst>
              <a:ext uri="{28A0092B-C50C-407E-A947-70E740481C1C}">
                <a14:useLocalDpi xmlns:a14="http://schemas.microsoft.com/office/drawing/2010/main" val="0"/>
              </a:ext>
            </a:extLst>
          </a:blip>
          <a:srcRect l="32956" r="37156" b="37692"/>
          <a:stretch/>
        </p:blipFill>
        <p:spPr>
          <a:xfrm>
            <a:off x="7301040" y="1809632"/>
            <a:ext cx="464960" cy="700322"/>
          </a:xfrm>
          <a:prstGeom prst="rect">
            <a:avLst/>
          </a:prstGeom>
        </p:spPr>
      </p:pic>
      <p:sp>
        <p:nvSpPr>
          <p:cNvPr id="49" name="CasellaDiTesto 48"/>
          <p:cNvSpPr txBox="1"/>
          <p:nvPr/>
        </p:nvSpPr>
        <p:spPr>
          <a:xfrm>
            <a:off x="3692770" y="2801335"/>
            <a:ext cx="1922585" cy="369332"/>
          </a:xfrm>
          <a:prstGeom prst="rect">
            <a:avLst/>
          </a:prstGeom>
          <a:noFill/>
        </p:spPr>
        <p:txBody>
          <a:bodyPr wrap="square" rtlCol="0">
            <a:spAutoFit/>
          </a:bodyPr>
          <a:lstStyle/>
          <a:p>
            <a:r>
              <a:rPr lang="it-IT" dirty="0">
                <a:latin typeface="Aptos" panose="020B0004020202020204" pitchFamily="34" charset="0"/>
              </a:rPr>
              <a:t>Database</a:t>
            </a:r>
            <a:endParaRPr lang="en-GB" dirty="0">
              <a:latin typeface="Aptos" panose="020B0004020202020204" pitchFamily="34" charset="0"/>
            </a:endParaRPr>
          </a:p>
        </p:txBody>
      </p:sp>
      <p:pic>
        <p:nvPicPr>
          <p:cNvPr id="3" name="Immagine 2"/>
          <p:cNvPicPr>
            <a:picLocks noChangeAspect="1"/>
          </p:cNvPicPr>
          <p:nvPr/>
        </p:nvPicPr>
        <p:blipFill rotWithShape="1">
          <a:blip r:embed="rId18" cstate="print">
            <a:biLevel thresh="75000"/>
            <a:extLst>
              <a:ext uri="{28A0092B-C50C-407E-A947-70E740481C1C}">
                <a14:useLocalDpi xmlns:a14="http://schemas.microsoft.com/office/drawing/2010/main" val="0"/>
              </a:ext>
            </a:extLst>
          </a:blip>
          <a:srcRect t="10794" b="16165"/>
          <a:stretch/>
        </p:blipFill>
        <p:spPr>
          <a:xfrm>
            <a:off x="3733874" y="3112824"/>
            <a:ext cx="1017056" cy="784655"/>
          </a:xfrm>
          <a:prstGeom prst="rect">
            <a:avLst/>
          </a:prstGeom>
        </p:spPr>
      </p:pic>
      <p:sp>
        <p:nvSpPr>
          <p:cNvPr id="21" name="Segnaposto numero diapositiva 20"/>
          <p:cNvSpPr>
            <a:spLocks noGrp="1"/>
          </p:cNvSpPr>
          <p:nvPr>
            <p:ph type="sldNum" sz="quarter" idx="12"/>
          </p:nvPr>
        </p:nvSpPr>
        <p:spPr/>
        <p:txBody>
          <a:bodyPr/>
          <a:lstStyle/>
          <a:p>
            <a:fld id="{31DE2C5B-556E-47B8-A792-024C2FCA4ACC}" type="slidenum">
              <a:rPr lang="en-GB" smtClean="0"/>
              <a:t>24</a:t>
            </a:fld>
            <a:endParaRPr lang="en-GB"/>
          </a:p>
        </p:txBody>
      </p:sp>
      <p:sp>
        <p:nvSpPr>
          <p:cNvPr id="28" name="Rettangolo 27"/>
          <p:cNvSpPr/>
          <p:nvPr/>
        </p:nvSpPr>
        <p:spPr>
          <a:xfrm>
            <a:off x="352180" y="891978"/>
            <a:ext cx="11264900" cy="660554"/>
          </a:xfrm>
          <a:prstGeom prst="rect">
            <a:avLst/>
          </a:prstGeom>
          <a:solidFill>
            <a:schemeClr val="accent6">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b="1" dirty="0">
                <a:solidFill>
                  <a:schemeClr val="tx1"/>
                </a:solidFill>
                <a:latin typeface="Aptos" panose="020B0004020202020204" pitchFamily="34" charset="0"/>
              </a:rPr>
              <a:t>In </a:t>
            </a:r>
            <a:r>
              <a:rPr lang="it-IT" b="1" dirty="0" err="1">
                <a:solidFill>
                  <a:schemeClr val="tx1"/>
                </a:solidFill>
                <a:latin typeface="Aptos" panose="020B0004020202020204" pitchFamily="34" charset="0"/>
              </a:rPr>
              <a:t>this</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course</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we</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will</a:t>
            </a:r>
            <a:r>
              <a:rPr lang="it-IT" b="1" dirty="0">
                <a:solidFill>
                  <a:schemeClr val="tx1"/>
                </a:solidFill>
                <a:latin typeface="Aptos" panose="020B0004020202020204" pitchFamily="34" charset="0"/>
              </a:rPr>
              <a:t> go </a:t>
            </a:r>
            <a:r>
              <a:rPr lang="it-IT" b="1" dirty="0" err="1">
                <a:solidFill>
                  <a:schemeClr val="tx1"/>
                </a:solidFill>
                <a:latin typeface="Aptos" panose="020B0004020202020204" pitchFamily="34" charset="0"/>
              </a:rPr>
              <a:t>through</a:t>
            </a:r>
            <a:r>
              <a:rPr lang="it-IT" b="1" dirty="0">
                <a:solidFill>
                  <a:schemeClr val="tx1"/>
                </a:solidFill>
                <a:latin typeface="Aptos" panose="020B0004020202020204" pitchFamily="34" charset="0"/>
              </a:rPr>
              <a:t> the </a:t>
            </a:r>
            <a:r>
              <a:rPr lang="it-IT" b="1" dirty="0" err="1">
                <a:solidFill>
                  <a:schemeClr val="tx1"/>
                </a:solidFill>
                <a:latin typeface="Aptos" panose="020B0004020202020204" pitchFamily="34" charset="0"/>
              </a:rPr>
              <a:t>four</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layers</a:t>
            </a:r>
            <a:r>
              <a:rPr lang="it-IT" b="1" dirty="0">
                <a:solidFill>
                  <a:schemeClr val="tx1"/>
                </a:solidFill>
                <a:latin typeface="Aptos" panose="020B0004020202020204" pitchFamily="34" charset="0"/>
              </a:rPr>
              <a:t> of wearable IoT systems </a:t>
            </a:r>
            <a:r>
              <a:rPr lang="it-IT" b="1" dirty="0" err="1">
                <a:solidFill>
                  <a:schemeClr val="tx1"/>
                </a:solidFill>
                <a:latin typeface="Aptos" panose="020B0004020202020204" pitchFamily="34" charset="0"/>
              </a:rPr>
              <a:t>starting</a:t>
            </a:r>
            <a:r>
              <a:rPr lang="it-IT" b="1" dirty="0">
                <a:solidFill>
                  <a:schemeClr val="tx1"/>
                </a:solidFill>
                <a:latin typeface="Aptos" panose="020B0004020202020204" pitchFamily="34" charset="0"/>
              </a:rPr>
              <a:t> from </a:t>
            </a:r>
            <a:r>
              <a:rPr lang="it-IT" b="1" dirty="0" err="1">
                <a:solidFill>
                  <a:schemeClr val="tx1"/>
                </a:solidFill>
                <a:latin typeface="Aptos" panose="020B0004020202020204" pitchFamily="34" charset="0"/>
              </a:rPr>
              <a:t>layer</a:t>
            </a:r>
            <a:r>
              <a:rPr lang="it-IT" b="1" dirty="0">
                <a:solidFill>
                  <a:schemeClr val="tx1"/>
                </a:solidFill>
                <a:latin typeface="Aptos" panose="020B0004020202020204" pitchFamily="34" charset="0"/>
              </a:rPr>
              <a:t> 1.</a:t>
            </a:r>
            <a:endParaRPr lang="en-GB" b="1" dirty="0">
              <a:solidFill>
                <a:schemeClr val="tx1"/>
              </a:solidFill>
              <a:latin typeface="Aptos" panose="020B0004020202020204" pitchFamily="34" charset="0"/>
            </a:endParaRPr>
          </a:p>
        </p:txBody>
      </p:sp>
      <p:pic>
        <p:nvPicPr>
          <p:cNvPr id="31" name="Graphic 30" descr="Close with solid fill">
            <a:extLst>
              <a:ext uri="{FF2B5EF4-FFF2-40B4-BE49-F238E27FC236}">
                <a16:creationId xmlns:a16="http://schemas.microsoft.com/office/drawing/2014/main" id="{1AE8999C-C38E-0134-A261-853A8B2375D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636701" y="2885053"/>
            <a:ext cx="1168587" cy="989876"/>
          </a:xfrm>
          <a:prstGeom prst="rect">
            <a:avLst/>
          </a:prstGeom>
        </p:spPr>
      </p:pic>
    </p:spTree>
    <p:extLst>
      <p:ext uri="{BB962C8B-B14F-4D97-AF65-F5344CB8AC3E}">
        <p14:creationId xmlns:p14="http://schemas.microsoft.com/office/powerpoint/2010/main" val="2280632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Theory </a:t>
            </a:r>
            <a:r>
              <a:rPr lang="it-IT" dirty="0" err="1"/>
              <a:t>program</a:t>
            </a:r>
            <a:endParaRPr lang="en-GB" dirty="0"/>
          </a:p>
        </p:txBody>
      </p:sp>
      <p:sp>
        <p:nvSpPr>
          <p:cNvPr id="6" name="Segnaposto contenuto 5"/>
          <p:cNvSpPr>
            <a:spLocks noGrp="1"/>
          </p:cNvSpPr>
          <p:nvPr>
            <p:ph idx="1"/>
          </p:nvPr>
        </p:nvSpPr>
        <p:spPr/>
        <p:txBody>
          <a:bodyPr/>
          <a:lstStyle/>
          <a:p>
            <a:r>
              <a:rPr lang="en-GB" dirty="0"/>
              <a:t>12 theory lectures</a:t>
            </a:r>
          </a:p>
          <a:p>
            <a:pPr lvl="1"/>
            <a:r>
              <a:rPr lang="en-GB" dirty="0"/>
              <a:t>Tuesday 14:30-16:30, Room Me (Polo </a:t>
            </a:r>
            <a:r>
              <a:rPr lang="en-GB" dirty="0" err="1"/>
              <a:t>Didattico</a:t>
            </a:r>
            <a:r>
              <a:rPr lang="en-GB" dirty="0"/>
              <a:t> di Via </a:t>
            </a:r>
            <a:r>
              <a:rPr lang="en-GB" dirty="0" err="1"/>
              <a:t>Gradenigo</a:t>
            </a:r>
            <a:r>
              <a:rPr lang="en-GB" dirty="0"/>
              <a:t>)</a:t>
            </a:r>
          </a:p>
          <a:p>
            <a:pPr lvl="1"/>
            <a:endParaRPr lang="en-GB" b="1" dirty="0"/>
          </a:p>
          <a:p>
            <a:r>
              <a:rPr lang="en-GB" dirty="0"/>
              <a:t>Contents: </a:t>
            </a:r>
          </a:p>
          <a:p>
            <a:pPr lvl="1"/>
            <a:r>
              <a:rPr lang="en-GB" dirty="0"/>
              <a:t>Wearable sensor technologies</a:t>
            </a:r>
          </a:p>
          <a:p>
            <a:pPr lvl="1"/>
            <a:r>
              <a:rPr lang="en-GB" dirty="0"/>
              <a:t>World wide web, HTTP communication protocol</a:t>
            </a:r>
          </a:p>
          <a:p>
            <a:pPr lvl="1"/>
            <a:r>
              <a:rPr lang="en-GB" dirty="0"/>
              <a:t>The representational state transfer (REST) paradigm</a:t>
            </a:r>
          </a:p>
          <a:p>
            <a:pPr lvl="1"/>
            <a:r>
              <a:rPr lang="en-GB" dirty="0"/>
              <a:t>Application programming interfaces (APIs)</a:t>
            </a:r>
          </a:p>
          <a:p>
            <a:pPr lvl="1"/>
            <a:r>
              <a:rPr lang="en-GB" dirty="0"/>
              <a:t>Elements of cryptography</a:t>
            </a:r>
          </a:p>
          <a:p>
            <a:pPr lvl="1"/>
            <a:r>
              <a:rPr lang="en-GB" dirty="0"/>
              <a:t>Authentication protocols</a:t>
            </a:r>
          </a:p>
          <a:p>
            <a:pPr lvl="1"/>
            <a:r>
              <a:rPr lang="en-GB" dirty="0"/>
              <a:t>Health design thinking</a:t>
            </a:r>
          </a:p>
          <a:p>
            <a:pPr lvl="1"/>
            <a:r>
              <a:rPr lang="en-GB" dirty="0"/>
              <a:t>Evaluation of app usability</a:t>
            </a:r>
          </a:p>
          <a:p>
            <a:pPr lvl="1"/>
            <a:r>
              <a:rPr lang="en-GB" dirty="0"/>
              <a:t>Regulation for health data management</a:t>
            </a:r>
          </a:p>
          <a:p>
            <a:pPr lvl="1"/>
            <a:endParaRPr lang="it-IT" dirty="0"/>
          </a:p>
          <a:p>
            <a:endParaRPr lang="it-IT" dirty="0"/>
          </a:p>
          <a:p>
            <a:endParaRPr lang="it-IT" dirty="0"/>
          </a:p>
        </p:txBody>
      </p:sp>
      <p:sp>
        <p:nvSpPr>
          <p:cNvPr id="2" name="Segnaposto numero diapositiva 1"/>
          <p:cNvSpPr>
            <a:spLocks noGrp="1"/>
          </p:cNvSpPr>
          <p:nvPr>
            <p:ph type="sldNum" sz="quarter" idx="12"/>
          </p:nvPr>
        </p:nvSpPr>
        <p:spPr/>
        <p:txBody>
          <a:bodyPr/>
          <a:lstStyle/>
          <a:p>
            <a:fld id="{31DE2C5B-556E-47B8-A792-024C2FCA4ACC}" type="slidenum">
              <a:rPr lang="en-GB" smtClean="0"/>
              <a:t>25</a:t>
            </a:fld>
            <a:endParaRPr lang="en-GB"/>
          </a:p>
        </p:txBody>
      </p:sp>
    </p:spTree>
    <p:extLst>
      <p:ext uri="{BB962C8B-B14F-4D97-AF65-F5344CB8AC3E}">
        <p14:creationId xmlns:p14="http://schemas.microsoft.com/office/powerpoint/2010/main" val="1427573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Lab </a:t>
            </a:r>
            <a:r>
              <a:rPr lang="it-IT" dirty="0" err="1"/>
              <a:t>program</a:t>
            </a:r>
            <a:endParaRPr lang="en-GB" dirty="0"/>
          </a:p>
        </p:txBody>
      </p:sp>
      <p:sp>
        <p:nvSpPr>
          <p:cNvPr id="6" name="Segnaposto contenuto 5"/>
          <p:cNvSpPr>
            <a:spLocks noGrp="1"/>
          </p:cNvSpPr>
          <p:nvPr>
            <p:ph idx="1"/>
          </p:nvPr>
        </p:nvSpPr>
        <p:spPr/>
        <p:txBody>
          <a:bodyPr>
            <a:normAutofit/>
          </a:bodyPr>
          <a:lstStyle/>
          <a:p>
            <a:r>
              <a:rPr lang="en-GB" dirty="0"/>
              <a:t>12 laboratory lectures (11 lectures + 1 workshop)</a:t>
            </a:r>
          </a:p>
          <a:p>
            <a:pPr lvl="1"/>
            <a:r>
              <a:rPr lang="en-GB" dirty="0"/>
              <a:t>Wednesday 8:30-10:30, Rooms </a:t>
            </a:r>
            <a:r>
              <a:rPr lang="en-GB" dirty="0" err="1"/>
              <a:t>Te+Ue</a:t>
            </a:r>
            <a:r>
              <a:rPr lang="en-GB" dirty="0"/>
              <a:t> (Polo </a:t>
            </a:r>
            <a:r>
              <a:rPr lang="en-GB" dirty="0" err="1"/>
              <a:t>Didattico</a:t>
            </a:r>
            <a:r>
              <a:rPr lang="en-GB" dirty="0"/>
              <a:t> di Via </a:t>
            </a:r>
            <a:r>
              <a:rPr lang="en-GB" dirty="0" err="1"/>
              <a:t>Gradenigo</a:t>
            </a:r>
            <a:r>
              <a:rPr lang="en-GB" dirty="0"/>
              <a:t>)</a:t>
            </a:r>
          </a:p>
          <a:p>
            <a:pPr lvl="1"/>
            <a:endParaRPr lang="en-GB" dirty="0"/>
          </a:p>
          <a:p>
            <a:r>
              <a:rPr lang="en-GB" dirty="0"/>
              <a:t>Contents: </a:t>
            </a:r>
          </a:p>
          <a:p>
            <a:pPr lvl="1"/>
            <a:r>
              <a:rPr lang="en-GB" dirty="0"/>
              <a:t>The Git version control system</a:t>
            </a:r>
          </a:p>
          <a:p>
            <a:pPr lvl="1"/>
            <a:r>
              <a:rPr lang="en-GB" dirty="0"/>
              <a:t>Dart programming language and the Flutter framework</a:t>
            </a:r>
          </a:p>
          <a:p>
            <a:pPr lvl="1"/>
            <a:r>
              <a:rPr lang="en-GB" dirty="0"/>
              <a:t>Building mobile/web applications in Flutter</a:t>
            </a:r>
          </a:p>
          <a:p>
            <a:pPr lvl="1"/>
            <a:r>
              <a:rPr lang="en-GB" dirty="0"/>
              <a:t>User Interface design</a:t>
            </a:r>
          </a:p>
          <a:p>
            <a:pPr lvl="1"/>
            <a:r>
              <a:rPr lang="en-GB" dirty="0"/>
              <a:t>Navigation</a:t>
            </a:r>
          </a:p>
          <a:p>
            <a:pPr lvl="1"/>
            <a:r>
              <a:rPr lang="en-GB" dirty="0"/>
              <a:t>State management</a:t>
            </a:r>
          </a:p>
          <a:p>
            <a:pPr lvl="1"/>
            <a:r>
              <a:rPr lang="en-GB" dirty="0"/>
              <a:t>Basic data persistence</a:t>
            </a:r>
          </a:p>
          <a:p>
            <a:pPr lvl="1"/>
            <a:r>
              <a:rPr lang="en-GB" dirty="0"/>
              <a:t>Networking</a:t>
            </a:r>
          </a:p>
          <a:p>
            <a:pPr lvl="1"/>
            <a:endParaRPr lang="en-GB" dirty="0"/>
          </a:p>
        </p:txBody>
      </p:sp>
      <p:sp>
        <p:nvSpPr>
          <p:cNvPr id="2" name="Segnaposto numero diapositiva 1"/>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1937597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3D77-1ED3-1953-CB36-5AF94F99BD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2D585E7-A31E-8294-4E96-B49A3C012615}"/>
              </a:ext>
            </a:extLst>
          </p:cNvPr>
          <p:cNvSpPr>
            <a:spLocks noGrp="1"/>
          </p:cNvSpPr>
          <p:nvPr>
            <p:ph type="title"/>
          </p:nvPr>
        </p:nvSpPr>
        <p:spPr/>
        <p:txBody>
          <a:bodyPr/>
          <a:lstStyle/>
          <a:p>
            <a:r>
              <a:rPr lang="it-IT" dirty="0"/>
              <a:t>The </a:t>
            </a:r>
            <a:r>
              <a:rPr lang="it-IT" dirty="0" err="1"/>
              <a:t>calendar</a:t>
            </a:r>
            <a:r>
              <a:rPr lang="it-IT" dirty="0"/>
              <a:t> drama - </a:t>
            </a:r>
            <a:r>
              <a:rPr lang="it-IT" dirty="0" err="1"/>
              <a:t>Lessons</a:t>
            </a:r>
            <a:endParaRPr lang="en-GB" dirty="0"/>
          </a:p>
        </p:txBody>
      </p:sp>
      <p:sp>
        <p:nvSpPr>
          <p:cNvPr id="3" name="Segnaposto contenuto 2">
            <a:extLst>
              <a:ext uri="{FF2B5EF4-FFF2-40B4-BE49-F238E27FC236}">
                <a16:creationId xmlns:a16="http://schemas.microsoft.com/office/drawing/2014/main" id="{7F273D0E-5E2B-C696-AB3C-DCD3D50FD01A}"/>
              </a:ext>
            </a:extLst>
          </p:cNvPr>
          <p:cNvSpPr>
            <a:spLocks noGrp="1"/>
          </p:cNvSpPr>
          <p:nvPr>
            <p:ph idx="1"/>
          </p:nvPr>
        </p:nvSpPr>
        <p:spPr>
          <a:xfrm>
            <a:off x="428172" y="1258081"/>
            <a:ext cx="11368314" cy="5027620"/>
          </a:xfrm>
        </p:spPr>
        <p:txBody>
          <a:bodyPr>
            <a:normAutofit fontScale="92500" lnSpcReduction="10000"/>
          </a:bodyPr>
          <a:lstStyle/>
          <a:p>
            <a:pPr marL="0" indent="0">
              <a:buNone/>
            </a:pPr>
            <a:endParaRPr lang="en-US" b="1" dirty="0">
              <a:solidFill>
                <a:srgbClr val="C00000"/>
              </a:solidFill>
            </a:endParaRPr>
          </a:p>
          <a:p>
            <a:pPr marL="0" indent="0" algn="ctr">
              <a:buNone/>
            </a:pPr>
            <a:r>
              <a:rPr lang="en-US" b="1" dirty="0">
                <a:solidFill>
                  <a:srgbClr val="C00000"/>
                </a:solidFill>
              </a:rPr>
              <a:t>Problem</a:t>
            </a:r>
            <a:r>
              <a:rPr lang="en-US" b="1" dirty="0"/>
              <a:t>: I will be away from 18/03/2025 to 22/03/2025 + Easter is a mess this year</a:t>
            </a:r>
          </a:p>
          <a:p>
            <a:pPr marL="0" indent="0" algn="ctr">
              <a:buNone/>
            </a:pPr>
            <a:endParaRPr lang="en-US" b="1" dirty="0"/>
          </a:p>
          <a:p>
            <a:pPr marL="0" indent="0" algn="ctr">
              <a:buNone/>
            </a:pPr>
            <a:r>
              <a:rPr lang="en-US" b="1" dirty="0"/>
              <a:t>PLAN A</a:t>
            </a:r>
          </a:p>
          <a:p>
            <a:r>
              <a:rPr lang="en-US" b="1" dirty="0">
                <a:solidFill>
                  <a:srgbClr val="C00000"/>
                </a:solidFill>
              </a:rPr>
              <a:t>We will skip </a:t>
            </a:r>
            <a:r>
              <a:rPr lang="en-US" dirty="0"/>
              <a:t>the following lessons</a:t>
            </a:r>
            <a:endParaRPr lang="en-US" b="1" dirty="0">
              <a:solidFill>
                <a:srgbClr val="C00000"/>
              </a:solidFill>
            </a:endParaRPr>
          </a:p>
          <a:p>
            <a:pPr lvl="1"/>
            <a:r>
              <a:rPr lang="en-US" b="1" dirty="0"/>
              <a:t>18/03/2025, 19/03/2025</a:t>
            </a:r>
            <a:endParaRPr lang="en-US" dirty="0"/>
          </a:p>
          <a:p>
            <a:r>
              <a:rPr lang="en-US" b="1" dirty="0">
                <a:solidFill>
                  <a:srgbClr val="C00000"/>
                </a:solidFill>
              </a:rPr>
              <a:t>We will end the lessons by </a:t>
            </a:r>
            <a:r>
              <a:rPr lang="en-US" b="1" dirty="0"/>
              <a:t>21/05/2025</a:t>
            </a:r>
          </a:p>
          <a:p>
            <a:endParaRPr lang="en-US" b="1" dirty="0">
              <a:solidFill>
                <a:srgbClr val="C00000"/>
              </a:solidFill>
            </a:endParaRPr>
          </a:p>
          <a:p>
            <a:pPr marL="0" indent="0" algn="ctr">
              <a:buNone/>
            </a:pPr>
            <a:r>
              <a:rPr lang="en-US" b="1" dirty="0"/>
              <a:t>PLAN B</a:t>
            </a:r>
          </a:p>
          <a:p>
            <a:r>
              <a:rPr lang="en-US" b="1" dirty="0">
                <a:solidFill>
                  <a:srgbClr val="C00000"/>
                </a:solidFill>
              </a:rPr>
              <a:t>We will skip </a:t>
            </a:r>
            <a:r>
              <a:rPr lang="en-US" dirty="0"/>
              <a:t>the following weeks</a:t>
            </a:r>
          </a:p>
          <a:p>
            <a:pPr lvl="1"/>
            <a:r>
              <a:rPr lang="en-US" b="1" dirty="0"/>
              <a:t>18/03/2025, 19/03/2025</a:t>
            </a:r>
          </a:p>
          <a:p>
            <a:pPr lvl="1"/>
            <a:r>
              <a:rPr lang="en-US" b="1" dirty="0"/>
              <a:t>22/04/2025, 23/04/2025: </a:t>
            </a:r>
            <a:r>
              <a:rPr lang="en-US" dirty="0"/>
              <a:t>Easter “pause”</a:t>
            </a:r>
          </a:p>
          <a:p>
            <a:r>
              <a:rPr lang="en-US" b="1" dirty="0">
                <a:solidFill>
                  <a:srgbClr val="C00000"/>
                </a:solidFill>
              </a:rPr>
              <a:t>We will end the lessons by </a:t>
            </a:r>
            <a:r>
              <a:rPr lang="en-US" b="1" dirty="0"/>
              <a:t>28/05/2025</a:t>
            </a:r>
          </a:p>
          <a:p>
            <a:pPr lvl="1"/>
            <a:endParaRPr lang="en-US" b="1" dirty="0">
              <a:solidFill>
                <a:srgbClr val="C00000"/>
              </a:solidFill>
            </a:endParaRPr>
          </a:p>
          <a:p>
            <a:endParaRPr lang="en-US" b="1" dirty="0">
              <a:solidFill>
                <a:srgbClr val="C00000"/>
              </a:solidFill>
            </a:endParaRPr>
          </a:p>
        </p:txBody>
      </p:sp>
      <p:sp>
        <p:nvSpPr>
          <p:cNvPr id="6" name="Segnaposto numero diapositiva 5">
            <a:extLst>
              <a:ext uri="{FF2B5EF4-FFF2-40B4-BE49-F238E27FC236}">
                <a16:creationId xmlns:a16="http://schemas.microsoft.com/office/drawing/2014/main" id="{FD2C8ECE-AE1C-6FDE-6BFC-802EA4147A59}"/>
              </a:ext>
            </a:extLst>
          </p:cNvPr>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3615414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p:cNvSpPr>
            <a:spLocks noGrp="1"/>
          </p:cNvSpPr>
          <p:nvPr>
            <p:ph type="title"/>
          </p:nvPr>
        </p:nvSpPr>
        <p:spPr/>
        <p:txBody>
          <a:bodyPr/>
          <a:lstStyle/>
          <a:p>
            <a:r>
              <a:rPr lang="it-IT" dirty="0"/>
              <a:t>Lab </a:t>
            </a:r>
            <a:r>
              <a:rPr lang="it-IT" dirty="0" err="1"/>
              <a:t>program</a:t>
            </a:r>
            <a:r>
              <a:rPr lang="it-IT" dirty="0"/>
              <a:t> - The workshop</a:t>
            </a:r>
            <a:endParaRPr lang="en-GB" dirty="0"/>
          </a:p>
        </p:txBody>
      </p:sp>
      <p:sp>
        <p:nvSpPr>
          <p:cNvPr id="6" name="Segnaposto contenuto 5"/>
          <p:cNvSpPr>
            <a:spLocks noGrp="1"/>
          </p:cNvSpPr>
          <p:nvPr>
            <p:ph idx="1"/>
          </p:nvPr>
        </p:nvSpPr>
        <p:spPr>
          <a:xfrm>
            <a:off x="428172" y="1361167"/>
            <a:ext cx="6016696" cy="5334907"/>
          </a:xfrm>
        </p:spPr>
        <p:txBody>
          <a:bodyPr>
            <a:normAutofit/>
          </a:bodyPr>
          <a:lstStyle/>
          <a:p>
            <a:r>
              <a:rPr lang="en-GB" dirty="0"/>
              <a:t>2-hours workshop where we will set up a fake clinical trial aimed at evaluating the cardiovascular tone in a cohort of healthy subjects using an experimental algorithm</a:t>
            </a:r>
          </a:p>
          <a:p>
            <a:endParaRPr lang="en-GB" dirty="0"/>
          </a:p>
          <a:p>
            <a:endParaRPr lang="en-GB" dirty="0"/>
          </a:p>
          <a:p>
            <a:endParaRPr lang="en-GB" dirty="0"/>
          </a:p>
          <a:p>
            <a:endParaRPr lang="en-GB" dirty="0"/>
          </a:p>
          <a:p>
            <a:endParaRPr lang="en-GB" dirty="0"/>
          </a:p>
          <a:p>
            <a:r>
              <a:rPr lang="en-GB" dirty="0"/>
              <a:t>The fastest 5 students to submit the right answer will get a +1 to the final evaluation.</a:t>
            </a:r>
          </a:p>
          <a:p>
            <a:endParaRPr lang="en-GB" dirty="0"/>
          </a:p>
          <a:p>
            <a:endParaRPr lang="en-GB" dirty="0"/>
          </a:p>
          <a:p>
            <a:pPr lvl="1"/>
            <a:endParaRPr lang="en-GB" dirty="0"/>
          </a:p>
        </p:txBody>
      </p:sp>
      <p:sp>
        <p:nvSpPr>
          <p:cNvPr id="2" name="Segnaposto numero diapositiva 1"/>
          <p:cNvSpPr>
            <a:spLocks noGrp="1"/>
          </p:cNvSpPr>
          <p:nvPr>
            <p:ph type="sldNum" sz="quarter" idx="12"/>
          </p:nvPr>
        </p:nvSpPr>
        <p:spPr/>
        <p:txBody>
          <a:bodyPr/>
          <a:lstStyle/>
          <a:p>
            <a:fld id="{31DE2C5B-556E-47B8-A792-024C2FCA4ACC}" type="slidenum">
              <a:rPr lang="en-GB" smtClean="0"/>
              <a:t>28</a:t>
            </a:fld>
            <a:endParaRPr lang="en-GB"/>
          </a:p>
        </p:txBody>
      </p:sp>
      <p:sp>
        <p:nvSpPr>
          <p:cNvPr id="3" name="Rectangle 2">
            <a:extLst>
              <a:ext uri="{FF2B5EF4-FFF2-40B4-BE49-F238E27FC236}">
                <a16:creationId xmlns:a16="http://schemas.microsoft.com/office/drawing/2014/main" id="{3CF01D30-25FF-A464-7F67-76360D9C81C7}"/>
              </a:ext>
            </a:extLst>
          </p:cNvPr>
          <p:cNvSpPr/>
          <p:nvPr/>
        </p:nvSpPr>
        <p:spPr>
          <a:xfrm>
            <a:off x="7338152" y="1407768"/>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1. Trial setup</a:t>
            </a:r>
          </a:p>
        </p:txBody>
      </p:sp>
      <p:sp>
        <p:nvSpPr>
          <p:cNvPr id="4" name="Rectangle 3">
            <a:extLst>
              <a:ext uri="{FF2B5EF4-FFF2-40B4-BE49-F238E27FC236}">
                <a16:creationId xmlns:a16="http://schemas.microsoft.com/office/drawing/2014/main" id="{F355DA76-C949-FBA7-F19B-B2681BEF76B6}"/>
              </a:ext>
            </a:extLst>
          </p:cNvPr>
          <p:cNvSpPr/>
          <p:nvPr/>
        </p:nvSpPr>
        <p:spPr>
          <a:xfrm>
            <a:off x="7338152" y="2530165"/>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2. Data collection using a wearable and an app</a:t>
            </a:r>
          </a:p>
        </p:txBody>
      </p:sp>
      <p:sp>
        <p:nvSpPr>
          <p:cNvPr id="7" name="Rectangle 6">
            <a:extLst>
              <a:ext uri="{FF2B5EF4-FFF2-40B4-BE49-F238E27FC236}">
                <a16:creationId xmlns:a16="http://schemas.microsoft.com/office/drawing/2014/main" id="{8DADA1B7-0CF8-E402-5B14-12803EF97505}"/>
              </a:ext>
            </a:extLst>
          </p:cNvPr>
          <p:cNvSpPr/>
          <p:nvPr/>
        </p:nvSpPr>
        <p:spPr>
          <a:xfrm>
            <a:off x="7338152" y="3652562"/>
            <a:ext cx="2544896" cy="6610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ptos" panose="020B0004020202020204" pitchFamily="34" charset="0"/>
                <a:ea typeface="Palatino" pitchFamily="2" charset="77"/>
              </a:rPr>
              <a:t>3. Data preparation</a:t>
            </a:r>
          </a:p>
        </p:txBody>
      </p:sp>
      <p:sp>
        <p:nvSpPr>
          <p:cNvPr id="8" name="Rectangle 7">
            <a:extLst>
              <a:ext uri="{FF2B5EF4-FFF2-40B4-BE49-F238E27FC236}">
                <a16:creationId xmlns:a16="http://schemas.microsoft.com/office/drawing/2014/main" id="{BC309BBA-502D-E590-BBE2-4B6D25A82C3E}"/>
              </a:ext>
            </a:extLst>
          </p:cNvPr>
          <p:cNvSpPr/>
          <p:nvPr/>
        </p:nvSpPr>
        <p:spPr>
          <a:xfrm>
            <a:off x="7338152" y="4774959"/>
            <a:ext cx="2544896" cy="661012"/>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ptos" panose="020B0004020202020204" pitchFamily="34" charset="0"/>
                <a:ea typeface="Palatino" pitchFamily="2" charset="77"/>
              </a:rPr>
              <a:t>4. Data analysis</a:t>
            </a:r>
          </a:p>
        </p:txBody>
      </p:sp>
      <p:sp>
        <p:nvSpPr>
          <p:cNvPr id="9" name="Rectangle 8">
            <a:extLst>
              <a:ext uri="{FF2B5EF4-FFF2-40B4-BE49-F238E27FC236}">
                <a16:creationId xmlns:a16="http://schemas.microsoft.com/office/drawing/2014/main" id="{AB862AA0-B559-9687-D694-D4FC5179D012}"/>
              </a:ext>
            </a:extLst>
          </p:cNvPr>
          <p:cNvSpPr/>
          <p:nvPr/>
        </p:nvSpPr>
        <p:spPr>
          <a:xfrm>
            <a:off x="7338152" y="5897356"/>
            <a:ext cx="2544896" cy="661012"/>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ptos" panose="020B0004020202020204" pitchFamily="34" charset="0"/>
                <a:ea typeface="Palatino" pitchFamily="2" charset="77"/>
              </a:rPr>
              <a:t>5. Trial outcome</a:t>
            </a:r>
          </a:p>
        </p:txBody>
      </p:sp>
      <p:sp>
        <p:nvSpPr>
          <p:cNvPr id="10" name="Right Brace 9">
            <a:extLst>
              <a:ext uri="{FF2B5EF4-FFF2-40B4-BE49-F238E27FC236}">
                <a16:creationId xmlns:a16="http://schemas.microsoft.com/office/drawing/2014/main" id="{A4B60173-A7FE-F61A-37F8-6965F45032AD}"/>
              </a:ext>
            </a:extLst>
          </p:cNvPr>
          <p:cNvSpPr/>
          <p:nvPr/>
        </p:nvSpPr>
        <p:spPr>
          <a:xfrm>
            <a:off x="9883048" y="1712329"/>
            <a:ext cx="374574" cy="230252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11" name="Right Brace 10">
            <a:extLst>
              <a:ext uri="{FF2B5EF4-FFF2-40B4-BE49-F238E27FC236}">
                <a16:creationId xmlns:a16="http://schemas.microsoft.com/office/drawing/2014/main" id="{B96513B9-D6BA-F122-28A3-A160CC8970AE}"/>
              </a:ext>
            </a:extLst>
          </p:cNvPr>
          <p:cNvSpPr/>
          <p:nvPr/>
        </p:nvSpPr>
        <p:spPr>
          <a:xfrm>
            <a:off x="9883048" y="5050440"/>
            <a:ext cx="374574" cy="117742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atin typeface="Aptos" panose="020B0004020202020204" pitchFamily="34" charset="0"/>
            </a:endParaRPr>
          </a:p>
        </p:txBody>
      </p:sp>
      <p:sp>
        <p:nvSpPr>
          <p:cNvPr id="12" name="Segnaposto contenuto 5">
            <a:extLst>
              <a:ext uri="{FF2B5EF4-FFF2-40B4-BE49-F238E27FC236}">
                <a16:creationId xmlns:a16="http://schemas.microsoft.com/office/drawing/2014/main" id="{92A8F913-F681-690D-F89A-A419783EDA5C}"/>
              </a:ext>
            </a:extLst>
          </p:cNvPr>
          <p:cNvSpPr txBox="1">
            <a:spLocks/>
          </p:cNvSpPr>
          <p:nvPr/>
        </p:nvSpPr>
        <p:spPr>
          <a:xfrm>
            <a:off x="10257622" y="2620671"/>
            <a:ext cx="1783178" cy="634087"/>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latin typeface="Aptos" panose="020B0004020202020204" pitchFamily="34" charset="0"/>
              </a:rPr>
              <a:t>Together</a:t>
            </a:r>
          </a:p>
          <a:p>
            <a:endParaRPr lang="en-GB" b="1" dirty="0">
              <a:latin typeface="Aptos" panose="020B0004020202020204" pitchFamily="34" charset="0"/>
            </a:endParaRPr>
          </a:p>
          <a:p>
            <a:pPr lvl="1"/>
            <a:endParaRPr lang="en-GB" b="1" dirty="0">
              <a:latin typeface="Aptos" panose="020B0004020202020204" pitchFamily="34" charset="0"/>
            </a:endParaRPr>
          </a:p>
        </p:txBody>
      </p:sp>
      <p:sp>
        <p:nvSpPr>
          <p:cNvPr id="13" name="Segnaposto contenuto 5">
            <a:extLst>
              <a:ext uri="{FF2B5EF4-FFF2-40B4-BE49-F238E27FC236}">
                <a16:creationId xmlns:a16="http://schemas.microsoft.com/office/drawing/2014/main" id="{3EB01B8C-F8AF-F744-BB5C-73A294321FE2}"/>
              </a:ext>
            </a:extLst>
          </p:cNvPr>
          <p:cNvSpPr txBox="1">
            <a:spLocks/>
          </p:cNvSpPr>
          <p:nvPr/>
        </p:nvSpPr>
        <p:spPr>
          <a:xfrm>
            <a:off x="10257621" y="5435971"/>
            <a:ext cx="1934379" cy="634087"/>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latin typeface="Aptos" panose="020B0004020202020204" pitchFamily="34" charset="0"/>
              </a:rPr>
              <a:t>Individually</a:t>
            </a:r>
          </a:p>
          <a:p>
            <a:endParaRPr lang="en-GB" b="1" dirty="0">
              <a:latin typeface="Aptos" panose="020B0004020202020204" pitchFamily="34" charset="0"/>
            </a:endParaRPr>
          </a:p>
          <a:p>
            <a:pPr lvl="1"/>
            <a:endParaRPr lang="en-GB" b="1" dirty="0">
              <a:latin typeface="Aptos" panose="020B0004020202020204" pitchFamily="34" charset="0"/>
            </a:endParaRPr>
          </a:p>
        </p:txBody>
      </p:sp>
      <p:pic>
        <p:nvPicPr>
          <p:cNvPr id="14" name="Picture 13">
            <a:extLst>
              <a:ext uri="{FF2B5EF4-FFF2-40B4-BE49-F238E27FC236}">
                <a16:creationId xmlns:a16="http://schemas.microsoft.com/office/drawing/2014/main" id="{1C16D7A5-7443-1C92-5FC5-BA46D95CE261}"/>
              </a:ext>
            </a:extLst>
          </p:cNvPr>
          <p:cNvPicPr>
            <a:picLocks noChangeAspect="1"/>
          </p:cNvPicPr>
          <p:nvPr/>
        </p:nvPicPr>
        <p:blipFill>
          <a:blip r:embed="rId3"/>
          <a:stretch>
            <a:fillRect/>
          </a:stretch>
        </p:blipFill>
        <p:spPr>
          <a:xfrm>
            <a:off x="428172" y="3191177"/>
            <a:ext cx="3166431" cy="1553530"/>
          </a:xfrm>
          <a:prstGeom prst="rect">
            <a:avLst/>
          </a:prstGeom>
        </p:spPr>
      </p:pic>
      <p:pic>
        <p:nvPicPr>
          <p:cNvPr id="16" name="Picture 15">
            <a:extLst>
              <a:ext uri="{FF2B5EF4-FFF2-40B4-BE49-F238E27FC236}">
                <a16:creationId xmlns:a16="http://schemas.microsoft.com/office/drawing/2014/main" id="{17A55369-27DD-6052-AADC-B0739FB8674D}"/>
              </a:ext>
            </a:extLst>
          </p:cNvPr>
          <p:cNvPicPr>
            <a:picLocks noChangeAspect="1"/>
          </p:cNvPicPr>
          <p:nvPr/>
        </p:nvPicPr>
        <p:blipFill>
          <a:blip r:embed="rId4"/>
          <a:stretch>
            <a:fillRect/>
          </a:stretch>
        </p:blipFill>
        <p:spPr>
          <a:xfrm>
            <a:off x="3754549" y="3219801"/>
            <a:ext cx="2690319" cy="1705979"/>
          </a:xfrm>
          <a:prstGeom prst="rect">
            <a:avLst/>
          </a:prstGeom>
        </p:spPr>
      </p:pic>
    </p:spTree>
    <p:extLst>
      <p:ext uri="{BB962C8B-B14F-4D97-AF65-F5344CB8AC3E}">
        <p14:creationId xmlns:p14="http://schemas.microsoft.com/office/powerpoint/2010/main" val="3707806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4B114-5E3B-29B6-C5A1-5B8E5FC06E43}"/>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B7B345EF-7BA8-DC56-C69C-3B8D7E90FE63}"/>
              </a:ext>
            </a:extLst>
          </p:cNvPr>
          <p:cNvSpPr>
            <a:spLocks noGrp="1"/>
          </p:cNvSpPr>
          <p:nvPr>
            <p:ph type="title"/>
          </p:nvPr>
        </p:nvSpPr>
        <p:spPr/>
        <p:txBody>
          <a:bodyPr/>
          <a:lstStyle/>
          <a:p>
            <a:r>
              <a:rPr lang="it-IT" dirty="0" err="1"/>
              <a:t>Prerequisites</a:t>
            </a:r>
            <a:r>
              <a:rPr lang="it-IT" dirty="0"/>
              <a:t> &amp; End of class goals</a:t>
            </a:r>
            <a:endParaRPr lang="en-GB" dirty="0"/>
          </a:p>
        </p:txBody>
      </p:sp>
      <p:sp>
        <p:nvSpPr>
          <p:cNvPr id="6" name="Segnaposto contenuto 5">
            <a:extLst>
              <a:ext uri="{FF2B5EF4-FFF2-40B4-BE49-F238E27FC236}">
                <a16:creationId xmlns:a16="http://schemas.microsoft.com/office/drawing/2014/main" id="{47A8037C-40C4-E670-E0E2-3491F7A4BB2F}"/>
              </a:ext>
            </a:extLst>
          </p:cNvPr>
          <p:cNvSpPr>
            <a:spLocks noGrp="1"/>
          </p:cNvSpPr>
          <p:nvPr>
            <p:ph idx="1"/>
          </p:nvPr>
        </p:nvSpPr>
        <p:spPr/>
        <p:txBody>
          <a:bodyPr>
            <a:normAutofit/>
          </a:bodyPr>
          <a:lstStyle/>
          <a:p>
            <a:r>
              <a:rPr lang="en-GB" dirty="0"/>
              <a:t>Prerequisites</a:t>
            </a:r>
          </a:p>
          <a:p>
            <a:pPr lvl="1"/>
            <a:r>
              <a:rPr lang="en-GB" dirty="0"/>
              <a:t>Basic:</a:t>
            </a:r>
          </a:p>
          <a:p>
            <a:pPr lvl="2"/>
            <a:r>
              <a:rPr lang="en-GB" dirty="0"/>
              <a:t>Propension for programming</a:t>
            </a:r>
          </a:p>
          <a:p>
            <a:pPr lvl="1"/>
            <a:r>
              <a:rPr lang="en-GB" dirty="0"/>
              <a:t>Preferable:</a:t>
            </a:r>
          </a:p>
          <a:p>
            <a:pPr lvl="2"/>
            <a:r>
              <a:rPr lang="en-GB" dirty="0"/>
              <a:t>Object-oriented programming</a:t>
            </a:r>
          </a:p>
          <a:p>
            <a:pPr lvl="1"/>
            <a:r>
              <a:rPr lang="en-GB" dirty="0"/>
              <a:t>For the workshop:</a:t>
            </a:r>
          </a:p>
          <a:p>
            <a:pPr lvl="2"/>
            <a:r>
              <a:rPr lang="en-GB" dirty="0"/>
              <a:t>MATLAB/Python</a:t>
            </a:r>
          </a:p>
          <a:p>
            <a:pPr lvl="2"/>
            <a:endParaRPr lang="en-GB" dirty="0"/>
          </a:p>
          <a:p>
            <a:pPr lvl="2"/>
            <a:endParaRPr lang="en-GB" dirty="0"/>
          </a:p>
          <a:p>
            <a:pPr lvl="2"/>
            <a:endParaRPr lang="en-GB" dirty="0"/>
          </a:p>
          <a:p>
            <a:r>
              <a:rPr lang="en-GB" dirty="0"/>
              <a:t>End of class goals</a:t>
            </a:r>
          </a:p>
          <a:p>
            <a:pPr lvl="1"/>
            <a:r>
              <a:rPr lang="en-GB" dirty="0"/>
              <a:t>Knowing how wearable devices communicates to the end-user</a:t>
            </a:r>
          </a:p>
          <a:p>
            <a:pPr lvl="1"/>
            <a:r>
              <a:rPr lang="en-GB" dirty="0"/>
              <a:t>Designing digital solutions to enhance healthcare and well-being</a:t>
            </a:r>
          </a:p>
          <a:p>
            <a:pPr lvl="1"/>
            <a:r>
              <a:rPr lang="en-GB" dirty="0"/>
              <a:t>Developing a fully functioning mobile application </a:t>
            </a:r>
          </a:p>
          <a:p>
            <a:pPr lvl="2"/>
            <a:endParaRPr lang="en-GB" dirty="0"/>
          </a:p>
          <a:p>
            <a:pPr lvl="2"/>
            <a:endParaRPr lang="en-GB" dirty="0"/>
          </a:p>
        </p:txBody>
      </p:sp>
      <p:sp>
        <p:nvSpPr>
          <p:cNvPr id="2" name="Segnaposto numero diapositiva 1">
            <a:extLst>
              <a:ext uri="{FF2B5EF4-FFF2-40B4-BE49-F238E27FC236}">
                <a16:creationId xmlns:a16="http://schemas.microsoft.com/office/drawing/2014/main" id="{546F5AA3-F5BE-04C3-FA2A-41F4B0F7C155}"/>
              </a:ext>
            </a:extLst>
          </p:cNvPr>
          <p:cNvSpPr>
            <a:spLocks noGrp="1"/>
          </p:cNvSpPr>
          <p:nvPr>
            <p:ph type="sldNum" sz="quarter" idx="12"/>
          </p:nvPr>
        </p:nvSpPr>
        <p:spPr/>
        <p:txBody>
          <a:bodyPr/>
          <a:lstStyle/>
          <a:p>
            <a:fld id="{31DE2C5B-556E-47B8-A792-024C2FCA4ACC}" type="slidenum">
              <a:rPr lang="en-GB" smtClean="0"/>
              <a:t>29</a:t>
            </a:fld>
            <a:endParaRPr lang="en-GB"/>
          </a:p>
        </p:txBody>
      </p:sp>
      <p:pic>
        <p:nvPicPr>
          <p:cNvPr id="4" name="Graphic 3" descr="Web design outline">
            <a:extLst>
              <a:ext uri="{FF2B5EF4-FFF2-40B4-BE49-F238E27FC236}">
                <a16:creationId xmlns:a16="http://schemas.microsoft.com/office/drawing/2014/main" id="{393E78A7-8711-D8BA-9A6D-3E4B10149B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90165" y="1573149"/>
            <a:ext cx="1759527" cy="1759527"/>
          </a:xfrm>
          <a:prstGeom prst="rect">
            <a:avLst/>
          </a:prstGeom>
        </p:spPr>
      </p:pic>
      <p:pic>
        <p:nvPicPr>
          <p:cNvPr id="8" name="Graphic 7" descr="Bullseye outline">
            <a:extLst>
              <a:ext uri="{FF2B5EF4-FFF2-40B4-BE49-F238E27FC236}">
                <a16:creationId xmlns:a16="http://schemas.microsoft.com/office/drawing/2014/main" id="{E0D7932D-A883-7DBC-9E00-1FB64163EF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90165" y="4528333"/>
            <a:ext cx="1759527" cy="1759527"/>
          </a:xfrm>
          <a:prstGeom prst="rect">
            <a:avLst/>
          </a:prstGeom>
        </p:spPr>
      </p:pic>
    </p:spTree>
    <p:extLst>
      <p:ext uri="{BB962C8B-B14F-4D97-AF65-F5344CB8AC3E}">
        <p14:creationId xmlns:p14="http://schemas.microsoft.com/office/powerpoint/2010/main" val="3831029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exam</a:t>
            </a:r>
            <a:endParaRPr lang="en-GB" dirty="0"/>
          </a:p>
        </p:txBody>
      </p:sp>
      <p:sp>
        <p:nvSpPr>
          <p:cNvPr id="3" name="Segnaposto contenuto 2"/>
          <p:cNvSpPr>
            <a:spLocks noGrp="1"/>
          </p:cNvSpPr>
          <p:nvPr>
            <p:ph idx="1"/>
          </p:nvPr>
        </p:nvSpPr>
        <p:spPr>
          <a:xfrm>
            <a:off x="428172" y="1361166"/>
            <a:ext cx="11368314" cy="5242834"/>
          </a:xfrm>
        </p:spPr>
        <p:txBody>
          <a:bodyPr>
            <a:normAutofit/>
          </a:bodyPr>
          <a:lstStyle/>
          <a:p>
            <a:r>
              <a:rPr lang="en-US" b="1" dirty="0"/>
              <a:t>Written test</a:t>
            </a:r>
            <a:r>
              <a:rPr lang="en-US" dirty="0"/>
              <a:t>: Theory exam</a:t>
            </a:r>
          </a:p>
          <a:p>
            <a:pPr lvl="1"/>
            <a:r>
              <a:rPr lang="en-US" dirty="0"/>
              <a:t>15 closed questions</a:t>
            </a:r>
          </a:p>
          <a:p>
            <a:pPr lvl="1"/>
            <a:r>
              <a:rPr lang="en-US" dirty="0"/>
              <a:t>3 open questions</a:t>
            </a:r>
          </a:p>
          <a:p>
            <a:pPr lvl="1"/>
            <a:r>
              <a:rPr lang="en-US" dirty="0"/>
              <a:t>Duration: 90 min</a:t>
            </a:r>
          </a:p>
          <a:p>
            <a:pPr lvl="1"/>
            <a:r>
              <a:rPr lang="en-US" dirty="0"/>
              <a:t>Max vote: 20/30</a:t>
            </a:r>
          </a:p>
          <a:p>
            <a:r>
              <a:rPr lang="en-US" b="1" dirty="0"/>
              <a:t>Project</a:t>
            </a:r>
            <a:r>
              <a:rPr lang="en-US" dirty="0"/>
              <a:t>: Development of an application that integrates and elaborates data from a smartwatch. To be done in groups of 3 students. </a:t>
            </a:r>
          </a:p>
          <a:p>
            <a:pPr lvl="1"/>
            <a:r>
              <a:rPr lang="en-US" dirty="0"/>
              <a:t>Duration of the discussion: 45 min (25 min presentation + 20 min Q&amp;A)</a:t>
            </a:r>
          </a:p>
          <a:p>
            <a:pPr lvl="1"/>
            <a:r>
              <a:rPr lang="en-US" dirty="0"/>
              <a:t>Max vote: 12/30</a:t>
            </a:r>
          </a:p>
          <a:p>
            <a:r>
              <a:rPr lang="en-US" b="1" dirty="0"/>
              <a:t>Final mark</a:t>
            </a:r>
            <a:r>
              <a:rPr lang="en-US" dirty="0"/>
              <a:t>: sum of the votes of the written test and the project.</a:t>
            </a:r>
          </a:p>
        </p:txBody>
      </p:sp>
      <p:sp>
        <p:nvSpPr>
          <p:cNvPr id="5" name="Rettangolo 4"/>
          <p:cNvSpPr/>
          <p:nvPr/>
        </p:nvSpPr>
        <p:spPr>
          <a:xfrm>
            <a:off x="6112328" y="1243691"/>
            <a:ext cx="5425956" cy="1574800"/>
          </a:xfrm>
          <a:prstGeom prst="rect">
            <a:avLst/>
          </a:prstGeom>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latin typeface="Aptos" panose="020B0004020202020204" pitchFamily="34" charset="0"/>
              </a:rPr>
              <a:t>Dates of the written test</a:t>
            </a:r>
            <a:endParaRPr lang="en-GB" dirty="0">
              <a:latin typeface="Aptos" panose="020B0004020202020204" pitchFamily="34" charset="0"/>
            </a:endParaRPr>
          </a:p>
          <a:p>
            <a:pPr marL="285750" indent="-285750">
              <a:buClr>
                <a:srgbClr val="00B050"/>
              </a:buClr>
              <a:buFont typeface="Wingdings" panose="05000000000000000000" pitchFamily="2" charset="2"/>
              <a:buChar char="§"/>
            </a:pPr>
            <a:r>
              <a:rPr lang="en-GB" dirty="0">
                <a:latin typeface="Aptos" panose="020B0004020202020204" pitchFamily="34" charset="0"/>
              </a:rPr>
              <a:t>First round: 27 Jun 2025, 14:00 (Room Ae)</a:t>
            </a:r>
          </a:p>
          <a:p>
            <a:pPr marL="285750" indent="-285750">
              <a:buClr>
                <a:srgbClr val="00B050"/>
              </a:buClr>
              <a:buFont typeface="Wingdings" panose="05000000000000000000" pitchFamily="2" charset="2"/>
              <a:buChar char="§"/>
            </a:pPr>
            <a:r>
              <a:rPr lang="en-GB" dirty="0">
                <a:latin typeface="Aptos" panose="020B0004020202020204" pitchFamily="34" charset="0"/>
              </a:rPr>
              <a:t>Second round: 14 Jul 2025, 14:00 (Room Ae)</a:t>
            </a:r>
          </a:p>
          <a:p>
            <a:pPr marL="285750" indent="-285750">
              <a:buClr>
                <a:srgbClr val="00B050"/>
              </a:buClr>
              <a:buFont typeface="Wingdings" panose="05000000000000000000" pitchFamily="2" charset="2"/>
              <a:buChar char="§"/>
            </a:pPr>
            <a:r>
              <a:rPr lang="en-GB" dirty="0">
                <a:latin typeface="Aptos" panose="020B0004020202020204" pitchFamily="34" charset="0"/>
              </a:rPr>
              <a:t>Third round: 27 Aug 2025, 14:00 (Room De)</a:t>
            </a:r>
          </a:p>
          <a:p>
            <a:pPr marL="285750" indent="-285750">
              <a:buClr>
                <a:srgbClr val="00B050"/>
              </a:buClr>
              <a:buFont typeface="Wingdings" panose="05000000000000000000" pitchFamily="2" charset="2"/>
              <a:buChar char="§"/>
            </a:pPr>
            <a:r>
              <a:rPr lang="en-GB" dirty="0">
                <a:latin typeface="Aptos" panose="020B0004020202020204" pitchFamily="34" charset="0"/>
              </a:rPr>
              <a:t>Fourth round: 02 Feb 2026, 14:00 (Room De)</a:t>
            </a:r>
          </a:p>
        </p:txBody>
      </p:sp>
      <p:sp>
        <p:nvSpPr>
          <p:cNvPr id="6" name="Segnaposto numero diapositiva 5"/>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3047748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6C266-7002-C0EE-21A3-7994C377B24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3DA34A1-245A-A12E-53CB-C7FB75E6D725}"/>
              </a:ext>
            </a:extLst>
          </p:cNvPr>
          <p:cNvSpPr>
            <a:spLocks noGrp="1"/>
          </p:cNvSpPr>
          <p:nvPr>
            <p:ph type="title"/>
          </p:nvPr>
        </p:nvSpPr>
        <p:spPr/>
        <p:txBody>
          <a:bodyPr/>
          <a:lstStyle/>
          <a:p>
            <a:r>
              <a:rPr lang="it-IT" dirty="0"/>
              <a:t>The </a:t>
            </a:r>
            <a:r>
              <a:rPr lang="it-IT" dirty="0" err="1"/>
              <a:t>calendar</a:t>
            </a:r>
            <a:r>
              <a:rPr lang="it-IT" dirty="0"/>
              <a:t> drama – Project </a:t>
            </a:r>
            <a:r>
              <a:rPr lang="it-IT" dirty="0" err="1"/>
              <a:t>discussion</a:t>
            </a:r>
            <a:endParaRPr lang="en-GB" dirty="0"/>
          </a:p>
        </p:txBody>
      </p:sp>
      <p:sp>
        <p:nvSpPr>
          <p:cNvPr id="3" name="Segnaposto contenuto 2">
            <a:extLst>
              <a:ext uri="{FF2B5EF4-FFF2-40B4-BE49-F238E27FC236}">
                <a16:creationId xmlns:a16="http://schemas.microsoft.com/office/drawing/2014/main" id="{91B60C43-366B-8010-6331-0518229EC8C9}"/>
              </a:ext>
            </a:extLst>
          </p:cNvPr>
          <p:cNvSpPr>
            <a:spLocks noGrp="1"/>
          </p:cNvSpPr>
          <p:nvPr>
            <p:ph idx="1"/>
          </p:nvPr>
        </p:nvSpPr>
        <p:spPr>
          <a:xfrm>
            <a:off x="428172" y="1258081"/>
            <a:ext cx="11368314" cy="5027620"/>
          </a:xfrm>
        </p:spPr>
        <p:txBody>
          <a:bodyPr>
            <a:normAutofit fontScale="77500" lnSpcReduction="20000"/>
          </a:bodyPr>
          <a:lstStyle/>
          <a:p>
            <a:pPr marL="0" indent="0">
              <a:buNone/>
            </a:pPr>
            <a:endParaRPr lang="en-US" b="1" dirty="0">
              <a:solidFill>
                <a:srgbClr val="C00000"/>
              </a:solidFill>
            </a:endParaRPr>
          </a:p>
          <a:p>
            <a:pPr marL="0" indent="0" algn="ctr">
              <a:buNone/>
            </a:pPr>
            <a:r>
              <a:rPr lang="en-US" b="1" dirty="0">
                <a:solidFill>
                  <a:srgbClr val="C00000"/>
                </a:solidFill>
              </a:rPr>
              <a:t>Problem</a:t>
            </a:r>
            <a:r>
              <a:rPr lang="en-US" b="1" dirty="0"/>
              <a:t>: I will be away from 12/07/2025 to 20/07/2025 + officially the session ends 19/07/2025</a:t>
            </a:r>
          </a:p>
          <a:p>
            <a:pPr marL="0" indent="0" algn="ctr">
              <a:buNone/>
            </a:pPr>
            <a:endParaRPr lang="en-US" b="1" dirty="0"/>
          </a:p>
          <a:p>
            <a:pPr marL="0" indent="0" algn="ctr">
              <a:buNone/>
            </a:pPr>
            <a:r>
              <a:rPr lang="en-US" b="1" dirty="0"/>
              <a:t>PLAN A</a:t>
            </a:r>
          </a:p>
          <a:p>
            <a:r>
              <a:rPr lang="en-US" b="1" dirty="0">
                <a:solidFill>
                  <a:srgbClr val="C00000"/>
                </a:solidFill>
              </a:rPr>
              <a:t>Deadline for completion</a:t>
            </a:r>
            <a:r>
              <a:rPr lang="en-US" dirty="0"/>
              <a:t>: The project code must be delivered by </a:t>
            </a:r>
            <a:r>
              <a:rPr lang="en-US" b="1" dirty="0"/>
              <a:t>July 13</a:t>
            </a:r>
            <a:r>
              <a:rPr lang="en-US" b="1" baseline="30000" dirty="0"/>
              <a:t>th</a:t>
            </a:r>
            <a:r>
              <a:rPr lang="en-US" b="1" dirty="0"/>
              <a:t> 2025</a:t>
            </a:r>
            <a:r>
              <a:rPr lang="en-US" dirty="0"/>
              <a:t>, and no later than the day before the project discussion.</a:t>
            </a:r>
          </a:p>
          <a:p>
            <a:r>
              <a:rPr lang="en-US" b="1" dirty="0">
                <a:solidFill>
                  <a:srgbClr val="C00000"/>
                </a:solidFill>
              </a:rPr>
              <a:t>Discussion of the project (in group)</a:t>
            </a:r>
            <a:r>
              <a:rPr lang="en-US" dirty="0"/>
              <a:t>: in slots (day and time to be defined)</a:t>
            </a:r>
          </a:p>
          <a:p>
            <a:pPr lvl="1"/>
            <a:r>
              <a:rPr lang="en-US" dirty="0"/>
              <a:t>Window #1: from 30/06/2025 to 25/07/2025</a:t>
            </a:r>
          </a:p>
          <a:p>
            <a:pPr lvl="1"/>
            <a:r>
              <a:rPr lang="en-US" dirty="0"/>
              <a:t>Window #2: from 25/08/2025 to 19/09/2025</a:t>
            </a:r>
          </a:p>
          <a:p>
            <a:pPr lvl="1"/>
            <a:endParaRPr lang="en-US" b="1" dirty="0">
              <a:solidFill>
                <a:srgbClr val="C00000"/>
              </a:solidFill>
            </a:endParaRPr>
          </a:p>
          <a:p>
            <a:pPr lvl="1"/>
            <a:endParaRPr lang="en-US" b="1" dirty="0">
              <a:solidFill>
                <a:srgbClr val="C00000"/>
              </a:solidFill>
            </a:endParaRPr>
          </a:p>
          <a:p>
            <a:pPr marL="0" indent="0" algn="ctr">
              <a:buNone/>
            </a:pPr>
            <a:r>
              <a:rPr lang="en-US" b="1" dirty="0"/>
              <a:t>PLAN B</a:t>
            </a:r>
          </a:p>
          <a:p>
            <a:pPr marL="457200" lvl="1" indent="0">
              <a:buNone/>
            </a:pPr>
            <a:endParaRPr lang="en-US" b="1" dirty="0">
              <a:solidFill>
                <a:srgbClr val="C00000"/>
              </a:solidFill>
            </a:endParaRPr>
          </a:p>
          <a:p>
            <a:r>
              <a:rPr lang="en-US" b="1" dirty="0">
                <a:solidFill>
                  <a:srgbClr val="C00000"/>
                </a:solidFill>
              </a:rPr>
              <a:t>Deadline for completion</a:t>
            </a:r>
            <a:r>
              <a:rPr lang="en-US" dirty="0"/>
              <a:t>: The project code must be delivered by </a:t>
            </a:r>
            <a:r>
              <a:rPr lang="en-US" b="1" dirty="0"/>
              <a:t>June 29</a:t>
            </a:r>
            <a:r>
              <a:rPr lang="en-US" b="1" baseline="30000" dirty="0"/>
              <a:t>th</a:t>
            </a:r>
            <a:r>
              <a:rPr lang="en-US" b="1" dirty="0"/>
              <a:t> 2025</a:t>
            </a:r>
            <a:r>
              <a:rPr lang="en-US" dirty="0"/>
              <a:t>, and no later than the day before the project discussion.</a:t>
            </a:r>
          </a:p>
          <a:p>
            <a:r>
              <a:rPr lang="en-US" b="1" dirty="0">
                <a:solidFill>
                  <a:srgbClr val="C00000"/>
                </a:solidFill>
              </a:rPr>
              <a:t>Discussion of the project (in group)</a:t>
            </a:r>
            <a:r>
              <a:rPr lang="en-US" dirty="0"/>
              <a:t>: in slots (day and time to be defined)</a:t>
            </a:r>
          </a:p>
          <a:p>
            <a:pPr lvl="1"/>
            <a:r>
              <a:rPr lang="en-US" dirty="0"/>
              <a:t>Window #1: from 30/06/2025 to 12/07/2025</a:t>
            </a:r>
          </a:p>
          <a:p>
            <a:pPr lvl="1"/>
            <a:r>
              <a:rPr lang="en-US" dirty="0"/>
              <a:t>Window #2: from 25/08/2025 to 19/09/2025</a:t>
            </a:r>
            <a:endParaRPr lang="en-US" b="1" dirty="0">
              <a:solidFill>
                <a:srgbClr val="C00000"/>
              </a:solidFill>
            </a:endParaRPr>
          </a:p>
          <a:p>
            <a:pPr lvl="1"/>
            <a:endParaRPr lang="en-US" b="1" dirty="0">
              <a:solidFill>
                <a:srgbClr val="C00000"/>
              </a:solidFill>
            </a:endParaRPr>
          </a:p>
          <a:p>
            <a:endParaRPr lang="en-US" b="1" dirty="0">
              <a:solidFill>
                <a:srgbClr val="C00000"/>
              </a:solidFill>
            </a:endParaRPr>
          </a:p>
        </p:txBody>
      </p:sp>
      <p:sp>
        <p:nvSpPr>
          <p:cNvPr id="6" name="Segnaposto numero diapositiva 5">
            <a:extLst>
              <a:ext uri="{FF2B5EF4-FFF2-40B4-BE49-F238E27FC236}">
                <a16:creationId xmlns:a16="http://schemas.microsoft.com/office/drawing/2014/main" id="{B870B6EE-3624-10A9-7D88-2742D71E618F}"/>
              </a:ext>
            </a:extLst>
          </p:cNvPr>
          <p:cNvSpPr>
            <a:spLocks noGrp="1"/>
          </p:cNvSpPr>
          <p:nvPr>
            <p:ph type="sldNum" sz="quarter" idx="12"/>
          </p:nvPr>
        </p:nvSpPr>
        <p:spPr/>
        <p:txBody>
          <a:bodyPr/>
          <a:lstStyle/>
          <a:p>
            <a:fld id="{31DE2C5B-556E-47B8-A792-024C2FCA4ACC}" type="slidenum">
              <a:rPr lang="en-GB" smtClean="0"/>
              <a:t>31</a:t>
            </a:fld>
            <a:endParaRPr lang="en-GB"/>
          </a:p>
        </p:txBody>
      </p:sp>
    </p:spTree>
    <p:extLst>
      <p:ext uri="{BB962C8B-B14F-4D97-AF65-F5344CB8AC3E}">
        <p14:creationId xmlns:p14="http://schemas.microsoft.com/office/powerpoint/2010/main" val="3550771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US" dirty="0"/>
              <a:t>Project: </a:t>
            </a:r>
            <a:r>
              <a:rPr lang="en-IT"/>
              <a:t>What’s the spirit here</a:t>
            </a:r>
            <a:endParaRPr lang="en-IT" dirty="0"/>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6"/>
            <a:ext cx="11368314" cy="5334907"/>
          </a:xfrm>
        </p:spPr>
        <p:txBody>
          <a:bodyPr>
            <a:normAutofit/>
          </a:bodyPr>
          <a:lstStyle/>
          <a:p>
            <a:r>
              <a:rPr lang="en-IT" dirty="0"/>
              <a:t>The goal is learning </a:t>
            </a:r>
            <a:r>
              <a:rPr lang="en-IT" b="1" dirty="0"/>
              <a:t>“How to do SOMETHING using wearable devices”</a:t>
            </a:r>
          </a:p>
          <a:p>
            <a:endParaRPr lang="en-IT" dirty="0"/>
          </a:p>
          <a:p>
            <a:r>
              <a:rPr lang="en-IT" dirty="0"/>
              <a:t>What </a:t>
            </a:r>
            <a:r>
              <a:rPr lang="en-IT" b="1" dirty="0"/>
              <a:t>I DO </a:t>
            </a:r>
            <a:r>
              <a:rPr lang="en-IT" dirty="0"/>
              <a:t>expect from you</a:t>
            </a:r>
          </a:p>
          <a:p>
            <a:pPr lvl="1"/>
            <a:r>
              <a:rPr lang="en-IT" dirty="0"/>
              <a:t>To use your imagination to create that SOMETHING</a:t>
            </a:r>
          </a:p>
          <a:p>
            <a:pPr lvl="1"/>
            <a:r>
              <a:rPr lang="en-IT" dirty="0"/>
              <a:t>To learn to build something from scratch</a:t>
            </a:r>
          </a:p>
          <a:p>
            <a:pPr lvl="1"/>
            <a:r>
              <a:rPr lang="en-IT" dirty="0"/>
              <a:t>To use code built by others </a:t>
            </a:r>
          </a:p>
          <a:p>
            <a:pPr lvl="1"/>
            <a:r>
              <a:rPr lang="en-IT" dirty="0"/>
              <a:t>To work together</a:t>
            </a:r>
          </a:p>
          <a:p>
            <a:pPr lvl="1"/>
            <a:r>
              <a:rPr lang="en-IT" dirty="0"/>
              <a:t>To use Google and StackOverflow</a:t>
            </a:r>
          </a:p>
          <a:p>
            <a:endParaRPr lang="en-IT" dirty="0"/>
          </a:p>
          <a:p>
            <a:r>
              <a:rPr lang="en-IT" dirty="0"/>
              <a:t>What </a:t>
            </a:r>
            <a:r>
              <a:rPr lang="en-IT" b="1" dirty="0"/>
              <a:t>I DO NOT </a:t>
            </a:r>
            <a:r>
              <a:rPr lang="en-IT" dirty="0"/>
              <a:t>expect from you</a:t>
            </a:r>
          </a:p>
          <a:p>
            <a:pPr lvl="1"/>
            <a:r>
              <a:rPr lang="en-IT" dirty="0"/>
              <a:t>To create the new Google </a:t>
            </a:r>
          </a:p>
          <a:p>
            <a:pPr lvl="1"/>
            <a:r>
              <a:rPr lang="en-IT" dirty="0"/>
              <a:t>To reinvent the wheel (copying others code is fine)</a:t>
            </a:r>
          </a:p>
          <a:p>
            <a:pPr lvl="1"/>
            <a:r>
              <a:rPr lang="en-IT" dirty="0"/>
              <a:t>To create extra complicated UI with animations </a:t>
            </a:r>
            <a:r>
              <a:rPr lang="en-IT"/>
              <a:t>and stuff</a:t>
            </a:r>
            <a:endParaRPr lang="en-IT" dirty="0"/>
          </a:p>
        </p:txBody>
      </p:sp>
      <p:sp>
        <p:nvSpPr>
          <p:cNvPr id="4" name="Slide Number Placeholder 3">
            <a:extLst>
              <a:ext uri="{FF2B5EF4-FFF2-40B4-BE49-F238E27FC236}">
                <a16:creationId xmlns:a16="http://schemas.microsoft.com/office/drawing/2014/main" id="{B8AB4CC2-5FCF-4B45-B2DB-81D138824661}"/>
              </a:ext>
            </a:extLst>
          </p:cNvPr>
          <p:cNvSpPr>
            <a:spLocks noGrp="1"/>
          </p:cNvSpPr>
          <p:nvPr>
            <p:ph type="sldNum" sz="quarter" idx="12"/>
          </p:nvPr>
        </p:nvSpPr>
        <p:spPr/>
        <p:txBody>
          <a:bodyPr/>
          <a:lstStyle/>
          <a:p>
            <a:fld id="{31DE2C5B-556E-47B8-A792-024C2FCA4ACC}" type="slidenum">
              <a:rPr lang="en-GB" smtClean="0"/>
              <a:t>32</a:t>
            </a:fld>
            <a:endParaRPr lang="en-GB" dirty="0"/>
          </a:p>
        </p:txBody>
      </p:sp>
    </p:spTree>
    <p:extLst>
      <p:ext uri="{BB962C8B-B14F-4D97-AF65-F5344CB8AC3E}">
        <p14:creationId xmlns:p14="http://schemas.microsoft.com/office/powerpoint/2010/main" val="441552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Project structure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lnSpcReduction="10000"/>
          </a:bodyPr>
          <a:lstStyle/>
          <a:p>
            <a:r>
              <a:rPr lang="en-IT" dirty="0"/>
              <a:t>The project consists of building an app for iOS or Android that collects user data from a wearable device through </a:t>
            </a:r>
            <a:r>
              <a:rPr lang="en-IT"/>
              <a:t>Web APIs, </a:t>
            </a:r>
            <a:r>
              <a:rPr lang="en-IT" dirty="0"/>
              <a:t>visualizes them, and does some tricks with them.</a:t>
            </a:r>
          </a:p>
          <a:p>
            <a:endParaRPr lang="en-IT" dirty="0"/>
          </a:p>
          <a:p>
            <a:r>
              <a:rPr lang="en-IT" dirty="0"/>
              <a:t>Core functionalities:</a:t>
            </a:r>
          </a:p>
          <a:p>
            <a:pPr lvl="1"/>
            <a:r>
              <a:rPr lang="en-US" dirty="0"/>
              <a:t>Correct app flow</a:t>
            </a:r>
          </a:p>
          <a:p>
            <a:pPr lvl="1"/>
            <a:r>
              <a:rPr lang="en-IT"/>
              <a:t>User </a:t>
            </a:r>
            <a:r>
              <a:rPr lang="en-IT" dirty="0"/>
              <a:t>authentication and management</a:t>
            </a:r>
          </a:p>
          <a:p>
            <a:pPr lvl="1"/>
            <a:r>
              <a:rPr lang="en-IT" dirty="0"/>
              <a:t>Data collection</a:t>
            </a:r>
          </a:p>
          <a:p>
            <a:pPr lvl="1"/>
            <a:r>
              <a:rPr lang="en-IT"/>
              <a:t>Data </a:t>
            </a:r>
            <a:r>
              <a:rPr lang="en-IT" dirty="0"/>
              <a:t>visualization and presentation</a:t>
            </a:r>
          </a:p>
          <a:p>
            <a:pPr lvl="1"/>
            <a:endParaRPr lang="en-IT" dirty="0"/>
          </a:p>
          <a:p>
            <a:r>
              <a:rPr lang="en-IT" dirty="0"/>
              <a:t>Additional fuctionalities </a:t>
            </a:r>
            <a:r>
              <a:rPr lang="en-IT" dirty="0">
                <a:sym typeface="Wingdings" pitchFamily="2" charset="2"/>
              </a:rPr>
              <a:t> It’s up to you! </a:t>
            </a:r>
            <a:br>
              <a:rPr lang="en-IT" dirty="0">
                <a:sym typeface="Wingdings" pitchFamily="2" charset="2"/>
              </a:rPr>
            </a:br>
            <a:r>
              <a:rPr lang="en-IT" dirty="0">
                <a:sym typeface="Wingdings" pitchFamily="2" charset="2"/>
              </a:rPr>
              <a:t>Some examples:</a:t>
            </a:r>
          </a:p>
          <a:p>
            <a:pPr lvl="1"/>
            <a:r>
              <a:rPr lang="en-IT" dirty="0">
                <a:sym typeface="Wingdings" pitchFamily="2" charset="2"/>
              </a:rPr>
              <a:t>Run some analysis on data and provide suggestions to the user</a:t>
            </a:r>
          </a:p>
          <a:p>
            <a:pPr lvl="1"/>
            <a:r>
              <a:rPr lang="en-IT" dirty="0">
                <a:sym typeface="Wingdings" pitchFamily="2" charset="2"/>
              </a:rPr>
              <a:t>Implement some literature algorithm</a:t>
            </a:r>
          </a:p>
          <a:p>
            <a:pPr lvl="1"/>
            <a:r>
              <a:rPr lang="en-IT" dirty="0"/>
              <a:t>…</a:t>
            </a:r>
          </a:p>
        </p:txBody>
      </p:sp>
      <p:pic>
        <p:nvPicPr>
          <p:cNvPr id="5" name="Graphic 4" descr="Smart Phone outline">
            <a:extLst>
              <a:ext uri="{FF2B5EF4-FFF2-40B4-BE49-F238E27FC236}">
                <a16:creationId xmlns:a16="http://schemas.microsoft.com/office/drawing/2014/main" id="{78A8D23E-0756-2147-ACC2-504D5D08A4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71265" y="2228532"/>
            <a:ext cx="2336041" cy="2336041"/>
          </a:xfrm>
          <a:prstGeom prst="rect">
            <a:avLst/>
          </a:prstGeom>
        </p:spPr>
      </p:pic>
      <p:pic>
        <p:nvPicPr>
          <p:cNvPr id="7" name="Graphic 6" descr="Internet Of Things outline">
            <a:extLst>
              <a:ext uri="{FF2B5EF4-FFF2-40B4-BE49-F238E27FC236}">
                <a16:creationId xmlns:a16="http://schemas.microsoft.com/office/drawing/2014/main" id="{ECADEE4B-11CF-4A4B-A5E4-ACAE7D850C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06344" y="2527792"/>
            <a:ext cx="1737519" cy="1737519"/>
          </a:xfrm>
          <a:prstGeom prst="rect">
            <a:avLst/>
          </a:prstGeom>
        </p:spPr>
      </p:pic>
      <p:pic>
        <p:nvPicPr>
          <p:cNvPr id="9" name="Graphic 8" descr="Ethernet outline">
            <a:extLst>
              <a:ext uri="{FF2B5EF4-FFF2-40B4-BE49-F238E27FC236}">
                <a16:creationId xmlns:a16="http://schemas.microsoft.com/office/drawing/2014/main" id="{E7678299-0C23-9D41-8D1F-9C0BD76AACF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43863" y="2863884"/>
            <a:ext cx="914400" cy="914400"/>
          </a:xfrm>
          <a:prstGeom prst="rect">
            <a:avLst/>
          </a:prstGeom>
        </p:spPr>
      </p:pic>
      <p:pic>
        <p:nvPicPr>
          <p:cNvPr id="11" name="Graphic 10" descr="Gears outline">
            <a:extLst>
              <a:ext uri="{FF2B5EF4-FFF2-40B4-BE49-F238E27FC236}">
                <a16:creationId xmlns:a16="http://schemas.microsoft.com/office/drawing/2014/main" id="{D0AA5189-336A-034D-9196-3F7957D7F26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82085" y="2939352"/>
            <a:ext cx="914400" cy="914400"/>
          </a:xfrm>
          <a:prstGeom prst="rect">
            <a:avLst/>
          </a:prstGeom>
        </p:spPr>
      </p:pic>
      <p:pic>
        <p:nvPicPr>
          <p:cNvPr id="12" name="Picture 11">
            <a:extLst>
              <a:ext uri="{FF2B5EF4-FFF2-40B4-BE49-F238E27FC236}">
                <a16:creationId xmlns:a16="http://schemas.microsoft.com/office/drawing/2014/main" id="{F9970AB4-79AF-DB44-BC6E-1792D58874FE}"/>
              </a:ext>
            </a:extLst>
          </p:cNvPr>
          <p:cNvPicPr>
            <a:picLocks noChangeAspect="1"/>
          </p:cNvPicPr>
          <p:nvPr/>
        </p:nvPicPr>
        <p:blipFill>
          <a:blip r:embed="rId11"/>
          <a:stretch>
            <a:fillRect/>
          </a:stretch>
        </p:blipFill>
        <p:spPr>
          <a:xfrm>
            <a:off x="8532206" y="4297379"/>
            <a:ext cx="1422400" cy="1422400"/>
          </a:xfrm>
          <a:prstGeom prst="rect">
            <a:avLst/>
          </a:prstGeom>
        </p:spPr>
      </p:pic>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33</a:t>
            </a:fld>
            <a:endParaRPr lang="en-GB" dirty="0"/>
          </a:p>
        </p:txBody>
      </p:sp>
    </p:spTree>
    <p:extLst>
      <p:ext uri="{BB962C8B-B14F-4D97-AF65-F5344CB8AC3E}">
        <p14:creationId xmlns:p14="http://schemas.microsoft.com/office/powerpoint/2010/main" val="2606831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Grading</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normAutofit/>
          </a:bodyPr>
          <a:lstStyle/>
          <a:p>
            <a:r>
              <a:rPr lang="en-IT" dirty="0"/>
              <a:t>W</a:t>
            </a:r>
            <a:r>
              <a:rPr lang="en-GB" dirty="0"/>
              <a:t>ha</a:t>
            </a:r>
            <a:r>
              <a:rPr lang="en-IT" dirty="0"/>
              <a:t>t are the grading criteria</a:t>
            </a:r>
          </a:p>
          <a:p>
            <a:pPr lvl="1"/>
            <a:r>
              <a:rPr lang="en-IT"/>
              <a:t>Compliance </a:t>
            </a:r>
            <a:r>
              <a:rPr lang="en-IT" dirty="0"/>
              <a:t>to </a:t>
            </a:r>
            <a:r>
              <a:rPr lang="en-IT"/>
              <a:t>core functionalities</a:t>
            </a:r>
            <a:endParaRPr lang="en-US" dirty="0"/>
          </a:p>
          <a:p>
            <a:pPr lvl="1"/>
            <a:r>
              <a:rPr lang="en-IT"/>
              <a:t>Originality of the additional feature</a:t>
            </a:r>
          </a:p>
          <a:p>
            <a:pPr lvl="1"/>
            <a:r>
              <a:rPr lang="en-IT"/>
              <a:t>Quality of teamwork </a:t>
            </a:r>
            <a:endParaRPr lang="en-IT" dirty="0"/>
          </a:p>
          <a:p>
            <a:pPr marL="0" indent="0">
              <a:buNone/>
            </a:pPr>
            <a:endParaRPr lang="en-IT" dirty="0"/>
          </a:p>
          <a:p>
            <a:r>
              <a:rPr lang="en-IT" dirty="0"/>
              <a:t>How much these criteria matter?</a:t>
            </a:r>
          </a:p>
          <a:p>
            <a:pPr lvl="1"/>
            <a:r>
              <a:rPr lang="en-IT" dirty="0"/>
              <a:t>Core functionalities: 50%</a:t>
            </a:r>
          </a:p>
          <a:p>
            <a:pPr lvl="1"/>
            <a:r>
              <a:rPr lang="en-US" dirty="0"/>
              <a:t>A</a:t>
            </a:r>
            <a:r>
              <a:rPr lang="en-IT"/>
              <a:t>dditional </a:t>
            </a:r>
            <a:r>
              <a:rPr lang="en-IT" dirty="0"/>
              <a:t>app functionalities</a:t>
            </a:r>
            <a:r>
              <a:rPr lang="en-IT"/>
              <a:t>: </a:t>
            </a:r>
            <a:r>
              <a:rPr lang="en-US" dirty="0"/>
              <a:t>45</a:t>
            </a:r>
            <a:r>
              <a:rPr lang="en-IT"/>
              <a:t>%</a:t>
            </a:r>
            <a:endParaRPr lang="en-IT" dirty="0"/>
          </a:p>
          <a:p>
            <a:pPr lvl="1"/>
            <a:r>
              <a:rPr lang="en-IT" dirty="0"/>
              <a:t>Quality of teamwork</a:t>
            </a:r>
            <a:r>
              <a:rPr lang="en-IT"/>
              <a:t>: </a:t>
            </a:r>
            <a:r>
              <a:rPr lang="en-US" dirty="0"/>
              <a:t>5</a:t>
            </a:r>
            <a:r>
              <a:rPr lang="en-IT"/>
              <a:t>%</a:t>
            </a:r>
            <a:endParaRPr lang="en-IT" dirty="0"/>
          </a:p>
        </p:txBody>
      </p:sp>
      <p:graphicFrame>
        <p:nvGraphicFramePr>
          <p:cNvPr id="4" name="Chart 3">
            <a:extLst>
              <a:ext uri="{FF2B5EF4-FFF2-40B4-BE49-F238E27FC236}">
                <a16:creationId xmlns:a16="http://schemas.microsoft.com/office/drawing/2014/main" id="{2DB37CC9-83F2-9D40-9D73-29E50E4A90FF}"/>
              </a:ext>
            </a:extLst>
          </p:cNvPr>
          <p:cNvGraphicFramePr/>
          <p:nvPr>
            <p:extLst>
              <p:ext uri="{D42A27DB-BD31-4B8C-83A1-F6EECF244321}">
                <p14:modId xmlns:p14="http://schemas.microsoft.com/office/powerpoint/2010/main" val="1169531687"/>
              </p:ext>
            </p:extLst>
          </p:nvPr>
        </p:nvGraphicFramePr>
        <p:xfrm>
          <a:off x="6373504" y="1361168"/>
          <a:ext cx="5527344" cy="4858202"/>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a:extLst>
              <a:ext uri="{FF2B5EF4-FFF2-40B4-BE49-F238E27FC236}">
                <a16:creationId xmlns:a16="http://schemas.microsoft.com/office/drawing/2014/main" id="{1DF51094-64B1-C544-B8D7-90029F9E4D63}"/>
              </a:ext>
            </a:extLst>
          </p:cNvPr>
          <p:cNvSpPr>
            <a:spLocks noGrp="1"/>
          </p:cNvSpPr>
          <p:nvPr>
            <p:ph type="sldNum" sz="quarter" idx="12"/>
          </p:nvPr>
        </p:nvSpPr>
        <p:spPr/>
        <p:txBody>
          <a:bodyPr/>
          <a:lstStyle/>
          <a:p>
            <a:fld id="{31DE2C5B-556E-47B8-A792-024C2FCA4ACC}" type="slidenum">
              <a:rPr lang="en-GB" smtClean="0"/>
              <a:t>34</a:t>
            </a:fld>
            <a:endParaRPr lang="en-GB" dirty="0"/>
          </a:p>
        </p:txBody>
      </p:sp>
    </p:spTree>
    <p:extLst>
      <p:ext uri="{BB962C8B-B14F-4D97-AF65-F5344CB8AC3E}">
        <p14:creationId xmlns:p14="http://schemas.microsoft.com/office/powerpoint/2010/main" val="18127897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Choose your target</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Your app must represent a solution for the current SDGs (Sustainable Development Goals) targets</a:t>
            </a:r>
          </a:p>
          <a:p>
            <a:endParaRPr lang="en-IT" dirty="0"/>
          </a:p>
          <a:p>
            <a:r>
              <a:rPr lang="en-IT" dirty="0"/>
              <a:t>SDG are 17 topics representing the current </a:t>
            </a:r>
            <a:br>
              <a:rPr lang="en-IT" dirty="0"/>
            </a:br>
            <a:r>
              <a:rPr lang="en-IT" dirty="0"/>
              <a:t>big challenges humanity must face and solve</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35</a:t>
            </a:fld>
            <a:endParaRPr lang="en-GB" dirty="0"/>
          </a:p>
        </p:txBody>
      </p:sp>
      <p:pic>
        <p:nvPicPr>
          <p:cNvPr id="8" name="Picture 7" descr="Website&#10;&#10;Description automatically generated">
            <a:extLst>
              <a:ext uri="{FF2B5EF4-FFF2-40B4-BE49-F238E27FC236}">
                <a16:creationId xmlns:a16="http://schemas.microsoft.com/office/drawing/2014/main" id="{45CB5F36-C212-74E0-FA86-35977EC09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748" y="2112530"/>
            <a:ext cx="5023137" cy="4095891"/>
          </a:xfrm>
          <a:prstGeom prst="rect">
            <a:avLst/>
          </a:prstGeom>
        </p:spPr>
      </p:pic>
      <p:pic>
        <p:nvPicPr>
          <p:cNvPr id="1026" name="Picture 2">
            <a:extLst>
              <a:ext uri="{FF2B5EF4-FFF2-40B4-BE49-F238E27FC236}">
                <a16:creationId xmlns:a16="http://schemas.microsoft.com/office/drawing/2014/main" id="{22BB70CE-3C3B-1BC8-3337-D43BD9B1B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941" y="3429000"/>
            <a:ext cx="5331986" cy="324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041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Choose your target</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92500" lnSpcReduction="20000"/>
          </a:bodyPr>
          <a:lstStyle/>
          <a:p>
            <a:r>
              <a:rPr lang="en-IT" dirty="0"/>
              <a:t>These are the target you can choose from (see </a:t>
            </a:r>
            <a:r>
              <a:rPr lang="en-IT"/>
              <a:t>the </a:t>
            </a:r>
            <a:r>
              <a:rPr lang="en-US" dirty="0" err="1"/>
              <a:t>elearning</a:t>
            </a:r>
            <a:r>
              <a:rPr lang="en-IT"/>
              <a:t> </a:t>
            </a:r>
            <a:r>
              <a:rPr lang="en-IT" dirty="0"/>
              <a:t>page for more details):</a:t>
            </a:r>
          </a:p>
          <a:p>
            <a:endParaRPr lang="en-IT" dirty="0"/>
          </a:p>
          <a:p>
            <a:pPr lvl="1"/>
            <a:r>
              <a:rPr lang="en-GB" b="1" u="sng" dirty="0"/>
              <a:t>SDG 2: Target 2.2</a:t>
            </a:r>
            <a:r>
              <a:rPr lang="en-GB" dirty="0"/>
              <a:t> (By 2030, end all forms of malnutrition, including achieving, by 2025, the internationally agreed targets on stunting and wasting in children under 5 years of age, and address the nutritional needs of adolescent girls, pregnant and lactating women and older persons)</a:t>
            </a:r>
            <a:endParaRPr lang="en-IT" dirty="0"/>
          </a:p>
          <a:p>
            <a:pPr lvl="1"/>
            <a:r>
              <a:rPr lang="en-GB" b="1" u="sng" dirty="0"/>
              <a:t>SDG 2: Target 2.3</a:t>
            </a:r>
            <a:r>
              <a:rPr lang="en-GB" dirty="0"/>
              <a:t> (By 2030, double the agricultural productivity and incomes of small-scale food producers, in particular women, indigenous peoples, family farmers, pastoralists and fishers, including through secure and equal access to land, other productive resources and inputs, knowledge, financial services, markets and opportunities for value addition and non-farm employment)</a:t>
            </a:r>
          </a:p>
          <a:p>
            <a:pPr lvl="1"/>
            <a:r>
              <a:rPr lang="en-GB" b="1" u="sng" dirty="0"/>
              <a:t>SDG 3: Target 3.4 </a:t>
            </a:r>
            <a:r>
              <a:rPr lang="en-GB" dirty="0"/>
              <a:t>(By 2030, reduce by one third premature mortality from non-communicable diseases through prevention and treatment and promote mental health and well-being) </a:t>
            </a:r>
          </a:p>
          <a:p>
            <a:pPr lvl="1"/>
            <a:r>
              <a:rPr lang="en-GB" b="1" u="sng" dirty="0"/>
              <a:t>SDG 3: Target 3.5</a:t>
            </a:r>
            <a:r>
              <a:rPr lang="en-GB" dirty="0"/>
              <a:t> (Strengthen the prevention and treatment of substance abuse, including narcotic drug abuse and harmful use of alcohol)</a:t>
            </a:r>
          </a:p>
          <a:p>
            <a:pPr lvl="1"/>
            <a:r>
              <a:rPr lang="en-GB" b="1" u="sng" dirty="0"/>
              <a:t>SDG 4: Target 4.7 </a:t>
            </a:r>
            <a:r>
              <a:rPr lang="en-GB" dirty="0"/>
              <a:t>(By 2030, ensure that all learners acquire the knowledge and skills needed to promote sustainable development, including, among others, through education for sustainable development and sustainable lifestyles, human rights, gender equality, promotion of a culture of peace and non-violence, global citizenship and appreciation of cultural diversity and of culture’s contribution to sustainable development) </a:t>
            </a:r>
          </a:p>
          <a:p>
            <a:pPr lvl="1"/>
            <a:r>
              <a:rPr lang="en-GB" b="1" u="sng" dirty="0"/>
              <a:t>SDG 8: Target 8.9 </a:t>
            </a:r>
            <a:r>
              <a:rPr lang="en-GB" dirty="0"/>
              <a:t>(By 2030, devise and implement policies to promote sustainable tourism that creates jobs and promotes local culture and products)</a:t>
            </a:r>
            <a:endParaRPr lang="en-IT" dirty="0"/>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36</a:t>
            </a:fld>
            <a:endParaRPr lang="en-GB" dirty="0"/>
          </a:p>
        </p:txBody>
      </p:sp>
    </p:spTree>
    <p:extLst>
      <p:ext uri="{BB962C8B-B14F-4D97-AF65-F5344CB8AC3E}">
        <p14:creationId xmlns:p14="http://schemas.microsoft.com/office/powerpoint/2010/main" val="40432478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Data source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92500" lnSpcReduction="10000"/>
          </a:bodyPr>
          <a:lstStyle/>
          <a:p>
            <a:endParaRPr lang="en-IT" dirty="0"/>
          </a:p>
          <a:p>
            <a:r>
              <a:rPr lang="en-IT" dirty="0"/>
              <a:t>Data that you will use are collected by me using a Fitbit Versa 2</a:t>
            </a:r>
          </a:p>
          <a:p>
            <a:endParaRPr lang="en-IT" dirty="0"/>
          </a:p>
          <a:p>
            <a:r>
              <a:rPr lang="en-IT" dirty="0"/>
              <a:t>Data are available starting from 09/02 and will be collected up </a:t>
            </a:r>
            <a:r>
              <a:rPr lang="en-IT"/>
              <a:t>to 30/11</a:t>
            </a:r>
            <a:endParaRPr lang="en-US" dirty="0"/>
          </a:p>
          <a:p>
            <a:endParaRPr lang="en-US" dirty="0"/>
          </a:p>
          <a:p>
            <a:r>
              <a:rPr lang="en-US" dirty="0"/>
              <a:t>The following data “types” are included(see mor details in the Appendix)</a:t>
            </a:r>
            <a:r>
              <a:rPr lang="en-IT"/>
              <a:t>:</a:t>
            </a:r>
            <a:endParaRPr lang="en-IT" dirty="0"/>
          </a:p>
          <a:p>
            <a:pPr lvl="1"/>
            <a:r>
              <a:rPr lang="en-IT" dirty="0"/>
              <a:t>Calories</a:t>
            </a:r>
          </a:p>
          <a:p>
            <a:pPr lvl="1"/>
            <a:r>
              <a:rPr lang="en-IT" dirty="0"/>
              <a:t>Distance</a:t>
            </a:r>
          </a:p>
          <a:p>
            <a:pPr lvl="1"/>
            <a:r>
              <a:rPr lang="en-IT" dirty="0"/>
              <a:t>Exercise sessions</a:t>
            </a:r>
          </a:p>
          <a:p>
            <a:pPr lvl="1"/>
            <a:r>
              <a:rPr lang="en-IT" dirty="0"/>
              <a:t>Heart rate</a:t>
            </a:r>
          </a:p>
          <a:p>
            <a:pPr lvl="1"/>
            <a:r>
              <a:rPr lang="en-IT" dirty="0"/>
              <a:t>Resting heart rate (Estimated)</a:t>
            </a:r>
          </a:p>
          <a:p>
            <a:pPr lvl="1"/>
            <a:r>
              <a:rPr lang="en-IT" dirty="0"/>
              <a:t>Sleep</a:t>
            </a:r>
          </a:p>
          <a:p>
            <a:pPr lvl="1"/>
            <a:r>
              <a:rPr lang="en-IT"/>
              <a:t>Steps</a:t>
            </a:r>
            <a:endParaRPr lang="en-US" dirty="0"/>
          </a:p>
          <a:p>
            <a:pPr lvl="1"/>
            <a:endParaRPr lang="en-IT" dirty="0"/>
          </a:p>
          <a:p>
            <a:r>
              <a:rPr lang="en-IT" dirty="0"/>
              <a:t>Your project must use at least 1 type of data</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37</a:t>
            </a:fld>
            <a:endParaRPr lang="en-GB" dirty="0"/>
          </a:p>
        </p:txBody>
      </p:sp>
      <p:pic>
        <p:nvPicPr>
          <p:cNvPr id="9" name="Picture 8">
            <a:extLst>
              <a:ext uri="{FF2B5EF4-FFF2-40B4-BE49-F238E27FC236}">
                <a16:creationId xmlns:a16="http://schemas.microsoft.com/office/drawing/2014/main" id="{7C73BE74-2A1A-858A-D7FE-ED2AFECA5AFE}"/>
              </a:ext>
            </a:extLst>
          </p:cNvPr>
          <p:cNvPicPr>
            <a:picLocks noChangeAspect="1"/>
          </p:cNvPicPr>
          <p:nvPr/>
        </p:nvPicPr>
        <p:blipFill>
          <a:blip r:embed="rId3"/>
          <a:stretch>
            <a:fillRect/>
          </a:stretch>
        </p:blipFill>
        <p:spPr>
          <a:xfrm>
            <a:off x="8784760" y="3965924"/>
            <a:ext cx="2438746" cy="2572988"/>
          </a:xfrm>
          <a:prstGeom prst="rect">
            <a:avLst/>
          </a:prstGeom>
        </p:spPr>
      </p:pic>
    </p:spTree>
    <p:extLst>
      <p:ext uri="{BB962C8B-B14F-4D97-AF65-F5344CB8AC3E}">
        <p14:creationId xmlns:p14="http://schemas.microsoft.com/office/powerpoint/2010/main" val="2877378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normAutofit/>
          </a:bodyPr>
          <a:lstStyle/>
          <a:p>
            <a:r>
              <a:rPr lang="en-IT" dirty="0"/>
              <a:t>How to get data - The IMPACT backend</a:t>
            </a:r>
          </a:p>
        </p:txBody>
      </p:sp>
      <p:sp>
        <p:nvSpPr>
          <p:cNvPr id="4" name="Slide Number Placeholder 3">
            <a:extLst>
              <a:ext uri="{FF2B5EF4-FFF2-40B4-BE49-F238E27FC236}">
                <a16:creationId xmlns:a16="http://schemas.microsoft.com/office/drawing/2014/main" id="{C57ACF48-43BD-9049-83DA-4C0AF0AC5D28}"/>
              </a:ext>
            </a:extLst>
          </p:cNvPr>
          <p:cNvSpPr>
            <a:spLocks noGrp="1"/>
          </p:cNvSpPr>
          <p:nvPr>
            <p:ph type="sldNum" sz="quarter" idx="12"/>
          </p:nvPr>
        </p:nvSpPr>
        <p:spPr/>
        <p:txBody>
          <a:bodyPr/>
          <a:lstStyle/>
          <a:p>
            <a:fld id="{31DE2C5B-556E-47B8-A792-024C2FCA4ACC}" type="slidenum">
              <a:rPr lang="en-GB" smtClean="0"/>
              <a:t>38</a:t>
            </a:fld>
            <a:endParaRPr lang="en-GB" dirty="0"/>
          </a:p>
        </p:txBody>
      </p:sp>
      <p:pic>
        <p:nvPicPr>
          <p:cNvPr id="6" name="Picture 5" descr="A picture containing text&#10;&#10;Description automatically generated">
            <a:extLst>
              <a:ext uri="{FF2B5EF4-FFF2-40B4-BE49-F238E27FC236}">
                <a16:creationId xmlns:a16="http://schemas.microsoft.com/office/drawing/2014/main" id="{68B4606E-6CE4-3D5F-4F4A-F88148AE3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2948" y="1981579"/>
            <a:ext cx="2435304" cy="1718017"/>
          </a:xfrm>
          <a:prstGeom prst="rect">
            <a:avLst/>
          </a:prstGeom>
          <a:ln w="38100">
            <a:solidFill>
              <a:srgbClr val="C00000"/>
            </a:solidFill>
          </a:ln>
        </p:spPr>
      </p:pic>
      <p:sp>
        <p:nvSpPr>
          <p:cNvPr id="8" name="Content Placeholder 2">
            <a:extLst>
              <a:ext uri="{FF2B5EF4-FFF2-40B4-BE49-F238E27FC236}">
                <a16:creationId xmlns:a16="http://schemas.microsoft.com/office/drawing/2014/main" id="{D49FCE54-4F42-AAF9-4E62-B5F5431C2580}"/>
              </a:ext>
            </a:extLst>
          </p:cNvPr>
          <p:cNvSpPr txBox="1">
            <a:spLocks/>
          </p:cNvSpPr>
          <p:nvPr/>
        </p:nvSpPr>
        <p:spPr>
          <a:xfrm>
            <a:off x="6900652" y="3841420"/>
            <a:ext cx="3329616" cy="465985"/>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1600" b="1" dirty="0">
                <a:solidFill>
                  <a:srgbClr val="C00000"/>
                </a:solidFill>
                <a:latin typeface="Aptos" panose="020B0004020202020204" pitchFamily="34" charset="0"/>
              </a:rPr>
              <a:t>https://impact.dei.unipd.it/bwthw/</a:t>
            </a:r>
          </a:p>
        </p:txBody>
      </p:sp>
      <p:grpSp>
        <p:nvGrpSpPr>
          <p:cNvPr id="12" name="Group 11">
            <a:extLst>
              <a:ext uri="{FF2B5EF4-FFF2-40B4-BE49-F238E27FC236}">
                <a16:creationId xmlns:a16="http://schemas.microsoft.com/office/drawing/2014/main" id="{D03EB194-617E-B58E-CE96-0B1F4BE0E372}"/>
              </a:ext>
            </a:extLst>
          </p:cNvPr>
          <p:cNvGrpSpPr/>
          <p:nvPr/>
        </p:nvGrpSpPr>
        <p:grpSpPr>
          <a:xfrm>
            <a:off x="1770295" y="1241872"/>
            <a:ext cx="3276939" cy="3147039"/>
            <a:chOff x="0" y="1584963"/>
            <a:chExt cx="2102029" cy="2102029"/>
          </a:xfrm>
        </p:grpSpPr>
        <p:pic>
          <p:nvPicPr>
            <p:cNvPr id="10" name="Graphic 9" descr="Smart Phone outline">
              <a:extLst>
                <a:ext uri="{FF2B5EF4-FFF2-40B4-BE49-F238E27FC236}">
                  <a16:creationId xmlns:a16="http://schemas.microsoft.com/office/drawing/2014/main" id="{CA2DCB31-A77D-BD86-E4B0-289F26710D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1584963"/>
              <a:ext cx="2102029" cy="2102029"/>
            </a:xfrm>
            <a:prstGeom prst="rect">
              <a:avLst/>
            </a:prstGeom>
          </p:spPr>
        </p:pic>
        <p:pic>
          <p:nvPicPr>
            <p:cNvPr id="11" name="Picture 10">
              <a:extLst>
                <a:ext uri="{FF2B5EF4-FFF2-40B4-BE49-F238E27FC236}">
                  <a16:creationId xmlns:a16="http://schemas.microsoft.com/office/drawing/2014/main" id="{E43A3C7F-BD6D-E717-036E-1B0293D02D3C}"/>
                </a:ext>
              </a:extLst>
            </p:cNvPr>
            <p:cNvPicPr>
              <a:picLocks noChangeAspect="1"/>
            </p:cNvPicPr>
            <p:nvPr/>
          </p:nvPicPr>
          <p:blipFill>
            <a:blip r:embed="rId6"/>
            <a:stretch>
              <a:fillRect/>
            </a:stretch>
          </p:blipFill>
          <p:spPr>
            <a:xfrm>
              <a:off x="735199" y="2175669"/>
              <a:ext cx="623644" cy="920618"/>
            </a:xfrm>
            <a:prstGeom prst="rect">
              <a:avLst/>
            </a:prstGeom>
          </p:spPr>
        </p:pic>
      </p:grpSp>
      <p:sp>
        <p:nvSpPr>
          <p:cNvPr id="5" name="Content Placeholder 2">
            <a:extLst>
              <a:ext uri="{FF2B5EF4-FFF2-40B4-BE49-F238E27FC236}">
                <a16:creationId xmlns:a16="http://schemas.microsoft.com/office/drawing/2014/main" id="{97D0427E-0CA4-C141-376F-AF9F36ED64FD}"/>
              </a:ext>
            </a:extLst>
          </p:cNvPr>
          <p:cNvSpPr txBox="1">
            <a:spLocks/>
          </p:cNvSpPr>
          <p:nvPr/>
        </p:nvSpPr>
        <p:spPr>
          <a:xfrm>
            <a:off x="2396167" y="4523058"/>
            <a:ext cx="1869879" cy="554632"/>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2800" u="sng" dirty="0">
                <a:latin typeface="Aptos" panose="020B0004020202020204" pitchFamily="34" charset="0"/>
              </a:rPr>
              <a:t>Your app</a:t>
            </a:r>
          </a:p>
        </p:txBody>
      </p:sp>
      <p:sp>
        <p:nvSpPr>
          <p:cNvPr id="15" name="Content Placeholder 2">
            <a:extLst>
              <a:ext uri="{FF2B5EF4-FFF2-40B4-BE49-F238E27FC236}">
                <a16:creationId xmlns:a16="http://schemas.microsoft.com/office/drawing/2014/main" id="{C213B210-5478-AFD9-1176-62D107898216}"/>
              </a:ext>
            </a:extLst>
          </p:cNvPr>
          <p:cNvSpPr txBox="1">
            <a:spLocks/>
          </p:cNvSpPr>
          <p:nvPr/>
        </p:nvSpPr>
        <p:spPr>
          <a:xfrm>
            <a:off x="4332148" y="2295394"/>
            <a:ext cx="2890093" cy="554632"/>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IT" sz="2000" b="1">
                <a:latin typeface="Aptos" panose="020B0004020202020204" pitchFamily="34" charset="0"/>
              </a:rPr>
              <a:t>HTTP </a:t>
            </a:r>
            <a:r>
              <a:rPr lang="en-IT" sz="2000" b="1" dirty="0">
                <a:latin typeface="Aptos" panose="020B0004020202020204" pitchFamily="34" charset="0"/>
              </a:rPr>
              <a:t>requests/responses</a:t>
            </a:r>
          </a:p>
        </p:txBody>
      </p:sp>
      <p:cxnSp>
        <p:nvCxnSpPr>
          <p:cNvPr id="16" name="Straight Arrow Connector 15">
            <a:extLst>
              <a:ext uri="{FF2B5EF4-FFF2-40B4-BE49-F238E27FC236}">
                <a16:creationId xmlns:a16="http://schemas.microsoft.com/office/drawing/2014/main" id="{E7006254-DE4F-A533-1A17-D61DFBB68069}"/>
              </a:ext>
            </a:extLst>
          </p:cNvPr>
          <p:cNvCxnSpPr>
            <a:cxnSpLocks/>
          </p:cNvCxnSpPr>
          <p:nvPr/>
        </p:nvCxnSpPr>
        <p:spPr>
          <a:xfrm>
            <a:off x="4727543" y="3075061"/>
            <a:ext cx="209930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9122E6D7-845C-B8D8-5DC2-04CEF680E74E}"/>
              </a:ext>
            </a:extLst>
          </p:cNvPr>
          <p:cNvCxnSpPr>
            <a:cxnSpLocks/>
          </p:cNvCxnSpPr>
          <p:nvPr/>
        </p:nvCxnSpPr>
        <p:spPr>
          <a:xfrm flipH="1">
            <a:off x="4664557" y="3300097"/>
            <a:ext cx="2162290" cy="219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7" name="Content Placeholder 2">
            <a:extLst>
              <a:ext uri="{FF2B5EF4-FFF2-40B4-BE49-F238E27FC236}">
                <a16:creationId xmlns:a16="http://schemas.microsoft.com/office/drawing/2014/main" id="{2D70811A-5CAC-6350-9FA8-6A9C7D940D8D}"/>
              </a:ext>
            </a:extLst>
          </p:cNvPr>
          <p:cNvSpPr txBox="1">
            <a:spLocks/>
          </p:cNvSpPr>
          <p:nvPr/>
        </p:nvSpPr>
        <p:spPr>
          <a:xfrm>
            <a:off x="669231" y="5685760"/>
            <a:ext cx="11127255" cy="871564"/>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T" dirty="0">
                <a:latin typeface="Aptos" panose="020B0004020202020204" pitchFamily="34" charset="0"/>
              </a:rPr>
              <a:t>You will be provided with credentials (different for each group) and learn how to get </a:t>
            </a:r>
            <a:r>
              <a:rPr lang="en-IT">
                <a:latin typeface="Aptos" panose="020B0004020202020204" pitchFamily="34" charset="0"/>
              </a:rPr>
              <a:t>data </a:t>
            </a:r>
            <a:r>
              <a:rPr lang="en-US" dirty="0">
                <a:latin typeface="Aptos" panose="020B0004020202020204" pitchFamily="34" charset="0"/>
              </a:rPr>
              <a:t>during lab </a:t>
            </a:r>
            <a:r>
              <a:rPr lang="en-IT">
                <a:latin typeface="Aptos" panose="020B0004020202020204" pitchFamily="34" charset="0"/>
              </a:rPr>
              <a:t>lesson</a:t>
            </a:r>
            <a:r>
              <a:rPr lang="en-US" dirty="0">
                <a:latin typeface="Aptos" panose="020B0004020202020204" pitchFamily="34" charset="0"/>
              </a:rPr>
              <a:t>s</a:t>
            </a:r>
            <a:r>
              <a:rPr lang="en-IT">
                <a:latin typeface="Aptos" panose="020B0004020202020204" pitchFamily="34" charset="0"/>
              </a:rPr>
              <a:t> </a:t>
            </a:r>
            <a:r>
              <a:rPr lang="en-IT" dirty="0">
                <a:latin typeface="Aptos" panose="020B0004020202020204" pitchFamily="34" charset="0"/>
              </a:rPr>
              <a:t>9 </a:t>
            </a:r>
            <a:r>
              <a:rPr lang="en-IT">
                <a:latin typeface="Aptos" panose="020B0004020202020204" pitchFamily="34" charset="0"/>
              </a:rPr>
              <a:t>and 10</a:t>
            </a:r>
            <a:endParaRPr lang="en-IT" dirty="0">
              <a:latin typeface="Aptos" panose="020B0004020202020204" pitchFamily="34" charset="0"/>
            </a:endParaRPr>
          </a:p>
        </p:txBody>
      </p:sp>
    </p:spTree>
    <p:extLst>
      <p:ext uri="{BB962C8B-B14F-4D97-AF65-F5344CB8AC3E}">
        <p14:creationId xmlns:p14="http://schemas.microsoft.com/office/powerpoint/2010/main" val="1807656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Optional tutoring activities</a:t>
            </a:r>
            <a:endParaRPr lang="en-GB" dirty="0"/>
          </a:p>
        </p:txBody>
      </p:sp>
      <p:sp>
        <p:nvSpPr>
          <p:cNvPr id="3" name="Segnaposto contenuto 2"/>
          <p:cNvSpPr>
            <a:spLocks noGrp="1"/>
          </p:cNvSpPr>
          <p:nvPr>
            <p:ph idx="1"/>
          </p:nvPr>
        </p:nvSpPr>
        <p:spPr>
          <a:xfrm>
            <a:off x="428170" y="1361166"/>
            <a:ext cx="11763829" cy="618539"/>
          </a:xfrm>
        </p:spPr>
        <p:txBody>
          <a:bodyPr>
            <a:normAutofit fontScale="92500"/>
          </a:bodyPr>
          <a:lstStyle/>
          <a:p>
            <a:r>
              <a:rPr lang="en-US" dirty="0"/>
              <a:t>Need help? They are here to cover your back with answers and optional tutoring activities</a:t>
            </a:r>
          </a:p>
        </p:txBody>
      </p:sp>
      <p:sp>
        <p:nvSpPr>
          <p:cNvPr id="5" name="Rettangolo 4"/>
          <p:cNvSpPr/>
          <p:nvPr/>
        </p:nvSpPr>
        <p:spPr>
          <a:xfrm>
            <a:off x="5486400" y="2195566"/>
            <a:ext cx="6585857" cy="2638236"/>
          </a:xfrm>
          <a:prstGeom prst="rect">
            <a:avLst/>
          </a:prstGeom>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GB" b="1" dirty="0">
                <a:latin typeface="Aptos" panose="020B0004020202020204" pitchFamily="34" charset="0"/>
              </a:rPr>
              <a:t>Calendar of the optional tutoring activities</a:t>
            </a:r>
          </a:p>
          <a:p>
            <a:pPr algn="ctr"/>
            <a:endParaRPr lang="en-GB"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39</a:t>
            </a:fld>
            <a:endParaRPr lang="en-GB" dirty="0"/>
          </a:p>
        </p:txBody>
      </p:sp>
      <p:pic>
        <p:nvPicPr>
          <p:cNvPr id="4" name="Google Shape;98;p9" descr="Immagine che contiene Viso umano, persona, Fronte, Mento&#10;&#10;Descrizione generata automaticamente">
            <a:extLst>
              <a:ext uri="{FF2B5EF4-FFF2-40B4-BE49-F238E27FC236}">
                <a16:creationId xmlns:a16="http://schemas.microsoft.com/office/drawing/2014/main" id="{C73A1938-85C6-DC14-C277-6C82B5875B84}"/>
              </a:ext>
            </a:extLst>
          </p:cNvPr>
          <p:cNvPicPr preferRelativeResize="0">
            <a:picLocks noChangeAspect="1"/>
          </p:cNvPicPr>
          <p:nvPr/>
        </p:nvPicPr>
        <p:blipFill rotWithShape="1">
          <a:blip r:embed="rId2">
            <a:alphaModFix/>
          </a:blip>
          <a:srcRect t="-517"/>
          <a:stretch/>
        </p:blipFill>
        <p:spPr>
          <a:xfrm>
            <a:off x="428172" y="2149203"/>
            <a:ext cx="1659658" cy="1985014"/>
          </a:xfrm>
          <a:prstGeom prst="rect">
            <a:avLst/>
          </a:prstGeom>
          <a:noFill/>
          <a:ln>
            <a:noFill/>
          </a:ln>
        </p:spPr>
      </p:pic>
      <p:sp>
        <p:nvSpPr>
          <p:cNvPr id="8" name="Segnaposto contenuto 2">
            <a:extLst>
              <a:ext uri="{FF2B5EF4-FFF2-40B4-BE49-F238E27FC236}">
                <a16:creationId xmlns:a16="http://schemas.microsoft.com/office/drawing/2014/main" id="{702BA522-6E01-F8A9-9985-C031C76C2B43}"/>
              </a:ext>
            </a:extLst>
          </p:cNvPr>
          <p:cNvSpPr txBox="1">
            <a:spLocks/>
          </p:cNvSpPr>
          <p:nvPr/>
        </p:nvSpPr>
        <p:spPr>
          <a:xfrm>
            <a:off x="2190045" y="2996119"/>
            <a:ext cx="7197083" cy="351830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ptos" panose="020B0004020202020204" pitchFamily="34" charset="0"/>
              </a:rPr>
              <a:t>Luca Cossu</a:t>
            </a:r>
          </a:p>
          <a:p>
            <a:pPr marL="0" indent="0">
              <a:buNone/>
            </a:pPr>
            <a:r>
              <a:rPr lang="en-US" sz="1800" dirty="0">
                <a:solidFill>
                  <a:srgbClr val="C00000"/>
                </a:solidFill>
                <a:latin typeface="Aptos" panose="020B0004020202020204" pitchFamily="34" charset="0"/>
                <a:hlinkClick r:id="rId3">
                  <a:extLst>
                    <a:ext uri="{A12FA001-AC4F-418D-AE19-62706E023703}">
                      <ahyp:hlinkClr xmlns:ahyp="http://schemas.microsoft.com/office/drawing/2018/hyperlinkcolor" val="tx"/>
                    </a:ext>
                  </a:extLst>
                </a:hlinkClick>
              </a:rPr>
              <a:t>luca.cossu@phd.unipd.it</a:t>
            </a:r>
            <a:r>
              <a:rPr lang="en-US" sz="1800" dirty="0">
                <a:solidFill>
                  <a:srgbClr val="C00000"/>
                </a:solidFill>
                <a:latin typeface="Aptos" panose="020B0004020202020204" pitchFamily="34" charset="0"/>
              </a:rPr>
              <a:t> </a:t>
            </a:r>
          </a:p>
          <a:p>
            <a:endParaRPr lang="en-US" sz="1800" dirty="0">
              <a:latin typeface="Aptos" panose="020B0004020202020204" pitchFamily="34" charset="0"/>
            </a:endParaRPr>
          </a:p>
          <a:p>
            <a:endParaRPr lang="en-US" sz="1800" dirty="0">
              <a:latin typeface="Aptos" panose="020B0004020202020204" pitchFamily="34" charset="0"/>
            </a:endParaRPr>
          </a:p>
          <a:p>
            <a:endParaRPr lang="en-US" sz="1800" dirty="0">
              <a:latin typeface="Aptos" panose="020B0004020202020204" pitchFamily="34" charset="0"/>
            </a:endParaRPr>
          </a:p>
          <a:p>
            <a:r>
              <a:rPr lang="en-US" sz="1800" dirty="0">
                <a:latin typeface="Aptos" panose="020B0004020202020204" pitchFamily="34" charset="0"/>
              </a:rPr>
              <a:t>Alberto </a:t>
            </a:r>
            <a:r>
              <a:rPr lang="en-US" sz="1800" dirty="0" err="1">
                <a:latin typeface="Aptos" panose="020B0004020202020204" pitchFamily="34" charset="0"/>
              </a:rPr>
              <a:t>Gastaldello</a:t>
            </a:r>
            <a:endParaRPr lang="en-US" sz="1800" dirty="0">
              <a:solidFill>
                <a:srgbClr val="C00000"/>
              </a:solidFill>
              <a:latin typeface="Aptos" panose="020B0004020202020204" pitchFamily="34" charset="0"/>
            </a:endParaRPr>
          </a:p>
          <a:p>
            <a:pPr marL="0" indent="0">
              <a:buNone/>
            </a:pPr>
            <a:r>
              <a:rPr lang="en-US" sz="1800" dirty="0">
                <a:solidFill>
                  <a:srgbClr val="C00000"/>
                </a:solidFill>
                <a:latin typeface="Aptos" panose="020B0004020202020204" pitchFamily="34" charset="0"/>
                <a:hlinkClick r:id="rId4">
                  <a:extLst>
                    <a:ext uri="{A12FA001-AC4F-418D-AE19-62706E023703}">
                      <ahyp:hlinkClr xmlns:ahyp="http://schemas.microsoft.com/office/drawing/2018/hyperlinkcolor" val="tx"/>
                    </a:ext>
                  </a:extLst>
                </a:hlinkClick>
              </a:rPr>
              <a:t>alberto.gastaldello.2@phd.unipd.it</a:t>
            </a:r>
            <a:r>
              <a:rPr lang="en-US" sz="1800" dirty="0">
                <a:solidFill>
                  <a:srgbClr val="C00000"/>
                </a:solidFill>
                <a:latin typeface="Aptos" panose="020B0004020202020204" pitchFamily="34" charset="0"/>
              </a:rPr>
              <a:t> </a:t>
            </a:r>
            <a:br>
              <a:rPr lang="en-US" sz="1800" dirty="0">
                <a:latin typeface="Aptos" panose="020B0004020202020204" pitchFamily="34" charset="0"/>
              </a:rPr>
            </a:br>
            <a:endParaRPr lang="en-US" sz="1800" dirty="0">
              <a:latin typeface="Aptos" panose="020B0004020202020204" pitchFamily="34" charset="0"/>
            </a:endParaRPr>
          </a:p>
          <a:p>
            <a:endParaRPr lang="en-US" sz="1800" dirty="0">
              <a:latin typeface="Aptos" panose="020B0004020202020204" pitchFamily="34" charset="0"/>
            </a:endParaRPr>
          </a:p>
          <a:p>
            <a:endParaRPr lang="en-US" sz="1800" dirty="0">
              <a:latin typeface="Aptos" panose="020B0004020202020204" pitchFamily="34" charset="0"/>
            </a:endParaRPr>
          </a:p>
        </p:txBody>
      </p:sp>
      <p:pic>
        <p:nvPicPr>
          <p:cNvPr id="13" name="Picture 12" descr="A person wearing glasses and a blue jacket&#10;&#10;AI-generated content may be incorrect.">
            <a:extLst>
              <a:ext uri="{FF2B5EF4-FFF2-40B4-BE49-F238E27FC236}">
                <a16:creationId xmlns:a16="http://schemas.microsoft.com/office/drawing/2014/main" id="{988E4DF5-823B-DB3E-BE13-A68FBC5CC80A}"/>
              </a:ext>
            </a:extLst>
          </p:cNvPr>
          <p:cNvPicPr>
            <a:picLocks noChangeAspect="1"/>
          </p:cNvPicPr>
          <p:nvPr/>
        </p:nvPicPr>
        <p:blipFill>
          <a:blip r:embed="rId5">
            <a:extLst>
              <a:ext uri="{28A0092B-C50C-407E-A947-70E740481C1C}">
                <a14:useLocalDpi xmlns:a14="http://schemas.microsoft.com/office/drawing/2010/main" val="0"/>
              </a:ext>
            </a:extLst>
          </a:blip>
          <a:srcRect l="20234" t="7515" r="17055" b="32838"/>
          <a:stretch/>
        </p:blipFill>
        <p:spPr>
          <a:xfrm>
            <a:off x="428169" y="4347633"/>
            <a:ext cx="1663677" cy="1656714"/>
          </a:xfrm>
          <a:prstGeom prst="rect">
            <a:avLst/>
          </a:prstGeom>
        </p:spPr>
      </p:pic>
      <p:pic>
        <p:nvPicPr>
          <p:cNvPr id="9" name="Picture 8" descr="A table with text on it&#10;&#10;AI-generated content may be incorrect.">
            <a:extLst>
              <a:ext uri="{FF2B5EF4-FFF2-40B4-BE49-F238E27FC236}">
                <a16:creationId xmlns:a16="http://schemas.microsoft.com/office/drawing/2014/main" id="{7447DC5E-6376-B627-E750-1F85785852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99127" y="2631395"/>
            <a:ext cx="6346438" cy="1989364"/>
          </a:xfrm>
          <a:prstGeom prst="rect">
            <a:avLst/>
          </a:prstGeom>
        </p:spPr>
      </p:pic>
    </p:spTree>
    <p:extLst>
      <p:ext uri="{BB962C8B-B14F-4D97-AF65-F5344CB8AC3E}">
        <p14:creationId xmlns:p14="http://schemas.microsoft.com/office/powerpoint/2010/main" val="3733545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Discord</a:t>
            </a:r>
            <a:r>
              <a:rPr lang="it-IT" dirty="0"/>
              <a:t> server</a:t>
            </a:r>
            <a:endParaRPr lang="en-GB" dirty="0"/>
          </a:p>
        </p:txBody>
      </p:sp>
      <p:sp>
        <p:nvSpPr>
          <p:cNvPr id="3" name="Segnaposto contenuto 2"/>
          <p:cNvSpPr>
            <a:spLocks noGrp="1"/>
          </p:cNvSpPr>
          <p:nvPr>
            <p:ph idx="1"/>
          </p:nvPr>
        </p:nvSpPr>
        <p:spPr>
          <a:xfrm>
            <a:off x="428172" y="4078014"/>
            <a:ext cx="11368314" cy="2525986"/>
          </a:xfrm>
        </p:spPr>
        <p:txBody>
          <a:bodyPr>
            <a:normAutofit/>
          </a:bodyPr>
          <a:lstStyle/>
          <a:p>
            <a:r>
              <a:rPr lang="en-US" dirty="0"/>
              <a:t>Join the Discord server to get in touch and ask questions</a:t>
            </a:r>
          </a:p>
          <a:p>
            <a:endParaRPr lang="en-US" dirty="0"/>
          </a:p>
          <a:p>
            <a:r>
              <a:rPr lang="en-US" b="1" dirty="0"/>
              <a:t>Link: </a:t>
            </a:r>
            <a:r>
              <a:rPr lang="en-US" b="1" dirty="0">
                <a:solidFill>
                  <a:srgbClr val="C00000"/>
                </a:solidFill>
              </a:rPr>
              <a:t>https://</a:t>
            </a:r>
            <a:r>
              <a:rPr lang="en-US" b="1" dirty="0" err="1">
                <a:solidFill>
                  <a:srgbClr val="C00000"/>
                </a:solidFill>
              </a:rPr>
              <a:t>discord.gg</a:t>
            </a:r>
            <a:r>
              <a:rPr lang="en-US" b="1" dirty="0">
                <a:solidFill>
                  <a:srgbClr val="C00000"/>
                </a:solidFill>
              </a:rPr>
              <a:t>/j76A3D27bm</a:t>
            </a:r>
          </a:p>
        </p:txBody>
      </p:sp>
      <p:sp>
        <p:nvSpPr>
          <p:cNvPr id="6" name="Segnaposto numero diapositiva 5"/>
          <p:cNvSpPr>
            <a:spLocks noGrp="1"/>
          </p:cNvSpPr>
          <p:nvPr>
            <p:ph type="sldNum" sz="quarter" idx="12"/>
          </p:nvPr>
        </p:nvSpPr>
        <p:spPr/>
        <p:txBody>
          <a:bodyPr/>
          <a:lstStyle/>
          <a:p>
            <a:fld id="{31DE2C5B-556E-47B8-A792-024C2FCA4ACC}" type="slidenum">
              <a:rPr lang="en-GB" smtClean="0"/>
              <a:t>40</a:t>
            </a:fld>
            <a:endParaRPr lang="en-GB"/>
          </a:p>
        </p:txBody>
      </p:sp>
      <p:pic>
        <p:nvPicPr>
          <p:cNvPr id="8" name="Picture 7" descr="A logo with text on it&#10;&#10;Description automatically generated">
            <a:extLst>
              <a:ext uri="{FF2B5EF4-FFF2-40B4-BE49-F238E27FC236}">
                <a16:creationId xmlns:a16="http://schemas.microsoft.com/office/drawing/2014/main" id="{7B03028D-19EA-9E88-FA17-669E796A6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9927" y="1563794"/>
            <a:ext cx="1865206" cy="1865206"/>
          </a:xfrm>
          <a:prstGeom prst="rect">
            <a:avLst/>
          </a:prstGeom>
          <a:ln>
            <a:solidFill>
              <a:srgbClr val="C00000"/>
            </a:solidFill>
          </a:ln>
        </p:spPr>
      </p:pic>
      <p:pic>
        <p:nvPicPr>
          <p:cNvPr id="1026" name="Picture 2" descr="Discord Proxy - Altri proxy - FineProxy.org">
            <a:extLst>
              <a:ext uri="{FF2B5EF4-FFF2-40B4-BE49-F238E27FC236}">
                <a16:creationId xmlns:a16="http://schemas.microsoft.com/office/drawing/2014/main" id="{25AECF0B-2128-FA74-A95A-7A0E6938F9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085" y="1788281"/>
            <a:ext cx="1865206" cy="1416231"/>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Add with solid fill">
            <a:extLst>
              <a:ext uri="{FF2B5EF4-FFF2-40B4-BE49-F238E27FC236}">
                <a16:creationId xmlns:a16="http://schemas.microsoft.com/office/drawing/2014/main" id="{5C0821A2-37BC-BAFE-EED5-38C7E19F32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0009" y="2272850"/>
            <a:ext cx="457200" cy="457200"/>
          </a:xfrm>
          <a:prstGeom prst="rect">
            <a:avLst/>
          </a:prstGeom>
        </p:spPr>
      </p:pic>
      <p:pic>
        <p:nvPicPr>
          <p:cNvPr id="9" name="Picture 8" descr="A qr code with a white background&#10;&#10;Description automatically generated">
            <a:extLst>
              <a:ext uri="{FF2B5EF4-FFF2-40B4-BE49-F238E27FC236}">
                <a16:creationId xmlns:a16="http://schemas.microsoft.com/office/drawing/2014/main" id="{90046EB7-6187-6A4A-1324-88C6CC67B1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90172" y="3492858"/>
            <a:ext cx="2426741" cy="2426741"/>
          </a:xfrm>
          <a:prstGeom prst="rect">
            <a:avLst/>
          </a:prstGeom>
        </p:spPr>
      </p:pic>
    </p:spTree>
    <p:extLst>
      <p:ext uri="{BB962C8B-B14F-4D97-AF65-F5344CB8AC3E}">
        <p14:creationId xmlns:p14="http://schemas.microsoft.com/office/powerpoint/2010/main" val="2237953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6AAEF-8625-52E6-E8E7-EF8FFBCAAA1A}"/>
              </a:ext>
            </a:extLst>
          </p:cNvPr>
          <p:cNvSpPr>
            <a:spLocks noGrp="1"/>
          </p:cNvSpPr>
          <p:nvPr>
            <p:ph type="title"/>
          </p:nvPr>
        </p:nvSpPr>
        <p:spPr>
          <a:xfrm>
            <a:off x="411843" y="2976019"/>
            <a:ext cx="11368314" cy="905962"/>
          </a:xfrm>
        </p:spPr>
        <p:txBody>
          <a:bodyPr/>
          <a:lstStyle/>
          <a:p>
            <a:r>
              <a:rPr lang="en-US" b="1" dirty="0"/>
              <a:t>Appendix: Data source characteristics</a:t>
            </a:r>
          </a:p>
        </p:txBody>
      </p:sp>
      <p:sp>
        <p:nvSpPr>
          <p:cNvPr id="3" name="Slide Number Placeholder 2">
            <a:extLst>
              <a:ext uri="{FF2B5EF4-FFF2-40B4-BE49-F238E27FC236}">
                <a16:creationId xmlns:a16="http://schemas.microsoft.com/office/drawing/2014/main" id="{F9C5482D-A2CA-D94D-3900-2094D80D8C30}"/>
              </a:ext>
            </a:extLst>
          </p:cNvPr>
          <p:cNvSpPr>
            <a:spLocks noGrp="1"/>
          </p:cNvSpPr>
          <p:nvPr>
            <p:ph type="sldNum" sz="quarter" idx="12"/>
          </p:nvPr>
        </p:nvSpPr>
        <p:spPr/>
        <p:txBody>
          <a:bodyPr/>
          <a:lstStyle/>
          <a:p>
            <a:fld id="{31DE2C5B-556E-47B8-A792-024C2FCA4ACC}" type="slidenum">
              <a:rPr lang="en-GB" smtClean="0"/>
              <a:t>41</a:t>
            </a:fld>
            <a:endParaRPr lang="en-GB"/>
          </a:p>
        </p:txBody>
      </p:sp>
    </p:spTree>
    <p:extLst>
      <p:ext uri="{BB962C8B-B14F-4D97-AF65-F5344CB8AC3E}">
        <p14:creationId xmlns:p14="http://schemas.microsoft.com/office/powerpoint/2010/main" val="3466894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F51E-8FDB-A631-111D-A98948085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95913-D3C1-2185-09CA-C067F5AD2581}"/>
              </a:ext>
            </a:extLst>
          </p:cNvPr>
          <p:cNvSpPr>
            <a:spLocks noGrp="1"/>
          </p:cNvSpPr>
          <p:nvPr>
            <p:ph type="title"/>
          </p:nvPr>
        </p:nvSpPr>
        <p:spPr/>
        <p:txBody>
          <a:bodyPr>
            <a:normAutofit/>
          </a:bodyPr>
          <a:lstStyle/>
          <a:p>
            <a:r>
              <a:rPr lang="en-IT" dirty="0"/>
              <a:t>Focus on data – Calories</a:t>
            </a:r>
          </a:p>
        </p:txBody>
      </p:sp>
      <p:sp>
        <p:nvSpPr>
          <p:cNvPr id="3" name="Content Placeholder 2">
            <a:extLst>
              <a:ext uri="{FF2B5EF4-FFF2-40B4-BE49-F238E27FC236}">
                <a16:creationId xmlns:a16="http://schemas.microsoft.com/office/drawing/2014/main" id="{E9461580-0C76-6E1B-35D9-99ABB8E43F66}"/>
              </a:ext>
            </a:extLst>
          </p:cNvPr>
          <p:cNvSpPr>
            <a:spLocks noGrp="1"/>
          </p:cNvSpPr>
          <p:nvPr>
            <p:ph idx="1"/>
          </p:nvPr>
        </p:nvSpPr>
        <p:spPr>
          <a:xfrm>
            <a:off x="428172" y="1361167"/>
            <a:ext cx="11368314" cy="5334907"/>
          </a:xfrm>
        </p:spPr>
        <p:txBody>
          <a:bodyPr>
            <a:normAutofit/>
          </a:bodyPr>
          <a:lstStyle/>
          <a:p>
            <a:r>
              <a:rPr lang="en-IT" sz="2000" dirty="0"/>
              <a:t>Calories: a list with 1 data point exactly every minute</a:t>
            </a:r>
          </a:p>
          <a:p>
            <a:endParaRPr lang="en-IT" sz="2000" dirty="0"/>
          </a:p>
          <a:p>
            <a:r>
              <a:rPr lang="en-IT" sz="2000" dirty="0"/>
              <a:t>Fields meaning:</a:t>
            </a:r>
          </a:p>
          <a:p>
            <a:pPr lvl="1"/>
            <a:r>
              <a:rPr lang="en-IT" sz="1600" dirty="0"/>
              <a:t>time: timestamp (hh:mm:ss format) of the calory entry</a:t>
            </a:r>
          </a:p>
          <a:p>
            <a:pPr lvl="1"/>
            <a:r>
              <a:rPr lang="en-IT" sz="1600" dirty="0"/>
              <a:t>value: the calories spent during the last 1 minute (rest + active) </a:t>
            </a:r>
          </a:p>
          <a:p>
            <a:endParaRPr lang="en-IT" sz="2000" dirty="0"/>
          </a:p>
        </p:txBody>
      </p:sp>
      <p:sp>
        <p:nvSpPr>
          <p:cNvPr id="4" name="Slide Number Placeholder 3">
            <a:extLst>
              <a:ext uri="{FF2B5EF4-FFF2-40B4-BE49-F238E27FC236}">
                <a16:creationId xmlns:a16="http://schemas.microsoft.com/office/drawing/2014/main" id="{902C8FE7-AA71-B123-6BAF-FC9E9D5C5090}"/>
              </a:ext>
            </a:extLst>
          </p:cNvPr>
          <p:cNvSpPr>
            <a:spLocks noGrp="1"/>
          </p:cNvSpPr>
          <p:nvPr>
            <p:ph type="sldNum" sz="quarter" idx="12"/>
          </p:nvPr>
        </p:nvSpPr>
        <p:spPr/>
        <p:txBody>
          <a:bodyPr/>
          <a:lstStyle/>
          <a:p>
            <a:fld id="{31DE2C5B-556E-47B8-A792-024C2FCA4ACC}" type="slidenum">
              <a:rPr lang="en-GB" smtClean="0"/>
              <a:t>42</a:t>
            </a:fld>
            <a:endParaRPr lang="en-GB" dirty="0"/>
          </a:p>
        </p:txBody>
      </p:sp>
      <p:sp>
        <p:nvSpPr>
          <p:cNvPr id="6" name="TextBox 5">
            <a:extLst>
              <a:ext uri="{FF2B5EF4-FFF2-40B4-BE49-F238E27FC236}">
                <a16:creationId xmlns:a16="http://schemas.microsoft.com/office/drawing/2014/main" id="{1790FD65-3233-2F69-DE65-99A055CE03AE}"/>
              </a:ext>
            </a:extLst>
          </p:cNvPr>
          <p:cNvSpPr txBox="1"/>
          <p:nvPr/>
        </p:nvSpPr>
        <p:spPr>
          <a:xfrm>
            <a:off x="8715154" y="1835712"/>
            <a:ext cx="6097348" cy="4385816"/>
          </a:xfrm>
          <a:prstGeom prst="rect">
            <a:avLst/>
          </a:prstGeom>
          <a:noFill/>
        </p:spPr>
        <p:txBody>
          <a:bodyPr wrap="square">
            <a:spAutoFit/>
          </a:bodyPr>
          <a:lstStyle/>
          <a:p>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"00:00:00",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"00:01:00",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"00:02:00",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"00:03:00",</a:t>
            </a:r>
          </a:p>
          <a:p>
            <a:pPr lvl="1"/>
            <a:r>
              <a:rPr lang="en-GB" sz="900" b="0" dirty="0">
                <a:effectLst/>
                <a:latin typeface="Menlo" panose="020B0609030804020204" pitchFamily="49" charset="0"/>
              </a:rPr>
              <a:t>"value": "1.55"</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"00:04:00",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"00:05:00",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a:t>
            </a:r>
          </a:p>
          <a:p>
            <a:pPr lvl="1"/>
            <a:r>
              <a:rPr lang="en-GB" sz="900" b="0" dirty="0">
                <a:effectLst/>
                <a:latin typeface="Menlo" panose="020B0609030804020204" pitchFamily="49" charset="0"/>
              </a:rPr>
              <a:t>"time": "00:06:00",</a:t>
            </a:r>
          </a:p>
          <a:p>
            <a:pPr lvl="1"/>
            <a:r>
              <a:rPr lang="en-GB" sz="900" b="0" dirty="0">
                <a:effectLst/>
                <a:latin typeface="Menlo" panose="020B0609030804020204" pitchFamily="49" charset="0"/>
              </a:rPr>
              <a:t>"value": "1.29"</a:t>
            </a:r>
          </a:p>
          <a:p>
            <a:pPr lvl="1"/>
            <a:r>
              <a:rPr lang="en-GB" sz="900" b="0" dirty="0">
                <a:effectLst/>
                <a:latin typeface="Menlo" panose="020B0609030804020204" pitchFamily="49" charset="0"/>
              </a:rPr>
              <a:t>},</a:t>
            </a:r>
          </a:p>
          <a:p>
            <a:pPr lvl="1"/>
            <a:r>
              <a:rPr lang="en-GB" sz="900" dirty="0">
                <a:latin typeface="Menlo" panose="020B0609030804020204" pitchFamily="49" charset="0"/>
              </a:rPr>
              <a:t>...</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32636984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64DB3-B37E-D011-0310-FD08C2B42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16089-BEB9-3578-250A-C353009BD458}"/>
              </a:ext>
            </a:extLst>
          </p:cNvPr>
          <p:cNvSpPr>
            <a:spLocks noGrp="1"/>
          </p:cNvSpPr>
          <p:nvPr>
            <p:ph type="title"/>
          </p:nvPr>
        </p:nvSpPr>
        <p:spPr/>
        <p:txBody>
          <a:bodyPr>
            <a:normAutofit/>
          </a:bodyPr>
          <a:lstStyle/>
          <a:p>
            <a:r>
              <a:rPr lang="en-IT" dirty="0"/>
              <a:t>Focus on data – Distance</a:t>
            </a:r>
          </a:p>
        </p:txBody>
      </p:sp>
      <p:sp>
        <p:nvSpPr>
          <p:cNvPr id="3" name="Content Placeholder 2">
            <a:extLst>
              <a:ext uri="{FF2B5EF4-FFF2-40B4-BE49-F238E27FC236}">
                <a16:creationId xmlns:a16="http://schemas.microsoft.com/office/drawing/2014/main" id="{642E4448-5F0F-B53B-4ED1-7825A1240CDD}"/>
              </a:ext>
            </a:extLst>
          </p:cNvPr>
          <p:cNvSpPr>
            <a:spLocks noGrp="1"/>
          </p:cNvSpPr>
          <p:nvPr>
            <p:ph idx="1"/>
          </p:nvPr>
        </p:nvSpPr>
        <p:spPr>
          <a:xfrm>
            <a:off x="428172" y="1361167"/>
            <a:ext cx="11368314" cy="5334907"/>
          </a:xfrm>
        </p:spPr>
        <p:txBody>
          <a:bodyPr>
            <a:normAutofit/>
          </a:bodyPr>
          <a:lstStyle/>
          <a:p>
            <a:r>
              <a:rPr lang="en-IT" sz="2000" dirty="0"/>
              <a:t>Distance: a list with 1 data point every minute or more depending on</a:t>
            </a:r>
            <a:br>
              <a:rPr lang="en-IT" sz="2000" dirty="0"/>
            </a:br>
            <a:r>
              <a:rPr lang="en-IT" sz="2000" dirty="0"/>
              <a:t>user’s movement</a:t>
            </a:r>
            <a:br>
              <a:rPr lang="en-IT" sz="2000" dirty="0"/>
            </a:br>
            <a:endParaRPr lang="en-IT" sz="2000" dirty="0"/>
          </a:p>
          <a:p>
            <a:endParaRPr lang="en-IT" sz="2000" dirty="0"/>
          </a:p>
          <a:p>
            <a:r>
              <a:rPr lang="en-IT" sz="2000" dirty="0"/>
              <a:t>Fields meaning:</a:t>
            </a:r>
          </a:p>
          <a:p>
            <a:pPr lvl="1"/>
            <a:r>
              <a:rPr lang="en-IT" sz="1600" dirty="0"/>
              <a:t>time: timestamp (hh:mm:ss format) of the distance entry</a:t>
            </a:r>
          </a:p>
          <a:p>
            <a:pPr lvl="1"/>
            <a:r>
              <a:rPr lang="en-IT" sz="1600" dirty="0"/>
              <a:t>value: the distance travelled between the last timestamp and now (in cm) </a:t>
            </a:r>
          </a:p>
          <a:p>
            <a:endParaRPr lang="en-IT" sz="2000" dirty="0"/>
          </a:p>
        </p:txBody>
      </p:sp>
      <p:sp>
        <p:nvSpPr>
          <p:cNvPr id="4" name="Slide Number Placeholder 3">
            <a:extLst>
              <a:ext uri="{FF2B5EF4-FFF2-40B4-BE49-F238E27FC236}">
                <a16:creationId xmlns:a16="http://schemas.microsoft.com/office/drawing/2014/main" id="{AB4C7DF1-254B-7A12-0344-96AD5B0851F3}"/>
              </a:ext>
            </a:extLst>
          </p:cNvPr>
          <p:cNvSpPr>
            <a:spLocks noGrp="1"/>
          </p:cNvSpPr>
          <p:nvPr>
            <p:ph type="sldNum" sz="quarter" idx="12"/>
          </p:nvPr>
        </p:nvSpPr>
        <p:spPr/>
        <p:txBody>
          <a:bodyPr/>
          <a:lstStyle/>
          <a:p>
            <a:fld id="{31DE2C5B-556E-47B8-A792-024C2FCA4ACC}" type="slidenum">
              <a:rPr lang="en-GB" smtClean="0"/>
              <a:t>43</a:t>
            </a:fld>
            <a:endParaRPr lang="en-GB" dirty="0"/>
          </a:p>
        </p:txBody>
      </p:sp>
      <p:sp>
        <p:nvSpPr>
          <p:cNvPr id="6" name="TextBox 5">
            <a:extLst>
              <a:ext uri="{FF2B5EF4-FFF2-40B4-BE49-F238E27FC236}">
                <a16:creationId xmlns:a16="http://schemas.microsoft.com/office/drawing/2014/main" id="{05DB0565-29C5-F926-427A-E01302ECC515}"/>
              </a:ext>
            </a:extLst>
          </p:cNvPr>
          <p:cNvSpPr txBox="1"/>
          <p:nvPr/>
        </p:nvSpPr>
        <p:spPr>
          <a:xfrm>
            <a:off x="9460264" y="1558713"/>
            <a:ext cx="6097348" cy="4939814"/>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"00:03:00",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"00:50:00",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"01:28:00",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"01:32:00",</a:t>
            </a:r>
          </a:p>
          <a:p>
            <a:r>
              <a:rPr lang="en-GB" sz="900" b="0" dirty="0">
                <a:effectLst/>
                <a:latin typeface="Menlo" panose="020B0609030804020204" pitchFamily="49" charset="0"/>
              </a:rPr>
              <a:t>        "value": "1440"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"01:33:00",</a:t>
            </a:r>
          </a:p>
          <a:p>
            <a:r>
              <a:rPr lang="en-GB" sz="900" b="0" dirty="0">
                <a:effectLst/>
                <a:latin typeface="Menlo" panose="020B0609030804020204" pitchFamily="49" charset="0"/>
              </a:rPr>
              <a:t>        "value": "3110"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"01:34:00",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"01:53:00",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"03:09:00",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dirty="0">
                <a:latin typeface="Menlo" panose="020B0609030804020204" pitchFamily="49" charset="0"/>
              </a:rPr>
              <a:t>    ...</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1971776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E98FD-CDA6-816C-3231-5FA37E39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64660-769E-2BDE-6E45-60C431EB616A}"/>
              </a:ext>
            </a:extLst>
          </p:cNvPr>
          <p:cNvSpPr>
            <a:spLocks noGrp="1"/>
          </p:cNvSpPr>
          <p:nvPr>
            <p:ph type="title"/>
          </p:nvPr>
        </p:nvSpPr>
        <p:spPr/>
        <p:txBody>
          <a:bodyPr>
            <a:normAutofit/>
          </a:bodyPr>
          <a:lstStyle/>
          <a:p>
            <a:r>
              <a:rPr lang="en-IT" dirty="0"/>
              <a:t>Focus on data – Steps</a:t>
            </a:r>
          </a:p>
        </p:txBody>
      </p:sp>
      <p:sp>
        <p:nvSpPr>
          <p:cNvPr id="3" name="Content Placeholder 2">
            <a:extLst>
              <a:ext uri="{FF2B5EF4-FFF2-40B4-BE49-F238E27FC236}">
                <a16:creationId xmlns:a16="http://schemas.microsoft.com/office/drawing/2014/main" id="{B2DC9E2E-3F22-779F-EB84-70672512EDCB}"/>
              </a:ext>
            </a:extLst>
          </p:cNvPr>
          <p:cNvSpPr>
            <a:spLocks noGrp="1"/>
          </p:cNvSpPr>
          <p:nvPr>
            <p:ph idx="1"/>
          </p:nvPr>
        </p:nvSpPr>
        <p:spPr>
          <a:xfrm>
            <a:off x="428172" y="1361167"/>
            <a:ext cx="11368314" cy="5334907"/>
          </a:xfrm>
        </p:spPr>
        <p:txBody>
          <a:bodyPr>
            <a:normAutofit/>
          </a:bodyPr>
          <a:lstStyle/>
          <a:p>
            <a:r>
              <a:rPr lang="en-IT" sz="2000" dirty="0"/>
              <a:t>Steps: a list with 1 data point every minute or more depending on</a:t>
            </a:r>
            <a:br>
              <a:rPr lang="en-IT" sz="2000" dirty="0"/>
            </a:br>
            <a:r>
              <a:rPr lang="en-IT" sz="2000" dirty="0"/>
              <a:t>user’s movement</a:t>
            </a:r>
            <a:br>
              <a:rPr lang="en-IT" sz="2000" dirty="0"/>
            </a:br>
            <a:endParaRPr lang="en-IT" sz="2000" dirty="0"/>
          </a:p>
          <a:p>
            <a:endParaRPr lang="en-IT" sz="2000" dirty="0"/>
          </a:p>
          <a:p>
            <a:r>
              <a:rPr lang="en-IT" sz="2000" dirty="0"/>
              <a:t>Fields meaning:</a:t>
            </a:r>
          </a:p>
          <a:p>
            <a:pPr lvl="1"/>
            <a:r>
              <a:rPr lang="en-IT" sz="1600" dirty="0"/>
              <a:t>time: timestamp (hh:mm:ss format) of the step entry</a:t>
            </a:r>
          </a:p>
          <a:p>
            <a:pPr lvl="1"/>
            <a:r>
              <a:rPr lang="en-IT" sz="1600" dirty="0"/>
              <a:t>value: the number of steps done between the last timestamp and now </a:t>
            </a:r>
          </a:p>
          <a:p>
            <a:pPr lvl="1"/>
            <a:endParaRPr lang="en-IT" sz="1600" dirty="0"/>
          </a:p>
          <a:p>
            <a:pPr lvl="1"/>
            <a:endParaRPr lang="en-IT" sz="1600" dirty="0"/>
          </a:p>
          <a:p>
            <a:r>
              <a:rPr lang="en-IT" sz="2000" b="1" dirty="0"/>
              <a:t>Note</a:t>
            </a:r>
            <a:r>
              <a:rPr lang="en-IT" sz="2000" dirty="0"/>
              <a:t>: there can be days without data</a:t>
            </a:r>
          </a:p>
          <a:p>
            <a:pPr marL="0" indent="0">
              <a:buNone/>
            </a:pPr>
            <a:endParaRPr lang="en-IT" sz="2000" dirty="0"/>
          </a:p>
        </p:txBody>
      </p:sp>
      <p:sp>
        <p:nvSpPr>
          <p:cNvPr id="4" name="Slide Number Placeholder 3">
            <a:extLst>
              <a:ext uri="{FF2B5EF4-FFF2-40B4-BE49-F238E27FC236}">
                <a16:creationId xmlns:a16="http://schemas.microsoft.com/office/drawing/2014/main" id="{E269F16F-D833-2294-6997-4CD418E5D49F}"/>
              </a:ext>
            </a:extLst>
          </p:cNvPr>
          <p:cNvSpPr>
            <a:spLocks noGrp="1"/>
          </p:cNvSpPr>
          <p:nvPr>
            <p:ph type="sldNum" sz="quarter" idx="12"/>
          </p:nvPr>
        </p:nvSpPr>
        <p:spPr/>
        <p:txBody>
          <a:bodyPr/>
          <a:lstStyle/>
          <a:p>
            <a:fld id="{31DE2C5B-556E-47B8-A792-024C2FCA4ACC}" type="slidenum">
              <a:rPr lang="en-GB" smtClean="0"/>
              <a:t>44</a:t>
            </a:fld>
            <a:endParaRPr lang="en-GB" dirty="0"/>
          </a:p>
        </p:txBody>
      </p:sp>
      <p:sp>
        <p:nvSpPr>
          <p:cNvPr id="6" name="TextBox 5">
            <a:extLst>
              <a:ext uri="{FF2B5EF4-FFF2-40B4-BE49-F238E27FC236}">
                <a16:creationId xmlns:a16="http://schemas.microsoft.com/office/drawing/2014/main" id="{CDBE0FDB-BDE5-B42B-A60B-71CD03FEC494}"/>
              </a:ext>
            </a:extLst>
          </p:cNvPr>
          <p:cNvSpPr txBox="1"/>
          <p:nvPr/>
        </p:nvSpPr>
        <p:spPr>
          <a:xfrm>
            <a:off x="9460264" y="1558713"/>
            <a:ext cx="6097348" cy="4801314"/>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"00:07:00",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"00:10:00",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"01:57:00",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"02:29:00",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"02:40:00",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"02:57:00",</a:t>
            </a:r>
          </a:p>
          <a:p>
            <a:r>
              <a:rPr lang="en-GB" sz="900" b="0" dirty="0">
                <a:effectLst/>
                <a:latin typeface="Menlo" panose="020B0609030804020204" pitchFamily="49" charset="0"/>
              </a:rPr>
              <a:t>        "value": "11"</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"02:58:00",</a:t>
            </a:r>
          </a:p>
          <a:p>
            <a:r>
              <a:rPr lang="en-GB" sz="900" b="0" dirty="0">
                <a:effectLst/>
                <a:latin typeface="Menlo" panose="020B0609030804020204" pitchFamily="49" charset="0"/>
              </a:rPr>
              <a:t>        "value": "18"</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"02:59:00",</a:t>
            </a:r>
          </a:p>
          <a:p>
            <a:r>
              <a:rPr lang="en-GB" sz="900" b="0" dirty="0">
                <a:effectLst/>
                <a:latin typeface="Menlo" panose="020B0609030804020204" pitchFamily="49" charset="0"/>
              </a:rPr>
              <a:t>        "value": "0"</a:t>
            </a:r>
          </a:p>
          <a:p>
            <a:r>
              <a:rPr lang="en-GB" sz="900" b="0" dirty="0">
                <a:effectLst/>
                <a:latin typeface="Menlo" panose="020B0609030804020204" pitchFamily="49" charset="0"/>
              </a:rPr>
              <a:t>    },</a:t>
            </a:r>
            <a:r>
              <a:rPr lang="en-GB" sz="900" dirty="0">
                <a:latin typeface="Menlo" panose="020B0609030804020204" pitchFamily="49" charset="0"/>
              </a:rPr>
              <a:t>    ...</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2697218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191A-295B-DC56-0A07-BEF5FC91F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E4585-480D-32C5-A46B-4E83DB2013ED}"/>
              </a:ext>
            </a:extLst>
          </p:cNvPr>
          <p:cNvSpPr>
            <a:spLocks noGrp="1"/>
          </p:cNvSpPr>
          <p:nvPr>
            <p:ph type="title"/>
          </p:nvPr>
        </p:nvSpPr>
        <p:spPr/>
        <p:txBody>
          <a:bodyPr>
            <a:normAutofit/>
          </a:bodyPr>
          <a:lstStyle/>
          <a:p>
            <a:r>
              <a:rPr lang="en-IT"/>
              <a:t>Heart </a:t>
            </a:r>
            <a:r>
              <a:rPr lang="en-IT" dirty="0"/>
              <a:t>rate</a:t>
            </a:r>
          </a:p>
        </p:txBody>
      </p:sp>
      <p:sp>
        <p:nvSpPr>
          <p:cNvPr id="3" name="Content Placeholder 2">
            <a:extLst>
              <a:ext uri="{FF2B5EF4-FFF2-40B4-BE49-F238E27FC236}">
                <a16:creationId xmlns:a16="http://schemas.microsoft.com/office/drawing/2014/main" id="{832C6F84-4E27-08C1-7D86-990628DE3182}"/>
              </a:ext>
            </a:extLst>
          </p:cNvPr>
          <p:cNvSpPr>
            <a:spLocks noGrp="1"/>
          </p:cNvSpPr>
          <p:nvPr>
            <p:ph idx="1"/>
          </p:nvPr>
        </p:nvSpPr>
        <p:spPr>
          <a:xfrm>
            <a:off x="428172" y="1361167"/>
            <a:ext cx="11368314" cy="5334907"/>
          </a:xfrm>
        </p:spPr>
        <p:txBody>
          <a:bodyPr>
            <a:normAutofit/>
          </a:bodyPr>
          <a:lstStyle/>
          <a:p>
            <a:r>
              <a:rPr lang="en-IT" sz="2000" dirty="0"/>
              <a:t>Heart rate: a list with 1 data point every 5 seconds.</a:t>
            </a:r>
            <a:br>
              <a:rPr lang="en-IT" sz="2000" dirty="0"/>
            </a:br>
            <a:endParaRPr lang="en-IT" sz="2000" dirty="0"/>
          </a:p>
          <a:p>
            <a:endParaRPr lang="en-IT" sz="2000" dirty="0"/>
          </a:p>
          <a:p>
            <a:r>
              <a:rPr lang="en-IT" sz="2000" dirty="0"/>
              <a:t>Fields meaning:</a:t>
            </a:r>
          </a:p>
          <a:p>
            <a:pPr lvl="1"/>
            <a:r>
              <a:rPr lang="en-IT" sz="1600" dirty="0"/>
              <a:t>time: timestamp (hh:mm:ss format) of the heart rate entry</a:t>
            </a:r>
          </a:p>
          <a:p>
            <a:pPr lvl="1"/>
            <a:r>
              <a:rPr lang="en-IT" sz="1600" dirty="0"/>
              <a:t>value: the heart rate at the current time (in bpm)</a:t>
            </a:r>
          </a:p>
          <a:p>
            <a:pPr lvl="1"/>
            <a:r>
              <a:rPr lang="en-IT" sz="1600" dirty="0"/>
              <a:t>confidence: a number from 0 to 3 defining how much the reading is reliable (this</a:t>
            </a:r>
            <a:br>
              <a:rPr lang="en-IT" sz="1600" dirty="0"/>
            </a:br>
            <a:r>
              <a:rPr lang="en-IT" sz="1600" dirty="0"/>
              <a:t>problably depends on user movement, etc. You can ignore it)</a:t>
            </a:r>
          </a:p>
          <a:p>
            <a:pPr lvl="1"/>
            <a:endParaRPr lang="en-IT" sz="1600" dirty="0"/>
          </a:p>
          <a:p>
            <a:r>
              <a:rPr lang="en-IT" sz="2000" b="1" dirty="0"/>
              <a:t>Note</a:t>
            </a:r>
            <a:r>
              <a:rPr lang="en-IT" sz="2000" dirty="0"/>
              <a:t>: there can be missing values</a:t>
            </a:r>
          </a:p>
        </p:txBody>
      </p:sp>
      <p:sp>
        <p:nvSpPr>
          <p:cNvPr id="4" name="Slide Number Placeholder 3">
            <a:extLst>
              <a:ext uri="{FF2B5EF4-FFF2-40B4-BE49-F238E27FC236}">
                <a16:creationId xmlns:a16="http://schemas.microsoft.com/office/drawing/2014/main" id="{2E082F8C-8806-F8E1-BAF0-C3F3309D137B}"/>
              </a:ext>
            </a:extLst>
          </p:cNvPr>
          <p:cNvSpPr>
            <a:spLocks noGrp="1"/>
          </p:cNvSpPr>
          <p:nvPr>
            <p:ph type="sldNum" sz="quarter" idx="12"/>
          </p:nvPr>
        </p:nvSpPr>
        <p:spPr/>
        <p:txBody>
          <a:bodyPr/>
          <a:lstStyle/>
          <a:p>
            <a:fld id="{31DE2C5B-556E-47B8-A792-024C2FCA4ACC}" type="slidenum">
              <a:rPr lang="en-GB" smtClean="0"/>
              <a:t>45</a:t>
            </a:fld>
            <a:endParaRPr lang="en-GB" dirty="0"/>
          </a:p>
        </p:txBody>
      </p:sp>
      <p:sp>
        <p:nvSpPr>
          <p:cNvPr id="6" name="TextBox 5">
            <a:extLst>
              <a:ext uri="{FF2B5EF4-FFF2-40B4-BE49-F238E27FC236}">
                <a16:creationId xmlns:a16="http://schemas.microsoft.com/office/drawing/2014/main" id="{B6CCA017-A8A5-F5EB-29CE-E2CD94DE705C}"/>
              </a:ext>
            </a:extLst>
          </p:cNvPr>
          <p:cNvSpPr txBox="1"/>
          <p:nvPr/>
        </p:nvSpPr>
        <p:spPr>
          <a:xfrm>
            <a:off x="8974741" y="1335766"/>
            <a:ext cx="6097348" cy="5355312"/>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a:t>
            </a:r>
          </a:p>
          <a:p>
            <a:r>
              <a:rPr lang="en-GB" sz="900" b="0" dirty="0">
                <a:effectLst/>
                <a:latin typeface="Menlo" panose="020B0609030804020204" pitchFamily="49" charset="0"/>
              </a:rPr>
              <a:t>        "time": "03:10:19",</a:t>
            </a:r>
          </a:p>
          <a:p>
            <a:r>
              <a:rPr lang="en-GB" sz="900" b="0" dirty="0">
                <a:effectLst/>
                <a:latin typeface="Menlo" panose="020B0609030804020204" pitchFamily="49" charset="0"/>
              </a:rPr>
              <a:t>        "value": 58,</a:t>
            </a:r>
          </a:p>
          <a:p>
            <a:r>
              <a:rPr lang="en-GB" sz="900" b="0" dirty="0">
                <a:effectLst/>
                <a:latin typeface="Menlo" panose="020B0609030804020204" pitchFamily="49" charset="0"/>
              </a:rPr>
              <a:t>        "confidence": 1</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"03:10:24",</a:t>
            </a:r>
          </a:p>
          <a:p>
            <a:r>
              <a:rPr lang="en-GB" sz="900" b="0" dirty="0">
                <a:effectLst/>
                <a:latin typeface="Menlo" panose="020B0609030804020204" pitchFamily="49" charset="0"/>
              </a:rPr>
              <a:t>        "value": 54,</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"03:10:29",</a:t>
            </a:r>
          </a:p>
          <a:p>
            <a:r>
              <a:rPr lang="en-GB" sz="900" b="0" dirty="0">
                <a:effectLst/>
                <a:latin typeface="Menlo" panose="020B0609030804020204" pitchFamily="49" charset="0"/>
              </a:rPr>
              <a:t>        "value": 52,</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"03:10:44",</a:t>
            </a:r>
          </a:p>
          <a:p>
            <a:r>
              <a:rPr lang="en-GB" sz="900" b="0" dirty="0">
                <a:effectLst/>
                <a:latin typeface="Menlo" panose="020B0609030804020204" pitchFamily="49" charset="0"/>
              </a:rPr>
              <a:t>        "value": 52,</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"03:10:54",</a:t>
            </a:r>
          </a:p>
          <a:p>
            <a:r>
              <a:rPr lang="en-GB" sz="900" b="0" dirty="0">
                <a:effectLst/>
                <a:latin typeface="Menlo" panose="020B0609030804020204" pitchFamily="49" charset="0"/>
              </a:rPr>
              <a:t>        "value": 53,</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"03:11:09",</a:t>
            </a:r>
          </a:p>
          <a:p>
            <a:r>
              <a:rPr lang="en-GB" sz="900" b="0" dirty="0">
                <a:effectLst/>
                <a:latin typeface="Menlo" panose="020B0609030804020204" pitchFamily="49" charset="0"/>
              </a:rPr>
              <a:t>        "value": 54,</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p>
          <a:p>
            <a:r>
              <a:rPr lang="en-GB" sz="900" b="0" dirty="0">
                <a:effectLst/>
                <a:latin typeface="Menlo" panose="020B0609030804020204" pitchFamily="49" charset="0"/>
              </a:rPr>
              <a:t>    {</a:t>
            </a:r>
          </a:p>
          <a:p>
            <a:r>
              <a:rPr lang="en-GB" sz="900" b="0" dirty="0">
                <a:effectLst/>
                <a:latin typeface="Menlo" panose="020B0609030804020204" pitchFamily="49" charset="0"/>
              </a:rPr>
              <a:t>        "time": "03:11:19",</a:t>
            </a:r>
          </a:p>
          <a:p>
            <a:r>
              <a:rPr lang="en-GB" sz="900" b="0" dirty="0">
                <a:effectLst/>
                <a:latin typeface="Menlo" panose="020B0609030804020204" pitchFamily="49" charset="0"/>
              </a:rPr>
              <a:t>        "value": 53,</a:t>
            </a:r>
          </a:p>
          <a:p>
            <a:r>
              <a:rPr lang="en-GB" sz="900" b="0" dirty="0">
                <a:effectLst/>
                <a:latin typeface="Menlo" panose="020B0609030804020204" pitchFamily="49" charset="0"/>
              </a:rPr>
              <a:t>        "confidence": 3</a:t>
            </a:r>
          </a:p>
          <a:p>
            <a:r>
              <a:rPr lang="en-GB" sz="900" b="0" dirty="0">
                <a:effectLst/>
                <a:latin typeface="Menlo" panose="020B0609030804020204" pitchFamily="49" charset="0"/>
              </a:rPr>
              <a:t>    },</a:t>
            </a:r>
            <a:br>
              <a:rPr lang="en-GB" sz="900" b="0" dirty="0">
                <a:effectLst/>
                <a:latin typeface="Menlo" panose="020B0609030804020204" pitchFamily="49" charset="0"/>
              </a:rPr>
            </a:br>
            <a:r>
              <a:rPr lang="en-GB" sz="900" b="0" dirty="0">
                <a:effectLst/>
                <a:latin typeface="Menlo" panose="020B0609030804020204" pitchFamily="49" charset="0"/>
              </a:rPr>
              <a:t>    </a:t>
            </a:r>
            <a:r>
              <a:rPr lang="en-GB" sz="900" dirty="0">
                <a:latin typeface="Menlo" panose="020B0609030804020204" pitchFamily="49" charset="0"/>
              </a:rPr>
              <a:t>...</a:t>
            </a:r>
          </a:p>
          <a:p>
            <a:r>
              <a:rPr lang="en-GB" sz="900" b="0" dirty="0">
                <a:effectLst/>
                <a:latin typeface="Menlo" panose="020B0609030804020204" pitchFamily="49" charset="0"/>
              </a:rPr>
              <a:t>]</a:t>
            </a:r>
          </a:p>
        </p:txBody>
      </p:sp>
      <p:cxnSp>
        <p:nvCxnSpPr>
          <p:cNvPr id="7" name="Straight Arrow Connector 6">
            <a:extLst>
              <a:ext uri="{FF2B5EF4-FFF2-40B4-BE49-F238E27FC236}">
                <a16:creationId xmlns:a16="http://schemas.microsoft.com/office/drawing/2014/main" id="{B5D66EA8-8778-DC83-A74F-727A844AEBB8}"/>
              </a:ext>
            </a:extLst>
          </p:cNvPr>
          <p:cNvCxnSpPr/>
          <p:nvPr/>
        </p:nvCxnSpPr>
        <p:spPr>
          <a:xfrm>
            <a:off x="4725749" y="4377791"/>
            <a:ext cx="4644828" cy="5745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43252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9AED7-272F-5B9A-E203-82BA039C5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9D259-8389-6B47-3F61-D346AEB29CDA}"/>
              </a:ext>
            </a:extLst>
          </p:cNvPr>
          <p:cNvSpPr>
            <a:spLocks noGrp="1"/>
          </p:cNvSpPr>
          <p:nvPr>
            <p:ph type="title"/>
          </p:nvPr>
        </p:nvSpPr>
        <p:spPr/>
        <p:txBody>
          <a:bodyPr>
            <a:normAutofit/>
          </a:bodyPr>
          <a:lstStyle/>
          <a:p>
            <a:r>
              <a:rPr lang="en-IT"/>
              <a:t>Resting </a:t>
            </a:r>
            <a:r>
              <a:rPr lang="en-IT" dirty="0"/>
              <a:t>heart rate</a:t>
            </a:r>
          </a:p>
        </p:txBody>
      </p:sp>
      <p:sp>
        <p:nvSpPr>
          <p:cNvPr id="3" name="Content Placeholder 2">
            <a:extLst>
              <a:ext uri="{FF2B5EF4-FFF2-40B4-BE49-F238E27FC236}">
                <a16:creationId xmlns:a16="http://schemas.microsoft.com/office/drawing/2014/main" id="{3A8D5C17-DEE7-1E94-C024-7146F4C732A5}"/>
              </a:ext>
            </a:extLst>
          </p:cNvPr>
          <p:cNvSpPr>
            <a:spLocks noGrp="1"/>
          </p:cNvSpPr>
          <p:nvPr>
            <p:ph idx="1"/>
          </p:nvPr>
        </p:nvSpPr>
        <p:spPr>
          <a:xfrm>
            <a:off x="428172" y="1361167"/>
            <a:ext cx="11368314" cy="5334907"/>
          </a:xfrm>
        </p:spPr>
        <p:txBody>
          <a:bodyPr>
            <a:normAutofit/>
          </a:bodyPr>
          <a:lstStyle/>
          <a:p>
            <a:r>
              <a:rPr lang="en-IT" sz="2000" dirty="0"/>
              <a:t>Resting heart rate: an entry per day.</a:t>
            </a:r>
            <a:br>
              <a:rPr lang="en-IT" sz="2000" dirty="0"/>
            </a:br>
            <a:endParaRPr lang="en-IT" sz="2000" dirty="0"/>
          </a:p>
          <a:p>
            <a:endParaRPr lang="en-IT" sz="2000" dirty="0"/>
          </a:p>
          <a:p>
            <a:r>
              <a:rPr lang="en-IT" sz="2000" dirty="0"/>
              <a:t>Fields meaning:</a:t>
            </a:r>
          </a:p>
          <a:p>
            <a:pPr lvl="1"/>
            <a:r>
              <a:rPr lang="en-IT" sz="1600" dirty="0"/>
              <a:t>time: timestamp (hh:mm:ss format) of the resting heart rate entry (always 00:00:00)</a:t>
            </a:r>
          </a:p>
          <a:p>
            <a:pPr lvl="1"/>
            <a:r>
              <a:rPr lang="en-IT" sz="1600" dirty="0"/>
              <a:t>value: the estimated resting heart rate at the current time (in bpm)</a:t>
            </a:r>
          </a:p>
          <a:p>
            <a:pPr lvl="1"/>
            <a:r>
              <a:rPr lang="en-IT" sz="1600" dirty="0"/>
              <a:t>error: the estimate error (in %) (Can be ignored)</a:t>
            </a:r>
          </a:p>
          <a:p>
            <a:pPr lvl="1"/>
            <a:endParaRPr lang="en-IT" sz="1600" dirty="0"/>
          </a:p>
          <a:p>
            <a:r>
              <a:rPr lang="en-IT" sz="2000" b="1" dirty="0"/>
              <a:t>Note</a:t>
            </a:r>
            <a:r>
              <a:rPr lang="en-IT" sz="2000" dirty="0"/>
              <a:t>: there can be days without data</a:t>
            </a:r>
          </a:p>
        </p:txBody>
      </p:sp>
      <p:sp>
        <p:nvSpPr>
          <p:cNvPr id="4" name="Slide Number Placeholder 3">
            <a:extLst>
              <a:ext uri="{FF2B5EF4-FFF2-40B4-BE49-F238E27FC236}">
                <a16:creationId xmlns:a16="http://schemas.microsoft.com/office/drawing/2014/main" id="{EA3AAC1D-D3DB-FFF1-5D3E-99B2D7B2AAD9}"/>
              </a:ext>
            </a:extLst>
          </p:cNvPr>
          <p:cNvSpPr>
            <a:spLocks noGrp="1"/>
          </p:cNvSpPr>
          <p:nvPr>
            <p:ph type="sldNum" sz="quarter" idx="12"/>
          </p:nvPr>
        </p:nvSpPr>
        <p:spPr/>
        <p:txBody>
          <a:bodyPr/>
          <a:lstStyle/>
          <a:p>
            <a:fld id="{31DE2C5B-556E-47B8-A792-024C2FCA4ACC}" type="slidenum">
              <a:rPr lang="en-GB" smtClean="0"/>
              <a:t>46</a:t>
            </a:fld>
            <a:endParaRPr lang="en-GB" dirty="0"/>
          </a:p>
        </p:txBody>
      </p:sp>
      <p:sp>
        <p:nvSpPr>
          <p:cNvPr id="6" name="TextBox 5">
            <a:extLst>
              <a:ext uri="{FF2B5EF4-FFF2-40B4-BE49-F238E27FC236}">
                <a16:creationId xmlns:a16="http://schemas.microsoft.com/office/drawing/2014/main" id="{EC217DC8-AD74-FCFB-97C3-63025BFE3C42}"/>
              </a:ext>
            </a:extLst>
          </p:cNvPr>
          <p:cNvSpPr txBox="1"/>
          <p:nvPr/>
        </p:nvSpPr>
        <p:spPr>
          <a:xfrm>
            <a:off x="8456850" y="1629177"/>
            <a:ext cx="6097348" cy="784830"/>
          </a:xfrm>
          <a:prstGeom prst="rect">
            <a:avLst/>
          </a:prstGeom>
          <a:noFill/>
        </p:spPr>
        <p:txBody>
          <a:bodyPr wrap="square">
            <a:spAutoFit/>
          </a:bodyPr>
          <a:lstStyle/>
          <a:p>
            <a:r>
              <a:rPr lang="en-GB" sz="900" b="0" dirty="0">
                <a:effectLst/>
                <a:latin typeface="Menlo" panose="020B0609030804020204" pitchFamily="49" charset="0"/>
              </a:rPr>
              <a:t>{</a:t>
            </a:r>
          </a:p>
          <a:p>
            <a:r>
              <a:rPr lang="en-GB" sz="900" b="0" dirty="0">
                <a:effectLst/>
                <a:latin typeface="Menlo" panose="020B0609030804020204" pitchFamily="49" charset="0"/>
              </a:rPr>
              <a:t>    "time": "00:00:00",</a:t>
            </a:r>
          </a:p>
          <a:p>
            <a:r>
              <a:rPr lang="en-GB" sz="900" b="0" dirty="0">
                <a:effectLst/>
                <a:latin typeface="Menlo" panose="020B0609030804020204" pitchFamily="49" charset="0"/>
              </a:rPr>
              <a:t>    "value": 51.35,</a:t>
            </a:r>
          </a:p>
          <a:p>
            <a:r>
              <a:rPr lang="en-GB" sz="900" b="0" dirty="0">
                <a:effectLst/>
                <a:latin typeface="Menlo" panose="020B0609030804020204" pitchFamily="49" charset="0"/>
              </a:rPr>
              <a:t>    "error": 17.86</a:t>
            </a:r>
          </a:p>
          <a:p>
            <a:r>
              <a:rPr lang="en-GB" sz="900" b="0" dirty="0">
                <a:effectLst/>
                <a:latin typeface="Menlo" panose="020B0609030804020204" pitchFamily="49" charset="0"/>
              </a:rPr>
              <a:t>}</a:t>
            </a:r>
          </a:p>
        </p:txBody>
      </p:sp>
    </p:spTree>
    <p:extLst>
      <p:ext uri="{BB962C8B-B14F-4D97-AF65-F5344CB8AC3E}">
        <p14:creationId xmlns:p14="http://schemas.microsoft.com/office/powerpoint/2010/main" val="41536139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E818-3D3F-9318-801E-A15F4F9EE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20834-0C07-2300-4D3F-8156C29C11A8}"/>
              </a:ext>
            </a:extLst>
          </p:cNvPr>
          <p:cNvSpPr>
            <a:spLocks noGrp="1"/>
          </p:cNvSpPr>
          <p:nvPr>
            <p:ph type="title"/>
          </p:nvPr>
        </p:nvSpPr>
        <p:spPr/>
        <p:txBody>
          <a:bodyPr>
            <a:normAutofit/>
          </a:bodyPr>
          <a:lstStyle/>
          <a:p>
            <a:r>
              <a:rPr lang="en-IT"/>
              <a:t>Exercise</a:t>
            </a:r>
            <a:endParaRPr lang="en-IT" dirty="0"/>
          </a:p>
        </p:txBody>
      </p:sp>
      <p:sp>
        <p:nvSpPr>
          <p:cNvPr id="3" name="Content Placeholder 2">
            <a:extLst>
              <a:ext uri="{FF2B5EF4-FFF2-40B4-BE49-F238E27FC236}">
                <a16:creationId xmlns:a16="http://schemas.microsoft.com/office/drawing/2014/main" id="{7C222461-A2ED-A7D6-A3D5-35620A60C75C}"/>
              </a:ext>
            </a:extLst>
          </p:cNvPr>
          <p:cNvSpPr>
            <a:spLocks noGrp="1"/>
          </p:cNvSpPr>
          <p:nvPr>
            <p:ph idx="1"/>
          </p:nvPr>
        </p:nvSpPr>
        <p:spPr>
          <a:xfrm>
            <a:off x="225871" y="1386568"/>
            <a:ext cx="11368314" cy="5334907"/>
          </a:xfrm>
        </p:spPr>
        <p:txBody>
          <a:bodyPr>
            <a:normAutofit lnSpcReduction="10000"/>
          </a:bodyPr>
          <a:lstStyle/>
          <a:p>
            <a:r>
              <a:rPr lang="en-IT" sz="1800" dirty="0"/>
              <a:t>Exercise: a list with 1 entry for each recorded exercise session</a:t>
            </a:r>
            <a:br>
              <a:rPr lang="en-IT" sz="1800" dirty="0"/>
            </a:br>
            <a:endParaRPr lang="en-IT" sz="1800" dirty="0"/>
          </a:p>
          <a:p>
            <a:r>
              <a:rPr lang="en-IT" sz="1800" dirty="0"/>
              <a:t>Fields meaning:</a:t>
            </a:r>
          </a:p>
          <a:p>
            <a:pPr lvl="1"/>
            <a:r>
              <a:rPr lang="en-IT" sz="1400" dirty="0"/>
              <a:t>activityName: the type of entry (“Corsa”: Run, “Bici”: bike, “Camminata”: Walk)</a:t>
            </a:r>
          </a:p>
          <a:p>
            <a:pPr lvl="1"/>
            <a:r>
              <a:rPr lang="en-IT" sz="1400" dirty="0"/>
              <a:t>averageHeartRate: the average heart rate during the session</a:t>
            </a:r>
          </a:p>
          <a:p>
            <a:pPr lvl="1"/>
            <a:r>
              <a:rPr lang="en-IT" sz="1400" dirty="0"/>
              <a:t>calories: the active calories spent during the session</a:t>
            </a:r>
          </a:p>
          <a:p>
            <a:pPr lvl="1"/>
            <a:r>
              <a:rPr lang="en-IT" sz="1400" dirty="0"/>
              <a:t>distance: the distance covered during the session</a:t>
            </a:r>
          </a:p>
          <a:p>
            <a:pPr lvl="1"/>
            <a:r>
              <a:rPr lang="en-IT" sz="1400" dirty="0"/>
              <a:t>distanceUnit: the unit of the “distance” field</a:t>
            </a:r>
          </a:p>
          <a:p>
            <a:pPr lvl="1"/>
            <a:r>
              <a:rPr lang="en-IT" sz="1400" dirty="0"/>
              <a:t>duration: the total duration of the session (in ms)</a:t>
            </a:r>
          </a:p>
          <a:p>
            <a:pPr lvl="1"/>
            <a:r>
              <a:rPr lang="en-IT" sz="1400" dirty="0"/>
              <a:t>activeDuration: the total active duration of the session (in ms)</a:t>
            </a:r>
          </a:p>
          <a:p>
            <a:pPr lvl="1"/>
            <a:r>
              <a:rPr lang="en-IT" sz="1400" dirty="0"/>
              <a:t>steps: the total number of steps done during the session (if “Corsa” or ”Camminata”)</a:t>
            </a:r>
          </a:p>
          <a:p>
            <a:pPr lvl="1"/>
            <a:r>
              <a:rPr lang="en-IT" sz="1400" dirty="0"/>
              <a:t>logType: how this record was logged (“tracker” or “auto_detected”)</a:t>
            </a:r>
          </a:p>
          <a:p>
            <a:pPr lvl="1"/>
            <a:r>
              <a:rPr lang="en-IT" sz="1400" dirty="0"/>
              <a:t>heartRateZones: a list that summarizes the number of minutes and calories</a:t>
            </a:r>
            <a:br>
              <a:rPr lang="en-IT" sz="1400" dirty="0"/>
            </a:br>
            <a:r>
              <a:rPr lang="en-IT" sz="1400" dirty="0"/>
              <a:t>spent in specific heart rate ranges (from min to max)</a:t>
            </a:r>
          </a:p>
          <a:p>
            <a:pPr lvl="1"/>
            <a:r>
              <a:rPr lang="en-IT" sz="1400" dirty="0"/>
              <a:t>speed: the average speed (in km/h)</a:t>
            </a:r>
          </a:p>
          <a:p>
            <a:pPr lvl="1"/>
            <a:r>
              <a:rPr lang="en-IT" sz="1400" dirty="0"/>
              <a:t>vo2max: the estimated running VO2Max (only for “Corsa” activities)</a:t>
            </a:r>
          </a:p>
          <a:p>
            <a:pPr lvl="1"/>
            <a:r>
              <a:rPr lang="en-IT" sz="1400" dirty="0"/>
              <a:t>elevationGain: the elevation gained during the session</a:t>
            </a:r>
          </a:p>
          <a:p>
            <a:pPr lvl="1"/>
            <a:r>
              <a:rPr lang="en-IT" sz="1400" dirty="0"/>
              <a:t>time: the starting time of the session (format hh:mm:ss)</a:t>
            </a:r>
          </a:p>
          <a:p>
            <a:pPr lvl="1"/>
            <a:endParaRPr lang="en-IT" sz="1400" dirty="0"/>
          </a:p>
          <a:p>
            <a:r>
              <a:rPr lang="en-IT" sz="1800" b="1" dirty="0"/>
              <a:t>Note</a:t>
            </a:r>
            <a:r>
              <a:rPr lang="en-IT" sz="1800" dirty="0"/>
              <a:t>: different activity types can have (slightly) different fields</a:t>
            </a:r>
          </a:p>
          <a:p>
            <a:r>
              <a:rPr lang="en-IT" sz="1800" b="1" dirty="0"/>
              <a:t>Note</a:t>
            </a:r>
            <a:r>
              <a:rPr lang="en-IT" sz="1800" dirty="0"/>
              <a:t>: there can be days without data</a:t>
            </a:r>
          </a:p>
          <a:p>
            <a:endParaRPr lang="en-IT" sz="1800" dirty="0"/>
          </a:p>
        </p:txBody>
      </p:sp>
      <p:sp>
        <p:nvSpPr>
          <p:cNvPr id="4" name="Slide Number Placeholder 3">
            <a:extLst>
              <a:ext uri="{FF2B5EF4-FFF2-40B4-BE49-F238E27FC236}">
                <a16:creationId xmlns:a16="http://schemas.microsoft.com/office/drawing/2014/main" id="{5942F582-187B-E2DF-8C89-5837C0735FB9}"/>
              </a:ext>
            </a:extLst>
          </p:cNvPr>
          <p:cNvSpPr>
            <a:spLocks noGrp="1"/>
          </p:cNvSpPr>
          <p:nvPr>
            <p:ph type="sldNum" sz="quarter" idx="12"/>
          </p:nvPr>
        </p:nvSpPr>
        <p:spPr/>
        <p:txBody>
          <a:bodyPr/>
          <a:lstStyle/>
          <a:p>
            <a:fld id="{31DE2C5B-556E-47B8-A792-024C2FCA4ACC}" type="slidenum">
              <a:rPr lang="en-GB" smtClean="0"/>
              <a:t>47</a:t>
            </a:fld>
            <a:endParaRPr lang="en-GB" dirty="0"/>
          </a:p>
        </p:txBody>
      </p:sp>
      <p:sp>
        <p:nvSpPr>
          <p:cNvPr id="6" name="TextBox 5">
            <a:extLst>
              <a:ext uri="{FF2B5EF4-FFF2-40B4-BE49-F238E27FC236}">
                <a16:creationId xmlns:a16="http://schemas.microsoft.com/office/drawing/2014/main" id="{1CA0C2E3-0C87-C767-9E82-38DE747A35AC}"/>
              </a:ext>
            </a:extLst>
          </p:cNvPr>
          <p:cNvSpPr txBox="1"/>
          <p:nvPr/>
        </p:nvSpPr>
        <p:spPr>
          <a:xfrm>
            <a:off x="7154869" y="1160666"/>
            <a:ext cx="6097348" cy="5370701"/>
          </a:xfrm>
          <a:prstGeom prst="rect">
            <a:avLst/>
          </a:prstGeom>
          <a:noFill/>
        </p:spPr>
        <p:txBody>
          <a:bodyPr wrap="square">
            <a:spAutoFit/>
          </a:bodyPr>
          <a:lstStyle/>
          <a:p>
            <a:r>
              <a:rPr lang="en-GB" sz="700" b="0" dirty="0">
                <a:effectLst/>
                <a:latin typeface="Menlo" panose="020B0609030804020204" pitchFamily="49" charset="0"/>
              </a:rPr>
              <a:t>[</a:t>
            </a:r>
          </a:p>
          <a:p>
            <a:r>
              <a:rPr lang="en-GB" sz="700" b="0" dirty="0">
                <a:effectLst/>
                <a:latin typeface="Menlo" panose="020B0609030804020204" pitchFamily="49" charset="0"/>
              </a:rPr>
              <a:t>    {</a:t>
            </a:r>
          </a:p>
          <a:p>
            <a:r>
              <a:rPr lang="en-GB" sz="700" b="0" dirty="0">
                <a:effectLst/>
                <a:latin typeface="Menlo" panose="020B0609030804020204" pitchFamily="49" charset="0"/>
              </a:rPr>
              <a:t>        "</a:t>
            </a:r>
            <a:r>
              <a:rPr lang="en-GB" sz="700" b="0" dirty="0" err="1">
                <a:effectLst/>
                <a:latin typeface="Menlo" panose="020B0609030804020204" pitchFamily="49" charset="0"/>
              </a:rPr>
              <a:t>activityName</a:t>
            </a:r>
            <a:r>
              <a:rPr lang="en-GB" sz="700" b="0" dirty="0">
                <a:effectLst/>
                <a:latin typeface="Menlo" panose="020B0609030804020204" pitchFamily="49" charset="0"/>
              </a:rPr>
              <a:t>": "Corsa",</a:t>
            </a:r>
          </a:p>
          <a:p>
            <a:r>
              <a:rPr lang="en-GB" sz="700" b="0" dirty="0">
                <a:effectLst/>
                <a:latin typeface="Menlo" panose="020B0609030804020204" pitchFamily="49" charset="0"/>
              </a:rPr>
              <a:t>        "</a:t>
            </a:r>
            <a:r>
              <a:rPr lang="en-GB" sz="700" b="0" dirty="0" err="1">
                <a:effectLst/>
                <a:latin typeface="Menlo" panose="020B0609030804020204" pitchFamily="49" charset="0"/>
              </a:rPr>
              <a:t>averageHeartRate</a:t>
            </a:r>
            <a:r>
              <a:rPr lang="en-GB" sz="700" b="0" dirty="0">
                <a:effectLst/>
                <a:latin typeface="Menlo" panose="020B0609030804020204" pitchFamily="49" charset="0"/>
              </a:rPr>
              <a:t>": 143,</a:t>
            </a:r>
          </a:p>
          <a:p>
            <a:r>
              <a:rPr lang="en-GB" sz="700" b="0" dirty="0">
                <a:effectLst/>
                <a:latin typeface="Menlo" panose="020B0609030804020204" pitchFamily="49" charset="0"/>
              </a:rPr>
              <a:t>        "calories": 727,</a:t>
            </a:r>
          </a:p>
          <a:p>
            <a:r>
              <a:rPr lang="en-GB" sz="700" b="0" dirty="0">
                <a:effectLst/>
                <a:latin typeface="Menlo" panose="020B0609030804020204" pitchFamily="49" charset="0"/>
              </a:rPr>
              <a:t>        "distance": 8.474117,</a:t>
            </a:r>
          </a:p>
          <a:p>
            <a:r>
              <a:rPr lang="en-GB" sz="700" b="0" dirty="0">
                <a:effectLst/>
                <a:latin typeface="Menlo" panose="020B0609030804020204" pitchFamily="49" charset="0"/>
              </a:rPr>
              <a:t>        "</a:t>
            </a:r>
            <a:r>
              <a:rPr lang="en-GB" sz="700" b="0" dirty="0" err="1">
                <a:effectLst/>
                <a:latin typeface="Menlo" panose="020B0609030804020204" pitchFamily="49" charset="0"/>
              </a:rPr>
              <a:t>distanceUnit</a:t>
            </a:r>
            <a:r>
              <a:rPr lang="en-GB" sz="700" b="0" dirty="0">
                <a:effectLst/>
                <a:latin typeface="Menlo" panose="020B0609030804020204" pitchFamily="49" charset="0"/>
              </a:rPr>
              <a:t>": "</a:t>
            </a:r>
            <a:r>
              <a:rPr lang="en-GB" sz="700" b="0" dirty="0" err="1">
                <a:effectLst/>
                <a:latin typeface="Menlo" panose="020B0609030804020204" pitchFamily="49" charset="0"/>
              </a:rPr>
              <a:t>Kilometer</a:t>
            </a:r>
            <a:r>
              <a:rPr lang="en-GB" sz="700" b="0" dirty="0">
                <a:effectLst/>
                <a:latin typeface="Menlo" panose="020B0609030804020204" pitchFamily="49" charset="0"/>
              </a:rPr>
              <a:t>",</a:t>
            </a:r>
          </a:p>
          <a:p>
            <a:r>
              <a:rPr lang="en-GB" sz="700" b="0" dirty="0">
                <a:effectLst/>
                <a:latin typeface="Menlo" panose="020B0609030804020204" pitchFamily="49" charset="0"/>
              </a:rPr>
              <a:t>        "duration": 3.548E+6,</a:t>
            </a:r>
          </a:p>
          <a:p>
            <a:r>
              <a:rPr lang="en-GB" sz="700" b="0" dirty="0">
                <a:effectLst/>
                <a:latin typeface="Menlo" panose="020B0609030804020204" pitchFamily="49" charset="0"/>
              </a:rPr>
              <a:t>        "</a:t>
            </a:r>
            <a:r>
              <a:rPr lang="en-GB" sz="700" b="0" dirty="0" err="1">
                <a:effectLst/>
                <a:latin typeface="Menlo" panose="020B0609030804020204" pitchFamily="49" charset="0"/>
              </a:rPr>
              <a:t>activeDuration</a:t>
            </a:r>
            <a:r>
              <a:rPr lang="en-GB" sz="700" b="0" dirty="0">
                <a:effectLst/>
                <a:latin typeface="Menlo" panose="020B0609030804020204" pitchFamily="49" charset="0"/>
              </a:rPr>
              <a:t>": 3.214E+6,</a:t>
            </a:r>
          </a:p>
          <a:p>
            <a:r>
              <a:rPr lang="en-GB" sz="700" b="0" dirty="0">
                <a:effectLst/>
                <a:latin typeface="Menlo" panose="020B0609030804020204" pitchFamily="49" charset="0"/>
              </a:rPr>
              <a:t>        "steps": 8604,</a:t>
            </a:r>
          </a:p>
          <a:p>
            <a:r>
              <a:rPr lang="en-GB" sz="700" b="0" dirty="0">
                <a:effectLst/>
                <a:latin typeface="Menlo" panose="020B0609030804020204" pitchFamily="49" charset="0"/>
              </a:rPr>
              <a:t>        "</a:t>
            </a:r>
            <a:r>
              <a:rPr lang="en-GB" sz="700" b="0" dirty="0" err="1">
                <a:effectLst/>
                <a:latin typeface="Menlo" panose="020B0609030804020204" pitchFamily="49" charset="0"/>
              </a:rPr>
              <a:t>logType</a:t>
            </a:r>
            <a:r>
              <a:rPr lang="en-GB" sz="700" b="0" dirty="0">
                <a:effectLst/>
                <a:latin typeface="Menlo" panose="020B0609030804020204" pitchFamily="49" charset="0"/>
              </a:rPr>
              <a:t>": "tracker",</a:t>
            </a:r>
          </a:p>
          <a:p>
            <a:r>
              <a:rPr lang="en-GB" sz="700" b="0" dirty="0">
                <a:effectLst/>
                <a:latin typeface="Menlo" panose="020B0609030804020204" pitchFamily="49" charset="0"/>
              </a:rPr>
              <a:t>        "</a:t>
            </a:r>
            <a:r>
              <a:rPr lang="en-GB" sz="700" b="0" dirty="0" err="1">
                <a:effectLst/>
                <a:latin typeface="Menlo" panose="020B0609030804020204" pitchFamily="49" charset="0"/>
              </a:rPr>
              <a:t>heartRateZones</a:t>
            </a:r>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Fuori</a:t>
            </a:r>
            <a:r>
              <a:rPr lang="en-GB" sz="700" b="0" dirty="0">
                <a:effectLst/>
                <a:latin typeface="Menlo" panose="020B0609030804020204" pitchFamily="49" charset="0"/>
              </a:rPr>
              <a:t> zona",</a:t>
            </a:r>
          </a:p>
          <a:p>
            <a:r>
              <a:rPr lang="en-GB" sz="700" b="0" dirty="0">
                <a:effectLst/>
                <a:latin typeface="Menlo" panose="020B0609030804020204" pitchFamily="49" charset="0"/>
              </a:rPr>
              <a:t>                "min": 30,</a:t>
            </a:r>
          </a:p>
          <a:p>
            <a:r>
              <a:rPr lang="en-GB" sz="700" b="0" dirty="0">
                <a:effectLst/>
                <a:latin typeface="Menlo" panose="020B0609030804020204" pitchFamily="49" charset="0"/>
              </a:rPr>
              <a:t>                "max": 110,</a:t>
            </a:r>
          </a:p>
          <a:p>
            <a:r>
              <a:rPr lang="en-GB" sz="700" b="0" dirty="0">
                <a:effectLst/>
                <a:latin typeface="Menlo" panose="020B0609030804020204" pitchFamily="49" charset="0"/>
              </a:rPr>
              <a:t>                "minutes": 3,</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30.146219999999971</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"Grassi </a:t>
            </a:r>
            <a:r>
              <a:rPr lang="en-GB" sz="700" b="0" dirty="0" err="1">
                <a:effectLst/>
                <a:latin typeface="Menlo" panose="020B0609030804020204" pitchFamily="49" charset="0"/>
              </a:rPr>
              <a:t>bruciati</a:t>
            </a:r>
            <a:r>
              <a:rPr lang="en-GB" sz="700" b="0" dirty="0">
                <a:effectLst/>
                <a:latin typeface="Menlo" panose="020B0609030804020204" pitchFamily="49" charset="0"/>
              </a:rPr>
              <a:t>",</a:t>
            </a:r>
          </a:p>
          <a:p>
            <a:r>
              <a:rPr lang="en-GB" sz="700" b="0" dirty="0">
                <a:effectLst/>
                <a:latin typeface="Menlo" panose="020B0609030804020204" pitchFamily="49" charset="0"/>
              </a:rPr>
              <a:t>                "min": 110,</a:t>
            </a:r>
          </a:p>
          <a:p>
            <a:r>
              <a:rPr lang="en-GB" sz="700" b="0" dirty="0">
                <a:effectLst/>
                <a:latin typeface="Menlo" panose="020B0609030804020204" pitchFamily="49" charset="0"/>
              </a:rPr>
              <a:t>                "max": 137,</a:t>
            </a:r>
          </a:p>
          <a:p>
            <a:r>
              <a:rPr lang="en-GB" sz="700" b="0" dirty="0">
                <a:effectLst/>
                <a:latin typeface="Menlo" panose="020B0609030804020204" pitchFamily="49" charset="0"/>
              </a:rPr>
              <a:t>                "minutes": 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97.13782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Attivita</a:t>
            </a:r>
            <a:r>
              <a:rPr lang="en-GB" sz="700" b="0" dirty="0">
                <a:effectLst/>
                <a:latin typeface="Menlo" panose="020B0609030804020204" pitchFamily="49" charset="0"/>
              </a:rPr>
              <a:t> </a:t>
            </a:r>
            <a:r>
              <a:rPr lang="en-GB" sz="700" b="0" dirty="0" err="1">
                <a:effectLst/>
                <a:latin typeface="Menlo" panose="020B0609030804020204" pitchFamily="49" charset="0"/>
              </a:rPr>
              <a:t>aerobica</a:t>
            </a:r>
            <a:r>
              <a:rPr lang="en-GB" sz="700" b="0" dirty="0">
                <a:effectLst/>
                <a:latin typeface="Menlo" panose="020B0609030804020204" pitchFamily="49" charset="0"/>
              </a:rPr>
              <a:t>",</a:t>
            </a:r>
          </a:p>
          <a:p>
            <a:r>
              <a:rPr lang="en-GB" sz="700" b="0" dirty="0">
                <a:effectLst/>
                <a:latin typeface="Menlo" panose="020B0609030804020204" pitchFamily="49" charset="0"/>
              </a:rPr>
              <a:t>                "min": 137,</a:t>
            </a:r>
          </a:p>
          <a:p>
            <a:r>
              <a:rPr lang="en-GB" sz="700" b="0" dirty="0">
                <a:effectLst/>
                <a:latin typeface="Menlo" panose="020B0609030804020204" pitchFamily="49" charset="0"/>
              </a:rPr>
              <a:t>                "max": 170,</a:t>
            </a:r>
          </a:p>
          <a:p>
            <a:r>
              <a:rPr lang="en-GB" sz="700" b="0" dirty="0">
                <a:effectLst/>
                <a:latin typeface="Menlo" panose="020B0609030804020204" pitchFamily="49" charset="0"/>
              </a:rPr>
              <a:t>                "minutes": 48,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659.73843</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Picco</a:t>
            </a:r>
            <a:r>
              <a:rPr lang="en-GB" sz="700" b="0" dirty="0">
                <a:effectLst/>
                <a:latin typeface="Menlo" panose="020B0609030804020204" pitchFamily="49" charset="0"/>
              </a:rPr>
              <a:t>",</a:t>
            </a:r>
          </a:p>
          <a:p>
            <a:r>
              <a:rPr lang="en-GB" sz="700" b="0" dirty="0">
                <a:effectLst/>
                <a:latin typeface="Menlo" panose="020B0609030804020204" pitchFamily="49" charset="0"/>
              </a:rPr>
              <a:t>                "min": 170,</a:t>
            </a:r>
          </a:p>
          <a:p>
            <a:r>
              <a:rPr lang="en-GB" sz="700" b="0" dirty="0">
                <a:effectLst/>
                <a:latin typeface="Menlo" panose="020B0609030804020204" pitchFamily="49" charset="0"/>
              </a:rPr>
              <a:t>                "max": 220,</a:t>
            </a:r>
          </a:p>
          <a:p>
            <a:r>
              <a:rPr lang="en-GB" sz="700" b="0" dirty="0">
                <a:effectLst/>
                <a:latin typeface="Menlo" panose="020B0609030804020204" pitchFamily="49" charset="0"/>
              </a:rPr>
              <a:t>                "minutes": 0,</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0</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"speed": 9.4981754822650917,</a:t>
            </a:r>
          </a:p>
          <a:p>
            <a:r>
              <a:rPr lang="en-GB" sz="700" b="0" dirty="0">
                <a:effectLst/>
                <a:latin typeface="Menlo" panose="020B0609030804020204" pitchFamily="49" charset="0"/>
              </a:rPr>
              <a:t>        "vo2Max": {</a:t>
            </a:r>
          </a:p>
          <a:p>
            <a:r>
              <a:rPr lang="en-GB" sz="700" b="0" dirty="0">
                <a:effectLst/>
                <a:latin typeface="Menlo" panose="020B0609030804020204" pitchFamily="49" charset="0"/>
              </a:rPr>
              <a:t>            "vo2Max": 48.77853</a:t>
            </a:r>
          </a:p>
          <a:p>
            <a:r>
              <a:rPr lang="en-GB" sz="700" b="0" dirty="0">
                <a:effectLst/>
                <a:latin typeface="Menlo" panose="020B0609030804020204" pitchFamily="49" charset="0"/>
              </a:rPr>
              <a:t>        },</a:t>
            </a:r>
          </a:p>
          <a:p>
            <a:r>
              <a:rPr lang="en-GB" sz="700" b="0" dirty="0">
                <a:effectLst/>
                <a:latin typeface="Menlo" panose="020B0609030804020204" pitchFamily="49" charset="0"/>
              </a:rPr>
              <a:t>        "</a:t>
            </a:r>
            <a:r>
              <a:rPr lang="en-GB" sz="700" b="0" dirty="0" err="1">
                <a:effectLst/>
                <a:latin typeface="Menlo" panose="020B0609030804020204" pitchFamily="49" charset="0"/>
              </a:rPr>
              <a:t>elevationGain</a:t>
            </a:r>
            <a:r>
              <a:rPr lang="en-GB" sz="700" b="0" dirty="0">
                <a:effectLst/>
                <a:latin typeface="Menlo" panose="020B0609030804020204" pitchFamily="49" charset="0"/>
              </a:rPr>
              <a:t>": 28.042,</a:t>
            </a:r>
          </a:p>
          <a:p>
            <a:r>
              <a:rPr lang="en-GB" sz="700" b="0" dirty="0">
                <a:effectLst/>
                <a:latin typeface="Menlo" panose="020B0609030804020204" pitchFamily="49" charset="0"/>
              </a:rPr>
              <a:t>        "time": "11:22:43"</a:t>
            </a:r>
          </a:p>
          <a:p>
            <a:r>
              <a:rPr lang="en-GB" sz="700" b="0" dirty="0">
                <a:effectLst/>
                <a:latin typeface="Menlo" panose="020B0609030804020204" pitchFamily="49" charset="0"/>
              </a:rPr>
              <a:t>    },</a:t>
            </a:r>
            <a:endParaRPr lang="en-GB" sz="700" dirty="0">
              <a:latin typeface="Menlo" panose="020B0609030804020204" pitchFamily="49" charset="0"/>
            </a:endParaRPr>
          </a:p>
          <a:p>
            <a:endParaRPr lang="en-GB" sz="700" b="0" dirty="0">
              <a:effectLst/>
              <a:latin typeface="Menlo" panose="020B0609030804020204" pitchFamily="49" charset="0"/>
            </a:endParaRPr>
          </a:p>
        </p:txBody>
      </p:sp>
      <p:sp>
        <p:nvSpPr>
          <p:cNvPr id="5" name="TextBox 4">
            <a:extLst>
              <a:ext uri="{FF2B5EF4-FFF2-40B4-BE49-F238E27FC236}">
                <a16:creationId xmlns:a16="http://schemas.microsoft.com/office/drawing/2014/main" id="{7E790A02-CB85-2544-9B72-CD047002E125}"/>
              </a:ext>
            </a:extLst>
          </p:cNvPr>
          <p:cNvSpPr txBox="1"/>
          <p:nvPr/>
        </p:nvSpPr>
        <p:spPr>
          <a:xfrm>
            <a:off x="9321510" y="1305759"/>
            <a:ext cx="6097348" cy="4832092"/>
          </a:xfrm>
          <a:prstGeom prst="rect">
            <a:avLst/>
          </a:prstGeom>
          <a:noFill/>
        </p:spPr>
        <p:txBody>
          <a:bodyPr wrap="square">
            <a:spAutoFit/>
          </a:bodyPr>
          <a:lstStyle/>
          <a:p>
            <a:r>
              <a:rPr lang="en-GB" sz="700" b="0" dirty="0">
                <a:effectLst/>
                <a:latin typeface="Menlo" panose="020B0609030804020204" pitchFamily="49" charset="0"/>
              </a:rPr>
              <a:t>{</a:t>
            </a:r>
          </a:p>
          <a:p>
            <a:r>
              <a:rPr lang="en-GB" sz="700" b="0" dirty="0">
                <a:effectLst/>
                <a:latin typeface="Menlo" panose="020B0609030804020204" pitchFamily="49" charset="0"/>
              </a:rPr>
              <a:t>        "</a:t>
            </a:r>
            <a:r>
              <a:rPr lang="en-GB" sz="700" b="0" dirty="0" err="1">
                <a:effectLst/>
                <a:latin typeface="Menlo" panose="020B0609030804020204" pitchFamily="49" charset="0"/>
              </a:rPr>
              <a:t>activityName</a:t>
            </a:r>
            <a:r>
              <a:rPr lang="en-GB" sz="700" b="0" dirty="0">
                <a:effectLst/>
                <a:latin typeface="Menlo" panose="020B0609030804020204" pitchFamily="49" charset="0"/>
              </a:rPr>
              <a:t>": "</a:t>
            </a:r>
            <a:r>
              <a:rPr lang="en-GB" sz="700" b="0" dirty="0" err="1">
                <a:effectLst/>
                <a:latin typeface="Menlo" panose="020B0609030804020204" pitchFamily="49" charset="0"/>
              </a:rPr>
              <a:t>Bici</a:t>
            </a:r>
            <a:r>
              <a:rPr lang="en-GB" sz="700" b="0" dirty="0">
                <a:effectLst/>
                <a:latin typeface="Menlo" panose="020B0609030804020204" pitchFamily="49" charset="0"/>
              </a:rPr>
              <a:t>",</a:t>
            </a:r>
          </a:p>
          <a:p>
            <a:r>
              <a:rPr lang="en-GB" sz="700" b="0" dirty="0">
                <a:effectLst/>
                <a:latin typeface="Menlo" panose="020B0609030804020204" pitchFamily="49" charset="0"/>
              </a:rPr>
              <a:t>        "</a:t>
            </a:r>
            <a:r>
              <a:rPr lang="en-GB" sz="700" b="0" dirty="0" err="1">
                <a:effectLst/>
                <a:latin typeface="Menlo" panose="020B0609030804020204" pitchFamily="49" charset="0"/>
              </a:rPr>
              <a:t>averageHeartRate</a:t>
            </a:r>
            <a:r>
              <a:rPr lang="en-GB" sz="700" b="0" dirty="0">
                <a:effectLst/>
                <a:latin typeface="Menlo" panose="020B0609030804020204" pitchFamily="49" charset="0"/>
              </a:rPr>
              <a:t>": 150,</a:t>
            </a:r>
          </a:p>
          <a:p>
            <a:r>
              <a:rPr lang="en-GB" sz="700" b="0" dirty="0">
                <a:effectLst/>
                <a:latin typeface="Menlo" panose="020B0609030804020204" pitchFamily="49" charset="0"/>
              </a:rPr>
              <a:t>        "calories": 3893,</a:t>
            </a:r>
          </a:p>
          <a:p>
            <a:r>
              <a:rPr lang="en-GB" sz="700" b="0" dirty="0">
                <a:effectLst/>
                <a:latin typeface="Menlo" panose="020B0609030804020204" pitchFamily="49" charset="0"/>
              </a:rPr>
              <a:t>        "distance": 140.143695,</a:t>
            </a:r>
          </a:p>
          <a:p>
            <a:r>
              <a:rPr lang="en-GB" sz="700" b="0" dirty="0">
                <a:effectLst/>
                <a:latin typeface="Menlo" panose="020B0609030804020204" pitchFamily="49" charset="0"/>
              </a:rPr>
              <a:t>        "</a:t>
            </a:r>
            <a:r>
              <a:rPr lang="en-GB" sz="700" b="0" dirty="0" err="1">
                <a:effectLst/>
                <a:latin typeface="Menlo" panose="020B0609030804020204" pitchFamily="49" charset="0"/>
              </a:rPr>
              <a:t>distanceUnit</a:t>
            </a:r>
            <a:r>
              <a:rPr lang="en-GB" sz="700" b="0" dirty="0">
                <a:effectLst/>
                <a:latin typeface="Menlo" panose="020B0609030804020204" pitchFamily="49" charset="0"/>
              </a:rPr>
              <a:t>": "</a:t>
            </a:r>
            <a:r>
              <a:rPr lang="en-GB" sz="700" b="0" dirty="0" err="1">
                <a:effectLst/>
                <a:latin typeface="Menlo" panose="020B0609030804020204" pitchFamily="49" charset="0"/>
              </a:rPr>
              <a:t>Kilometer</a:t>
            </a:r>
            <a:r>
              <a:rPr lang="en-GB" sz="700" b="0" dirty="0">
                <a:effectLst/>
                <a:latin typeface="Menlo" panose="020B0609030804020204" pitchFamily="49" charset="0"/>
              </a:rPr>
              <a:t>",</a:t>
            </a:r>
          </a:p>
          <a:p>
            <a:r>
              <a:rPr lang="en-GB" sz="700" b="0" dirty="0">
                <a:effectLst/>
                <a:latin typeface="Menlo" panose="020B0609030804020204" pitchFamily="49" charset="0"/>
              </a:rPr>
              <a:t>        "duration": 2.0901E+7,</a:t>
            </a:r>
          </a:p>
          <a:p>
            <a:r>
              <a:rPr lang="en-GB" sz="700" b="0" dirty="0">
                <a:effectLst/>
                <a:latin typeface="Menlo" panose="020B0609030804020204" pitchFamily="49" charset="0"/>
              </a:rPr>
              <a:t>        "</a:t>
            </a:r>
            <a:r>
              <a:rPr lang="en-GB" sz="700" b="0" dirty="0" err="1">
                <a:effectLst/>
                <a:latin typeface="Menlo" panose="020B0609030804020204" pitchFamily="49" charset="0"/>
              </a:rPr>
              <a:t>activeDuration</a:t>
            </a:r>
            <a:r>
              <a:rPr lang="en-GB" sz="700" b="0" dirty="0">
                <a:effectLst/>
                <a:latin typeface="Menlo" panose="020B0609030804020204" pitchFamily="49" charset="0"/>
              </a:rPr>
              <a:t>": 1.756E+7,</a:t>
            </a:r>
          </a:p>
          <a:p>
            <a:r>
              <a:rPr lang="en-GB" sz="700" b="0" dirty="0">
                <a:effectLst/>
                <a:latin typeface="Menlo" panose="020B0609030804020204" pitchFamily="49" charset="0"/>
              </a:rPr>
              <a:t>        "</a:t>
            </a:r>
            <a:r>
              <a:rPr lang="en-GB" sz="700" b="0" dirty="0" err="1">
                <a:effectLst/>
                <a:latin typeface="Menlo" panose="020B0609030804020204" pitchFamily="49" charset="0"/>
              </a:rPr>
              <a:t>logType</a:t>
            </a:r>
            <a:r>
              <a:rPr lang="en-GB" sz="700" b="0" dirty="0">
                <a:effectLst/>
                <a:latin typeface="Menlo" panose="020B0609030804020204" pitchFamily="49" charset="0"/>
              </a:rPr>
              <a:t>": "tracker",</a:t>
            </a:r>
          </a:p>
          <a:p>
            <a:r>
              <a:rPr lang="en-GB" sz="700" b="0" dirty="0">
                <a:effectLst/>
                <a:latin typeface="Menlo" panose="020B0609030804020204" pitchFamily="49" charset="0"/>
              </a:rPr>
              <a:t>        "</a:t>
            </a:r>
            <a:r>
              <a:rPr lang="en-GB" sz="700" b="0" dirty="0" err="1">
                <a:effectLst/>
                <a:latin typeface="Menlo" panose="020B0609030804020204" pitchFamily="49" charset="0"/>
              </a:rPr>
              <a:t>heartRateZones</a:t>
            </a:r>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Fuori</a:t>
            </a:r>
            <a:r>
              <a:rPr lang="en-GB" sz="700" b="0" dirty="0">
                <a:effectLst/>
                <a:latin typeface="Menlo" panose="020B0609030804020204" pitchFamily="49" charset="0"/>
              </a:rPr>
              <a:t> zona",</a:t>
            </a:r>
          </a:p>
          <a:p>
            <a:r>
              <a:rPr lang="en-GB" sz="700" b="0" dirty="0">
                <a:effectLst/>
                <a:latin typeface="Menlo" panose="020B0609030804020204" pitchFamily="49" charset="0"/>
              </a:rPr>
              <a:t>                "min": 30,</a:t>
            </a:r>
          </a:p>
          <a:p>
            <a:r>
              <a:rPr lang="en-GB" sz="700" b="0" dirty="0">
                <a:effectLst/>
                <a:latin typeface="Menlo" panose="020B0609030804020204" pitchFamily="49" charset="0"/>
              </a:rPr>
              <a:t>                "max": 110,</a:t>
            </a:r>
          </a:p>
          <a:p>
            <a:r>
              <a:rPr lang="en-GB" sz="700" b="0" dirty="0">
                <a:effectLst/>
                <a:latin typeface="Menlo" panose="020B0609030804020204" pitchFamily="49" charset="0"/>
              </a:rPr>
              <a:t>                "minutes": 28,</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214.83527999999842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"Grassi </a:t>
            </a:r>
            <a:r>
              <a:rPr lang="en-GB" sz="700" b="0" dirty="0" err="1">
                <a:effectLst/>
                <a:latin typeface="Menlo" panose="020B0609030804020204" pitchFamily="49" charset="0"/>
              </a:rPr>
              <a:t>bruciati</a:t>
            </a:r>
            <a:r>
              <a:rPr lang="en-GB" sz="700" b="0" dirty="0">
                <a:effectLst/>
                <a:latin typeface="Menlo" panose="020B0609030804020204" pitchFamily="49" charset="0"/>
              </a:rPr>
              <a:t>",</a:t>
            </a:r>
          </a:p>
          <a:p>
            <a:r>
              <a:rPr lang="en-GB" sz="700" b="0" dirty="0">
                <a:effectLst/>
                <a:latin typeface="Menlo" panose="020B0609030804020204" pitchFamily="49" charset="0"/>
              </a:rPr>
              <a:t>                "min": 110,</a:t>
            </a:r>
          </a:p>
          <a:p>
            <a:r>
              <a:rPr lang="en-GB" sz="700" b="0" dirty="0">
                <a:effectLst/>
                <a:latin typeface="Menlo" panose="020B0609030804020204" pitchFamily="49" charset="0"/>
              </a:rPr>
              <a:t>                "max": 136,</a:t>
            </a:r>
          </a:p>
          <a:p>
            <a:r>
              <a:rPr lang="en-GB" sz="700" b="0" dirty="0">
                <a:effectLst/>
                <a:latin typeface="Menlo" panose="020B0609030804020204" pitchFamily="49" charset="0"/>
              </a:rPr>
              <a:t>                "minutes": 64,</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664.55027999999993</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Attivita</a:t>
            </a:r>
            <a:r>
              <a:rPr lang="en-GB" sz="700" b="0" dirty="0">
                <a:effectLst/>
                <a:latin typeface="Menlo" panose="020B0609030804020204" pitchFamily="49" charset="0"/>
              </a:rPr>
              <a:t> </a:t>
            </a:r>
            <a:r>
              <a:rPr lang="en-GB" sz="700" b="0" dirty="0" err="1">
                <a:effectLst/>
                <a:latin typeface="Menlo" panose="020B0609030804020204" pitchFamily="49" charset="0"/>
              </a:rPr>
              <a:t>aerobica</a:t>
            </a:r>
            <a:r>
              <a:rPr lang="en-GB" sz="700" b="0" dirty="0">
                <a:effectLst/>
                <a:latin typeface="Menlo" panose="020B0609030804020204" pitchFamily="49" charset="0"/>
              </a:rPr>
              <a:t>",</a:t>
            </a:r>
          </a:p>
          <a:p>
            <a:r>
              <a:rPr lang="en-GB" sz="700" b="0" dirty="0">
                <a:effectLst/>
                <a:latin typeface="Menlo" panose="020B0609030804020204" pitchFamily="49" charset="0"/>
              </a:rPr>
              <a:t>                "min": 136,</a:t>
            </a:r>
          </a:p>
          <a:p>
            <a:r>
              <a:rPr lang="en-GB" sz="700" b="0" dirty="0">
                <a:effectLst/>
                <a:latin typeface="Menlo" panose="020B0609030804020204" pitchFamily="49" charset="0"/>
              </a:rPr>
              <a:t>                "max": 170,</a:t>
            </a:r>
          </a:p>
          <a:p>
            <a:r>
              <a:rPr lang="en-GB" sz="700" b="0" dirty="0">
                <a:effectLst/>
                <a:latin typeface="Menlo" panose="020B0609030804020204" pitchFamily="49" charset="0"/>
              </a:rPr>
              <a:t>                "minutes": 232,</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3167.1500100000012</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"name": "</a:t>
            </a:r>
            <a:r>
              <a:rPr lang="en-GB" sz="700" b="0" dirty="0" err="1">
                <a:effectLst/>
                <a:latin typeface="Menlo" panose="020B0609030804020204" pitchFamily="49" charset="0"/>
              </a:rPr>
              <a:t>Picco</a:t>
            </a:r>
            <a:r>
              <a:rPr lang="en-GB" sz="700" b="0" dirty="0">
                <a:effectLst/>
                <a:latin typeface="Menlo" panose="020B0609030804020204" pitchFamily="49" charset="0"/>
              </a:rPr>
              <a:t>",</a:t>
            </a:r>
          </a:p>
          <a:p>
            <a:r>
              <a:rPr lang="en-GB" sz="700" b="0" dirty="0">
                <a:effectLst/>
                <a:latin typeface="Menlo" panose="020B0609030804020204" pitchFamily="49" charset="0"/>
              </a:rPr>
              <a:t>                "min": 170,</a:t>
            </a:r>
          </a:p>
          <a:p>
            <a:r>
              <a:rPr lang="en-GB" sz="700" b="0" dirty="0">
                <a:effectLst/>
                <a:latin typeface="Menlo" panose="020B0609030804020204" pitchFamily="49" charset="0"/>
              </a:rPr>
              <a:t>                "max": 220,</a:t>
            </a:r>
          </a:p>
          <a:p>
            <a:r>
              <a:rPr lang="en-GB" sz="700" b="0" dirty="0">
                <a:effectLst/>
                <a:latin typeface="Menlo" panose="020B0609030804020204" pitchFamily="49" charset="0"/>
              </a:rPr>
              <a:t>                "minutes": 24,</a:t>
            </a:r>
          </a:p>
          <a:p>
            <a:r>
              <a:rPr lang="en-GB" sz="700" b="0" dirty="0">
                <a:effectLst/>
                <a:latin typeface="Menlo" panose="020B0609030804020204" pitchFamily="49" charset="0"/>
              </a:rPr>
              <a:t>                "</a:t>
            </a:r>
            <a:r>
              <a:rPr lang="en-GB" sz="700" b="0" dirty="0" err="1">
                <a:effectLst/>
                <a:latin typeface="Menlo" panose="020B0609030804020204" pitchFamily="49" charset="0"/>
              </a:rPr>
              <a:t>caloriesOut</a:t>
            </a:r>
            <a:r>
              <a:rPr lang="en-GB" sz="700" b="0" dirty="0">
                <a:effectLst/>
                <a:latin typeface="Menlo" panose="020B0609030804020204" pitchFamily="49" charset="0"/>
              </a:rPr>
              <a:t>": 377.76059999999995</a:t>
            </a:r>
          </a:p>
          <a:p>
            <a:r>
              <a:rPr lang="en-GB" sz="700" b="0" dirty="0">
                <a:effectLst/>
                <a:latin typeface="Menlo" panose="020B0609030804020204" pitchFamily="49" charset="0"/>
              </a:rPr>
              <a:t>            }</a:t>
            </a:r>
          </a:p>
          <a:p>
            <a:r>
              <a:rPr lang="en-GB" sz="700" b="0" dirty="0">
                <a:effectLst/>
                <a:latin typeface="Menlo" panose="020B0609030804020204" pitchFamily="49" charset="0"/>
              </a:rPr>
              <a:t>        ],</a:t>
            </a:r>
          </a:p>
          <a:p>
            <a:r>
              <a:rPr lang="en-GB" sz="700" b="0" dirty="0">
                <a:effectLst/>
                <a:latin typeface="Menlo" panose="020B0609030804020204" pitchFamily="49" charset="0"/>
              </a:rPr>
              <a:t>        "speed": 28.734978587699313,</a:t>
            </a:r>
          </a:p>
          <a:p>
            <a:r>
              <a:rPr lang="en-GB" sz="700" b="0" dirty="0">
                <a:effectLst/>
                <a:latin typeface="Menlo" panose="020B0609030804020204" pitchFamily="49" charset="0"/>
              </a:rPr>
              <a:t>        "</a:t>
            </a:r>
            <a:r>
              <a:rPr lang="en-GB" sz="700" b="0" dirty="0" err="1">
                <a:effectLst/>
                <a:latin typeface="Menlo" panose="020B0609030804020204" pitchFamily="49" charset="0"/>
              </a:rPr>
              <a:t>elevationGain</a:t>
            </a:r>
            <a:r>
              <a:rPr lang="en-GB" sz="700" b="0" dirty="0">
                <a:effectLst/>
                <a:latin typeface="Menlo" panose="020B0609030804020204" pitchFamily="49" charset="0"/>
              </a:rPr>
              <a:t>": 663.55,</a:t>
            </a:r>
          </a:p>
          <a:p>
            <a:r>
              <a:rPr lang="en-GB" sz="700" b="0" dirty="0">
                <a:effectLst/>
                <a:latin typeface="Menlo" panose="020B0609030804020204" pitchFamily="49" charset="0"/>
              </a:rPr>
              <a:t>        "time": "11:03:54"</a:t>
            </a:r>
          </a:p>
          <a:p>
            <a:r>
              <a:rPr lang="en-GB" sz="700" b="0" dirty="0">
                <a:effectLst/>
                <a:latin typeface="Menlo" panose="020B0609030804020204" pitchFamily="49" charset="0"/>
              </a:rPr>
              <a:t>    },</a:t>
            </a:r>
            <a:r>
              <a:rPr lang="en-GB" sz="700" dirty="0">
                <a:latin typeface="Menlo" panose="020B0609030804020204" pitchFamily="49" charset="0"/>
              </a:rPr>
              <a:t>...</a:t>
            </a:r>
          </a:p>
          <a:p>
            <a:r>
              <a:rPr lang="en-GB" sz="700" b="0" dirty="0">
                <a:effectLst/>
                <a:latin typeface="Menlo" panose="020B0609030804020204" pitchFamily="49" charset="0"/>
              </a:rPr>
              <a:t>]</a:t>
            </a:r>
          </a:p>
        </p:txBody>
      </p:sp>
    </p:spTree>
    <p:extLst>
      <p:ext uri="{BB962C8B-B14F-4D97-AF65-F5344CB8AC3E}">
        <p14:creationId xmlns:p14="http://schemas.microsoft.com/office/powerpoint/2010/main" val="1526260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0462-43F0-5E62-AA7A-94B546D43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AAE91-A4B0-2BEE-5104-CE4FB9F0D69D}"/>
              </a:ext>
            </a:extLst>
          </p:cNvPr>
          <p:cNvSpPr>
            <a:spLocks noGrp="1"/>
          </p:cNvSpPr>
          <p:nvPr>
            <p:ph type="title"/>
          </p:nvPr>
        </p:nvSpPr>
        <p:spPr/>
        <p:txBody>
          <a:bodyPr>
            <a:normAutofit/>
          </a:bodyPr>
          <a:lstStyle/>
          <a:p>
            <a:r>
              <a:rPr lang="en-IT"/>
              <a:t>Sleep</a:t>
            </a:r>
            <a:endParaRPr lang="en-IT" dirty="0"/>
          </a:p>
        </p:txBody>
      </p:sp>
      <p:sp>
        <p:nvSpPr>
          <p:cNvPr id="3" name="Content Placeholder 2">
            <a:extLst>
              <a:ext uri="{FF2B5EF4-FFF2-40B4-BE49-F238E27FC236}">
                <a16:creationId xmlns:a16="http://schemas.microsoft.com/office/drawing/2014/main" id="{BF71A747-510E-5181-4360-E5E8001AA001}"/>
              </a:ext>
            </a:extLst>
          </p:cNvPr>
          <p:cNvSpPr>
            <a:spLocks noGrp="1"/>
          </p:cNvSpPr>
          <p:nvPr>
            <p:ph idx="1"/>
          </p:nvPr>
        </p:nvSpPr>
        <p:spPr>
          <a:xfrm>
            <a:off x="428172" y="1361167"/>
            <a:ext cx="11368314" cy="5334907"/>
          </a:xfrm>
        </p:spPr>
        <p:txBody>
          <a:bodyPr>
            <a:normAutofit lnSpcReduction="10000"/>
          </a:bodyPr>
          <a:lstStyle/>
          <a:p>
            <a:r>
              <a:rPr lang="en-IT" sz="2000" dirty="0"/>
              <a:t>Sleep: a list with 1 entry for each sleep session</a:t>
            </a:r>
            <a:br>
              <a:rPr lang="en-IT" sz="2000" dirty="0"/>
            </a:br>
            <a:endParaRPr lang="en-IT" sz="2000" dirty="0"/>
          </a:p>
          <a:p>
            <a:r>
              <a:rPr lang="en-IT" sz="2000" dirty="0"/>
              <a:t>Fields meaning:</a:t>
            </a:r>
          </a:p>
          <a:p>
            <a:pPr lvl="1"/>
            <a:r>
              <a:rPr lang="en-IT" sz="1600" dirty="0"/>
              <a:t>dateOfSleep: day associated to the sleep entry (MM-DD format)</a:t>
            </a:r>
          </a:p>
          <a:p>
            <a:pPr lvl="1"/>
            <a:r>
              <a:rPr lang="en-IT" sz="1600" dirty="0"/>
              <a:t>startTime: the starting timestamp of the sleep (MM-DD hh:mm:ss format)</a:t>
            </a:r>
          </a:p>
          <a:p>
            <a:pPr lvl="1"/>
            <a:r>
              <a:rPr lang="en-IT" sz="1600" dirty="0"/>
              <a:t>endTime: the ending timestamp of the sleep (MM-DD hh:mm:ss format)</a:t>
            </a:r>
          </a:p>
          <a:p>
            <a:pPr lvl="1"/>
            <a:r>
              <a:rPr lang="en-IT" sz="1600" dirty="0"/>
              <a:t>duration: the duration of the sleep session (in ms)</a:t>
            </a:r>
          </a:p>
          <a:p>
            <a:pPr lvl="1"/>
            <a:r>
              <a:rPr lang="en-IT" sz="1600" dirty="0"/>
              <a:t>minutesToFallAsleep: the number of minutes spent to fall asleep</a:t>
            </a:r>
          </a:p>
          <a:p>
            <a:pPr lvl="1"/>
            <a:r>
              <a:rPr lang="en-IT" sz="1600" dirty="0"/>
              <a:t>minutesAsleep: the number of minutes asleep during the sleep entry</a:t>
            </a:r>
          </a:p>
          <a:p>
            <a:pPr lvl="1"/>
            <a:r>
              <a:rPr lang="en-IT" sz="1600" dirty="0"/>
              <a:t>minutesAwake: the number of minutes awake during the sleep entry</a:t>
            </a:r>
          </a:p>
          <a:p>
            <a:pPr lvl="1"/>
            <a:r>
              <a:rPr lang="en-IT" sz="1600" dirty="0"/>
              <a:t>minutesAfterWakeup: the number of minutes the user spent in bed after waking up</a:t>
            </a:r>
          </a:p>
          <a:p>
            <a:pPr lvl="1"/>
            <a:r>
              <a:rPr lang="en-IT" sz="1600" dirty="0"/>
              <a:t>efficiency: the estimated sleep efficiency (from 0 to 100) </a:t>
            </a:r>
          </a:p>
          <a:p>
            <a:pPr lvl="1"/>
            <a:r>
              <a:rPr lang="en-IT" sz="1600" dirty="0"/>
              <a:t>logType: how the entry was logged (always “auto_detected”)</a:t>
            </a:r>
          </a:p>
          <a:p>
            <a:pPr lvl="1"/>
            <a:r>
              <a:rPr lang="en-IT" sz="1600" dirty="0"/>
              <a:t>mainSleep: a boolean indicating if the entry corresponds to the main sleep session</a:t>
            </a:r>
          </a:p>
          <a:p>
            <a:pPr lvl="1"/>
            <a:r>
              <a:rPr lang="en-IT" sz="1600" dirty="0"/>
              <a:t>levels: a summary of the sleeping stages (deep/wake/light/rem/restless) during the sleep session</a:t>
            </a:r>
          </a:p>
          <a:p>
            <a:pPr lvl="1"/>
            <a:r>
              <a:rPr lang="en-IT" sz="1600" dirty="0"/>
              <a:t>data: the stage profile of the sleep session. Each entry contains the starting timestamp, the level,</a:t>
            </a:r>
            <a:br>
              <a:rPr lang="en-IT" sz="1600" dirty="0"/>
            </a:br>
            <a:r>
              <a:rPr lang="en-IT" sz="1600" dirty="0"/>
              <a:t>and how much it lasted. </a:t>
            </a:r>
          </a:p>
          <a:p>
            <a:pPr lvl="1"/>
            <a:endParaRPr lang="en-IT" sz="1600" dirty="0"/>
          </a:p>
          <a:p>
            <a:r>
              <a:rPr lang="en-IT" sz="2000" b="1" dirty="0"/>
              <a:t>Note</a:t>
            </a:r>
            <a:r>
              <a:rPr lang="en-IT" sz="2000" dirty="0"/>
              <a:t>: there can be days without data </a:t>
            </a:r>
          </a:p>
        </p:txBody>
      </p:sp>
      <p:sp>
        <p:nvSpPr>
          <p:cNvPr id="4" name="Slide Number Placeholder 3">
            <a:extLst>
              <a:ext uri="{FF2B5EF4-FFF2-40B4-BE49-F238E27FC236}">
                <a16:creationId xmlns:a16="http://schemas.microsoft.com/office/drawing/2014/main" id="{16C860CF-890E-7C37-3BCC-A33E4DAC14E0}"/>
              </a:ext>
            </a:extLst>
          </p:cNvPr>
          <p:cNvSpPr>
            <a:spLocks noGrp="1"/>
          </p:cNvSpPr>
          <p:nvPr>
            <p:ph type="sldNum" sz="quarter" idx="12"/>
          </p:nvPr>
        </p:nvSpPr>
        <p:spPr/>
        <p:txBody>
          <a:bodyPr/>
          <a:lstStyle/>
          <a:p>
            <a:fld id="{31DE2C5B-556E-47B8-A792-024C2FCA4ACC}" type="slidenum">
              <a:rPr lang="en-GB" smtClean="0"/>
              <a:t>48</a:t>
            </a:fld>
            <a:endParaRPr lang="en-GB" dirty="0"/>
          </a:p>
        </p:txBody>
      </p:sp>
      <p:sp>
        <p:nvSpPr>
          <p:cNvPr id="6" name="TextBox 5">
            <a:extLst>
              <a:ext uri="{FF2B5EF4-FFF2-40B4-BE49-F238E27FC236}">
                <a16:creationId xmlns:a16="http://schemas.microsoft.com/office/drawing/2014/main" id="{CF92C6C7-BED7-2FDA-DB28-96FB48248580}"/>
              </a:ext>
            </a:extLst>
          </p:cNvPr>
          <p:cNvSpPr txBox="1"/>
          <p:nvPr/>
        </p:nvSpPr>
        <p:spPr>
          <a:xfrm>
            <a:off x="9022651" y="1361167"/>
            <a:ext cx="6097348" cy="5355312"/>
          </a:xfrm>
          <a:prstGeom prst="rect">
            <a:avLst/>
          </a:prstGeom>
          <a:noFill/>
        </p:spPr>
        <p:txBody>
          <a:bodyPr wrap="square">
            <a:spAutoFit/>
          </a:bodyPr>
          <a:lstStyle/>
          <a:p>
            <a:r>
              <a:rPr lang="en-GB" sz="600" b="0" dirty="0">
                <a:effectLst/>
                <a:latin typeface="Menlo" panose="020B0609030804020204" pitchFamily="49" charset="0"/>
              </a:rPr>
              <a:t>[</a:t>
            </a:r>
          </a:p>
          <a:p>
            <a:r>
              <a:rPr lang="en-GB" sz="600" b="0" dirty="0">
                <a:effectLst/>
                <a:latin typeface="Menlo" panose="020B0609030804020204" pitchFamily="49" charset="0"/>
              </a:rPr>
              <a:t>{</a:t>
            </a:r>
          </a:p>
          <a:p>
            <a:r>
              <a:rPr lang="en-GB" sz="600" b="0" dirty="0">
                <a:effectLst/>
                <a:latin typeface="Menlo" panose="020B0609030804020204" pitchFamily="49" charset="0"/>
              </a:rPr>
              <a:t>    "</a:t>
            </a:r>
            <a:r>
              <a:rPr lang="en-GB" sz="600" b="0" dirty="0" err="1">
                <a:effectLst/>
                <a:latin typeface="Menlo" panose="020B0609030804020204" pitchFamily="49" charset="0"/>
              </a:rPr>
              <a:t>dateOfSleep</a:t>
            </a:r>
            <a:r>
              <a:rPr lang="en-GB" sz="600" b="0" dirty="0">
                <a:effectLst/>
                <a:latin typeface="Menlo" panose="020B0609030804020204" pitchFamily="49" charset="0"/>
              </a:rPr>
              <a:t>": "02-14",</a:t>
            </a:r>
          </a:p>
          <a:p>
            <a:r>
              <a:rPr lang="en-GB" sz="600" b="0" dirty="0">
                <a:effectLst/>
                <a:latin typeface="Menlo" panose="020B0609030804020204" pitchFamily="49" charset="0"/>
              </a:rPr>
              <a:t>    "</a:t>
            </a:r>
            <a:r>
              <a:rPr lang="en-GB" sz="600" b="0" dirty="0" err="1">
                <a:effectLst/>
                <a:latin typeface="Menlo" panose="020B0609030804020204" pitchFamily="49" charset="0"/>
              </a:rPr>
              <a:t>startTime</a:t>
            </a:r>
            <a:r>
              <a:rPr lang="en-GB" sz="600" b="0" dirty="0">
                <a:effectLst/>
                <a:latin typeface="Menlo" panose="020B0609030804020204" pitchFamily="49" charset="0"/>
              </a:rPr>
              <a:t>": "02-13 22:44:00",</a:t>
            </a:r>
          </a:p>
          <a:p>
            <a:r>
              <a:rPr lang="en-GB" sz="600" b="0" dirty="0">
                <a:effectLst/>
                <a:latin typeface="Menlo" panose="020B0609030804020204" pitchFamily="49" charset="0"/>
              </a:rPr>
              <a:t>    "</a:t>
            </a:r>
            <a:r>
              <a:rPr lang="en-GB" sz="600" b="0" dirty="0" err="1">
                <a:effectLst/>
                <a:latin typeface="Menlo" panose="020B0609030804020204" pitchFamily="49" charset="0"/>
              </a:rPr>
              <a:t>endTime</a:t>
            </a:r>
            <a:r>
              <a:rPr lang="en-GB" sz="600" b="0" dirty="0">
                <a:effectLst/>
                <a:latin typeface="Menlo" panose="020B0609030804020204" pitchFamily="49" charset="0"/>
              </a:rPr>
              <a:t>": "02-14 06:36:30",</a:t>
            </a:r>
          </a:p>
          <a:p>
            <a:r>
              <a:rPr lang="en-GB" sz="600" b="0" dirty="0">
                <a:effectLst/>
                <a:latin typeface="Menlo" panose="020B0609030804020204" pitchFamily="49" charset="0"/>
              </a:rPr>
              <a:t>    "duration": 2.832E+7,</a:t>
            </a:r>
          </a:p>
          <a:p>
            <a:r>
              <a:rPr lang="en-GB" sz="600" b="0" dirty="0">
                <a:effectLst/>
                <a:latin typeface="Menlo" panose="020B0609030804020204" pitchFamily="49" charset="0"/>
              </a:rPr>
              <a:t>    "</a:t>
            </a:r>
            <a:r>
              <a:rPr lang="en-GB" sz="600" b="0" dirty="0" err="1">
                <a:effectLst/>
                <a:latin typeface="Menlo" panose="020B0609030804020204" pitchFamily="49" charset="0"/>
              </a:rPr>
              <a:t>minutesToFallAsleep</a:t>
            </a:r>
            <a:r>
              <a:rPr lang="en-GB" sz="600" b="0" dirty="0">
                <a:effectLst/>
                <a:latin typeface="Menlo" panose="020B0609030804020204" pitchFamily="49" charset="0"/>
              </a:rPr>
              <a:t>": 0,</a:t>
            </a:r>
          </a:p>
          <a:p>
            <a:r>
              <a:rPr lang="en-GB" sz="600" b="0" dirty="0">
                <a:effectLst/>
                <a:latin typeface="Menlo" panose="020B0609030804020204" pitchFamily="49" charset="0"/>
              </a:rPr>
              <a:t>    "</a:t>
            </a:r>
            <a:r>
              <a:rPr lang="en-GB" sz="600" b="0" dirty="0" err="1">
                <a:effectLst/>
                <a:latin typeface="Menlo" panose="020B0609030804020204" pitchFamily="49" charset="0"/>
              </a:rPr>
              <a:t>minutesAsleep</a:t>
            </a:r>
            <a:r>
              <a:rPr lang="en-GB" sz="600" b="0" dirty="0">
                <a:effectLst/>
                <a:latin typeface="Menlo" panose="020B0609030804020204" pitchFamily="49" charset="0"/>
              </a:rPr>
              <a:t>": 429,</a:t>
            </a:r>
          </a:p>
          <a:p>
            <a:r>
              <a:rPr lang="en-GB" sz="600" b="0" dirty="0">
                <a:effectLst/>
                <a:latin typeface="Menlo" panose="020B0609030804020204" pitchFamily="49" charset="0"/>
              </a:rPr>
              <a:t>    "</a:t>
            </a:r>
            <a:r>
              <a:rPr lang="en-GB" sz="600" b="0" dirty="0" err="1">
                <a:effectLst/>
                <a:latin typeface="Menlo" panose="020B0609030804020204" pitchFamily="49" charset="0"/>
              </a:rPr>
              <a:t>minutesAwake</a:t>
            </a:r>
            <a:r>
              <a:rPr lang="en-GB" sz="600" b="0" dirty="0">
                <a:effectLst/>
                <a:latin typeface="Menlo" panose="020B0609030804020204" pitchFamily="49" charset="0"/>
              </a:rPr>
              <a:t>": 43,</a:t>
            </a:r>
          </a:p>
          <a:p>
            <a:r>
              <a:rPr lang="en-GB" sz="600" b="0" dirty="0">
                <a:effectLst/>
                <a:latin typeface="Menlo" panose="020B0609030804020204" pitchFamily="49" charset="0"/>
              </a:rPr>
              <a:t>    "</a:t>
            </a:r>
            <a:r>
              <a:rPr lang="en-GB" sz="600" b="0" dirty="0" err="1">
                <a:effectLst/>
                <a:latin typeface="Menlo" panose="020B0609030804020204" pitchFamily="49" charset="0"/>
              </a:rPr>
              <a:t>minutesAfterWakeup</a:t>
            </a:r>
            <a:r>
              <a:rPr lang="en-GB" sz="600" b="0" dirty="0">
                <a:effectLst/>
                <a:latin typeface="Menlo" panose="020B0609030804020204" pitchFamily="49" charset="0"/>
              </a:rPr>
              <a:t>": 3,</a:t>
            </a:r>
          </a:p>
          <a:p>
            <a:r>
              <a:rPr lang="en-GB" sz="600" b="0" dirty="0">
                <a:effectLst/>
                <a:latin typeface="Menlo" panose="020B0609030804020204" pitchFamily="49" charset="0"/>
              </a:rPr>
              <a:t>    "</a:t>
            </a:r>
            <a:r>
              <a:rPr lang="en-GB" sz="600" b="0" dirty="0" err="1">
                <a:effectLst/>
                <a:latin typeface="Menlo" panose="020B0609030804020204" pitchFamily="49" charset="0"/>
              </a:rPr>
              <a:t>timeInBed</a:t>
            </a:r>
            <a:r>
              <a:rPr lang="en-GB" sz="600" b="0" dirty="0">
                <a:effectLst/>
                <a:latin typeface="Menlo" panose="020B0609030804020204" pitchFamily="49" charset="0"/>
              </a:rPr>
              <a:t>": 472,</a:t>
            </a:r>
          </a:p>
          <a:p>
            <a:r>
              <a:rPr lang="en-GB" sz="600" b="0" dirty="0">
                <a:effectLst/>
                <a:latin typeface="Menlo" panose="020B0609030804020204" pitchFamily="49" charset="0"/>
              </a:rPr>
              <a:t>    "efficiency": 96,</a:t>
            </a:r>
          </a:p>
          <a:p>
            <a:r>
              <a:rPr lang="en-GB" sz="600" b="0" dirty="0">
                <a:effectLst/>
                <a:latin typeface="Menlo" panose="020B0609030804020204" pitchFamily="49" charset="0"/>
              </a:rPr>
              <a:t>    "</a:t>
            </a:r>
            <a:r>
              <a:rPr lang="en-GB" sz="600" b="0" dirty="0" err="1">
                <a:effectLst/>
                <a:latin typeface="Menlo" panose="020B0609030804020204" pitchFamily="49" charset="0"/>
              </a:rPr>
              <a:t>logType</a:t>
            </a:r>
            <a:r>
              <a:rPr lang="en-GB" sz="600" b="0" dirty="0">
                <a:effectLst/>
                <a:latin typeface="Menlo" panose="020B0609030804020204" pitchFamily="49" charset="0"/>
              </a:rPr>
              <a:t>": "</a:t>
            </a:r>
            <a:r>
              <a:rPr lang="en-GB" sz="600" b="0" dirty="0" err="1">
                <a:effectLst/>
                <a:latin typeface="Menlo" panose="020B0609030804020204" pitchFamily="49" charset="0"/>
              </a:rPr>
              <a:t>auto_detected</a:t>
            </a:r>
            <a:r>
              <a:rPr lang="en-GB" sz="600" b="0" dirty="0">
                <a:effectLst/>
                <a:latin typeface="Menlo" panose="020B0609030804020204" pitchFamily="49" charset="0"/>
              </a:rPr>
              <a:t>",</a:t>
            </a:r>
            <a:br>
              <a:rPr lang="en-GB" sz="600" b="0" dirty="0">
                <a:effectLst/>
                <a:latin typeface="Menlo" panose="020B0609030804020204" pitchFamily="49" charset="0"/>
              </a:rPr>
            </a:br>
            <a:r>
              <a:rPr lang="en-GB" sz="600" b="0" dirty="0">
                <a:effectLst/>
                <a:latin typeface="Menlo" panose="020B0609030804020204" pitchFamily="49" charset="0"/>
              </a:rPr>
              <a:t>    ”</a:t>
            </a:r>
            <a:r>
              <a:rPr lang="en-GB" sz="600" b="0" dirty="0" err="1">
                <a:effectLst/>
                <a:latin typeface="Menlo" panose="020B0609030804020204" pitchFamily="49" charset="0"/>
              </a:rPr>
              <a:t>mainSleep</a:t>
            </a:r>
            <a:r>
              <a:rPr lang="en-GB" sz="600" b="0" dirty="0">
                <a:effectLst/>
                <a:latin typeface="Menlo" panose="020B0609030804020204" pitchFamily="49" charset="0"/>
              </a:rPr>
              <a:t>": true,</a:t>
            </a:r>
          </a:p>
          <a:p>
            <a:r>
              <a:rPr lang="en-GB" sz="600" b="0" dirty="0">
                <a:effectLst/>
                <a:latin typeface="Menlo" panose="020B0609030804020204" pitchFamily="49" charset="0"/>
              </a:rPr>
              <a:t>    "levels": {</a:t>
            </a:r>
          </a:p>
          <a:p>
            <a:r>
              <a:rPr lang="en-GB" sz="600" b="0" dirty="0">
                <a:effectLst/>
                <a:latin typeface="Menlo" panose="020B0609030804020204" pitchFamily="49" charset="0"/>
              </a:rPr>
              <a:t>        "summary": {</a:t>
            </a:r>
          </a:p>
          <a:p>
            <a:r>
              <a:rPr lang="en-GB" sz="600" b="0" dirty="0">
                <a:effectLst/>
                <a:latin typeface="Menlo" panose="020B0609030804020204" pitchFamily="49" charset="0"/>
              </a:rPr>
              <a:t>            "deep": {</a:t>
            </a:r>
          </a:p>
          <a:p>
            <a:r>
              <a:rPr lang="en-GB" sz="600" b="0" dirty="0">
                <a:effectLst/>
                <a:latin typeface="Menlo" panose="020B0609030804020204" pitchFamily="49" charset="0"/>
              </a:rPr>
              <a:t>                "count": 5,</a:t>
            </a:r>
          </a:p>
          <a:p>
            <a:r>
              <a:rPr lang="en-GB" sz="600" b="0" dirty="0">
                <a:effectLst/>
                <a:latin typeface="Menlo" panose="020B0609030804020204" pitchFamily="49" charset="0"/>
              </a:rPr>
              <a:t>                "minutes": 106,</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86</a:t>
            </a:r>
          </a:p>
          <a:p>
            <a:r>
              <a:rPr lang="en-GB" sz="600" b="0" dirty="0">
                <a:effectLst/>
                <a:latin typeface="Menlo" panose="020B0609030804020204" pitchFamily="49" charset="0"/>
              </a:rPr>
              <a:t>            },</a:t>
            </a:r>
          </a:p>
          <a:p>
            <a:r>
              <a:rPr lang="en-GB" sz="600" b="0" dirty="0">
                <a:effectLst/>
                <a:latin typeface="Menlo" panose="020B0609030804020204" pitchFamily="49" charset="0"/>
              </a:rPr>
              <a:t>            "wake": {</a:t>
            </a:r>
          </a:p>
          <a:p>
            <a:r>
              <a:rPr lang="en-GB" sz="600" b="0" dirty="0">
                <a:effectLst/>
                <a:latin typeface="Menlo" panose="020B0609030804020204" pitchFamily="49" charset="0"/>
              </a:rPr>
              <a:t>                "count": 34,</a:t>
            </a:r>
          </a:p>
          <a:p>
            <a:r>
              <a:rPr lang="en-GB" sz="600" b="0" dirty="0">
                <a:effectLst/>
                <a:latin typeface="Menlo" panose="020B0609030804020204" pitchFamily="49" charset="0"/>
              </a:rPr>
              <a:t>                "minutes": 43,</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46</a:t>
            </a:r>
          </a:p>
          <a:p>
            <a:r>
              <a:rPr lang="en-GB" sz="600" b="0" dirty="0">
                <a:effectLst/>
                <a:latin typeface="Menlo" panose="020B0609030804020204" pitchFamily="49" charset="0"/>
              </a:rPr>
              <a:t>            },</a:t>
            </a:r>
          </a:p>
          <a:p>
            <a:r>
              <a:rPr lang="en-GB" sz="600" b="0" dirty="0">
                <a:effectLst/>
                <a:latin typeface="Menlo" panose="020B0609030804020204" pitchFamily="49" charset="0"/>
              </a:rPr>
              <a:t>            "light": {</a:t>
            </a:r>
          </a:p>
          <a:p>
            <a:r>
              <a:rPr lang="en-GB" sz="600" b="0" dirty="0">
                <a:effectLst/>
                <a:latin typeface="Menlo" panose="020B0609030804020204" pitchFamily="49" charset="0"/>
              </a:rPr>
              <a:t>                "count": 28,</a:t>
            </a:r>
          </a:p>
          <a:p>
            <a:r>
              <a:rPr lang="en-GB" sz="600" b="0" dirty="0">
                <a:effectLst/>
                <a:latin typeface="Menlo" panose="020B0609030804020204" pitchFamily="49" charset="0"/>
              </a:rPr>
              <a:t>                "minutes": 235,</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281</a:t>
            </a:r>
          </a:p>
          <a:p>
            <a:r>
              <a:rPr lang="en-GB" sz="600" b="0" dirty="0">
                <a:effectLst/>
                <a:latin typeface="Menlo" panose="020B0609030804020204" pitchFamily="49" charset="0"/>
              </a:rPr>
              <a:t>            },</a:t>
            </a:r>
          </a:p>
          <a:p>
            <a:r>
              <a:rPr lang="en-GB" sz="600" b="0" dirty="0">
                <a:effectLst/>
                <a:latin typeface="Menlo" panose="020B0609030804020204" pitchFamily="49" charset="0"/>
              </a:rPr>
              <a:t>            "rem": {</a:t>
            </a:r>
          </a:p>
          <a:p>
            <a:r>
              <a:rPr lang="en-GB" sz="600" b="0" dirty="0">
                <a:effectLst/>
                <a:latin typeface="Menlo" panose="020B0609030804020204" pitchFamily="49" charset="0"/>
              </a:rPr>
              <a:t>                "count": 11,</a:t>
            </a:r>
          </a:p>
          <a:p>
            <a:r>
              <a:rPr lang="en-GB" sz="600" b="0" dirty="0">
                <a:effectLst/>
                <a:latin typeface="Menlo" panose="020B0609030804020204" pitchFamily="49" charset="0"/>
              </a:rPr>
              <a:t>                "minutes": 88,</a:t>
            </a:r>
          </a:p>
          <a:p>
            <a:r>
              <a:rPr lang="en-GB" sz="600" b="0" dirty="0">
                <a:effectLst/>
                <a:latin typeface="Menlo" panose="020B0609030804020204" pitchFamily="49" charset="0"/>
              </a:rPr>
              <a:t>                "</a:t>
            </a:r>
            <a:r>
              <a:rPr lang="en-GB" sz="600" b="0" dirty="0" err="1">
                <a:effectLst/>
                <a:latin typeface="Menlo" panose="020B0609030804020204" pitchFamily="49" charset="0"/>
              </a:rPr>
              <a:t>thirtyDayAvgMinutes</a:t>
            </a:r>
            <a:r>
              <a:rPr lang="en-GB" sz="600" b="0" dirty="0">
                <a:effectLst/>
                <a:latin typeface="Menlo" panose="020B0609030804020204" pitchFamily="49" charset="0"/>
              </a:rPr>
              <a:t>": 101</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"data":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22:44:00",</a:t>
            </a:r>
          </a:p>
          <a:p>
            <a:r>
              <a:rPr lang="en-GB" sz="600" b="0" dirty="0">
                <a:effectLst/>
                <a:latin typeface="Menlo" panose="020B0609030804020204" pitchFamily="49" charset="0"/>
              </a:rPr>
              <a:t>                "level": "wake",</a:t>
            </a:r>
          </a:p>
          <a:p>
            <a:r>
              <a:rPr lang="en-GB" sz="600" b="0" dirty="0">
                <a:effectLst/>
                <a:latin typeface="Menlo" panose="020B0609030804020204" pitchFamily="49" charset="0"/>
              </a:rPr>
              <a:t>                "seconds": 30</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22:44:30",</a:t>
            </a:r>
          </a:p>
          <a:p>
            <a:r>
              <a:rPr lang="en-GB" sz="600" b="0" dirty="0">
                <a:effectLst/>
                <a:latin typeface="Menlo" panose="020B0609030804020204" pitchFamily="49" charset="0"/>
              </a:rPr>
              <a:t>                "level": "light",</a:t>
            </a:r>
          </a:p>
          <a:p>
            <a:r>
              <a:rPr lang="en-GB" sz="600" b="0" dirty="0">
                <a:effectLst/>
                <a:latin typeface="Menlo" panose="020B0609030804020204" pitchFamily="49" charset="0"/>
              </a:rPr>
              <a:t>                "seconds": 150</a:t>
            </a:r>
          </a:p>
          <a:p>
            <a:r>
              <a:rPr lang="en-GB" sz="600" b="0" dirty="0">
                <a:effectLst/>
                <a:latin typeface="Menlo" panose="020B0609030804020204" pitchFamily="49" charset="0"/>
              </a:rPr>
              <a:t>            },</a:t>
            </a:r>
          </a:p>
          <a:p>
            <a:r>
              <a:rPr lang="en-GB" sz="600" b="0" dirty="0">
                <a:effectLst/>
                <a:latin typeface="Menlo" panose="020B0609030804020204" pitchFamily="49" charset="0"/>
              </a:rPr>
              <a:t>            {</a:t>
            </a:r>
          </a:p>
          <a:p>
            <a:r>
              <a:rPr lang="en-GB" sz="600" b="0" dirty="0">
                <a:effectLst/>
                <a:latin typeface="Menlo" panose="020B0609030804020204" pitchFamily="49" charset="0"/>
              </a:rPr>
              <a:t>                "</a:t>
            </a:r>
            <a:r>
              <a:rPr lang="en-GB" sz="600" b="0" dirty="0" err="1">
                <a:effectLst/>
                <a:latin typeface="Menlo" panose="020B0609030804020204" pitchFamily="49" charset="0"/>
              </a:rPr>
              <a:t>dateTime</a:t>
            </a:r>
            <a:r>
              <a:rPr lang="en-GB" sz="600" b="0" dirty="0">
                <a:effectLst/>
                <a:latin typeface="Menlo" panose="020B0609030804020204" pitchFamily="49" charset="0"/>
              </a:rPr>
              <a:t>": "02-13 22:47:00",</a:t>
            </a:r>
          </a:p>
          <a:p>
            <a:r>
              <a:rPr lang="en-GB" sz="600" b="0" dirty="0">
                <a:effectLst/>
                <a:latin typeface="Menlo" panose="020B0609030804020204" pitchFamily="49" charset="0"/>
              </a:rPr>
              <a:t>                "level": "deep",</a:t>
            </a:r>
          </a:p>
          <a:p>
            <a:r>
              <a:rPr lang="en-GB" sz="600" b="0" dirty="0">
                <a:effectLst/>
                <a:latin typeface="Menlo" panose="020B0609030804020204" pitchFamily="49" charset="0"/>
              </a:rPr>
              <a:t>                "seconds": 1860</a:t>
            </a:r>
          </a:p>
          <a:p>
            <a:r>
              <a:rPr lang="en-GB" sz="600" b="0" dirty="0">
                <a:effectLst/>
                <a:latin typeface="Menlo" panose="020B0609030804020204" pitchFamily="49" charset="0"/>
              </a:rPr>
              <a:t>            },</a:t>
            </a:r>
            <a:br>
              <a:rPr lang="en-GB" sz="600" b="0" dirty="0">
                <a:effectLst/>
                <a:latin typeface="Menlo" panose="020B0609030804020204" pitchFamily="49" charset="0"/>
              </a:rPr>
            </a:br>
            <a:r>
              <a:rPr lang="en-GB" sz="600" b="0" dirty="0">
                <a:effectLst/>
                <a:latin typeface="Menlo" panose="020B0609030804020204" pitchFamily="49" charset="0"/>
              </a:rPr>
              <a:t>            ...</a:t>
            </a:r>
            <a:br>
              <a:rPr lang="en-GB" sz="600" b="0" dirty="0">
                <a:effectLst/>
                <a:latin typeface="Menlo" panose="020B0609030804020204" pitchFamily="49" charset="0"/>
              </a:rPr>
            </a:br>
            <a:r>
              <a:rPr lang="en-GB" sz="600" b="0" dirty="0">
                <a:effectLst/>
                <a:latin typeface="Menlo" panose="020B0609030804020204" pitchFamily="49" charset="0"/>
              </a:rPr>
              <a:t>},</a:t>
            </a:r>
          </a:p>
          <a:p>
            <a:r>
              <a:rPr lang="en-GB" sz="600" dirty="0">
                <a:latin typeface="Menlo" panose="020B0609030804020204" pitchFamily="49" charset="0"/>
              </a:rPr>
              <a:t>...</a:t>
            </a:r>
          </a:p>
          <a:p>
            <a:r>
              <a:rPr lang="en-GB" sz="600" b="0" dirty="0">
                <a:effectLst/>
                <a:latin typeface="Menlo" panose="020B0609030804020204" pitchFamily="49" charset="0"/>
              </a:rPr>
              <a:t>]</a:t>
            </a:r>
          </a:p>
        </p:txBody>
      </p:sp>
    </p:spTree>
    <p:extLst>
      <p:ext uri="{BB962C8B-B14F-4D97-AF65-F5344CB8AC3E}">
        <p14:creationId xmlns:p14="http://schemas.microsoft.com/office/powerpoint/2010/main" val="288456904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3506</TotalTime>
  <Words>5485</Words>
  <Application>Microsoft Macintosh PowerPoint</Application>
  <PresentationFormat>Widescreen</PresentationFormat>
  <Paragraphs>876</Paragraphs>
  <Slides>48</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Aptos</vt:lpstr>
      <vt:lpstr>Arial</vt:lpstr>
      <vt:lpstr>Calibri</vt:lpstr>
      <vt:lpstr>Courier New</vt:lpstr>
      <vt:lpstr>Menlo</vt:lpstr>
      <vt:lpstr>Times New Roman</vt:lpstr>
      <vt:lpstr>Wingdings</vt:lpstr>
      <vt:lpstr>Tema di Office</vt:lpstr>
      <vt:lpstr>PowerPoint Presentation</vt:lpstr>
      <vt:lpstr>Agenda</vt:lpstr>
      <vt:lpstr>Who am I</vt:lpstr>
      <vt:lpstr>What is the course about?</vt:lpstr>
      <vt:lpstr>What is the course about?</vt:lpstr>
      <vt:lpstr>Towards a new model of healthcare</vt:lpstr>
      <vt:lpstr>Examples of biomedical wearable technologies Heart rate monitor</vt:lpstr>
      <vt:lpstr>Examples of biomedical wearable technologies Heart rate monitor</vt:lpstr>
      <vt:lpstr>Examples of biomedical wearable technologies Glucose monitoring sensors</vt:lpstr>
      <vt:lpstr>Examples of biomedical wearable technologies Glucose monitoring sensors</vt:lpstr>
      <vt:lpstr>Modern wearable technologies become IoT</vt:lpstr>
      <vt:lpstr>The architecture of wearable IoT systems</vt:lpstr>
      <vt:lpstr>1. Sensing layer</vt:lpstr>
      <vt:lpstr>2. Network layer</vt:lpstr>
      <vt:lpstr>3. Data storing and processing layer</vt:lpstr>
      <vt:lpstr>3. Data storing and processing layer</vt:lpstr>
      <vt:lpstr>4. Application layer</vt:lpstr>
      <vt:lpstr>Applications of wearable IoT in healthcare and wellbeing</vt:lpstr>
      <vt:lpstr>Telemonitoring and telemedicine in chronic diseases</vt:lpstr>
      <vt:lpstr>Sensor-based biomechanical telerehabilitation</vt:lpstr>
      <vt:lpstr>Sport and fitness sensing</vt:lpstr>
      <vt:lpstr>Activity and sleep monitoring</vt:lpstr>
      <vt:lpstr>Fall detection</vt:lpstr>
      <vt:lpstr>The architecture of wearable IoT systems</vt:lpstr>
      <vt:lpstr>Theory program</vt:lpstr>
      <vt:lpstr>Lab program</vt:lpstr>
      <vt:lpstr>The calendar drama - Lessons</vt:lpstr>
      <vt:lpstr>Lab program - The workshop</vt:lpstr>
      <vt:lpstr>Prerequisites &amp; End of class goals</vt:lpstr>
      <vt:lpstr>The exam</vt:lpstr>
      <vt:lpstr>The calendar drama – Project discussion</vt:lpstr>
      <vt:lpstr>Project: What’s the spirit here</vt:lpstr>
      <vt:lpstr>Project structure</vt:lpstr>
      <vt:lpstr>Grading</vt:lpstr>
      <vt:lpstr>Choose your target</vt:lpstr>
      <vt:lpstr>Choose your target</vt:lpstr>
      <vt:lpstr>Data source</vt:lpstr>
      <vt:lpstr>How to get data - The IMPACT backend</vt:lpstr>
      <vt:lpstr>Optional tutoring activities</vt:lpstr>
      <vt:lpstr>Discord server</vt:lpstr>
      <vt:lpstr>Appendix: Data source characteristics</vt:lpstr>
      <vt:lpstr>Focus on data – Calories</vt:lpstr>
      <vt:lpstr>Focus on data – Distance</vt:lpstr>
      <vt:lpstr>Focus on data – Steps</vt:lpstr>
      <vt:lpstr>Heart rate</vt:lpstr>
      <vt:lpstr>Resting heart rate</vt:lpstr>
      <vt:lpstr>Exercise</vt:lpstr>
      <vt:lpstr>Sleep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295</cp:revision>
  <dcterms:created xsi:type="dcterms:W3CDTF">2021-07-19T09:08:13Z</dcterms:created>
  <dcterms:modified xsi:type="dcterms:W3CDTF">2025-02-25T10:19:36Z</dcterms:modified>
</cp:coreProperties>
</file>