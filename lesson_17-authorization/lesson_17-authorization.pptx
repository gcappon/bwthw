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346" r:id="rId3"/>
    <p:sldId id="347" r:id="rId4"/>
    <p:sldId id="348" r:id="rId5"/>
    <p:sldId id="349" r:id="rId6"/>
    <p:sldId id="327" r:id="rId7"/>
    <p:sldId id="332" r:id="rId8"/>
    <p:sldId id="333" r:id="rId9"/>
    <p:sldId id="334" r:id="rId10"/>
    <p:sldId id="398" r:id="rId11"/>
    <p:sldId id="399" r:id="rId12"/>
    <p:sldId id="401" r:id="rId13"/>
    <p:sldId id="368" r:id="rId14"/>
    <p:sldId id="404" r:id="rId15"/>
    <p:sldId id="406" r:id="rId16"/>
    <p:sldId id="411" r:id="rId17"/>
    <p:sldId id="412" r:id="rId18"/>
    <p:sldId id="408" r:id="rId19"/>
    <p:sldId id="331" r:id="rId20"/>
    <p:sldId id="405" r:id="rId21"/>
    <p:sldId id="409" r:id="rId22"/>
    <p:sldId id="410" r:id="rId23"/>
    <p:sldId id="350" r:id="rId24"/>
    <p:sldId id="351" r:id="rId25"/>
    <p:sldId id="352" r:id="rId26"/>
    <p:sldId id="353" r:id="rId27"/>
    <p:sldId id="354" r:id="rId28"/>
    <p:sldId id="355" r:id="rId29"/>
    <p:sldId id="356" r:id="rId30"/>
    <p:sldId id="34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Stile chiaro 1 - Color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1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090E0-FB0C-49E9-9864-9F53EABEA96F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69C82F-DE94-4CA4-8B4D-F0EAC95D82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1094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821716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3280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12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6829533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73110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5566514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4359250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2850773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7204832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9714520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9051953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4349850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22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14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  <a:prstGeom prst="rect">
            <a:avLst/>
          </a:prstGeo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85820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38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  <a:prstGeom prst="rect">
            <a:avLst/>
          </a:prstGeo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5591628" cy="481262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364343"/>
            <a:ext cx="5624286" cy="481262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94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456058" cy="157071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it-IT" dirty="0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2997200" y="855254"/>
            <a:ext cx="6125029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426028" y="4152532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9" name="Titolo 1"/>
          <p:cNvSpPr txBox="1">
            <a:spLocks/>
          </p:cNvSpPr>
          <p:nvPr userDrawn="1"/>
        </p:nvSpPr>
        <p:spPr>
          <a:xfrm>
            <a:off x="460370" y="1155224"/>
            <a:ext cx="10926088" cy="945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it-IT" sz="2800" b="0" dirty="0" err="1">
                <a:latin typeface="Aptos" panose="020B0004020202020204" pitchFamily="34" charset="0"/>
              </a:rPr>
              <a:t>Biomedical</a:t>
            </a:r>
            <a:r>
              <a:rPr lang="it-IT" sz="2800" b="0" dirty="0">
                <a:latin typeface="Aptos" panose="020B0004020202020204" pitchFamily="34" charset="0"/>
              </a:rPr>
              <a:t> </a:t>
            </a:r>
            <a:r>
              <a:rPr lang="it-IT" sz="2800" b="0" dirty="0" err="1">
                <a:latin typeface="Aptos" panose="020B0004020202020204" pitchFamily="34" charset="0"/>
              </a:rPr>
              <a:t>Wearable</a:t>
            </a:r>
            <a:r>
              <a:rPr lang="it-IT" sz="2800" b="0" dirty="0">
                <a:latin typeface="Aptos" panose="020B0004020202020204" pitchFamily="34" charset="0"/>
              </a:rPr>
              <a:t> Technologies </a:t>
            </a:r>
          </a:p>
          <a:p>
            <a:r>
              <a:rPr lang="it-IT" sz="2800" b="0" dirty="0">
                <a:latin typeface="Aptos" panose="020B0004020202020204" pitchFamily="34" charset="0"/>
              </a:rPr>
              <a:t>for Healthcare and </a:t>
            </a:r>
            <a:r>
              <a:rPr lang="it-IT" sz="2800" b="0" dirty="0" err="1">
                <a:latin typeface="Aptos" panose="020B0004020202020204" pitchFamily="34" charset="0"/>
              </a:rPr>
              <a:t>Wellbeing</a:t>
            </a:r>
            <a:r>
              <a:rPr lang="it-IT" sz="2800" b="0" dirty="0">
                <a:latin typeface="Aptos" panose="020B0004020202020204" pitchFamily="34" charset="0"/>
              </a:rPr>
              <a:t>  </a:t>
            </a:r>
            <a:endParaRPr lang="en-GB" sz="2800" b="0" dirty="0">
              <a:latin typeface="Aptos" panose="020B0004020202020204" pitchFamily="34" charset="0"/>
            </a:endParaRPr>
          </a:p>
        </p:txBody>
      </p:sp>
      <p:sp>
        <p:nvSpPr>
          <p:cNvPr id="10" name="Titolo 1"/>
          <p:cNvSpPr txBox="1">
            <a:spLocks/>
          </p:cNvSpPr>
          <p:nvPr userDrawn="1"/>
        </p:nvSpPr>
        <p:spPr>
          <a:xfrm>
            <a:off x="1426028" y="4424669"/>
            <a:ext cx="9456058" cy="10050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</a:rPr>
              <a:t>A.Y. 2025-2026</a:t>
            </a:r>
          </a:p>
          <a:p>
            <a:pPr>
              <a:spcAft>
                <a:spcPts val="600"/>
              </a:spcAft>
            </a:pPr>
            <a:r>
              <a:rPr lang="it-IT" sz="2800" baseline="0" dirty="0">
                <a:latin typeface="Aptos" panose="020B0004020202020204" pitchFamily="34" charset="0"/>
              </a:rPr>
              <a:t>Giacomo Cappon</a:t>
            </a: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2997200" y="133745"/>
            <a:ext cx="6125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University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Padova</a:t>
            </a:r>
            <a:b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</a:b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Department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Information </a:t>
            </a: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Engineering</a:t>
            </a:r>
            <a:endParaRPr lang="en-GB" sz="1100" cap="small" baseline="0" dirty="0">
              <a:latin typeface="Aptos" panose="020B0004020202020204" pitchFamily="34" charset="0"/>
            </a:endParaRP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0" y="5094383"/>
            <a:ext cx="1648258" cy="1648258"/>
          </a:xfrm>
          <a:prstGeom prst="rect">
            <a:avLst/>
          </a:prstGeom>
        </p:spPr>
      </p:pic>
      <p:pic>
        <p:nvPicPr>
          <p:cNvPr id="16" name="Immagine 15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946" y="5094383"/>
            <a:ext cx="2153135" cy="139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3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05962"/>
          </a:xfrm>
          <a:prstGeom prst="rect">
            <a:avLst/>
          </a:prstGeo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ttangolo arrotondato 5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065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19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28172" y="1375682"/>
            <a:ext cx="11368314" cy="482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31DE2C5B-556E-47B8-A792-024C2FCA4AC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87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49" r:id="rId3"/>
    <p:sldLayoutId id="2147483654" r:id="rId4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rgbClr val="00B05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Times New Roman" panose="02020603050405020304" pitchFamily="18" charset="0"/>
        <a:buChar char="̶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jwt.io/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ttotitolo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Authorization</a:t>
            </a:r>
          </a:p>
        </p:txBody>
      </p:sp>
    </p:spTree>
    <p:extLst>
      <p:ext uri="{BB962C8B-B14F-4D97-AF65-F5344CB8AC3E}">
        <p14:creationId xmlns:p14="http://schemas.microsoft.com/office/powerpoint/2010/main" val="4068185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Authorization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586444" cy="2481241"/>
          </a:xfrm>
        </p:spPr>
        <p:txBody>
          <a:bodyPr>
            <a:normAutofit/>
          </a:bodyPr>
          <a:lstStyle/>
          <a:p>
            <a:r>
              <a:rPr lang="en-GB" b="1" dirty="0"/>
              <a:t>Authentication: </a:t>
            </a:r>
            <a:r>
              <a:rPr lang="en-GB" dirty="0"/>
              <a:t>the process of proving that the user is who he/she declares to be. </a:t>
            </a:r>
          </a:p>
          <a:p>
            <a:r>
              <a:rPr lang="en-GB" b="1" dirty="0"/>
              <a:t>Authorization: </a:t>
            </a:r>
            <a:r>
              <a:rPr lang="en-GB" dirty="0"/>
              <a:t>the act of granting a user permission to do something. </a:t>
            </a:r>
          </a:p>
          <a:p>
            <a:pPr lvl="1"/>
            <a:r>
              <a:rPr lang="en-GB" sz="2400" dirty="0"/>
              <a:t>Necessary when some resources/tasks are limited to users with special permission (</a:t>
            </a:r>
            <a:r>
              <a:rPr lang="en-GB" sz="2400" b="1" dirty="0"/>
              <a:t>access control</a:t>
            </a:r>
            <a:r>
              <a:rPr lang="en-GB" sz="2400" dirty="0"/>
              <a:t>).</a:t>
            </a:r>
          </a:p>
          <a:p>
            <a:pPr lvl="1"/>
            <a:r>
              <a:rPr lang="en-GB" sz="2400" dirty="0"/>
              <a:t>It specifies what data a user is allowed to access and what the user can do with that data.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</a:t>
            </a:fld>
            <a:endParaRPr lang="en-GB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D13B73E-5FD1-A33A-97EF-7A11BFEF11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6290" y="5306636"/>
            <a:ext cx="1034166" cy="1034166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32101581-A2C7-317C-A9EF-07883C6D71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4990" y="4191267"/>
            <a:ext cx="1034166" cy="1034166"/>
          </a:xfrm>
          <a:prstGeom prst="rect">
            <a:avLst/>
          </a:prstGeom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98B7F880-3967-DAED-1D1B-1B21A01ACA7F}"/>
              </a:ext>
            </a:extLst>
          </p:cNvPr>
          <p:cNvSpPr/>
          <p:nvPr/>
        </p:nvSpPr>
        <p:spPr>
          <a:xfrm>
            <a:off x="7517080" y="4620532"/>
            <a:ext cx="2840637" cy="1295400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>
                <a:latin typeface="Aptos" panose="020B0004020202020204" pitchFamily="34" charset="0"/>
              </a:rPr>
              <a:t>Server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CF81FEA6-0551-E266-AEFF-2CB20E0CAEE0}"/>
              </a:ext>
            </a:extLst>
          </p:cNvPr>
          <p:cNvSpPr/>
          <p:nvPr/>
        </p:nvSpPr>
        <p:spPr>
          <a:xfrm>
            <a:off x="6670624" y="4964682"/>
            <a:ext cx="1295400" cy="607101"/>
          </a:xfrm>
          <a:prstGeom prst="rect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 err="1">
                <a:solidFill>
                  <a:schemeClr val="bg1"/>
                </a:solidFill>
                <a:latin typeface="Aptos" panose="020B0004020202020204" pitchFamily="34" charset="0"/>
              </a:rPr>
              <a:t>Protected</a:t>
            </a:r>
            <a:r>
              <a:rPr lang="it-IT" b="1" dirty="0">
                <a:solidFill>
                  <a:schemeClr val="bg1"/>
                </a:solidFill>
                <a:latin typeface="Aptos" panose="020B0004020202020204" pitchFamily="34" charset="0"/>
              </a:rPr>
              <a:t> endpoint</a:t>
            </a: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80DEC9EF-72A9-EC4C-F158-67F952E40BDC}"/>
              </a:ext>
            </a:extLst>
          </p:cNvPr>
          <p:cNvCxnSpPr/>
          <p:nvPr/>
        </p:nvCxnSpPr>
        <p:spPr>
          <a:xfrm>
            <a:off x="4201031" y="4481564"/>
            <a:ext cx="216795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E5AB95B9-BCEB-C10E-6147-E9823B6A2602}"/>
              </a:ext>
            </a:extLst>
          </p:cNvPr>
          <p:cNvCxnSpPr>
            <a:cxnSpLocks/>
          </p:cNvCxnSpPr>
          <p:nvPr/>
        </p:nvCxnSpPr>
        <p:spPr>
          <a:xfrm flipH="1" flipV="1">
            <a:off x="4188282" y="4969567"/>
            <a:ext cx="219025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C656F57C-EBB8-6284-9E1A-9F7CDD94323A}"/>
              </a:ext>
            </a:extLst>
          </p:cNvPr>
          <p:cNvCxnSpPr>
            <a:cxnSpLocks/>
          </p:cNvCxnSpPr>
          <p:nvPr/>
        </p:nvCxnSpPr>
        <p:spPr>
          <a:xfrm>
            <a:off x="4212932" y="5811321"/>
            <a:ext cx="216677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B49FB68E-FA81-C918-83F8-C9FCFE48FB6A}"/>
              </a:ext>
            </a:extLst>
          </p:cNvPr>
          <p:cNvCxnSpPr>
            <a:cxnSpLocks/>
          </p:cNvCxnSpPr>
          <p:nvPr/>
        </p:nvCxnSpPr>
        <p:spPr>
          <a:xfrm flipH="1">
            <a:off x="4222908" y="6258391"/>
            <a:ext cx="215680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447EEC03-AB68-20AF-1DDE-69CFEA2240A5}"/>
              </a:ext>
            </a:extLst>
          </p:cNvPr>
          <p:cNvSpPr txBox="1"/>
          <p:nvPr/>
        </p:nvSpPr>
        <p:spPr>
          <a:xfrm>
            <a:off x="4201031" y="4093454"/>
            <a:ext cx="2167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Aptos" panose="020B0004020202020204" pitchFamily="34" charset="0"/>
              </a:rPr>
              <a:t>Access </a:t>
            </a:r>
            <a:r>
              <a:rPr lang="it-IT" dirty="0" err="1">
                <a:latin typeface="Aptos" panose="020B0004020202020204" pitchFamily="34" charset="0"/>
              </a:rPr>
              <a:t>request</a:t>
            </a:r>
            <a:endParaRPr lang="it-IT" dirty="0">
              <a:latin typeface="Aptos" panose="020B0004020202020204" pitchFamily="34" charset="0"/>
            </a:endParaRP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50E199F0-667F-DE38-DB23-259E73237FA6}"/>
              </a:ext>
            </a:extLst>
          </p:cNvPr>
          <p:cNvSpPr txBox="1"/>
          <p:nvPr/>
        </p:nvSpPr>
        <p:spPr>
          <a:xfrm>
            <a:off x="4211757" y="5441523"/>
            <a:ext cx="2166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Aptos" panose="020B0004020202020204" pitchFamily="34" charset="0"/>
              </a:rPr>
              <a:t>Access </a:t>
            </a:r>
            <a:r>
              <a:rPr lang="it-IT" dirty="0" err="1">
                <a:latin typeface="Aptos" panose="020B0004020202020204" pitchFamily="34" charset="0"/>
              </a:rPr>
              <a:t>request</a:t>
            </a:r>
            <a:endParaRPr lang="it-IT" dirty="0">
              <a:latin typeface="Aptos" panose="020B0004020202020204" pitchFamily="34" charset="0"/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69F0D18F-6FD1-468C-2084-4FF89EBF4746}"/>
              </a:ext>
            </a:extLst>
          </p:cNvPr>
          <p:cNvSpPr txBox="1"/>
          <p:nvPr/>
        </p:nvSpPr>
        <p:spPr>
          <a:xfrm>
            <a:off x="4201031" y="4600235"/>
            <a:ext cx="2190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rgbClr val="FF0000"/>
                </a:solidFill>
                <a:latin typeface="Aptos" panose="020B0004020202020204" pitchFamily="34" charset="0"/>
              </a:rPr>
              <a:t>Access </a:t>
            </a:r>
            <a:r>
              <a:rPr lang="it-IT" b="1" dirty="0" err="1">
                <a:solidFill>
                  <a:srgbClr val="FF0000"/>
                </a:solidFill>
                <a:latin typeface="Aptos" panose="020B0004020202020204" pitchFamily="34" charset="0"/>
              </a:rPr>
              <a:t>denied</a:t>
            </a:r>
            <a:endParaRPr lang="it-IT" b="1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7F8D21F5-C9E2-4889-3789-3878B42FFAE3}"/>
              </a:ext>
            </a:extLst>
          </p:cNvPr>
          <p:cNvSpPr txBox="1"/>
          <p:nvPr/>
        </p:nvSpPr>
        <p:spPr>
          <a:xfrm>
            <a:off x="4211757" y="5900145"/>
            <a:ext cx="2166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rgbClr val="00B050"/>
                </a:solidFill>
                <a:latin typeface="Aptos" panose="020B0004020202020204" pitchFamily="34" charset="0"/>
              </a:rPr>
              <a:t>Access </a:t>
            </a:r>
            <a:r>
              <a:rPr lang="it-IT" b="1" dirty="0" err="1">
                <a:solidFill>
                  <a:srgbClr val="00B050"/>
                </a:solidFill>
                <a:latin typeface="Aptos" panose="020B0004020202020204" pitchFamily="34" charset="0"/>
              </a:rPr>
              <a:t>granted</a:t>
            </a:r>
            <a:endParaRPr lang="it-IT" b="1" dirty="0">
              <a:solidFill>
                <a:srgbClr val="00B050"/>
              </a:solidFill>
              <a:latin typeface="Aptos" panose="020B0004020202020204" pitchFamily="34" charset="0"/>
            </a:endParaRP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5D00D101-FF55-4ABB-3B24-14F4B2458BE3}"/>
              </a:ext>
            </a:extLst>
          </p:cNvPr>
          <p:cNvSpPr txBox="1"/>
          <p:nvPr/>
        </p:nvSpPr>
        <p:spPr>
          <a:xfrm>
            <a:off x="959475" y="4384791"/>
            <a:ext cx="23068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latin typeface="Aptos" panose="020B0004020202020204" pitchFamily="34" charset="0"/>
              </a:rPr>
              <a:t>Unauthorized</a:t>
            </a:r>
            <a:r>
              <a:rPr lang="it-IT" sz="2000" dirty="0">
                <a:latin typeface="Aptos" panose="020B0004020202020204" pitchFamily="34" charset="0"/>
              </a:rPr>
              <a:t> user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736ED2AB-58A8-46AC-8B7E-997E3B6D2017}"/>
              </a:ext>
            </a:extLst>
          </p:cNvPr>
          <p:cNvSpPr txBox="1"/>
          <p:nvPr/>
        </p:nvSpPr>
        <p:spPr>
          <a:xfrm>
            <a:off x="959475" y="5583531"/>
            <a:ext cx="23068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latin typeface="Aptos" panose="020B0004020202020204" pitchFamily="34" charset="0"/>
              </a:rPr>
              <a:t>Authorized</a:t>
            </a:r>
            <a:r>
              <a:rPr lang="it-IT" sz="2000" dirty="0">
                <a:latin typeface="Aptos" panose="020B0004020202020204" pitchFamily="34" charset="0"/>
              </a:rPr>
              <a:t> user</a:t>
            </a:r>
          </a:p>
        </p:txBody>
      </p:sp>
    </p:spTree>
    <p:extLst>
      <p:ext uri="{BB962C8B-B14F-4D97-AF65-F5344CB8AC3E}">
        <p14:creationId xmlns:p14="http://schemas.microsoft.com/office/powerpoint/2010/main" val="1011757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94334E1-C2EB-D042-A6F5-FE7C6DDC6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Basic </a:t>
            </a:r>
            <a:r>
              <a:rPr lang="it-IT" dirty="0" err="1"/>
              <a:t>access</a:t>
            </a:r>
            <a:r>
              <a:rPr lang="it-IT" dirty="0"/>
              <a:t> </a:t>
            </a:r>
            <a:r>
              <a:rPr lang="it-IT" dirty="0" err="1"/>
              <a:t>authentication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C3D13BC-F39A-D246-941B-2D6AC9F08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5122079"/>
          </a:xfrm>
        </p:spPr>
        <p:txBody>
          <a:bodyPr>
            <a:normAutofit/>
          </a:bodyPr>
          <a:lstStyle/>
          <a:p>
            <a:r>
              <a:rPr lang="en-GB" dirty="0"/>
              <a:t>Authorization using </a:t>
            </a:r>
            <a:r>
              <a:rPr lang="en-GB" b="1" dirty="0"/>
              <a:t>account credentials </a:t>
            </a:r>
          </a:p>
          <a:p>
            <a:pPr lvl="1"/>
            <a:r>
              <a:rPr lang="en-GB" sz="2400" dirty="0"/>
              <a:t>Each user of the website/web application has an account with a </a:t>
            </a:r>
            <a:r>
              <a:rPr lang="en-GB" sz="2400" b="1" dirty="0"/>
              <a:t>user ID </a:t>
            </a:r>
            <a:r>
              <a:rPr lang="en-GB" sz="2400" dirty="0"/>
              <a:t>and a </a:t>
            </a:r>
            <a:r>
              <a:rPr lang="en-GB" sz="2400" b="1" dirty="0"/>
              <a:t>password</a:t>
            </a:r>
            <a:r>
              <a:rPr lang="en-GB" sz="2400" dirty="0"/>
              <a:t> (credentials).</a:t>
            </a:r>
          </a:p>
          <a:p>
            <a:pPr lvl="1"/>
            <a:r>
              <a:rPr lang="en-GB" sz="2400" dirty="0"/>
              <a:t>The user logs into the website/web application providing its credentials.</a:t>
            </a:r>
          </a:p>
          <a:p>
            <a:pPr lvl="1"/>
            <a:r>
              <a:rPr lang="en-GB" sz="2400" dirty="0"/>
              <a:t>The server verifies credentials and allows the user to access the resources it is authorized to access.  </a:t>
            </a:r>
            <a:endParaRPr lang="en-GB" dirty="0"/>
          </a:p>
          <a:p>
            <a:r>
              <a:rPr lang="en-GB" dirty="0"/>
              <a:t>HTTP request header to provide credentials:</a:t>
            </a:r>
          </a:p>
          <a:p>
            <a:pPr marL="0" indent="0">
              <a:buNone/>
            </a:pPr>
            <a:r>
              <a:rPr lang="en-GB" dirty="0"/>
              <a:t>			</a:t>
            </a:r>
            <a:r>
              <a:rPr lang="en-GB" i="1" dirty="0"/>
              <a:t>Authorization</a:t>
            </a:r>
            <a:r>
              <a:rPr lang="en-GB" dirty="0"/>
              <a:t>: Basic &lt;credentials&gt;</a:t>
            </a:r>
          </a:p>
          <a:p>
            <a:pPr marL="0" indent="0">
              <a:buNone/>
            </a:pPr>
            <a:r>
              <a:rPr lang="en-GB" dirty="0"/>
              <a:t>    where &lt;credentials&gt; includes user ID and password.</a:t>
            </a:r>
          </a:p>
          <a:p>
            <a:r>
              <a:rPr lang="en-GB" dirty="0"/>
              <a:t>Often authorization is performed after the server request it.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6BE18D5-9CF5-D34F-A946-B476E7AE5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8705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390443-75D6-AB40-A768-28BF2A2F6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Basic </a:t>
            </a:r>
            <a:r>
              <a:rPr lang="it-IT" dirty="0" err="1"/>
              <a:t>access</a:t>
            </a:r>
            <a:r>
              <a:rPr lang="it-IT" dirty="0"/>
              <a:t> </a:t>
            </a:r>
            <a:r>
              <a:rPr lang="it-IT" dirty="0" err="1"/>
              <a:t>authentication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79F238C-D54C-2343-ACE5-39AF50306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</a:t>
            </a:fld>
            <a:endParaRPr lang="en-GB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5735EB43-FCC1-8142-9646-F460F73B6FEE}"/>
              </a:ext>
            </a:extLst>
          </p:cNvPr>
          <p:cNvSpPr/>
          <p:nvPr/>
        </p:nvSpPr>
        <p:spPr>
          <a:xfrm>
            <a:off x="680237" y="1458741"/>
            <a:ext cx="1581625" cy="4226567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GB" sz="2400">
              <a:latin typeface="Aptos" panose="020B0004020202020204" pitchFamily="34" charset="0"/>
            </a:endParaRPr>
          </a:p>
          <a:p>
            <a:pPr algn="ctr"/>
            <a:endParaRPr lang="en-GB" sz="2400">
              <a:latin typeface="Aptos" panose="020B0004020202020204" pitchFamily="34" charset="0"/>
            </a:endParaRPr>
          </a:p>
          <a:p>
            <a:pPr algn="ctr"/>
            <a:r>
              <a:rPr lang="en-GB" sz="2400">
                <a:latin typeface="Aptos" panose="020B0004020202020204" pitchFamily="34" charset="0"/>
              </a:rPr>
              <a:t>Client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02963C49-B7EA-964A-A272-8B3DC125E909}"/>
              </a:ext>
            </a:extLst>
          </p:cNvPr>
          <p:cNvSpPr/>
          <p:nvPr/>
        </p:nvSpPr>
        <p:spPr>
          <a:xfrm>
            <a:off x="7903735" y="1458744"/>
            <a:ext cx="3855319" cy="4226560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it-IT" sz="2400" dirty="0">
                <a:latin typeface="Aptos" panose="020B0004020202020204" pitchFamily="34" charset="0"/>
              </a:rPr>
              <a:t> Server</a:t>
            </a:r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B9BFF864-BC90-534B-B63F-827C7A152A38}"/>
              </a:ext>
            </a:extLst>
          </p:cNvPr>
          <p:cNvCxnSpPr/>
          <p:nvPr/>
        </p:nvCxnSpPr>
        <p:spPr>
          <a:xfrm>
            <a:off x="2741426" y="1949071"/>
            <a:ext cx="458525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D90D755D-5F91-9E40-834F-D1DA9764ED06}"/>
              </a:ext>
            </a:extLst>
          </p:cNvPr>
          <p:cNvCxnSpPr>
            <a:cxnSpLocks/>
          </p:cNvCxnSpPr>
          <p:nvPr/>
        </p:nvCxnSpPr>
        <p:spPr>
          <a:xfrm flipH="1">
            <a:off x="2731252" y="3213382"/>
            <a:ext cx="458525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AC5001A-C7BD-4048-889C-D8A228B1341B}"/>
              </a:ext>
            </a:extLst>
          </p:cNvPr>
          <p:cNvSpPr txBox="1"/>
          <p:nvPr/>
        </p:nvSpPr>
        <p:spPr>
          <a:xfrm>
            <a:off x="3592642" y="1224384"/>
            <a:ext cx="3021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Unauthorized request</a:t>
            </a:r>
          </a:p>
          <a:p>
            <a:pPr algn="ctr"/>
            <a:r>
              <a:rPr lang="en-GB" dirty="0">
                <a:latin typeface="Aptos" panose="020B0004020202020204" pitchFamily="34" charset="0"/>
              </a:rPr>
              <a:t>GET /home HTTP/1.1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BE263B6-5956-8F4B-914E-ABB3D615A457}"/>
              </a:ext>
            </a:extLst>
          </p:cNvPr>
          <p:cNvSpPr txBox="1"/>
          <p:nvPr/>
        </p:nvSpPr>
        <p:spPr>
          <a:xfrm>
            <a:off x="2439700" y="2190893"/>
            <a:ext cx="55977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The server responds authorization is needed:</a:t>
            </a:r>
          </a:p>
          <a:p>
            <a:r>
              <a:rPr lang="en-GB" dirty="0">
                <a:latin typeface="Aptos" panose="020B0004020202020204" pitchFamily="34" charset="0"/>
              </a:rPr>
              <a:t>HTTP/1.1 401 Unauthorized</a:t>
            </a:r>
          </a:p>
          <a:p>
            <a:r>
              <a:rPr lang="en-GB" dirty="0">
                <a:latin typeface="Aptos" panose="020B0004020202020204" pitchFamily="34" charset="0"/>
              </a:rPr>
              <a:t>WWW-Authenticate: Basic realm=’’protection space’’</a:t>
            </a:r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F3452F08-E326-3744-9A0A-A89BB587C91A}"/>
              </a:ext>
            </a:extLst>
          </p:cNvPr>
          <p:cNvCxnSpPr/>
          <p:nvPr/>
        </p:nvCxnSpPr>
        <p:spPr>
          <a:xfrm>
            <a:off x="2731252" y="4327418"/>
            <a:ext cx="458525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EFE0B36-E70F-EB41-A6CE-D9737D37F37A}"/>
              </a:ext>
            </a:extLst>
          </p:cNvPr>
          <p:cNvSpPr txBox="1"/>
          <p:nvPr/>
        </p:nvSpPr>
        <p:spPr>
          <a:xfrm>
            <a:off x="2838919" y="3371255"/>
            <a:ext cx="46672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Authorized request</a:t>
            </a:r>
          </a:p>
          <a:p>
            <a:r>
              <a:rPr lang="en-GB" dirty="0">
                <a:latin typeface="Aptos" panose="020B0004020202020204" pitchFamily="34" charset="0"/>
              </a:rPr>
              <a:t>GET /home HTTP/1.1</a:t>
            </a:r>
          </a:p>
          <a:p>
            <a:r>
              <a:rPr lang="en-GB" dirty="0">
                <a:latin typeface="Aptos" panose="020B0004020202020204" pitchFamily="34" charset="0"/>
              </a:rPr>
              <a:t>Authorization: Basic &lt;credentials&gt;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B7A8F73-A0D8-374C-B620-D1B5A2914C43}"/>
              </a:ext>
            </a:extLst>
          </p:cNvPr>
          <p:cNvSpPr txBox="1"/>
          <p:nvPr/>
        </p:nvSpPr>
        <p:spPr>
          <a:xfrm>
            <a:off x="2970197" y="4660276"/>
            <a:ext cx="44046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Server’s response to authorized request</a:t>
            </a:r>
          </a:p>
          <a:p>
            <a:r>
              <a:rPr lang="en-GB" dirty="0">
                <a:latin typeface="Aptos" panose="020B0004020202020204" pitchFamily="34" charset="0"/>
              </a:rPr>
              <a:t>    HTTP/1.1 200 OK</a:t>
            </a:r>
          </a:p>
          <a:p>
            <a:r>
              <a:rPr lang="en-GB" dirty="0">
                <a:latin typeface="Aptos" panose="020B0004020202020204" pitchFamily="34" charset="0"/>
              </a:rPr>
              <a:t>    HTTP/1.1 403 Forbidden</a:t>
            </a:r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3428D6BE-677E-4C45-824B-DCF84C9F3A21}"/>
              </a:ext>
            </a:extLst>
          </p:cNvPr>
          <p:cNvCxnSpPr>
            <a:cxnSpLocks/>
          </p:cNvCxnSpPr>
          <p:nvPr/>
        </p:nvCxnSpPr>
        <p:spPr>
          <a:xfrm flipH="1">
            <a:off x="2741426" y="5685302"/>
            <a:ext cx="458525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ilindro 14">
            <a:extLst>
              <a:ext uri="{FF2B5EF4-FFF2-40B4-BE49-F238E27FC236}">
                <a16:creationId xmlns:a16="http://schemas.microsoft.com/office/drawing/2014/main" id="{3D17EAA8-838B-1E40-B3B8-0EFDD58F8A5F}"/>
              </a:ext>
            </a:extLst>
          </p:cNvPr>
          <p:cNvSpPr/>
          <p:nvPr/>
        </p:nvSpPr>
        <p:spPr>
          <a:xfrm>
            <a:off x="9248292" y="1921170"/>
            <a:ext cx="1696278" cy="731223"/>
          </a:xfrm>
          <a:prstGeom prst="can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Aptos" panose="020B0004020202020204" pitchFamily="34" charset="0"/>
              </a:rPr>
              <a:t>DB of </a:t>
            </a:r>
            <a:r>
              <a:rPr lang="it-IT" dirty="0" err="1">
                <a:latin typeface="Aptos" panose="020B0004020202020204" pitchFamily="34" charset="0"/>
              </a:rPr>
              <a:t>credentials</a:t>
            </a:r>
            <a:endParaRPr lang="it-IT" dirty="0">
              <a:latin typeface="Aptos" panose="020B0004020202020204" pitchFamily="34" charset="0"/>
            </a:endParaRPr>
          </a:p>
        </p:txBody>
      </p:sp>
      <p:sp>
        <p:nvSpPr>
          <p:cNvPr id="16" name="Cilindro 15">
            <a:extLst>
              <a:ext uri="{FF2B5EF4-FFF2-40B4-BE49-F238E27FC236}">
                <a16:creationId xmlns:a16="http://schemas.microsoft.com/office/drawing/2014/main" id="{BFD74E65-69EA-6A4A-9FC3-E819115E28E4}"/>
              </a:ext>
            </a:extLst>
          </p:cNvPr>
          <p:cNvSpPr/>
          <p:nvPr/>
        </p:nvSpPr>
        <p:spPr>
          <a:xfrm>
            <a:off x="9956725" y="3764327"/>
            <a:ext cx="1696278" cy="1415369"/>
          </a:xfrm>
          <a:prstGeom prst="can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Aptos" panose="020B0004020202020204" pitchFamily="34" charset="0"/>
              </a:rPr>
              <a:t>DB of </a:t>
            </a:r>
            <a:r>
              <a:rPr lang="it-IT" dirty="0" err="1">
                <a:latin typeface="Aptos" panose="020B0004020202020204" pitchFamily="34" charset="0"/>
              </a:rPr>
              <a:t>protected</a:t>
            </a:r>
            <a:r>
              <a:rPr lang="it-IT" dirty="0">
                <a:latin typeface="Aptos" panose="020B0004020202020204" pitchFamily="34" charset="0"/>
              </a:rPr>
              <a:t> </a:t>
            </a:r>
            <a:r>
              <a:rPr lang="it-IT" dirty="0" err="1">
                <a:latin typeface="Aptos" panose="020B0004020202020204" pitchFamily="34" charset="0"/>
              </a:rPr>
              <a:t>resources</a:t>
            </a:r>
            <a:endParaRPr lang="it-IT" dirty="0">
              <a:latin typeface="Aptos" panose="020B0004020202020204" pitchFamily="34" charset="0"/>
            </a:endParaRPr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B670B796-3EBD-0B46-BFC7-3A56782E5B95}"/>
              </a:ext>
            </a:extLst>
          </p:cNvPr>
          <p:cNvCxnSpPr>
            <a:cxnSpLocks/>
          </p:cNvCxnSpPr>
          <p:nvPr/>
        </p:nvCxnSpPr>
        <p:spPr>
          <a:xfrm flipV="1">
            <a:off x="8879775" y="2743585"/>
            <a:ext cx="827433" cy="628962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C84D8AF3-620F-3946-9131-0FC125C715E1}"/>
              </a:ext>
            </a:extLst>
          </p:cNvPr>
          <p:cNvCxnSpPr>
            <a:cxnSpLocks/>
          </p:cNvCxnSpPr>
          <p:nvPr/>
        </p:nvCxnSpPr>
        <p:spPr>
          <a:xfrm flipH="1">
            <a:off x="9248292" y="4566346"/>
            <a:ext cx="602383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reccia a inversione 23">
            <a:extLst>
              <a:ext uri="{FF2B5EF4-FFF2-40B4-BE49-F238E27FC236}">
                <a16:creationId xmlns:a16="http://schemas.microsoft.com/office/drawing/2014/main" id="{548AF08B-DBF3-FE47-A0DB-43997570647E}"/>
              </a:ext>
            </a:extLst>
          </p:cNvPr>
          <p:cNvSpPr/>
          <p:nvPr/>
        </p:nvSpPr>
        <p:spPr>
          <a:xfrm rot="5400000" flipV="1">
            <a:off x="1237394" y="3401613"/>
            <a:ext cx="1144303" cy="676992"/>
          </a:xfrm>
          <a:prstGeom prst="uturnArrow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6CFD88B4-2BD1-A846-83BB-302A952282D2}"/>
              </a:ext>
            </a:extLst>
          </p:cNvPr>
          <p:cNvSpPr txBox="1"/>
          <p:nvPr/>
        </p:nvSpPr>
        <p:spPr>
          <a:xfrm>
            <a:off x="-932568" y="2870844"/>
            <a:ext cx="4404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>
                <a:latin typeface="Aptos" panose="020B0004020202020204" pitchFamily="34" charset="0"/>
              </a:rPr>
              <a:t>Ask</a:t>
            </a:r>
            <a:r>
              <a:rPr lang="it-IT" dirty="0">
                <a:latin typeface="Aptos" panose="020B0004020202020204" pitchFamily="34" charset="0"/>
              </a:rPr>
              <a:t> </a:t>
            </a:r>
            <a:r>
              <a:rPr lang="it-IT" dirty="0" err="1">
                <a:latin typeface="Aptos" panose="020B0004020202020204" pitchFamily="34" charset="0"/>
              </a:rPr>
              <a:t>user</a:t>
            </a:r>
            <a:endParaRPr lang="it-IT" dirty="0">
              <a:latin typeface="Aptos" panose="020B0004020202020204" pitchFamily="34" charset="0"/>
            </a:endParaRPr>
          </a:p>
        </p:txBody>
      </p: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4163C2A6-A391-4649-B53B-2B6529DD0AD6}"/>
              </a:ext>
            </a:extLst>
          </p:cNvPr>
          <p:cNvCxnSpPr>
            <a:cxnSpLocks/>
          </p:cNvCxnSpPr>
          <p:nvPr/>
        </p:nvCxnSpPr>
        <p:spPr>
          <a:xfrm flipH="1">
            <a:off x="9340814" y="2723672"/>
            <a:ext cx="899352" cy="716371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29CF160D-4275-654B-84A6-459ED4CAB355}"/>
              </a:ext>
            </a:extLst>
          </p:cNvPr>
          <p:cNvCxnSpPr>
            <a:cxnSpLocks/>
          </p:cNvCxnSpPr>
          <p:nvPr/>
        </p:nvCxnSpPr>
        <p:spPr>
          <a:xfrm>
            <a:off x="9248292" y="4287933"/>
            <a:ext cx="602383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ttangolo 34">
            <a:extLst>
              <a:ext uri="{FF2B5EF4-FFF2-40B4-BE49-F238E27FC236}">
                <a16:creationId xmlns:a16="http://schemas.microsoft.com/office/drawing/2014/main" id="{FBA4FEF1-40C9-E941-8F86-D51F8AF8E834}"/>
              </a:ext>
            </a:extLst>
          </p:cNvPr>
          <p:cNvSpPr/>
          <p:nvPr/>
        </p:nvSpPr>
        <p:spPr>
          <a:xfrm>
            <a:off x="8037434" y="3454894"/>
            <a:ext cx="1210858" cy="2044869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Aptos" panose="020B0004020202020204" pitchFamily="34" charset="0"/>
              </a:rPr>
              <a:t>Access control </a:t>
            </a:r>
            <a:r>
              <a:rPr lang="it-IT" dirty="0" err="1">
                <a:latin typeface="Aptos" panose="020B0004020202020204" pitchFamily="34" charset="0"/>
              </a:rPr>
              <a:t>program</a:t>
            </a:r>
            <a:endParaRPr lang="it-IT" dirty="0">
              <a:latin typeface="Aptos" panose="020B0004020202020204" pitchFamily="34" charset="0"/>
            </a:endParaRP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A7DFE21B-F79B-8340-AFDA-1234DDC018F9}"/>
              </a:ext>
            </a:extLst>
          </p:cNvPr>
          <p:cNvSpPr txBox="1"/>
          <p:nvPr/>
        </p:nvSpPr>
        <p:spPr>
          <a:xfrm>
            <a:off x="2790708" y="5089366"/>
            <a:ext cx="577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or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B5A38A86-C442-570A-50F0-C4F04B18DC6F}"/>
              </a:ext>
            </a:extLst>
          </p:cNvPr>
          <p:cNvSpPr/>
          <p:nvPr/>
        </p:nvSpPr>
        <p:spPr>
          <a:xfrm>
            <a:off x="1788207" y="5990611"/>
            <a:ext cx="8168518" cy="54918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>
                <a:solidFill>
                  <a:schemeClr val="tx1"/>
                </a:solidFill>
                <a:latin typeface="Aptos" panose="020B0004020202020204" pitchFamily="34" charset="0"/>
              </a:rPr>
              <a:t>How can </a:t>
            </a:r>
            <a:r>
              <a:rPr lang="it-IT" sz="2400" dirty="0" err="1">
                <a:solidFill>
                  <a:schemeClr val="tx1"/>
                </a:solidFill>
                <a:latin typeface="Aptos" panose="020B0004020202020204" pitchFamily="34" charset="0"/>
              </a:rPr>
              <a:t>we</a:t>
            </a:r>
            <a:r>
              <a:rPr lang="it-IT" sz="2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it-IT" sz="2400" dirty="0" err="1">
                <a:solidFill>
                  <a:schemeClr val="tx1"/>
                </a:solidFill>
                <a:latin typeface="Aptos" panose="020B0004020202020204" pitchFamily="34" charset="0"/>
              </a:rPr>
              <a:t>protect</a:t>
            </a:r>
            <a:r>
              <a:rPr lang="it-IT" sz="2400" dirty="0">
                <a:solidFill>
                  <a:schemeClr val="tx1"/>
                </a:solidFill>
                <a:latin typeface="Aptos" panose="020B0004020202020204" pitchFamily="34" charset="0"/>
              </a:rPr>
              <a:t> the transmission of </a:t>
            </a:r>
            <a:r>
              <a:rPr lang="it-IT" sz="2400" dirty="0" err="1">
                <a:solidFill>
                  <a:schemeClr val="tx1"/>
                </a:solidFill>
                <a:latin typeface="Aptos" panose="020B0004020202020204" pitchFamily="34" charset="0"/>
              </a:rPr>
              <a:t>credentials</a:t>
            </a:r>
            <a:r>
              <a:rPr lang="it-IT" sz="2400" dirty="0">
                <a:solidFill>
                  <a:schemeClr val="tx1"/>
                </a:solidFill>
                <a:latin typeface="Aptos" panose="020B00040202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34071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3" grpId="0"/>
      <p:bldP spid="24" grpId="0" animBg="1"/>
      <p:bldP spid="25" grpId="0"/>
      <p:bldP spid="37" grpId="0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8B4FE9-3529-B940-924C-E6A0AC647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Digest </a:t>
            </a:r>
            <a:r>
              <a:rPr lang="it-IT" dirty="0" err="1"/>
              <a:t>access</a:t>
            </a:r>
            <a:r>
              <a:rPr lang="it-IT" dirty="0"/>
              <a:t> </a:t>
            </a:r>
            <a:r>
              <a:rPr lang="it-IT" dirty="0" err="1"/>
              <a:t>authentication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F7B8C56-0E85-AD49-9F5B-3ADC0810E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281655"/>
            <a:ext cx="11514980" cy="369333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It uses a </a:t>
            </a:r>
            <a:r>
              <a:rPr lang="en-GB" b="1" dirty="0"/>
              <a:t>hash function </a:t>
            </a:r>
            <a:r>
              <a:rPr lang="en-GB" dirty="0"/>
              <a:t>to protect credentials.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BC44487-F6B8-134A-B8A9-A278B51B1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5</a:t>
            </a:fld>
            <a:endParaRPr lang="en-GB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147EA994-3F25-8F49-93EC-6E0B1EEEF375}"/>
              </a:ext>
            </a:extLst>
          </p:cNvPr>
          <p:cNvSpPr/>
          <p:nvPr/>
        </p:nvSpPr>
        <p:spPr>
          <a:xfrm>
            <a:off x="561950" y="6174912"/>
            <a:ext cx="11379560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itchFamily="2" charset="2"/>
              <a:buChar char="Ø"/>
            </a:pPr>
            <a:r>
              <a:rPr lang="en-GB" sz="2400" dirty="0">
                <a:solidFill>
                  <a:prstClr val="black"/>
                </a:solidFill>
                <a:latin typeface="Aptos" panose="020B0004020202020204" pitchFamily="34" charset="0"/>
              </a:rPr>
              <a:t>Alternative solution: encrypted communication with the </a:t>
            </a:r>
            <a:r>
              <a:rPr lang="en-GB" sz="2400" b="1" dirty="0">
                <a:solidFill>
                  <a:prstClr val="black"/>
                </a:solidFill>
                <a:latin typeface="Aptos" panose="020B0004020202020204" pitchFamily="34" charset="0"/>
              </a:rPr>
              <a:t>HTTPS</a:t>
            </a:r>
            <a:r>
              <a:rPr lang="en-GB" sz="2400" dirty="0">
                <a:solidFill>
                  <a:prstClr val="black"/>
                </a:solidFill>
                <a:latin typeface="Aptos" panose="020B0004020202020204" pitchFamily="34" charset="0"/>
              </a:rPr>
              <a:t> protocol.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2304DB0D-E0B9-6E40-3620-D8D64D3187FC}"/>
              </a:ext>
            </a:extLst>
          </p:cNvPr>
          <p:cNvSpPr/>
          <p:nvPr/>
        </p:nvSpPr>
        <p:spPr>
          <a:xfrm>
            <a:off x="680237" y="1706078"/>
            <a:ext cx="1581625" cy="4226566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GB" sz="2400" dirty="0">
              <a:latin typeface="Aptos" panose="020B0004020202020204" pitchFamily="34" charset="0"/>
            </a:endParaRPr>
          </a:p>
          <a:p>
            <a:pPr algn="ctr"/>
            <a:endParaRPr lang="en-GB" sz="2400" dirty="0">
              <a:latin typeface="Aptos" panose="020B0004020202020204" pitchFamily="34" charset="0"/>
            </a:endParaRPr>
          </a:p>
          <a:p>
            <a:pPr algn="ctr"/>
            <a:r>
              <a:rPr lang="en-GB" sz="2400" dirty="0">
                <a:latin typeface="Aptos" panose="020B0004020202020204" pitchFamily="34" charset="0"/>
              </a:rPr>
              <a:t>Client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7FF88A20-E1CB-3416-7C5E-F8FD08E7B179}"/>
              </a:ext>
            </a:extLst>
          </p:cNvPr>
          <p:cNvSpPr/>
          <p:nvPr/>
        </p:nvSpPr>
        <p:spPr>
          <a:xfrm>
            <a:off x="6677822" y="1706077"/>
            <a:ext cx="5365951" cy="4226560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it-IT" sz="2400" dirty="0">
                <a:latin typeface="Aptos" panose="020B0004020202020204" pitchFamily="34" charset="0"/>
              </a:rPr>
              <a:t> Server</a:t>
            </a:r>
          </a:p>
        </p:txBody>
      </p:sp>
      <p:sp>
        <p:nvSpPr>
          <p:cNvPr id="9" name="Cilindro 8">
            <a:extLst>
              <a:ext uri="{FF2B5EF4-FFF2-40B4-BE49-F238E27FC236}">
                <a16:creationId xmlns:a16="http://schemas.microsoft.com/office/drawing/2014/main" id="{F4C32AC8-9671-087F-96EB-78BDFFCCB3E0}"/>
              </a:ext>
            </a:extLst>
          </p:cNvPr>
          <p:cNvSpPr/>
          <p:nvPr/>
        </p:nvSpPr>
        <p:spPr>
          <a:xfrm>
            <a:off x="6890716" y="2194953"/>
            <a:ext cx="1696278" cy="837526"/>
          </a:xfrm>
          <a:prstGeom prst="can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Aptos" panose="020B0004020202020204" pitchFamily="34" charset="0"/>
              </a:rPr>
              <a:t>DB of </a:t>
            </a:r>
            <a:r>
              <a:rPr lang="it-IT" dirty="0" err="1">
                <a:latin typeface="Aptos" panose="020B0004020202020204" pitchFamily="34" charset="0"/>
              </a:rPr>
              <a:t>credentials</a:t>
            </a:r>
            <a:endParaRPr lang="it-IT" dirty="0">
              <a:latin typeface="Aptos" panose="020B0004020202020204" pitchFamily="34" charset="0"/>
            </a:endParaRPr>
          </a:p>
        </p:txBody>
      </p:sp>
      <p:sp>
        <p:nvSpPr>
          <p:cNvPr id="10" name="Cilindro 9">
            <a:extLst>
              <a:ext uri="{FF2B5EF4-FFF2-40B4-BE49-F238E27FC236}">
                <a16:creationId xmlns:a16="http://schemas.microsoft.com/office/drawing/2014/main" id="{1B2CCB7E-36DB-A9D5-7EDA-AA084D6A168A}"/>
              </a:ext>
            </a:extLst>
          </p:cNvPr>
          <p:cNvSpPr/>
          <p:nvPr/>
        </p:nvSpPr>
        <p:spPr>
          <a:xfrm>
            <a:off x="10067550" y="1871406"/>
            <a:ext cx="1696278" cy="1179128"/>
          </a:xfrm>
          <a:prstGeom prst="can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Aptos" panose="020B0004020202020204" pitchFamily="34" charset="0"/>
              </a:rPr>
              <a:t>DB of </a:t>
            </a:r>
            <a:r>
              <a:rPr lang="it-IT" dirty="0" err="1">
                <a:latin typeface="Aptos" panose="020B0004020202020204" pitchFamily="34" charset="0"/>
              </a:rPr>
              <a:t>protected</a:t>
            </a:r>
            <a:r>
              <a:rPr lang="it-IT" dirty="0">
                <a:latin typeface="Aptos" panose="020B0004020202020204" pitchFamily="34" charset="0"/>
              </a:rPr>
              <a:t> </a:t>
            </a:r>
            <a:r>
              <a:rPr lang="it-IT" dirty="0" err="1">
                <a:latin typeface="Aptos" panose="020B0004020202020204" pitchFamily="34" charset="0"/>
              </a:rPr>
              <a:t>resources</a:t>
            </a:r>
            <a:endParaRPr lang="it-IT" dirty="0">
              <a:latin typeface="Aptos" panose="020B0004020202020204" pitchFamily="34" charset="0"/>
            </a:endParaRP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DB8FACD3-F829-2340-3156-06ACAAC91660}"/>
              </a:ext>
            </a:extLst>
          </p:cNvPr>
          <p:cNvCxnSpPr>
            <a:cxnSpLocks/>
          </p:cNvCxnSpPr>
          <p:nvPr/>
        </p:nvCxnSpPr>
        <p:spPr>
          <a:xfrm>
            <a:off x="11134360" y="3134417"/>
            <a:ext cx="0" cy="39600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1CDA34E5-AC82-8159-D1D3-FD831F16BABA}"/>
              </a:ext>
            </a:extLst>
          </p:cNvPr>
          <p:cNvCxnSpPr>
            <a:cxnSpLocks/>
          </p:cNvCxnSpPr>
          <p:nvPr/>
        </p:nvCxnSpPr>
        <p:spPr>
          <a:xfrm flipV="1">
            <a:off x="10818962" y="3088322"/>
            <a:ext cx="0" cy="756219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ttangolo 14">
            <a:extLst>
              <a:ext uri="{FF2B5EF4-FFF2-40B4-BE49-F238E27FC236}">
                <a16:creationId xmlns:a16="http://schemas.microsoft.com/office/drawing/2014/main" id="{B2BC8B50-AD52-4F14-C7EA-30451CB0A1C8}"/>
              </a:ext>
            </a:extLst>
          </p:cNvPr>
          <p:cNvSpPr/>
          <p:nvPr/>
        </p:nvSpPr>
        <p:spPr>
          <a:xfrm>
            <a:off x="6979692" y="3516254"/>
            <a:ext cx="4869477" cy="1812756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it-IT" b="1" dirty="0">
                <a:latin typeface="Aptos" panose="020B0004020202020204" pitchFamily="34" charset="0"/>
              </a:rPr>
              <a:t>Access control </a:t>
            </a:r>
            <a:r>
              <a:rPr lang="it-IT" b="1" dirty="0" err="1">
                <a:latin typeface="Aptos" panose="020B0004020202020204" pitchFamily="34" charset="0"/>
              </a:rPr>
              <a:t>program</a:t>
            </a:r>
            <a:endParaRPr lang="it-IT" b="1" dirty="0">
              <a:latin typeface="Aptos" panose="020B0004020202020204" pitchFamily="34" charset="0"/>
            </a:endParaRP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72FBDAB2-31E1-2DEB-A9FB-D7931D873DB5}"/>
              </a:ext>
            </a:extLst>
          </p:cNvPr>
          <p:cNvCxnSpPr/>
          <p:nvPr/>
        </p:nvCxnSpPr>
        <p:spPr>
          <a:xfrm>
            <a:off x="2329201" y="2662230"/>
            <a:ext cx="4248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695A6780-F9B0-B203-4922-7595D8F6A690}"/>
              </a:ext>
            </a:extLst>
          </p:cNvPr>
          <p:cNvCxnSpPr>
            <a:cxnSpLocks/>
          </p:cNvCxnSpPr>
          <p:nvPr/>
        </p:nvCxnSpPr>
        <p:spPr>
          <a:xfrm flipH="1">
            <a:off x="2329201" y="3607364"/>
            <a:ext cx="4248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33338087-57CF-9816-27E4-B053D084AC38}"/>
              </a:ext>
            </a:extLst>
          </p:cNvPr>
          <p:cNvSpPr txBox="1"/>
          <p:nvPr/>
        </p:nvSpPr>
        <p:spPr>
          <a:xfrm>
            <a:off x="2881017" y="2307087"/>
            <a:ext cx="3021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Unauthorized request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EAE95755-70C4-3AFE-4B56-5423E3148CBB}"/>
              </a:ext>
            </a:extLst>
          </p:cNvPr>
          <p:cNvSpPr txBox="1"/>
          <p:nvPr/>
        </p:nvSpPr>
        <p:spPr>
          <a:xfrm>
            <a:off x="2506828" y="2878707"/>
            <a:ext cx="3697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Authorization is needed </a:t>
            </a:r>
          </a:p>
          <a:p>
            <a:pPr algn="ctr"/>
            <a:r>
              <a:rPr lang="en-GB" dirty="0">
                <a:latin typeface="Aptos" panose="020B0004020202020204" pitchFamily="34" charset="0"/>
              </a:rPr>
              <a:t>+ random number (large number, N)</a:t>
            </a:r>
          </a:p>
        </p:txBody>
      </p: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BDBFF0F4-992F-8E02-99CC-9ECD4E4EF3B4}"/>
              </a:ext>
            </a:extLst>
          </p:cNvPr>
          <p:cNvCxnSpPr/>
          <p:nvPr/>
        </p:nvCxnSpPr>
        <p:spPr>
          <a:xfrm>
            <a:off x="2387856" y="5031717"/>
            <a:ext cx="4248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B1D9BC6B-1C1A-D419-9618-E0FDD4AE5205}"/>
              </a:ext>
            </a:extLst>
          </p:cNvPr>
          <p:cNvSpPr txBox="1"/>
          <p:nvPr/>
        </p:nvSpPr>
        <p:spPr>
          <a:xfrm>
            <a:off x="6364307" y="4848511"/>
            <a:ext cx="3486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h(credentials, N)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29B4664D-3E65-0245-377F-507649061FB3}"/>
              </a:ext>
            </a:extLst>
          </p:cNvPr>
          <p:cNvCxnSpPr>
            <a:cxnSpLocks/>
          </p:cNvCxnSpPr>
          <p:nvPr/>
        </p:nvCxnSpPr>
        <p:spPr>
          <a:xfrm flipH="1">
            <a:off x="2362483" y="5707287"/>
            <a:ext cx="4248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0D13DE12-2C8B-64D3-6422-9DDA93B16570}"/>
              </a:ext>
            </a:extLst>
          </p:cNvPr>
          <p:cNvSpPr txBox="1"/>
          <p:nvPr/>
        </p:nvSpPr>
        <p:spPr>
          <a:xfrm>
            <a:off x="2209205" y="5261616"/>
            <a:ext cx="4408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Server’s response to authorized request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53C8A598-D8DB-6A96-600E-22940FB2354A}"/>
              </a:ext>
            </a:extLst>
          </p:cNvPr>
          <p:cNvSpPr/>
          <p:nvPr/>
        </p:nvSpPr>
        <p:spPr>
          <a:xfrm>
            <a:off x="7559280" y="4367176"/>
            <a:ext cx="665137" cy="374016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latin typeface="Aptos" panose="020B0004020202020204" pitchFamily="34" charset="0"/>
              </a:rPr>
              <a:t>h(·)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EF8CAC97-E4B0-5BC6-7B61-CF3CF7A87D83}"/>
              </a:ext>
            </a:extLst>
          </p:cNvPr>
          <p:cNvSpPr txBox="1"/>
          <p:nvPr/>
        </p:nvSpPr>
        <p:spPr>
          <a:xfrm>
            <a:off x="2710017" y="4570783"/>
            <a:ext cx="3486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h(credentials, N)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8081ADE8-6800-A05D-E66B-D054C4A31315}"/>
              </a:ext>
            </a:extLst>
          </p:cNvPr>
          <p:cNvSpPr txBox="1"/>
          <p:nvPr/>
        </p:nvSpPr>
        <p:spPr>
          <a:xfrm>
            <a:off x="7015074" y="3796616"/>
            <a:ext cx="1804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credentials, N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759E5611-B356-79C6-247E-A0E192CE143A}"/>
              </a:ext>
            </a:extLst>
          </p:cNvPr>
          <p:cNvSpPr txBox="1"/>
          <p:nvPr/>
        </p:nvSpPr>
        <p:spPr>
          <a:xfrm>
            <a:off x="8430057" y="4365490"/>
            <a:ext cx="2001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h’(credentials, N)</a:t>
            </a:r>
          </a:p>
        </p:txBody>
      </p: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94D341DE-D702-6C5E-2831-76A8750E8905}"/>
              </a:ext>
            </a:extLst>
          </p:cNvPr>
          <p:cNvCxnSpPr>
            <a:cxnSpLocks/>
          </p:cNvCxnSpPr>
          <p:nvPr/>
        </p:nvCxnSpPr>
        <p:spPr>
          <a:xfrm>
            <a:off x="7891848" y="4128445"/>
            <a:ext cx="1" cy="252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43726129-0D8D-9610-73CF-C1EBD2314B52}"/>
              </a:ext>
            </a:extLst>
          </p:cNvPr>
          <p:cNvCxnSpPr>
            <a:cxnSpLocks/>
          </p:cNvCxnSpPr>
          <p:nvPr/>
        </p:nvCxnSpPr>
        <p:spPr>
          <a:xfrm flipV="1">
            <a:off x="8224417" y="4557879"/>
            <a:ext cx="30946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0592EFE2-AF87-BA4D-0D14-B70942176D56}"/>
              </a:ext>
            </a:extLst>
          </p:cNvPr>
          <p:cNvCxnSpPr>
            <a:cxnSpLocks/>
          </p:cNvCxnSpPr>
          <p:nvPr/>
        </p:nvCxnSpPr>
        <p:spPr>
          <a:xfrm>
            <a:off x="9001220" y="5048053"/>
            <a:ext cx="463512" cy="27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ttangolo 36">
            <a:extLst>
              <a:ext uri="{FF2B5EF4-FFF2-40B4-BE49-F238E27FC236}">
                <a16:creationId xmlns:a16="http://schemas.microsoft.com/office/drawing/2014/main" id="{53CB6E11-07D8-CB07-9DA8-E15CAAEDC52E}"/>
              </a:ext>
            </a:extLst>
          </p:cNvPr>
          <p:cNvSpPr/>
          <p:nvPr/>
        </p:nvSpPr>
        <p:spPr>
          <a:xfrm>
            <a:off x="9510737" y="4849461"/>
            <a:ext cx="2164879" cy="374016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latin typeface="Aptos" panose="020B0004020202020204" pitchFamily="34" charset="0"/>
              </a:rPr>
              <a:t>Digest </a:t>
            </a:r>
            <a:r>
              <a:rPr lang="it-IT" b="1" dirty="0" err="1">
                <a:latin typeface="Aptos" panose="020B0004020202020204" pitchFamily="34" charset="0"/>
              </a:rPr>
              <a:t>comparison</a:t>
            </a:r>
            <a:endParaRPr lang="it-IT" b="1" dirty="0">
              <a:latin typeface="Aptos" panose="020B0004020202020204" pitchFamily="34" charset="0"/>
            </a:endParaRPr>
          </a:p>
        </p:txBody>
      </p:sp>
      <p:cxnSp>
        <p:nvCxnSpPr>
          <p:cNvPr id="39" name="Connettore a gomito 38">
            <a:extLst>
              <a:ext uri="{FF2B5EF4-FFF2-40B4-BE49-F238E27FC236}">
                <a16:creationId xmlns:a16="http://schemas.microsoft.com/office/drawing/2014/main" id="{7520DB77-C77B-84A2-46B4-E2D31A9844D0}"/>
              </a:ext>
            </a:extLst>
          </p:cNvPr>
          <p:cNvCxnSpPr>
            <a:cxnSpLocks/>
            <a:stCxn id="28" idx="3"/>
            <a:endCxn id="37" idx="0"/>
          </p:cNvCxnSpPr>
          <p:nvPr/>
        </p:nvCxnSpPr>
        <p:spPr>
          <a:xfrm>
            <a:off x="10431715" y="4550156"/>
            <a:ext cx="161462" cy="299305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C701DA84-7F9A-688E-2FAE-0A72E7CEBD9B}"/>
              </a:ext>
            </a:extLst>
          </p:cNvPr>
          <p:cNvCxnSpPr>
            <a:cxnSpLocks/>
          </p:cNvCxnSpPr>
          <p:nvPr/>
        </p:nvCxnSpPr>
        <p:spPr>
          <a:xfrm flipV="1">
            <a:off x="7368900" y="3047802"/>
            <a:ext cx="0" cy="468452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443EEDAA-42CB-9CE9-5D0F-73F6F2F168E9}"/>
              </a:ext>
            </a:extLst>
          </p:cNvPr>
          <p:cNvCxnSpPr>
            <a:cxnSpLocks/>
          </p:cNvCxnSpPr>
          <p:nvPr/>
        </p:nvCxnSpPr>
        <p:spPr>
          <a:xfrm>
            <a:off x="7806977" y="3059334"/>
            <a:ext cx="0" cy="760023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ttore 2 62">
            <a:extLst>
              <a:ext uri="{FF2B5EF4-FFF2-40B4-BE49-F238E27FC236}">
                <a16:creationId xmlns:a16="http://schemas.microsoft.com/office/drawing/2014/main" id="{CA443672-9B31-632F-68F9-2C33A1CEF90D}"/>
              </a:ext>
            </a:extLst>
          </p:cNvPr>
          <p:cNvCxnSpPr>
            <a:cxnSpLocks/>
          </p:cNvCxnSpPr>
          <p:nvPr/>
        </p:nvCxnSpPr>
        <p:spPr>
          <a:xfrm>
            <a:off x="6668289" y="5031717"/>
            <a:ext cx="576000" cy="274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ttore a gomito 78">
            <a:extLst>
              <a:ext uri="{FF2B5EF4-FFF2-40B4-BE49-F238E27FC236}">
                <a16:creationId xmlns:a16="http://schemas.microsoft.com/office/drawing/2014/main" id="{D822FBD2-AD28-D043-4E77-B64FFF108F76}"/>
              </a:ext>
            </a:extLst>
          </p:cNvPr>
          <p:cNvCxnSpPr/>
          <p:nvPr/>
        </p:nvCxnSpPr>
        <p:spPr>
          <a:xfrm rot="10800000" flipV="1">
            <a:off x="6635856" y="5252731"/>
            <a:ext cx="4017188" cy="441536"/>
          </a:xfrm>
          <a:prstGeom prst="bentConnector3">
            <a:avLst>
              <a:gd name="adj1" fmla="val -189"/>
            </a:avLst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ttangolo 80">
            <a:extLst>
              <a:ext uri="{FF2B5EF4-FFF2-40B4-BE49-F238E27FC236}">
                <a16:creationId xmlns:a16="http://schemas.microsoft.com/office/drawing/2014/main" id="{3389E7AA-83F2-6AEC-E1EC-C672826DA5C3}"/>
              </a:ext>
            </a:extLst>
          </p:cNvPr>
          <p:cNvSpPr/>
          <p:nvPr/>
        </p:nvSpPr>
        <p:spPr>
          <a:xfrm>
            <a:off x="1106156" y="4003714"/>
            <a:ext cx="665137" cy="374016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latin typeface="Aptos" panose="020B0004020202020204" pitchFamily="34" charset="0"/>
              </a:rPr>
              <a:t>h(·)</a:t>
            </a:r>
          </a:p>
        </p:txBody>
      </p:sp>
      <p:sp>
        <p:nvSpPr>
          <p:cNvPr id="82" name="CasellaDiTesto 81">
            <a:extLst>
              <a:ext uri="{FF2B5EF4-FFF2-40B4-BE49-F238E27FC236}">
                <a16:creationId xmlns:a16="http://schemas.microsoft.com/office/drawing/2014/main" id="{66E6A4C1-83E8-ED3D-1EC2-4BC880B2A278}"/>
              </a:ext>
            </a:extLst>
          </p:cNvPr>
          <p:cNvSpPr txBox="1"/>
          <p:nvPr/>
        </p:nvSpPr>
        <p:spPr>
          <a:xfrm>
            <a:off x="561950" y="3433154"/>
            <a:ext cx="1804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ptos" panose="020B0004020202020204" pitchFamily="34" charset="0"/>
              </a:rPr>
              <a:t>credentials, N</a:t>
            </a:r>
          </a:p>
        </p:txBody>
      </p:sp>
      <p:cxnSp>
        <p:nvCxnSpPr>
          <p:cNvPr id="83" name="Connettore 2 82">
            <a:extLst>
              <a:ext uri="{FF2B5EF4-FFF2-40B4-BE49-F238E27FC236}">
                <a16:creationId xmlns:a16="http://schemas.microsoft.com/office/drawing/2014/main" id="{2A888E8F-B87F-950C-FF5B-53DD3D3DE621}"/>
              </a:ext>
            </a:extLst>
          </p:cNvPr>
          <p:cNvCxnSpPr>
            <a:cxnSpLocks/>
          </p:cNvCxnSpPr>
          <p:nvPr/>
        </p:nvCxnSpPr>
        <p:spPr>
          <a:xfrm>
            <a:off x="1438724" y="3764983"/>
            <a:ext cx="1" cy="252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ttore a gomito 83">
            <a:extLst>
              <a:ext uri="{FF2B5EF4-FFF2-40B4-BE49-F238E27FC236}">
                <a16:creationId xmlns:a16="http://schemas.microsoft.com/office/drawing/2014/main" id="{6E695250-2E1B-11B1-64BF-82BF541FE690}"/>
              </a:ext>
            </a:extLst>
          </p:cNvPr>
          <p:cNvCxnSpPr>
            <a:cxnSpLocks/>
            <a:stCxn id="81" idx="2"/>
          </p:cNvCxnSpPr>
          <p:nvPr/>
        </p:nvCxnSpPr>
        <p:spPr>
          <a:xfrm rot="16200000" flipH="1">
            <a:off x="1505566" y="4310888"/>
            <a:ext cx="653989" cy="787671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D0F74CC3-48B2-478C-A122-9AE68049460D}"/>
              </a:ext>
            </a:extLst>
          </p:cNvPr>
          <p:cNvCxnSpPr>
            <a:cxnSpLocks/>
          </p:cNvCxnSpPr>
          <p:nvPr/>
        </p:nvCxnSpPr>
        <p:spPr>
          <a:xfrm flipH="1">
            <a:off x="8224417" y="3056586"/>
            <a:ext cx="0" cy="468452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65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8" grpId="0"/>
      <p:bldP spid="19" grpId="0"/>
      <p:bldP spid="21" grpId="0"/>
      <p:bldP spid="24" grpId="0"/>
      <p:bldP spid="22" grpId="0" animBg="1"/>
      <p:bldP spid="26" grpId="0"/>
      <p:bldP spid="27" grpId="0"/>
      <p:bldP spid="28" grpId="0"/>
      <p:bldP spid="37" grpId="0" animBg="1"/>
      <p:bldP spid="81" grpId="0" animBg="1"/>
      <p:bldP spid="8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JSON Web </a:t>
            </a:r>
            <a:r>
              <a:rPr lang="it-IT" dirty="0" err="1"/>
              <a:t>token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JSON Web Token </a:t>
            </a:r>
            <a:r>
              <a:rPr lang="en-US" dirty="0"/>
              <a:t>(JWT): an Internet standard that defines a compact way for securely transmitting a token between parties as a JSON object. The token can be verified and trusted because it is digitally signed (e.g., using RSA with SHA-256).</a:t>
            </a:r>
          </a:p>
          <a:p>
            <a:r>
              <a:rPr lang="en-US" dirty="0"/>
              <a:t>A JWT token consists of three parts separated by dots, a </a:t>
            </a:r>
            <a:r>
              <a:rPr lang="en-US" dirty="0">
                <a:solidFill>
                  <a:srgbClr val="C00000"/>
                </a:solidFill>
              </a:rPr>
              <a:t>header</a:t>
            </a:r>
            <a:r>
              <a:rPr lang="en-US" dirty="0"/>
              <a:t>, a </a:t>
            </a:r>
            <a:r>
              <a:rPr lang="en-US" dirty="0">
                <a:solidFill>
                  <a:srgbClr val="00B050"/>
                </a:solidFill>
              </a:rPr>
              <a:t>payload</a:t>
            </a:r>
            <a:r>
              <a:rPr lang="en-US" dirty="0"/>
              <a:t>, a </a:t>
            </a:r>
            <a:r>
              <a:rPr lang="en-US" dirty="0">
                <a:solidFill>
                  <a:srgbClr val="0070C0"/>
                </a:solidFill>
              </a:rPr>
              <a:t>signature</a:t>
            </a:r>
            <a:r>
              <a:rPr lang="en-US" dirty="0"/>
              <a:t>, encoded in Base64Url (a type of encoding to represent binary data). 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C7254E"/>
                </a:solidFill>
              </a:rPr>
              <a:t>					</a:t>
            </a:r>
            <a:r>
              <a:rPr lang="en-US" altLang="en-US" dirty="0" err="1">
                <a:solidFill>
                  <a:srgbClr val="C7254E"/>
                </a:solidFill>
              </a:rPr>
              <a:t>xxxxx</a:t>
            </a:r>
            <a:r>
              <a:rPr lang="en-US" altLang="en-US" dirty="0" err="1"/>
              <a:t>.</a:t>
            </a:r>
            <a:r>
              <a:rPr lang="en-US" altLang="en-US" dirty="0" err="1">
                <a:solidFill>
                  <a:srgbClr val="00B050"/>
                </a:solidFill>
              </a:rPr>
              <a:t>yyyyy</a:t>
            </a:r>
            <a:r>
              <a:rPr lang="en-US" altLang="en-US" dirty="0" err="1"/>
              <a:t>.</a:t>
            </a:r>
            <a:r>
              <a:rPr lang="en-US" altLang="en-US" dirty="0" err="1">
                <a:solidFill>
                  <a:srgbClr val="0070C0"/>
                </a:solidFill>
              </a:rPr>
              <a:t>zzzzz</a:t>
            </a:r>
            <a:endParaRPr lang="en-US" altLang="en-US" dirty="0">
              <a:solidFill>
                <a:srgbClr val="0070C0"/>
              </a:solidFill>
            </a:endParaRPr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6</a:t>
            </a:fld>
            <a:endParaRPr lang="en-GB"/>
          </a:p>
        </p:txBody>
      </p:sp>
      <p:sp>
        <p:nvSpPr>
          <p:cNvPr id="7" name="Rettangolo 6"/>
          <p:cNvSpPr/>
          <p:nvPr/>
        </p:nvSpPr>
        <p:spPr>
          <a:xfrm>
            <a:off x="1271131" y="4650316"/>
            <a:ext cx="7398307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it-IT" sz="2400" dirty="0" err="1">
                <a:solidFill>
                  <a:srgbClr val="C00000"/>
                </a:solidFill>
                <a:latin typeface="Aptos" panose="020B0004020202020204" pitchFamily="34" charset="0"/>
              </a:rPr>
              <a:t>Header</a:t>
            </a:r>
            <a:r>
              <a:rPr lang="it-IT" sz="2400" dirty="0">
                <a:latin typeface="Aptos" panose="020B0004020202020204" pitchFamily="34" charset="0"/>
              </a:rPr>
              <a:t>: the </a:t>
            </a:r>
            <a:r>
              <a:rPr lang="it-IT" sz="2400" dirty="0" err="1">
                <a:latin typeface="Aptos" panose="020B0004020202020204" pitchFamily="34" charset="0"/>
              </a:rPr>
              <a:t>type</a:t>
            </a:r>
            <a:r>
              <a:rPr lang="it-IT" sz="2400" dirty="0">
                <a:latin typeface="Aptos" panose="020B0004020202020204" pitchFamily="34" charset="0"/>
              </a:rPr>
              <a:t> of the </a:t>
            </a:r>
            <a:r>
              <a:rPr lang="it-IT" sz="2400" dirty="0" err="1">
                <a:latin typeface="Aptos" panose="020B0004020202020204" pitchFamily="34" charset="0"/>
              </a:rPr>
              <a:t>token</a:t>
            </a:r>
            <a:r>
              <a:rPr lang="it-IT" sz="2400" dirty="0">
                <a:latin typeface="Aptos" panose="020B0004020202020204" pitchFamily="34" charset="0"/>
              </a:rPr>
              <a:t> and the </a:t>
            </a:r>
            <a:r>
              <a:rPr lang="it-IT" sz="2400" dirty="0" err="1">
                <a:latin typeface="Aptos" panose="020B0004020202020204" pitchFamily="34" charset="0"/>
              </a:rPr>
              <a:t>signing</a:t>
            </a:r>
            <a:r>
              <a:rPr lang="it-IT" sz="2400" dirty="0">
                <a:latin typeface="Aptos" panose="020B0004020202020204" pitchFamily="34" charset="0"/>
              </a:rPr>
              <a:t> </a:t>
            </a:r>
            <a:r>
              <a:rPr lang="it-IT" sz="2400" dirty="0" err="1">
                <a:latin typeface="Aptos" panose="020B0004020202020204" pitchFamily="34" charset="0"/>
              </a:rPr>
              <a:t>algorithm</a:t>
            </a:r>
            <a:endParaRPr lang="it-IT" sz="2400" dirty="0">
              <a:latin typeface="Aptos" panose="020B0004020202020204" pitchFamily="34" charset="0"/>
            </a:endParaRPr>
          </a:p>
          <a:p>
            <a:pPr lvl="0" algn="ctr">
              <a:defRPr/>
            </a:pPr>
            <a:endParaRPr lang="it-IT" sz="2400" dirty="0">
              <a:latin typeface="Aptos" panose="020B0004020202020204" pitchFamily="34" charset="0"/>
            </a:endParaRPr>
          </a:p>
          <a:p>
            <a:pPr algn="ctr">
              <a:defRPr/>
            </a:pPr>
            <a:r>
              <a:rPr lang="en-GB" sz="2400" dirty="0">
                <a:latin typeface="Aptos" panose="020B0004020202020204" pitchFamily="34" charset="0"/>
              </a:rPr>
              <a:t>{ "</a:t>
            </a:r>
            <a:r>
              <a:rPr lang="en-GB" sz="2400" dirty="0" err="1">
                <a:latin typeface="Aptos" panose="020B0004020202020204" pitchFamily="34" charset="0"/>
              </a:rPr>
              <a:t>alg</a:t>
            </a:r>
            <a:r>
              <a:rPr lang="en-GB" sz="2400" dirty="0">
                <a:latin typeface="Aptos" panose="020B0004020202020204" pitchFamily="34" charset="0"/>
              </a:rPr>
              <a:t>": “RS256", "</a:t>
            </a:r>
            <a:r>
              <a:rPr lang="en-GB" sz="2400" dirty="0" err="1">
                <a:latin typeface="Aptos" panose="020B0004020202020204" pitchFamily="34" charset="0"/>
              </a:rPr>
              <a:t>typ</a:t>
            </a:r>
            <a:r>
              <a:rPr lang="en-GB" sz="2400" dirty="0">
                <a:latin typeface="Aptos" panose="020B0004020202020204" pitchFamily="34" charset="0"/>
              </a:rPr>
              <a:t>": "JWT" }</a:t>
            </a:r>
          </a:p>
          <a:p>
            <a:pPr lvl="0">
              <a:defRPr/>
            </a:pPr>
            <a:endParaRPr lang="it-IT" dirty="0">
              <a:latin typeface="Aptos" panose="020B0004020202020204" pitchFamily="34" charset="0"/>
            </a:endParaRPr>
          </a:p>
        </p:txBody>
      </p:sp>
      <p:cxnSp>
        <p:nvCxnSpPr>
          <p:cNvPr id="9" name="Connettore 2 8"/>
          <p:cNvCxnSpPr>
            <a:cxnSpLocks/>
          </p:cNvCxnSpPr>
          <p:nvPr/>
        </p:nvCxnSpPr>
        <p:spPr>
          <a:xfrm flipH="1">
            <a:off x="5159375" y="3730336"/>
            <a:ext cx="233507" cy="82825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207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JSON Web </a:t>
            </a:r>
            <a:r>
              <a:rPr lang="it-IT" dirty="0" err="1"/>
              <a:t>token</a:t>
            </a: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7</a:t>
            </a:fld>
            <a:endParaRPr lang="en-GB"/>
          </a:p>
        </p:txBody>
      </p:sp>
      <p:sp>
        <p:nvSpPr>
          <p:cNvPr id="7" name="Segnaposto contenuto 2"/>
          <p:cNvSpPr>
            <a:spLocks noGrp="1"/>
          </p:cNvSpPr>
          <p:nvPr>
            <p:ph idx="1"/>
          </p:nvPr>
        </p:nvSpPr>
        <p:spPr>
          <a:xfrm>
            <a:off x="428172" y="1266826"/>
            <a:ext cx="11368314" cy="4858203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olidFill>
                  <a:srgbClr val="C7254E"/>
                </a:solidFill>
              </a:rPr>
              <a:t>	</a:t>
            </a:r>
            <a:r>
              <a:rPr lang="en-US" altLang="en-US" dirty="0" err="1">
                <a:solidFill>
                  <a:srgbClr val="C7254E"/>
                </a:solidFill>
              </a:rPr>
              <a:t>xxxxx</a:t>
            </a:r>
            <a:r>
              <a:rPr lang="en-US" altLang="en-US" dirty="0" err="1"/>
              <a:t>.</a:t>
            </a:r>
            <a:r>
              <a:rPr lang="en-US" altLang="en-US" dirty="0" err="1">
                <a:solidFill>
                  <a:srgbClr val="00B050"/>
                </a:solidFill>
              </a:rPr>
              <a:t>yyyyy</a:t>
            </a:r>
            <a:r>
              <a:rPr lang="en-US" altLang="en-US" dirty="0" err="1"/>
              <a:t>.</a:t>
            </a:r>
            <a:r>
              <a:rPr lang="en-US" altLang="en-US" dirty="0" err="1">
                <a:solidFill>
                  <a:srgbClr val="0070C0"/>
                </a:solidFill>
              </a:rPr>
              <a:t>zzzzz</a:t>
            </a:r>
            <a:endParaRPr lang="en-US" altLang="en-US" dirty="0">
              <a:solidFill>
                <a:srgbClr val="0070C0"/>
              </a:solidFill>
            </a:endParaRPr>
          </a:p>
          <a:p>
            <a:endParaRPr lang="en-GB" dirty="0"/>
          </a:p>
        </p:txBody>
      </p:sp>
      <p:sp>
        <p:nvSpPr>
          <p:cNvPr id="9" name="Rettangolo 8"/>
          <p:cNvSpPr/>
          <p:nvPr/>
        </p:nvSpPr>
        <p:spPr>
          <a:xfrm>
            <a:off x="636153" y="2168175"/>
            <a:ext cx="83915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400" dirty="0">
                <a:solidFill>
                  <a:srgbClr val="00B050"/>
                </a:solidFill>
                <a:latin typeface="Aptos" panose="020B0004020202020204" pitchFamily="34" charset="0"/>
              </a:rPr>
              <a:t>Payload</a:t>
            </a:r>
            <a:r>
              <a:rPr lang="it-IT" sz="2400" dirty="0">
                <a:latin typeface="Aptos" panose="020B0004020202020204" pitchFamily="34" charset="0"/>
              </a:rPr>
              <a:t>: </a:t>
            </a:r>
            <a:r>
              <a:rPr lang="it-IT" sz="2400" dirty="0" err="1">
                <a:latin typeface="Aptos" panose="020B0004020202020204" pitchFamily="34" charset="0"/>
              </a:rPr>
              <a:t>it</a:t>
            </a:r>
            <a:r>
              <a:rPr lang="it-IT" sz="2400" dirty="0">
                <a:latin typeface="Aptos" panose="020B0004020202020204" pitchFamily="34" charset="0"/>
              </a:rPr>
              <a:t> </a:t>
            </a:r>
            <a:r>
              <a:rPr lang="it-IT" sz="2400" dirty="0" err="1">
                <a:latin typeface="Aptos" panose="020B0004020202020204" pitchFamily="34" charset="0"/>
              </a:rPr>
              <a:t>contains</a:t>
            </a:r>
            <a:r>
              <a:rPr lang="it-IT" sz="2400" dirty="0">
                <a:latin typeface="Aptos" panose="020B0004020202020204" pitchFamily="34" charset="0"/>
              </a:rPr>
              <a:t> </a:t>
            </a:r>
            <a:r>
              <a:rPr lang="it-IT" sz="2400" dirty="0" err="1">
                <a:latin typeface="Aptos" panose="020B0004020202020204" pitchFamily="34" charset="0"/>
              </a:rPr>
              <a:t>claims</a:t>
            </a:r>
            <a:r>
              <a:rPr lang="it-IT" sz="2400" dirty="0">
                <a:latin typeface="Aptos" panose="020B0004020202020204" pitchFamily="34" charset="0"/>
              </a:rPr>
              <a:t>, i.e., some </a:t>
            </a:r>
            <a:r>
              <a:rPr lang="it-IT" sz="2400" dirty="0" err="1">
                <a:latin typeface="Aptos" panose="020B0004020202020204" pitchFamily="34" charset="0"/>
              </a:rPr>
              <a:t>statements</a:t>
            </a:r>
            <a:r>
              <a:rPr lang="it-IT" sz="2400" dirty="0">
                <a:latin typeface="Aptos" panose="020B0004020202020204" pitchFamily="34" charset="0"/>
              </a:rPr>
              <a:t>.</a:t>
            </a:r>
          </a:p>
        </p:txBody>
      </p:sp>
      <p:cxnSp>
        <p:nvCxnSpPr>
          <p:cNvPr id="10" name="Connettore 2 9"/>
          <p:cNvCxnSpPr/>
          <p:nvPr/>
        </p:nvCxnSpPr>
        <p:spPr>
          <a:xfrm flipH="1">
            <a:off x="2624666" y="1713429"/>
            <a:ext cx="23134" cy="4547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ella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243222"/>
              </p:ext>
            </p:extLst>
          </p:nvPr>
        </p:nvGraphicFramePr>
        <p:xfrm>
          <a:off x="511363" y="3852149"/>
          <a:ext cx="9547451" cy="2734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944632394"/>
                    </a:ext>
                  </a:extLst>
                </a:gridCol>
                <a:gridCol w="1698172">
                  <a:extLst>
                    <a:ext uri="{9D8B030D-6E8A-4147-A177-3AD203B41FA5}">
                      <a16:colId xmlns:a16="http://schemas.microsoft.com/office/drawing/2014/main" val="2563894591"/>
                    </a:ext>
                  </a:extLst>
                </a:gridCol>
                <a:gridCol w="7087279">
                  <a:extLst>
                    <a:ext uri="{9D8B030D-6E8A-4147-A177-3AD203B41FA5}">
                      <a16:colId xmlns:a16="http://schemas.microsoft.com/office/drawing/2014/main" val="3422392706"/>
                    </a:ext>
                  </a:extLst>
                </a:gridCol>
              </a:tblGrid>
              <a:tr h="349049">
                <a:tc>
                  <a:txBody>
                    <a:bodyPr/>
                    <a:lstStyle/>
                    <a:p>
                      <a:r>
                        <a:rPr lang="en-GB" sz="1600" dirty="0" err="1">
                          <a:effectLst/>
                          <a:latin typeface="Aptos" panose="020B0004020202020204" pitchFamily="34" charset="0"/>
                        </a:rPr>
                        <a:t>iss</a:t>
                      </a:r>
                      <a:endParaRPr lang="en-GB" sz="16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9521" marR="59521" marT="29761" marB="29761" anchor="ctr"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effectLst/>
                          <a:latin typeface="Aptos" panose="020B0004020202020204" pitchFamily="34" charset="0"/>
                        </a:rPr>
                        <a:t>Issuer</a:t>
                      </a:r>
                    </a:p>
                  </a:txBody>
                  <a:tcPr marL="59521" marR="59521" marT="29761" marB="29761" anchor="ctr"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effectLst/>
                          <a:latin typeface="Aptos" panose="020B0004020202020204" pitchFamily="34" charset="0"/>
                        </a:rPr>
                        <a:t>Identifies principal that issued the JWT.</a:t>
                      </a:r>
                    </a:p>
                  </a:txBody>
                  <a:tcPr marL="59521" marR="59521" marT="29761" marB="29761" anchor="ctr"/>
                </a:tc>
                <a:extLst>
                  <a:ext uri="{0D108BD9-81ED-4DB2-BD59-A6C34878D82A}">
                    <a16:rowId xmlns:a16="http://schemas.microsoft.com/office/drawing/2014/main" val="20433711"/>
                  </a:ext>
                </a:extLst>
              </a:tr>
              <a:tr h="349049">
                <a:tc>
                  <a:txBody>
                    <a:bodyPr/>
                    <a:lstStyle/>
                    <a:p>
                      <a:r>
                        <a:rPr lang="en-GB" sz="1600" dirty="0">
                          <a:effectLst/>
                          <a:latin typeface="Aptos" panose="020B0004020202020204" pitchFamily="34" charset="0"/>
                        </a:rPr>
                        <a:t>sub</a:t>
                      </a:r>
                    </a:p>
                  </a:txBody>
                  <a:tcPr marL="59521" marR="59521" marT="29761" marB="29761" anchor="ctr"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effectLst/>
                          <a:latin typeface="Aptos" panose="020B0004020202020204" pitchFamily="34" charset="0"/>
                        </a:rPr>
                        <a:t>Subject</a:t>
                      </a:r>
                    </a:p>
                  </a:txBody>
                  <a:tcPr marL="59521" marR="59521" marT="29761" marB="29761" anchor="ctr"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effectLst/>
                          <a:latin typeface="Aptos" panose="020B0004020202020204" pitchFamily="34" charset="0"/>
                        </a:rPr>
                        <a:t>Identifies the subject of the JWT.</a:t>
                      </a:r>
                    </a:p>
                  </a:txBody>
                  <a:tcPr marL="59521" marR="59521" marT="29761" marB="29761" anchor="ctr"/>
                </a:tc>
                <a:extLst>
                  <a:ext uri="{0D108BD9-81ED-4DB2-BD59-A6C34878D82A}">
                    <a16:rowId xmlns:a16="http://schemas.microsoft.com/office/drawing/2014/main" val="2472020253"/>
                  </a:ext>
                </a:extLst>
              </a:tr>
              <a:tr h="744561">
                <a:tc>
                  <a:txBody>
                    <a:bodyPr/>
                    <a:lstStyle/>
                    <a:p>
                      <a:r>
                        <a:rPr lang="en-GB" sz="1600" dirty="0" err="1">
                          <a:effectLst/>
                          <a:latin typeface="Aptos" panose="020B0004020202020204" pitchFamily="34" charset="0"/>
                        </a:rPr>
                        <a:t>aud</a:t>
                      </a:r>
                      <a:endParaRPr lang="en-GB" sz="16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9521" marR="59521" marT="29761" marB="29761" anchor="ctr"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effectLst/>
                          <a:latin typeface="Aptos" panose="020B0004020202020204" pitchFamily="34" charset="0"/>
                        </a:rPr>
                        <a:t>Audience</a:t>
                      </a:r>
                    </a:p>
                  </a:txBody>
                  <a:tcPr marL="59521" marR="59521" marT="29761" marB="29761" anchor="ctr"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effectLst/>
                          <a:latin typeface="Aptos" panose="020B0004020202020204" pitchFamily="34" charset="0"/>
                        </a:rPr>
                        <a:t>Identifies the recipients that the JWT is intended for. If the principal processing the claim does not identify itself with a value in the </a:t>
                      </a:r>
                      <a:r>
                        <a:rPr lang="en-GB" sz="1600" dirty="0" err="1">
                          <a:effectLst/>
                          <a:latin typeface="Aptos" panose="020B0004020202020204" pitchFamily="34" charset="0"/>
                        </a:rPr>
                        <a:t>aud</a:t>
                      </a:r>
                      <a:r>
                        <a:rPr lang="en-GB" sz="1600" dirty="0">
                          <a:effectLst/>
                          <a:latin typeface="Aptos" panose="020B0004020202020204" pitchFamily="34" charset="0"/>
                        </a:rPr>
                        <a:t> claim when this claim is present, then the JWT must be rejected.</a:t>
                      </a:r>
                    </a:p>
                  </a:txBody>
                  <a:tcPr marL="59521" marR="59521" marT="29761" marB="29761" anchor="ctr"/>
                </a:tc>
                <a:extLst>
                  <a:ext uri="{0D108BD9-81ED-4DB2-BD59-A6C34878D82A}">
                    <a16:rowId xmlns:a16="http://schemas.microsoft.com/office/drawing/2014/main" val="1120949091"/>
                  </a:ext>
                </a:extLst>
              </a:tr>
              <a:tr h="515049">
                <a:tc>
                  <a:txBody>
                    <a:bodyPr/>
                    <a:lstStyle/>
                    <a:p>
                      <a:r>
                        <a:rPr lang="en-GB" sz="1600">
                          <a:effectLst/>
                          <a:latin typeface="Aptos" panose="020B0004020202020204" pitchFamily="34" charset="0"/>
                        </a:rPr>
                        <a:t>exp</a:t>
                      </a:r>
                    </a:p>
                  </a:txBody>
                  <a:tcPr marL="59521" marR="59521" marT="29761" marB="29761" anchor="ctr"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effectLst/>
                          <a:latin typeface="Aptos" panose="020B0004020202020204" pitchFamily="34" charset="0"/>
                        </a:rPr>
                        <a:t>Expiration Time</a:t>
                      </a:r>
                    </a:p>
                  </a:txBody>
                  <a:tcPr marL="59521" marR="59521" marT="29761" marB="29761" anchor="ctr"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effectLst/>
                          <a:latin typeface="Aptos" panose="020B0004020202020204" pitchFamily="34" charset="0"/>
                        </a:rPr>
                        <a:t>Identifies the expiration time on and after which the JWT must not be accepted for processing. </a:t>
                      </a:r>
                    </a:p>
                  </a:txBody>
                  <a:tcPr marL="59521" marR="59521" marT="29761" marB="29761" anchor="ctr"/>
                </a:tc>
                <a:extLst>
                  <a:ext uri="{0D108BD9-81ED-4DB2-BD59-A6C34878D82A}">
                    <a16:rowId xmlns:a16="http://schemas.microsoft.com/office/drawing/2014/main" val="3975743850"/>
                  </a:ext>
                </a:extLst>
              </a:tr>
              <a:tr h="349049">
                <a:tc>
                  <a:txBody>
                    <a:bodyPr/>
                    <a:lstStyle/>
                    <a:p>
                      <a:r>
                        <a:rPr lang="en-GB" sz="1600">
                          <a:effectLst/>
                          <a:latin typeface="Aptos" panose="020B0004020202020204" pitchFamily="34" charset="0"/>
                        </a:rPr>
                        <a:t>nbf</a:t>
                      </a:r>
                    </a:p>
                  </a:txBody>
                  <a:tcPr marL="59521" marR="59521" marT="29761" marB="29761" anchor="ctr"/>
                </a:tc>
                <a:tc>
                  <a:txBody>
                    <a:bodyPr/>
                    <a:lstStyle/>
                    <a:p>
                      <a:r>
                        <a:rPr lang="en-GB" sz="1600">
                          <a:effectLst/>
                          <a:latin typeface="Aptos" panose="020B0004020202020204" pitchFamily="34" charset="0"/>
                        </a:rPr>
                        <a:t>Not Before</a:t>
                      </a:r>
                    </a:p>
                  </a:txBody>
                  <a:tcPr marL="59521" marR="59521" marT="29761" marB="29761" anchor="ctr"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effectLst/>
                          <a:latin typeface="Aptos" panose="020B0004020202020204" pitchFamily="34" charset="0"/>
                        </a:rPr>
                        <a:t>Identifies the time on which the JWT will start to be accepted for processing. </a:t>
                      </a:r>
                    </a:p>
                  </a:txBody>
                  <a:tcPr marL="59521" marR="59521" marT="29761" marB="29761" anchor="ctr"/>
                </a:tc>
                <a:extLst>
                  <a:ext uri="{0D108BD9-81ED-4DB2-BD59-A6C34878D82A}">
                    <a16:rowId xmlns:a16="http://schemas.microsoft.com/office/drawing/2014/main" val="2742796700"/>
                  </a:ext>
                </a:extLst>
              </a:tr>
              <a:tr h="349049">
                <a:tc>
                  <a:txBody>
                    <a:bodyPr/>
                    <a:lstStyle/>
                    <a:p>
                      <a:r>
                        <a:rPr lang="en-GB" sz="1600">
                          <a:effectLst/>
                          <a:latin typeface="Aptos" panose="020B0004020202020204" pitchFamily="34" charset="0"/>
                        </a:rPr>
                        <a:t>iat</a:t>
                      </a:r>
                    </a:p>
                  </a:txBody>
                  <a:tcPr marL="59521" marR="59521" marT="29761" marB="29761" anchor="ctr"/>
                </a:tc>
                <a:tc>
                  <a:txBody>
                    <a:bodyPr/>
                    <a:lstStyle/>
                    <a:p>
                      <a:r>
                        <a:rPr lang="en-GB" sz="1600">
                          <a:effectLst/>
                          <a:latin typeface="Aptos" panose="020B0004020202020204" pitchFamily="34" charset="0"/>
                        </a:rPr>
                        <a:t>Issued at</a:t>
                      </a:r>
                    </a:p>
                  </a:txBody>
                  <a:tcPr marL="59521" marR="59521" marT="29761" marB="29761" anchor="ctr"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effectLst/>
                          <a:latin typeface="Aptos" panose="020B0004020202020204" pitchFamily="34" charset="0"/>
                        </a:rPr>
                        <a:t>Identifies the time at which the JWT was issued. </a:t>
                      </a:r>
                    </a:p>
                  </a:txBody>
                  <a:tcPr marL="59521" marR="59521" marT="29761" marB="29761" anchor="ctr"/>
                </a:tc>
                <a:extLst>
                  <a:ext uri="{0D108BD9-81ED-4DB2-BD59-A6C34878D82A}">
                    <a16:rowId xmlns:a16="http://schemas.microsoft.com/office/drawing/2014/main" val="3236359202"/>
                  </a:ext>
                </a:extLst>
              </a:tr>
            </a:tbl>
          </a:graphicData>
        </a:graphic>
      </p:graphicFrame>
      <p:sp>
        <p:nvSpPr>
          <p:cNvPr id="13" name="CasellaDiTesto 12"/>
          <p:cNvSpPr txBox="1"/>
          <p:nvPr/>
        </p:nvSpPr>
        <p:spPr>
          <a:xfrm>
            <a:off x="428172" y="3329711"/>
            <a:ext cx="47098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Aptos" panose="020B0004020202020204" pitchFamily="34" charset="0"/>
              </a:rPr>
              <a:t>Standard </a:t>
            </a:r>
            <a:r>
              <a:rPr lang="it-IT" sz="2000" b="1" dirty="0" err="1">
                <a:latin typeface="Aptos" panose="020B0004020202020204" pitchFamily="34" charset="0"/>
              </a:rPr>
              <a:t>payload</a:t>
            </a:r>
            <a:r>
              <a:rPr lang="it-IT" sz="2000" b="1" dirty="0">
                <a:latin typeface="Aptos" panose="020B0004020202020204" pitchFamily="34" charset="0"/>
              </a:rPr>
              <a:t> </a:t>
            </a:r>
            <a:r>
              <a:rPr lang="it-IT" sz="2000" b="1" dirty="0" err="1">
                <a:latin typeface="Aptos" panose="020B0004020202020204" pitchFamily="34" charset="0"/>
              </a:rPr>
              <a:t>claim</a:t>
            </a:r>
            <a:r>
              <a:rPr lang="it-IT" sz="2000" b="1" dirty="0">
                <a:latin typeface="Aptos" panose="020B0004020202020204" pitchFamily="34" charset="0"/>
              </a:rPr>
              <a:t> </a:t>
            </a:r>
            <a:r>
              <a:rPr lang="it-IT" sz="2000" b="1" dirty="0" err="1">
                <a:latin typeface="Aptos" panose="020B0004020202020204" pitchFamily="34" charset="0"/>
              </a:rPr>
              <a:t>fields</a:t>
            </a:r>
            <a:endParaRPr lang="en-GB" sz="2000" b="1" dirty="0">
              <a:latin typeface="Aptos" panose="020B0004020202020204" pitchFamily="34" charset="0"/>
            </a:endParaRPr>
          </a:p>
        </p:txBody>
      </p:sp>
      <p:sp>
        <p:nvSpPr>
          <p:cNvPr id="14" name="Rettangolo 13"/>
          <p:cNvSpPr/>
          <p:nvPr/>
        </p:nvSpPr>
        <p:spPr>
          <a:xfrm>
            <a:off x="7876419" y="1131940"/>
            <a:ext cx="3920067" cy="2585323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latin typeface="Aptos" panose="020B0004020202020204" pitchFamily="34" charset="0"/>
              </a:rPr>
              <a:t>{ </a:t>
            </a:r>
          </a:p>
          <a:p>
            <a:r>
              <a:rPr lang="en-GB" dirty="0">
                <a:latin typeface="Aptos" panose="020B0004020202020204" pitchFamily="34" charset="0"/>
              </a:rPr>
              <a:t>"</a:t>
            </a:r>
            <a:r>
              <a:rPr lang="en-GB" dirty="0" err="1">
                <a:latin typeface="Aptos" panose="020B0004020202020204" pitchFamily="34" charset="0"/>
              </a:rPr>
              <a:t>iss</a:t>
            </a:r>
            <a:r>
              <a:rPr lang="en-GB" dirty="0">
                <a:latin typeface="Aptos" panose="020B0004020202020204" pitchFamily="34" charset="0"/>
              </a:rPr>
              <a:t>": "https://accounts.google.com", </a:t>
            </a:r>
          </a:p>
          <a:p>
            <a:r>
              <a:rPr lang="en-GB" dirty="0">
                <a:latin typeface="Aptos" panose="020B0004020202020204" pitchFamily="34" charset="0"/>
              </a:rPr>
              <a:t>"sub": "you@gmail.com", </a:t>
            </a:r>
          </a:p>
          <a:p>
            <a:r>
              <a:rPr lang="en-GB" dirty="0">
                <a:latin typeface="Aptos" panose="020B0004020202020204" pitchFamily="34" charset="0"/>
              </a:rPr>
              <a:t>"name": “John Smith" </a:t>
            </a:r>
          </a:p>
          <a:p>
            <a:r>
              <a:rPr lang="en-GB" dirty="0">
                <a:latin typeface="Aptos" panose="020B0004020202020204" pitchFamily="34" charset="0"/>
              </a:rPr>
              <a:t>"</a:t>
            </a:r>
            <a:r>
              <a:rPr lang="en-GB" dirty="0" err="1">
                <a:latin typeface="Aptos" panose="020B0004020202020204" pitchFamily="34" charset="0"/>
              </a:rPr>
              <a:t>aud</a:t>
            </a:r>
            <a:r>
              <a:rPr lang="en-GB" dirty="0">
                <a:latin typeface="Aptos" panose="020B0004020202020204" pitchFamily="34" charset="0"/>
              </a:rPr>
              <a:t>": "s6BhdRkqt3", </a:t>
            </a:r>
          </a:p>
          <a:p>
            <a:r>
              <a:rPr lang="en-GB" dirty="0">
                <a:latin typeface="Aptos" panose="020B0004020202020204" pitchFamily="34" charset="0"/>
              </a:rPr>
              <a:t>"</a:t>
            </a:r>
            <a:r>
              <a:rPr lang="en-GB" dirty="0" err="1">
                <a:latin typeface="Aptos" panose="020B0004020202020204" pitchFamily="34" charset="0"/>
              </a:rPr>
              <a:t>exp</a:t>
            </a:r>
            <a:r>
              <a:rPr lang="en-GB" dirty="0">
                <a:latin typeface="Aptos" panose="020B0004020202020204" pitchFamily="34" charset="0"/>
              </a:rPr>
              <a:t>": 1311281970, </a:t>
            </a:r>
          </a:p>
          <a:p>
            <a:r>
              <a:rPr lang="en-GB" dirty="0">
                <a:latin typeface="Aptos" panose="020B0004020202020204" pitchFamily="34" charset="0"/>
              </a:rPr>
              <a:t>"</a:t>
            </a:r>
            <a:r>
              <a:rPr lang="en-GB" dirty="0" err="1">
                <a:latin typeface="Aptos" panose="020B0004020202020204" pitchFamily="34" charset="0"/>
              </a:rPr>
              <a:t>iat</a:t>
            </a:r>
            <a:r>
              <a:rPr lang="en-GB" dirty="0">
                <a:latin typeface="Aptos" panose="020B0004020202020204" pitchFamily="34" charset="0"/>
              </a:rPr>
              <a:t>": 1311280970, </a:t>
            </a:r>
          </a:p>
          <a:p>
            <a:r>
              <a:rPr lang="en-GB" dirty="0">
                <a:latin typeface="Aptos" panose="020B0004020202020204" pitchFamily="34" charset="0"/>
              </a:rPr>
              <a:t>"</a:t>
            </a:r>
            <a:r>
              <a:rPr lang="en-GB" dirty="0" err="1">
                <a:latin typeface="Aptos" panose="020B0004020202020204" pitchFamily="34" charset="0"/>
              </a:rPr>
              <a:t>auth_time</a:t>
            </a:r>
            <a:r>
              <a:rPr lang="en-GB" dirty="0">
                <a:latin typeface="Aptos" panose="020B0004020202020204" pitchFamily="34" charset="0"/>
              </a:rPr>
              <a:t>": 1311280969</a:t>
            </a:r>
          </a:p>
          <a:p>
            <a:r>
              <a:rPr lang="en-GB" dirty="0">
                <a:latin typeface="Aptos" panose="020B0004020202020204" pitchFamily="34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499539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JSON Web </a:t>
            </a:r>
            <a:r>
              <a:rPr lang="it-IT" dirty="0" err="1"/>
              <a:t>token</a:t>
            </a: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8</a:t>
            </a:fld>
            <a:endParaRPr lang="en-GB"/>
          </a:p>
        </p:txBody>
      </p:sp>
      <p:sp>
        <p:nvSpPr>
          <p:cNvPr id="7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858203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olidFill>
                  <a:srgbClr val="C7254E"/>
                </a:solidFill>
              </a:rPr>
              <a:t>					</a:t>
            </a:r>
            <a:r>
              <a:rPr lang="en-US" altLang="en-US" dirty="0" err="1">
                <a:solidFill>
                  <a:srgbClr val="C7254E"/>
                </a:solidFill>
              </a:rPr>
              <a:t>xxxxx</a:t>
            </a:r>
            <a:r>
              <a:rPr lang="en-US" altLang="en-US" dirty="0" err="1"/>
              <a:t>.</a:t>
            </a:r>
            <a:r>
              <a:rPr lang="en-US" altLang="en-US" dirty="0" err="1">
                <a:solidFill>
                  <a:srgbClr val="00B050"/>
                </a:solidFill>
              </a:rPr>
              <a:t>yyyyy</a:t>
            </a:r>
            <a:r>
              <a:rPr lang="en-US" altLang="en-US" dirty="0" err="1"/>
              <a:t>.</a:t>
            </a:r>
            <a:r>
              <a:rPr lang="en-US" altLang="en-US" dirty="0" err="1">
                <a:solidFill>
                  <a:srgbClr val="0070C0"/>
                </a:solidFill>
              </a:rPr>
              <a:t>zzzzz</a:t>
            </a:r>
            <a:endParaRPr lang="en-US" alt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alt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altLang="en-US" dirty="0">
              <a:solidFill>
                <a:srgbClr val="0070C0"/>
              </a:solidFill>
            </a:endParaRPr>
          </a:p>
          <a:p>
            <a:r>
              <a:rPr lang="en-GB" dirty="0"/>
              <a:t>The signature is calculated by these steps:</a:t>
            </a:r>
          </a:p>
          <a:p>
            <a:pPr lvl="1"/>
            <a:r>
              <a:rPr lang="en-GB" sz="2400" dirty="0"/>
              <a:t>header and payload encoded using Base64url</a:t>
            </a:r>
          </a:p>
          <a:p>
            <a:pPr lvl="1"/>
            <a:r>
              <a:rPr lang="en-GB" sz="2400" dirty="0"/>
              <a:t>concatenation of the encoded header and payload with a separating character</a:t>
            </a:r>
          </a:p>
          <a:p>
            <a:pPr lvl="1"/>
            <a:r>
              <a:rPr lang="en-GB" sz="2400" dirty="0"/>
              <a:t>Encryption of the obtained string through the cryptographic algorithm specified in the header.</a:t>
            </a:r>
          </a:p>
          <a:p>
            <a:endParaRPr lang="en-GB" dirty="0"/>
          </a:p>
          <a:p>
            <a:pPr marL="0" indent="0">
              <a:buNone/>
            </a:pPr>
            <a:r>
              <a:rPr lang="it-IT" dirty="0"/>
              <a:t>RS256(</a:t>
            </a:r>
            <a:r>
              <a:rPr lang="en-GB" dirty="0"/>
              <a:t>base64UrlEncode(header) + "." + base64UrlEncode(payload), </a:t>
            </a:r>
            <a:r>
              <a:rPr lang="en-GB" dirty="0" err="1"/>
              <a:t>signature_key</a:t>
            </a:r>
            <a:r>
              <a:rPr lang="it-IT" dirty="0"/>
              <a:t>)</a:t>
            </a:r>
            <a:endParaRPr lang="en-GB" dirty="0"/>
          </a:p>
          <a:p>
            <a:pPr marL="0" indent="0">
              <a:buNone/>
            </a:pPr>
            <a:endParaRPr lang="en-US" altLang="en-US" dirty="0">
              <a:solidFill>
                <a:srgbClr val="0070C0"/>
              </a:solidFill>
            </a:endParaRPr>
          </a:p>
          <a:p>
            <a:endParaRPr lang="en-GB" dirty="0"/>
          </a:p>
        </p:txBody>
      </p:sp>
      <p:sp>
        <p:nvSpPr>
          <p:cNvPr id="9" name="Rettangolo 8"/>
          <p:cNvSpPr/>
          <p:nvPr/>
        </p:nvSpPr>
        <p:spPr>
          <a:xfrm>
            <a:off x="2864304" y="2140857"/>
            <a:ext cx="83915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400" dirty="0" err="1">
                <a:solidFill>
                  <a:srgbClr val="0070C0"/>
                </a:solidFill>
                <a:latin typeface="Aptos" panose="020B0004020202020204" pitchFamily="34" charset="0"/>
              </a:rPr>
              <a:t>Signature</a:t>
            </a:r>
            <a:r>
              <a:rPr lang="it-IT" sz="2400" dirty="0">
                <a:latin typeface="Aptos" panose="020B0004020202020204" pitchFamily="34" charset="0"/>
              </a:rPr>
              <a:t>: </a:t>
            </a:r>
            <a:r>
              <a:rPr lang="it-IT" sz="2400" dirty="0" err="1">
                <a:latin typeface="Aptos" panose="020B0004020202020204" pitchFamily="34" charset="0"/>
              </a:rPr>
              <a:t>it</a:t>
            </a:r>
            <a:r>
              <a:rPr lang="it-IT" sz="2400" dirty="0">
                <a:latin typeface="Aptos" panose="020B0004020202020204" pitchFamily="34" charset="0"/>
              </a:rPr>
              <a:t> </a:t>
            </a:r>
            <a:r>
              <a:rPr lang="it-IT" sz="2400" dirty="0" err="1">
                <a:latin typeface="Aptos" panose="020B0004020202020204" pitchFamily="34" charset="0"/>
              </a:rPr>
              <a:t>contains</a:t>
            </a:r>
            <a:r>
              <a:rPr lang="it-IT" sz="2400" dirty="0">
                <a:latin typeface="Aptos" panose="020B0004020202020204" pitchFamily="34" charset="0"/>
              </a:rPr>
              <a:t> a </a:t>
            </a:r>
            <a:r>
              <a:rPr lang="it-IT" sz="2400" dirty="0" err="1">
                <a:latin typeface="Aptos" panose="020B0004020202020204" pitchFamily="34" charset="0"/>
              </a:rPr>
              <a:t>signature</a:t>
            </a:r>
            <a:r>
              <a:rPr lang="it-IT" sz="2400" dirty="0">
                <a:latin typeface="Aptos" panose="020B0004020202020204" pitchFamily="34" charset="0"/>
              </a:rPr>
              <a:t> of the </a:t>
            </a:r>
            <a:r>
              <a:rPr lang="it-IT" sz="2400" dirty="0" err="1">
                <a:latin typeface="Aptos" panose="020B0004020202020204" pitchFamily="34" charset="0"/>
              </a:rPr>
              <a:t>header</a:t>
            </a:r>
            <a:r>
              <a:rPr lang="it-IT" sz="2400" dirty="0">
                <a:latin typeface="Aptos" panose="020B0004020202020204" pitchFamily="34" charset="0"/>
              </a:rPr>
              <a:t> and </a:t>
            </a:r>
            <a:r>
              <a:rPr lang="it-IT" sz="2400" dirty="0" err="1">
                <a:latin typeface="Aptos" panose="020B0004020202020204" pitchFamily="34" charset="0"/>
              </a:rPr>
              <a:t>payload</a:t>
            </a:r>
            <a:endParaRPr lang="en-GB" sz="2400" dirty="0">
              <a:latin typeface="Aptos" panose="020B0004020202020204" pitchFamily="34" charset="0"/>
            </a:endParaRPr>
          </a:p>
        </p:txBody>
      </p:sp>
      <p:cxnSp>
        <p:nvCxnSpPr>
          <p:cNvPr id="10" name="Connettore 2 9"/>
          <p:cNvCxnSpPr>
            <a:cxnSpLocks/>
          </p:cNvCxnSpPr>
          <p:nvPr/>
        </p:nvCxnSpPr>
        <p:spPr>
          <a:xfrm flipH="1">
            <a:off x="6186663" y="1774763"/>
            <a:ext cx="637047" cy="42570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747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</a:t>
            </a:r>
            <a:r>
              <a:rPr lang="it-IT" dirty="0"/>
              <a:t> of a JWT token</a:t>
            </a: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9</a:t>
            </a:fld>
            <a:endParaRPr lang="en-GB"/>
          </a:p>
        </p:txBody>
      </p:sp>
      <p:sp>
        <p:nvSpPr>
          <p:cNvPr id="6" name="Rettangolo 5"/>
          <p:cNvSpPr/>
          <p:nvPr/>
        </p:nvSpPr>
        <p:spPr>
          <a:xfrm>
            <a:off x="1863878" y="1209656"/>
            <a:ext cx="9643533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C00000"/>
                </a:solidFill>
                <a:latin typeface="Aptos" panose="020B0004020202020204" pitchFamily="34" charset="0"/>
              </a:rPr>
              <a:t>eyJhbGciOiJSUzI1NiIsImtpZCI6IkRNa3Itd0JqRU1EYnhOY25xaVJISVhu</a:t>
            </a:r>
          </a:p>
          <a:p>
            <a:r>
              <a:rPr lang="en-GB" dirty="0">
                <a:solidFill>
                  <a:srgbClr val="C00000"/>
                </a:solidFill>
                <a:latin typeface="Aptos" panose="020B0004020202020204" pitchFamily="34" charset="0"/>
              </a:rPr>
              <a:t>YUxubWI3UUpfWF9rWmJyaEtBMGMifQ</a:t>
            </a:r>
          </a:p>
          <a:p>
            <a:r>
              <a:rPr lang="en-GB" dirty="0">
                <a:latin typeface="Aptos" panose="020B0004020202020204" pitchFamily="34" charset="0"/>
              </a:rPr>
              <a:t>.</a:t>
            </a:r>
          </a:p>
          <a:p>
            <a:r>
              <a:rPr lang="en-GB" dirty="0">
                <a:solidFill>
                  <a:srgbClr val="00B050"/>
                </a:solidFill>
                <a:latin typeface="Aptos" panose="020B0004020202020204" pitchFamily="34" charset="0"/>
              </a:rPr>
              <a:t>eyJzdWIiOiIwMHU5bzFuaWtqdk9CZzVabzBoNyIsInZlciI6MSwiaXNzIjoi</a:t>
            </a:r>
          </a:p>
          <a:p>
            <a:r>
              <a:rPr lang="en-GB" dirty="0">
                <a:solidFill>
                  <a:srgbClr val="00B050"/>
                </a:solidFill>
                <a:latin typeface="Aptos" panose="020B0004020202020204" pitchFamily="34" charset="0"/>
              </a:rPr>
              <a:t>aHR0cHM6Ly9kZXYtMzQxNjA3Lm9rdGFwcmV2aWV3LmNvbS9vYXV0aDIvYXVz</a:t>
            </a:r>
          </a:p>
          <a:p>
            <a:r>
              <a:rPr lang="en-GB" dirty="0">
                <a:solidFill>
                  <a:srgbClr val="00B050"/>
                </a:solidFill>
                <a:latin typeface="Aptos" panose="020B0004020202020204" pitchFamily="34" charset="0"/>
              </a:rPr>
              <a:t>OW84d3ZraG9ja3c5VEwwaDciLCJhdWQiOiJsWFNlbkx4eFBpOGtRVmpKRTVz</a:t>
            </a:r>
          </a:p>
          <a:p>
            <a:r>
              <a:rPr lang="en-GB" dirty="0">
                <a:solidFill>
                  <a:srgbClr val="00B050"/>
                </a:solidFill>
                <a:latin typeface="Aptos" panose="020B0004020202020204" pitchFamily="34" charset="0"/>
              </a:rPr>
              <a:t>NCIsImlhdCI6MTUwOTA0OTg5OCwiZXhwIjoxNTA5MDUzNDk4LCJqdGkiOiJJ</a:t>
            </a:r>
          </a:p>
          <a:p>
            <a:r>
              <a:rPr lang="en-GB" dirty="0">
                <a:solidFill>
                  <a:srgbClr val="00B050"/>
                </a:solidFill>
                <a:latin typeface="Aptos" panose="020B0004020202020204" pitchFamily="34" charset="0"/>
              </a:rPr>
              <a:t>RC5oa2RXSXNBSXZTbnBGYVFHTVRYUGNVSmhhMkgwS2c5Ykl3ZEVvVm1ZZHN3</a:t>
            </a:r>
          </a:p>
          <a:p>
            <a:r>
              <a:rPr lang="en-GB" dirty="0">
                <a:solidFill>
                  <a:srgbClr val="00B050"/>
                </a:solidFill>
                <a:latin typeface="Aptos" panose="020B0004020202020204" pitchFamily="34" charset="0"/>
              </a:rPr>
              <a:t>IiwiYW1yIjpbImtiYSIsIm1mYSIsInB3ZCJdLCJpZHAiOiIwMG85bzFuaWpr</a:t>
            </a:r>
          </a:p>
          <a:p>
            <a:r>
              <a:rPr lang="en-GB" dirty="0">
                <a:solidFill>
                  <a:srgbClr val="00B050"/>
                </a:solidFill>
                <a:latin typeface="Aptos" panose="020B0004020202020204" pitchFamily="34" charset="0"/>
              </a:rPr>
              <a:t>aWpLeGNpbjBoNyIsIm5vbmNlIjoidWpwMmFzeHlqN2UiLCJhdXRoX3RpbWUi</a:t>
            </a:r>
          </a:p>
          <a:p>
            <a:r>
              <a:rPr lang="en-GB" dirty="0">
                <a:solidFill>
                  <a:srgbClr val="00B050"/>
                </a:solidFill>
                <a:latin typeface="Aptos" panose="020B0004020202020204" pitchFamily="34" charset="0"/>
              </a:rPr>
              <a:t>OjE1MDkwNDk3MTl9</a:t>
            </a:r>
          </a:p>
          <a:p>
            <a:r>
              <a:rPr lang="en-GB" dirty="0">
                <a:latin typeface="Aptos" panose="020B0004020202020204" pitchFamily="34" charset="0"/>
              </a:rPr>
              <a:t>.</a:t>
            </a:r>
          </a:p>
          <a:p>
            <a:r>
              <a:rPr lang="en-GB" dirty="0">
                <a:solidFill>
                  <a:srgbClr val="0070C0"/>
                </a:solidFill>
                <a:latin typeface="Aptos" panose="020B0004020202020204" pitchFamily="34" charset="0"/>
              </a:rPr>
              <a:t>dv4Ek8B4BDee1PcQT_4zm7kxDEY1sRIGbLoNtlodZcSzHzXU5GkKyl6sAVmdXOIPUlAIrJAhNfQWQ-</a:t>
            </a:r>
          </a:p>
          <a:p>
            <a:r>
              <a:rPr lang="en-GB" dirty="0">
                <a:solidFill>
                  <a:srgbClr val="0070C0"/>
                </a:solidFill>
                <a:latin typeface="Aptos" panose="020B0004020202020204" pitchFamily="34" charset="0"/>
              </a:rPr>
              <a:t>_XZLBVPjETiZE8CgNg5uqNmeXMUnYnQmvN5oWlXUZ8Gcub-GAbJ8-</a:t>
            </a:r>
          </a:p>
          <a:p>
            <a:r>
              <a:rPr lang="en-GB" dirty="0">
                <a:solidFill>
                  <a:srgbClr val="0070C0"/>
                </a:solidFill>
                <a:latin typeface="Aptos" panose="020B0004020202020204" pitchFamily="34" charset="0"/>
              </a:rPr>
              <a:t>NQuyBmyec1j3gmGzX3wemke8NkuI6SX2L4Wj1PyvkknBtbjfiF9ud1-</a:t>
            </a:r>
          </a:p>
          <a:p>
            <a:r>
              <a:rPr lang="en-GB" dirty="0">
                <a:solidFill>
                  <a:srgbClr val="0070C0"/>
                </a:solidFill>
                <a:latin typeface="Aptos" panose="020B0004020202020204" pitchFamily="34" charset="0"/>
              </a:rPr>
              <a:t>ERKbobaFbnjDFOFTzvL6g34SpMmZWy6uc_Hs--n4IC-ex-</a:t>
            </a:r>
          </a:p>
          <a:p>
            <a:r>
              <a:rPr lang="en-GB" dirty="0">
                <a:solidFill>
                  <a:srgbClr val="0070C0"/>
                </a:solidFill>
                <a:latin typeface="Aptos" panose="020B0004020202020204" pitchFamily="34" charset="0"/>
              </a:rPr>
              <a:t>_Ps3FcMwRggCW_-7o2FpH6rJTOGPZYrOx44n3ZwAu2dGm6axtPIsqU8b6sw7DaHpogD_hxsXgMIOzOBMbYsQEiczoGn71ZFz_1O7FiW4dH6g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428172" y="1204219"/>
            <a:ext cx="1540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err="1">
                <a:solidFill>
                  <a:srgbClr val="C00000"/>
                </a:solidFill>
                <a:latin typeface="Aptos" panose="020B0004020202020204" pitchFamily="34" charset="0"/>
              </a:rPr>
              <a:t>Header</a:t>
            </a:r>
            <a:endParaRPr lang="en-GB" sz="2000" b="1" dirty="0">
              <a:solidFill>
                <a:srgbClr val="C00000"/>
              </a:solidFill>
              <a:latin typeface="Aptos" panose="020B0004020202020204" pitchFamily="34" charset="0"/>
            </a:endParaRPr>
          </a:p>
        </p:txBody>
      </p:sp>
      <p:sp>
        <p:nvSpPr>
          <p:cNvPr id="8" name="CasellaDiTesto 7"/>
          <p:cNvSpPr txBox="1"/>
          <p:nvPr/>
        </p:nvSpPr>
        <p:spPr>
          <a:xfrm>
            <a:off x="428172" y="2097923"/>
            <a:ext cx="1540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err="1">
                <a:solidFill>
                  <a:srgbClr val="00B050"/>
                </a:solidFill>
                <a:latin typeface="Aptos" panose="020B0004020202020204" pitchFamily="34" charset="0"/>
              </a:rPr>
              <a:t>Payload</a:t>
            </a:r>
            <a:endParaRPr lang="en-GB" sz="2000" b="1" dirty="0">
              <a:solidFill>
                <a:srgbClr val="00B050"/>
              </a:solidFill>
              <a:latin typeface="Aptos" panose="020B0004020202020204" pitchFamily="34" charset="0"/>
            </a:endParaRPr>
          </a:p>
        </p:txBody>
      </p:sp>
      <p:sp>
        <p:nvSpPr>
          <p:cNvPr id="9" name="CasellaDiTesto 8"/>
          <p:cNvSpPr txBox="1"/>
          <p:nvPr/>
        </p:nvSpPr>
        <p:spPr>
          <a:xfrm>
            <a:off x="428172" y="4500160"/>
            <a:ext cx="1540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err="1">
                <a:solidFill>
                  <a:srgbClr val="0070C0"/>
                </a:solidFill>
                <a:latin typeface="Aptos" panose="020B0004020202020204" pitchFamily="34" charset="0"/>
              </a:rPr>
              <a:t>Signature</a:t>
            </a:r>
            <a:endParaRPr lang="en-GB" sz="2000" b="1" dirty="0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12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60FB-C861-1E44-92E6-8F939644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authorization works in t</a:t>
            </a:r>
            <a:r>
              <a:rPr lang="en-IT"/>
              <a:t>he </a:t>
            </a:r>
            <a:r>
              <a:rPr lang="en-IT" dirty="0"/>
              <a:t>IMPACT backend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4BA52-23DB-D94D-9195-7777C71CD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0260" y="2205415"/>
            <a:ext cx="3084303" cy="55463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T" sz="1400" dirty="0"/>
              <a:t>Get token (JWT) using credentials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ACF48-43BD-9049-83DA-4C0AF0AC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10</a:t>
            </a:fld>
            <a:endParaRPr lang="en-GB" dirty="0"/>
          </a:p>
        </p:txBody>
      </p:sp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68B4606E-6CE4-3D5F-4F4A-F88148AE3D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6000" y="3138404"/>
            <a:ext cx="2435304" cy="1718017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pic>
        <p:nvPicPr>
          <p:cNvPr id="7" name="Graphic 6" descr="Key outline">
            <a:extLst>
              <a:ext uri="{FF2B5EF4-FFF2-40B4-BE49-F238E27FC236}">
                <a16:creationId xmlns:a16="http://schemas.microsoft.com/office/drawing/2014/main" id="{986DEE35-93E4-0B04-952C-441C7D79C0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85994" y="1971312"/>
            <a:ext cx="714266" cy="71426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49FCE54-4F42-AAF9-4E62-B5F5431C2580}"/>
              </a:ext>
            </a:extLst>
          </p:cNvPr>
          <p:cNvSpPr txBox="1">
            <a:spLocks/>
          </p:cNvSpPr>
          <p:nvPr/>
        </p:nvSpPr>
        <p:spPr>
          <a:xfrm>
            <a:off x="8733704" y="4998245"/>
            <a:ext cx="3329616" cy="46598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solidFill>
                  <a:srgbClr val="C00000"/>
                </a:solidFill>
                <a:latin typeface="Aptos" panose="020B0004020202020204" pitchFamily="34" charset="0"/>
              </a:rPr>
              <a:t>https://impact.dei.unipd.it/bwthw/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03EB194-617E-B58E-CE96-0B1F4BE0E372}"/>
              </a:ext>
            </a:extLst>
          </p:cNvPr>
          <p:cNvGrpSpPr/>
          <p:nvPr/>
        </p:nvGrpSpPr>
        <p:grpSpPr>
          <a:xfrm>
            <a:off x="227545" y="2883423"/>
            <a:ext cx="2102029" cy="2102029"/>
            <a:chOff x="0" y="1584963"/>
            <a:chExt cx="2102029" cy="2102029"/>
          </a:xfrm>
        </p:grpSpPr>
        <p:pic>
          <p:nvPicPr>
            <p:cNvPr id="10" name="Graphic 9" descr="Smart Phone outline">
              <a:extLst>
                <a:ext uri="{FF2B5EF4-FFF2-40B4-BE49-F238E27FC236}">
                  <a16:creationId xmlns:a16="http://schemas.microsoft.com/office/drawing/2014/main" id="{CA2DCB31-A77D-BD86-E4B0-289F26710D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0" y="1584963"/>
              <a:ext cx="2102029" cy="210202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43A3C7F-BD6D-E717-036E-1B0293D02D3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35199" y="2175669"/>
              <a:ext cx="623644" cy="920618"/>
            </a:xfrm>
            <a:prstGeom prst="rect">
              <a:avLst/>
            </a:prstGeom>
          </p:spPr>
        </p:pic>
      </p:grp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7D0427E-0CA4-C141-376F-AF9F36ED64FD}"/>
              </a:ext>
            </a:extLst>
          </p:cNvPr>
          <p:cNvSpPr txBox="1">
            <a:spLocks/>
          </p:cNvSpPr>
          <p:nvPr/>
        </p:nvSpPr>
        <p:spPr>
          <a:xfrm>
            <a:off x="339626" y="5019587"/>
            <a:ext cx="1869879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400" dirty="0">
                <a:latin typeface="Aptos" panose="020B0004020202020204" pitchFamily="34" charset="0"/>
              </a:rPr>
              <a:t>Your app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213B210-5478-AFD9-1176-62D107898216}"/>
              </a:ext>
            </a:extLst>
          </p:cNvPr>
          <p:cNvSpPr txBox="1">
            <a:spLocks/>
          </p:cNvSpPr>
          <p:nvPr/>
        </p:nvSpPr>
        <p:spPr>
          <a:xfrm>
            <a:off x="4240759" y="1347068"/>
            <a:ext cx="2890093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600" b="1" dirty="0">
                <a:latin typeface="Aptos" panose="020B0004020202020204" pitchFamily="34" charset="0"/>
              </a:rPr>
              <a:t>HTTPS requests/responses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7006254-DE4F-A533-1A17-D61DFBB68069}"/>
              </a:ext>
            </a:extLst>
          </p:cNvPr>
          <p:cNvCxnSpPr>
            <a:cxnSpLocks/>
          </p:cNvCxnSpPr>
          <p:nvPr/>
        </p:nvCxnSpPr>
        <p:spPr>
          <a:xfrm>
            <a:off x="2578431" y="2726965"/>
            <a:ext cx="60321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7666D22-148F-E6B1-E625-BD153859681B}"/>
              </a:ext>
            </a:extLst>
          </p:cNvPr>
          <p:cNvSpPr/>
          <p:nvPr/>
        </p:nvSpPr>
        <p:spPr>
          <a:xfrm>
            <a:off x="3252998" y="1971612"/>
            <a:ext cx="4717657" cy="3666342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D464AFC2-A6C4-ABD4-F7AE-BE552A86545A}"/>
              </a:ext>
            </a:extLst>
          </p:cNvPr>
          <p:cNvSpPr txBox="1">
            <a:spLocks/>
          </p:cNvSpPr>
          <p:nvPr/>
        </p:nvSpPr>
        <p:spPr>
          <a:xfrm>
            <a:off x="4264151" y="3080089"/>
            <a:ext cx="3428009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400" dirty="0">
                <a:latin typeface="Aptos" panose="020B0004020202020204" pitchFamily="34" charset="0"/>
              </a:rPr>
              <a:t>(If credentials are ok) </a:t>
            </a:r>
            <a:r>
              <a:rPr lang="en-IT" sz="1400">
                <a:latin typeface="Aptos" panose="020B0004020202020204" pitchFamily="34" charset="0"/>
              </a:rPr>
              <a:t>Receive </a:t>
            </a:r>
            <a:r>
              <a:rPr lang="en-US" sz="1400" dirty="0">
                <a:latin typeface="Aptos" panose="020B0004020202020204" pitchFamily="34" charset="0"/>
              </a:rPr>
              <a:t>JWT </a:t>
            </a:r>
            <a:r>
              <a:rPr lang="en-IT" sz="1400">
                <a:latin typeface="Aptos" panose="020B0004020202020204" pitchFamily="34" charset="0"/>
              </a:rPr>
              <a:t>token</a:t>
            </a:r>
            <a:endParaRPr lang="en-IT" sz="1400" dirty="0">
              <a:latin typeface="Aptos" panose="020B0004020202020204" pitchFamily="34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4C6C3E2-5FB4-AED0-3124-135ECED0AF27}"/>
              </a:ext>
            </a:extLst>
          </p:cNvPr>
          <p:cNvCxnSpPr>
            <a:cxnSpLocks/>
          </p:cNvCxnSpPr>
          <p:nvPr/>
        </p:nvCxnSpPr>
        <p:spPr>
          <a:xfrm flipH="1">
            <a:off x="2629881" y="3606496"/>
            <a:ext cx="5973002" cy="2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4" name="Graphic 33" descr="Binary outline">
            <a:extLst>
              <a:ext uri="{FF2B5EF4-FFF2-40B4-BE49-F238E27FC236}">
                <a16:creationId xmlns:a16="http://schemas.microsoft.com/office/drawing/2014/main" id="{0720541E-6B9A-B5CD-2818-DCA19A577DC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06695" y="2873324"/>
            <a:ext cx="672864" cy="672864"/>
          </a:xfrm>
          <a:prstGeom prst="rect">
            <a:avLst/>
          </a:prstGeom>
        </p:spPr>
      </p:pic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A0050E95-42A3-31EA-8810-95990719F38C}"/>
              </a:ext>
            </a:extLst>
          </p:cNvPr>
          <p:cNvSpPr txBox="1">
            <a:spLocks/>
          </p:cNvSpPr>
          <p:nvPr/>
        </p:nvSpPr>
        <p:spPr>
          <a:xfrm>
            <a:off x="4307977" y="3997413"/>
            <a:ext cx="3428009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400" dirty="0">
                <a:latin typeface="Aptos" panose="020B0004020202020204" pitchFamily="34" charset="0"/>
              </a:rPr>
              <a:t>Ask for specific data using token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7E81774-D8F6-C5E2-8EFE-E7B443C47D75}"/>
              </a:ext>
            </a:extLst>
          </p:cNvPr>
          <p:cNvCxnSpPr>
            <a:cxnSpLocks/>
          </p:cNvCxnSpPr>
          <p:nvPr/>
        </p:nvCxnSpPr>
        <p:spPr>
          <a:xfrm>
            <a:off x="2586148" y="4518963"/>
            <a:ext cx="60321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32C270DE-6193-3578-5828-D3C1F577B3CB}"/>
              </a:ext>
            </a:extLst>
          </p:cNvPr>
          <p:cNvSpPr txBox="1">
            <a:spLocks/>
          </p:cNvSpPr>
          <p:nvPr/>
        </p:nvSpPr>
        <p:spPr>
          <a:xfrm>
            <a:off x="4151370" y="4879825"/>
            <a:ext cx="3819285" cy="55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IT" sz="1400" dirty="0">
                <a:latin typeface="Aptos" panose="020B0004020202020204" pitchFamily="34" charset="0"/>
              </a:rPr>
              <a:t>(If request is ok) Receive data (JSON format)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122E6D7-845C-B8D8-5DC2-04CEF680E74E}"/>
              </a:ext>
            </a:extLst>
          </p:cNvPr>
          <p:cNvCxnSpPr>
            <a:cxnSpLocks/>
          </p:cNvCxnSpPr>
          <p:nvPr/>
        </p:nvCxnSpPr>
        <p:spPr>
          <a:xfrm flipH="1">
            <a:off x="2637598" y="5398494"/>
            <a:ext cx="5973002" cy="2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2" name="Graphic 41" descr="Question Mark outline">
            <a:extLst>
              <a:ext uri="{FF2B5EF4-FFF2-40B4-BE49-F238E27FC236}">
                <a16:creationId xmlns:a16="http://schemas.microsoft.com/office/drawing/2014/main" id="{CC724851-B09A-E88C-497A-18468B45193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60315" y="3821650"/>
            <a:ext cx="554632" cy="554632"/>
          </a:xfrm>
          <a:prstGeom prst="rect">
            <a:avLst/>
          </a:prstGeom>
        </p:spPr>
      </p:pic>
      <p:pic>
        <p:nvPicPr>
          <p:cNvPr id="44" name="Graphic 43" descr="Statistics outline">
            <a:extLst>
              <a:ext uri="{FF2B5EF4-FFF2-40B4-BE49-F238E27FC236}">
                <a16:creationId xmlns:a16="http://schemas.microsoft.com/office/drawing/2014/main" id="{2CCC07CF-26BB-0E3E-4A21-C1FEEA8686E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480431" y="4558134"/>
            <a:ext cx="914400" cy="914400"/>
          </a:xfrm>
          <a:prstGeom prst="rect">
            <a:avLst/>
          </a:prstGeom>
        </p:spPr>
      </p:pic>
      <p:sp>
        <p:nvSpPr>
          <p:cNvPr id="9" name="Right Brace 8">
            <a:extLst>
              <a:ext uri="{FF2B5EF4-FFF2-40B4-BE49-F238E27FC236}">
                <a16:creationId xmlns:a16="http://schemas.microsoft.com/office/drawing/2014/main" id="{6D8BC53D-F5D3-7E6A-B844-3C833995685D}"/>
              </a:ext>
            </a:extLst>
          </p:cNvPr>
          <p:cNvSpPr/>
          <p:nvPr/>
        </p:nvSpPr>
        <p:spPr>
          <a:xfrm>
            <a:off x="8204224" y="1918814"/>
            <a:ext cx="484232" cy="1644488"/>
          </a:xfrm>
          <a:prstGeom prst="rightBrac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3C0C7809-3ACB-8B12-DC7A-2C194194E4A8}"/>
              </a:ext>
            </a:extLst>
          </p:cNvPr>
          <p:cNvSpPr/>
          <p:nvPr/>
        </p:nvSpPr>
        <p:spPr>
          <a:xfrm rot="10800000">
            <a:off x="2548411" y="3804783"/>
            <a:ext cx="484232" cy="1644488"/>
          </a:xfrm>
          <a:prstGeom prst="rightBrac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>
              <a:latin typeface="Aptos" panose="020B00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10D0B0D-6D93-8722-54ED-D97D07017C93}"/>
              </a:ext>
            </a:extLst>
          </p:cNvPr>
          <p:cNvSpPr txBox="1">
            <a:spLocks/>
          </p:cNvSpPr>
          <p:nvPr/>
        </p:nvSpPr>
        <p:spPr>
          <a:xfrm>
            <a:off x="9611394" y="1650775"/>
            <a:ext cx="2185092" cy="604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Aptos" panose="020B0004020202020204" pitchFamily="34" charset="0"/>
              </a:rPr>
              <a:t>Authorization</a:t>
            </a:r>
            <a:endParaRPr lang="en-IT" b="1" dirty="0">
              <a:latin typeface="Aptos" panose="020B0004020202020204" pitchFamily="34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554C46A-996D-E572-A123-A9B909315C26}"/>
              </a:ext>
            </a:extLst>
          </p:cNvPr>
          <p:cNvSpPr txBox="1">
            <a:spLocks/>
          </p:cNvSpPr>
          <p:nvPr/>
        </p:nvSpPr>
        <p:spPr>
          <a:xfrm>
            <a:off x="598801" y="6054329"/>
            <a:ext cx="1677133" cy="60404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Aptos" panose="020B0004020202020204" pitchFamily="34" charset="0"/>
              </a:rPr>
              <a:t>Receiving data</a:t>
            </a:r>
            <a:endParaRPr lang="en-IT" b="1" dirty="0">
              <a:latin typeface="Aptos" panose="020B0004020202020204" pitchFamily="34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0A2A4FF-A642-7827-6850-D3D15871B90A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1437368" y="4627027"/>
            <a:ext cx="1141063" cy="1427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9F858CD-A623-6C8A-FE02-646D87B9E37A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8648338" y="1952796"/>
            <a:ext cx="963056" cy="807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7656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60FB-C861-1E44-92E6-8F939644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T" dirty="0"/>
              <a:t>The </a:t>
            </a:r>
            <a:r>
              <a:rPr lang="en-IT"/>
              <a:t>IMPACT </a:t>
            </a:r>
            <a:r>
              <a:rPr lang="en-US" dirty="0"/>
              <a:t>user types and permissions</a:t>
            </a:r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ACF48-43BD-9049-83DA-4C0AF0AC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11</a:t>
            </a:fld>
            <a:endParaRPr lang="en-GB" dirty="0"/>
          </a:p>
        </p:txBody>
      </p:sp>
      <p:pic>
        <p:nvPicPr>
          <p:cNvPr id="17" name="Graphic 16" descr="Doctor male outline">
            <a:extLst>
              <a:ext uri="{FF2B5EF4-FFF2-40B4-BE49-F238E27FC236}">
                <a16:creationId xmlns:a16="http://schemas.microsoft.com/office/drawing/2014/main" id="{C5D874AF-D16B-C575-276E-B275896302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48835" y="2110408"/>
            <a:ext cx="1318591" cy="1318591"/>
          </a:xfrm>
          <a:prstGeom prst="rect">
            <a:avLst/>
          </a:prstGeom>
        </p:spPr>
      </p:pic>
      <p:pic>
        <p:nvPicPr>
          <p:cNvPr id="23" name="Graphic 22" descr="Male profile outline">
            <a:extLst>
              <a:ext uri="{FF2B5EF4-FFF2-40B4-BE49-F238E27FC236}">
                <a16:creationId xmlns:a16="http://schemas.microsoft.com/office/drawing/2014/main" id="{E2072228-9FF5-B619-8415-6EF9058758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83865" y="2110409"/>
            <a:ext cx="1318591" cy="1318591"/>
          </a:xfrm>
          <a:prstGeom prst="rect">
            <a:avLst/>
          </a:prstGeom>
        </p:spPr>
      </p:pic>
      <p:pic>
        <p:nvPicPr>
          <p:cNvPr id="29" name="Graphic 28" descr="Programmer male outline">
            <a:extLst>
              <a:ext uri="{FF2B5EF4-FFF2-40B4-BE49-F238E27FC236}">
                <a16:creationId xmlns:a16="http://schemas.microsoft.com/office/drawing/2014/main" id="{26646BC8-C15C-367B-EDCD-E54A54E7AB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03948" y="2110407"/>
            <a:ext cx="1318591" cy="1318591"/>
          </a:xfrm>
          <a:prstGeom prst="rect">
            <a:avLst/>
          </a:prstGeom>
        </p:spPr>
      </p:pic>
      <p:pic>
        <p:nvPicPr>
          <p:cNvPr id="31" name="Graphic 30" descr="Scientist male with solid fill">
            <a:extLst>
              <a:ext uri="{FF2B5EF4-FFF2-40B4-BE49-F238E27FC236}">
                <a16:creationId xmlns:a16="http://schemas.microsoft.com/office/drawing/2014/main" id="{E25174A0-7974-134F-0322-48C824809A5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76392" y="2114414"/>
            <a:ext cx="1318590" cy="131859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9BDB107-F738-4F2B-A736-231BDF6D0C45}"/>
              </a:ext>
            </a:extLst>
          </p:cNvPr>
          <p:cNvSpPr txBox="1"/>
          <p:nvPr/>
        </p:nvSpPr>
        <p:spPr>
          <a:xfrm>
            <a:off x="1360674" y="3440070"/>
            <a:ext cx="23649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effectLst/>
                <a:latin typeface="Aptos" panose="020B0004020202020204" pitchFamily="34" charset="0"/>
                <a:ea typeface="Palatino" pitchFamily="2" charset="77"/>
              </a:rPr>
              <a:t>Patient</a:t>
            </a:r>
          </a:p>
          <a:p>
            <a:pPr algn="ctr"/>
            <a:r>
              <a:rPr lang="en-US" sz="2000" dirty="0">
                <a:effectLst/>
                <a:latin typeface="Aptos" panose="020B0004020202020204" pitchFamily="34" charset="0"/>
                <a:ea typeface="Palatino" pitchFamily="2" charset="77"/>
              </a:rPr>
              <a:t>Generates and manages its data </a:t>
            </a:r>
            <a:endParaRPr lang="en-IT" sz="2000" dirty="0">
              <a:latin typeface="Aptos" panose="020B00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E82A3D-033E-790A-9012-246488A98C98}"/>
              </a:ext>
            </a:extLst>
          </p:cNvPr>
          <p:cNvSpPr txBox="1"/>
          <p:nvPr/>
        </p:nvSpPr>
        <p:spPr>
          <a:xfrm>
            <a:off x="3844914" y="3440070"/>
            <a:ext cx="212643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effectLst/>
                <a:latin typeface="Aptos" panose="020B0004020202020204" pitchFamily="34" charset="0"/>
                <a:ea typeface="Palatino" pitchFamily="2" charset="77"/>
              </a:rPr>
              <a:t>Clinician</a:t>
            </a:r>
          </a:p>
          <a:p>
            <a:pPr algn="ctr"/>
            <a:r>
              <a:rPr lang="en-US" sz="2000" dirty="0">
                <a:effectLst/>
                <a:latin typeface="Aptos" panose="020B0004020202020204" pitchFamily="34" charset="0"/>
                <a:ea typeface="Palatino" pitchFamily="2" charset="77"/>
              </a:rPr>
              <a:t>Enrolls patients, reviews data of patients in its clinical center, edits clinical study settings</a:t>
            </a:r>
            <a:endParaRPr lang="en-IT" sz="2000" dirty="0">
              <a:latin typeface="Aptos" panose="020B00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7DDE55-D6A2-18AD-B85F-9F5D0D7ECEC5}"/>
              </a:ext>
            </a:extLst>
          </p:cNvPr>
          <p:cNvSpPr txBox="1"/>
          <p:nvPr/>
        </p:nvSpPr>
        <p:spPr>
          <a:xfrm>
            <a:off x="6090615" y="3440070"/>
            <a:ext cx="212643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effectLst/>
                <a:latin typeface="Aptos" panose="020B0004020202020204" pitchFamily="34" charset="0"/>
                <a:ea typeface="Palatino" pitchFamily="2" charset="77"/>
              </a:rPr>
              <a:t>Researcher</a:t>
            </a:r>
          </a:p>
          <a:p>
            <a:pPr algn="ctr"/>
            <a:r>
              <a:rPr lang="en-US" sz="2000" dirty="0">
                <a:latin typeface="Aptos" panose="020B0004020202020204" pitchFamily="34" charset="0"/>
                <a:ea typeface="Palatino" pitchFamily="2" charset="77"/>
              </a:rPr>
              <a:t>Accesses all data in read-only mode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FAE7AE-BA56-7F13-7405-AB2C9B99A805}"/>
              </a:ext>
            </a:extLst>
          </p:cNvPr>
          <p:cNvSpPr txBox="1"/>
          <p:nvPr/>
        </p:nvSpPr>
        <p:spPr>
          <a:xfrm>
            <a:off x="8336317" y="3440070"/>
            <a:ext cx="260529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effectLst/>
                <a:latin typeface="Aptos" panose="020B0004020202020204" pitchFamily="34" charset="0"/>
                <a:ea typeface="Palatino" pitchFamily="2" charset="77"/>
              </a:rPr>
              <a:t>Superuser/Study Administrator/Data Administrator</a:t>
            </a:r>
          </a:p>
          <a:p>
            <a:pPr algn="ctr"/>
            <a:r>
              <a:rPr lang="en-US" sz="2000" dirty="0">
                <a:latin typeface="Aptos" panose="020B0004020202020204" pitchFamily="34" charset="0"/>
                <a:ea typeface="Palatino" pitchFamily="2" charset="77"/>
              </a:rPr>
              <a:t>They have God-like powers</a:t>
            </a:r>
            <a:endParaRPr lang="en-IT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2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E60FB-C861-1E44-92E6-8F939644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T" dirty="0"/>
              <a:t>The researcher role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ACF48-43BD-9049-83DA-4C0AF0AC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12</a:t>
            </a:fld>
            <a:endParaRPr lang="en-GB" dirty="0"/>
          </a:p>
        </p:txBody>
      </p:sp>
      <p:pic>
        <p:nvPicPr>
          <p:cNvPr id="31" name="Graphic 30" descr="Scientist male with solid fill">
            <a:extLst>
              <a:ext uri="{FF2B5EF4-FFF2-40B4-BE49-F238E27FC236}">
                <a16:creationId xmlns:a16="http://schemas.microsoft.com/office/drawing/2014/main" id="{E25174A0-7974-134F-0322-48C824809A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574" y="1968641"/>
            <a:ext cx="1318590" cy="13185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77E01-0E63-7C03-41B5-601C938FEC12}"/>
              </a:ext>
            </a:extLst>
          </p:cNvPr>
          <p:cNvSpPr txBox="1">
            <a:spLocks/>
          </p:cNvSpPr>
          <p:nvPr/>
        </p:nvSpPr>
        <p:spPr>
          <a:xfrm>
            <a:off x="532372" y="1314773"/>
            <a:ext cx="10986053" cy="5381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T" dirty="0">
                <a:latin typeface="Aptos" panose="020B0004020202020204" pitchFamily="34" charset="0"/>
              </a:rPr>
              <a:t>Each group will have access to the data using the researcher role</a:t>
            </a:r>
          </a:p>
          <a:p>
            <a:endParaRPr lang="en-IT" dirty="0">
              <a:latin typeface="Aptos" panose="020B0004020202020204" pitchFamily="34" charset="0"/>
            </a:endParaRPr>
          </a:p>
          <a:p>
            <a:endParaRPr lang="en-IT" dirty="0">
              <a:latin typeface="Aptos" panose="020B0004020202020204" pitchFamily="34" charset="0"/>
            </a:endParaRPr>
          </a:p>
          <a:p>
            <a:endParaRPr lang="en-IT" dirty="0">
              <a:latin typeface="Aptos" panose="020B0004020202020204" pitchFamily="34" charset="0"/>
            </a:endParaRPr>
          </a:p>
          <a:p>
            <a:endParaRPr lang="en-IT" dirty="0">
              <a:latin typeface="Aptos" panose="020B0004020202020204" pitchFamily="34" charset="0"/>
            </a:endParaRPr>
          </a:p>
          <a:p>
            <a:r>
              <a:rPr lang="en-IT" dirty="0">
                <a:latin typeface="Aptos" panose="020B0004020202020204" pitchFamily="34" charset="0"/>
              </a:rPr>
              <a:t>Each researcher in IMPACT is characterized by a username and an access expiration date. </a:t>
            </a:r>
          </a:p>
          <a:p>
            <a:r>
              <a:rPr lang="en-IT" dirty="0">
                <a:latin typeface="Aptos" panose="020B0004020202020204" pitchFamily="34" charset="0"/>
              </a:rPr>
              <a:t>The access expiration date defines the date until </a:t>
            </a:r>
            <a:r>
              <a:rPr lang="en-IT">
                <a:latin typeface="Aptos" panose="020B0004020202020204" pitchFamily="34" charset="0"/>
              </a:rPr>
              <a:t>a spec</a:t>
            </a:r>
            <a:r>
              <a:rPr lang="en-US" dirty="0" err="1">
                <a:latin typeface="Aptos" panose="020B0004020202020204" pitchFamily="34" charset="0"/>
              </a:rPr>
              <a:t>i</a:t>
            </a:r>
            <a:r>
              <a:rPr lang="en-IT">
                <a:latin typeface="Aptos" panose="020B0004020202020204" pitchFamily="34" charset="0"/>
              </a:rPr>
              <a:t>fic </a:t>
            </a:r>
            <a:r>
              <a:rPr lang="en-IT" dirty="0">
                <a:latin typeface="Aptos" panose="020B0004020202020204" pitchFamily="34" charset="0"/>
              </a:rPr>
              <a:t>researcher is allowed to access data stored in the IMPACT database. Two examples: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EC22B2-A1BD-2D10-7A89-480BF41E3120}"/>
              </a:ext>
            </a:extLst>
          </p:cNvPr>
          <p:cNvSpPr txBox="1"/>
          <p:nvPr/>
        </p:nvSpPr>
        <p:spPr>
          <a:xfrm>
            <a:off x="1992164" y="2150882"/>
            <a:ext cx="704353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{</a:t>
            </a:r>
          </a:p>
          <a:p>
            <a:r>
              <a:rPr lang="en-GB" sz="1400" b="0" dirty="0">
                <a:solidFill>
                  <a:srgbClr val="A31515"/>
                </a:solidFill>
                <a:effectLst/>
                <a:latin typeface="Aptos" panose="020B0004020202020204" pitchFamily="34" charset="0"/>
              </a:rPr>
              <a:t>"username"</a:t>
            </a:r>
            <a:r>
              <a:rPr lang="en-GB" sz="140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 </a:t>
            </a:r>
            <a:r>
              <a:rPr lang="en-GB" sz="1400" b="0" dirty="0">
                <a:solidFill>
                  <a:srgbClr val="0451A5"/>
                </a:solidFill>
                <a:effectLst/>
                <a:latin typeface="Aptos" panose="020B0004020202020204" pitchFamily="34" charset="0"/>
              </a:rPr>
              <a:t>”&lt;YOUR_USERNAME&gt;"</a:t>
            </a:r>
            <a:r>
              <a:rPr lang="en-GB" sz="140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,</a:t>
            </a:r>
          </a:p>
          <a:p>
            <a:r>
              <a:rPr lang="en-GB" sz="1400" b="0" dirty="0">
                <a:solidFill>
                  <a:srgbClr val="A31515"/>
                </a:solidFill>
                <a:effectLst/>
                <a:latin typeface="Aptos" panose="020B0004020202020204" pitchFamily="34" charset="0"/>
              </a:rPr>
              <a:t>"</a:t>
            </a:r>
            <a:r>
              <a:rPr lang="en-GB" sz="1400" b="0" dirty="0" err="1">
                <a:solidFill>
                  <a:srgbClr val="A31515"/>
                </a:solidFill>
                <a:effectLst/>
                <a:latin typeface="Aptos" panose="020B0004020202020204" pitchFamily="34" charset="0"/>
              </a:rPr>
              <a:t>access_expiration_date</a:t>
            </a:r>
            <a:r>
              <a:rPr lang="en-GB" sz="1400" b="0" dirty="0">
                <a:solidFill>
                  <a:srgbClr val="A31515"/>
                </a:solidFill>
                <a:effectLst/>
                <a:latin typeface="Aptos" panose="020B0004020202020204" pitchFamily="34" charset="0"/>
              </a:rPr>
              <a:t>"</a:t>
            </a:r>
            <a:r>
              <a:rPr lang="en-GB" sz="140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 </a:t>
            </a:r>
            <a:r>
              <a:rPr lang="en-GB" sz="1400" dirty="0">
                <a:solidFill>
                  <a:srgbClr val="0451A5"/>
                </a:solidFill>
                <a:effectLst/>
                <a:latin typeface="Aptos" panose="020B0004020202020204" pitchFamily="34" charset="0"/>
              </a:rPr>
              <a:t>“&lt;YOUR_ACCESS_EXPIRATION_DATE&gt;”</a:t>
            </a:r>
            <a:endParaRPr lang="en-GB" sz="140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r>
              <a:rPr lang="en-GB" sz="140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387B44-76E3-8846-30BB-AB6EF319C7D6}"/>
              </a:ext>
            </a:extLst>
          </p:cNvPr>
          <p:cNvSpPr txBox="1"/>
          <p:nvPr/>
        </p:nvSpPr>
        <p:spPr>
          <a:xfrm>
            <a:off x="673574" y="5356035"/>
            <a:ext cx="704353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{</a:t>
            </a:r>
          </a:p>
          <a:p>
            <a:r>
              <a:rPr lang="en-GB" sz="1400" b="0" dirty="0">
                <a:solidFill>
                  <a:srgbClr val="A31515"/>
                </a:solidFill>
                <a:effectLst/>
                <a:latin typeface="Aptos" panose="020B0004020202020204" pitchFamily="34" charset="0"/>
              </a:rPr>
              <a:t>"username"</a:t>
            </a:r>
            <a:r>
              <a:rPr lang="en-GB" sz="140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 </a:t>
            </a:r>
            <a:r>
              <a:rPr lang="en-GB" sz="1400" b="0" dirty="0">
                <a:solidFill>
                  <a:srgbClr val="0451A5"/>
                </a:solidFill>
                <a:effectLst/>
                <a:latin typeface="Aptos" panose="020B0004020202020204" pitchFamily="34" charset="0"/>
              </a:rPr>
              <a:t>"nmRTlOv7W8"</a:t>
            </a:r>
            <a:r>
              <a:rPr lang="en-GB" sz="140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,</a:t>
            </a:r>
          </a:p>
          <a:p>
            <a:r>
              <a:rPr lang="en-GB" sz="1400" b="0" dirty="0">
                <a:solidFill>
                  <a:srgbClr val="A31515"/>
                </a:solidFill>
                <a:effectLst/>
                <a:latin typeface="Aptos" panose="020B0004020202020204" pitchFamily="34" charset="0"/>
              </a:rPr>
              <a:t>"</a:t>
            </a:r>
            <a:r>
              <a:rPr lang="en-GB" sz="1400" b="0" dirty="0" err="1">
                <a:solidFill>
                  <a:srgbClr val="A31515"/>
                </a:solidFill>
                <a:effectLst/>
                <a:latin typeface="Aptos" panose="020B0004020202020204" pitchFamily="34" charset="0"/>
              </a:rPr>
              <a:t>access_expiration_date</a:t>
            </a:r>
            <a:r>
              <a:rPr lang="en-GB" sz="1400" b="0" dirty="0">
                <a:solidFill>
                  <a:srgbClr val="A31515"/>
                </a:solidFill>
                <a:effectLst/>
                <a:latin typeface="Aptos" panose="020B0004020202020204" pitchFamily="34" charset="0"/>
              </a:rPr>
              <a:t>"</a:t>
            </a:r>
            <a:r>
              <a:rPr lang="en-GB" sz="140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 </a:t>
            </a:r>
            <a:r>
              <a:rPr lang="en-GB" sz="1400" b="0" dirty="0">
                <a:solidFill>
                  <a:srgbClr val="0451A5"/>
                </a:solidFill>
                <a:effectLst/>
                <a:latin typeface="Aptos" panose="020B0004020202020204" pitchFamily="34" charset="0"/>
              </a:rPr>
              <a:t>"2024-09-30"</a:t>
            </a:r>
            <a:endParaRPr lang="en-GB" sz="1400" b="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r>
              <a:rPr lang="en-GB" sz="140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AFD8F7-7E59-1C34-7EDD-B14102B9D521}"/>
              </a:ext>
            </a:extLst>
          </p:cNvPr>
          <p:cNvSpPr txBox="1"/>
          <p:nvPr/>
        </p:nvSpPr>
        <p:spPr>
          <a:xfrm>
            <a:off x="5908182" y="5356035"/>
            <a:ext cx="53959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{</a:t>
            </a:r>
          </a:p>
          <a:p>
            <a:r>
              <a:rPr lang="en-GB" sz="1400" b="0" dirty="0">
                <a:solidFill>
                  <a:srgbClr val="A31515"/>
                </a:solidFill>
                <a:effectLst/>
                <a:latin typeface="Aptos" panose="020B0004020202020204" pitchFamily="34" charset="0"/>
              </a:rPr>
              <a:t>"username"</a:t>
            </a:r>
            <a:r>
              <a:rPr lang="en-GB" sz="140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 </a:t>
            </a:r>
            <a:r>
              <a:rPr lang="en-GB" sz="1400" b="0" dirty="0">
                <a:solidFill>
                  <a:srgbClr val="0451A5"/>
                </a:solidFill>
                <a:effectLst/>
                <a:latin typeface="Aptos" panose="020B0004020202020204" pitchFamily="34" charset="0"/>
              </a:rPr>
              <a:t>"nmRTlOv7W8"</a:t>
            </a:r>
            <a:r>
              <a:rPr lang="en-GB" sz="140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,</a:t>
            </a:r>
          </a:p>
          <a:p>
            <a:r>
              <a:rPr lang="en-GB" sz="1400" b="0" dirty="0">
                <a:solidFill>
                  <a:srgbClr val="A31515"/>
                </a:solidFill>
                <a:effectLst/>
                <a:latin typeface="Aptos" panose="020B0004020202020204" pitchFamily="34" charset="0"/>
              </a:rPr>
              <a:t>"</a:t>
            </a:r>
            <a:r>
              <a:rPr lang="en-GB" sz="1400" b="0" dirty="0" err="1">
                <a:solidFill>
                  <a:srgbClr val="A31515"/>
                </a:solidFill>
                <a:effectLst/>
                <a:latin typeface="Aptos" panose="020B0004020202020204" pitchFamily="34" charset="0"/>
              </a:rPr>
              <a:t>access_expiration_date</a:t>
            </a:r>
            <a:r>
              <a:rPr lang="en-GB" sz="1400" b="0" dirty="0">
                <a:solidFill>
                  <a:srgbClr val="A31515"/>
                </a:solidFill>
                <a:effectLst/>
                <a:latin typeface="Aptos" panose="020B0004020202020204" pitchFamily="34" charset="0"/>
              </a:rPr>
              <a:t>"</a:t>
            </a:r>
            <a:r>
              <a:rPr lang="en-GB" sz="140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 </a:t>
            </a:r>
            <a:r>
              <a:rPr lang="en-GB" sz="1400" b="0" dirty="0">
                <a:solidFill>
                  <a:srgbClr val="0451A5"/>
                </a:solidFill>
                <a:effectLst/>
                <a:latin typeface="Aptos" panose="020B0004020202020204" pitchFamily="34" charset="0"/>
              </a:rPr>
              <a:t>null</a:t>
            </a:r>
            <a:endParaRPr lang="en-GB" sz="1400" b="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r>
              <a:rPr lang="en-GB" sz="140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90391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Get the authorization: The IMPACT gate</a:t>
            </a:r>
          </a:p>
        </p:txBody>
      </p:sp>
      <p:pic>
        <p:nvPicPr>
          <p:cNvPr id="25" name="Picture 24" descr="A picture containing text, font, number, screenshot&#10;&#10;Description automatically generated">
            <a:extLst>
              <a:ext uri="{FF2B5EF4-FFF2-40B4-BE49-F238E27FC236}">
                <a16:creationId xmlns:a16="http://schemas.microsoft.com/office/drawing/2014/main" id="{936BA7AA-A185-DC18-A0DC-850EF432FF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13217"/>
            <a:ext cx="11796486" cy="3541909"/>
          </a:xfrm>
          <a:prstGeom prst="rect">
            <a:avLst/>
          </a:prstGeom>
        </p:spPr>
      </p:pic>
      <p:pic>
        <p:nvPicPr>
          <p:cNvPr id="27" name="Picture 26" descr="A close-up of a sign&#10;&#10;Description automatically generated with low confidence">
            <a:extLst>
              <a:ext uri="{FF2B5EF4-FFF2-40B4-BE49-F238E27FC236}">
                <a16:creationId xmlns:a16="http://schemas.microsoft.com/office/drawing/2014/main" id="{8F4E9817-D3F6-AC09-6B5C-D0EAF63F7C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9" y="1144998"/>
            <a:ext cx="11780157" cy="19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570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The IMPACT gate: token</a:t>
            </a:r>
          </a:p>
        </p:txBody>
      </p:sp>
      <p:pic>
        <p:nvPicPr>
          <p:cNvPr id="6" name="Picture 5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794DBFBB-F85E-B3AE-79EE-F24CE0441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705" y="1219776"/>
            <a:ext cx="8956295" cy="5638224"/>
          </a:xfrm>
          <a:prstGeom prst="rect">
            <a:avLst/>
          </a:prstGeom>
        </p:spPr>
      </p:pic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4ACE2A29-9ED4-0E4D-9E27-A8698B91D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2720755" cy="528145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This endpoint allows to get the JWT token using your credentials</a:t>
            </a:r>
          </a:p>
          <a:p>
            <a:endParaRPr lang="en-GB" sz="2400" dirty="0"/>
          </a:p>
          <a:p>
            <a:r>
              <a:rPr lang="en-GB" dirty="0"/>
              <a:t>It needs 2 parameter provided in the request body</a:t>
            </a:r>
          </a:p>
          <a:p>
            <a:endParaRPr lang="en-GB" sz="2400" dirty="0"/>
          </a:p>
          <a:p>
            <a:r>
              <a:rPr lang="en-GB" dirty="0"/>
              <a:t>If successful (200) it will return a JSON containing the access and the refresh token pair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20259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the token using POSTMAN</a:t>
            </a:r>
            <a:endParaRPr lang="en-IT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82E102B6-92E7-CC41-1E7F-F94ADEA27A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816" y="1332238"/>
            <a:ext cx="7772400" cy="51210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40E440-0D42-02E8-D3DA-C3684E0B3FD5}"/>
              </a:ext>
            </a:extLst>
          </p:cNvPr>
          <p:cNvSpPr txBox="1"/>
          <p:nvPr/>
        </p:nvSpPr>
        <p:spPr>
          <a:xfrm>
            <a:off x="578784" y="3584167"/>
            <a:ext cx="305156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r>
              <a:rPr lang="en-GB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"username"</a:t>
            </a:r>
            <a:r>
              <a:rPr lang="en-GB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GB" sz="1400" b="0" dirty="0">
                <a:solidFill>
                  <a:srgbClr val="0451A5"/>
                </a:solidFill>
                <a:effectLst/>
                <a:latin typeface="Menlo" panose="020B0609030804020204" pitchFamily="49" charset="0"/>
              </a:rPr>
              <a:t>"ZLCIyCWzX1"</a:t>
            </a:r>
            <a:r>
              <a:rPr lang="en-GB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r>
              <a:rPr lang="en-GB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”</a:t>
            </a:r>
            <a:r>
              <a:rPr lang="en-GB" sz="1400" dirty="0" err="1">
                <a:solidFill>
                  <a:srgbClr val="A31515"/>
                </a:solidFill>
                <a:latin typeface="Menlo" panose="020B0609030804020204" pitchFamily="49" charset="0"/>
              </a:rPr>
              <a:t>access_expiration_date</a:t>
            </a:r>
            <a:r>
              <a:rPr lang="en-GB" sz="14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GB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GB" sz="14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2025-06-30</a:t>
            </a:r>
          </a:p>
          <a:p>
            <a:r>
              <a:rPr lang="en-GB" sz="14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pic>
        <p:nvPicPr>
          <p:cNvPr id="9" name="Graphic 8" descr="Scientist male with solid fill">
            <a:extLst>
              <a:ext uri="{FF2B5EF4-FFF2-40B4-BE49-F238E27FC236}">
                <a16:creationId xmlns:a16="http://schemas.microsoft.com/office/drawing/2014/main" id="{4B8C210E-EBFB-5DF4-7694-4A06DE1F9A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5719" y="2374367"/>
            <a:ext cx="1318590" cy="131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122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(Wrongly) Get the token using POSTMAN</a:t>
            </a:r>
            <a:endParaRPr lang="en-IT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1C05B9B0-B5BD-3800-A569-98FFAA84FA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327" y="1283793"/>
            <a:ext cx="7772400" cy="512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0679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(Wrongly) Get the token using POSTMAN</a:t>
            </a:r>
            <a:endParaRPr lang="en-IT" dirty="0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A30A4B0E-8BD0-F6C8-2B8D-9ED9D23900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9497" y="1344350"/>
            <a:ext cx="7772400" cy="513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4958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Inspect the access token</a:t>
            </a:r>
            <a:endParaRPr lang="en-IT" dirty="0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74751E57-7795-05D7-4F36-9A8732E633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1972" y="1206646"/>
            <a:ext cx="5881205" cy="5489428"/>
          </a:xfrm>
          <a:prstGeom prst="rect">
            <a:avLst/>
          </a:prstGeom>
        </p:spPr>
      </p:pic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83F3D76F-5C61-DD33-6B6F-634A94594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3289984" cy="5281458"/>
          </a:xfrm>
        </p:spPr>
        <p:txBody>
          <a:bodyPr>
            <a:normAutofit/>
          </a:bodyPr>
          <a:lstStyle/>
          <a:p>
            <a:r>
              <a:rPr lang="en-GB" dirty="0"/>
              <a:t>We can inspect the content of the JWT token using an handful online tool: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dirty="0">
                <a:solidFill>
                  <a:srgbClr val="C0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https://jwt.io</a:t>
            </a:r>
            <a:r>
              <a:rPr lang="en-GB" dirty="0">
                <a:solidFill>
                  <a:srgbClr val="C0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212245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Refresh</a:t>
            </a:r>
            <a:r>
              <a:rPr lang="it-IT" dirty="0"/>
              <a:t> </a:t>
            </a:r>
            <a:r>
              <a:rPr lang="it-IT" dirty="0" err="1"/>
              <a:t>token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4482071" cy="4995183"/>
          </a:xfrm>
        </p:spPr>
        <p:txBody>
          <a:bodyPr>
            <a:normAutofit/>
          </a:bodyPr>
          <a:lstStyle/>
          <a:p>
            <a:r>
              <a:rPr lang="en-GB" dirty="0"/>
              <a:t>Access token have an expiration time. </a:t>
            </a:r>
          </a:p>
          <a:p>
            <a:r>
              <a:rPr lang="en-GB" dirty="0"/>
              <a:t>A </a:t>
            </a:r>
            <a:r>
              <a:rPr lang="en-GB" b="1" dirty="0"/>
              <a:t>refresh token </a:t>
            </a:r>
            <a:r>
              <a:rPr lang="en-GB" dirty="0"/>
              <a:t>can be used by the client to request a new access token to the authorization server without the need to repeat the entire authorization process.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19</a:t>
            </a:fld>
            <a:endParaRPr lang="en-GB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137" y="1276417"/>
            <a:ext cx="6886243" cy="516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4650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The IMPACT gate: refresh</a:t>
            </a:r>
          </a:p>
        </p:txBody>
      </p:sp>
      <p:pic>
        <p:nvPicPr>
          <p:cNvPr id="4" name="Picture 3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84A659B9-91E3-4A14-547C-04FD991260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022" y="1197382"/>
            <a:ext cx="9553955" cy="566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6940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Refresh the token using POSTMAN</a:t>
            </a:r>
            <a:endParaRPr lang="en-IT" dirty="0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C42F5EF5-F66B-6859-D14D-3B1FFC65EA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166" y="1398850"/>
            <a:ext cx="7772400" cy="510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5478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Inspect the new access token</a:t>
            </a:r>
            <a:endParaRPr lang="en-IT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B1BBEEFA-9EF7-4928-F5A6-CD4E87CF96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1342" y="1296793"/>
            <a:ext cx="5413378" cy="5252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9684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D20852-2F0B-454F-9122-43538DC4F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Delegated authorization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E1B4D76-AAF3-894D-A36A-0B05531C5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5220503"/>
          </a:xfrm>
        </p:spPr>
        <p:txBody>
          <a:bodyPr>
            <a:normAutofit/>
          </a:bodyPr>
          <a:lstStyle/>
          <a:p>
            <a:r>
              <a:rPr lang="en-US" dirty="0"/>
              <a:t>A third-party app wants to access some resources of another service provider, whose access is restricted by authorization.</a:t>
            </a:r>
          </a:p>
          <a:p>
            <a:pPr marL="914400" lvl="2" indent="0">
              <a:buNone/>
            </a:pPr>
            <a:r>
              <a:rPr lang="en-US" sz="2400" dirty="0"/>
              <a:t>The authorization must be delegated to the third-party app.</a:t>
            </a:r>
          </a:p>
          <a:p>
            <a:endParaRPr lang="en-US" dirty="0"/>
          </a:p>
          <a:p>
            <a:r>
              <a:rPr lang="en-US" dirty="0"/>
              <a:t>Today delegated authorization is very common: </a:t>
            </a:r>
          </a:p>
          <a:p>
            <a:pPr lvl="1"/>
            <a:r>
              <a:rPr lang="en-US" sz="2400" dirty="0"/>
              <a:t>Your Strava app may synchronize your Fitbit data </a:t>
            </a:r>
          </a:p>
          <a:p>
            <a:pPr marL="457200" lvl="1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	 Fitbit authorization is delegated to Strava</a:t>
            </a:r>
          </a:p>
          <a:p>
            <a:pPr lvl="1"/>
            <a:r>
              <a:rPr lang="en-US" sz="2400" dirty="0"/>
              <a:t>You may share your preferred song in Spotify on your Facebook profile </a:t>
            </a:r>
          </a:p>
          <a:p>
            <a:pPr marL="914400" lvl="2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 Facebook authorization is delegated to Spotify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How can a third-party app perform delegated authorization?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C9D0F17-AFB0-8940-94A8-58015333B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0904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CD3E86-C0E5-2447-BF36-1F0F92C05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incorrect solution: sharing login credentials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78B3E47-0F22-9444-AACA-9351B892E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24</a:t>
            </a:fld>
            <a:endParaRPr lang="en-GB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021CFC23-D22B-4E40-8E41-B9236C460A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07" b="5925"/>
          <a:stretch/>
        </p:blipFill>
        <p:spPr>
          <a:xfrm>
            <a:off x="554420" y="1270059"/>
            <a:ext cx="11083160" cy="5426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3211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6EEBDA-D940-694F-B9CB-3A3DC5E7A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OAuth</a:t>
            </a:r>
            <a:r>
              <a:rPr lang="it-IT" dirty="0"/>
              <a:t> </a:t>
            </a:r>
            <a:r>
              <a:rPr lang="it-IT" dirty="0" err="1"/>
              <a:t>protocol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FB8408D-98C4-C342-BF8A-2EF822DCE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5210455"/>
          </a:xfrm>
        </p:spPr>
        <p:txBody>
          <a:bodyPr>
            <a:normAutofit/>
          </a:bodyPr>
          <a:lstStyle/>
          <a:p>
            <a:r>
              <a:rPr lang="en-GB" b="1" dirty="0"/>
              <a:t>OAuth (Open Authorization): </a:t>
            </a:r>
            <a:r>
              <a:rPr lang="en-GB" dirty="0"/>
              <a:t>a protocol for delegated authorization that does not require to share credentials with the third-party app.</a:t>
            </a:r>
          </a:p>
          <a:p>
            <a:r>
              <a:rPr lang="en-GB" dirty="0"/>
              <a:t>2007: First version (OAuth 1.0)</a:t>
            </a:r>
          </a:p>
          <a:p>
            <a:r>
              <a:rPr lang="en-GB" dirty="0"/>
              <a:t>2012: Second version (OAuth 2.0)</a:t>
            </a:r>
          </a:p>
          <a:p>
            <a:r>
              <a:rPr lang="en-GB" dirty="0"/>
              <a:t>Main co-author is Blaine Cook, one of the developers of Twitter.</a:t>
            </a:r>
          </a:p>
          <a:p>
            <a:r>
              <a:rPr lang="en-GB" dirty="0"/>
              <a:t>Today OAuth is commonly used by companies such as Twitter, Amazon, Google, Facebook and Microsoft to permit the users to share information about their accounts with third-party applications or websites.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2D5D84E-9B3A-464E-8573-32F27C2F0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86878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OAuth</a:t>
            </a:r>
            <a:r>
              <a:rPr lang="it-IT" dirty="0"/>
              <a:t> </a:t>
            </a:r>
            <a:r>
              <a:rPr lang="it-IT" dirty="0" err="1"/>
              <a:t>roles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192689"/>
          </a:xfrm>
        </p:spPr>
        <p:txBody>
          <a:bodyPr/>
          <a:lstStyle/>
          <a:p>
            <a:r>
              <a:rPr lang="en-GB" b="1" dirty="0"/>
              <a:t>Resource owner</a:t>
            </a:r>
            <a:r>
              <a:rPr lang="en-GB" dirty="0"/>
              <a:t>: The </a:t>
            </a:r>
            <a:r>
              <a:rPr lang="en-GB" i="1" dirty="0"/>
              <a:t>user</a:t>
            </a:r>
            <a:r>
              <a:rPr lang="en-GB" dirty="0"/>
              <a:t> who authorizes a third-party </a:t>
            </a:r>
            <a:r>
              <a:rPr lang="en-GB" i="1" dirty="0"/>
              <a:t>application</a:t>
            </a:r>
            <a:r>
              <a:rPr lang="en-GB" dirty="0"/>
              <a:t> to access their data. </a:t>
            </a:r>
          </a:p>
          <a:p>
            <a:pPr lvl="1"/>
            <a:r>
              <a:rPr lang="en-GB" sz="2400" dirty="0"/>
              <a:t>The application’s access to the user’s data is </a:t>
            </a:r>
            <a:r>
              <a:rPr lang="en-GB" sz="2400" u="sng" dirty="0"/>
              <a:t>limited to the scope</a:t>
            </a:r>
            <a:r>
              <a:rPr lang="en-GB" sz="2400" dirty="0"/>
              <a:t> of the authorization granted (e.g., read or write access).</a:t>
            </a:r>
            <a:endParaRPr lang="en-GB" dirty="0"/>
          </a:p>
          <a:p>
            <a:r>
              <a:rPr lang="en-GB" b="1" dirty="0"/>
              <a:t>Client</a:t>
            </a:r>
            <a:r>
              <a:rPr lang="en-GB" dirty="0"/>
              <a:t>: The third-party </a:t>
            </a:r>
            <a:r>
              <a:rPr lang="en-GB" i="1" dirty="0"/>
              <a:t>application</a:t>
            </a:r>
            <a:r>
              <a:rPr lang="en-GB" dirty="0"/>
              <a:t> that wants to access the </a:t>
            </a:r>
            <a:r>
              <a:rPr lang="en-GB" i="1" dirty="0"/>
              <a:t>user</a:t>
            </a:r>
            <a:r>
              <a:rPr lang="en-GB" dirty="0"/>
              <a:t>’s account. </a:t>
            </a:r>
          </a:p>
          <a:p>
            <a:pPr lvl="1"/>
            <a:r>
              <a:rPr lang="en-GB" sz="2400" dirty="0"/>
              <a:t>The client must be authorized by the user.</a:t>
            </a:r>
          </a:p>
          <a:p>
            <a:pPr lvl="1"/>
            <a:r>
              <a:rPr lang="en-GB" sz="2400" dirty="0"/>
              <a:t>The authorization must be validated by an API of the authorization server.</a:t>
            </a:r>
          </a:p>
          <a:p>
            <a:r>
              <a:rPr lang="en-GB" b="1" dirty="0"/>
              <a:t>Resource server</a:t>
            </a:r>
            <a:r>
              <a:rPr lang="en-GB" dirty="0"/>
              <a:t>: The server hosting the protected user data.</a:t>
            </a:r>
          </a:p>
          <a:p>
            <a:r>
              <a:rPr lang="en-GB" b="1" dirty="0"/>
              <a:t>Authorization server</a:t>
            </a:r>
            <a:r>
              <a:rPr lang="en-GB" dirty="0"/>
              <a:t>: It verifies the identity of the </a:t>
            </a:r>
            <a:r>
              <a:rPr lang="en-GB" i="1" dirty="0"/>
              <a:t>user</a:t>
            </a:r>
            <a:r>
              <a:rPr lang="en-GB" dirty="0"/>
              <a:t> and issues access tokens to the third-party </a:t>
            </a:r>
            <a:r>
              <a:rPr lang="en-GB" i="1" dirty="0"/>
              <a:t>application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604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OAuth</a:t>
            </a:r>
            <a:r>
              <a:rPr lang="it-IT" dirty="0"/>
              <a:t> </a:t>
            </a:r>
            <a:r>
              <a:rPr lang="it-IT" dirty="0" err="1"/>
              <a:t>abstract</a:t>
            </a:r>
            <a:r>
              <a:rPr lang="it-IT" dirty="0"/>
              <a:t> model</a:t>
            </a: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27</a:t>
            </a:fld>
            <a:endParaRPr lang="en-GB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26EA332D-7570-B544-A6E7-C4F09425C2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20" r="7239" b="5614"/>
          <a:stretch/>
        </p:blipFill>
        <p:spPr>
          <a:xfrm>
            <a:off x="1648917" y="1831613"/>
            <a:ext cx="8346349" cy="4927339"/>
          </a:xfrm>
          <a:prstGeom prst="rect">
            <a:avLst/>
          </a:prstGeom>
        </p:spPr>
      </p:pic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29AE0F16-E814-B95A-C736-3BBECBA2B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662505"/>
          </a:xfrm>
        </p:spPr>
        <p:txBody>
          <a:bodyPr/>
          <a:lstStyle/>
          <a:p>
            <a:r>
              <a:rPr lang="it-IT" dirty="0" err="1"/>
              <a:t>Example</a:t>
            </a:r>
            <a:r>
              <a:rPr lang="it-IT" dirty="0"/>
              <a:t>: a printing service app </a:t>
            </a:r>
            <a:r>
              <a:rPr lang="it-IT" dirty="0" err="1"/>
              <a:t>wants</a:t>
            </a:r>
            <a:r>
              <a:rPr lang="it-IT" dirty="0"/>
              <a:t> to access Google drive </a:t>
            </a:r>
            <a:r>
              <a:rPr lang="it-IT" dirty="0" err="1"/>
              <a:t>photos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143213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Application </a:t>
            </a:r>
            <a:r>
              <a:rPr lang="it-IT" dirty="0" err="1"/>
              <a:t>registration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5281458"/>
          </a:xfrm>
        </p:spPr>
        <p:txBody>
          <a:bodyPr>
            <a:normAutofit/>
          </a:bodyPr>
          <a:lstStyle/>
          <a:p>
            <a:r>
              <a:rPr lang="en-GB" dirty="0"/>
              <a:t>The third-party app (e.g. the printing app) must be registered with the service provider (e.g. Google). </a:t>
            </a:r>
          </a:p>
          <a:p>
            <a:r>
              <a:rPr lang="en-GB" dirty="0"/>
              <a:t>The third-party app’s developer must complete a </a:t>
            </a:r>
            <a:r>
              <a:rPr lang="en-GB" b="1" dirty="0"/>
              <a:t>registration form</a:t>
            </a:r>
            <a:r>
              <a:rPr lang="en-GB" dirty="0"/>
              <a:t> (usually</a:t>
            </a:r>
            <a:r>
              <a:rPr lang="en-GB" b="1" dirty="0"/>
              <a:t> </a:t>
            </a:r>
            <a:r>
              <a:rPr lang="en-GB" dirty="0"/>
              <a:t>in the developer page of the service’s website) providing details about the app.</a:t>
            </a:r>
          </a:p>
          <a:p>
            <a:pPr marL="1257300" lvl="3" indent="0">
              <a:buNone/>
            </a:pPr>
            <a:endParaRPr lang="en-GB" sz="2400" b="1" dirty="0"/>
          </a:p>
          <a:p>
            <a:pPr marL="1257300" lvl="3" indent="0">
              <a:buNone/>
            </a:pPr>
            <a:r>
              <a:rPr lang="en-GB" sz="2400" b="1" dirty="0"/>
              <a:t>Redirect URI </a:t>
            </a:r>
            <a:r>
              <a:rPr lang="en-GB" sz="2400" dirty="0"/>
              <a:t>(or </a:t>
            </a:r>
            <a:r>
              <a:rPr lang="en-GB" sz="2400" b="1" dirty="0" err="1"/>
              <a:t>Callback</a:t>
            </a:r>
            <a:r>
              <a:rPr lang="en-GB" sz="2400" b="1" dirty="0"/>
              <a:t> URL</a:t>
            </a:r>
            <a:r>
              <a:rPr lang="en-GB" sz="2400" dirty="0"/>
              <a:t>): where the service will redirect the user after they authorize (or deny) the third-party app </a:t>
            </a:r>
            <a:r>
              <a:rPr lang="en-GB" sz="2400" dirty="0">
                <a:sym typeface="Wingdings" panose="05000000000000000000" pitchFamily="2" charset="2"/>
              </a:rPr>
              <a:t></a:t>
            </a:r>
            <a:r>
              <a:rPr lang="en-GB" sz="2400" dirty="0"/>
              <a:t> the part of the third-party app that handles authorization codes and access tokens.</a:t>
            </a:r>
          </a:p>
          <a:p>
            <a:endParaRPr lang="en-GB" dirty="0"/>
          </a:p>
          <a:p>
            <a:r>
              <a:rPr lang="en-GB" dirty="0"/>
              <a:t>Once the third-party app is registered, the service issues client credentials:</a:t>
            </a:r>
          </a:p>
          <a:p>
            <a:pPr lvl="1"/>
            <a:r>
              <a:rPr lang="en-GB" sz="2400" b="1" dirty="0"/>
              <a:t>Client ID</a:t>
            </a:r>
            <a:r>
              <a:rPr lang="en-GB" sz="2400" dirty="0"/>
              <a:t>: a public string used by the service to identify the client.</a:t>
            </a:r>
          </a:p>
          <a:p>
            <a:pPr lvl="1"/>
            <a:r>
              <a:rPr lang="en-GB" sz="2400" b="1" dirty="0"/>
              <a:t>Client secret</a:t>
            </a:r>
            <a:r>
              <a:rPr lang="en-GB" sz="2400" dirty="0"/>
              <a:t>: a private password used to authenticate the identity of the client when the app requests to access a user’s data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28</a:t>
            </a:fld>
            <a:endParaRPr lang="en-GB"/>
          </a:p>
        </p:txBody>
      </p:sp>
      <p:sp>
        <p:nvSpPr>
          <p:cNvPr id="5" name="Freccia curva 4">
            <a:extLst>
              <a:ext uri="{FF2B5EF4-FFF2-40B4-BE49-F238E27FC236}">
                <a16:creationId xmlns:a16="http://schemas.microsoft.com/office/drawing/2014/main" id="{9B58C75B-6D7B-F126-955E-8A65ACD64551}"/>
              </a:ext>
            </a:extLst>
          </p:cNvPr>
          <p:cNvSpPr/>
          <p:nvPr/>
        </p:nvSpPr>
        <p:spPr>
          <a:xfrm rot="10800000" flipH="1">
            <a:off x="1011836" y="2911839"/>
            <a:ext cx="667062" cy="1034322"/>
          </a:xfrm>
          <a:prstGeom prst="bent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7813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 err="1"/>
              <a:t>Example</a:t>
            </a:r>
            <a:r>
              <a:rPr lang="it-IT" dirty="0"/>
              <a:t> of </a:t>
            </a:r>
            <a:r>
              <a:rPr lang="it-IT" dirty="0" err="1"/>
              <a:t>delegated</a:t>
            </a:r>
            <a:r>
              <a:rPr lang="it-IT" dirty="0"/>
              <a:t> authentication with </a:t>
            </a:r>
            <a:r>
              <a:rPr lang="it-IT" dirty="0" err="1"/>
              <a:t>OAuth</a:t>
            </a: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29</a:t>
            </a:fld>
            <a:endParaRPr lang="en-GB"/>
          </a:p>
        </p:txBody>
      </p:sp>
      <p:sp>
        <p:nvSpPr>
          <p:cNvPr id="16" name="Rettangolo 15"/>
          <p:cNvSpPr/>
          <p:nvPr/>
        </p:nvSpPr>
        <p:spPr>
          <a:xfrm>
            <a:off x="358165" y="1234127"/>
            <a:ext cx="1175485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sz="2200" b="1" dirty="0" err="1">
                <a:latin typeface="Aptos" panose="020B0004020202020204" pitchFamily="34" charset="0"/>
              </a:rPr>
              <a:t>Example</a:t>
            </a:r>
            <a:r>
              <a:rPr lang="it-IT" sz="2200" dirty="0">
                <a:latin typeface="Aptos" panose="020B0004020202020204" pitchFamily="34" charset="0"/>
              </a:rPr>
              <a:t>: The app yelp.com </a:t>
            </a:r>
            <a:r>
              <a:rPr lang="it-IT" sz="2200" dirty="0" err="1">
                <a:latin typeface="Aptos" panose="020B0004020202020204" pitchFamily="34" charset="0"/>
              </a:rPr>
              <a:t>wants</a:t>
            </a:r>
            <a:r>
              <a:rPr lang="it-IT" sz="2200" dirty="0">
                <a:latin typeface="Aptos" panose="020B0004020202020204" pitchFamily="34" charset="0"/>
              </a:rPr>
              <a:t> to </a:t>
            </a:r>
            <a:r>
              <a:rPr lang="it-IT" sz="2200" dirty="0" err="1">
                <a:latin typeface="Aptos" panose="020B0004020202020204" pitchFamily="34" charset="0"/>
              </a:rPr>
              <a:t>get</a:t>
            </a:r>
            <a:r>
              <a:rPr lang="it-IT" sz="2200" dirty="0">
                <a:latin typeface="Aptos" panose="020B0004020202020204" pitchFamily="34" charset="0"/>
              </a:rPr>
              <a:t> access to a </a:t>
            </a:r>
            <a:r>
              <a:rPr lang="it-IT" sz="2200" dirty="0" err="1">
                <a:latin typeface="Aptos" panose="020B0004020202020204" pitchFamily="34" charset="0"/>
              </a:rPr>
              <a:t>user’s</a:t>
            </a:r>
            <a:r>
              <a:rPr lang="it-IT" sz="2200" dirty="0">
                <a:latin typeface="Aptos" panose="020B0004020202020204" pitchFamily="34" charset="0"/>
              </a:rPr>
              <a:t> Google account </a:t>
            </a:r>
            <a:r>
              <a:rPr lang="it-IT" sz="2200" dirty="0" err="1">
                <a:latin typeface="Aptos" panose="020B0004020202020204" pitchFamily="34" charset="0"/>
              </a:rPr>
              <a:t>profile</a:t>
            </a:r>
            <a:r>
              <a:rPr lang="it-IT" sz="2200" dirty="0">
                <a:latin typeface="Aptos" panose="020B0004020202020204" pitchFamily="34" charset="0"/>
              </a:rPr>
              <a:t> </a:t>
            </a:r>
            <a:r>
              <a:rPr lang="it-IT" sz="2200" dirty="0" err="1">
                <a:latin typeface="Aptos" panose="020B0004020202020204" pitchFamily="34" charset="0"/>
              </a:rPr>
              <a:t>contacts</a:t>
            </a:r>
            <a:r>
              <a:rPr lang="it-IT" sz="2200" dirty="0">
                <a:latin typeface="Aptos" panose="020B0004020202020204" pitchFamily="34" charset="0"/>
              </a:rPr>
              <a:t>. 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50275A88-0CC0-049F-B0EC-598BE5CA05DB}"/>
              </a:ext>
            </a:extLst>
          </p:cNvPr>
          <p:cNvSpPr/>
          <p:nvPr/>
        </p:nvSpPr>
        <p:spPr>
          <a:xfrm>
            <a:off x="1416006" y="2223268"/>
            <a:ext cx="2390776" cy="1378135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>
              <a:latin typeface="Aptos" panose="020B0004020202020204" pitchFamily="34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39F07CA-518F-2C2F-8844-92EFFBCB0C07}"/>
              </a:ext>
            </a:extLst>
          </p:cNvPr>
          <p:cNvSpPr txBox="1"/>
          <p:nvPr/>
        </p:nvSpPr>
        <p:spPr>
          <a:xfrm>
            <a:off x="7551999" y="1725873"/>
            <a:ext cx="32415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200" dirty="0" err="1">
                <a:latin typeface="Aptos" panose="020B0004020202020204" pitchFamily="34" charset="0"/>
              </a:rPr>
              <a:t>Authorization</a:t>
            </a:r>
            <a:r>
              <a:rPr lang="it-IT" sz="2200" dirty="0">
                <a:latin typeface="Aptos" panose="020B0004020202020204" pitchFamily="34" charset="0"/>
              </a:rPr>
              <a:t> server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24AB09E-B6D5-6A26-9977-2AF8DF4765FC}"/>
              </a:ext>
            </a:extLst>
          </p:cNvPr>
          <p:cNvSpPr txBox="1"/>
          <p:nvPr/>
        </p:nvSpPr>
        <p:spPr>
          <a:xfrm>
            <a:off x="1416006" y="2280716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Aptos" panose="020B0004020202020204" pitchFamily="34" charset="0"/>
              </a:rPr>
              <a:t>yelp.com</a:t>
            </a: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AFE44190-08C9-239C-742C-8498E6642B51}"/>
              </a:ext>
            </a:extLst>
          </p:cNvPr>
          <p:cNvSpPr/>
          <p:nvPr/>
        </p:nvSpPr>
        <p:spPr>
          <a:xfrm>
            <a:off x="1535068" y="2683246"/>
            <a:ext cx="2152650" cy="458195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latin typeface="Aptos" panose="020B0004020202020204" pitchFamily="34" charset="0"/>
              </a:rPr>
              <a:t>Connect with Google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1E318A74-C61C-FDA0-68E9-F51B29A8F2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338" y="2260842"/>
            <a:ext cx="671604" cy="671604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C5A5D02-B1E0-1D75-2ACF-F9CB0BA55D0B}"/>
              </a:ext>
            </a:extLst>
          </p:cNvPr>
          <p:cNvSpPr txBox="1"/>
          <p:nvPr/>
        </p:nvSpPr>
        <p:spPr>
          <a:xfrm>
            <a:off x="12029" y="2837143"/>
            <a:ext cx="15633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200" dirty="0">
                <a:latin typeface="Aptos" panose="020B0004020202020204" pitchFamily="34" charset="0"/>
              </a:rPr>
              <a:t>Resource </a:t>
            </a:r>
            <a:r>
              <a:rPr lang="it-IT" sz="2200" dirty="0" err="1">
                <a:latin typeface="Aptos" panose="020B0004020202020204" pitchFamily="34" charset="0"/>
              </a:rPr>
              <a:t>owner</a:t>
            </a:r>
            <a:endParaRPr lang="it-IT" sz="2200" dirty="0">
              <a:latin typeface="Aptos" panose="020B0004020202020204" pitchFamily="34" charset="0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F6AE240E-3EC2-4EA3-A4A9-5FF81B817B1F}"/>
              </a:ext>
            </a:extLst>
          </p:cNvPr>
          <p:cNvSpPr/>
          <p:nvPr/>
        </p:nvSpPr>
        <p:spPr>
          <a:xfrm>
            <a:off x="7977388" y="2227825"/>
            <a:ext cx="2390776" cy="1378135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>
              <a:latin typeface="Aptos" panose="020B0004020202020204" pitchFamily="34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D185C6EA-52D8-9066-4675-9C198C830C19}"/>
              </a:ext>
            </a:extLst>
          </p:cNvPr>
          <p:cNvSpPr txBox="1"/>
          <p:nvPr/>
        </p:nvSpPr>
        <p:spPr>
          <a:xfrm>
            <a:off x="7977389" y="2286828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Aptos" panose="020B0004020202020204" pitchFamily="34" charset="0"/>
              </a:rPr>
              <a:t>accounts.google.com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1EA112E2-457B-A706-901B-B62FCCF3E2AB}"/>
              </a:ext>
            </a:extLst>
          </p:cNvPr>
          <p:cNvSpPr txBox="1"/>
          <p:nvPr/>
        </p:nvSpPr>
        <p:spPr>
          <a:xfrm>
            <a:off x="1416006" y="1737667"/>
            <a:ext cx="23907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200" dirty="0">
                <a:latin typeface="Aptos" panose="020B0004020202020204" pitchFamily="34" charset="0"/>
              </a:rPr>
              <a:t>Client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5D9EFD8F-C127-2797-EEBC-AF96787BF00E}"/>
              </a:ext>
            </a:extLst>
          </p:cNvPr>
          <p:cNvSpPr/>
          <p:nvPr/>
        </p:nvSpPr>
        <p:spPr>
          <a:xfrm>
            <a:off x="8161417" y="2754977"/>
            <a:ext cx="2009775" cy="3230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dirty="0">
                <a:solidFill>
                  <a:schemeClr val="tx1"/>
                </a:solidFill>
                <a:latin typeface="Aptos" panose="020B0004020202020204" pitchFamily="34" charset="0"/>
              </a:rPr>
              <a:t>Email: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585C3F4C-69EA-67CF-5E2D-4ED376205F37}"/>
              </a:ext>
            </a:extLst>
          </p:cNvPr>
          <p:cNvSpPr/>
          <p:nvPr/>
        </p:nvSpPr>
        <p:spPr>
          <a:xfrm>
            <a:off x="8170942" y="3183602"/>
            <a:ext cx="2009775" cy="3230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dirty="0">
                <a:solidFill>
                  <a:schemeClr val="tx1"/>
                </a:solidFill>
                <a:latin typeface="Aptos" panose="020B0004020202020204" pitchFamily="34" charset="0"/>
              </a:rPr>
              <a:t>Password:</a:t>
            </a:r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82E7C783-6182-C487-172E-88532229D7A8}"/>
              </a:ext>
            </a:extLst>
          </p:cNvPr>
          <p:cNvCxnSpPr>
            <a:cxnSpLocks/>
            <a:stCxn id="3" idx="3"/>
            <a:endCxn id="12" idx="1"/>
          </p:cNvCxnSpPr>
          <p:nvPr/>
        </p:nvCxnSpPr>
        <p:spPr>
          <a:xfrm>
            <a:off x="3806782" y="2912336"/>
            <a:ext cx="4170606" cy="455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331AC26F-0449-EF50-62B4-C1CD98B2DF80}"/>
              </a:ext>
            </a:extLst>
          </p:cNvPr>
          <p:cNvSpPr txBox="1"/>
          <p:nvPr/>
        </p:nvSpPr>
        <p:spPr>
          <a:xfrm>
            <a:off x="4310446" y="2449993"/>
            <a:ext cx="3241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latin typeface="Aptos" panose="020B0004020202020204" pitchFamily="34" charset="0"/>
              </a:rPr>
              <a:t>Authorization</a:t>
            </a:r>
            <a:r>
              <a:rPr lang="it-IT" sz="2000" dirty="0">
                <a:latin typeface="Aptos" panose="020B0004020202020204" pitchFamily="34" charset="0"/>
              </a:rPr>
              <a:t> </a:t>
            </a:r>
            <a:r>
              <a:rPr lang="it-IT" sz="2000" dirty="0" err="1">
                <a:latin typeface="Aptos" panose="020B0004020202020204" pitchFamily="34" charset="0"/>
              </a:rPr>
              <a:t>request</a:t>
            </a:r>
            <a:endParaRPr lang="it-IT" sz="2000" dirty="0">
              <a:latin typeface="Aptos" panose="020B0004020202020204" pitchFamily="34" charset="0"/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835D631A-6D05-4E00-FDE1-1A643997FB37}"/>
              </a:ext>
            </a:extLst>
          </p:cNvPr>
          <p:cNvSpPr txBox="1"/>
          <p:nvPr/>
        </p:nvSpPr>
        <p:spPr>
          <a:xfrm>
            <a:off x="4286963" y="2899387"/>
            <a:ext cx="35713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Aptos" panose="020B0004020202020204" pitchFamily="34" charset="0"/>
              </a:rPr>
              <a:t>Client ID: </a:t>
            </a:r>
            <a:r>
              <a:rPr lang="en-GB" dirty="0">
                <a:latin typeface="Aptos" panose="020B0004020202020204" pitchFamily="34" charset="0"/>
              </a:rPr>
              <a:t>abc123</a:t>
            </a:r>
          </a:p>
          <a:p>
            <a:r>
              <a:rPr lang="en-GB" dirty="0">
                <a:latin typeface="Aptos" panose="020B0004020202020204" pitchFamily="34" charset="0"/>
              </a:rPr>
              <a:t>Redirect URI: yelp.com/</a:t>
            </a:r>
            <a:r>
              <a:rPr lang="en-GB" dirty="0" err="1">
                <a:latin typeface="Aptos" panose="020B0004020202020204" pitchFamily="34" charset="0"/>
              </a:rPr>
              <a:t>callback</a:t>
            </a:r>
            <a:endParaRPr lang="en-GB" dirty="0">
              <a:latin typeface="Aptos" panose="020B0004020202020204" pitchFamily="34" charset="0"/>
            </a:endParaRPr>
          </a:p>
          <a:p>
            <a:r>
              <a:rPr lang="en-GB" dirty="0">
                <a:latin typeface="Aptos" panose="020B0004020202020204" pitchFamily="34" charset="0"/>
              </a:rPr>
              <a:t>Scope: profile contacts</a:t>
            </a:r>
            <a:endParaRPr lang="it-IT" dirty="0">
              <a:latin typeface="Aptos" panose="020B0004020202020204" pitchFamily="34" charset="0"/>
            </a:endParaRP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F3A78FA6-6D8C-F3C4-0EB6-3540F58B70E4}"/>
              </a:ext>
            </a:extLst>
          </p:cNvPr>
          <p:cNvSpPr txBox="1"/>
          <p:nvPr/>
        </p:nvSpPr>
        <p:spPr>
          <a:xfrm>
            <a:off x="10283863" y="2539555"/>
            <a:ext cx="20097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>
                <a:latin typeface="Aptos" panose="020B0004020202020204" pitchFamily="34" charset="0"/>
              </a:rPr>
              <a:t>Authentication of the </a:t>
            </a:r>
            <a:r>
              <a:rPr lang="it-IT" sz="2000" dirty="0" err="1">
                <a:latin typeface="Aptos" panose="020B0004020202020204" pitchFamily="34" charset="0"/>
              </a:rPr>
              <a:t>resource</a:t>
            </a:r>
            <a:r>
              <a:rPr lang="it-IT" sz="2000" dirty="0">
                <a:latin typeface="Aptos" panose="020B0004020202020204" pitchFamily="34" charset="0"/>
              </a:rPr>
              <a:t> </a:t>
            </a:r>
            <a:r>
              <a:rPr lang="it-IT" sz="2000" dirty="0" err="1">
                <a:latin typeface="Aptos" panose="020B0004020202020204" pitchFamily="34" charset="0"/>
              </a:rPr>
              <a:t>owner</a:t>
            </a:r>
            <a:endParaRPr lang="it-IT" sz="2000" dirty="0">
              <a:latin typeface="Aptos" panose="020B0004020202020204" pitchFamily="34" charset="0"/>
            </a:endParaRPr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7CF12113-6888-D6EC-FDE7-E506A7342E56}"/>
              </a:ext>
            </a:extLst>
          </p:cNvPr>
          <p:cNvSpPr/>
          <p:nvPr/>
        </p:nvSpPr>
        <p:spPr>
          <a:xfrm>
            <a:off x="7964445" y="5160777"/>
            <a:ext cx="2390776" cy="1560698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>
              <a:latin typeface="Aptos" panose="020B0004020202020204" pitchFamily="34" charset="0"/>
            </a:endParaRPr>
          </a:p>
        </p:txBody>
      </p: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A6ACF2E0-5720-075B-B9B1-ECA574FA3021}"/>
              </a:ext>
            </a:extLst>
          </p:cNvPr>
          <p:cNvCxnSpPr>
            <a:cxnSpLocks/>
            <a:stCxn id="12" idx="2"/>
            <a:endCxn id="27" idx="0"/>
          </p:cNvCxnSpPr>
          <p:nvPr/>
        </p:nvCxnSpPr>
        <p:spPr>
          <a:xfrm flipH="1">
            <a:off x="9159833" y="3605960"/>
            <a:ext cx="12943" cy="15548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BD13D223-A5E9-315B-63A0-31967048115D}"/>
              </a:ext>
            </a:extLst>
          </p:cNvPr>
          <p:cNvSpPr txBox="1"/>
          <p:nvPr/>
        </p:nvSpPr>
        <p:spPr>
          <a:xfrm>
            <a:off x="7964445" y="5204565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Aptos" panose="020B0004020202020204" pitchFamily="34" charset="0"/>
              </a:rPr>
              <a:t>accounts.google.com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91CCDC99-AA2E-8C9B-6977-7D082BD2063B}"/>
              </a:ext>
            </a:extLst>
          </p:cNvPr>
          <p:cNvSpPr txBox="1"/>
          <p:nvPr/>
        </p:nvSpPr>
        <p:spPr>
          <a:xfrm>
            <a:off x="7964444" y="5595791"/>
            <a:ext cx="2390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 err="1">
                <a:latin typeface="Aptos" panose="020B0004020202020204" pitchFamily="34" charset="0"/>
              </a:rPr>
              <a:t>Allow</a:t>
            </a:r>
            <a:r>
              <a:rPr lang="it-IT" sz="1400" dirty="0">
                <a:latin typeface="Aptos" panose="020B0004020202020204" pitchFamily="34" charset="0"/>
              </a:rPr>
              <a:t> </a:t>
            </a:r>
            <a:r>
              <a:rPr lang="it-IT" sz="1400" dirty="0" err="1">
                <a:latin typeface="Aptos" panose="020B0004020202020204" pitchFamily="34" charset="0"/>
              </a:rPr>
              <a:t>Yelp</a:t>
            </a:r>
            <a:r>
              <a:rPr lang="it-IT" sz="1400" dirty="0">
                <a:latin typeface="Aptos" panose="020B0004020202020204" pitchFamily="34" charset="0"/>
              </a:rPr>
              <a:t> to access </a:t>
            </a:r>
            <a:r>
              <a:rPr lang="it-IT" sz="1400" dirty="0" err="1">
                <a:latin typeface="Aptos" panose="020B0004020202020204" pitchFamily="34" charset="0"/>
              </a:rPr>
              <a:t>your</a:t>
            </a:r>
            <a:r>
              <a:rPr lang="it-IT" sz="1400" dirty="0">
                <a:latin typeface="Aptos" panose="020B0004020202020204" pitchFamily="34" charset="0"/>
              </a:rPr>
              <a:t> </a:t>
            </a:r>
            <a:r>
              <a:rPr lang="it-IT" sz="1400" dirty="0" err="1">
                <a:latin typeface="Aptos" panose="020B0004020202020204" pitchFamily="34" charset="0"/>
              </a:rPr>
              <a:t>profile</a:t>
            </a:r>
            <a:r>
              <a:rPr lang="it-IT" sz="1400" dirty="0">
                <a:latin typeface="Aptos" panose="020B0004020202020204" pitchFamily="34" charset="0"/>
              </a:rPr>
              <a:t> and </a:t>
            </a:r>
            <a:r>
              <a:rPr lang="it-IT" sz="1400" dirty="0" err="1">
                <a:latin typeface="Aptos" panose="020B0004020202020204" pitchFamily="34" charset="0"/>
              </a:rPr>
              <a:t>contacts</a:t>
            </a:r>
            <a:r>
              <a:rPr lang="it-IT" sz="1400" dirty="0">
                <a:latin typeface="Aptos" panose="020B0004020202020204" pitchFamily="34" charset="0"/>
              </a:rPr>
              <a:t>?</a:t>
            </a:r>
          </a:p>
        </p:txBody>
      </p:sp>
      <p:sp>
        <p:nvSpPr>
          <p:cNvPr id="34" name="Rettangolo con angoli arrotondati 33">
            <a:extLst>
              <a:ext uri="{FF2B5EF4-FFF2-40B4-BE49-F238E27FC236}">
                <a16:creationId xmlns:a16="http://schemas.microsoft.com/office/drawing/2014/main" id="{EF2F2FD3-6B0C-DBEA-2804-A4F007ADE10F}"/>
              </a:ext>
            </a:extLst>
          </p:cNvPr>
          <p:cNvSpPr/>
          <p:nvPr/>
        </p:nvSpPr>
        <p:spPr>
          <a:xfrm>
            <a:off x="9450567" y="6180494"/>
            <a:ext cx="752976" cy="439767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latin typeface="Aptos" panose="020B0004020202020204" pitchFamily="34" charset="0"/>
              </a:rPr>
              <a:t>Yes</a:t>
            </a:r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2621EB6A-D60E-6564-61E1-7A267BB4C5E5}"/>
              </a:ext>
            </a:extLst>
          </p:cNvPr>
          <p:cNvSpPr/>
          <p:nvPr/>
        </p:nvSpPr>
        <p:spPr>
          <a:xfrm>
            <a:off x="8335526" y="6180493"/>
            <a:ext cx="752976" cy="43976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Aptos" panose="020B0004020202020204" pitchFamily="34" charset="0"/>
              </a:rPr>
              <a:t>No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92979625-9599-305F-2DE1-4F0B67F23A3A}"/>
              </a:ext>
            </a:extLst>
          </p:cNvPr>
          <p:cNvSpPr txBox="1"/>
          <p:nvPr/>
        </p:nvSpPr>
        <p:spPr>
          <a:xfrm>
            <a:off x="9891963" y="4362407"/>
            <a:ext cx="23519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latin typeface="Aptos" panose="020B0004020202020204" pitchFamily="34" charset="0"/>
              </a:rPr>
              <a:t>Request</a:t>
            </a:r>
            <a:r>
              <a:rPr lang="it-IT" sz="2000" dirty="0">
                <a:latin typeface="Aptos" panose="020B0004020202020204" pitchFamily="34" charset="0"/>
              </a:rPr>
              <a:t> </a:t>
            </a:r>
            <a:r>
              <a:rPr lang="it-IT" sz="2000" dirty="0" err="1">
                <a:latin typeface="Aptos" panose="020B0004020202020204" pitchFamily="34" charset="0"/>
              </a:rPr>
              <a:t>consent</a:t>
            </a:r>
            <a:r>
              <a:rPr lang="it-IT" sz="2000" dirty="0">
                <a:latin typeface="Aptos" panose="020B0004020202020204" pitchFamily="34" charset="0"/>
              </a:rPr>
              <a:t> from the </a:t>
            </a:r>
            <a:r>
              <a:rPr lang="it-IT" sz="2000" dirty="0" err="1">
                <a:latin typeface="Aptos" panose="020B0004020202020204" pitchFamily="34" charset="0"/>
              </a:rPr>
              <a:t>resource</a:t>
            </a:r>
            <a:r>
              <a:rPr lang="it-IT" sz="2000" dirty="0">
                <a:latin typeface="Aptos" panose="020B0004020202020204" pitchFamily="34" charset="0"/>
              </a:rPr>
              <a:t> </a:t>
            </a:r>
            <a:r>
              <a:rPr lang="it-IT" sz="2000" dirty="0" err="1">
                <a:latin typeface="Aptos" panose="020B0004020202020204" pitchFamily="34" charset="0"/>
              </a:rPr>
              <a:t>owner</a:t>
            </a:r>
            <a:endParaRPr lang="it-IT" sz="2000" dirty="0">
              <a:latin typeface="Aptos" panose="020B0004020202020204" pitchFamily="34" charset="0"/>
            </a:endParaRPr>
          </a:p>
        </p:txBody>
      </p: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9D8045EA-7808-C40B-7E44-B05C3917B8E7}"/>
              </a:ext>
            </a:extLst>
          </p:cNvPr>
          <p:cNvCxnSpPr>
            <a:cxnSpLocks/>
          </p:cNvCxnSpPr>
          <p:nvPr/>
        </p:nvCxnSpPr>
        <p:spPr>
          <a:xfrm flipH="1" flipV="1">
            <a:off x="3793836" y="5938848"/>
            <a:ext cx="4170606" cy="455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ttangolo 38">
            <a:extLst>
              <a:ext uri="{FF2B5EF4-FFF2-40B4-BE49-F238E27FC236}">
                <a16:creationId xmlns:a16="http://schemas.microsoft.com/office/drawing/2014/main" id="{998C835F-5CE0-73F0-9491-47E1B67462A0}"/>
              </a:ext>
            </a:extLst>
          </p:cNvPr>
          <p:cNvSpPr/>
          <p:nvPr/>
        </p:nvSpPr>
        <p:spPr>
          <a:xfrm>
            <a:off x="1403058" y="5160777"/>
            <a:ext cx="2390776" cy="1560698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>
              <a:latin typeface="Aptos" panose="020B0004020202020204" pitchFamily="34" charset="0"/>
            </a:endParaRP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989729CB-16C6-D352-F718-3775DF9D628F}"/>
              </a:ext>
            </a:extLst>
          </p:cNvPr>
          <p:cNvSpPr txBox="1"/>
          <p:nvPr/>
        </p:nvSpPr>
        <p:spPr>
          <a:xfrm>
            <a:off x="1416006" y="5198141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Aptos" panose="020B0004020202020204" pitchFamily="34" charset="0"/>
              </a:rPr>
              <a:t>yelp.com/</a:t>
            </a:r>
            <a:r>
              <a:rPr lang="it-IT" dirty="0" err="1">
                <a:latin typeface="Aptos" panose="020B0004020202020204" pitchFamily="34" charset="0"/>
              </a:rPr>
              <a:t>callback</a:t>
            </a:r>
            <a:endParaRPr lang="it-IT" dirty="0">
              <a:latin typeface="Aptos" panose="020B0004020202020204" pitchFamily="34" charset="0"/>
            </a:endParaRP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A8DF8E0A-0028-E326-78B7-0F604B92ED23}"/>
              </a:ext>
            </a:extLst>
          </p:cNvPr>
          <p:cNvSpPr txBox="1"/>
          <p:nvPr/>
        </p:nvSpPr>
        <p:spPr>
          <a:xfrm>
            <a:off x="4016373" y="5945358"/>
            <a:ext cx="38734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>
                <a:latin typeface="Aptos" panose="020B0004020202020204" pitchFamily="34" charset="0"/>
              </a:rPr>
              <a:t>Back to the </a:t>
            </a:r>
            <a:r>
              <a:rPr lang="it-IT" sz="2000" dirty="0" err="1">
                <a:latin typeface="Aptos" panose="020B0004020202020204" pitchFamily="34" charset="0"/>
              </a:rPr>
              <a:t>redirect</a:t>
            </a:r>
            <a:r>
              <a:rPr lang="it-IT" sz="2000" dirty="0">
                <a:latin typeface="Aptos" panose="020B0004020202020204" pitchFamily="34" charset="0"/>
              </a:rPr>
              <a:t> URI with the </a:t>
            </a:r>
            <a:r>
              <a:rPr lang="it-IT" sz="2000" dirty="0" err="1">
                <a:latin typeface="Aptos" panose="020B0004020202020204" pitchFamily="34" charset="0"/>
              </a:rPr>
              <a:t>authorization</a:t>
            </a:r>
            <a:r>
              <a:rPr lang="it-IT" sz="2000" dirty="0">
                <a:latin typeface="Aptos" panose="020B0004020202020204" pitchFamily="34" charset="0"/>
              </a:rPr>
              <a:t> code</a:t>
            </a:r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23588A73-6FC8-B230-27BA-A995835E408F}"/>
              </a:ext>
            </a:extLst>
          </p:cNvPr>
          <p:cNvSpPr txBox="1"/>
          <p:nvPr/>
        </p:nvSpPr>
        <p:spPr>
          <a:xfrm>
            <a:off x="1440392" y="5672735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Aptos" panose="020B0004020202020204" pitchFamily="34" charset="0"/>
              </a:rPr>
              <a:t>Loading</a:t>
            </a:r>
          </a:p>
        </p:txBody>
      </p:sp>
      <p:pic>
        <p:nvPicPr>
          <p:cNvPr id="47" name="Immagine 46">
            <a:extLst>
              <a:ext uri="{FF2B5EF4-FFF2-40B4-BE49-F238E27FC236}">
                <a16:creationId xmlns:a16="http://schemas.microsoft.com/office/drawing/2014/main" id="{5A00C573-9C3D-9F7F-6FBB-2DE78F4D72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879" y="6060158"/>
            <a:ext cx="578457" cy="578457"/>
          </a:xfrm>
          <a:prstGeom prst="rect">
            <a:avLst/>
          </a:prstGeom>
        </p:spPr>
      </p:pic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78506807-9F46-EC77-B13D-DBFED7D33E13}"/>
              </a:ext>
            </a:extLst>
          </p:cNvPr>
          <p:cNvCxnSpPr>
            <a:cxnSpLocks/>
          </p:cNvCxnSpPr>
          <p:nvPr/>
        </p:nvCxnSpPr>
        <p:spPr>
          <a:xfrm flipV="1">
            <a:off x="3746587" y="3574211"/>
            <a:ext cx="4243622" cy="157502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309B6572-BFBE-0440-95C9-52219AA0423A}"/>
              </a:ext>
            </a:extLst>
          </p:cNvPr>
          <p:cNvSpPr txBox="1"/>
          <p:nvPr/>
        </p:nvSpPr>
        <p:spPr>
          <a:xfrm rot="20381669">
            <a:off x="3552007" y="4310263"/>
            <a:ext cx="4998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solidFill>
                  <a:srgbClr val="FF0000"/>
                </a:solidFill>
                <a:latin typeface="Aptos" panose="020B0004020202020204" pitchFamily="34" charset="0"/>
              </a:rPr>
              <a:t>Authorization</a:t>
            </a:r>
            <a:r>
              <a:rPr lang="it-IT" sz="2000" dirty="0">
                <a:solidFill>
                  <a:srgbClr val="FF0000"/>
                </a:solidFill>
                <a:latin typeface="Aptos" panose="020B0004020202020204" pitchFamily="34" charset="0"/>
              </a:rPr>
              <a:t> code, client ID, client secret</a:t>
            </a:r>
          </a:p>
        </p:txBody>
      </p:sp>
      <p:cxnSp>
        <p:nvCxnSpPr>
          <p:cNvPr id="51" name="Connettore 2 50">
            <a:extLst>
              <a:ext uri="{FF2B5EF4-FFF2-40B4-BE49-F238E27FC236}">
                <a16:creationId xmlns:a16="http://schemas.microsoft.com/office/drawing/2014/main" id="{87FCB748-23C5-A795-8989-6F4A531FEDE6}"/>
              </a:ext>
            </a:extLst>
          </p:cNvPr>
          <p:cNvCxnSpPr>
            <a:cxnSpLocks/>
          </p:cNvCxnSpPr>
          <p:nvPr/>
        </p:nvCxnSpPr>
        <p:spPr>
          <a:xfrm flipH="1">
            <a:off x="3844115" y="3997027"/>
            <a:ext cx="4659886" cy="1723766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CDF00B83-1BAC-E982-B303-C8C3C2992A4C}"/>
              </a:ext>
            </a:extLst>
          </p:cNvPr>
          <p:cNvSpPr txBox="1"/>
          <p:nvPr/>
        </p:nvSpPr>
        <p:spPr>
          <a:xfrm rot="20381641">
            <a:off x="5341624" y="4793622"/>
            <a:ext cx="20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>
                <a:solidFill>
                  <a:srgbClr val="0070C0"/>
                </a:solidFill>
                <a:latin typeface="Aptos" panose="020B0004020202020204" pitchFamily="34" charset="0"/>
              </a:rPr>
              <a:t>Access token</a:t>
            </a:r>
          </a:p>
        </p:txBody>
      </p:sp>
      <p:sp>
        <p:nvSpPr>
          <p:cNvPr id="57" name="Rettangolo 56">
            <a:extLst>
              <a:ext uri="{FF2B5EF4-FFF2-40B4-BE49-F238E27FC236}">
                <a16:creationId xmlns:a16="http://schemas.microsoft.com/office/drawing/2014/main" id="{1D81CDBC-5B99-19B3-4240-BDE6FAEB2F2E}"/>
              </a:ext>
            </a:extLst>
          </p:cNvPr>
          <p:cNvSpPr/>
          <p:nvPr/>
        </p:nvSpPr>
        <p:spPr>
          <a:xfrm>
            <a:off x="1427778" y="3894388"/>
            <a:ext cx="2390776" cy="488362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>
              <a:latin typeface="Aptos" panose="020B0004020202020204" pitchFamily="34" charset="0"/>
            </a:endParaRPr>
          </a:p>
        </p:txBody>
      </p:sp>
      <p:sp>
        <p:nvSpPr>
          <p:cNvPr id="58" name="CasellaDiTesto 57">
            <a:extLst>
              <a:ext uri="{FF2B5EF4-FFF2-40B4-BE49-F238E27FC236}">
                <a16:creationId xmlns:a16="http://schemas.microsoft.com/office/drawing/2014/main" id="{2F435E67-387F-4C83-B2DE-D175CCFE902E}"/>
              </a:ext>
            </a:extLst>
          </p:cNvPr>
          <p:cNvSpPr txBox="1"/>
          <p:nvPr/>
        </p:nvSpPr>
        <p:spPr>
          <a:xfrm>
            <a:off x="1459462" y="3942051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Aptos" panose="020B0004020202020204" pitchFamily="34" charset="0"/>
              </a:rPr>
              <a:t>contacts.google.com</a:t>
            </a:r>
          </a:p>
        </p:txBody>
      </p:sp>
      <p:cxnSp>
        <p:nvCxnSpPr>
          <p:cNvPr id="59" name="Connettore 2 58">
            <a:extLst>
              <a:ext uri="{FF2B5EF4-FFF2-40B4-BE49-F238E27FC236}">
                <a16:creationId xmlns:a16="http://schemas.microsoft.com/office/drawing/2014/main" id="{2D9A6738-D952-5FC4-EA8C-2027E83018EC}"/>
              </a:ext>
            </a:extLst>
          </p:cNvPr>
          <p:cNvCxnSpPr>
            <a:cxnSpLocks/>
          </p:cNvCxnSpPr>
          <p:nvPr/>
        </p:nvCxnSpPr>
        <p:spPr>
          <a:xfrm flipV="1">
            <a:off x="2249921" y="4394782"/>
            <a:ext cx="0" cy="7453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ttore 2 60">
            <a:extLst>
              <a:ext uri="{FF2B5EF4-FFF2-40B4-BE49-F238E27FC236}">
                <a16:creationId xmlns:a16="http://schemas.microsoft.com/office/drawing/2014/main" id="{2F6CCB5E-D1D9-EDF7-2B6A-E0660A6A180E}"/>
              </a:ext>
            </a:extLst>
          </p:cNvPr>
          <p:cNvCxnSpPr>
            <a:cxnSpLocks/>
          </p:cNvCxnSpPr>
          <p:nvPr/>
        </p:nvCxnSpPr>
        <p:spPr>
          <a:xfrm>
            <a:off x="2864336" y="4394868"/>
            <a:ext cx="0" cy="7331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CasellaDiTesto 64">
            <a:extLst>
              <a:ext uri="{FF2B5EF4-FFF2-40B4-BE49-F238E27FC236}">
                <a16:creationId xmlns:a16="http://schemas.microsoft.com/office/drawing/2014/main" id="{8C16D400-2F3C-3E25-47D8-1C50CA44FE62}"/>
              </a:ext>
            </a:extLst>
          </p:cNvPr>
          <p:cNvSpPr txBox="1"/>
          <p:nvPr/>
        </p:nvSpPr>
        <p:spPr>
          <a:xfrm>
            <a:off x="376147" y="4507367"/>
            <a:ext cx="20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>
                <a:latin typeface="Aptos" panose="020B0004020202020204" pitchFamily="34" charset="0"/>
              </a:rPr>
              <a:t>Access token</a:t>
            </a:r>
          </a:p>
        </p:txBody>
      </p:sp>
      <p:sp>
        <p:nvSpPr>
          <p:cNvPr id="66" name="CasellaDiTesto 65">
            <a:extLst>
              <a:ext uri="{FF2B5EF4-FFF2-40B4-BE49-F238E27FC236}">
                <a16:creationId xmlns:a16="http://schemas.microsoft.com/office/drawing/2014/main" id="{3AD854F4-A2C4-40E3-92AB-283A3B92C87B}"/>
              </a:ext>
            </a:extLst>
          </p:cNvPr>
          <p:cNvSpPr txBox="1"/>
          <p:nvPr/>
        </p:nvSpPr>
        <p:spPr>
          <a:xfrm>
            <a:off x="2390670" y="4536025"/>
            <a:ext cx="20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latin typeface="Aptos" panose="020B0004020202020204" pitchFamily="34" charset="0"/>
              </a:rPr>
              <a:t>Contacts</a:t>
            </a:r>
            <a:endParaRPr lang="it-IT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962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6" grpId="0"/>
      <p:bldP spid="8" grpId="0" animBg="1"/>
      <p:bldP spid="10" grpId="0"/>
      <p:bldP spid="12" grpId="0" animBg="1"/>
      <p:bldP spid="13" grpId="0"/>
      <p:bldP spid="17" grpId="0"/>
      <p:bldP spid="18" grpId="0" animBg="1"/>
      <p:bldP spid="19" grpId="0" animBg="1"/>
      <p:bldP spid="22" grpId="0"/>
      <p:bldP spid="23" grpId="0"/>
      <p:bldP spid="26" grpId="0"/>
      <p:bldP spid="27" grpId="0" animBg="1"/>
      <p:bldP spid="31" grpId="0"/>
      <p:bldP spid="32" grpId="0"/>
      <p:bldP spid="34" grpId="0" animBg="1"/>
      <p:bldP spid="36" grpId="0" animBg="1"/>
      <p:bldP spid="37" grpId="0"/>
      <p:bldP spid="39" grpId="0" animBg="1"/>
      <p:bldP spid="40" grpId="0"/>
      <p:bldP spid="44" grpId="0"/>
      <p:bldP spid="45" grpId="0"/>
      <p:bldP spid="50" grpId="0"/>
      <p:bldP spid="54" grpId="0"/>
      <p:bldP spid="57" grpId="0" animBg="1"/>
      <p:bldP spid="58" grpId="0"/>
      <p:bldP spid="65" grpId="0"/>
      <p:bldP spid="6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42402A-BE6A-BE40-4831-77E710307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References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C1BC6E5-F9F5-AA1D-BD62-79BF41B74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Tanenbaum</a:t>
            </a:r>
            <a:r>
              <a:rPr lang="it-IT" dirty="0"/>
              <a:t>, </a:t>
            </a:r>
            <a:r>
              <a:rPr lang="it-IT" dirty="0" err="1"/>
              <a:t>Wetherall</a:t>
            </a:r>
            <a:r>
              <a:rPr lang="it-IT" dirty="0"/>
              <a:t> – Computer Networks – Fifth Edition</a:t>
            </a:r>
          </a:p>
          <a:p>
            <a:pPr lvl="1"/>
            <a:r>
              <a:rPr lang="it-IT" sz="2400" dirty="0" err="1"/>
              <a:t>Chapter</a:t>
            </a:r>
            <a:r>
              <a:rPr lang="it-IT" sz="2400" dirty="0"/>
              <a:t> 8 – Network security</a:t>
            </a:r>
          </a:p>
          <a:p>
            <a:pPr lvl="1"/>
            <a:endParaRPr lang="it-IT" sz="2400" dirty="0"/>
          </a:p>
          <a:p>
            <a:r>
              <a:rPr lang="it-IT" sz="2800" dirty="0" err="1"/>
              <a:t>jwt.io</a:t>
            </a:r>
            <a:r>
              <a:rPr lang="it-IT" sz="2800" dirty="0"/>
              <a:t>: </a:t>
            </a:r>
            <a:r>
              <a:rPr lang="it-IT" sz="2800" dirty="0">
                <a:solidFill>
                  <a:srgbClr val="C00000"/>
                </a:solidFill>
              </a:rPr>
              <a:t>https://</a:t>
            </a:r>
            <a:r>
              <a:rPr lang="it-IT" sz="2800" dirty="0" err="1">
                <a:solidFill>
                  <a:srgbClr val="C00000"/>
                </a:solidFill>
              </a:rPr>
              <a:t>jwt.io</a:t>
            </a:r>
            <a:r>
              <a:rPr lang="it-IT" sz="2800" dirty="0">
                <a:solidFill>
                  <a:srgbClr val="C00000"/>
                </a:solidFill>
              </a:rPr>
              <a:t> 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DDE0274-3613-AF73-FA54-29A8F55BC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97355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1795</Words>
  <Application>Microsoft Macintosh PowerPoint</Application>
  <PresentationFormat>Widescreen</PresentationFormat>
  <Paragraphs>305</Paragraphs>
  <Slides>30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Aptos</vt:lpstr>
      <vt:lpstr>Arial</vt:lpstr>
      <vt:lpstr>Calibri</vt:lpstr>
      <vt:lpstr>Courier New</vt:lpstr>
      <vt:lpstr>Menlo</vt:lpstr>
      <vt:lpstr>Times New Roman</vt:lpstr>
      <vt:lpstr>Wingdings</vt:lpstr>
      <vt:lpstr>Tema di Office</vt:lpstr>
      <vt:lpstr>PowerPoint Presentation</vt:lpstr>
      <vt:lpstr>Authorization</vt:lpstr>
      <vt:lpstr>Basic access authentication</vt:lpstr>
      <vt:lpstr>Basic access authentication</vt:lpstr>
      <vt:lpstr>Digest access authentication</vt:lpstr>
      <vt:lpstr>JSON Web token</vt:lpstr>
      <vt:lpstr>JSON Web token</vt:lpstr>
      <vt:lpstr>JSON Web token</vt:lpstr>
      <vt:lpstr>Example of a JWT token</vt:lpstr>
      <vt:lpstr>How authorization works in the IMPACT backend</vt:lpstr>
      <vt:lpstr>The IMPACT user types and permissions</vt:lpstr>
      <vt:lpstr>The researcher role</vt:lpstr>
      <vt:lpstr>Get the authorization: The IMPACT gate</vt:lpstr>
      <vt:lpstr>The IMPACT gate: token</vt:lpstr>
      <vt:lpstr>Get the token using POSTMAN</vt:lpstr>
      <vt:lpstr>(Wrongly) Get the token using POSTMAN</vt:lpstr>
      <vt:lpstr>(Wrongly) Get the token using POSTMAN</vt:lpstr>
      <vt:lpstr>Inspect the access token</vt:lpstr>
      <vt:lpstr>Refresh token</vt:lpstr>
      <vt:lpstr>The IMPACT gate: refresh</vt:lpstr>
      <vt:lpstr>Refresh the token using POSTMAN</vt:lpstr>
      <vt:lpstr>Inspect the new access token</vt:lpstr>
      <vt:lpstr>Delegated authorization</vt:lpstr>
      <vt:lpstr>The incorrect solution: sharing login credentials</vt:lpstr>
      <vt:lpstr>OAuth protocol</vt:lpstr>
      <vt:lpstr>OAuth roles</vt:lpstr>
      <vt:lpstr>OAuth abstract model</vt:lpstr>
      <vt:lpstr>Application registration</vt:lpstr>
      <vt:lpstr>Example of delegated authentication with OAuth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Martina</dc:creator>
  <cp:lastModifiedBy>Giacomo Cappon</cp:lastModifiedBy>
  <cp:revision>543</cp:revision>
  <dcterms:created xsi:type="dcterms:W3CDTF">2021-07-19T09:08:13Z</dcterms:created>
  <dcterms:modified xsi:type="dcterms:W3CDTF">2026-02-18T15:19:40Z</dcterms:modified>
</cp:coreProperties>
</file>