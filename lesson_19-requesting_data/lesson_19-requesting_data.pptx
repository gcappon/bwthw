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95" r:id="rId3"/>
    <p:sldId id="410" r:id="rId4"/>
    <p:sldId id="411" r:id="rId5"/>
    <p:sldId id="374" r:id="rId6"/>
    <p:sldId id="368" r:id="rId7"/>
    <p:sldId id="407" r:id="rId8"/>
    <p:sldId id="366" r:id="rId9"/>
    <p:sldId id="409" r:id="rId10"/>
    <p:sldId id="406" r:id="rId11"/>
    <p:sldId id="408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 autoAdjust="0"/>
    <p:restoredTop sz="87755"/>
  </p:normalViewPr>
  <p:slideViewPr>
    <p:cSldViewPr snapToGrid="0">
      <p:cViewPr varScale="1">
        <p:scale>
          <a:sx n="112" d="100"/>
          <a:sy n="112" d="100"/>
        </p:scale>
        <p:origin x="71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2/19/26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774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73110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2585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HTTP_status_codesm" TargetMode="External"/><Relationship Id="rId2" Type="http://schemas.openxmlformats.org/officeDocument/2006/relationships/hyperlink" Target="https://impact.dei.unipd.it/bwthw/docs/swagger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flutter.dev/cookbook/networking/send-data" TargetMode="External"/><Relationship Id="rId4" Type="http://schemas.openxmlformats.org/officeDocument/2006/relationships/hyperlink" Target="https://docs.flutter.dev/cookbook/networking/fetch-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Requesting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Recap: The IMPACT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08430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Receive token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>
                <a:latin typeface="Aptos" panose="020B0004020202020204" pitchFamily="34" charset="0"/>
              </a:rPr>
              <a:t>Lesson </a:t>
            </a:r>
            <a:r>
              <a:rPr lang="en-US" b="1" dirty="0">
                <a:latin typeface="Aptos" panose="020B0004020202020204" pitchFamily="34" charset="0"/>
              </a:rPr>
              <a:t>18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>
                <a:latin typeface="Aptos" panose="020B0004020202020204" pitchFamily="34" charset="0"/>
              </a:rPr>
              <a:t>Lesson 1</a:t>
            </a:r>
            <a:r>
              <a:rPr lang="en-US" b="1" dirty="0">
                <a:latin typeface="Aptos" panose="020B0004020202020204" pitchFamily="34" charset="0"/>
              </a:rPr>
              <a:t>9</a:t>
            </a:r>
            <a:endParaRPr lang="en-IT" b="1" dirty="0"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entire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1417320" y="13110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1417320" y="19561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1417320" y="25287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4294045" y="16943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4294045" y="23394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7D2822-EC21-B2F1-B64A-510F99B94BCD}"/>
              </a:ext>
            </a:extLst>
          </p:cNvPr>
          <p:cNvSpPr/>
          <p:nvPr/>
        </p:nvSpPr>
        <p:spPr>
          <a:xfrm>
            <a:off x="2878541" y="3310771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560081-E8BB-4EF3-7C7F-5D6D01BF0F5C}"/>
              </a:ext>
            </a:extLst>
          </p:cNvPr>
          <p:cNvSpPr/>
          <p:nvPr/>
        </p:nvSpPr>
        <p:spPr>
          <a:xfrm>
            <a:off x="4843704" y="4881307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BAD13C-8618-93A4-2969-85B61DB190C7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flipH="1">
            <a:off x="4294043" y="2912083"/>
            <a:ext cx="2" cy="3986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694C6-EA15-11C0-AE43-9FEFE31169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4294043" y="3694084"/>
            <a:ext cx="3426386" cy="1187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8F217A-C024-20CF-EC5D-56E7C6D53193}"/>
              </a:ext>
            </a:extLst>
          </p:cNvPr>
          <p:cNvCxnSpPr>
            <a:cxnSpLocks/>
            <a:stCxn id="28" idx="2"/>
            <a:endCxn id="82" idx="0"/>
          </p:cNvCxnSpPr>
          <p:nvPr/>
        </p:nvCxnSpPr>
        <p:spPr>
          <a:xfrm flipH="1">
            <a:off x="1594847" y="3694084"/>
            <a:ext cx="2699196" cy="86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4A0A1A-02EC-0652-2DB4-9C660F5CBFFE}"/>
              </a:ext>
            </a:extLst>
          </p:cNvPr>
          <p:cNvCxnSpPr>
            <a:cxnSpLocks/>
            <a:stCxn id="88" idx="3"/>
            <a:endCxn id="29" idx="1"/>
          </p:cNvCxnSpPr>
          <p:nvPr/>
        </p:nvCxnSpPr>
        <p:spPr>
          <a:xfrm flipV="1">
            <a:off x="3754287" y="5072963"/>
            <a:ext cx="1089417" cy="1118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AA519743-4BEF-00D3-97AE-DF78F1FBC87C}"/>
              </a:ext>
            </a:extLst>
          </p:cNvPr>
          <p:cNvSpPr txBox="1">
            <a:spLocks/>
          </p:cNvSpPr>
          <p:nvPr/>
        </p:nvSpPr>
        <p:spPr>
          <a:xfrm>
            <a:off x="2195449" y="3878419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CAED8DAF-8693-1563-7F60-15E843CA49AB}"/>
              </a:ext>
            </a:extLst>
          </p:cNvPr>
          <p:cNvSpPr txBox="1">
            <a:spLocks/>
          </p:cNvSpPr>
          <p:nvPr/>
        </p:nvSpPr>
        <p:spPr>
          <a:xfrm>
            <a:off x="5563586" y="3869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7B55B2-D574-B610-E2A1-5C32761E9027}"/>
              </a:ext>
            </a:extLst>
          </p:cNvPr>
          <p:cNvCxnSpPr/>
          <p:nvPr/>
        </p:nvCxnSpPr>
        <p:spPr>
          <a:xfrm>
            <a:off x="0" y="3080251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8C5764F-0459-1BD1-02F0-577C53912173}"/>
              </a:ext>
            </a:extLst>
          </p:cNvPr>
          <p:cNvSpPr/>
          <p:nvPr/>
        </p:nvSpPr>
        <p:spPr>
          <a:xfrm>
            <a:off x="179345" y="456354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FA570E-D20C-8C65-48DA-B1F1029076A6}"/>
              </a:ext>
            </a:extLst>
          </p:cNvPr>
          <p:cNvSpPr/>
          <p:nvPr/>
        </p:nvSpPr>
        <p:spPr>
          <a:xfrm>
            <a:off x="159587" y="5850259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52B199-DAA7-7E18-EDBC-CD81FF84D62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22133" y="1502699"/>
            <a:ext cx="695187" cy="306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F10546A3-FAB4-3FC6-2093-D9AFF0578F05}"/>
              </a:ext>
            </a:extLst>
          </p:cNvPr>
          <p:cNvSpPr txBox="1">
            <a:spLocks/>
          </p:cNvSpPr>
          <p:nvPr/>
        </p:nvSpPr>
        <p:spPr>
          <a:xfrm>
            <a:off x="159587" y="402438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545B80E8-8C1F-9FC7-B447-2C63EF82F82D}"/>
              </a:ext>
            </a:extLst>
          </p:cNvPr>
          <p:cNvSpPr txBox="1">
            <a:spLocks/>
          </p:cNvSpPr>
          <p:nvPr/>
        </p:nvSpPr>
        <p:spPr>
          <a:xfrm>
            <a:off x="1768524" y="528132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D1E1CBD-4178-0F49-7512-A2070194A855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>
            <a:off x="1594847" y="4946860"/>
            <a:ext cx="362090" cy="90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8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25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Requesting data: The IMPACT data</a:t>
            </a:r>
          </a:p>
        </p:txBody>
      </p:sp>
      <p:pic>
        <p:nvPicPr>
          <p:cNvPr id="27" name="Picture 26" descr="A close-up of a sign&#10;&#10;Description automatically generated with low confidence">
            <a:extLst>
              <a:ext uri="{FF2B5EF4-FFF2-40B4-BE49-F238E27FC236}">
                <a16:creationId xmlns:a16="http://schemas.microsoft.com/office/drawing/2014/main" id="{8F4E9817-D3F6-AC09-6B5C-D0EAF63F7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" y="1144998"/>
            <a:ext cx="11780157" cy="1968219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8547479E-F4F3-D481-8110-3735B8B82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" y="3026211"/>
            <a:ext cx="11780262" cy="366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7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Example: Obtaining step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2D70811A-5CAC-6350-9FA8-6A9C7D940D8D}"/>
              </a:ext>
            </a:extLst>
          </p:cNvPr>
          <p:cNvSpPr txBox="1">
            <a:spLocks/>
          </p:cNvSpPr>
          <p:nvPr/>
        </p:nvSpPr>
        <p:spPr>
          <a:xfrm>
            <a:off x="428172" y="1375848"/>
            <a:ext cx="11127255" cy="930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For example, let’s obtain the steps data </a:t>
            </a:r>
            <a:r>
              <a:rPr lang="en-IT">
                <a:latin typeface="Aptos" panose="020B0004020202020204" pitchFamily="34" charset="0"/>
              </a:rPr>
              <a:t>of 202</a:t>
            </a:r>
            <a:r>
              <a:rPr lang="en-US" dirty="0">
                <a:latin typeface="Aptos" panose="020B0004020202020204" pitchFamily="34" charset="0"/>
              </a:rPr>
              <a:t>6</a:t>
            </a:r>
            <a:r>
              <a:rPr lang="en-IT">
                <a:latin typeface="Aptos" panose="020B0004020202020204" pitchFamily="34" charset="0"/>
              </a:rPr>
              <a:t>, </a:t>
            </a:r>
            <a:r>
              <a:rPr lang="en-IT" dirty="0">
                <a:latin typeface="Aptos" panose="020B0004020202020204" pitchFamily="34" charset="0"/>
              </a:rPr>
              <a:t>May, 4th</a:t>
            </a:r>
          </a:p>
        </p:txBody>
      </p:sp>
      <p:pic>
        <p:nvPicPr>
          <p:cNvPr id="23" name="Graphic 22" descr="Male profile outline">
            <a:extLst>
              <a:ext uri="{FF2B5EF4-FFF2-40B4-BE49-F238E27FC236}">
                <a16:creationId xmlns:a16="http://schemas.microsoft.com/office/drawing/2014/main" id="{E2072228-9FF5-B619-8415-6EF905875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639" y="1841119"/>
            <a:ext cx="1318591" cy="1318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55CFCF-C036-F8AF-443F-623F234E3526}"/>
              </a:ext>
            </a:extLst>
          </p:cNvPr>
          <p:cNvSpPr txBox="1"/>
          <p:nvPr/>
        </p:nvSpPr>
        <p:spPr>
          <a:xfrm>
            <a:off x="236639" y="3178441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"Jpefaq6m58"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birth_year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1994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display_name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"Luca"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clinical_center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to_be_deleted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1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false</a:t>
            </a:r>
            <a:endParaRPr lang="en-GB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863F87D-C981-084F-7152-28841CEB7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265" y="1870800"/>
            <a:ext cx="5798579" cy="475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9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8148547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Let’s </a:t>
            </a:r>
            <a:r>
              <a:rPr lang="en-IT">
                <a:latin typeface="Aptos" panose="020B0004020202020204" pitchFamily="34" charset="0"/>
              </a:rPr>
              <a:t>implement </a:t>
            </a:r>
            <a:r>
              <a:rPr lang="en-US" dirty="0">
                <a:latin typeface="Aptos" panose="020B0004020202020204" pitchFamily="34" charset="0"/>
              </a:rPr>
              <a:t>(a subset of) </a:t>
            </a:r>
            <a:r>
              <a:rPr lang="en-IT">
                <a:latin typeface="Aptos" panose="020B0004020202020204" pitchFamily="34" charset="0"/>
              </a:rPr>
              <a:t>the </a:t>
            </a:r>
            <a:r>
              <a:rPr lang="en-IT" dirty="0">
                <a:latin typeface="Aptos" panose="020B0004020202020204" pitchFamily="34" charset="0"/>
              </a:rPr>
              <a:t>operations required to request the data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F4130A-F41F-0349-86CB-FA959B946237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_1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9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-requesting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_data/get_step/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6E4BD-6076-8DB8-6E40-F685DA432418}"/>
              </a:ext>
            </a:extLst>
          </p:cNvPr>
          <p:cNvSpPr/>
          <p:nvPr/>
        </p:nvSpPr>
        <p:spPr>
          <a:xfrm>
            <a:off x="3568719" y="2201286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C23E99-817A-B449-7F7A-D0086C595FFA}"/>
              </a:ext>
            </a:extLst>
          </p:cNvPr>
          <p:cNvSpPr/>
          <p:nvPr/>
        </p:nvSpPr>
        <p:spPr>
          <a:xfrm>
            <a:off x="4985684" y="4655159"/>
            <a:ext cx="2024991" cy="112638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487630-8C71-29B1-2238-C0006634230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984221" y="2584599"/>
            <a:ext cx="1013959" cy="2070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32456B-B6D3-E1F7-9BF5-E1D31CC5C614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flipH="1">
            <a:off x="3456441" y="2584599"/>
            <a:ext cx="1527780" cy="97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CB75B9-5482-999C-049D-E3756839269F}"/>
              </a:ext>
            </a:extLst>
          </p:cNvPr>
          <p:cNvCxnSpPr>
            <a:cxnSpLocks/>
            <a:stCxn id="15" idx="2"/>
            <a:endCxn id="7" idx="1"/>
          </p:cNvCxnSpPr>
          <p:nvPr/>
        </p:nvCxnSpPr>
        <p:spPr>
          <a:xfrm>
            <a:off x="3456441" y="4836646"/>
            <a:ext cx="1529243" cy="381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8871EB-45F3-F6E5-FA1B-E3C17935E040}"/>
              </a:ext>
            </a:extLst>
          </p:cNvPr>
          <p:cNvSpPr txBox="1">
            <a:spLocks/>
          </p:cNvSpPr>
          <p:nvPr/>
        </p:nvSpPr>
        <p:spPr>
          <a:xfrm>
            <a:off x="3653020" y="2798380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D030CE-C8F4-6DBA-2A0A-C34872EB4E7D}"/>
              </a:ext>
            </a:extLst>
          </p:cNvPr>
          <p:cNvSpPr txBox="1">
            <a:spLocks/>
          </p:cNvSpPr>
          <p:nvPr/>
        </p:nvSpPr>
        <p:spPr>
          <a:xfrm>
            <a:off x="5455952" y="2814680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20DEE-4013-2FAF-3E68-8EEAB784297E}"/>
              </a:ext>
            </a:extLst>
          </p:cNvPr>
          <p:cNvSpPr/>
          <p:nvPr/>
        </p:nvSpPr>
        <p:spPr>
          <a:xfrm>
            <a:off x="2479120" y="3563117"/>
            <a:ext cx="1954641" cy="127352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pic>
        <p:nvPicPr>
          <p:cNvPr id="13" name="Picture 12" descr="A screenshot of a phone&#10;&#10;Description automatically generated">
            <a:extLst>
              <a:ext uri="{FF2B5EF4-FFF2-40B4-BE49-F238E27FC236}">
                <a16:creationId xmlns:a16="http://schemas.microsoft.com/office/drawing/2014/main" id="{8180B451-BA15-018F-3208-3014BF5CF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574" y="161926"/>
            <a:ext cx="2862244" cy="620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546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example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Try to integrate the request data flow in your project </a:t>
            </a:r>
          </a:p>
        </p:txBody>
      </p:sp>
    </p:spTree>
    <p:extLst>
      <p:ext uri="{BB962C8B-B14F-4D97-AF65-F5344CB8AC3E}">
        <p14:creationId xmlns:p14="http://schemas.microsoft.com/office/powerpoint/2010/main" val="260899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9796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32139"/>
            <a:ext cx="10913119" cy="5334907"/>
          </a:xfrm>
        </p:spPr>
        <p:txBody>
          <a:bodyPr>
            <a:normAutofit/>
          </a:bodyPr>
          <a:lstStyle/>
          <a:p>
            <a:endParaRPr lang="en-IT" dirty="0"/>
          </a:p>
          <a:p>
            <a:r>
              <a:rPr lang="en-IT" dirty="0"/>
              <a:t>IMPACT documentation</a:t>
            </a:r>
          </a:p>
          <a:p>
            <a:pPr lvl="1"/>
            <a:r>
              <a:rPr lang="en-GB" dirty="0">
                <a:hlinkClick r:id="rId2"/>
              </a:rPr>
              <a:t>https://impact.dei.unipd.it/bwthw/docs/swagger/</a:t>
            </a:r>
            <a:r>
              <a:rPr lang="en-IT" dirty="0"/>
              <a:t> </a:t>
            </a:r>
          </a:p>
          <a:p>
            <a:endParaRPr lang="en-IT" dirty="0"/>
          </a:p>
          <a:p>
            <a:r>
              <a:rPr lang="en-IT" dirty="0"/>
              <a:t>HTTP Status Codes</a:t>
            </a:r>
          </a:p>
          <a:p>
            <a:pPr lvl="1"/>
            <a:r>
              <a:rPr lang="en-GB" dirty="0">
                <a:hlinkClick r:id="rId3"/>
              </a:rPr>
              <a:t>https://en.wikipedia.org/wiki/List_of_HTTP_status_codes</a:t>
            </a:r>
            <a:endParaRPr lang="en-IT" dirty="0"/>
          </a:p>
          <a:p>
            <a:pPr marL="457200" lvl="1" indent="0">
              <a:buNone/>
            </a:pPr>
            <a:endParaRPr lang="en-GB" dirty="0"/>
          </a:p>
          <a:p>
            <a:r>
              <a:rPr lang="en-IT" dirty="0"/>
              <a:t>Fetch data from the internet. Cookbook by the Flutter community</a:t>
            </a:r>
          </a:p>
          <a:p>
            <a:pPr lvl="1"/>
            <a:r>
              <a:rPr lang="en-GB" dirty="0">
                <a:hlinkClick r:id="rId4"/>
              </a:rPr>
              <a:t>https://docs.flutter.dev/cookbook/networking/fetch-data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Send data to the internet. Cookbook by the Flutter community</a:t>
            </a:r>
          </a:p>
          <a:p>
            <a:pPr lvl="1"/>
            <a:r>
              <a:rPr lang="en-GB" dirty="0">
                <a:hlinkClick r:id="rId5"/>
              </a:rPr>
              <a:t>https://docs.flutter.dev/cookbook/networking/send-data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20583</TotalTime>
  <Words>396</Words>
  <Application>Microsoft Macintosh PowerPoint</Application>
  <PresentationFormat>Widescreen</PresentationFormat>
  <Paragraphs>96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Menlo</vt:lpstr>
      <vt:lpstr>Times New Roman</vt:lpstr>
      <vt:lpstr>Wingdings</vt:lpstr>
      <vt:lpstr>Tema di Office</vt:lpstr>
      <vt:lpstr>Giacomo Cappon</vt:lpstr>
      <vt:lpstr>Outline</vt:lpstr>
      <vt:lpstr>Recap: The IMPACT backend</vt:lpstr>
      <vt:lpstr>The entire flow in practice</vt:lpstr>
      <vt:lpstr>Outline</vt:lpstr>
      <vt:lpstr>Requesting data: The IMPACT data</vt:lpstr>
      <vt:lpstr>Example: Obtaining step data </vt:lpstr>
      <vt:lpstr>Case of study - Live</vt:lpstr>
      <vt:lpstr>Outline</vt:lpstr>
      <vt:lpstr>Exercise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209</cp:revision>
  <dcterms:created xsi:type="dcterms:W3CDTF">2021-07-19T09:08:13Z</dcterms:created>
  <dcterms:modified xsi:type="dcterms:W3CDTF">2026-02-19T11:03:16Z</dcterms:modified>
</cp:coreProperties>
</file>