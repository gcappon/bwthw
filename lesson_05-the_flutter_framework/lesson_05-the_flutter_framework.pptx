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9" r:id="rId2"/>
    <p:sldId id="381" r:id="rId3"/>
    <p:sldId id="304" r:id="rId4"/>
    <p:sldId id="389" r:id="rId5"/>
    <p:sldId id="384" r:id="rId6"/>
    <p:sldId id="289" r:id="rId7"/>
    <p:sldId id="315" r:id="rId8"/>
    <p:sldId id="291" r:id="rId9"/>
    <p:sldId id="292" r:id="rId10"/>
    <p:sldId id="383" r:id="rId11"/>
    <p:sldId id="314" r:id="rId12"/>
    <p:sldId id="316" r:id="rId13"/>
    <p:sldId id="317" r:id="rId14"/>
    <p:sldId id="311" r:id="rId15"/>
    <p:sldId id="327" r:id="rId16"/>
    <p:sldId id="322" r:id="rId17"/>
    <p:sldId id="325" r:id="rId18"/>
    <p:sldId id="323" r:id="rId19"/>
    <p:sldId id="318" r:id="rId20"/>
    <p:sldId id="385" r:id="rId21"/>
    <p:sldId id="328" r:id="rId22"/>
    <p:sldId id="388" r:id="rId23"/>
    <p:sldId id="330" r:id="rId24"/>
    <p:sldId id="329" r:id="rId25"/>
    <p:sldId id="331" r:id="rId26"/>
    <p:sldId id="333" r:id="rId27"/>
    <p:sldId id="332" r:id="rId28"/>
    <p:sldId id="334" r:id="rId29"/>
    <p:sldId id="335" r:id="rId30"/>
    <p:sldId id="336" r:id="rId31"/>
    <p:sldId id="337" r:id="rId32"/>
    <p:sldId id="338" r:id="rId33"/>
    <p:sldId id="353" r:id="rId34"/>
    <p:sldId id="382" r:id="rId35"/>
    <p:sldId id="391" r:id="rId36"/>
    <p:sldId id="309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95" autoAdjust="0"/>
    <p:restoredTop sz="86803"/>
  </p:normalViewPr>
  <p:slideViewPr>
    <p:cSldViewPr snapToGrid="0">
      <p:cViewPr varScale="1">
        <p:scale>
          <a:sx n="110" d="100"/>
          <a:sy n="110" d="100"/>
        </p:scale>
        <p:origin x="176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2/19/26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52295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25043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8404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02582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Note the .gitignore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3365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24875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38536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47378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206424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29860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06775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334890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07013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84461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24032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869653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88702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018225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421403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572938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657326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71361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>
            <a:lvl1pPr>
              <a:defRPr>
                <a:latin typeface="Aptos" panose="020B0004020202020204" pitchFamily="34" charset="0"/>
              </a:defRPr>
            </a:lvl1pPr>
          </a:lstStyle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1pPr>
              <a:defRPr>
                <a:latin typeface="Aptos" panose="020B0004020202020204" pitchFamily="34" charset="0"/>
              </a:defRPr>
            </a:lvl1pPr>
            <a:lvl2pPr>
              <a:defRPr>
                <a:latin typeface="Aptos" panose="020B0004020202020204" pitchFamily="34" charset="0"/>
              </a:defRPr>
            </a:lvl2pPr>
            <a:lvl3pPr>
              <a:defRPr>
                <a:latin typeface="Aptos" panose="020B0004020202020204" pitchFamily="34" charset="0"/>
              </a:defRPr>
            </a:lvl3pPr>
            <a:lvl4pPr>
              <a:defRPr>
                <a:latin typeface="Aptos" panose="020B0004020202020204" pitchFamily="34" charset="0"/>
              </a:defRPr>
            </a:lvl4pPr>
            <a:lvl5pPr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flutter.dev/development/ui/widgets-intro" TargetMode="External"/><Relationship Id="rId2" Type="http://schemas.openxmlformats.org/officeDocument/2006/relationships/hyperlink" Target="https://github.com/gcappon/bwthw/tree/master/lesson_05-the_flutter_framework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ocs.flutter.dev/development/tools/devtools/overview" TargetMode="External"/><Relationship Id="rId4" Type="http://schemas.openxmlformats.org/officeDocument/2006/relationships/hyperlink" Target="https://docs.flutter.dev/get-started/codela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Flutter Framework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b="1" dirty="0"/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80F60-35B4-6F45-9B78-E226153C9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072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Flutter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101679" cy="5334907"/>
          </a:xfrm>
        </p:spPr>
        <p:txBody>
          <a:bodyPr>
            <a:normAutofit/>
          </a:bodyPr>
          <a:lstStyle/>
          <a:p>
            <a:r>
              <a:rPr lang="en-IT" dirty="0"/>
              <a:t>What is </a:t>
            </a:r>
            <a:r>
              <a:rPr lang="en-IT"/>
              <a:t>Flutter?</a:t>
            </a:r>
            <a:endParaRPr lang="en-IT" dirty="0"/>
          </a:p>
          <a:p>
            <a:pPr lvl="1"/>
            <a:r>
              <a:rPr lang="en-IT" dirty="0"/>
              <a:t>Simply a declarative framework for Dart</a:t>
            </a:r>
          </a:p>
          <a:p>
            <a:endParaRPr lang="en-IT" dirty="0"/>
          </a:p>
          <a:p>
            <a:r>
              <a:rPr lang="en-IT" dirty="0"/>
              <a:t>Why this choice?</a:t>
            </a:r>
          </a:p>
          <a:p>
            <a:pPr lvl="1"/>
            <a:r>
              <a:rPr lang="en-IT" dirty="0"/>
              <a:t>State-of-the-art and Google-maintained</a:t>
            </a:r>
          </a:p>
          <a:p>
            <a:pPr lvl="1"/>
            <a:r>
              <a:rPr lang="en-IT" dirty="0"/>
              <a:t>Single codebase for iOS and Android (and Mac, Windows, Web)</a:t>
            </a:r>
          </a:p>
          <a:p>
            <a:pPr lvl="1"/>
            <a:r>
              <a:rPr lang="en-IT" dirty="0"/>
              <a:t>Relatively easy to learn</a:t>
            </a:r>
          </a:p>
          <a:p>
            <a:pPr lvl="1"/>
            <a:r>
              <a:rPr lang="en-IT" dirty="0"/>
              <a:t>Lots of examples</a:t>
            </a:r>
          </a:p>
          <a:p>
            <a:pPr lvl="1"/>
            <a:r>
              <a:rPr lang="en-IT" dirty="0"/>
              <a:t>Fastly growing job market</a:t>
            </a:r>
          </a:p>
          <a:p>
            <a:endParaRPr lang="en-IT" dirty="0"/>
          </a:p>
          <a:p>
            <a:r>
              <a:rPr lang="en-IT" dirty="0"/>
              <a:t>Today we will create and study our first Flutter app</a:t>
            </a:r>
          </a:p>
          <a:p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EB4A2-B6B6-A848-BB05-B57E4F554F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90"/>
          <a:stretch/>
        </p:blipFill>
        <p:spPr>
          <a:xfrm>
            <a:off x="9281738" y="1654060"/>
            <a:ext cx="2332041" cy="20990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0336D-308D-2049-B3B0-C7FF90A0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35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Before starting…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7E4116-D610-A249-B96D-BFDB3C96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579534"/>
            <a:ext cx="4867159" cy="4858203"/>
          </a:xfrm>
        </p:spPr>
        <p:txBody>
          <a:bodyPr/>
          <a:lstStyle/>
          <a:p>
            <a:endParaRPr lang="en-IT" dirty="0"/>
          </a:p>
          <a:p>
            <a:r>
              <a:rPr lang="en-IT" dirty="0"/>
              <a:t>What you’ll see in these labs about Flutter capabilities</a:t>
            </a:r>
          </a:p>
          <a:p>
            <a:endParaRPr lang="en-IT" dirty="0"/>
          </a:p>
          <a:p>
            <a:endParaRPr lang="en-IT" dirty="0"/>
          </a:p>
          <a:p>
            <a:r>
              <a:rPr lang="en-IT" dirty="0"/>
              <a:t>Actual things that you will probably use</a:t>
            </a:r>
          </a:p>
          <a:p>
            <a:endParaRPr lang="en-IT" dirty="0"/>
          </a:p>
          <a:p>
            <a:endParaRPr lang="en-IT" dirty="0"/>
          </a:p>
          <a:p>
            <a:r>
              <a:rPr lang="en-IT" dirty="0"/>
              <a:t>Flutter possibilities</a:t>
            </a:r>
          </a:p>
        </p:txBody>
      </p:sp>
      <p:pic>
        <p:nvPicPr>
          <p:cNvPr id="1028" name="Picture 4" descr="Iceberg - animazione 3D - Insegnamento e apprendimento digitale Mozaik">
            <a:extLst>
              <a:ext uri="{FF2B5EF4-FFF2-40B4-BE49-F238E27FC236}">
                <a16:creationId xmlns:a16="http://schemas.microsoft.com/office/drawing/2014/main" id="{F394ACDD-6FD7-BB4D-9061-5A95A9A106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63" t="-1" r="30340" b="1419"/>
          <a:stretch/>
        </p:blipFill>
        <p:spPr bwMode="auto">
          <a:xfrm>
            <a:off x="5880337" y="1308050"/>
            <a:ext cx="6177343" cy="5388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BE6E80-1985-9F45-AF76-436B03B7FB19}"/>
              </a:ext>
            </a:extLst>
          </p:cNvPr>
          <p:cNvCxnSpPr>
            <a:cxnSpLocks/>
          </p:cNvCxnSpPr>
          <p:nvPr/>
        </p:nvCxnSpPr>
        <p:spPr>
          <a:xfrm flipV="1">
            <a:off x="4735773" y="2293749"/>
            <a:ext cx="4423725" cy="149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2295D03-4AC3-484F-9959-CA715A16E9E4}"/>
              </a:ext>
            </a:extLst>
          </p:cNvPr>
          <p:cNvCxnSpPr>
            <a:cxnSpLocks/>
          </p:cNvCxnSpPr>
          <p:nvPr/>
        </p:nvCxnSpPr>
        <p:spPr>
          <a:xfrm>
            <a:off x="4572000" y="4053385"/>
            <a:ext cx="510426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69C071-10FA-D14B-891A-CD63848D1C9B}"/>
              </a:ext>
            </a:extLst>
          </p:cNvPr>
          <p:cNvCxnSpPr>
            <a:cxnSpLocks/>
          </p:cNvCxnSpPr>
          <p:nvPr/>
        </p:nvCxnSpPr>
        <p:spPr>
          <a:xfrm flipV="1">
            <a:off x="3521122" y="5063319"/>
            <a:ext cx="3930556" cy="545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F8063-66E4-8F4F-B2B6-3152513F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7567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b="1" dirty="0"/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72D3-569F-CF43-AF68-C4F130329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3266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 fontScale="92500" lnSpcReduction="20000"/>
          </a:bodyPr>
          <a:lstStyle/>
          <a:p>
            <a:r>
              <a:rPr lang="en-IT" dirty="0"/>
              <a:t>In this lesson, we will run and analyse our first Flutter app</a:t>
            </a:r>
          </a:p>
          <a:p>
            <a:endParaRPr lang="en-IT" dirty="0"/>
          </a:p>
          <a:p>
            <a:r>
              <a:rPr lang="en-IT" dirty="0"/>
              <a:t>First, setup VS Code to work with Flutter </a:t>
            </a:r>
            <a:r>
              <a:rPr lang="en-IT" b="1" dirty="0"/>
              <a:t>(this should have already been done)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Start VS Code.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View &gt; Command Palette…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“install”, and select </a:t>
            </a:r>
            <a:r>
              <a:rPr lang="en-GB" b="1" dirty="0"/>
              <a:t>Extensions: Install Extensions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“flutter” in the extensions search field, select </a:t>
            </a:r>
            <a:r>
              <a:rPr lang="en-GB" b="1" dirty="0"/>
              <a:t>Flutter</a:t>
            </a:r>
            <a:r>
              <a:rPr lang="en-GB" dirty="0"/>
              <a:t> in the list, and click </a:t>
            </a:r>
            <a:r>
              <a:rPr lang="en-GB" b="1" dirty="0"/>
              <a:t>Install</a:t>
            </a:r>
            <a:r>
              <a:rPr lang="en-GB" dirty="0"/>
              <a:t>. This also installs the required Dart plugin.</a:t>
            </a:r>
          </a:p>
          <a:p>
            <a:endParaRPr lang="en-GB" dirty="0"/>
          </a:p>
          <a:p>
            <a:r>
              <a:rPr lang="en-GB" dirty="0"/>
              <a:t>Then, create the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View &gt; Command Palette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“flutter”, and select the </a:t>
            </a:r>
            <a:r>
              <a:rPr lang="en-GB" b="1" dirty="0"/>
              <a:t>Flutter: New Project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</a:t>
            </a:r>
            <a:r>
              <a:rPr lang="en-GB" b="1" dirty="0"/>
              <a:t>Application</a:t>
            </a: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parent directory that will contain the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Enter a project name, such as ”</a:t>
            </a:r>
            <a:r>
              <a:rPr lang="en-GB" dirty="0" err="1"/>
              <a:t>my_first_app</a:t>
            </a:r>
            <a:r>
              <a:rPr lang="en-GB" dirty="0"/>
              <a:t>”, and press </a:t>
            </a:r>
            <a:r>
              <a:rPr lang="en-GB" b="1" dirty="0"/>
              <a:t>Enter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Wait for project creation to complete and the </a:t>
            </a:r>
            <a:r>
              <a:rPr lang="en-GB" dirty="0" err="1"/>
              <a:t>main.dart</a:t>
            </a:r>
            <a:r>
              <a:rPr lang="en-GB" dirty="0"/>
              <a:t> file to appear.</a:t>
            </a:r>
            <a:br>
              <a:rPr lang="en-GB" dirty="0"/>
            </a:b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47FBE-60CA-6E44-BDBB-26F8D8BAA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986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7910611" cy="5334907"/>
          </a:xfrm>
        </p:spPr>
        <p:txBody>
          <a:bodyPr>
            <a:normAutofit/>
          </a:bodyPr>
          <a:lstStyle/>
          <a:p>
            <a:r>
              <a:rPr lang="en-US" dirty="0"/>
              <a:t>Replace all the code of </a:t>
            </a:r>
            <a:r>
              <a:rPr lang="en-US" dirty="0" err="1"/>
              <a:t>main.dart</a:t>
            </a:r>
            <a:r>
              <a:rPr lang="en-US" dirty="0"/>
              <a:t> with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20AF9C-1ED0-5540-A353-2C08AACCEDBF}"/>
              </a:ext>
            </a:extLst>
          </p:cNvPr>
          <p:cNvSpPr/>
          <p:nvPr/>
        </p:nvSpPr>
        <p:spPr>
          <a:xfrm>
            <a:off x="696655" y="1747595"/>
            <a:ext cx="9162197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package:flutter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material.dart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';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Flutter’,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Text('Welcome to Flutter'),),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Text('Hello World'),),),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C5FE9-2B88-0540-A361-050D02A53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743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378348" cy="5334907"/>
          </a:xfrm>
        </p:spPr>
        <p:txBody>
          <a:bodyPr>
            <a:normAutofit/>
          </a:bodyPr>
          <a:lstStyle/>
          <a:p>
            <a:r>
              <a:rPr lang="en-US" dirty="0"/>
              <a:t>Finally, run the app!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Locate the VS Code status bar (the bar at the bottom of the window):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a mobile device from the </a:t>
            </a:r>
            <a:r>
              <a:rPr lang="en-GB" b="1" dirty="0"/>
              <a:t>Device Selector</a:t>
            </a:r>
            <a:r>
              <a:rPr lang="en-GB" dirty="0"/>
              <a:t> area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Run &gt; Start Debugging</a:t>
            </a:r>
            <a:r>
              <a:rPr lang="en-GB" dirty="0"/>
              <a:t> or press </a:t>
            </a:r>
            <a:r>
              <a:rPr lang="en-GB" b="1" dirty="0"/>
              <a:t>F5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Wait for the app to launch — progress is printed in the </a:t>
            </a:r>
            <a:r>
              <a:rPr lang="en-GB" b="1" dirty="0"/>
              <a:t>Debug Console</a:t>
            </a:r>
            <a:r>
              <a:rPr lang="en-GB" dirty="0"/>
              <a:t> view.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After the app build completes, you’ll see the starter app on your device.</a:t>
            </a:r>
          </a:p>
          <a:p>
            <a:pPr marL="457200" lvl="1" indent="0">
              <a:buNone/>
            </a:pPr>
            <a:br>
              <a:rPr lang="en-GB" dirty="0"/>
            </a:br>
            <a:endParaRPr lang="en-IT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579A1C-3F1C-0E4F-B288-1615DA9C1D6E}"/>
              </a:ext>
            </a:extLst>
          </p:cNvPr>
          <p:cNvCxnSpPr/>
          <p:nvPr/>
        </p:nvCxnSpPr>
        <p:spPr>
          <a:xfrm flipV="1">
            <a:off x="5145206" y="3263521"/>
            <a:ext cx="0" cy="330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81B6B1E-E6AB-0F48-94DF-AE9A54B0F679}"/>
              </a:ext>
            </a:extLst>
          </p:cNvPr>
          <p:cNvCxnSpPr>
            <a:cxnSpLocks/>
          </p:cNvCxnSpPr>
          <p:nvPr/>
        </p:nvCxnSpPr>
        <p:spPr>
          <a:xfrm>
            <a:off x="7794530" y="5227093"/>
            <a:ext cx="789912" cy="150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BA60FD-33C7-3044-8C74-0A108A5E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E8A59-D888-7C03-8801-4B009E600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870" y="2676873"/>
            <a:ext cx="5757851" cy="495299"/>
          </a:xfrm>
          <a:prstGeom prst="rect">
            <a:avLst/>
          </a:prstGeom>
        </p:spPr>
      </p:pic>
      <p:pic>
        <p:nvPicPr>
          <p:cNvPr id="13" name="Picture 12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88221EAA-A8A9-4007-5B50-ECC1D0C829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419" y="1361166"/>
            <a:ext cx="2461384" cy="533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73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A great feature: Hot reload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8908868" cy="5334907"/>
          </a:xfrm>
        </p:spPr>
        <p:txBody>
          <a:bodyPr>
            <a:normAutofit/>
          </a:bodyPr>
          <a:lstStyle/>
          <a:p>
            <a:r>
              <a:rPr lang="en-GB" dirty="0"/>
              <a:t>Dart offers a fast development cycle with </a:t>
            </a:r>
            <a:r>
              <a:rPr lang="en-GB" i="1" dirty="0"/>
              <a:t>Stateful Hot Reload</a:t>
            </a:r>
            <a:r>
              <a:rPr lang="en-GB" dirty="0"/>
              <a:t>, the ability to reload the code of a live running app without restarting or losing app state. Make a change to app source, tell your IDE or command-line tool that you want to hot reload, and see the change in your simulator, emulator, or device.</a:t>
            </a:r>
          </a:p>
          <a:p>
            <a:endParaRPr lang="en-GB" dirty="0"/>
          </a:p>
          <a:p>
            <a:r>
              <a:rPr lang="en-GB" dirty="0"/>
              <a:t>Try that!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Open lib/</a:t>
            </a:r>
            <a:r>
              <a:rPr lang="en-GB" dirty="0" err="1"/>
              <a:t>main.dart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Change the string</a:t>
            </a:r>
          </a:p>
          <a:p>
            <a:pPr marL="914400" lvl="2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‘Hello World’</a:t>
            </a:r>
          </a:p>
          <a:p>
            <a:pPr marL="914400" lvl="2" indent="0">
              <a:buNone/>
            </a:pPr>
            <a:r>
              <a:rPr lang="en-GB" dirty="0"/>
              <a:t>with</a:t>
            </a:r>
          </a:p>
          <a:p>
            <a:pPr marL="914400" lvl="2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‘Hello, Flutter!’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Save your changes: invoke </a:t>
            </a:r>
            <a:r>
              <a:rPr lang="en-GB" b="1" dirty="0"/>
              <a:t>Save All</a:t>
            </a:r>
            <a:r>
              <a:rPr lang="en-GB" dirty="0"/>
              <a:t>, or click </a:t>
            </a:r>
            <a:r>
              <a:rPr lang="en-GB" b="1" dirty="0"/>
              <a:t>Hot Reload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You’ll see the updated string in the running app almost immediately.</a:t>
            </a:r>
            <a:br>
              <a:rPr lang="en-GB" dirty="0">
                <a:latin typeface="Courier" pitchFamily="2" charset="0"/>
              </a:rPr>
            </a:br>
            <a:endParaRPr lang="en-IT" dirty="0">
              <a:latin typeface="Courier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73EFD-6E40-2740-B6C0-BB8EAC5F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E24F618-7F8B-AA02-9430-6A767F16D2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808" y="1335766"/>
            <a:ext cx="2461384" cy="533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574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b="1" dirty="0"/>
              <a:t>App dissection</a:t>
            </a:r>
          </a:p>
          <a:p>
            <a:r>
              <a:rPr lang="en-IT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4235-725C-B443-9278-19A01252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376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understand what we have done.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41296-A6A1-744D-A572-59F4B3ED7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7611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Project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First, what’s inside the project folder?</a:t>
            </a:r>
          </a:p>
          <a:p>
            <a:endParaRPr lang="en-US" dirty="0"/>
          </a:p>
          <a:p>
            <a:r>
              <a:rPr lang="en-US" dirty="0"/>
              <a:t>Important things</a:t>
            </a:r>
          </a:p>
          <a:p>
            <a:pPr lvl="1"/>
            <a:r>
              <a:rPr lang="en-US" b="1" dirty="0"/>
              <a:t>lib folder</a:t>
            </a:r>
            <a:r>
              <a:rPr lang="en-US" dirty="0"/>
              <a:t>: it contains the app source code</a:t>
            </a:r>
          </a:p>
          <a:p>
            <a:pPr lvl="1"/>
            <a:r>
              <a:rPr lang="en-US" b="1" dirty="0" err="1"/>
              <a:t>main.dart</a:t>
            </a:r>
            <a:r>
              <a:rPr lang="en-US" b="1" dirty="0"/>
              <a:t> file</a:t>
            </a:r>
            <a:r>
              <a:rPr lang="en-US" dirty="0"/>
              <a:t>: the entry point for the compiler</a:t>
            </a:r>
          </a:p>
          <a:p>
            <a:pPr lvl="1"/>
            <a:r>
              <a:rPr lang="en-IT" b="1" dirty="0"/>
              <a:t>pubspec.yaml file</a:t>
            </a:r>
            <a:r>
              <a:rPr lang="en-IT" dirty="0"/>
              <a:t>: it specifies high level app features as well as listing which third party libraries our app needs and uses</a:t>
            </a:r>
          </a:p>
          <a:p>
            <a:pPr lvl="1"/>
            <a:r>
              <a:rPr lang="en-IT" b="1" dirty="0"/>
              <a:t>README.md file</a:t>
            </a:r>
            <a:r>
              <a:rPr lang="en-IT" dirty="0"/>
              <a:t>: a markdown file describing the app</a:t>
            </a:r>
          </a:p>
          <a:p>
            <a:pPr lvl="1"/>
            <a:endParaRPr lang="en-IT" dirty="0"/>
          </a:p>
          <a:p>
            <a:r>
              <a:rPr lang="en-IT" dirty="0"/>
              <a:t>(Less) Important things</a:t>
            </a:r>
          </a:p>
          <a:p>
            <a:pPr lvl="1"/>
            <a:r>
              <a:rPr lang="en-IT" b="1" dirty="0"/>
              <a:t>android/ios/linux/macos/windows/web folders</a:t>
            </a:r>
            <a:r>
              <a:rPr lang="en-IT" dirty="0"/>
              <a:t>: where native specific code can be defined if needed</a:t>
            </a:r>
          </a:p>
          <a:p>
            <a:pPr lvl="1"/>
            <a:r>
              <a:rPr lang="en-IT" b="1" dirty="0"/>
              <a:t>test folder</a:t>
            </a:r>
            <a:r>
              <a:rPr lang="en-IT" dirty="0"/>
              <a:t>: where to put code for running automatic testers</a:t>
            </a:r>
          </a:p>
          <a:p>
            <a:pPr lvl="1"/>
            <a:endParaRPr lang="en-IT" dirty="0"/>
          </a:p>
          <a:p>
            <a:r>
              <a:rPr lang="en-IT" dirty="0"/>
              <a:t>(Even less) Important things</a:t>
            </a:r>
          </a:p>
          <a:p>
            <a:pPr lvl="1"/>
            <a:r>
              <a:rPr lang="en-GB" dirty="0"/>
              <a:t>A</a:t>
            </a:r>
            <a:r>
              <a:rPr lang="en-IT" dirty="0"/>
              <a:t>ll other folders and files are very use case specific and probably you will never use those in this course. If you are curious…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8C660-DCF4-A140-972E-EC6CD590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 dirty="0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DDC24C99-05DE-C648-5781-10CC3C9FD6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7963" y="1276349"/>
            <a:ext cx="3450329" cy="491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84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main.dart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understand the </a:t>
            </a:r>
            <a:r>
              <a:rPr lang="en-US" dirty="0" err="1"/>
              <a:t>main.dart</a:t>
            </a:r>
            <a:r>
              <a:rPr lang="en-US" dirty="0"/>
              <a:t> file. 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'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package:flutter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material.dart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';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Flutter’,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Scaffold(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Text('Hello World'),),),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69A03-9D75-8245-8131-3C03042A7444}"/>
              </a:ext>
            </a:extLst>
          </p:cNvPr>
          <p:cNvCxnSpPr>
            <a:cxnSpLocks/>
          </p:cNvCxnSpPr>
          <p:nvPr/>
        </p:nvCxnSpPr>
        <p:spPr>
          <a:xfrm flipV="1">
            <a:off x="3285811" y="2311121"/>
            <a:ext cx="5372575" cy="456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6D188D5-B536-7741-A9DB-D6E05DED7E04}"/>
              </a:ext>
            </a:extLst>
          </p:cNvPr>
          <p:cNvSpPr/>
          <p:nvPr/>
        </p:nvSpPr>
        <p:spPr>
          <a:xfrm>
            <a:off x="8824892" y="2121135"/>
            <a:ext cx="31300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To run an app using the Flutter framework we can use the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dirty="0">
                <a:latin typeface="Aptos" panose="020B0004020202020204" pitchFamily="34" charset="0"/>
              </a:rPr>
              <a:t> method which takes a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 object as an input.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07E922-C034-C64E-8477-DD875DBC497E}"/>
              </a:ext>
            </a:extLst>
          </p:cNvPr>
          <p:cNvSpPr/>
          <p:nvPr/>
        </p:nvSpPr>
        <p:spPr>
          <a:xfrm>
            <a:off x="9069757" y="4103506"/>
            <a:ext cx="264027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What’s a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</a:t>
            </a:r>
            <a:r>
              <a:rPr lang="en-GB" b="1" dirty="0">
                <a:latin typeface="Aptos" panose="020B0004020202020204" pitchFamily="34" charset="0"/>
              </a:rPr>
              <a:t>?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C2BEA-78DF-E04C-97E7-52B63C111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742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Everything is a Widget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9425215" cy="5496833"/>
          </a:xfrm>
        </p:spPr>
        <p:txBody>
          <a:bodyPr>
            <a:normAutofit/>
          </a:bodyPr>
          <a:lstStyle/>
          <a:p>
            <a:r>
              <a:rPr lang="en-IT" dirty="0"/>
              <a:t>In Flutter, almost everything is (inherits from) a Widget!</a:t>
            </a:r>
          </a:p>
          <a:p>
            <a:endParaRPr lang="en-IT" dirty="0"/>
          </a:p>
          <a:p>
            <a:r>
              <a:rPr lang="en-IT" dirty="0"/>
              <a:t>A Widget is </a:t>
            </a:r>
            <a:r>
              <a:rPr lang="en-GB" dirty="0"/>
              <a:t>a building block for your user interface (UI). Using widgets is like combining Legos. </a:t>
            </a:r>
          </a:p>
          <a:p>
            <a:endParaRPr lang="en-IT" dirty="0"/>
          </a:p>
          <a:p>
            <a:r>
              <a:rPr lang="en-IT" dirty="0"/>
              <a:t>More technically, a Widget is a sort of blueprint for displaying your app state.</a:t>
            </a:r>
          </a:p>
          <a:p>
            <a:endParaRPr lang="en-IT" dirty="0"/>
          </a:p>
          <a:p>
            <a:r>
              <a:rPr lang="en-IT" dirty="0"/>
              <a:t>Widgets can be thought as a function of UI. Given a state, the build() method (that every custom Widget must override and implement) constructs the widget UI:</a:t>
            </a:r>
          </a:p>
          <a:p>
            <a:endParaRPr lang="en-IT" dirty="0"/>
          </a:p>
        </p:txBody>
      </p:sp>
      <p:pic>
        <p:nvPicPr>
          <p:cNvPr id="1025" name="Picture 1" descr="page126image39824768">
            <a:extLst>
              <a:ext uri="{FF2B5EF4-FFF2-40B4-BE49-F238E27FC236}">
                <a16:creationId xmlns:a16="http://schemas.microsoft.com/office/drawing/2014/main" id="{DFA56163-39FD-AE43-989D-31D366B35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3386" y="1361167"/>
            <a:ext cx="1943100" cy="255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26image39822896">
            <a:extLst>
              <a:ext uri="{FF2B5EF4-FFF2-40B4-BE49-F238E27FC236}">
                <a16:creationId xmlns:a16="http://schemas.microsoft.com/office/drawing/2014/main" id="{2C0A66CF-34D4-8F4F-80B4-91F826B6F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4896" y="5800787"/>
            <a:ext cx="3776870" cy="985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435CD-DAF8-CF43-B7BF-69FF9F82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187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main.dart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In </a:t>
            </a:r>
            <a:r>
              <a:rPr lang="en-US" b="1" dirty="0"/>
              <a:t>bold</a:t>
            </a:r>
            <a:r>
              <a:rPr lang="en-US" dirty="0"/>
              <a:t> the Widgets of our app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'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package:flutter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material.dart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';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Flutter’,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('Hello World'),),),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07E922-C034-C64E-8477-DD875DBC497E}"/>
              </a:ext>
            </a:extLst>
          </p:cNvPr>
          <p:cNvSpPr/>
          <p:nvPr/>
        </p:nvSpPr>
        <p:spPr>
          <a:xfrm>
            <a:off x="9069757" y="4103506"/>
            <a:ext cx="264027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But how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Widgets</a:t>
            </a:r>
            <a:r>
              <a:rPr lang="en-GB" b="1" dirty="0">
                <a:latin typeface="Aptos" panose="020B0004020202020204" pitchFamily="34" charset="0"/>
              </a:rPr>
              <a:t> are combined together?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C1AA9B-77EE-984E-964B-7F892A37C6F5}"/>
              </a:ext>
            </a:extLst>
          </p:cNvPr>
          <p:cNvSpPr/>
          <p:nvPr/>
        </p:nvSpPr>
        <p:spPr>
          <a:xfrm>
            <a:off x="8824892" y="2121135"/>
            <a:ext cx="313000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Key method for building the 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 that must be implemented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CD19E4-2CE1-3744-AFBE-9FDF75513CD5}"/>
              </a:ext>
            </a:extLst>
          </p:cNvPr>
          <p:cNvCxnSpPr>
            <a:cxnSpLocks/>
          </p:cNvCxnSpPr>
          <p:nvPr/>
        </p:nvCxnSpPr>
        <p:spPr>
          <a:xfrm flipV="1">
            <a:off x="1944547" y="2391508"/>
            <a:ext cx="6757326" cy="1613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2F6FB-2F89-4942-9D7F-06E76D300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107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Widget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IT" dirty="0"/>
              <a:t>Widgets are combined together using a </a:t>
            </a:r>
            <a:r>
              <a:rPr lang="en-IT" b="1" dirty="0"/>
              <a:t>tree structure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A3B9D3-1456-2948-AFD8-90CEF4F73DAF}"/>
              </a:ext>
            </a:extLst>
          </p:cNvPr>
          <p:cNvSpPr/>
          <p:nvPr/>
        </p:nvSpPr>
        <p:spPr>
          <a:xfrm>
            <a:off x="9504064" y="211479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B63788-C832-1444-89E0-79ADD95AC631}"/>
              </a:ext>
            </a:extLst>
          </p:cNvPr>
          <p:cNvSpPr/>
          <p:nvPr/>
        </p:nvSpPr>
        <p:spPr>
          <a:xfrm>
            <a:off x="8477459" y="590623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894B00-861F-3246-B986-37768DA3DCED}"/>
              </a:ext>
            </a:extLst>
          </p:cNvPr>
          <p:cNvSpPr/>
          <p:nvPr/>
        </p:nvSpPr>
        <p:spPr>
          <a:xfrm>
            <a:off x="9507414" y="279588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032DF1-053C-0045-9C11-3CB0F24651CD}"/>
              </a:ext>
            </a:extLst>
          </p:cNvPr>
          <p:cNvSpPr/>
          <p:nvPr/>
        </p:nvSpPr>
        <p:spPr>
          <a:xfrm>
            <a:off x="9507414" y="431499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5C727B-9719-CD44-BC17-FDF455AD0959}"/>
              </a:ext>
            </a:extLst>
          </p:cNvPr>
          <p:cNvSpPr/>
          <p:nvPr/>
        </p:nvSpPr>
        <p:spPr>
          <a:xfrm>
            <a:off x="8477459" y="513585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87FDD2-E8FD-9144-B99E-C22635C3CF09}"/>
              </a:ext>
            </a:extLst>
          </p:cNvPr>
          <p:cNvSpPr/>
          <p:nvPr/>
        </p:nvSpPr>
        <p:spPr>
          <a:xfrm>
            <a:off x="10564165" y="513586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EB67A7-F63E-964D-9968-8E994C8B94B3}"/>
              </a:ext>
            </a:extLst>
          </p:cNvPr>
          <p:cNvSpPr/>
          <p:nvPr/>
        </p:nvSpPr>
        <p:spPr>
          <a:xfrm>
            <a:off x="9507413" y="353032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2B769-60AC-B145-8431-3EA6114B7167}"/>
              </a:ext>
            </a:extLst>
          </p:cNvPr>
          <p:cNvSpPr/>
          <p:nvPr/>
        </p:nvSpPr>
        <p:spPr>
          <a:xfrm>
            <a:off x="10564166" y="590623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54C365-5178-5640-B473-1345FDA09B17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'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package:flutter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material.dart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';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Flutter’,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('Hello World'),),),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D9686A-BFF3-7A4F-8CC2-312853EF16F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10232570" y="2566966"/>
            <a:ext cx="3350" cy="228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EF30D8-7853-FC4E-9BFC-F2C7FB5ECA78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0235919" y="3248060"/>
            <a:ext cx="1" cy="2822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2FC5C0-1E03-BF47-A172-B6EBF05BFD5D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10235919" y="3982495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8AC301-B76D-7342-ACCE-A34E280231E2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9205965" y="4767173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B5FCF3E-7F65-C54F-80F6-82166AD4B97F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>
            <a:off x="9205965" y="5588034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105159-E45F-B442-95D3-32E8224B052E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0235920" y="4767173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C66CAC6-C908-A34D-8748-63BCB3907A8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>
            <a:off x="11292671" y="5588035"/>
            <a:ext cx="1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C4AA3-85B8-0A4C-B65C-9FE2BF607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045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 and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In </a:t>
            </a:r>
            <a:r>
              <a:rPr lang="en-US" b="1" dirty="0"/>
              <a:t>bold</a:t>
            </a:r>
            <a:r>
              <a:rPr lang="en-US" dirty="0"/>
              <a:t> the Widgets of our app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'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package:flutter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material.dart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';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Flutter’,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('Hello World'),),),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6E6085-A827-A347-B834-C1A14DDE5195}"/>
              </a:ext>
            </a:extLst>
          </p:cNvPr>
          <p:cNvCxnSpPr>
            <a:cxnSpLocks/>
          </p:cNvCxnSpPr>
          <p:nvPr/>
        </p:nvCxnSpPr>
        <p:spPr>
          <a:xfrm flipV="1">
            <a:off x="3898760" y="2311122"/>
            <a:ext cx="4759626" cy="763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F4F5E0C-BDA5-C04B-9642-59DFF4512935}"/>
              </a:ext>
            </a:extLst>
          </p:cNvPr>
          <p:cNvSpPr/>
          <p:nvPr/>
        </p:nvSpPr>
        <p:spPr>
          <a:xfrm>
            <a:off x="8824892" y="2121135"/>
            <a:ext cx="3130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>
                <a:latin typeface="Aptos" panose="020B0004020202020204" pitchFamily="34" charset="0"/>
              </a:rPr>
              <a:t>MyApp</a:t>
            </a:r>
            <a:r>
              <a:rPr lang="en-GB" dirty="0">
                <a:latin typeface="Aptos" panose="020B0004020202020204" pitchFamily="34" charset="0"/>
              </a:rPr>
              <a:t> is not just a Widget, it is a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389C0-C0D0-8F4C-A706-6CA276A87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7253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Stateless vs. Stateful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dirty="0" err="1"/>
              <a:t>s</a:t>
            </a:r>
            <a:r>
              <a:rPr lang="en-GB" dirty="0"/>
              <a:t> are Widgets that always build the same way given a particular configuration and ambient state. So, they never re-build while they are displayed to the user (their lifetime).</a:t>
            </a:r>
          </a:p>
          <a:p>
            <a:endParaRPr lang="en-GB" dirty="0"/>
          </a:p>
          <a:p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GB" dirty="0" err="1"/>
              <a:t>s</a:t>
            </a:r>
            <a:r>
              <a:rPr lang="en-GB" dirty="0"/>
              <a:t> for widgets that can build differently several times over their lifetime.</a:t>
            </a:r>
            <a:endParaRPr lang="en-IT" dirty="0"/>
          </a:p>
          <a:p>
            <a:endParaRPr lang="en-IT" dirty="0"/>
          </a:p>
          <a:p>
            <a:r>
              <a:rPr lang="en-IT" dirty="0"/>
              <a:t>You can think about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IT" dirty="0"/>
              <a:t> as a sort of constant </a:t>
            </a:r>
            <a:r>
              <a:rPr lang="en-IT"/>
              <a:t>and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IT"/>
              <a:t> </a:t>
            </a:r>
            <a:r>
              <a:rPr lang="en-IT" dirty="0"/>
              <a:t>as a variable.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57DFA-38F2-7E49-A670-0B55AA36C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6AF275-5814-0F49-97E7-668FB80CDE0F}"/>
              </a:ext>
            </a:extLst>
          </p:cNvPr>
          <p:cNvSpPr/>
          <p:nvPr/>
        </p:nvSpPr>
        <p:spPr>
          <a:xfrm>
            <a:off x="2930788" y="5496833"/>
            <a:ext cx="5907883" cy="7078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latin typeface="Aptos" panose="020B0004020202020204" pitchFamily="34" charset="0"/>
              </a:rPr>
              <a:t>We will learn the State mechanism and how to manage the State in lesson 11 and 12</a:t>
            </a:r>
            <a:endParaRPr lang="en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318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pubspec.yaml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1368314" cy="880185"/>
          </a:xfrm>
        </p:spPr>
        <p:txBody>
          <a:bodyPr>
            <a:normAutofit/>
          </a:bodyPr>
          <a:lstStyle/>
          <a:p>
            <a:r>
              <a:rPr lang="en-US" dirty="0" err="1"/>
              <a:t>pubspec.yaml</a:t>
            </a:r>
            <a:r>
              <a:rPr lang="en-US" dirty="0"/>
              <a:t> contains high-level instructions for the development environment and information on the app</a:t>
            </a:r>
          </a:p>
          <a:p>
            <a:pPr lvl="1"/>
            <a:endParaRPr lang="en-IT" dirty="0"/>
          </a:p>
          <a:p>
            <a:pPr lvl="1"/>
            <a:endParaRPr lang="en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2354D2-BC35-B24A-B727-64A091DA1466}"/>
              </a:ext>
            </a:extLst>
          </p:cNvPr>
          <p:cNvSpPr/>
          <p:nvPr/>
        </p:nvSpPr>
        <p:spPr>
          <a:xfrm>
            <a:off x="533324" y="2241352"/>
            <a:ext cx="69241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name: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my_first_app</a:t>
            </a:r>
            <a:endParaRPr lang="en-GB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description: A new Flutter project.</a:t>
            </a:r>
          </a:p>
          <a:p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publish_to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'none’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version: 1.0.0+1</a:t>
            </a:r>
          </a:p>
          <a:p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environment: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sdk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"&gt;=3.2.4 &lt;4.0.0"</a:t>
            </a:r>
          </a:p>
          <a:p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dependencies: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flutter: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sdk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flutter</a:t>
            </a:r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cupertino_icons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^1.0.2</a:t>
            </a:r>
          </a:p>
          <a:p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dev_dependencies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flutter_test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sdk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flutter 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flutter_lints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^2.0.0</a:t>
            </a:r>
          </a:p>
          <a:p>
            <a:endParaRPr lang="en-GB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flutter:</a:t>
            </a:r>
            <a:b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uses-material-design: true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BBDE7E-7CFE-4443-A566-F33CBD932957}"/>
              </a:ext>
            </a:extLst>
          </p:cNvPr>
          <p:cNvCxnSpPr>
            <a:cxnSpLocks/>
          </p:cNvCxnSpPr>
          <p:nvPr/>
        </p:nvCxnSpPr>
        <p:spPr>
          <a:xfrm>
            <a:off x="3944203" y="2576409"/>
            <a:ext cx="3279557" cy="1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AB5884D-D34D-904D-AEEC-4DADA2449CF1}"/>
              </a:ext>
            </a:extLst>
          </p:cNvPr>
          <p:cNvSpPr/>
          <p:nvPr/>
        </p:nvSpPr>
        <p:spPr>
          <a:xfrm>
            <a:off x="7562592" y="2115915"/>
            <a:ext cx="40960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>
                <a:latin typeface="Aptos" panose="020B0004020202020204" pitchFamily="34" charset="0"/>
              </a:rPr>
              <a:t>my_first_app</a:t>
            </a:r>
            <a:r>
              <a:rPr lang="en-GB" dirty="0">
                <a:latin typeface="Aptos" panose="020B0004020202020204" pitchFamily="34" charset="0"/>
              </a:rPr>
              <a:t> information (name, description, version, …)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4529F4-BD50-C04A-9BA9-4026099FBC76}"/>
              </a:ext>
            </a:extLst>
          </p:cNvPr>
          <p:cNvSpPr/>
          <p:nvPr/>
        </p:nvSpPr>
        <p:spPr>
          <a:xfrm>
            <a:off x="7562592" y="3273346"/>
            <a:ext cx="3962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Flutter </a:t>
            </a:r>
            <a:r>
              <a:rPr lang="en-GB" dirty="0" err="1">
                <a:latin typeface="Aptos" panose="020B0004020202020204" pitchFamily="34" charset="0"/>
              </a:rPr>
              <a:t>sdk</a:t>
            </a:r>
            <a:r>
              <a:rPr lang="en-GB" dirty="0">
                <a:latin typeface="Aptos" panose="020B0004020202020204" pitchFamily="34" charset="0"/>
              </a:rPr>
              <a:t> version to be used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40E391-3D7E-6241-9D0F-20C80B68C3D7}"/>
              </a:ext>
            </a:extLst>
          </p:cNvPr>
          <p:cNvCxnSpPr>
            <a:cxnSpLocks/>
          </p:cNvCxnSpPr>
          <p:nvPr/>
        </p:nvCxnSpPr>
        <p:spPr>
          <a:xfrm>
            <a:off x="2142699" y="3273346"/>
            <a:ext cx="5081061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0920004-3C44-3045-B58B-15C52FB80960}"/>
              </a:ext>
            </a:extLst>
          </p:cNvPr>
          <p:cNvSpPr/>
          <p:nvPr/>
        </p:nvSpPr>
        <p:spPr>
          <a:xfrm>
            <a:off x="7562592" y="3997801"/>
            <a:ext cx="444652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App dependencies: what the app needs in order to work: other packages? Other libraries? Put them here.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B9E76F9-3FCA-2B4F-8764-47E80138865B}"/>
              </a:ext>
            </a:extLst>
          </p:cNvPr>
          <p:cNvCxnSpPr>
            <a:cxnSpLocks/>
          </p:cNvCxnSpPr>
          <p:nvPr/>
        </p:nvCxnSpPr>
        <p:spPr>
          <a:xfrm>
            <a:off x="1937982" y="3795592"/>
            <a:ext cx="5285778" cy="430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F6C54B0-B10E-124D-AAFB-46CF3D0DE49E}"/>
              </a:ext>
            </a:extLst>
          </p:cNvPr>
          <p:cNvCxnSpPr>
            <a:cxnSpLocks/>
          </p:cNvCxnSpPr>
          <p:nvPr/>
        </p:nvCxnSpPr>
        <p:spPr>
          <a:xfrm>
            <a:off x="2238233" y="4974152"/>
            <a:ext cx="4985527" cy="346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D40037-6E02-EF47-9B91-890CA9539BFE}"/>
              </a:ext>
            </a:extLst>
          </p:cNvPr>
          <p:cNvSpPr/>
          <p:nvPr/>
        </p:nvSpPr>
        <p:spPr>
          <a:xfrm>
            <a:off x="7562592" y="5135721"/>
            <a:ext cx="444652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App dependencies while developing the app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61AE15-330A-FF44-825E-E2A9164B5A2E}"/>
              </a:ext>
            </a:extLst>
          </p:cNvPr>
          <p:cNvSpPr/>
          <p:nvPr/>
        </p:nvSpPr>
        <p:spPr>
          <a:xfrm>
            <a:off x="7562592" y="5971979"/>
            <a:ext cx="444652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Information for the Flutter environment such as where to find assets.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B31DF6D-2530-8C4A-B6B5-B974F7FD1029}"/>
              </a:ext>
            </a:extLst>
          </p:cNvPr>
          <p:cNvCxnSpPr>
            <a:cxnSpLocks/>
          </p:cNvCxnSpPr>
          <p:nvPr/>
        </p:nvCxnSpPr>
        <p:spPr>
          <a:xfrm>
            <a:off x="1419367" y="5854338"/>
            <a:ext cx="5804393" cy="430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BAB8A10-D91B-4442-B76D-9AA4EFB440A1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5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my_first_app/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2B6D0C-2695-7642-86BC-893D64AE9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447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 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b="1"/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35BF9-DF72-1D4E-AC4F-76601C7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80560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play with </a:t>
            </a:r>
            <a:r>
              <a:rPr lang="en-US" dirty="0" err="1"/>
              <a:t>my_first_app</a:t>
            </a:r>
            <a:r>
              <a:rPr lang="en-US" dirty="0"/>
              <a:t> and let’s expand it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will learn how to:</a:t>
            </a:r>
          </a:p>
          <a:p>
            <a:endParaRPr lang="en-US" dirty="0"/>
          </a:p>
          <a:p>
            <a:pPr lvl="1"/>
            <a:r>
              <a:rPr lang="en-US" dirty="0"/>
              <a:t>Install an external package and add it as a dependency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the external package inside our app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How to (slightly) modify the UI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7AD76-B7B9-164C-A707-483240826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77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732046" cy="5334907"/>
          </a:xfrm>
        </p:spPr>
        <p:txBody>
          <a:bodyPr>
            <a:normAutofit/>
          </a:bodyPr>
          <a:lstStyle/>
          <a:p>
            <a:r>
              <a:rPr lang="en-US" b="1" dirty="0"/>
              <a:t>Aim</a:t>
            </a:r>
            <a:r>
              <a:rPr lang="en-US" dirty="0"/>
              <a:t>: The result will be a very simple app that, each time you open it, a new random ”Hello” message is shown to the user.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4C5C5B-B3AF-4148-B826-F40940F6D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61005D6-D250-499E-A710-A1FF781BB6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1469" y="1419747"/>
            <a:ext cx="2277617" cy="493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8126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DA74F-A7E3-BC44-8BC1-2D0089A4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77110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Solving point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755644" cy="5334907"/>
          </a:xfrm>
        </p:spPr>
        <p:txBody>
          <a:bodyPr>
            <a:normAutofit/>
          </a:bodyPr>
          <a:lstStyle/>
          <a:p>
            <a:r>
              <a:rPr lang="en-US" dirty="0"/>
              <a:t>We do not want to code a random English word generator! </a:t>
            </a:r>
          </a:p>
          <a:p>
            <a:endParaRPr lang="en-US" dirty="0"/>
          </a:p>
          <a:p>
            <a:r>
              <a:rPr lang="en-US" dirty="0"/>
              <a:t>On the Internet we can find a lot of already made code and ready-to-use packages that can fit your needs</a:t>
            </a:r>
          </a:p>
          <a:p>
            <a:endParaRPr lang="en-US" dirty="0"/>
          </a:p>
          <a:p>
            <a:r>
              <a:rPr lang="en-US" dirty="0"/>
              <a:t>A place that we will visit often during this course is </a:t>
            </a:r>
            <a:r>
              <a:rPr lang="en-US" dirty="0" err="1"/>
              <a:t>pub.dev</a:t>
            </a:r>
            <a:r>
              <a:rPr lang="en-US" dirty="0"/>
              <a:t>: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F021E3C-96D7-C343-ADF9-C90A195BB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032" y="4028620"/>
            <a:ext cx="5840275" cy="254150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C9CF-F371-DE40-8D5D-80FE0031E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549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This is the package I was looking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4566"/>
            <a:ext cx="4425183" cy="5331508"/>
          </a:xfrm>
        </p:spPr>
        <p:txBody>
          <a:bodyPr>
            <a:normAutofit/>
          </a:bodyPr>
          <a:lstStyle/>
          <a:p>
            <a:r>
              <a:rPr lang="en-US" dirty="0"/>
              <a:t>After some research, it seems like the </a:t>
            </a:r>
            <a:r>
              <a:rPr lang="en-US" b="1" dirty="0" err="1"/>
              <a:t>english_words</a:t>
            </a:r>
            <a:r>
              <a:rPr lang="en-US" b="1" dirty="0"/>
              <a:t> package</a:t>
            </a:r>
            <a:r>
              <a:rPr lang="en-US" dirty="0"/>
              <a:t> can solve our needs </a:t>
            </a:r>
          </a:p>
          <a:p>
            <a:endParaRPr lang="en-US" dirty="0"/>
          </a:p>
          <a:p>
            <a:r>
              <a:rPr lang="en-US" dirty="0"/>
              <a:t>It can generate words and words pairs!</a:t>
            </a:r>
          </a:p>
        </p:txBody>
      </p:sp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B624064F-5FD7-2046-A503-D2176C5DF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409" y="1136607"/>
            <a:ext cx="7188591" cy="57874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1BABC72-F932-9F4B-8356-B0D2FDF8F8D8}"/>
              </a:ext>
            </a:extLst>
          </p:cNvPr>
          <p:cNvSpPr/>
          <p:nvPr/>
        </p:nvSpPr>
        <p:spPr>
          <a:xfrm>
            <a:off x="1054288" y="4492190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How to use it? Docs!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3F970E-95C1-DE46-9502-8C700DC2D41B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4030394" y="4676856"/>
            <a:ext cx="6562578" cy="36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9DE8C13-6737-1D49-8962-4FC10F245C4A}"/>
              </a:ext>
            </a:extLst>
          </p:cNvPr>
          <p:cNvSpPr/>
          <p:nvPr/>
        </p:nvSpPr>
        <p:spPr>
          <a:xfrm>
            <a:off x="1054288" y="5308768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Code is available too!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65632B-A148-C045-9811-05328F4FD77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30394" y="4412501"/>
            <a:ext cx="6562578" cy="1080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498D7-F4D5-8A49-A525-80FAFB97E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6408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Including english_words in the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5536531" cy="533150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Installing the </a:t>
            </a:r>
            <a:r>
              <a:rPr lang="en-US" dirty="0" err="1"/>
              <a:t>english_words</a:t>
            </a:r>
            <a:r>
              <a:rPr lang="en-US" dirty="0"/>
              <a:t> package in our app is very easy.</a:t>
            </a:r>
          </a:p>
          <a:p>
            <a:endParaRPr lang="en-US" dirty="0"/>
          </a:p>
          <a:p>
            <a:r>
              <a:rPr lang="en-US" dirty="0"/>
              <a:t>By definition, it is a dependency right? </a:t>
            </a:r>
          </a:p>
          <a:p>
            <a:endParaRPr lang="en-US" dirty="0"/>
          </a:p>
          <a:p>
            <a:r>
              <a:rPr lang="en-US" dirty="0"/>
              <a:t>So, let’s add it under the dependency list of our app into </a:t>
            </a:r>
            <a:r>
              <a:rPr lang="en-US" dirty="0" err="1"/>
              <a:t>pubspec.yaml</a:t>
            </a:r>
            <a:endParaRPr lang="en-US" dirty="0"/>
          </a:p>
          <a:p>
            <a:endParaRPr lang="en-US" dirty="0"/>
          </a:p>
          <a:p>
            <a:r>
              <a:rPr lang="en-US" dirty="0"/>
              <a:t>After adding it, save </a:t>
            </a:r>
            <a:r>
              <a:rPr lang="en-US" dirty="0" err="1"/>
              <a:t>pubspec.yaml</a:t>
            </a:r>
            <a:r>
              <a:rPr lang="en-US" dirty="0"/>
              <a:t> and you will see </a:t>
            </a:r>
            <a:r>
              <a:rPr lang="en-US" dirty="0" err="1"/>
              <a:t>VSCode</a:t>
            </a:r>
            <a:r>
              <a:rPr lang="en-US" dirty="0"/>
              <a:t> running </a:t>
            </a:r>
            <a:r>
              <a:rPr lang="en-US" b="1" dirty="0">
                <a:latin typeface="Courier" pitchFamily="2" charset="0"/>
              </a:rPr>
              <a:t>flutter pub get</a:t>
            </a:r>
            <a:r>
              <a:rPr lang="en-US" dirty="0"/>
              <a:t> for you.</a:t>
            </a:r>
          </a:p>
          <a:p>
            <a:endParaRPr lang="en-US" dirty="0"/>
          </a:p>
          <a:p>
            <a:r>
              <a:rPr lang="en-US" dirty="0"/>
              <a:t>Done!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9F91D7-7D1F-254F-8766-F21DF76F304C}"/>
              </a:ext>
            </a:extLst>
          </p:cNvPr>
          <p:cNvSpPr/>
          <p:nvPr/>
        </p:nvSpPr>
        <p:spPr>
          <a:xfrm>
            <a:off x="6916271" y="2251973"/>
            <a:ext cx="444649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dependencies: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flutter: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sdk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flutter</a:t>
            </a:r>
          </a:p>
          <a:p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cupertino_icons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^1.0.2</a:t>
            </a:r>
          </a:p>
          <a:p>
            <a:b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english_words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^4.0.0</a:t>
            </a:r>
          </a:p>
          <a:p>
            <a:endParaRPr lang="en-GB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58910B-7AF5-B142-A44E-03FA1000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08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1733843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BA137-B8C4-804B-BF19-9DD652E12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772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Generating a random 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Let’s add some line of code to </a:t>
            </a:r>
            <a:r>
              <a:rPr lang="en-US" dirty="0" err="1"/>
              <a:t>main.dart</a:t>
            </a:r>
            <a:r>
              <a:rPr lang="en-US" dirty="0"/>
              <a:t> to generate a word using the </a:t>
            </a:r>
            <a:r>
              <a:rPr lang="en-US" dirty="0" err="1"/>
              <a:t>english_words</a:t>
            </a:r>
            <a:r>
              <a:rPr lang="en-US" dirty="0"/>
              <a:t> package</a:t>
            </a:r>
          </a:p>
          <a:p>
            <a:endParaRPr lang="en-US" dirty="0"/>
          </a:p>
          <a:p>
            <a:r>
              <a:rPr lang="en-US" dirty="0"/>
              <a:t>Modify the build method by adding 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final word =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pPr marL="457200" lvl="1" indent="0">
              <a:buNone/>
            </a:pPr>
            <a:endParaRPr lang="en-US" b="1" dirty="0">
              <a:latin typeface="Courier" pitchFamily="2" charset="0"/>
            </a:endParaRPr>
          </a:p>
          <a:p>
            <a:pPr marL="114300" indent="0">
              <a:buNone/>
            </a:pPr>
            <a:r>
              <a:rPr lang="en-US" dirty="0"/>
              <a:t>    before the return statement and run the app.</a:t>
            </a:r>
          </a:p>
          <a:p>
            <a:pPr marL="114300" indent="0">
              <a:buNone/>
            </a:pPr>
            <a:endParaRPr lang="en-US" dirty="0"/>
          </a:p>
          <a:p>
            <a:pPr marL="457200"/>
            <a:r>
              <a:rPr lang="en-US" dirty="0"/>
              <a:t>Nothing it’s happening. How to see if we are generating a random word? </a:t>
            </a:r>
          </a:p>
          <a:p>
            <a:pPr marL="457200"/>
            <a:endParaRPr lang="en-US" dirty="0"/>
          </a:p>
          <a:p>
            <a:pPr marL="457200"/>
            <a:r>
              <a:rPr lang="en-US" dirty="0"/>
              <a:t>We can use the logger and the debug console!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DB102-751C-5147-BE9D-34FFEC95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049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Logging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Simply try to print the word value as a normal Dart program: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final word =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pPr marL="457200" lvl="1" indent="0">
              <a:buNone/>
            </a:pP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print(word);</a:t>
            </a:r>
          </a:p>
          <a:p>
            <a:pPr marL="114300" indent="0">
              <a:buNone/>
            </a:pPr>
            <a:endParaRPr lang="en-US" dirty="0"/>
          </a:p>
          <a:p>
            <a:pPr marL="457200"/>
            <a:r>
              <a:rPr lang="en-US" dirty="0"/>
              <a:t>If you run the application now you will see something like this in the </a:t>
            </a:r>
            <a:r>
              <a:rPr lang="en-US" b="1" dirty="0"/>
              <a:t>Debug Console </a:t>
            </a:r>
            <a:r>
              <a:rPr lang="en-US" dirty="0"/>
              <a:t>of VS Code:</a:t>
            </a:r>
          </a:p>
          <a:p>
            <a:pPr marL="457200"/>
            <a:endParaRPr lang="en-US" dirty="0"/>
          </a:p>
          <a:p>
            <a:pPr marL="457200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6AEBA-0870-7E40-AE91-2A9D7FBF6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  <p:pic>
        <p:nvPicPr>
          <p:cNvPr id="7" name="Picture 6" descr="A screen shot of a computer&#10;&#10;Description automatically generated">
            <a:extLst>
              <a:ext uri="{FF2B5EF4-FFF2-40B4-BE49-F238E27FC236}">
                <a16:creationId xmlns:a16="http://schemas.microsoft.com/office/drawing/2014/main" id="{861665F0-6873-B9F3-A8F4-E7B060490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490" y="4642534"/>
            <a:ext cx="8839678" cy="139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325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Logging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Every time you reload/restart the app</a:t>
            </a:r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r>
              <a:rPr lang="en-US" dirty="0"/>
              <a:t>…you will see a different word</a:t>
            </a:r>
          </a:p>
          <a:p>
            <a:pPr marL="457200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FDAFA9-57C3-4745-9C1C-9B70447B06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89" y="2362206"/>
            <a:ext cx="4500966" cy="680002"/>
          </a:xfrm>
          <a:prstGeom prst="rect">
            <a:avLst/>
          </a:prstGeom>
        </p:spPr>
      </p:pic>
      <p:pic>
        <p:nvPicPr>
          <p:cNvPr id="8" name="Picture 7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4C2BDDBA-CDDE-414A-8C18-382F648BB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307" y="4584279"/>
            <a:ext cx="8982446" cy="181830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2BA53F2-60DD-9549-9ADC-990BAAA6C63E}"/>
              </a:ext>
            </a:extLst>
          </p:cNvPr>
          <p:cNvSpPr/>
          <p:nvPr/>
        </p:nvSpPr>
        <p:spPr>
          <a:xfrm>
            <a:off x="6069106" y="2310004"/>
            <a:ext cx="640977" cy="732204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D3FE6-B7DF-1545-ADF0-0CFB0A918033}"/>
              </a:ext>
            </a:extLst>
          </p:cNvPr>
          <p:cNvSpPr/>
          <p:nvPr/>
        </p:nvSpPr>
        <p:spPr>
          <a:xfrm>
            <a:off x="8181230" y="1560731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Restart button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8C927D-2B0E-E440-865E-ABA84A7649DE}"/>
              </a:ext>
            </a:extLst>
          </p:cNvPr>
          <p:cNvCxnSpPr>
            <a:cxnSpLocks/>
            <a:stCxn id="10" idx="1"/>
            <a:endCxn id="9" idx="0"/>
          </p:cNvCxnSpPr>
          <p:nvPr/>
        </p:nvCxnSpPr>
        <p:spPr>
          <a:xfrm flipH="1">
            <a:off x="6389595" y="1745397"/>
            <a:ext cx="1791635" cy="564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9950C70-4E6F-2E48-8451-28A4E6B137BF}"/>
              </a:ext>
            </a:extLst>
          </p:cNvPr>
          <p:cNvSpPr/>
          <p:nvPr/>
        </p:nvSpPr>
        <p:spPr>
          <a:xfrm>
            <a:off x="8181230" y="3400841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Reload button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A06C81-7A97-2743-9C8A-8314437DA68F}"/>
              </a:ext>
            </a:extLst>
          </p:cNvPr>
          <p:cNvSpPr/>
          <p:nvPr/>
        </p:nvSpPr>
        <p:spPr>
          <a:xfrm>
            <a:off x="5566015" y="2305798"/>
            <a:ext cx="640977" cy="732204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B296ED-7D06-F342-9C34-AFA06DFAC0B9}"/>
              </a:ext>
            </a:extLst>
          </p:cNvPr>
          <p:cNvCxnSpPr>
            <a:cxnSpLocks/>
            <a:stCxn id="16" idx="1"/>
            <a:endCxn id="18" idx="2"/>
          </p:cNvCxnSpPr>
          <p:nvPr/>
        </p:nvCxnSpPr>
        <p:spPr>
          <a:xfrm flipH="1" flipV="1">
            <a:off x="5886504" y="3038002"/>
            <a:ext cx="2294726" cy="547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85F2-3001-6840-A043-66121A7CD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858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1733843"/>
            <a:ext cx="914400" cy="9144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F571C68-5305-5C40-B93A-9260CBDF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2514600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D560C-4077-2C45-AA2B-0E46CD894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01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Change the Hello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7868663" cy="5331508"/>
          </a:xfrm>
        </p:spPr>
        <p:txBody>
          <a:bodyPr>
            <a:normAutofit/>
          </a:bodyPr>
          <a:lstStyle/>
          <a:p>
            <a:r>
              <a:rPr lang="en-US" dirty="0"/>
              <a:t>You should be able to solve this point by yourself now</a:t>
            </a:r>
          </a:p>
          <a:p>
            <a:endParaRPr lang="en-US" dirty="0"/>
          </a:p>
          <a:p>
            <a:r>
              <a:rPr lang="en-US" dirty="0"/>
              <a:t>Simply, using string interpolation, change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‘Hello, Flutter!’</a:t>
            </a:r>
            <a:r>
              <a:rPr lang="en-US" dirty="0"/>
              <a:t>	to	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’Hello, $word!’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save to reload the app and see the changes.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endParaRPr lang="en-US" dirty="0">
              <a:latin typeface="Courier" pitchFamily="2" charset="0"/>
            </a:endParaRPr>
          </a:p>
        </p:txBody>
      </p:sp>
      <p:pic>
        <p:nvPicPr>
          <p:cNvPr id="5" name="Picture 4" descr="Chart&#10;&#10;Description automatically generated with medium confidence">
            <a:extLst>
              <a:ext uri="{FF2B5EF4-FFF2-40B4-BE49-F238E27FC236}">
                <a16:creationId xmlns:a16="http://schemas.microsoft.com/office/drawing/2014/main" id="{A0DB92A4-01A1-5D47-976D-F16CE7245D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25" b="29462"/>
          <a:stretch/>
        </p:blipFill>
        <p:spPr>
          <a:xfrm>
            <a:off x="7937181" y="4060643"/>
            <a:ext cx="3859305" cy="2407693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B7E1-4A4A-5B49-8914-B24E6BDBA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2926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My </a:t>
            </a:r>
            <a:r>
              <a:rPr lang="en-US" dirty="0"/>
              <a:t>(custom) </a:t>
            </a:r>
            <a:r>
              <a:rPr lang="en-IT"/>
              <a:t>first app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3221" y="1831002"/>
            <a:ext cx="914400" cy="9144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F571C68-5305-5C40-B93A-9260CBDF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3221" y="2611759"/>
            <a:ext cx="914400" cy="914400"/>
          </a:xfrm>
          <a:prstGeom prst="rect">
            <a:avLst/>
          </a:prstGeom>
        </p:spPr>
      </p:pic>
      <p:pic>
        <p:nvPicPr>
          <p:cNvPr id="7" name="Graphic 6" descr="Badge Tick1 outline">
            <a:extLst>
              <a:ext uri="{FF2B5EF4-FFF2-40B4-BE49-F238E27FC236}">
                <a16:creationId xmlns:a16="http://schemas.microsoft.com/office/drawing/2014/main" id="{CBBE2052-621C-9941-8BE3-77BB7FA31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79648" y="3526159"/>
            <a:ext cx="914400" cy="9144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86F44EF-464E-3F4B-AE73-B17436BE445A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5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/my_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custom_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first_app/</a:t>
            </a:r>
            <a:endParaRPr lang="en-IT" sz="16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C04F-8C3C-9A44-A4D8-173F19F0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4194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b="1" dirty="0"/>
              <a:t>Homework </a:t>
            </a:r>
            <a:r>
              <a:rPr lang="en-IT" b="1"/>
              <a:t>&amp; Resources</a:t>
            </a:r>
            <a:endParaRPr lang="en-IT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44751-EEE6-C14A-807C-B09D1831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109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Homework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/>
              <a:t>Play with our first example</a:t>
            </a:r>
          </a:p>
          <a:p>
            <a:endParaRPr lang="en-GB" dirty="0"/>
          </a:p>
          <a:p>
            <a:r>
              <a:rPr lang="en-GB" dirty="0"/>
              <a:t>Get familiar with the structure of a Flutter project and how to install new packages using </a:t>
            </a:r>
            <a:r>
              <a:rPr lang="en-GB" dirty="0" err="1"/>
              <a:t>pubspec.yaml</a:t>
            </a:r>
            <a:endParaRPr lang="en-GB" dirty="0"/>
          </a:p>
          <a:p>
            <a:endParaRPr lang="en-GB" dirty="0"/>
          </a:p>
          <a:p>
            <a:r>
              <a:rPr lang="en-GB" dirty="0"/>
              <a:t>Get familiar with the concept of Widget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Understand the Flutter flow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7B916-209C-5F4F-B5A8-7C2554990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19206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GB" dirty="0"/>
              <a:t>Code repository of today’s lesson and exercises solution</a:t>
            </a:r>
          </a:p>
          <a:p>
            <a:pPr lvl="1"/>
            <a:r>
              <a:rPr lang="en-GB" dirty="0">
                <a:hlinkClick r:id="rId2"/>
              </a:rPr>
              <a:t>https://github.com/gcappon/bwthw/tree/master/</a:t>
            </a:r>
            <a:r>
              <a:rPr lang="en-IT">
                <a:ea typeface="Palatino" pitchFamily="2" charset="77"/>
                <a:hlinkClick r:id="rId2"/>
              </a:rPr>
              <a:t>l</a:t>
            </a:r>
            <a:r>
              <a:rPr lang="en-US" dirty="0" err="1">
                <a:ea typeface="Palatino" pitchFamily="2" charset="77"/>
                <a:hlinkClick r:id="rId2"/>
              </a:rPr>
              <a:t>esson</a:t>
            </a:r>
            <a:r>
              <a:rPr lang="en-IT">
                <a:ea typeface="Palatino" pitchFamily="2" charset="77"/>
                <a:hlinkClick r:id="rId2"/>
              </a:rPr>
              <a:t>_0</a:t>
            </a:r>
            <a:r>
              <a:rPr lang="en-US" dirty="0">
                <a:ea typeface="Palatino" pitchFamily="2" charset="77"/>
                <a:hlinkClick r:id="rId2"/>
              </a:rPr>
              <a:t>5</a:t>
            </a:r>
            <a:r>
              <a:rPr lang="en-IT">
                <a:ea typeface="Palatino" pitchFamily="2" charset="77"/>
                <a:hlinkClick r:id="rId2"/>
              </a:rPr>
              <a:t>-</a:t>
            </a:r>
            <a:r>
              <a:rPr lang="en-US" dirty="0">
                <a:ea typeface="Palatino" pitchFamily="2" charset="77"/>
                <a:hlinkClick r:id="rId2"/>
              </a:rPr>
              <a:t>the</a:t>
            </a:r>
            <a:r>
              <a:rPr lang="en-IT">
                <a:ea typeface="Palatino" pitchFamily="2" charset="77"/>
                <a:hlinkClick r:id="rId2"/>
              </a:rPr>
              <a:t>_flutter</a:t>
            </a:r>
            <a:r>
              <a:rPr lang="en-US" dirty="0">
                <a:ea typeface="Palatino" pitchFamily="2" charset="77"/>
                <a:hlinkClick r:id="rId2"/>
              </a:rPr>
              <a:t>_framework</a:t>
            </a:r>
            <a:r>
              <a:rPr lang="en-US" dirty="0">
                <a:ea typeface="Palatino" pitchFamily="2" charset="77"/>
              </a:rPr>
              <a:t> </a:t>
            </a:r>
            <a:endParaRPr lang="en-GB" dirty="0"/>
          </a:p>
          <a:p>
            <a:pPr lvl="1"/>
            <a:endParaRPr lang="en-US" dirty="0"/>
          </a:p>
          <a:p>
            <a:r>
              <a:rPr lang="en-IT"/>
              <a:t>Introduction </a:t>
            </a:r>
            <a:r>
              <a:rPr lang="en-IT" dirty="0"/>
              <a:t>to Widgets</a:t>
            </a:r>
          </a:p>
          <a:p>
            <a:pPr lvl="1"/>
            <a:r>
              <a:rPr lang="en-GB" dirty="0">
                <a:hlinkClick r:id="rId3"/>
              </a:rPr>
              <a:t>https://docs.flutter.dev/development/ui/widgets-intro</a:t>
            </a:r>
            <a:r>
              <a:rPr lang="en-GB" dirty="0"/>
              <a:t> </a:t>
            </a:r>
          </a:p>
          <a:p>
            <a:pPr marL="0" indent="0">
              <a:buNone/>
            </a:pPr>
            <a:endParaRPr lang="en-IT" dirty="0"/>
          </a:p>
          <a:p>
            <a:r>
              <a:rPr lang="en-IT" dirty="0"/>
              <a:t>Write your first Flutter app, part 1 codelab</a:t>
            </a:r>
          </a:p>
          <a:p>
            <a:pPr lvl="1"/>
            <a:r>
              <a:rPr lang="en-GB" dirty="0">
                <a:hlinkClick r:id="rId4"/>
              </a:rPr>
              <a:t>https://docs.flutter.dev/get-started/codelab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 err="1"/>
              <a:t>DevTools</a:t>
            </a:r>
            <a:endParaRPr lang="en-GB" dirty="0"/>
          </a:p>
          <a:p>
            <a:pPr lvl="1"/>
            <a:r>
              <a:rPr lang="en-GB" dirty="0">
                <a:hlinkClick r:id="rId5"/>
              </a:rPr>
              <a:t>https://docs.flutter.dev/development/tools/devtools/overview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B613E-6C5B-2547-8369-6F6CEC169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18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15883</TotalTime>
  <Words>2451</Words>
  <Application>Microsoft Macintosh PowerPoint</Application>
  <PresentationFormat>Widescreen</PresentationFormat>
  <Paragraphs>441</Paragraphs>
  <Slides>36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6" baseType="lpstr">
      <vt:lpstr>Aptos</vt:lpstr>
      <vt:lpstr>Arial</vt:lpstr>
      <vt:lpstr>Calibri</vt:lpstr>
      <vt:lpstr>Courier</vt:lpstr>
      <vt:lpstr>Courier New</vt:lpstr>
      <vt:lpstr>Menlo</vt:lpstr>
      <vt:lpstr>Palatino</vt:lpstr>
      <vt:lpstr>Times New Roman</vt:lpstr>
      <vt:lpstr>Wingdings</vt:lpstr>
      <vt:lpstr>Tema di Office</vt:lpstr>
      <vt:lpstr>Giacomo Cappon</vt:lpstr>
      <vt:lpstr>Outline</vt:lpstr>
      <vt:lpstr>Flutter</vt:lpstr>
      <vt:lpstr>Before starting…</vt:lpstr>
      <vt:lpstr>Outline</vt:lpstr>
      <vt:lpstr>Hello, Flutter!</vt:lpstr>
      <vt:lpstr>Hello, Flutter!</vt:lpstr>
      <vt:lpstr>Hello, Flutter!</vt:lpstr>
      <vt:lpstr>A great feature: Hot reload</vt:lpstr>
      <vt:lpstr>Outline</vt:lpstr>
      <vt:lpstr>Let’s dissect the app</vt:lpstr>
      <vt:lpstr>Let’s dissect the app – Project folder</vt:lpstr>
      <vt:lpstr>Let’s dissect the app – main.dart</vt:lpstr>
      <vt:lpstr>Everything is a Widget</vt:lpstr>
      <vt:lpstr>Let’s dissect the app – main.dart</vt:lpstr>
      <vt:lpstr>The Widget Tree</vt:lpstr>
      <vt:lpstr>State and widgets</vt:lpstr>
      <vt:lpstr>Stateless vs. Stateful widgets</vt:lpstr>
      <vt:lpstr>Let’s dissect the app – pubspec.yaml</vt:lpstr>
      <vt:lpstr>Outline</vt:lpstr>
      <vt:lpstr>My (custom) first app</vt:lpstr>
      <vt:lpstr>My (custom) first app</vt:lpstr>
      <vt:lpstr>My (custom) first app</vt:lpstr>
      <vt:lpstr>Solving point 1</vt:lpstr>
      <vt:lpstr>This is the package I was looking for</vt:lpstr>
      <vt:lpstr>Including english_words in the app</vt:lpstr>
      <vt:lpstr>My (custom) first app</vt:lpstr>
      <vt:lpstr>Generating a random word</vt:lpstr>
      <vt:lpstr>Logging things</vt:lpstr>
      <vt:lpstr>Logging things</vt:lpstr>
      <vt:lpstr>My (custom) first app</vt:lpstr>
      <vt:lpstr>Change the Hello message</vt:lpstr>
      <vt:lpstr>My (custom) first app</vt:lpstr>
      <vt:lpstr>Outline</vt:lpstr>
      <vt:lpstr>Homework 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139</cp:revision>
  <dcterms:created xsi:type="dcterms:W3CDTF">2021-07-19T09:08:13Z</dcterms:created>
  <dcterms:modified xsi:type="dcterms:W3CDTF">2026-02-19T10:02:27Z</dcterms:modified>
</cp:coreProperties>
</file>