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9" r:id="rId2"/>
    <p:sldId id="295" r:id="rId3"/>
    <p:sldId id="390" r:id="rId4"/>
    <p:sldId id="391" r:id="rId5"/>
    <p:sldId id="393" r:id="rId6"/>
    <p:sldId id="444" r:id="rId7"/>
    <p:sldId id="399" r:id="rId8"/>
    <p:sldId id="392" r:id="rId9"/>
    <p:sldId id="457" r:id="rId10"/>
    <p:sldId id="460" r:id="rId11"/>
    <p:sldId id="461" r:id="rId12"/>
    <p:sldId id="463" r:id="rId13"/>
    <p:sldId id="462" r:id="rId14"/>
    <p:sldId id="396" r:id="rId15"/>
    <p:sldId id="445" r:id="rId16"/>
    <p:sldId id="356" r:id="rId17"/>
    <p:sldId id="365" r:id="rId18"/>
    <p:sldId id="406" r:id="rId19"/>
    <p:sldId id="407" r:id="rId20"/>
    <p:sldId id="405" r:id="rId21"/>
    <p:sldId id="467" r:id="rId22"/>
    <p:sldId id="408" r:id="rId23"/>
    <p:sldId id="409" r:id="rId24"/>
    <p:sldId id="410" r:id="rId25"/>
    <p:sldId id="401" r:id="rId26"/>
    <p:sldId id="446" r:id="rId27"/>
    <p:sldId id="402" r:id="rId28"/>
    <p:sldId id="428" r:id="rId29"/>
    <p:sldId id="429" r:id="rId30"/>
    <p:sldId id="447" r:id="rId31"/>
    <p:sldId id="430" r:id="rId32"/>
    <p:sldId id="431" r:id="rId33"/>
    <p:sldId id="434" r:id="rId34"/>
    <p:sldId id="432" r:id="rId35"/>
    <p:sldId id="435" r:id="rId36"/>
    <p:sldId id="433" r:id="rId37"/>
    <p:sldId id="436" r:id="rId38"/>
    <p:sldId id="448" r:id="rId39"/>
    <p:sldId id="394" r:id="rId40"/>
    <p:sldId id="453" r:id="rId41"/>
    <p:sldId id="413" r:id="rId42"/>
    <p:sldId id="422" r:id="rId43"/>
    <p:sldId id="423" r:id="rId44"/>
    <p:sldId id="440" r:id="rId45"/>
    <p:sldId id="426" r:id="rId46"/>
    <p:sldId id="427" r:id="rId47"/>
    <p:sldId id="449" r:id="rId48"/>
    <p:sldId id="414" r:id="rId49"/>
    <p:sldId id="437" r:id="rId50"/>
    <p:sldId id="438" r:id="rId51"/>
    <p:sldId id="424" r:id="rId52"/>
    <p:sldId id="441" r:id="rId53"/>
    <p:sldId id="442" r:id="rId54"/>
    <p:sldId id="443" r:id="rId55"/>
    <p:sldId id="450" r:id="rId56"/>
    <p:sldId id="418" r:id="rId57"/>
    <p:sldId id="419" r:id="rId58"/>
    <p:sldId id="415" r:id="rId59"/>
    <p:sldId id="420" r:id="rId60"/>
    <p:sldId id="421" r:id="rId61"/>
    <p:sldId id="416" r:id="rId62"/>
    <p:sldId id="452" r:id="rId63"/>
    <p:sldId id="303" r:id="rId64"/>
    <p:sldId id="465" r:id="rId65"/>
    <p:sldId id="341" r:id="rId66"/>
    <p:sldId id="466" r:id="rId67"/>
    <p:sldId id="312"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86" autoAdjust="0"/>
    <p:restoredTop sz="87891"/>
  </p:normalViewPr>
  <p:slideViewPr>
    <p:cSldViewPr snapToGrid="0">
      <p:cViewPr varScale="1">
        <p:scale>
          <a:sx n="112" d="100"/>
          <a:sy n="112" d="100"/>
        </p:scale>
        <p:origin x="1632" y="1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68" d="100"/>
          <a:sy n="168" d="100"/>
        </p:scale>
        <p:origin x="6640" y="21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C4B3FE-0320-8142-8396-5C3025C019EC}" type="datetimeFigureOut">
              <a:rPr lang="en-IT" smtClean="0"/>
              <a:t>2/19/26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F43FB-3F33-3F4B-9768-2FBED988F992}" type="slidenum">
              <a:rPr lang="en-IT" smtClean="0"/>
              <a:t>‹#›</a:t>
            </a:fld>
            <a:endParaRPr lang="en-IT"/>
          </a:p>
        </p:txBody>
      </p:sp>
    </p:spTree>
    <p:extLst>
      <p:ext uri="{BB962C8B-B14F-4D97-AF65-F5344CB8AC3E}">
        <p14:creationId xmlns:p14="http://schemas.microsoft.com/office/powerpoint/2010/main" val="929496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a:t>
            </a:fld>
            <a:endParaRPr lang="en-IT"/>
          </a:p>
        </p:txBody>
      </p:sp>
    </p:spTree>
    <p:extLst>
      <p:ext uri="{BB962C8B-B14F-4D97-AF65-F5344CB8AC3E}">
        <p14:creationId xmlns:p14="http://schemas.microsoft.com/office/powerpoint/2010/main" val="3010581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a:t>
            </a:fld>
            <a:endParaRPr lang="en-IT"/>
          </a:p>
        </p:txBody>
      </p:sp>
    </p:spTree>
    <p:extLst>
      <p:ext uri="{BB962C8B-B14F-4D97-AF65-F5344CB8AC3E}">
        <p14:creationId xmlns:p14="http://schemas.microsoft.com/office/powerpoint/2010/main" val="1866557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a:t>
            </a:fld>
            <a:endParaRPr lang="en-IT"/>
          </a:p>
        </p:txBody>
      </p:sp>
    </p:spTree>
    <p:extLst>
      <p:ext uri="{BB962C8B-B14F-4D97-AF65-F5344CB8AC3E}">
        <p14:creationId xmlns:p14="http://schemas.microsoft.com/office/powerpoint/2010/main" val="4055207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a:t>
            </a:fld>
            <a:endParaRPr lang="en-IT"/>
          </a:p>
        </p:txBody>
      </p:sp>
    </p:spTree>
    <p:extLst>
      <p:ext uri="{BB962C8B-B14F-4D97-AF65-F5344CB8AC3E}">
        <p14:creationId xmlns:p14="http://schemas.microsoft.com/office/powerpoint/2010/main" val="3517702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7</a:t>
            </a:fld>
            <a:endParaRPr lang="en-IT"/>
          </a:p>
        </p:txBody>
      </p:sp>
    </p:spTree>
    <p:extLst>
      <p:ext uri="{BB962C8B-B14F-4D97-AF65-F5344CB8AC3E}">
        <p14:creationId xmlns:p14="http://schemas.microsoft.com/office/powerpoint/2010/main" val="3960073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8</a:t>
            </a:fld>
            <a:endParaRPr lang="en-IT"/>
          </a:p>
        </p:txBody>
      </p:sp>
    </p:spTree>
    <p:extLst>
      <p:ext uri="{BB962C8B-B14F-4D97-AF65-F5344CB8AC3E}">
        <p14:creationId xmlns:p14="http://schemas.microsoft.com/office/powerpoint/2010/main" val="3443563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9</a:t>
            </a:fld>
            <a:endParaRPr lang="en-IT"/>
          </a:p>
        </p:txBody>
      </p:sp>
    </p:spTree>
    <p:extLst>
      <p:ext uri="{BB962C8B-B14F-4D97-AF65-F5344CB8AC3E}">
        <p14:creationId xmlns:p14="http://schemas.microsoft.com/office/powerpoint/2010/main" val="2319698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10</a:t>
            </a:fld>
            <a:endParaRPr lang="en-IT"/>
          </a:p>
        </p:txBody>
      </p:sp>
    </p:spTree>
    <p:extLst>
      <p:ext uri="{BB962C8B-B14F-4D97-AF65-F5344CB8AC3E}">
        <p14:creationId xmlns:p14="http://schemas.microsoft.com/office/powerpoint/2010/main" val="1357459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11</a:t>
            </a:fld>
            <a:endParaRPr lang="en-IT"/>
          </a:p>
        </p:txBody>
      </p:sp>
    </p:spTree>
    <p:extLst>
      <p:ext uri="{BB962C8B-B14F-4D97-AF65-F5344CB8AC3E}">
        <p14:creationId xmlns:p14="http://schemas.microsoft.com/office/powerpoint/2010/main" val="3178623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12</a:t>
            </a:fld>
            <a:endParaRPr lang="en-IT"/>
          </a:p>
        </p:txBody>
      </p:sp>
    </p:spTree>
    <p:extLst>
      <p:ext uri="{BB962C8B-B14F-4D97-AF65-F5344CB8AC3E}">
        <p14:creationId xmlns:p14="http://schemas.microsoft.com/office/powerpoint/2010/main" val="1604547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13</a:t>
            </a:fld>
            <a:endParaRPr lang="en-IT"/>
          </a:p>
        </p:txBody>
      </p:sp>
    </p:spTree>
    <p:extLst>
      <p:ext uri="{BB962C8B-B14F-4D97-AF65-F5344CB8AC3E}">
        <p14:creationId xmlns:p14="http://schemas.microsoft.com/office/powerpoint/2010/main" val="2876104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14</a:t>
            </a:fld>
            <a:endParaRPr lang="en-IT"/>
          </a:p>
        </p:txBody>
      </p:sp>
    </p:spTree>
    <p:extLst>
      <p:ext uri="{BB962C8B-B14F-4D97-AF65-F5344CB8AC3E}">
        <p14:creationId xmlns:p14="http://schemas.microsoft.com/office/powerpoint/2010/main" val="371208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16</a:t>
            </a:fld>
            <a:endParaRPr lang="en-IT"/>
          </a:p>
        </p:txBody>
      </p:sp>
    </p:spTree>
    <p:extLst>
      <p:ext uri="{BB962C8B-B14F-4D97-AF65-F5344CB8AC3E}">
        <p14:creationId xmlns:p14="http://schemas.microsoft.com/office/powerpoint/2010/main" val="130432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17</a:t>
            </a:fld>
            <a:endParaRPr lang="en-IT"/>
          </a:p>
        </p:txBody>
      </p:sp>
    </p:spTree>
    <p:extLst>
      <p:ext uri="{BB962C8B-B14F-4D97-AF65-F5344CB8AC3E}">
        <p14:creationId xmlns:p14="http://schemas.microsoft.com/office/powerpoint/2010/main" val="12676948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18</a:t>
            </a:fld>
            <a:endParaRPr lang="en-IT"/>
          </a:p>
        </p:txBody>
      </p:sp>
    </p:spTree>
    <p:extLst>
      <p:ext uri="{BB962C8B-B14F-4D97-AF65-F5344CB8AC3E}">
        <p14:creationId xmlns:p14="http://schemas.microsoft.com/office/powerpoint/2010/main" val="2026486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19</a:t>
            </a:fld>
            <a:endParaRPr lang="en-IT"/>
          </a:p>
        </p:txBody>
      </p:sp>
    </p:spTree>
    <p:extLst>
      <p:ext uri="{BB962C8B-B14F-4D97-AF65-F5344CB8AC3E}">
        <p14:creationId xmlns:p14="http://schemas.microsoft.com/office/powerpoint/2010/main" val="3850293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20</a:t>
            </a:fld>
            <a:endParaRPr lang="en-IT"/>
          </a:p>
        </p:txBody>
      </p:sp>
    </p:spTree>
    <p:extLst>
      <p:ext uri="{BB962C8B-B14F-4D97-AF65-F5344CB8AC3E}">
        <p14:creationId xmlns:p14="http://schemas.microsoft.com/office/powerpoint/2010/main" val="641487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5983D-89EE-C380-963D-B09152F58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3191F-6724-17EF-91E4-1568C9B72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52170-A503-25FA-BAB3-4CCDADAD6AA5}"/>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5BE46076-FD1D-D51A-297B-80F7037E1217}"/>
              </a:ext>
            </a:extLst>
          </p:cNvPr>
          <p:cNvSpPr>
            <a:spLocks noGrp="1"/>
          </p:cNvSpPr>
          <p:nvPr>
            <p:ph type="sldNum" sz="quarter" idx="5"/>
          </p:nvPr>
        </p:nvSpPr>
        <p:spPr/>
        <p:txBody>
          <a:bodyPr/>
          <a:lstStyle/>
          <a:p>
            <a:fld id="{CC0F43FB-3F33-3F4B-9768-2FBED988F992}" type="slidenum">
              <a:rPr lang="en-IT" smtClean="0"/>
              <a:t>21</a:t>
            </a:fld>
            <a:endParaRPr lang="en-IT"/>
          </a:p>
        </p:txBody>
      </p:sp>
    </p:spTree>
    <p:extLst>
      <p:ext uri="{BB962C8B-B14F-4D97-AF65-F5344CB8AC3E}">
        <p14:creationId xmlns:p14="http://schemas.microsoft.com/office/powerpoint/2010/main" val="4243717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22</a:t>
            </a:fld>
            <a:endParaRPr lang="en-IT"/>
          </a:p>
        </p:txBody>
      </p:sp>
    </p:spTree>
    <p:extLst>
      <p:ext uri="{BB962C8B-B14F-4D97-AF65-F5344CB8AC3E}">
        <p14:creationId xmlns:p14="http://schemas.microsoft.com/office/powerpoint/2010/main" val="3827363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23</a:t>
            </a:fld>
            <a:endParaRPr lang="en-IT"/>
          </a:p>
        </p:txBody>
      </p:sp>
    </p:spTree>
    <p:extLst>
      <p:ext uri="{BB962C8B-B14F-4D97-AF65-F5344CB8AC3E}">
        <p14:creationId xmlns:p14="http://schemas.microsoft.com/office/powerpoint/2010/main" val="5573411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24</a:t>
            </a:fld>
            <a:endParaRPr lang="en-IT"/>
          </a:p>
        </p:txBody>
      </p:sp>
    </p:spTree>
    <p:extLst>
      <p:ext uri="{BB962C8B-B14F-4D97-AF65-F5344CB8AC3E}">
        <p14:creationId xmlns:p14="http://schemas.microsoft.com/office/powerpoint/2010/main" val="2961966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25</a:t>
            </a:fld>
            <a:endParaRPr lang="en-IT"/>
          </a:p>
        </p:txBody>
      </p:sp>
    </p:spTree>
    <p:extLst>
      <p:ext uri="{BB962C8B-B14F-4D97-AF65-F5344CB8AC3E}">
        <p14:creationId xmlns:p14="http://schemas.microsoft.com/office/powerpoint/2010/main" val="24193709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27</a:t>
            </a:fld>
            <a:endParaRPr lang="en-IT"/>
          </a:p>
        </p:txBody>
      </p:sp>
    </p:spTree>
    <p:extLst>
      <p:ext uri="{BB962C8B-B14F-4D97-AF65-F5344CB8AC3E}">
        <p14:creationId xmlns:p14="http://schemas.microsoft.com/office/powerpoint/2010/main" val="40192988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28</a:t>
            </a:fld>
            <a:endParaRPr lang="en-IT"/>
          </a:p>
        </p:txBody>
      </p:sp>
    </p:spTree>
    <p:extLst>
      <p:ext uri="{BB962C8B-B14F-4D97-AF65-F5344CB8AC3E}">
        <p14:creationId xmlns:p14="http://schemas.microsoft.com/office/powerpoint/2010/main" val="1077163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29</a:t>
            </a:fld>
            <a:endParaRPr lang="en-IT"/>
          </a:p>
        </p:txBody>
      </p:sp>
    </p:spTree>
    <p:extLst>
      <p:ext uri="{BB962C8B-B14F-4D97-AF65-F5344CB8AC3E}">
        <p14:creationId xmlns:p14="http://schemas.microsoft.com/office/powerpoint/2010/main" val="2525642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31</a:t>
            </a:fld>
            <a:endParaRPr lang="en-IT"/>
          </a:p>
        </p:txBody>
      </p:sp>
    </p:spTree>
    <p:extLst>
      <p:ext uri="{BB962C8B-B14F-4D97-AF65-F5344CB8AC3E}">
        <p14:creationId xmlns:p14="http://schemas.microsoft.com/office/powerpoint/2010/main" val="26455010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32</a:t>
            </a:fld>
            <a:endParaRPr lang="en-IT"/>
          </a:p>
        </p:txBody>
      </p:sp>
    </p:spTree>
    <p:extLst>
      <p:ext uri="{BB962C8B-B14F-4D97-AF65-F5344CB8AC3E}">
        <p14:creationId xmlns:p14="http://schemas.microsoft.com/office/powerpoint/2010/main" val="42628183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33</a:t>
            </a:fld>
            <a:endParaRPr lang="en-IT"/>
          </a:p>
        </p:txBody>
      </p:sp>
    </p:spTree>
    <p:extLst>
      <p:ext uri="{BB962C8B-B14F-4D97-AF65-F5344CB8AC3E}">
        <p14:creationId xmlns:p14="http://schemas.microsoft.com/office/powerpoint/2010/main" val="12329732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34</a:t>
            </a:fld>
            <a:endParaRPr lang="en-IT"/>
          </a:p>
        </p:txBody>
      </p:sp>
    </p:spTree>
    <p:extLst>
      <p:ext uri="{BB962C8B-B14F-4D97-AF65-F5344CB8AC3E}">
        <p14:creationId xmlns:p14="http://schemas.microsoft.com/office/powerpoint/2010/main" val="36313013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35</a:t>
            </a:fld>
            <a:endParaRPr lang="en-IT"/>
          </a:p>
        </p:txBody>
      </p:sp>
    </p:spTree>
    <p:extLst>
      <p:ext uri="{BB962C8B-B14F-4D97-AF65-F5344CB8AC3E}">
        <p14:creationId xmlns:p14="http://schemas.microsoft.com/office/powerpoint/2010/main" val="427508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36</a:t>
            </a:fld>
            <a:endParaRPr lang="en-IT"/>
          </a:p>
        </p:txBody>
      </p:sp>
    </p:spTree>
    <p:extLst>
      <p:ext uri="{BB962C8B-B14F-4D97-AF65-F5344CB8AC3E}">
        <p14:creationId xmlns:p14="http://schemas.microsoft.com/office/powerpoint/2010/main" val="23316692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37</a:t>
            </a:fld>
            <a:endParaRPr lang="en-IT"/>
          </a:p>
        </p:txBody>
      </p:sp>
    </p:spTree>
    <p:extLst>
      <p:ext uri="{BB962C8B-B14F-4D97-AF65-F5344CB8AC3E}">
        <p14:creationId xmlns:p14="http://schemas.microsoft.com/office/powerpoint/2010/main" val="41127893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39</a:t>
            </a:fld>
            <a:endParaRPr lang="en-IT"/>
          </a:p>
        </p:txBody>
      </p:sp>
    </p:spTree>
    <p:extLst>
      <p:ext uri="{BB962C8B-B14F-4D97-AF65-F5344CB8AC3E}">
        <p14:creationId xmlns:p14="http://schemas.microsoft.com/office/powerpoint/2010/main" val="29765331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41</a:t>
            </a:fld>
            <a:endParaRPr lang="en-IT"/>
          </a:p>
        </p:txBody>
      </p:sp>
    </p:spTree>
    <p:extLst>
      <p:ext uri="{BB962C8B-B14F-4D97-AF65-F5344CB8AC3E}">
        <p14:creationId xmlns:p14="http://schemas.microsoft.com/office/powerpoint/2010/main" val="387652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42</a:t>
            </a:fld>
            <a:endParaRPr lang="en-IT"/>
          </a:p>
        </p:txBody>
      </p:sp>
    </p:spTree>
    <p:extLst>
      <p:ext uri="{BB962C8B-B14F-4D97-AF65-F5344CB8AC3E}">
        <p14:creationId xmlns:p14="http://schemas.microsoft.com/office/powerpoint/2010/main" val="22804606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43</a:t>
            </a:fld>
            <a:endParaRPr lang="en-IT"/>
          </a:p>
        </p:txBody>
      </p:sp>
    </p:spTree>
    <p:extLst>
      <p:ext uri="{BB962C8B-B14F-4D97-AF65-F5344CB8AC3E}">
        <p14:creationId xmlns:p14="http://schemas.microsoft.com/office/powerpoint/2010/main" val="27397550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44</a:t>
            </a:fld>
            <a:endParaRPr lang="en-IT"/>
          </a:p>
        </p:txBody>
      </p:sp>
    </p:spTree>
    <p:extLst>
      <p:ext uri="{BB962C8B-B14F-4D97-AF65-F5344CB8AC3E}">
        <p14:creationId xmlns:p14="http://schemas.microsoft.com/office/powerpoint/2010/main" val="38818441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45</a:t>
            </a:fld>
            <a:endParaRPr lang="en-IT"/>
          </a:p>
        </p:txBody>
      </p:sp>
    </p:spTree>
    <p:extLst>
      <p:ext uri="{BB962C8B-B14F-4D97-AF65-F5344CB8AC3E}">
        <p14:creationId xmlns:p14="http://schemas.microsoft.com/office/powerpoint/2010/main" val="790724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46</a:t>
            </a:fld>
            <a:endParaRPr lang="en-IT"/>
          </a:p>
        </p:txBody>
      </p:sp>
    </p:spTree>
    <p:extLst>
      <p:ext uri="{BB962C8B-B14F-4D97-AF65-F5344CB8AC3E}">
        <p14:creationId xmlns:p14="http://schemas.microsoft.com/office/powerpoint/2010/main" val="17056640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48</a:t>
            </a:fld>
            <a:endParaRPr lang="en-IT"/>
          </a:p>
        </p:txBody>
      </p:sp>
    </p:spTree>
    <p:extLst>
      <p:ext uri="{BB962C8B-B14F-4D97-AF65-F5344CB8AC3E}">
        <p14:creationId xmlns:p14="http://schemas.microsoft.com/office/powerpoint/2010/main" val="41738684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49</a:t>
            </a:fld>
            <a:endParaRPr lang="en-IT"/>
          </a:p>
        </p:txBody>
      </p:sp>
    </p:spTree>
    <p:extLst>
      <p:ext uri="{BB962C8B-B14F-4D97-AF65-F5344CB8AC3E}">
        <p14:creationId xmlns:p14="http://schemas.microsoft.com/office/powerpoint/2010/main" val="32928635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50</a:t>
            </a:fld>
            <a:endParaRPr lang="en-IT"/>
          </a:p>
        </p:txBody>
      </p:sp>
    </p:spTree>
    <p:extLst>
      <p:ext uri="{BB962C8B-B14F-4D97-AF65-F5344CB8AC3E}">
        <p14:creationId xmlns:p14="http://schemas.microsoft.com/office/powerpoint/2010/main" val="29631048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51</a:t>
            </a:fld>
            <a:endParaRPr lang="en-IT"/>
          </a:p>
        </p:txBody>
      </p:sp>
    </p:spTree>
    <p:extLst>
      <p:ext uri="{BB962C8B-B14F-4D97-AF65-F5344CB8AC3E}">
        <p14:creationId xmlns:p14="http://schemas.microsoft.com/office/powerpoint/2010/main" val="13847696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52</a:t>
            </a:fld>
            <a:endParaRPr lang="en-IT"/>
          </a:p>
        </p:txBody>
      </p:sp>
    </p:spTree>
    <p:extLst>
      <p:ext uri="{BB962C8B-B14F-4D97-AF65-F5344CB8AC3E}">
        <p14:creationId xmlns:p14="http://schemas.microsoft.com/office/powerpoint/2010/main" val="21602137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53</a:t>
            </a:fld>
            <a:endParaRPr lang="en-IT"/>
          </a:p>
        </p:txBody>
      </p:sp>
    </p:spTree>
    <p:extLst>
      <p:ext uri="{BB962C8B-B14F-4D97-AF65-F5344CB8AC3E}">
        <p14:creationId xmlns:p14="http://schemas.microsoft.com/office/powerpoint/2010/main" val="39977524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54</a:t>
            </a:fld>
            <a:endParaRPr lang="en-IT"/>
          </a:p>
        </p:txBody>
      </p:sp>
    </p:spTree>
    <p:extLst>
      <p:ext uri="{BB962C8B-B14F-4D97-AF65-F5344CB8AC3E}">
        <p14:creationId xmlns:p14="http://schemas.microsoft.com/office/powerpoint/2010/main" val="11224395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56</a:t>
            </a:fld>
            <a:endParaRPr lang="en-IT"/>
          </a:p>
        </p:txBody>
      </p:sp>
    </p:spTree>
    <p:extLst>
      <p:ext uri="{BB962C8B-B14F-4D97-AF65-F5344CB8AC3E}">
        <p14:creationId xmlns:p14="http://schemas.microsoft.com/office/powerpoint/2010/main" val="17616855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57</a:t>
            </a:fld>
            <a:endParaRPr lang="en-IT"/>
          </a:p>
        </p:txBody>
      </p:sp>
    </p:spTree>
    <p:extLst>
      <p:ext uri="{BB962C8B-B14F-4D97-AF65-F5344CB8AC3E}">
        <p14:creationId xmlns:p14="http://schemas.microsoft.com/office/powerpoint/2010/main" val="35685441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58</a:t>
            </a:fld>
            <a:endParaRPr lang="en-IT"/>
          </a:p>
        </p:txBody>
      </p:sp>
    </p:spTree>
    <p:extLst>
      <p:ext uri="{BB962C8B-B14F-4D97-AF65-F5344CB8AC3E}">
        <p14:creationId xmlns:p14="http://schemas.microsoft.com/office/powerpoint/2010/main" val="38640870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59</a:t>
            </a:fld>
            <a:endParaRPr lang="en-IT"/>
          </a:p>
        </p:txBody>
      </p:sp>
    </p:spTree>
    <p:extLst>
      <p:ext uri="{BB962C8B-B14F-4D97-AF65-F5344CB8AC3E}">
        <p14:creationId xmlns:p14="http://schemas.microsoft.com/office/powerpoint/2010/main" val="27380493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60</a:t>
            </a:fld>
            <a:endParaRPr lang="en-IT"/>
          </a:p>
        </p:txBody>
      </p:sp>
    </p:spTree>
    <p:extLst>
      <p:ext uri="{BB962C8B-B14F-4D97-AF65-F5344CB8AC3E}">
        <p14:creationId xmlns:p14="http://schemas.microsoft.com/office/powerpoint/2010/main" val="7817596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61</a:t>
            </a:fld>
            <a:endParaRPr lang="en-IT"/>
          </a:p>
        </p:txBody>
      </p:sp>
    </p:spTree>
    <p:extLst>
      <p:ext uri="{BB962C8B-B14F-4D97-AF65-F5344CB8AC3E}">
        <p14:creationId xmlns:p14="http://schemas.microsoft.com/office/powerpoint/2010/main" val="658309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62399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
        <p:nvSpPr>
          <p:cNvPr id="2" name="Title 1">
            <a:extLst>
              <a:ext uri="{FF2B5EF4-FFF2-40B4-BE49-F238E27FC236}">
                <a16:creationId xmlns:a16="http://schemas.microsoft.com/office/drawing/2014/main" id="{E296487F-10E0-114E-8185-2B9A87D777D9}"/>
              </a:ext>
            </a:extLst>
          </p:cNvPr>
          <p:cNvSpPr>
            <a:spLocks noGrp="1"/>
          </p:cNvSpPr>
          <p:nvPr>
            <p:ph type="title" hasCustomPrompt="1"/>
          </p:nvPr>
        </p:nvSpPr>
        <p:spPr>
          <a:xfrm>
            <a:off x="3957534" y="4986716"/>
            <a:ext cx="4393045" cy="919388"/>
          </a:xfrm>
        </p:spPr>
        <p:txBody>
          <a:bodyPr>
            <a:normAutofit/>
          </a:bodyPr>
          <a:lstStyle>
            <a:lvl1pPr>
              <a:defRPr sz="3200">
                <a:latin typeface="Aptos" panose="020B0004020202020204" pitchFamily="34" charset="0"/>
              </a:defRPr>
            </a:lvl1pPr>
          </a:lstStyle>
          <a:p>
            <a:r>
              <a:rPr lang="en-IT" dirty="0"/>
              <a:t>Name Surname</a:t>
            </a:r>
          </a:p>
        </p:txBody>
      </p:sp>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ft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6.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1.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8.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7.sv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0.svg"/></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2.sv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44.svg"/></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hyperlink" Target="https://dart.dev/guides/language/language-tour" TargetMode="External"/><Relationship Id="rId2" Type="http://schemas.openxmlformats.org/officeDocument/2006/relationships/hyperlink" Target="https://github.com/gcappon/bwthw/tree/master/lesson_04-dart_101_part_2" TargetMode="External"/><Relationship Id="rId1" Type="http://schemas.openxmlformats.org/officeDocument/2006/relationships/slideLayout" Target="../slideLayouts/slideLayout1.xml"/><Relationship Id="rId5" Type="http://schemas.openxmlformats.org/officeDocument/2006/relationships/hyperlink" Target="https://scottt2.github.io/design-patterns-in-dart/" TargetMode="External"/><Relationship Id="rId4" Type="http://schemas.openxmlformats.org/officeDocument/2006/relationships/hyperlink" Target="https://github.com/amilajack/reading/blob/master/Design/GOF%20Design%20Pattern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7E0323C-B2D5-E147-A405-326B19A39E7A}"/>
              </a:ext>
            </a:extLst>
          </p:cNvPr>
          <p:cNvSpPr>
            <a:spLocks noGrp="1"/>
          </p:cNvSpPr>
          <p:nvPr>
            <p:ph type="subTitle" idx="1"/>
          </p:nvPr>
        </p:nvSpPr>
        <p:spPr/>
        <p:txBody>
          <a:bodyPr/>
          <a:lstStyle/>
          <a:p>
            <a:r>
              <a:rPr lang="en-IT" dirty="0"/>
              <a:t>Dart 101 – Part 2</a:t>
            </a:r>
          </a:p>
        </p:txBody>
      </p:sp>
      <p:sp>
        <p:nvSpPr>
          <p:cNvPr id="3" name="Title 2">
            <a:extLst>
              <a:ext uri="{FF2B5EF4-FFF2-40B4-BE49-F238E27FC236}">
                <a16:creationId xmlns:a16="http://schemas.microsoft.com/office/drawing/2014/main" id="{7EB437F2-B298-5D42-A17B-E5DDC218403A}"/>
              </a:ext>
            </a:extLst>
          </p:cNvPr>
          <p:cNvSpPr>
            <a:spLocks noGrp="1"/>
          </p:cNvSpPr>
          <p:nvPr>
            <p:ph type="title"/>
          </p:nvPr>
        </p:nvSpPr>
        <p:spPr/>
        <p:txBody>
          <a:bodyPr/>
          <a:lstStyle/>
          <a:p>
            <a:r>
              <a:rPr lang="en-IT"/>
              <a:t>Giacomo Cappon</a:t>
            </a:r>
            <a:endParaRPr lang="en-IT" dirty="0"/>
          </a:p>
        </p:txBody>
      </p:sp>
    </p:spTree>
    <p:extLst>
      <p:ext uri="{BB962C8B-B14F-4D97-AF65-F5344CB8AC3E}">
        <p14:creationId xmlns:p14="http://schemas.microsoft.com/office/powerpoint/2010/main" val="1184054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b="1" dirty="0"/>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dirty="0">
                <a:solidFill>
                  <a:schemeClr val="bg2">
                    <a:lumMod val="90000"/>
                  </a:schemeClr>
                </a:solidFill>
              </a:rPr>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2</a:t>
            </a:fld>
            <a:endParaRPr lang="en-GB"/>
          </a:p>
        </p:txBody>
      </p:sp>
    </p:spTree>
    <p:extLst>
      <p:ext uri="{BB962C8B-B14F-4D97-AF65-F5344CB8AC3E}">
        <p14:creationId xmlns:p14="http://schemas.microsoft.com/office/powerpoint/2010/main" val="344245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Object oriented programming</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10453188" cy="2393068"/>
          </a:xfrm>
        </p:spPr>
        <p:txBody>
          <a:bodyPr>
            <a:normAutofit fontScale="92500"/>
          </a:bodyPr>
          <a:lstStyle/>
          <a:p>
            <a:r>
              <a:rPr lang="en-GB" dirty="0"/>
              <a:t>The object-oriented programming (</a:t>
            </a:r>
            <a:r>
              <a:rPr lang="en-GB" b="1" dirty="0"/>
              <a:t>OOP</a:t>
            </a:r>
            <a:r>
              <a:rPr lang="en-GB" dirty="0"/>
              <a:t>) paradigm is a computer programming approach whose, as the name implies, ”main actors” are called </a:t>
            </a:r>
            <a:r>
              <a:rPr lang="en-GB" b="1" dirty="0"/>
              <a:t>objects</a:t>
            </a:r>
            <a:r>
              <a:rPr lang="en-GB" dirty="0"/>
              <a:t>.</a:t>
            </a:r>
          </a:p>
          <a:p>
            <a:endParaRPr lang="en-GB" dirty="0"/>
          </a:p>
          <a:p>
            <a:r>
              <a:rPr lang="en-GB" dirty="0"/>
              <a:t>An object comes from a </a:t>
            </a:r>
            <a:r>
              <a:rPr lang="en-GB" b="1" dirty="0"/>
              <a:t>class</a:t>
            </a:r>
            <a:r>
              <a:rPr lang="en-GB" dirty="0"/>
              <a:t>, which is a specification of the data </a:t>
            </a:r>
            <a:r>
              <a:rPr lang="en-GB" b="1" dirty="0"/>
              <a:t>fields</a:t>
            </a:r>
            <a:r>
              <a:rPr lang="en-GB" dirty="0"/>
              <a:t>, also called </a:t>
            </a:r>
            <a:r>
              <a:rPr lang="en-GB" b="1" dirty="0"/>
              <a:t>instance variables</a:t>
            </a:r>
            <a:r>
              <a:rPr lang="en-GB" dirty="0"/>
              <a:t>, that the object contains, as well as the </a:t>
            </a:r>
            <a:r>
              <a:rPr lang="en-GB" b="1" dirty="0"/>
              <a:t>methods</a:t>
            </a:r>
            <a:r>
              <a:rPr lang="en-GB" dirty="0"/>
              <a:t> (operations) that the object can execute.</a:t>
            </a:r>
          </a:p>
        </p:txBody>
      </p:sp>
      <p:pic>
        <p:nvPicPr>
          <p:cNvPr id="6" name="Graphic 5" descr="Dog outline">
            <a:extLst>
              <a:ext uri="{FF2B5EF4-FFF2-40B4-BE49-F238E27FC236}">
                <a16:creationId xmlns:a16="http://schemas.microsoft.com/office/drawing/2014/main" id="{715B5077-6041-534B-AD59-ED28027E4C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15425" y="4040211"/>
            <a:ext cx="1232021" cy="1232021"/>
          </a:xfrm>
          <a:prstGeom prst="rect">
            <a:avLst/>
          </a:prstGeom>
        </p:spPr>
      </p:pic>
      <p:sp>
        <p:nvSpPr>
          <p:cNvPr id="8" name="Rectangle 7">
            <a:extLst>
              <a:ext uri="{FF2B5EF4-FFF2-40B4-BE49-F238E27FC236}">
                <a16:creationId xmlns:a16="http://schemas.microsoft.com/office/drawing/2014/main" id="{CC53073C-3117-E043-9E3F-E50CED5146BC}"/>
              </a:ext>
            </a:extLst>
          </p:cNvPr>
          <p:cNvSpPr/>
          <p:nvPr/>
        </p:nvSpPr>
        <p:spPr>
          <a:xfrm>
            <a:off x="3621506" y="465622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21" name="Rectangle 20">
            <a:extLst>
              <a:ext uri="{FF2B5EF4-FFF2-40B4-BE49-F238E27FC236}">
                <a16:creationId xmlns:a16="http://schemas.microsoft.com/office/drawing/2014/main" id="{40EE6D08-B6DA-A342-8F65-7B227A0FACE4}"/>
              </a:ext>
            </a:extLst>
          </p:cNvPr>
          <p:cNvSpPr/>
          <p:nvPr/>
        </p:nvSpPr>
        <p:spPr>
          <a:xfrm>
            <a:off x="3621506" y="4090738"/>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23" name="Rectangle 22">
            <a:extLst>
              <a:ext uri="{FF2B5EF4-FFF2-40B4-BE49-F238E27FC236}">
                <a16:creationId xmlns:a16="http://schemas.microsoft.com/office/drawing/2014/main" id="{1DD816DB-7F79-E548-B733-3C569BDFB46C}"/>
              </a:ext>
            </a:extLst>
          </p:cNvPr>
          <p:cNvSpPr/>
          <p:nvPr/>
        </p:nvSpPr>
        <p:spPr>
          <a:xfrm>
            <a:off x="3621506" y="568871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9" name="TextBox 8">
            <a:extLst>
              <a:ext uri="{FF2B5EF4-FFF2-40B4-BE49-F238E27FC236}">
                <a16:creationId xmlns:a16="http://schemas.microsoft.com/office/drawing/2014/main" id="{DA2D8BC5-3257-BC46-B498-4F75A2C63B80}"/>
              </a:ext>
            </a:extLst>
          </p:cNvPr>
          <p:cNvSpPr txBox="1"/>
          <p:nvPr/>
        </p:nvSpPr>
        <p:spPr>
          <a:xfrm>
            <a:off x="1507899" y="4188814"/>
            <a:ext cx="1209324" cy="369332"/>
          </a:xfrm>
          <a:prstGeom prst="rect">
            <a:avLst/>
          </a:prstGeom>
          <a:noFill/>
        </p:spPr>
        <p:txBody>
          <a:bodyPr wrap="square" rtlCol="0">
            <a:spAutoFit/>
          </a:bodyPr>
          <a:lstStyle/>
          <a:p>
            <a:r>
              <a:rPr lang="en-IT" b="1" dirty="0">
                <a:latin typeface="Aptos" panose="020B0004020202020204" pitchFamily="34" charset="0"/>
              </a:rPr>
              <a:t>Class</a:t>
            </a:r>
          </a:p>
        </p:txBody>
      </p:sp>
      <p:sp>
        <p:nvSpPr>
          <p:cNvPr id="26" name="TextBox 25">
            <a:extLst>
              <a:ext uri="{FF2B5EF4-FFF2-40B4-BE49-F238E27FC236}">
                <a16:creationId xmlns:a16="http://schemas.microsoft.com/office/drawing/2014/main" id="{348DD517-AF17-6841-8802-ABF961490532}"/>
              </a:ext>
            </a:extLst>
          </p:cNvPr>
          <p:cNvSpPr txBox="1"/>
          <p:nvPr/>
        </p:nvSpPr>
        <p:spPr>
          <a:xfrm>
            <a:off x="1507899" y="4849303"/>
            <a:ext cx="1209324" cy="646331"/>
          </a:xfrm>
          <a:prstGeom prst="rect">
            <a:avLst/>
          </a:prstGeom>
          <a:noFill/>
        </p:spPr>
        <p:txBody>
          <a:bodyPr wrap="square" rtlCol="0">
            <a:spAutoFit/>
          </a:bodyPr>
          <a:lstStyle/>
          <a:p>
            <a:r>
              <a:rPr lang="en-IT" b="1" dirty="0">
                <a:latin typeface="Aptos" panose="020B0004020202020204" pitchFamily="34" charset="0"/>
              </a:rPr>
              <a:t>Instance variables</a:t>
            </a:r>
          </a:p>
        </p:txBody>
      </p:sp>
      <p:sp>
        <p:nvSpPr>
          <p:cNvPr id="28" name="TextBox 27">
            <a:extLst>
              <a:ext uri="{FF2B5EF4-FFF2-40B4-BE49-F238E27FC236}">
                <a16:creationId xmlns:a16="http://schemas.microsoft.com/office/drawing/2014/main" id="{48DB8038-DF89-2947-9AED-DD7E25E898F9}"/>
              </a:ext>
            </a:extLst>
          </p:cNvPr>
          <p:cNvSpPr txBox="1"/>
          <p:nvPr/>
        </p:nvSpPr>
        <p:spPr>
          <a:xfrm>
            <a:off x="1507899" y="5881798"/>
            <a:ext cx="1209324" cy="369332"/>
          </a:xfrm>
          <a:prstGeom prst="rect">
            <a:avLst/>
          </a:prstGeom>
          <a:noFill/>
        </p:spPr>
        <p:txBody>
          <a:bodyPr wrap="square" rtlCol="0">
            <a:spAutoFit/>
          </a:bodyPr>
          <a:lstStyle/>
          <a:p>
            <a:r>
              <a:rPr lang="en-IT" b="1" dirty="0">
                <a:latin typeface="Aptos" panose="020B0004020202020204" pitchFamily="34" charset="0"/>
              </a:rPr>
              <a:t>Methods</a:t>
            </a:r>
          </a:p>
        </p:txBody>
      </p:sp>
      <p:pic>
        <p:nvPicPr>
          <p:cNvPr id="30" name="Graphic 29" descr="Dog outline">
            <a:extLst>
              <a:ext uri="{FF2B5EF4-FFF2-40B4-BE49-F238E27FC236}">
                <a16:creationId xmlns:a16="http://schemas.microsoft.com/office/drawing/2014/main" id="{1FE42987-E685-F849-A445-7BD2A509940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06893" y="5172468"/>
            <a:ext cx="1262248" cy="1262248"/>
          </a:xfrm>
          <a:prstGeom prst="rect">
            <a:avLst/>
          </a:prstGeom>
        </p:spPr>
      </p:pic>
      <p:pic>
        <p:nvPicPr>
          <p:cNvPr id="33" name="Graphic 32" descr="Dog outline">
            <a:extLst>
              <a:ext uri="{FF2B5EF4-FFF2-40B4-BE49-F238E27FC236}">
                <a16:creationId xmlns:a16="http://schemas.microsoft.com/office/drawing/2014/main" id="{D2773322-41B1-FD48-A8F2-8897F9FDD7C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54226" y="4801041"/>
            <a:ext cx="1389185" cy="1389185"/>
          </a:xfrm>
          <a:prstGeom prst="rect">
            <a:avLst/>
          </a:prstGeom>
        </p:spPr>
      </p:pic>
      <p:cxnSp>
        <p:nvCxnSpPr>
          <p:cNvPr id="12" name="Straight Arrow Connector 11">
            <a:extLst>
              <a:ext uri="{FF2B5EF4-FFF2-40B4-BE49-F238E27FC236}">
                <a16:creationId xmlns:a16="http://schemas.microsoft.com/office/drawing/2014/main" id="{40109F44-6F56-9E4A-A4E2-2D362B554A64}"/>
              </a:ext>
            </a:extLst>
          </p:cNvPr>
          <p:cNvCxnSpPr>
            <a:stCxn id="9" idx="3"/>
            <a:endCxn id="21" idx="1"/>
          </p:cNvCxnSpPr>
          <p:nvPr/>
        </p:nvCxnSpPr>
        <p:spPr>
          <a:xfrm>
            <a:off x="2717223" y="4373480"/>
            <a:ext cx="9042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10D8A91A-CAA5-E44A-82A3-5684EBC51F3A}"/>
              </a:ext>
            </a:extLst>
          </p:cNvPr>
          <p:cNvCxnSpPr/>
          <p:nvPr/>
        </p:nvCxnSpPr>
        <p:spPr>
          <a:xfrm>
            <a:off x="2717222" y="5172468"/>
            <a:ext cx="9042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B97004A4-8AE7-224B-9286-9839FACA7458}"/>
              </a:ext>
            </a:extLst>
          </p:cNvPr>
          <p:cNvCxnSpPr/>
          <p:nvPr/>
        </p:nvCxnSpPr>
        <p:spPr>
          <a:xfrm>
            <a:off x="2717221" y="6066464"/>
            <a:ext cx="9042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F22B6B7A-20F5-FE4E-BFF2-AB6BB2F5C5A2}"/>
              </a:ext>
            </a:extLst>
          </p:cNvPr>
          <p:cNvSpPr/>
          <p:nvPr/>
        </p:nvSpPr>
        <p:spPr>
          <a:xfrm>
            <a:off x="3621504" y="4090738"/>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16" name="Oval 15">
            <a:extLst>
              <a:ext uri="{FF2B5EF4-FFF2-40B4-BE49-F238E27FC236}">
                <a16:creationId xmlns:a16="http://schemas.microsoft.com/office/drawing/2014/main" id="{F4B5351D-D176-5148-BD02-76AF8BDC1543}"/>
              </a:ext>
            </a:extLst>
          </p:cNvPr>
          <p:cNvSpPr/>
          <p:nvPr/>
        </p:nvSpPr>
        <p:spPr>
          <a:xfrm>
            <a:off x="7182853" y="4040211"/>
            <a:ext cx="3441031" cy="2553094"/>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37" name="TextBox 36">
            <a:extLst>
              <a:ext uri="{FF2B5EF4-FFF2-40B4-BE49-F238E27FC236}">
                <a16:creationId xmlns:a16="http://schemas.microsoft.com/office/drawing/2014/main" id="{15C24B59-674C-5C40-9A42-C7A4CB4BFA8E}"/>
              </a:ext>
            </a:extLst>
          </p:cNvPr>
          <p:cNvSpPr txBox="1"/>
          <p:nvPr/>
        </p:nvSpPr>
        <p:spPr>
          <a:xfrm>
            <a:off x="10247132" y="3763423"/>
            <a:ext cx="1209324" cy="369332"/>
          </a:xfrm>
          <a:prstGeom prst="rect">
            <a:avLst/>
          </a:prstGeom>
          <a:noFill/>
        </p:spPr>
        <p:txBody>
          <a:bodyPr wrap="square" rtlCol="0">
            <a:spAutoFit/>
          </a:bodyPr>
          <a:lstStyle/>
          <a:p>
            <a:r>
              <a:rPr lang="en-IT" b="1" dirty="0">
                <a:latin typeface="Aptos" panose="020B0004020202020204" pitchFamily="34" charset="0"/>
              </a:rPr>
              <a:t>Objects</a:t>
            </a:r>
          </a:p>
        </p:txBody>
      </p:sp>
      <p:cxnSp>
        <p:nvCxnSpPr>
          <p:cNvPr id="38" name="Straight Arrow Connector 37">
            <a:extLst>
              <a:ext uri="{FF2B5EF4-FFF2-40B4-BE49-F238E27FC236}">
                <a16:creationId xmlns:a16="http://schemas.microsoft.com/office/drawing/2014/main" id="{3B7C80CC-D22B-0B4E-8FAD-438B6F6425A1}"/>
              </a:ext>
            </a:extLst>
          </p:cNvPr>
          <p:cNvCxnSpPr>
            <a:cxnSpLocks/>
          </p:cNvCxnSpPr>
          <p:nvPr/>
        </p:nvCxnSpPr>
        <p:spPr>
          <a:xfrm flipH="1">
            <a:off x="10369255" y="4132755"/>
            <a:ext cx="170408" cy="5566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Slide Number Placeholder 2">
            <a:extLst>
              <a:ext uri="{FF2B5EF4-FFF2-40B4-BE49-F238E27FC236}">
                <a16:creationId xmlns:a16="http://schemas.microsoft.com/office/drawing/2014/main" id="{B01E40CB-3487-6344-87EC-692BCFB7142B}"/>
              </a:ext>
            </a:extLst>
          </p:cNvPr>
          <p:cNvSpPr>
            <a:spLocks noGrp="1"/>
          </p:cNvSpPr>
          <p:nvPr>
            <p:ph type="sldNum" sz="quarter" idx="12"/>
          </p:nvPr>
        </p:nvSpPr>
        <p:spPr/>
        <p:txBody>
          <a:bodyPr/>
          <a:lstStyle/>
          <a:p>
            <a:fld id="{31DE2C5B-556E-47B8-A792-024C2FCA4ACC}" type="slidenum">
              <a:rPr lang="en-GB" smtClean="0"/>
              <a:t>3</a:t>
            </a:fld>
            <a:endParaRPr lang="en-GB"/>
          </a:p>
        </p:txBody>
      </p:sp>
    </p:spTree>
    <p:extLst>
      <p:ext uri="{BB962C8B-B14F-4D97-AF65-F5344CB8AC3E}">
        <p14:creationId xmlns:p14="http://schemas.microsoft.com/office/powerpoint/2010/main" val="376905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Goals of OOP</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9834765" cy="5377686"/>
          </a:xfrm>
        </p:spPr>
        <p:txBody>
          <a:bodyPr>
            <a:normAutofit/>
          </a:bodyPr>
          <a:lstStyle/>
          <a:p>
            <a:r>
              <a:rPr lang="en-GB" dirty="0"/>
              <a:t>OOP has </a:t>
            </a:r>
            <a:r>
              <a:rPr lang="en-GB" b="1" dirty="0"/>
              <a:t>three main goals</a:t>
            </a:r>
            <a:r>
              <a:rPr lang="en-GB" dirty="0"/>
              <a:t>:</a:t>
            </a:r>
          </a:p>
          <a:p>
            <a:endParaRPr lang="en-GB" dirty="0"/>
          </a:p>
          <a:p>
            <a:pPr lvl="1"/>
            <a:r>
              <a:rPr lang="en-GB" b="1" dirty="0"/>
              <a:t>Robustness</a:t>
            </a:r>
            <a:r>
              <a:rPr lang="en-GB" dirty="0"/>
              <a:t>: software that produces the right output for all the anticipated inputs. In addition we want software that is able to handle unexpected inputs that are not explicitly defined for its application (e.g., a text box used to input a timestamp should be </a:t>
            </a:r>
            <a:r>
              <a:rPr lang="en-GB" b="1" dirty="0"/>
              <a:t>robust</a:t>
            </a:r>
            <a:r>
              <a:rPr lang="en-GB" dirty="0"/>
              <a:t> to inputs that are not timestamps and raise an error).</a:t>
            </a:r>
          </a:p>
          <a:p>
            <a:pPr lvl="1"/>
            <a:endParaRPr lang="en-GB" dirty="0"/>
          </a:p>
          <a:p>
            <a:pPr lvl="1"/>
            <a:r>
              <a:rPr lang="en-GB" b="1" dirty="0"/>
              <a:t>Adaptability</a:t>
            </a:r>
            <a:r>
              <a:rPr lang="en-GB" dirty="0"/>
              <a:t>: the ability of a software to adapt in response to changing conditions in its environment (e.g., updating a software to be compatible with the new OS).</a:t>
            </a:r>
            <a:endParaRPr lang="en-GB" b="1" dirty="0"/>
          </a:p>
          <a:p>
            <a:pPr lvl="1"/>
            <a:endParaRPr lang="en-GB" dirty="0"/>
          </a:p>
          <a:p>
            <a:pPr lvl="1"/>
            <a:r>
              <a:rPr lang="en-GB" b="1" dirty="0"/>
              <a:t>Reusability</a:t>
            </a:r>
            <a:r>
              <a:rPr lang="en-GB" dirty="0"/>
              <a:t>: the same code should be usable as a component of different systems or software for various application (e.g., a module that allows to communicate with a smartwatch should be easily integrable in multiple apps).</a:t>
            </a:r>
          </a:p>
        </p:txBody>
      </p:sp>
      <p:pic>
        <p:nvPicPr>
          <p:cNvPr id="4" name="Graphic 3" descr="Hammer outline">
            <a:extLst>
              <a:ext uri="{FF2B5EF4-FFF2-40B4-BE49-F238E27FC236}">
                <a16:creationId xmlns:a16="http://schemas.microsoft.com/office/drawing/2014/main" id="{0020D95F-E0D8-704B-8CD7-FD28D12BB9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43452" y="2158271"/>
            <a:ext cx="1126349" cy="1126349"/>
          </a:xfrm>
          <a:prstGeom prst="rect">
            <a:avLst/>
          </a:prstGeom>
        </p:spPr>
      </p:pic>
      <p:pic>
        <p:nvPicPr>
          <p:cNvPr id="6" name="Graphic 5" descr="Arrow circle outline">
            <a:extLst>
              <a:ext uri="{FF2B5EF4-FFF2-40B4-BE49-F238E27FC236}">
                <a16:creationId xmlns:a16="http://schemas.microsoft.com/office/drawing/2014/main" id="{12BEE664-3D4A-1240-859E-B353C8B08A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52606" y="4975750"/>
            <a:ext cx="1308039" cy="1308039"/>
          </a:xfrm>
          <a:prstGeom prst="rect">
            <a:avLst/>
          </a:prstGeom>
        </p:spPr>
      </p:pic>
      <p:pic>
        <p:nvPicPr>
          <p:cNvPr id="10" name="Graphic 9" descr="Giraffe outline">
            <a:extLst>
              <a:ext uri="{FF2B5EF4-FFF2-40B4-BE49-F238E27FC236}">
                <a16:creationId xmlns:a16="http://schemas.microsoft.com/office/drawing/2014/main" id="{4DB04509-D312-B145-BDED-C87A7EE1B21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15948" y="3439508"/>
            <a:ext cx="1381354" cy="1381354"/>
          </a:xfrm>
          <a:prstGeom prst="rect">
            <a:avLst/>
          </a:prstGeom>
        </p:spPr>
      </p:pic>
      <p:sp>
        <p:nvSpPr>
          <p:cNvPr id="3" name="Slide Number Placeholder 2">
            <a:extLst>
              <a:ext uri="{FF2B5EF4-FFF2-40B4-BE49-F238E27FC236}">
                <a16:creationId xmlns:a16="http://schemas.microsoft.com/office/drawing/2014/main" id="{B6C22801-6CFF-6940-9FC6-C5D776BA0E72}"/>
              </a:ext>
            </a:extLst>
          </p:cNvPr>
          <p:cNvSpPr>
            <a:spLocks noGrp="1"/>
          </p:cNvSpPr>
          <p:nvPr>
            <p:ph type="sldNum" sz="quarter" idx="12"/>
          </p:nvPr>
        </p:nvSpPr>
        <p:spPr/>
        <p:txBody>
          <a:bodyPr/>
          <a:lstStyle/>
          <a:p>
            <a:fld id="{31DE2C5B-556E-47B8-A792-024C2FCA4ACC}" type="slidenum">
              <a:rPr lang="en-GB" smtClean="0"/>
              <a:t>4</a:t>
            </a:fld>
            <a:endParaRPr lang="en-GB"/>
          </a:p>
        </p:txBody>
      </p:sp>
      <p:sp>
        <p:nvSpPr>
          <p:cNvPr id="5" name="TextBox 4">
            <a:extLst>
              <a:ext uri="{FF2B5EF4-FFF2-40B4-BE49-F238E27FC236}">
                <a16:creationId xmlns:a16="http://schemas.microsoft.com/office/drawing/2014/main" id="{98E368BA-3218-3A04-818F-FE98DA23375A}"/>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418605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Principles of OOP</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9834765" cy="5377686"/>
          </a:xfrm>
        </p:spPr>
        <p:txBody>
          <a:bodyPr>
            <a:normAutofit/>
          </a:bodyPr>
          <a:lstStyle/>
          <a:p>
            <a:r>
              <a:rPr lang="en-GB" dirty="0"/>
              <a:t>OOP has </a:t>
            </a:r>
            <a:r>
              <a:rPr lang="en-GB" b="1" dirty="0"/>
              <a:t>three main principles</a:t>
            </a:r>
            <a:r>
              <a:rPr lang="en-GB" dirty="0"/>
              <a:t>:</a:t>
            </a:r>
          </a:p>
          <a:p>
            <a:endParaRPr lang="en-GB" dirty="0"/>
          </a:p>
          <a:p>
            <a:pPr lvl="1"/>
            <a:r>
              <a:rPr lang="en-GB" b="1" dirty="0"/>
              <a:t>Abstraction</a:t>
            </a:r>
            <a:r>
              <a:rPr lang="en-GB" dirty="0"/>
              <a:t>: condense a complicated system down to its most fundamental parts and describe these parts and their functionalities in a simple, precise language.</a:t>
            </a:r>
          </a:p>
          <a:p>
            <a:pPr lvl="1"/>
            <a:endParaRPr lang="en-GB" dirty="0"/>
          </a:p>
          <a:p>
            <a:pPr lvl="1"/>
            <a:endParaRPr lang="en-GB" dirty="0"/>
          </a:p>
          <a:p>
            <a:pPr lvl="1"/>
            <a:r>
              <a:rPr lang="en-GB" b="1" dirty="0"/>
              <a:t>Encapsulation</a:t>
            </a:r>
            <a:r>
              <a:rPr lang="en-GB" dirty="0"/>
              <a:t>: different components of a software system should not reveal  the internal details of their respective implementations. </a:t>
            </a:r>
          </a:p>
          <a:p>
            <a:pPr lvl="1"/>
            <a:endParaRPr lang="en-GB" dirty="0"/>
          </a:p>
          <a:p>
            <a:pPr lvl="1"/>
            <a:endParaRPr lang="en-GB" dirty="0"/>
          </a:p>
          <a:p>
            <a:pPr lvl="1"/>
            <a:r>
              <a:rPr lang="en-GB" b="1" dirty="0"/>
              <a:t>Modularity</a:t>
            </a:r>
            <a:r>
              <a:rPr lang="en-GB" dirty="0"/>
              <a:t>: organizing principle for code in which different components of a software system are divided into separate functional units. </a:t>
            </a:r>
          </a:p>
        </p:txBody>
      </p:sp>
      <p:pic>
        <p:nvPicPr>
          <p:cNvPr id="8" name="Graphic 7" descr="Inventory outline">
            <a:extLst>
              <a:ext uri="{FF2B5EF4-FFF2-40B4-BE49-F238E27FC236}">
                <a16:creationId xmlns:a16="http://schemas.microsoft.com/office/drawing/2014/main" id="{F0975723-8F21-4E49-8250-E7F905026D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49810" y="4622672"/>
            <a:ext cx="1519989" cy="1519989"/>
          </a:xfrm>
          <a:prstGeom prst="rect">
            <a:avLst/>
          </a:prstGeom>
        </p:spPr>
      </p:pic>
      <p:pic>
        <p:nvPicPr>
          <p:cNvPr id="5" name="Graphic 4" descr="Thought bubble outline">
            <a:extLst>
              <a:ext uri="{FF2B5EF4-FFF2-40B4-BE49-F238E27FC236}">
                <a16:creationId xmlns:a16="http://schemas.microsoft.com/office/drawing/2014/main" id="{80BEDBFD-2597-9443-8837-2DF8BF9544A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55787" y="1768643"/>
            <a:ext cx="1308039" cy="1308039"/>
          </a:xfrm>
          <a:prstGeom prst="rect">
            <a:avLst/>
          </a:prstGeom>
        </p:spPr>
      </p:pic>
      <p:pic>
        <p:nvPicPr>
          <p:cNvPr id="9" name="Graphic 8" descr="Lock outline">
            <a:extLst>
              <a:ext uri="{FF2B5EF4-FFF2-40B4-BE49-F238E27FC236}">
                <a16:creationId xmlns:a16="http://schemas.microsoft.com/office/drawing/2014/main" id="{3F1D2C89-B05C-7948-8046-32972B6208B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54196" y="3225709"/>
            <a:ext cx="1111219" cy="1111219"/>
          </a:xfrm>
          <a:prstGeom prst="rect">
            <a:avLst/>
          </a:prstGeom>
        </p:spPr>
      </p:pic>
      <p:sp>
        <p:nvSpPr>
          <p:cNvPr id="3" name="Slide Number Placeholder 2">
            <a:extLst>
              <a:ext uri="{FF2B5EF4-FFF2-40B4-BE49-F238E27FC236}">
                <a16:creationId xmlns:a16="http://schemas.microsoft.com/office/drawing/2014/main" id="{EC2CD743-F323-1448-9D77-706BAAB1E511}"/>
              </a:ext>
            </a:extLst>
          </p:cNvPr>
          <p:cNvSpPr>
            <a:spLocks noGrp="1"/>
          </p:cNvSpPr>
          <p:nvPr>
            <p:ph type="sldNum" sz="quarter" idx="12"/>
          </p:nvPr>
        </p:nvSpPr>
        <p:spPr/>
        <p:txBody>
          <a:bodyPr/>
          <a:lstStyle/>
          <a:p>
            <a:fld id="{31DE2C5B-556E-47B8-A792-024C2FCA4ACC}" type="slidenum">
              <a:rPr lang="en-GB" smtClean="0"/>
              <a:t>5</a:t>
            </a:fld>
            <a:endParaRPr lang="en-GB"/>
          </a:p>
        </p:txBody>
      </p:sp>
      <p:sp>
        <p:nvSpPr>
          <p:cNvPr id="6" name="TextBox 5">
            <a:extLst>
              <a:ext uri="{FF2B5EF4-FFF2-40B4-BE49-F238E27FC236}">
                <a16:creationId xmlns:a16="http://schemas.microsoft.com/office/drawing/2014/main" id="{ED61627B-F0A0-CD08-63F3-8EB0B57832B4}"/>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984159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b="1" dirty="0"/>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dirty="0">
                <a:solidFill>
                  <a:schemeClr val="bg2">
                    <a:lumMod val="90000"/>
                  </a:schemeClr>
                </a:solidFill>
              </a:rPr>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endParaRPr lang="en-GB" sz="2600" dirty="0">
              <a:solidFill>
                <a:schemeClr val="bg2">
                  <a:lumMod val="90000"/>
                </a:schemeClr>
              </a:solidFill>
            </a:endParaRP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6</a:t>
            </a:fld>
            <a:endParaRPr lang="en-GB"/>
          </a:p>
        </p:txBody>
      </p:sp>
    </p:spTree>
    <p:extLst>
      <p:ext uri="{BB962C8B-B14F-4D97-AF65-F5344CB8AC3E}">
        <p14:creationId xmlns:p14="http://schemas.microsoft.com/office/powerpoint/2010/main" val="2928228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Creating and defining a class</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5377686"/>
          </a:xfrm>
        </p:spPr>
        <p:txBody>
          <a:bodyPr>
            <a:normAutofit/>
          </a:bodyPr>
          <a:lstStyle/>
          <a:p>
            <a:r>
              <a:rPr lang="en-GB" dirty="0"/>
              <a:t>Let’s analyse the basic elements of a class:</a:t>
            </a:r>
          </a:p>
          <a:p>
            <a:endParaRPr lang="en-GB" dirty="0"/>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class</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Dog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highlight>
                  <a:srgbClr val="FFFF00"/>
                </a:highlight>
                <a:latin typeface="Menlo" panose="020B0609030804020204" pitchFamily="49" charset="0"/>
                <a:ea typeface="Menlo" panose="020B0609030804020204" pitchFamily="49" charset="0"/>
                <a:cs typeface="Menlo" panose="020B0609030804020204" pitchFamily="49" charset="0"/>
              </a:rPr>
              <a:t>// --- Instance variables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highlight>
                  <a:srgbClr val="FFFF00"/>
                </a:highlight>
                <a:latin typeface="Menlo" panose="020B0609030804020204" pitchFamily="49" charset="0"/>
                <a:ea typeface="Menlo" panose="020B0609030804020204" pitchFamily="49" charset="0"/>
                <a:cs typeface="Menlo" panose="020B0609030804020204" pitchFamily="49" charset="0"/>
              </a:rPr>
              <a:t>// --- Constructors</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highlight>
                  <a:srgbClr val="FFFF00"/>
                </a:highlight>
                <a:latin typeface="Menlo" panose="020B0609030804020204" pitchFamily="49" charset="0"/>
                <a:ea typeface="Menlo" panose="020B0609030804020204" pitchFamily="49" charset="0"/>
                <a:cs typeface="Menlo" panose="020B0609030804020204" pitchFamily="49" charset="0"/>
              </a:rPr>
              <a:t>// --- Methods</a:t>
            </a:r>
          </a:p>
          <a:p>
            <a:pPr marL="457200" lvl="1" indent="0">
              <a:buNone/>
            </a:pPr>
            <a:endParaRPr lang="en-GB" b="1" dirty="0">
              <a:highlight>
                <a:srgbClr val="FFFF00"/>
              </a:highlight>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}//Dog</a:t>
            </a:r>
          </a:p>
        </p:txBody>
      </p:sp>
      <p:sp>
        <p:nvSpPr>
          <p:cNvPr id="4" name="Rectangle 3">
            <a:extLst>
              <a:ext uri="{FF2B5EF4-FFF2-40B4-BE49-F238E27FC236}">
                <a16:creationId xmlns:a16="http://schemas.microsoft.com/office/drawing/2014/main" id="{DF48F6D9-2A6B-4549-A3DE-101DDB3417CF}"/>
              </a:ext>
            </a:extLst>
          </p:cNvPr>
          <p:cNvSpPr/>
          <p:nvPr/>
        </p:nvSpPr>
        <p:spPr>
          <a:xfrm>
            <a:off x="9109432" y="194911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5" name="Rectangle 4">
            <a:extLst>
              <a:ext uri="{FF2B5EF4-FFF2-40B4-BE49-F238E27FC236}">
                <a16:creationId xmlns:a16="http://schemas.microsoft.com/office/drawing/2014/main" id="{7BDD4F84-EBDB-0E44-B26F-0B24299B67E0}"/>
              </a:ext>
            </a:extLst>
          </p:cNvPr>
          <p:cNvSpPr/>
          <p:nvPr/>
        </p:nvSpPr>
        <p:spPr>
          <a:xfrm>
            <a:off x="9109432" y="138363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6" name="Rectangle 5">
            <a:extLst>
              <a:ext uri="{FF2B5EF4-FFF2-40B4-BE49-F238E27FC236}">
                <a16:creationId xmlns:a16="http://schemas.microsoft.com/office/drawing/2014/main" id="{A1B772D7-7C87-264D-80F4-9ABA738479D3}"/>
              </a:ext>
            </a:extLst>
          </p:cNvPr>
          <p:cNvSpPr/>
          <p:nvPr/>
        </p:nvSpPr>
        <p:spPr>
          <a:xfrm>
            <a:off x="9109432" y="298161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7" name="Rectangle 6">
            <a:extLst>
              <a:ext uri="{FF2B5EF4-FFF2-40B4-BE49-F238E27FC236}">
                <a16:creationId xmlns:a16="http://schemas.microsoft.com/office/drawing/2014/main" id="{E0758E93-850C-0840-A7E9-A3A950F709A9}"/>
              </a:ext>
            </a:extLst>
          </p:cNvPr>
          <p:cNvSpPr/>
          <p:nvPr/>
        </p:nvSpPr>
        <p:spPr>
          <a:xfrm>
            <a:off x="9109430" y="1383633"/>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3" name="Slide Number Placeholder 2">
            <a:extLst>
              <a:ext uri="{FF2B5EF4-FFF2-40B4-BE49-F238E27FC236}">
                <a16:creationId xmlns:a16="http://schemas.microsoft.com/office/drawing/2014/main" id="{F4691A79-9896-2D4A-90CD-BF67615314A2}"/>
              </a:ext>
            </a:extLst>
          </p:cNvPr>
          <p:cNvSpPr>
            <a:spLocks noGrp="1"/>
          </p:cNvSpPr>
          <p:nvPr>
            <p:ph type="sldNum" sz="quarter" idx="12"/>
          </p:nvPr>
        </p:nvSpPr>
        <p:spPr/>
        <p:txBody>
          <a:bodyPr/>
          <a:lstStyle/>
          <a:p>
            <a:fld id="{31DE2C5B-556E-47B8-A792-024C2FCA4ACC}" type="slidenum">
              <a:rPr lang="en-GB" smtClean="0"/>
              <a:t>7</a:t>
            </a:fld>
            <a:endParaRPr lang="en-GB"/>
          </a:p>
        </p:txBody>
      </p:sp>
    </p:spTree>
    <p:extLst>
      <p:ext uri="{BB962C8B-B14F-4D97-AF65-F5344CB8AC3E}">
        <p14:creationId xmlns:p14="http://schemas.microsoft.com/office/powerpoint/2010/main" val="1892056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Creating and defining a class</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5377686"/>
          </a:xfrm>
        </p:spPr>
        <p:txBody>
          <a:bodyPr>
            <a:normAutofit fontScale="55000" lnSpcReduction="20000"/>
          </a:bodyPr>
          <a:lstStyle/>
          <a:p>
            <a:r>
              <a:rPr lang="en-GB" sz="2600" dirty="0"/>
              <a:t>As such, the </a:t>
            </a:r>
            <a:r>
              <a:rPr lang="en-GB" sz="2600" dirty="0">
                <a:latin typeface="Menlo" panose="020B0609030804020204" pitchFamily="49" charset="0"/>
                <a:ea typeface="Menlo" panose="020B0609030804020204" pitchFamily="49" charset="0"/>
                <a:cs typeface="Menlo" panose="020B0609030804020204" pitchFamily="49" charset="0"/>
              </a:rPr>
              <a:t>Dog</a:t>
            </a:r>
            <a:r>
              <a:rPr lang="en-GB" sz="2600" dirty="0"/>
              <a:t> class becomes something like:</a:t>
            </a:r>
          </a:p>
          <a:p>
            <a:endParaRPr lang="en-GB" dirty="0"/>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class</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Dog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highlight>
                  <a:srgbClr val="FFFF00"/>
                </a:highlight>
                <a:latin typeface="Menlo" panose="020B0609030804020204" pitchFamily="49" charset="0"/>
                <a:ea typeface="Menlo" panose="020B0609030804020204" pitchFamily="49" charset="0"/>
                <a:cs typeface="Menlo" panose="020B0609030804020204" pitchFamily="49" charset="0"/>
              </a:rPr>
              <a:t>// --- Instance variables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name;</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a:t>
            </a:r>
            <a:r>
              <a:rPr lang="en-GB" dirty="0" err="1">
                <a:latin typeface="Menlo" panose="020B0609030804020204" pitchFamily="49" charset="0"/>
                <a:ea typeface="Menlo" panose="020B0609030804020204" pitchFamily="49" charset="0"/>
                <a:cs typeface="Menlo" panose="020B0609030804020204" pitchFamily="49" charset="0"/>
              </a:rPr>
              <a:t>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highlight>
                  <a:srgbClr val="FFFF00"/>
                </a:highlight>
                <a:latin typeface="Menlo" panose="020B0609030804020204" pitchFamily="49" charset="0"/>
                <a:ea typeface="Menlo" panose="020B0609030804020204" pitchFamily="49" charset="0"/>
                <a:cs typeface="Menlo" panose="020B0609030804020204" pitchFamily="49" charset="0"/>
              </a:rPr>
              <a:t>// --- Constructors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Dog({</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this.weight</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this.color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Dog.withName</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Dog.fuffy</a:t>
            </a:r>
            <a:r>
              <a:rPr lang="en-GB" dirty="0">
                <a:latin typeface="Menlo" panose="020B0609030804020204" pitchFamily="49" charset="0"/>
                <a:ea typeface="Menlo" panose="020B0609030804020204" pitchFamily="49" charset="0"/>
                <a:cs typeface="Menlo" panose="020B0609030804020204" pitchFamily="49" charset="0"/>
              </a:rPr>
              <a:t>() : name = ’</a:t>
            </a:r>
            <a:r>
              <a:rPr lang="en-GB" dirty="0" err="1">
                <a:latin typeface="Menlo" panose="020B0609030804020204" pitchFamily="49" charset="0"/>
                <a:ea typeface="Menlo" panose="020B0609030804020204" pitchFamily="49" charset="0"/>
                <a:cs typeface="Menlo" panose="020B0609030804020204" pitchFamily="49" charset="0"/>
              </a:rPr>
              <a:t>Fuffy</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highlight>
                  <a:srgbClr val="FFFF00"/>
                </a:highlight>
                <a:latin typeface="Menlo" panose="020B0609030804020204" pitchFamily="49" charset="0"/>
                <a:ea typeface="Menlo" panose="020B0609030804020204" pitchFamily="49" charset="0"/>
                <a:cs typeface="Menlo" panose="020B0609030804020204" pitchFamily="49" charset="0"/>
              </a:rPr>
              <a:t>// --- Methods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walking!");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weight = weight! + 0.1;</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eating! I also gained 0.1 kg");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return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}//Dog</a:t>
            </a:r>
          </a:p>
        </p:txBody>
      </p:sp>
      <p:sp>
        <p:nvSpPr>
          <p:cNvPr id="4" name="Rectangle 3">
            <a:extLst>
              <a:ext uri="{FF2B5EF4-FFF2-40B4-BE49-F238E27FC236}">
                <a16:creationId xmlns:a16="http://schemas.microsoft.com/office/drawing/2014/main" id="{DF48F6D9-2A6B-4549-A3DE-101DDB3417CF}"/>
              </a:ext>
            </a:extLst>
          </p:cNvPr>
          <p:cNvSpPr/>
          <p:nvPr/>
        </p:nvSpPr>
        <p:spPr>
          <a:xfrm>
            <a:off x="9109432" y="194911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5" name="Rectangle 4">
            <a:extLst>
              <a:ext uri="{FF2B5EF4-FFF2-40B4-BE49-F238E27FC236}">
                <a16:creationId xmlns:a16="http://schemas.microsoft.com/office/drawing/2014/main" id="{7BDD4F84-EBDB-0E44-B26F-0B24299B67E0}"/>
              </a:ext>
            </a:extLst>
          </p:cNvPr>
          <p:cNvSpPr/>
          <p:nvPr/>
        </p:nvSpPr>
        <p:spPr>
          <a:xfrm>
            <a:off x="9109432" y="138363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6" name="Rectangle 5">
            <a:extLst>
              <a:ext uri="{FF2B5EF4-FFF2-40B4-BE49-F238E27FC236}">
                <a16:creationId xmlns:a16="http://schemas.microsoft.com/office/drawing/2014/main" id="{A1B772D7-7C87-264D-80F4-9ABA738479D3}"/>
              </a:ext>
            </a:extLst>
          </p:cNvPr>
          <p:cNvSpPr/>
          <p:nvPr/>
        </p:nvSpPr>
        <p:spPr>
          <a:xfrm>
            <a:off x="9109432" y="298161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7" name="Rectangle 6">
            <a:extLst>
              <a:ext uri="{FF2B5EF4-FFF2-40B4-BE49-F238E27FC236}">
                <a16:creationId xmlns:a16="http://schemas.microsoft.com/office/drawing/2014/main" id="{E0758E93-850C-0840-A7E9-A3A950F709A9}"/>
              </a:ext>
            </a:extLst>
          </p:cNvPr>
          <p:cNvSpPr/>
          <p:nvPr/>
        </p:nvSpPr>
        <p:spPr>
          <a:xfrm>
            <a:off x="9109430" y="1383633"/>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3" name="Slide Number Placeholder 2">
            <a:extLst>
              <a:ext uri="{FF2B5EF4-FFF2-40B4-BE49-F238E27FC236}">
                <a16:creationId xmlns:a16="http://schemas.microsoft.com/office/drawing/2014/main" id="{0F217C00-C789-9044-BDDB-4DE986BF35A4}"/>
              </a:ext>
            </a:extLst>
          </p:cNvPr>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2597442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The </a:t>
            </a:r>
            <a:r>
              <a:rPr lang="en-GB" dirty="0">
                <a:latin typeface="Menlo" panose="020B0609030804020204" pitchFamily="49" charset="0"/>
                <a:ea typeface="Menlo" panose="020B0609030804020204" pitchFamily="49" charset="0"/>
                <a:cs typeface="Menlo" panose="020B0609030804020204" pitchFamily="49" charset="0"/>
              </a:rPr>
              <a:t>this</a:t>
            </a:r>
            <a:r>
              <a:rPr lang="en-GB" dirty="0"/>
              <a:t> keyword</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5377686"/>
          </a:xfrm>
        </p:spPr>
        <p:txBody>
          <a:bodyPr>
            <a:normAutofit fontScale="55000" lnSpcReduction="20000"/>
          </a:bodyPr>
          <a:lstStyle/>
          <a:p>
            <a:r>
              <a:rPr lang="en-GB" sz="2600" dirty="0"/>
              <a:t>As such, the </a:t>
            </a:r>
            <a:r>
              <a:rPr lang="en-GB" sz="2600" dirty="0">
                <a:latin typeface="Menlo" panose="020B0609030804020204" pitchFamily="49" charset="0"/>
                <a:ea typeface="Menlo" panose="020B0609030804020204" pitchFamily="49" charset="0"/>
                <a:cs typeface="Menlo" panose="020B0609030804020204" pitchFamily="49" charset="0"/>
              </a:rPr>
              <a:t>Dog</a:t>
            </a:r>
            <a:r>
              <a:rPr lang="en-GB" sz="2600" dirty="0"/>
              <a:t> class becomes something like:</a:t>
            </a:r>
          </a:p>
          <a:p>
            <a:endParaRPr lang="en-GB" dirty="0"/>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class</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Dog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Instance variables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name;</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a:t>
            </a:r>
            <a:r>
              <a:rPr lang="en-GB" dirty="0" err="1">
                <a:latin typeface="Menlo" panose="020B0609030804020204" pitchFamily="49" charset="0"/>
                <a:ea typeface="Menlo" panose="020B0609030804020204" pitchFamily="49" charset="0"/>
                <a:cs typeface="Menlo" panose="020B0609030804020204" pitchFamily="49" charset="0"/>
              </a:rPr>
              <a:t>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Constructors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Dog({</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this</a:t>
            </a:r>
            <a:r>
              <a:rPr lang="en-GB" dirty="0" err="1">
                <a:latin typeface="Menlo" panose="020B0609030804020204" pitchFamily="49" charset="0"/>
                <a:ea typeface="Menlo" panose="020B0609030804020204" pitchFamily="49" charset="0"/>
                <a:cs typeface="Menlo" panose="020B0609030804020204" pitchFamily="49" charset="0"/>
              </a:rPr>
              <a:t>.name</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this</a:t>
            </a:r>
            <a:r>
              <a:rPr lang="en-GB" dirty="0" err="1">
                <a:latin typeface="Menlo" panose="020B0609030804020204" pitchFamily="49" charset="0"/>
                <a:ea typeface="Menlo" panose="020B0609030804020204" pitchFamily="49" charset="0"/>
                <a:cs typeface="Menlo" panose="020B0609030804020204" pitchFamily="49" charset="0"/>
              </a:rPr>
              <a:t>.weight</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this</a:t>
            </a:r>
            <a:r>
              <a:rPr lang="en-GB" dirty="0" err="1">
                <a:latin typeface="Menlo" panose="020B0609030804020204" pitchFamily="49" charset="0"/>
                <a:ea typeface="Menlo" panose="020B0609030804020204" pitchFamily="49" charset="0"/>
                <a:cs typeface="Menlo" panose="020B0609030804020204" pitchFamily="49" charset="0"/>
              </a:rPr>
              <a:t>.color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Dog.withName</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this</a:t>
            </a:r>
            <a:r>
              <a:rPr lang="en-GB" dirty="0" err="1">
                <a:latin typeface="Menlo" panose="020B0609030804020204" pitchFamily="49" charset="0"/>
                <a:ea typeface="Menlo" panose="020B0609030804020204" pitchFamily="49" charset="0"/>
                <a:cs typeface="Menlo" panose="020B0609030804020204" pitchFamily="49" charset="0"/>
              </a:rPr>
              <a:t>.name</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Dog.fuffy</a:t>
            </a:r>
            <a:r>
              <a:rPr lang="en-GB" dirty="0">
                <a:latin typeface="Menlo" panose="020B0609030804020204" pitchFamily="49" charset="0"/>
                <a:ea typeface="Menlo" panose="020B0609030804020204" pitchFamily="49" charset="0"/>
                <a:cs typeface="Menlo" panose="020B0609030804020204" pitchFamily="49" charset="0"/>
              </a:rPr>
              <a:t>() : name = ’</a:t>
            </a:r>
            <a:r>
              <a:rPr lang="en-GB" dirty="0" err="1">
                <a:latin typeface="Menlo" panose="020B0609030804020204" pitchFamily="49" charset="0"/>
                <a:ea typeface="Menlo" panose="020B0609030804020204" pitchFamily="49" charset="0"/>
                <a:cs typeface="Menlo" panose="020B0609030804020204" pitchFamily="49" charset="0"/>
              </a:rPr>
              <a:t>Fuffy</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Methods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walking!");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weight = weight! + 0.1;</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eating! I also gained 0.1 kg");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return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}//Dog</a:t>
            </a:r>
          </a:p>
        </p:txBody>
      </p:sp>
      <p:sp>
        <p:nvSpPr>
          <p:cNvPr id="4" name="Rectangle 3">
            <a:extLst>
              <a:ext uri="{FF2B5EF4-FFF2-40B4-BE49-F238E27FC236}">
                <a16:creationId xmlns:a16="http://schemas.microsoft.com/office/drawing/2014/main" id="{DF48F6D9-2A6B-4549-A3DE-101DDB3417CF}"/>
              </a:ext>
            </a:extLst>
          </p:cNvPr>
          <p:cNvSpPr/>
          <p:nvPr/>
        </p:nvSpPr>
        <p:spPr>
          <a:xfrm>
            <a:off x="9109432" y="195560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5" name="Rectangle 4">
            <a:extLst>
              <a:ext uri="{FF2B5EF4-FFF2-40B4-BE49-F238E27FC236}">
                <a16:creationId xmlns:a16="http://schemas.microsoft.com/office/drawing/2014/main" id="{7BDD4F84-EBDB-0E44-B26F-0B24299B67E0}"/>
              </a:ext>
            </a:extLst>
          </p:cNvPr>
          <p:cNvSpPr/>
          <p:nvPr/>
        </p:nvSpPr>
        <p:spPr>
          <a:xfrm>
            <a:off x="9109432" y="1390118"/>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6" name="Rectangle 5">
            <a:extLst>
              <a:ext uri="{FF2B5EF4-FFF2-40B4-BE49-F238E27FC236}">
                <a16:creationId xmlns:a16="http://schemas.microsoft.com/office/drawing/2014/main" id="{A1B772D7-7C87-264D-80F4-9ABA738479D3}"/>
              </a:ext>
            </a:extLst>
          </p:cNvPr>
          <p:cNvSpPr/>
          <p:nvPr/>
        </p:nvSpPr>
        <p:spPr>
          <a:xfrm>
            <a:off x="9109432" y="298809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7" name="Rectangle 6">
            <a:extLst>
              <a:ext uri="{FF2B5EF4-FFF2-40B4-BE49-F238E27FC236}">
                <a16:creationId xmlns:a16="http://schemas.microsoft.com/office/drawing/2014/main" id="{E0758E93-850C-0840-A7E9-A3A950F709A9}"/>
              </a:ext>
            </a:extLst>
          </p:cNvPr>
          <p:cNvSpPr/>
          <p:nvPr/>
        </p:nvSpPr>
        <p:spPr>
          <a:xfrm>
            <a:off x="9109430" y="1390118"/>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3" name="Slide Number Placeholder 2">
            <a:extLst>
              <a:ext uri="{FF2B5EF4-FFF2-40B4-BE49-F238E27FC236}">
                <a16:creationId xmlns:a16="http://schemas.microsoft.com/office/drawing/2014/main" id="{0F217C00-C789-9044-BDDB-4DE986BF35A4}"/>
              </a:ext>
            </a:extLst>
          </p:cNvPr>
          <p:cNvSpPr>
            <a:spLocks noGrp="1"/>
          </p:cNvSpPr>
          <p:nvPr>
            <p:ph type="sldNum" sz="quarter" idx="12"/>
          </p:nvPr>
        </p:nvSpPr>
        <p:spPr/>
        <p:txBody>
          <a:bodyPr/>
          <a:lstStyle/>
          <a:p>
            <a:fld id="{31DE2C5B-556E-47B8-A792-024C2FCA4ACC}" type="slidenum">
              <a:rPr lang="en-GB" smtClean="0"/>
              <a:t>9</a:t>
            </a:fld>
            <a:endParaRPr lang="en-GB"/>
          </a:p>
        </p:txBody>
      </p:sp>
      <p:sp>
        <p:nvSpPr>
          <p:cNvPr id="8" name="Content Placeholder 2">
            <a:extLst>
              <a:ext uri="{FF2B5EF4-FFF2-40B4-BE49-F238E27FC236}">
                <a16:creationId xmlns:a16="http://schemas.microsoft.com/office/drawing/2014/main" id="{8D59E7E3-43BF-614F-464E-76BF47936A10}"/>
              </a:ext>
            </a:extLst>
          </p:cNvPr>
          <p:cNvSpPr txBox="1">
            <a:spLocks/>
          </p:cNvSpPr>
          <p:nvPr/>
        </p:nvSpPr>
        <p:spPr>
          <a:xfrm>
            <a:off x="9109430" y="4790770"/>
            <a:ext cx="2654398" cy="112290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 keyword </a:t>
            </a:r>
            <a:r>
              <a:rPr lang="en-IT" sz="1600" b="1" dirty="0">
                <a:latin typeface="Aptos" panose="020B0004020202020204" pitchFamily="34" charset="0"/>
                <a:ea typeface="Palatino" pitchFamily="2" charset="77"/>
              </a:rPr>
              <a:t>this</a:t>
            </a:r>
            <a:r>
              <a:rPr lang="en-IT" sz="1600" dirty="0">
                <a:latin typeface="Aptos" panose="020B0004020202020204" pitchFamily="34" charset="0"/>
                <a:ea typeface="Palatino" pitchFamily="2" charset="77"/>
              </a:rPr>
              <a:t> is a special reference variable that referes to the current object.</a:t>
            </a:r>
          </a:p>
        </p:txBody>
      </p:sp>
      <p:cxnSp>
        <p:nvCxnSpPr>
          <p:cNvPr id="11" name="Straight Arrow Connector 10">
            <a:extLst>
              <a:ext uri="{FF2B5EF4-FFF2-40B4-BE49-F238E27FC236}">
                <a16:creationId xmlns:a16="http://schemas.microsoft.com/office/drawing/2014/main" id="{044B6456-479D-E8EB-C82F-09A77825EF7D}"/>
              </a:ext>
            </a:extLst>
          </p:cNvPr>
          <p:cNvCxnSpPr>
            <a:cxnSpLocks/>
            <a:stCxn id="8" idx="1"/>
          </p:cNvCxnSpPr>
          <p:nvPr/>
        </p:nvCxnSpPr>
        <p:spPr>
          <a:xfrm flipH="1" flipV="1">
            <a:off x="4197531" y="3666309"/>
            <a:ext cx="4911899" cy="16859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66056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Constructors</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5377686"/>
          </a:xfrm>
        </p:spPr>
        <p:txBody>
          <a:bodyPr>
            <a:normAutofit fontScale="55000" lnSpcReduction="20000"/>
          </a:bodyPr>
          <a:lstStyle/>
          <a:p>
            <a:r>
              <a:rPr lang="en-GB" sz="2600" dirty="0"/>
              <a:t>As such, the </a:t>
            </a:r>
            <a:r>
              <a:rPr lang="en-GB" sz="2600" dirty="0">
                <a:latin typeface="Menlo" panose="020B0609030804020204" pitchFamily="49" charset="0"/>
                <a:ea typeface="Menlo" panose="020B0609030804020204" pitchFamily="49" charset="0"/>
                <a:cs typeface="Menlo" panose="020B0609030804020204" pitchFamily="49" charset="0"/>
              </a:rPr>
              <a:t>Dog</a:t>
            </a:r>
            <a:r>
              <a:rPr lang="en-GB" sz="2600" dirty="0"/>
              <a:t> class becomes something like:</a:t>
            </a:r>
          </a:p>
          <a:p>
            <a:endParaRPr lang="en-GB" dirty="0"/>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class</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Dog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Instance variables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name;</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a:t>
            </a:r>
            <a:r>
              <a:rPr lang="en-GB" dirty="0" err="1">
                <a:latin typeface="Menlo" panose="020B0609030804020204" pitchFamily="49" charset="0"/>
                <a:ea typeface="Menlo" panose="020B0609030804020204" pitchFamily="49" charset="0"/>
                <a:cs typeface="Menlo" panose="020B0609030804020204" pitchFamily="49" charset="0"/>
              </a:rPr>
              <a:t>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Constructors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a:highlight>
                  <a:srgbClr val="FFFF00"/>
                </a:highlight>
                <a:latin typeface="Menlo" panose="020B0609030804020204" pitchFamily="49" charset="0"/>
                <a:ea typeface="Menlo" panose="020B0609030804020204" pitchFamily="49" charset="0"/>
                <a:cs typeface="Menlo" panose="020B0609030804020204" pitchFamily="49" charset="0"/>
              </a:rPr>
              <a:t>Dog({</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this.name</a:t>
            </a:r>
            <a:r>
              <a:rPr lang="en-GB"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this.weight</a:t>
            </a:r>
            <a:r>
              <a:rPr lang="en-GB" dirty="0">
                <a:highlight>
                  <a:srgbClr val="FFFF00"/>
                </a:highlight>
                <a:latin typeface="Menlo" panose="020B0609030804020204" pitchFamily="49" charset="0"/>
                <a:ea typeface="Menlo" panose="020B0609030804020204" pitchFamily="49" charset="0"/>
                <a:cs typeface="Menlo" panose="020B0609030804020204" pitchFamily="49" charset="0"/>
              </a:rPr>
              <a:t>, </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this.color</a:t>
            </a:r>
            <a:r>
              <a:rPr lang="en-GB" dirty="0">
                <a:highlight>
                  <a:srgbClr val="FFFF00"/>
                </a:highlight>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Dog.withName</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Dog.fuffy</a:t>
            </a:r>
            <a:r>
              <a:rPr lang="en-GB" dirty="0">
                <a:latin typeface="Menlo" panose="020B0609030804020204" pitchFamily="49" charset="0"/>
                <a:ea typeface="Menlo" panose="020B0609030804020204" pitchFamily="49" charset="0"/>
                <a:cs typeface="Menlo" panose="020B0609030804020204" pitchFamily="49" charset="0"/>
              </a:rPr>
              <a:t>() : name = ’</a:t>
            </a:r>
            <a:r>
              <a:rPr lang="en-GB" dirty="0" err="1">
                <a:latin typeface="Menlo" panose="020B0609030804020204" pitchFamily="49" charset="0"/>
                <a:ea typeface="Menlo" panose="020B0609030804020204" pitchFamily="49" charset="0"/>
                <a:cs typeface="Menlo" panose="020B0609030804020204" pitchFamily="49" charset="0"/>
              </a:rPr>
              <a:t>Fuffy</a:t>
            </a:r>
            <a:r>
              <a:rPr lang="en-GB" dirty="0">
                <a:latin typeface="Menlo" panose="020B0609030804020204" pitchFamily="49" charset="0"/>
                <a:ea typeface="Menlo" panose="020B0609030804020204" pitchFamily="49" charset="0"/>
                <a:cs typeface="Menlo" panose="020B0609030804020204" pitchFamily="49" charset="0"/>
              </a:rPr>
              <a:t>’;  </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Methods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walking!");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weight = weight! + 0.1;</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eating! I also gained 0.1 kg");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return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}//Dog</a:t>
            </a:r>
          </a:p>
        </p:txBody>
      </p:sp>
      <p:sp>
        <p:nvSpPr>
          <p:cNvPr id="4" name="Rectangle 3">
            <a:extLst>
              <a:ext uri="{FF2B5EF4-FFF2-40B4-BE49-F238E27FC236}">
                <a16:creationId xmlns:a16="http://schemas.microsoft.com/office/drawing/2014/main" id="{DF48F6D9-2A6B-4549-A3DE-101DDB3417CF}"/>
              </a:ext>
            </a:extLst>
          </p:cNvPr>
          <p:cNvSpPr/>
          <p:nvPr/>
        </p:nvSpPr>
        <p:spPr>
          <a:xfrm>
            <a:off x="9109432" y="194911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5" name="Rectangle 4">
            <a:extLst>
              <a:ext uri="{FF2B5EF4-FFF2-40B4-BE49-F238E27FC236}">
                <a16:creationId xmlns:a16="http://schemas.microsoft.com/office/drawing/2014/main" id="{7BDD4F84-EBDB-0E44-B26F-0B24299B67E0}"/>
              </a:ext>
            </a:extLst>
          </p:cNvPr>
          <p:cNvSpPr/>
          <p:nvPr/>
        </p:nvSpPr>
        <p:spPr>
          <a:xfrm>
            <a:off x="9109432" y="138363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6" name="Rectangle 5">
            <a:extLst>
              <a:ext uri="{FF2B5EF4-FFF2-40B4-BE49-F238E27FC236}">
                <a16:creationId xmlns:a16="http://schemas.microsoft.com/office/drawing/2014/main" id="{A1B772D7-7C87-264D-80F4-9ABA738479D3}"/>
              </a:ext>
            </a:extLst>
          </p:cNvPr>
          <p:cNvSpPr/>
          <p:nvPr/>
        </p:nvSpPr>
        <p:spPr>
          <a:xfrm>
            <a:off x="9109432" y="298161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7" name="Rectangle 6">
            <a:extLst>
              <a:ext uri="{FF2B5EF4-FFF2-40B4-BE49-F238E27FC236}">
                <a16:creationId xmlns:a16="http://schemas.microsoft.com/office/drawing/2014/main" id="{E0758E93-850C-0840-A7E9-A3A950F709A9}"/>
              </a:ext>
            </a:extLst>
          </p:cNvPr>
          <p:cNvSpPr/>
          <p:nvPr/>
        </p:nvSpPr>
        <p:spPr>
          <a:xfrm>
            <a:off x="9109430" y="1383633"/>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3" name="Slide Number Placeholder 2">
            <a:extLst>
              <a:ext uri="{FF2B5EF4-FFF2-40B4-BE49-F238E27FC236}">
                <a16:creationId xmlns:a16="http://schemas.microsoft.com/office/drawing/2014/main" id="{0F217C00-C789-9044-BDDB-4DE986BF35A4}"/>
              </a:ext>
            </a:extLst>
          </p:cNvPr>
          <p:cNvSpPr>
            <a:spLocks noGrp="1"/>
          </p:cNvSpPr>
          <p:nvPr>
            <p:ph type="sldNum" sz="quarter" idx="12"/>
          </p:nvPr>
        </p:nvSpPr>
        <p:spPr/>
        <p:txBody>
          <a:bodyPr/>
          <a:lstStyle/>
          <a:p>
            <a:fld id="{31DE2C5B-556E-47B8-A792-024C2FCA4ACC}" type="slidenum">
              <a:rPr lang="en-GB" smtClean="0"/>
              <a:t>10</a:t>
            </a:fld>
            <a:endParaRPr lang="en-GB"/>
          </a:p>
        </p:txBody>
      </p:sp>
      <p:sp>
        <p:nvSpPr>
          <p:cNvPr id="10" name="Rectangle 9">
            <a:extLst>
              <a:ext uri="{FF2B5EF4-FFF2-40B4-BE49-F238E27FC236}">
                <a16:creationId xmlns:a16="http://schemas.microsoft.com/office/drawing/2014/main" id="{C7EEF295-3E47-A2E5-C863-377BBCFC999E}"/>
              </a:ext>
            </a:extLst>
          </p:cNvPr>
          <p:cNvSpPr/>
          <p:nvPr/>
        </p:nvSpPr>
        <p:spPr>
          <a:xfrm>
            <a:off x="7349840" y="4375571"/>
            <a:ext cx="3300742" cy="1569660"/>
          </a:xfrm>
          <a:prstGeom prst="rect">
            <a:avLst/>
          </a:prstGeom>
          <a:solidFill>
            <a:schemeClr val="accent6">
              <a:lumMod val="20000"/>
              <a:lumOff val="80000"/>
            </a:schemeClr>
          </a:solidFill>
        </p:spPr>
        <p:txBody>
          <a:bodyPr wrap="square">
            <a:spAutoFit/>
          </a:bodyPr>
          <a:lstStyle/>
          <a:p>
            <a:r>
              <a:rPr lang="en-GB" sz="1200" b="1" dirty="0">
                <a:latin typeface="Aptos" panose="020B0004020202020204" pitchFamily="34" charset="0"/>
              </a:rPr>
              <a:t>Note:</a:t>
            </a:r>
            <a:r>
              <a:rPr lang="en-GB" sz="1200" dirty="0">
                <a:latin typeface="Aptos" panose="020B0004020202020204" pitchFamily="34" charset="0"/>
              </a:rPr>
              <a:t> This is equivalent to write:</a:t>
            </a:r>
          </a:p>
          <a:p>
            <a:r>
              <a:rPr lang="en-GB" sz="1200" dirty="0">
                <a:latin typeface="Palatino Linotype" panose="02040502050505030304" pitchFamily="18" charset="0"/>
              </a:rPr>
              <a:t> </a:t>
            </a:r>
          </a:p>
          <a:p>
            <a:r>
              <a:rPr lang="en-GB" sz="1200" dirty="0">
                <a:latin typeface="Menlo" panose="020B0609030804020204" pitchFamily="49" charset="0"/>
                <a:ea typeface="Menlo" panose="020B0609030804020204" pitchFamily="49" charset="0"/>
                <a:cs typeface="Menlo" panose="020B0609030804020204" pitchFamily="49" charset="0"/>
              </a:rPr>
              <a:t>Dog(String? name, double? weight, String? </a:t>
            </a:r>
            <a:r>
              <a:rPr lang="en-GB" sz="1200" dirty="0" err="1">
                <a:latin typeface="Menlo" panose="020B0609030804020204" pitchFamily="49" charset="0"/>
                <a:ea typeface="Menlo" panose="020B0609030804020204" pitchFamily="49" charset="0"/>
                <a:cs typeface="Menlo" panose="020B0609030804020204" pitchFamily="49" charset="0"/>
              </a:rPr>
              <a:t>color</a:t>
            </a:r>
            <a:r>
              <a:rPr lang="en-GB" sz="1200" dirty="0">
                <a:latin typeface="Menlo" panose="020B0609030804020204" pitchFamily="49" charset="0"/>
                <a:ea typeface="Menlo" panose="020B0609030804020204" pitchFamily="49" charset="0"/>
                <a:cs typeface="Menlo" panose="020B0609030804020204" pitchFamily="49" charset="0"/>
              </a:rPr>
              <a:t>){</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this.name</a:t>
            </a:r>
            <a:r>
              <a:rPr lang="en-GB" sz="1200" dirty="0">
                <a:latin typeface="Menlo" panose="020B0609030804020204" pitchFamily="49" charset="0"/>
                <a:ea typeface="Menlo" panose="020B0609030804020204" pitchFamily="49" charset="0"/>
                <a:cs typeface="Menlo" panose="020B0609030804020204" pitchFamily="49" charset="0"/>
              </a:rPr>
              <a:t> = name;</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this.weight</a:t>
            </a:r>
            <a:r>
              <a:rPr lang="en-GB" sz="1200" dirty="0">
                <a:latin typeface="Menlo" panose="020B0609030804020204" pitchFamily="49" charset="0"/>
                <a:ea typeface="Menlo" panose="020B0609030804020204" pitchFamily="49" charset="0"/>
                <a:cs typeface="Menlo" panose="020B0609030804020204" pitchFamily="49" charset="0"/>
              </a:rPr>
              <a:t> = weight;</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this.color</a:t>
            </a:r>
            <a:r>
              <a:rPr lang="en-GB" sz="1200" dirty="0">
                <a:latin typeface="Menlo" panose="020B0609030804020204" pitchFamily="49" charset="0"/>
                <a:ea typeface="Menlo" panose="020B0609030804020204" pitchFamily="49" charset="0"/>
                <a:cs typeface="Menlo" panose="020B0609030804020204" pitchFamily="49" charset="0"/>
              </a:rPr>
              <a:t> = </a:t>
            </a:r>
            <a:r>
              <a:rPr lang="en-GB" sz="1200" dirty="0" err="1">
                <a:latin typeface="Menlo" panose="020B0609030804020204" pitchFamily="49" charset="0"/>
                <a:ea typeface="Menlo" panose="020B0609030804020204" pitchFamily="49" charset="0"/>
                <a:cs typeface="Menlo" panose="020B0609030804020204" pitchFamily="49" charset="0"/>
              </a:rPr>
              <a:t>color</a:t>
            </a:r>
            <a:r>
              <a:rPr lang="en-GB" sz="1200" dirty="0">
                <a:latin typeface="Menlo" panose="020B0609030804020204" pitchFamily="49" charset="0"/>
                <a:ea typeface="Menlo" panose="020B0609030804020204" pitchFamily="49" charset="0"/>
                <a:cs typeface="Menlo" panose="020B0609030804020204" pitchFamily="49" charset="0"/>
              </a:rPr>
              <a:t>;</a:t>
            </a:r>
          </a:p>
          <a:p>
            <a:r>
              <a:rPr lang="en-GB" sz="1200" dirty="0">
                <a:latin typeface="Menlo" panose="020B0609030804020204" pitchFamily="49" charset="0"/>
                <a:ea typeface="Menlo" panose="020B0609030804020204" pitchFamily="49" charset="0"/>
                <a:cs typeface="Menlo" panose="020B0609030804020204" pitchFamily="49" charset="0"/>
              </a:rPr>
              <a:t>}//Dog</a:t>
            </a:r>
          </a:p>
        </p:txBody>
      </p:sp>
      <p:cxnSp>
        <p:nvCxnSpPr>
          <p:cNvPr id="14" name="Straight Arrow Connector 13">
            <a:extLst>
              <a:ext uri="{FF2B5EF4-FFF2-40B4-BE49-F238E27FC236}">
                <a16:creationId xmlns:a16="http://schemas.microsoft.com/office/drawing/2014/main" id="{C978AA18-06AE-67E7-20D1-725EB3BA3E60}"/>
              </a:ext>
            </a:extLst>
          </p:cNvPr>
          <p:cNvCxnSpPr>
            <a:cxnSpLocks/>
            <a:endCxn id="10" idx="1"/>
          </p:cNvCxnSpPr>
          <p:nvPr/>
        </p:nvCxnSpPr>
        <p:spPr>
          <a:xfrm>
            <a:off x="4842161" y="3317966"/>
            <a:ext cx="2507679" cy="18424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86509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Constructors</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5377686"/>
          </a:xfrm>
        </p:spPr>
        <p:txBody>
          <a:bodyPr>
            <a:normAutofit fontScale="55000" lnSpcReduction="20000"/>
          </a:bodyPr>
          <a:lstStyle/>
          <a:p>
            <a:r>
              <a:rPr lang="en-GB" sz="2600" dirty="0"/>
              <a:t>As such, the </a:t>
            </a:r>
            <a:r>
              <a:rPr lang="en-GB" sz="2600" dirty="0">
                <a:latin typeface="Menlo" panose="020B0609030804020204" pitchFamily="49" charset="0"/>
                <a:ea typeface="Menlo" panose="020B0609030804020204" pitchFamily="49" charset="0"/>
                <a:cs typeface="Menlo" panose="020B0609030804020204" pitchFamily="49" charset="0"/>
              </a:rPr>
              <a:t>Dog</a:t>
            </a:r>
            <a:r>
              <a:rPr lang="en-GB" sz="2600" dirty="0"/>
              <a:t> class becomes something like:</a:t>
            </a:r>
          </a:p>
          <a:p>
            <a:endParaRPr lang="en-GB" dirty="0"/>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class</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Dog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Instance variables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name;</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a:t>
            </a:r>
            <a:r>
              <a:rPr lang="en-GB" dirty="0" err="1">
                <a:latin typeface="Menlo" panose="020B0609030804020204" pitchFamily="49" charset="0"/>
                <a:ea typeface="Menlo" panose="020B0609030804020204" pitchFamily="49" charset="0"/>
                <a:cs typeface="Menlo" panose="020B0609030804020204" pitchFamily="49" charset="0"/>
              </a:rPr>
              <a:t>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highlight>
                  <a:srgbClr val="FFFF00"/>
                </a:highlight>
                <a:latin typeface="Menlo" panose="020B0609030804020204" pitchFamily="49" charset="0"/>
                <a:ea typeface="Menlo" panose="020B0609030804020204" pitchFamily="49" charset="0"/>
                <a:cs typeface="Menlo" panose="020B0609030804020204" pitchFamily="49" charset="0"/>
              </a:rPr>
              <a:t>// --- Constructors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Dog({</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this.weight</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this.color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Dog.withName</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Dog.fuffy</a:t>
            </a:r>
            <a:r>
              <a:rPr lang="en-GB" dirty="0">
                <a:latin typeface="Menlo" panose="020B0609030804020204" pitchFamily="49" charset="0"/>
                <a:ea typeface="Menlo" panose="020B0609030804020204" pitchFamily="49" charset="0"/>
                <a:cs typeface="Menlo" panose="020B0609030804020204" pitchFamily="49" charset="0"/>
              </a:rPr>
              <a:t>() : name = ’</a:t>
            </a:r>
            <a:r>
              <a:rPr lang="en-GB" dirty="0" err="1">
                <a:latin typeface="Menlo" panose="020B0609030804020204" pitchFamily="49" charset="0"/>
                <a:ea typeface="Menlo" panose="020B0609030804020204" pitchFamily="49" charset="0"/>
                <a:cs typeface="Menlo" panose="020B0609030804020204" pitchFamily="49" charset="0"/>
              </a:rPr>
              <a:t>Fuffy</a:t>
            </a:r>
            <a:r>
              <a:rPr lang="en-GB" dirty="0">
                <a:latin typeface="Menlo" panose="020B0609030804020204" pitchFamily="49" charset="0"/>
                <a:ea typeface="Menlo" panose="020B0609030804020204" pitchFamily="49" charset="0"/>
                <a:cs typeface="Menlo" panose="020B0609030804020204" pitchFamily="49" charset="0"/>
              </a:rPr>
              <a:t>’;  </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Methods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walking!");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weight = weight! + 0.1;</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eating! I also gained 0.1 kg");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return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}//Dog</a:t>
            </a:r>
          </a:p>
        </p:txBody>
      </p:sp>
      <p:sp>
        <p:nvSpPr>
          <p:cNvPr id="3" name="Slide Number Placeholder 2">
            <a:extLst>
              <a:ext uri="{FF2B5EF4-FFF2-40B4-BE49-F238E27FC236}">
                <a16:creationId xmlns:a16="http://schemas.microsoft.com/office/drawing/2014/main" id="{0F217C00-C789-9044-BDDB-4DE986BF35A4}"/>
              </a:ext>
            </a:extLst>
          </p:cNvPr>
          <p:cNvSpPr>
            <a:spLocks noGrp="1"/>
          </p:cNvSpPr>
          <p:nvPr>
            <p:ph type="sldNum" sz="quarter" idx="12"/>
          </p:nvPr>
        </p:nvSpPr>
        <p:spPr/>
        <p:txBody>
          <a:bodyPr/>
          <a:lstStyle/>
          <a:p>
            <a:fld id="{31DE2C5B-556E-47B8-A792-024C2FCA4ACC}" type="slidenum">
              <a:rPr lang="en-GB" smtClean="0"/>
              <a:t>11</a:t>
            </a:fld>
            <a:endParaRPr lang="en-GB"/>
          </a:p>
        </p:txBody>
      </p:sp>
      <p:sp>
        <p:nvSpPr>
          <p:cNvPr id="10" name="Rectangle 9">
            <a:extLst>
              <a:ext uri="{FF2B5EF4-FFF2-40B4-BE49-F238E27FC236}">
                <a16:creationId xmlns:a16="http://schemas.microsoft.com/office/drawing/2014/main" id="{C7EEF295-3E47-A2E5-C863-377BBCFC999E}"/>
              </a:ext>
            </a:extLst>
          </p:cNvPr>
          <p:cNvSpPr/>
          <p:nvPr/>
        </p:nvSpPr>
        <p:spPr>
          <a:xfrm>
            <a:off x="7349840" y="4375571"/>
            <a:ext cx="3300742" cy="1384995"/>
          </a:xfrm>
          <a:prstGeom prst="rect">
            <a:avLst/>
          </a:prstGeom>
          <a:solidFill>
            <a:schemeClr val="accent6">
              <a:lumMod val="20000"/>
              <a:lumOff val="80000"/>
            </a:schemeClr>
          </a:solidFill>
        </p:spPr>
        <p:txBody>
          <a:bodyPr wrap="square">
            <a:spAutoFit/>
          </a:bodyPr>
          <a:lstStyle/>
          <a:p>
            <a:r>
              <a:rPr lang="en-GB" sz="1200" b="1" dirty="0">
                <a:latin typeface="Aptos" panose="020B0004020202020204" pitchFamily="34" charset="0"/>
              </a:rPr>
              <a:t>Note:</a:t>
            </a:r>
            <a:r>
              <a:rPr lang="en-GB" sz="1200" dirty="0">
                <a:latin typeface="Aptos" panose="020B0004020202020204" pitchFamily="34" charset="0"/>
              </a:rPr>
              <a:t> It is possible to define 1 unnamed constructor, and 0 or more named constructors using the </a:t>
            </a:r>
            <a:r>
              <a:rPr lang="en-GB" sz="1200" dirty="0" err="1">
                <a:latin typeface="Aptos" panose="020B0004020202020204" pitchFamily="34" charset="0"/>
              </a:rPr>
              <a:t>synthax</a:t>
            </a:r>
            <a:r>
              <a:rPr lang="en-GB" sz="1200" dirty="0">
                <a:latin typeface="Aptos" panose="020B0004020202020204" pitchFamily="34" charset="0"/>
              </a:rPr>
              <a:t>:</a:t>
            </a:r>
          </a:p>
          <a:p>
            <a:pPr marL="171450" indent="-171450">
              <a:buFont typeface="Arial" panose="020B0604020202020204" pitchFamily="34" charset="0"/>
              <a:buChar char="•"/>
            </a:pPr>
            <a:r>
              <a:rPr lang="en-GB" sz="1200" b="1" dirty="0">
                <a:latin typeface="Menlo" panose="020B0609030804020204" pitchFamily="49" charset="0"/>
                <a:ea typeface="Menlo" panose="020B0609030804020204" pitchFamily="49" charset="0"/>
                <a:cs typeface="Menlo" panose="020B0609030804020204" pitchFamily="49" charset="0"/>
              </a:rPr>
              <a:t>Unnamed</a:t>
            </a:r>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ClassName</a:t>
            </a:r>
            <a:r>
              <a:rPr lang="en-GB" sz="1200" dirty="0">
                <a:latin typeface="Menlo" panose="020B0609030804020204" pitchFamily="49" charset="0"/>
                <a:ea typeface="Menlo" panose="020B0609030804020204" pitchFamily="49" charset="0"/>
                <a:cs typeface="Menlo" panose="020B0609030804020204" pitchFamily="49" charset="0"/>
              </a:rPr>
              <a:t>(</a:t>
            </a:r>
            <a:r>
              <a:rPr lang="en-GB" sz="1200" dirty="0" err="1">
                <a:latin typeface="Menlo" panose="020B0609030804020204" pitchFamily="49" charset="0"/>
                <a:ea typeface="Menlo" panose="020B0609030804020204" pitchFamily="49" charset="0"/>
                <a:cs typeface="Menlo" panose="020B0609030804020204" pitchFamily="49" charset="0"/>
              </a:rPr>
              <a:t>parameterList</a:t>
            </a:r>
            <a:r>
              <a:rPr lang="en-GB" sz="1200" dirty="0">
                <a:latin typeface="Menlo" panose="020B0609030804020204" pitchFamily="49" charset="0"/>
                <a:ea typeface="Menlo" panose="020B0609030804020204" pitchFamily="49" charset="0"/>
                <a:cs typeface="Menlo" panose="020B0609030804020204" pitchFamily="49" charset="0"/>
              </a:rPr>
              <a:t>){}</a:t>
            </a:r>
          </a:p>
          <a:p>
            <a:pPr marL="171450" indent="-171450">
              <a:buFont typeface="Arial" panose="020B0604020202020204" pitchFamily="34" charset="0"/>
              <a:buChar char="•"/>
            </a:pPr>
            <a:r>
              <a:rPr lang="en-GB" sz="1200" b="1" dirty="0">
                <a:latin typeface="Menlo" panose="020B0609030804020204" pitchFamily="49" charset="0"/>
                <a:ea typeface="Menlo" panose="020B0609030804020204" pitchFamily="49" charset="0"/>
                <a:cs typeface="Menlo" panose="020B0609030804020204" pitchFamily="49" charset="0"/>
              </a:rPr>
              <a:t>Named</a:t>
            </a:r>
            <a:r>
              <a:rPr lang="en-GB" sz="1200" dirty="0">
                <a:latin typeface="Menlo" panose="020B0609030804020204" pitchFamily="49" charset="0"/>
                <a:ea typeface="Menlo" panose="020B0609030804020204" pitchFamily="49" charset="0"/>
                <a:cs typeface="Menlo" panose="020B0609030804020204" pitchFamily="49" charset="0"/>
              </a:rPr>
              <a:t>:</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ClassName.name</a:t>
            </a:r>
            <a:r>
              <a:rPr lang="en-GB" sz="1200" dirty="0">
                <a:latin typeface="Menlo" panose="020B0609030804020204" pitchFamily="49" charset="0"/>
                <a:ea typeface="Menlo" panose="020B0609030804020204" pitchFamily="49" charset="0"/>
                <a:cs typeface="Menlo" panose="020B0609030804020204" pitchFamily="49" charset="0"/>
              </a:rPr>
              <a:t>(</a:t>
            </a:r>
            <a:r>
              <a:rPr lang="en-GB" sz="1200" dirty="0" err="1">
                <a:latin typeface="Menlo" panose="020B0609030804020204" pitchFamily="49" charset="0"/>
                <a:ea typeface="Menlo" panose="020B0609030804020204" pitchFamily="49" charset="0"/>
                <a:cs typeface="Menlo" panose="020B0609030804020204" pitchFamily="49" charset="0"/>
              </a:rPr>
              <a:t>parameterList</a:t>
            </a:r>
            <a:r>
              <a:rPr lang="en-GB" sz="1200" dirty="0">
                <a:latin typeface="Menlo" panose="020B0609030804020204" pitchFamily="49" charset="0"/>
                <a:ea typeface="Menlo" panose="020B0609030804020204" pitchFamily="49" charset="0"/>
                <a:cs typeface="Menlo" panose="020B0609030804020204" pitchFamily="49" charset="0"/>
              </a:rPr>
              <a:t>){} </a:t>
            </a:r>
          </a:p>
        </p:txBody>
      </p:sp>
      <p:cxnSp>
        <p:nvCxnSpPr>
          <p:cNvPr id="14" name="Straight Arrow Connector 13">
            <a:extLst>
              <a:ext uri="{FF2B5EF4-FFF2-40B4-BE49-F238E27FC236}">
                <a16:creationId xmlns:a16="http://schemas.microsoft.com/office/drawing/2014/main" id="{C978AA18-06AE-67E7-20D1-725EB3BA3E60}"/>
              </a:ext>
            </a:extLst>
          </p:cNvPr>
          <p:cNvCxnSpPr>
            <a:cxnSpLocks/>
            <a:endCxn id="10" idx="1"/>
          </p:cNvCxnSpPr>
          <p:nvPr/>
        </p:nvCxnSpPr>
        <p:spPr>
          <a:xfrm>
            <a:off x="4762123" y="3585172"/>
            <a:ext cx="2587717" cy="14828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EF76DC65-22AD-B364-6131-57281EE56902}"/>
              </a:ext>
            </a:extLst>
          </p:cNvPr>
          <p:cNvSpPr/>
          <p:nvPr/>
        </p:nvSpPr>
        <p:spPr>
          <a:xfrm>
            <a:off x="9109432" y="194911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9" name="Rectangle 8">
            <a:extLst>
              <a:ext uri="{FF2B5EF4-FFF2-40B4-BE49-F238E27FC236}">
                <a16:creationId xmlns:a16="http://schemas.microsoft.com/office/drawing/2014/main" id="{37B12FE8-DB30-8709-4CAF-85749635E202}"/>
              </a:ext>
            </a:extLst>
          </p:cNvPr>
          <p:cNvSpPr/>
          <p:nvPr/>
        </p:nvSpPr>
        <p:spPr>
          <a:xfrm>
            <a:off x="9109432" y="138363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11" name="Rectangle 10">
            <a:extLst>
              <a:ext uri="{FF2B5EF4-FFF2-40B4-BE49-F238E27FC236}">
                <a16:creationId xmlns:a16="http://schemas.microsoft.com/office/drawing/2014/main" id="{D22A14B1-4F44-7955-F866-C8CDA4B15D8C}"/>
              </a:ext>
            </a:extLst>
          </p:cNvPr>
          <p:cNvSpPr/>
          <p:nvPr/>
        </p:nvSpPr>
        <p:spPr>
          <a:xfrm>
            <a:off x="9109432" y="298161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12" name="Rectangle 11">
            <a:extLst>
              <a:ext uri="{FF2B5EF4-FFF2-40B4-BE49-F238E27FC236}">
                <a16:creationId xmlns:a16="http://schemas.microsoft.com/office/drawing/2014/main" id="{4A61D107-F8BC-2CED-AF78-C1552252D53A}"/>
              </a:ext>
            </a:extLst>
          </p:cNvPr>
          <p:cNvSpPr/>
          <p:nvPr/>
        </p:nvSpPr>
        <p:spPr>
          <a:xfrm>
            <a:off x="9109430" y="1383633"/>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Tree>
    <p:extLst>
      <p:ext uri="{BB962C8B-B14F-4D97-AF65-F5344CB8AC3E}">
        <p14:creationId xmlns:p14="http://schemas.microsoft.com/office/powerpoint/2010/main" val="2243407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Constructors</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5377686"/>
          </a:xfrm>
        </p:spPr>
        <p:txBody>
          <a:bodyPr>
            <a:normAutofit fontScale="55000" lnSpcReduction="20000"/>
          </a:bodyPr>
          <a:lstStyle/>
          <a:p>
            <a:r>
              <a:rPr lang="en-GB" sz="2600" dirty="0"/>
              <a:t>As such, the </a:t>
            </a:r>
            <a:r>
              <a:rPr lang="en-GB" sz="2600" dirty="0">
                <a:latin typeface="Menlo" panose="020B0609030804020204" pitchFamily="49" charset="0"/>
                <a:ea typeface="Menlo" panose="020B0609030804020204" pitchFamily="49" charset="0"/>
                <a:cs typeface="Menlo" panose="020B0609030804020204" pitchFamily="49" charset="0"/>
              </a:rPr>
              <a:t>Dog</a:t>
            </a:r>
            <a:r>
              <a:rPr lang="en-GB" sz="2600" dirty="0"/>
              <a:t> class becomes something like:</a:t>
            </a:r>
          </a:p>
          <a:p>
            <a:endParaRPr lang="en-GB" dirty="0"/>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class</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Dog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Instance variables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name;</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a:t>
            </a:r>
            <a:r>
              <a:rPr lang="en-GB" dirty="0" err="1">
                <a:latin typeface="Menlo" panose="020B0609030804020204" pitchFamily="49" charset="0"/>
                <a:ea typeface="Menlo" panose="020B0609030804020204" pitchFamily="49" charset="0"/>
                <a:cs typeface="Menlo" panose="020B0609030804020204" pitchFamily="49" charset="0"/>
              </a:rPr>
              <a:t>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Constructors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Dog({</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this.weight</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this.color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Dog.withName</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Dog.fuffy</a:t>
            </a:r>
            <a:r>
              <a:rPr lang="en-GB" dirty="0">
                <a:highlight>
                  <a:srgbClr val="FFFF00"/>
                </a:highlight>
                <a:latin typeface="Menlo" panose="020B0609030804020204" pitchFamily="49" charset="0"/>
                <a:ea typeface="Menlo" panose="020B0609030804020204" pitchFamily="49" charset="0"/>
                <a:cs typeface="Menlo" panose="020B0609030804020204" pitchFamily="49" charset="0"/>
              </a:rPr>
              <a:t>() : name = ’</a:t>
            </a:r>
            <a:r>
              <a:rPr lang="en-GB" dirty="0" err="1">
                <a:highlight>
                  <a:srgbClr val="FFFF00"/>
                </a:highlight>
                <a:latin typeface="Menlo" panose="020B0609030804020204" pitchFamily="49" charset="0"/>
                <a:ea typeface="Menlo" panose="020B0609030804020204" pitchFamily="49" charset="0"/>
                <a:cs typeface="Menlo" panose="020B0609030804020204" pitchFamily="49" charset="0"/>
              </a:rPr>
              <a:t>Fuffy</a:t>
            </a:r>
            <a:r>
              <a:rPr lang="en-GB" dirty="0">
                <a:highlight>
                  <a:srgbClr val="FFFF00"/>
                </a:highlight>
                <a:latin typeface="Menlo" panose="020B0609030804020204" pitchFamily="49" charset="0"/>
                <a:ea typeface="Menlo" panose="020B0609030804020204" pitchFamily="49" charset="0"/>
                <a:cs typeface="Menlo" panose="020B0609030804020204" pitchFamily="49" charset="0"/>
              </a:rPr>
              <a:t>’;</a:t>
            </a:r>
            <a:r>
              <a:rPr lang="en-GB" dirty="0">
                <a:latin typeface="Menlo" panose="020B0609030804020204" pitchFamily="49" charset="0"/>
                <a:ea typeface="Menlo" panose="020B0609030804020204" pitchFamily="49" charset="0"/>
                <a:cs typeface="Menlo" panose="020B0609030804020204" pitchFamily="49" charset="0"/>
              </a:rPr>
              <a:t>  </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Methods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walking!");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weight = weight! + 0.1;</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eating! I also gained 0.1 kg");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return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}//Dog</a:t>
            </a:r>
          </a:p>
        </p:txBody>
      </p:sp>
      <p:sp>
        <p:nvSpPr>
          <p:cNvPr id="3" name="Slide Number Placeholder 2">
            <a:extLst>
              <a:ext uri="{FF2B5EF4-FFF2-40B4-BE49-F238E27FC236}">
                <a16:creationId xmlns:a16="http://schemas.microsoft.com/office/drawing/2014/main" id="{0F217C00-C789-9044-BDDB-4DE986BF35A4}"/>
              </a:ext>
            </a:extLst>
          </p:cNvPr>
          <p:cNvSpPr>
            <a:spLocks noGrp="1"/>
          </p:cNvSpPr>
          <p:nvPr>
            <p:ph type="sldNum" sz="quarter" idx="12"/>
          </p:nvPr>
        </p:nvSpPr>
        <p:spPr/>
        <p:txBody>
          <a:bodyPr/>
          <a:lstStyle/>
          <a:p>
            <a:fld id="{31DE2C5B-556E-47B8-A792-024C2FCA4ACC}" type="slidenum">
              <a:rPr lang="en-GB" smtClean="0"/>
              <a:t>12</a:t>
            </a:fld>
            <a:endParaRPr lang="en-GB"/>
          </a:p>
        </p:txBody>
      </p:sp>
      <p:sp>
        <p:nvSpPr>
          <p:cNvPr id="10" name="Rectangle 9">
            <a:extLst>
              <a:ext uri="{FF2B5EF4-FFF2-40B4-BE49-F238E27FC236}">
                <a16:creationId xmlns:a16="http://schemas.microsoft.com/office/drawing/2014/main" id="{C7EEF295-3E47-A2E5-C863-377BBCFC999E}"/>
              </a:ext>
            </a:extLst>
          </p:cNvPr>
          <p:cNvSpPr/>
          <p:nvPr/>
        </p:nvSpPr>
        <p:spPr>
          <a:xfrm>
            <a:off x="7349840" y="4375571"/>
            <a:ext cx="3300742" cy="461665"/>
          </a:xfrm>
          <a:prstGeom prst="rect">
            <a:avLst/>
          </a:prstGeom>
          <a:solidFill>
            <a:schemeClr val="accent6">
              <a:lumMod val="20000"/>
              <a:lumOff val="80000"/>
            </a:schemeClr>
          </a:solidFill>
        </p:spPr>
        <p:txBody>
          <a:bodyPr wrap="square">
            <a:spAutoFit/>
          </a:bodyPr>
          <a:lstStyle/>
          <a:p>
            <a:r>
              <a:rPr lang="en-GB" sz="1200" b="1" dirty="0">
                <a:latin typeface="Aptos" panose="020B0004020202020204" pitchFamily="34" charset="0"/>
              </a:rPr>
              <a:t>Note:</a:t>
            </a:r>
            <a:r>
              <a:rPr lang="en-GB" sz="1200" dirty="0">
                <a:latin typeface="Aptos" panose="020B0004020202020204" pitchFamily="34" charset="0"/>
              </a:rPr>
              <a:t> It is possible to use the so-called ”initializer list” syntax</a:t>
            </a:r>
          </a:p>
        </p:txBody>
      </p:sp>
      <p:cxnSp>
        <p:nvCxnSpPr>
          <p:cNvPr id="14" name="Straight Arrow Connector 13">
            <a:extLst>
              <a:ext uri="{FF2B5EF4-FFF2-40B4-BE49-F238E27FC236}">
                <a16:creationId xmlns:a16="http://schemas.microsoft.com/office/drawing/2014/main" id="{C978AA18-06AE-67E7-20D1-725EB3BA3E60}"/>
              </a:ext>
            </a:extLst>
          </p:cNvPr>
          <p:cNvCxnSpPr>
            <a:cxnSpLocks/>
            <a:endCxn id="10" idx="1"/>
          </p:cNvCxnSpPr>
          <p:nvPr/>
        </p:nvCxnSpPr>
        <p:spPr>
          <a:xfrm>
            <a:off x="3775295" y="3702867"/>
            <a:ext cx="3574545" cy="903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0961B003-299D-587C-8F94-6D6B5A2315C4}"/>
              </a:ext>
            </a:extLst>
          </p:cNvPr>
          <p:cNvSpPr/>
          <p:nvPr/>
        </p:nvSpPr>
        <p:spPr>
          <a:xfrm>
            <a:off x="9109432" y="194911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9" name="Rectangle 8">
            <a:extLst>
              <a:ext uri="{FF2B5EF4-FFF2-40B4-BE49-F238E27FC236}">
                <a16:creationId xmlns:a16="http://schemas.microsoft.com/office/drawing/2014/main" id="{EE6EDE78-038D-865D-86B6-1D5B790612CD}"/>
              </a:ext>
            </a:extLst>
          </p:cNvPr>
          <p:cNvSpPr/>
          <p:nvPr/>
        </p:nvSpPr>
        <p:spPr>
          <a:xfrm>
            <a:off x="9109432" y="138363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11" name="Rectangle 10">
            <a:extLst>
              <a:ext uri="{FF2B5EF4-FFF2-40B4-BE49-F238E27FC236}">
                <a16:creationId xmlns:a16="http://schemas.microsoft.com/office/drawing/2014/main" id="{BB5F502F-B667-7AA4-93FE-A55CADDEA836}"/>
              </a:ext>
            </a:extLst>
          </p:cNvPr>
          <p:cNvSpPr/>
          <p:nvPr/>
        </p:nvSpPr>
        <p:spPr>
          <a:xfrm>
            <a:off x="9109432" y="298161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12" name="Rectangle 11">
            <a:extLst>
              <a:ext uri="{FF2B5EF4-FFF2-40B4-BE49-F238E27FC236}">
                <a16:creationId xmlns:a16="http://schemas.microsoft.com/office/drawing/2014/main" id="{3A3B2205-4289-5E16-8690-9812074892A7}"/>
              </a:ext>
            </a:extLst>
          </p:cNvPr>
          <p:cNvSpPr/>
          <p:nvPr/>
        </p:nvSpPr>
        <p:spPr>
          <a:xfrm>
            <a:off x="9109430" y="1383633"/>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Tree>
    <p:extLst>
      <p:ext uri="{BB962C8B-B14F-4D97-AF65-F5344CB8AC3E}">
        <p14:creationId xmlns:p14="http://schemas.microsoft.com/office/powerpoint/2010/main" val="181444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Methods</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5377686"/>
          </a:xfrm>
        </p:spPr>
        <p:txBody>
          <a:bodyPr>
            <a:normAutofit fontScale="55000" lnSpcReduction="20000"/>
          </a:bodyPr>
          <a:lstStyle/>
          <a:p>
            <a:r>
              <a:rPr lang="en-GB" sz="2600" dirty="0"/>
              <a:t>As such, the </a:t>
            </a:r>
            <a:r>
              <a:rPr lang="en-GB" sz="2600" dirty="0">
                <a:latin typeface="Menlo" panose="020B0609030804020204" pitchFamily="49" charset="0"/>
                <a:ea typeface="Menlo" panose="020B0609030804020204" pitchFamily="49" charset="0"/>
                <a:cs typeface="Menlo" panose="020B0609030804020204" pitchFamily="49" charset="0"/>
              </a:rPr>
              <a:t>Dog</a:t>
            </a:r>
            <a:r>
              <a:rPr lang="en-GB" sz="2600" dirty="0"/>
              <a:t> class becomes something like:</a:t>
            </a:r>
          </a:p>
          <a:p>
            <a:endParaRPr lang="en-GB" dirty="0"/>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class</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Dog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Instance variables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name;</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String? </a:t>
            </a:r>
            <a:r>
              <a:rPr lang="en-GB" dirty="0" err="1">
                <a:latin typeface="Menlo" panose="020B0609030804020204" pitchFamily="49" charset="0"/>
                <a:ea typeface="Menlo" panose="020B0609030804020204" pitchFamily="49" charset="0"/>
                <a:cs typeface="Menlo" panose="020B0609030804020204" pitchFamily="49" charset="0"/>
              </a:rPr>
              <a:t>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 --- Constructors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Dog({</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this.weight</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this.color</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Dog.withName</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this.name</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Dog.fuffy</a:t>
            </a:r>
            <a:r>
              <a:rPr lang="en-GB" dirty="0">
                <a:latin typeface="Menlo" panose="020B0609030804020204" pitchFamily="49" charset="0"/>
                <a:ea typeface="Menlo" panose="020B0609030804020204" pitchFamily="49" charset="0"/>
                <a:cs typeface="Menlo" panose="020B0609030804020204" pitchFamily="49" charset="0"/>
              </a:rPr>
              <a:t>() : name = ’</a:t>
            </a:r>
            <a:r>
              <a:rPr lang="en-GB" dirty="0" err="1">
                <a:latin typeface="Menlo" panose="020B0609030804020204" pitchFamily="49" charset="0"/>
                <a:ea typeface="Menlo" panose="020B0609030804020204" pitchFamily="49" charset="0"/>
                <a:cs typeface="Menlo" panose="020B0609030804020204" pitchFamily="49" charset="0"/>
              </a:rPr>
              <a:t>Fuffy</a:t>
            </a:r>
            <a:r>
              <a:rPr lang="en-GB" dirty="0">
                <a:latin typeface="Menlo" panose="020B0609030804020204" pitchFamily="49" charset="0"/>
                <a:ea typeface="Menlo" panose="020B0609030804020204" pitchFamily="49" charset="0"/>
                <a:cs typeface="Menlo" panose="020B0609030804020204" pitchFamily="49" charset="0"/>
              </a:rPr>
              <a:t>’;  </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highlight>
                  <a:srgbClr val="FFFF00"/>
                </a:highlight>
                <a:latin typeface="Menlo" panose="020B0609030804020204" pitchFamily="49" charset="0"/>
                <a:ea typeface="Menlo" panose="020B0609030804020204" pitchFamily="49" charset="0"/>
                <a:cs typeface="Menlo" panose="020B0609030804020204" pitchFamily="49" charset="0"/>
              </a:rPr>
              <a:t>// --- Methods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}//bark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void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walking!");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}//walk</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double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weight = weight! + 0.1;</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print("I'm eating! I also gained 0.1 kg");</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return weight!;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}//eat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}//Dog</a:t>
            </a:r>
          </a:p>
        </p:txBody>
      </p:sp>
      <p:sp>
        <p:nvSpPr>
          <p:cNvPr id="3" name="Slide Number Placeholder 2">
            <a:extLst>
              <a:ext uri="{FF2B5EF4-FFF2-40B4-BE49-F238E27FC236}">
                <a16:creationId xmlns:a16="http://schemas.microsoft.com/office/drawing/2014/main" id="{0F217C00-C789-9044-BDDB-4DE986BF35A4}"/>
              </a:ext>
            </a:extLst>
          </p:cNvPr>
          <p:cNvSpPr>
            <a:spLocks noGrp="1"/>
          </p:cNvSpPr>
          <p:nvPr>
            <p:ph type="sldNum" sz="quarter" idx="12"/>
          </p:nvPr>
        </p:nvSpPr>
        <p:spPr/>
        <p:txBody>
          <a:bodyPr/>
          <a:lstStyle/>
          <a:p>
            <a:fld id="{31DE2C5B-556E-47B8-A792-024C2FCA4ACC}" type="slidenum">
              <a:rPr lang="en-GB" smtClean="0"/>
              <a:t>13</a:t>
            </a:fld>
            <a:endParaRPr lang="en-GB"/>
          </a:p>
        </p:txBody>
      </p:sp>
      <p:sp>
        <p:nvSpPr>
          <p:cNvPr id="10" name="Rectangle 9">
            <a:extLst>
              <a:ext uri="{FF2B5EF4-FFF2-40B4-BE49-F238E27FC236}">
                <a16:creationId xmlns:a16="http://schemas.microsoft.com/office/drawing/2014/main" id="{C7EEF295-3E47-A2E5-C863-377BBCFC999E}"/>
              </a:ext>
            </a:extLst>
          </p:cNvPr>
          <p:cNvSpPr/>
          <p:nvPr/>
        </p:nvSpPr>
        <p:spPr>
          <a:xfrm>
            <a:off x="7349840" y="4375571"/>
            <a:ext cx="3300742" cy="738664"/>
          </a:xfrm>
          <a:prstGeom prst="rect">
            <a:avLst/>
          </a:prstGeom>
          <a:solidFill>
            <a:schemeClr val="accent6">
              <a:lumMod val="20000"/>
              <a:lumOff val="80000"/>
            </a:schemeClr>
          </a:solidFill>
        </p:spPr>
        <p:txBody>
          <a:bodyPr wrap="square">
            <a:spAutoFit/>
          </a:bodyPr>
          <a:lstStyle/>
          <a:p>
            <a:r>
              <a:rPr lang="en-GB" sz="1400" b="1" dirty="0">
                <a:latin typeface="Aptos" panose="020B0004020202020204" pitchFamily="34" charset="0"/>
              </a:rPr>
              <a:t>Note:</a:t>
            </a:r>
            <a:r>
              <a:rPr lang="en-GB" sz="1400" dirty="0">
                <a:latin typeface="Aptos" panose="020B0004020202020204" pitchFamily="34" charset="0"/>
              </a:rPr>
              <a:t> Methods defines the behaviour of an object. Defining a method is similar to defining a function.</a:t>
            </a:r>
          </a:p>
        </p:txBody>
      </p:sp>
      <p:cxnSp>
        <p:nvCxnSpPr>
          <p:cNvPr id="14" name="Straight Arrow Connector 13">
            <a:extLst>
              <a:ext uri="{FF2B5EF4-FFF2-40B4-BE49-F238E27FC236}">
                <a16:creationId xmlns:a16="http://schemas.microsoft.com/office/drawing/2014/main" id="{C978AA18-06AE-67E7-20D1-725EB3BA3E60}"/>
              </a:ext>
            </a:extLst>
          </p:cNvPr>
          <p:cNvCxnSpPr>
            <a:cxnSpLocks/>
            <a:endCxn id="10" idx="1"/>
          </p:cNvCxnSpPr>
          <p:nvPr/>
        </p:nvCxnSpPr>
        <p:spPr>
          <a:xfrm>
            <a:off x="2838203" y="4144488"/>
            <a:ext cx="4511637" cy="6004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Content Placeholder 2">
            <a:extLst>
              <a:ext uri="{FF2B5EF4-FFF2-40B4-BE49-F238E27FC236}">
                <a16:creationId xmlns:a16="http://schemas.microsoft.com/office/drawing/2014/main" id="{43096DCF-19A3-0828-B4AC-BB743F49DCFF}"/>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a:t>
            </a:r>
            <a:r>
              <a:rPr lang="en-IT" sz="1600" dirty="0">
                <a:latin typeface="Aptos" panose="020B0004020202020204" pitchFamily="34" charset="0"/>
                <a:ea typeface="Palatino" pitchFamily="2" charset="77"/>
              </a:rPr>
              <a:t>_part2/dog.dart</a:t>
            </a:r>
          </a:p>
        </p:txBody>
      </p:sp>
      <p:sp>
        <p:nvSpPr>
          <p:cNvPr id="8" name="Rectangle 7">
            <a:extLst>
              <a:ext uri="{FF2B5EF4-FFF2-40B4-BE49-F238E27FC236}">
                <a16:creationId xmlns:a16="http://schemas.microsoft.com/office/drawing/2014/main" id="{322F8C46-0BCD-4ED6-BA1B-DDD54E86C366}"/>
              </a:ext>
            </a:extLst>
          </p:cNvPr>
          <p:cNvSpPr/>
          <p:nvPr/>
        </p:nvSpPr>
        <p:spPr>
          <a:xfrm>
            <a:off x="9109432" y="194911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9" name="Rectangle 8">
            <a:extLst>
              <a:ext uri="{FF2B5EF4-FFF2-40B4-BE49-F238E27FC236}">
                <a16:creationId xmlns:a16="http://schemas.microsoft.com/office/drawing/2014/main" id="{E3FDF012-DA99-83CF-C202-4EED3741D11B}"/>
              </a:ext>
            </a:extLst>
          </p:cNvPr>
          <p:cNvSpPr/>
          <p:nvPr/>
        </p:nvSpPr>
        <p:spPr>
          <a:xfrm>
            <a:off x="9109432" y="138363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11" name="Rectangle 10">
            <a:extLst>
              <a:ext uri="{FF2B5EF4-FFF2-40B4-BE49-F238E27FC236}">
                <a16:creationId xmlns:a16="http://schemas.microsoft.com/office/drawing/2014/main" id="{82840ECF-019F-CD2D-75A5-0CE08BA3754E}"/>
              </a:ext>
            </a:extLst>
          </p:cNvPr>
          <p:cNvSpPr/>
          <p:nvPr/>
        </p:nvSpPr>
        <p:spPr>
          <a:xfrm>
            <a:off x="9109432" y="298161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12" name="Rectangle 11">
            <a:extLst>
              <a:ext uri="{FF2B5EF4-FFF2-40B4-BE49-F238E27FC236}">
                <a16:creationId xmlns:a16="http://schemas.microsoft.com/office/drawing/2014/main" id="{BA3C6BEE-7521-721A-842F-26F420666778}"/>
              </a:ext>
            </a:extLst>
          </p:cNvPr>
          <p:cNvSpPr/>
          <p:nvPr/>
        </p:nvSpPr>
        <p:spPr>
          <a:xfrm>
            <a:off x="9109430" y="1383633"/>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Tree>
    <p:extLst>
      <p:ext uri="{BB962C8B-B14F-4D97-AF65-F5344CB8AC3E}">
        <p14:creationId xmlns:p14="http://schemas.microsoft.com/office/powerpoint/2010/main" val="195644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Using a class</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4991889"/>
          </a:xfrm>
        </p:spPr>
        <p:txBody>
          <a:bodyPr>
            <a:normAutofit fontScale="85000" lnSpcReduction="20000"/>
          </a:bodyPr>
          <a:lstStyle/>
          <a:p>
            <a:r>
              <a:rPr lang="en-GB" dirty="0"/>
              <a:t>Let’s see how to use a class in a simple snippet of code:</a:t>
            </a:r>
          </a:p>
          <a:p>
            <a:endParaRPr lang="en-GB" dirty="0"/>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import '</a:t>
            </a:r>
            <a:r>
              <a:rPr lang="en-GB" b="1" dirty="0" err="1">
                <a:latin typeface="Menlo" panose="020B0609030804020204" pitchFamily="49" charset="0"/>
                <a:ea typeface="Menlo" panose="020B0609030804020204" pitchFamily="49" charset="0"/>
                <a:cs typeface="Menlo" panose="020B0609030804020204" pitchFamily="49" charset="0"/>
              </a:rPr>
              <a:t>dog.dart</a:t>
            </a:r>
            <a:r>
              <a:rPr lang="en-GB" b="1"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//Here, I am creating an instance of the class Dog using the defined constructor.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//In other words, d is an object of class Dog.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final d = Dog(name: 'Bob', weight: 10, </a:t>
            </a:r>
            <a:r>
              <a:rPr lang="en-GB" b="1" dirty="0" err="1">
                <a:latin typeface="Menlo" panose="020B0609030804020204" pitchFamily="49" charset="0"/>
                <a:ea typeface="Menlo" panose="020B0609030804020204" pitchFamily="49" charset="0"/>
                <a:cs typeface="Menlo" panose="020B0609030804020204" pitchFamily="49" charset="0"/>
              </a:rPr>
              <a:t>color</a:t>
            </a:r>
            <a:r>
              <a:rPr lang="en-GB" b="1" dirty="0">
                <a:latin typeface="Menlo" panose="020B0609030804020204" pitchFamily="49" charset="0"/>
                <a:ea typeface="Menlo" panose="020B0609030804020204" pitchFamily="49" charset="0"/>
                <a:cs typeface="Menlo" panose="020B0609030804020204" pitchFamily="49" charset="0"/>
              </a:rPr>
              <a:t>: 'Black');</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//Here, I'm using a method of d</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err="1">
                <a:latin typeface="Menlo" panose="020B0609030804020204" pitchFamily="49" charset="0"/>
                <a:ea typeface="Menlo" panose="020B0609030804020204" pitchFamily="49" charset="0"/>
                <a:cs typeface="Menlo" panose="020B0609030804020204" pitchFamily="49" charset="0"/>
              </a:rPr>
              <a:t>d.bark</a:t>
            </a:r>
            <a:r>
              <a:rPr lang="en-GB" b="1" dirty="0">
                <a:latin typeface="Menlo" panose="020B0609030804020204" pitchFamily="49" charset="0"/>
                <a:ea typeface="Menlo" panose="020B0609030804020204" pitchFamily="49" charset="0"/>
                <a:cs typeface="Menlo" panose="020B0609030804020204" pitchFamily="49" charset="0"/>
              </a:rPr>
              <a:t>();</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//Instance variables are accessible by default in Dart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print('d weights ${</a:t>
            </a:r>
            <a:r>
              <a:rPr lang="en-GB" b="1" dirty="0" err="1">
                <a:latin typeface="Menlo" panose="020B0609030804020204" pitchFamily="49" charset="0"/>
                <a:ea typeface="Menlo" panose="020B0609030804020204" pitchFamily="49" charset="0"/>
                <a:cs typeface="Menlo" panose="020B0609030804020204" pitchFamily="49" charset="0"/>
              </a:rPr>
              <a:t>d</a:t>
            </a:r>
            <a:r>
              <a:rPr lang="en-GB" b="1" dirty="0" err="1">
                <a:highlight>
                  <a:srgbClr val="FFFF00"/>
                </a:highlight>
                <a:latin typeface="Menlo" panose="020B0609030804020204" pitchFamily="49" charset="0"/>
                <a:ea typeface="Menlo" panose="020B0609030804020204" pitchFamily="49" charset="0"/>
                <a:cs typeface="Menlo" panose="020B0609030804020204" pitchFamily="49" charset="0"/>
              </a:rPr>
              <a:t>.</a:t>
            </a:r>
            <a:r>
              <a:rPr lang="en-GB" b="1" dirty="0" err="1">
                <a:latin typeface="Menlo" panose="020B0609030804020204" pitchFamily="49" charset="0"/>
                <a:ea typeface="Menlo" panose="020B0609030804020204" pitchFamily="49" charset="0"/>
                <a:cs typeface="Menlo" panose="020B0609030804020204" pitchFamily="49" charset="0"/>
              </a:rPr>
              <a:t>weight</a:t>
            </a:r>
            <a:r>
              <a:rPr lang="en-GB" b="1" dirty="0">
                <a:latin typeface="Menlo" panose="020B0609030804020204" pitchFamily="49" charset="0"/>
                <a:ea typeface="Menlo" panose="020B0609030804020204" pitchFamily="49" charset="0"/>
                <a:cs typeface="Menlo" panose="020B0609030804020204" pitchFamily="49" charset="0"/>
              </a:rPr>
              <a:t>} kg');</a:t>
            </a:r>
          </a:p>
          <a:p>
            <a:pPr marL="457200" lvl="1" indent="0">
              <a:buNone/>
            </a:pPr>
            <a:r>
              <a:rPr lang="en-GB" b="1" dirty="0">
                <a:latin typeface="Menlo" panose="020B0609030804020204" pitchFamily="49" charset="0"/>
                <a:ea typeface="Menlo" panose="020B0609030804020204" pitchFamily="49" charset="0"/>
                <a:cs typeface="Menlo" panose="020B0609030804020204" pitchFamily="49" charset="0"/>
              </a:rPr>
              <a:t>  print('d weights ${</a:t>
            </a:r>
            <a:r>
              <a:rPr lang="en-GB" b="1" dirty="0" err="1">
                <a:latin typeface="Menlo" panose="020B0609030804020204" pitchFamily="49" charset="0"/>
                <a:ea typeface="Menlo" panose="020B0609030804020204" pitchFamily="49" charset="0"/>
                <a:cs typeface="Menlo" panose="020B0609030804020204" pitchFamily="49" charset="0"/>
              </a:rPr>
              <a:t>d</a:t>
            </a:r>
            <a:r>
              <a:rPr lang="en-GB" b="1" dirty="0" err="1">
                <a:highlight>
                  <a:srgbClr val="FFFF00"/>
                </a:highlight>
                <a:latin typeface="Menlo" panose="020B0609030804020204" pitchFamily="49" charset="0"/>
                <a:ea typeface="Menlo" panose="020B0609030804020204" pitchFamily="49" charset="0"/>
                <a:cs typeface="Menlo" panose="020B0609030804020204" pitchFamily="49" charset="0"/>
              </a:rPr>
              <a:t>.</a:t>
            </a:r>
            <a:r>
              <a:rPr lang="en-GB" b="1" dirty="0" err="1">
                <a:latin typeface="Menlo" panose="020B0609030804020204" pitchFamily="49" charset="0"/>
                <a:ea typeface="Menlo" panose="020B0609030804020204" pitchFamily="49" charset="0"/>
                <a:cs typeface="Menlo" panose="020B0609030804020204" pitchFamily="49" charset="0"/>
              </a:rPr>
              <a:t>eat</a:t>
            </a:r>
            <a:r>
              <a:rPr lang="en-GB" b="1" dirty="0">
                <a:latin typeface="Menlo" panose="020B0609030804020204" pitchFamily="49" charset="0"/>
                <a:ea typeface="Menlo" panose="020B0609030804020204" pitchFamily="49" charset="0"/>
                <a:cs typeface="Menlo" panose="020B0609030804020204" pitchFamily="49" charset="0"/>
              </a:rPr>
              <a:t>()} kg’);</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}//main</a:t>
            </a:r>
          </a:p>
        </p:txBody>
      </p:sp>
      <p:sp>
        <p:nvSpPr>
          <p:cNvPr id="8" name="Content Placeholder 2">
            <a:extLst>
              <a:ext uri="{FF2B5EF4-FFF2-40B4-BE49-F238E27FC236}">
                <a16:creationId xmlns:a16="http://schemas.microsoft.com/office/drawing/2014/main" id="{665D1DF4-EEF9-E44B-AC2E-851D28FD5A49}"/>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use_dog.dart</a:t>
            </a:r>
          </a:p>
        </p:txBody>
      </p:sp>
      <p:sp>
        <p:nvSpPr>
          <p:cNvPr id="3" name="Slide Number Placeholder 2">
            <a:extLst>
              <a:ext uri="{FF2B5EF4-FFF2-40B4-BE49-F238E27FC236}">
                <a16:creationId xmlns:a16="http://schemas.microsoft.com/office/drawing/2014/main" id="{524DD07C-895F-A947-B638-5454DEA0CE73}"/>
              </a:ext>
            </a:extLst>
          </p:cNvPr>
          <p:cNvSpPr>
            <a:spLocks noGrp="1"/>
          </p:cNvSpPr>
          <p:nvPr>
            <p:ph type="sldNum" sz="quarter" idx="12"/>
          </p:nvPr>
        </p:nvSpPr>
        <p:spPr/>
        <p:txBody>
          <a:bodyPr/>
          <a:lstStyle/>
          <a:p>
            <a:fld id="{31DE2C5B-556E-47B8-A792-024C2FCA4ACC}" type="slidenum">
              <a:rPr lang="en-GB" smtClean="0"/>
              <a:t>14</a:t>
            </a:fld>
            <a:endParaRPr lang="en-GB"/>
          </a:p>
        </p:txBody>
      </p:sp>
      <p:sp>
        <p:nvSpPr>
          <p:cNvPr id="10" name="Content Placeholder 2">
            <a:extLst>
              <a:ext uri="{FF2B5EF4-FFF2-40B4-BE49-F238E27FC236}">
                <a16:creationId xmlns:a16="http://schemas.microsoft.com/office/drawing/2014/main" id="{513F2739-1D13-7D46-9CD8-A6AC26A0B1F9}"/>
              </a:ext>
            </a:extLst>
          </p:cNvPr>
          <p:cNvSpPr txBox="1">
            <a:spLocks/>
          </p:cNvSpPr>
          <p:nvPr/>
        </p:nvSpPr>
        <p:spPr>
          <a:xfrm>
            <a:off x="9109430" y="4790770"/>
            <a:ext cx="2654398" cy="112290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We can access to methods and instance variables through the </a:t>
            </a:r>
            <a:r>
              <a:rPr lang="en-IT" sz="1600" b="1" dirty="0">
                <a:latin typeface="Aptos" panose="020B0004020202020204" pitchFamily="34" charset="0"/>
                <a:ea typeface="Palatino" pitchFamily="2" charset="77"/>
              </a:rPr>
              <a:t>dot notation</a:t>
            </a:r>
          </a:p>
        </p:txBody>
      </p:sp>
      <p:cxnSp>
        <p:nvCxnSpPr>
          <p:cNvPr id="11" name="Straight Arrow Connector 10">
            <a:extLst>
              <a:ext uri="{FF2B5EF4-FFF2-40B4-BE49-F238E27FC236}">
                <a16:creationId xmlns:a16="http://schemas.microsoft.com/office/drawing/2014/main" id="{8726A7E9-0929-BB49-B273-1F74366E0502}"/>
              </a:ext>
            </a:extLst>
          </p:cNvPr>
          <p:cNvCxnSpPr>
            <a:cxnSpLocks/>
            <a:stCxn id="10" idx="1"/>
          </p:cNvCxnSpPr>
          <p:nvPr/>
        </p:nvCxnSpPr>
        <p:spPr>
          <a:xfrm flipH="1" flipV="1">
            <a:off x="5679583" y="5280338"/>
            <a:ext cx="3429847" cy="718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6F8EF966-2060-3991-C46F-566475999ACB}"/>
              </a:ext>
            </a:extLst>
          </p:cNvPr>
          <p:cNvSpPr/>
          <p:nvPr/>
        </p:nvSpPr>
        <p:spPr>
          <a:xfrm>
            <a:off x="9109432" y="194911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a:p>
            <a:pPr algn="ctr"/>
            <a:r>
              <a:rPr lang="en-IT" b="1" dirty="0">
                <a:latin typeface="Aptos" panose="020B0004020202020204" pitchFamily="34" charset="0"/>
              </a:rPr>
              <a:t>color</a:t>
            </a:r>
          </a:p>
        </p:txBody>
      </p:sp>
      <p:sp>
        <p:nvSpPr>
          <p:cNvPr id="12" name="Rectangle 11">
            <a:extLst>
              <a:ext uri="{FF2B5EF4-FFF2-40B4-BE49-F238E27FC236}">
                <a16:creationId xmlns:a16="http://schemas.microsoft.com/office/drawing/2014/main" id="{7EF20AC1-C199-3C06-8757-4B2260B9F2A1}"/>
              </a:ext>
            </a:extLst>
          </p:cNvPr>
          <p:cNvSpPr/>
          <p:nvPr/>
        </p:nvSpPr>
        <p:spPr>
          <a:xfrm>
            <a:off x="9109432" y="138363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Dog</a:t>
            </a:r>
          </a:p>
        </p:txBody>
      </p:sp>
      <p:sp>
        <p:nvSpPr>
          <p:cNvPr id="13" name="Rectangle 12">
            <a:extLst>
              <a:ext uri="{FF2B5EF4-FFF2-40B4-BE49-F238E27FC236}">
                <a16:creationId xmlns:a16="http://schemas.microsoft.com/office/drawing/2014/main" id="{A16DAE94-EAA0-D3EC-7015-A2C311F9AB39}"/>
              </a:ext>
            </a:extLst>
          </p:cNvPr>
          <p:cNvSpPr/>
          <p:nvPr/>
        </p:nvSpPr>
        <p:spPr>
          <a:xfrm>
            <a:off x="9109432" y="2981612"/>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bark()</a:t>
            </a:r>
          </a:p>
          <a:p>
            <a:pPr algn="ctr"/>
            <a:r>
              <a:rPr lang="en-IT" b="1" dirty="0">
                <a:latin typeface="Aptos" panose="020B0004020202020204" pitchFamily="34" charset="0"/>
              </a:rPr>
              <a:t>walk()</a:t>
            </a:r>
          </a:p>
          <a:p>
            <a:pPr algn="ctr"/>
            <a:r>
              <a:rPr lang="en-IT" b="1" dirty="0">
                <a:latin typeface="Aptos" panose="020B0004020202020204" pitchFamily="34" charset="0"/>
              </a:rPr>
              <a:t>eat()</a:t>
            </a:r>
          </a:p>
        </p:txBody>
      </p:sp>
      <p:sp>
        <p:nvSpPr>
          <p:cNvPr id="14" name="Rectangle 13">
            <a:extLst>
              <a:ext uri="{FF2B5EF4-FFF2-40B4-BE49-F238E27FC236}">
                <a16:creationId xmlns:a16="http://schemas.microsoft.com/office/drawing/2014/main" id="{64F67F7E-EA54-70B3-D859-4219CE2D2898}"/>
              </a:ext>
            </a:extLst>
          </p:cNvPr>
          <p:cNvSpPr/>
          <p:nvPr/>
        </p:nvSpPr>
        <p:spPr>
          <a:xfrm>
            <a:off x="9109430" y="1383633"/>
            <a:ext cx="2687056" cy="263047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Tree>
    <p:extLst>
      <p:ext uri="{BB962C8B-B14F-4D97-AF65-F5344CB8AC3E}">
        <p14:creationId xmlns:p14="http://schemas.microsoft.com/office/powerpoint/2010/main" val="854430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b="1" dirty="0"/>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dirty="0">
                <a:solidFill>
                  <a:schemeClr val="bg2">
                    <a:lumMod val="90000"/>
                  </a:schemeClr>
                </a:solidFill>
              </a:rPr>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15</a:t>
            </a:fld>
            <a:endParaRPr lang="en-GB"/>
          </a:p>
        </p:txBody>
      </p:sp>
    </p:spTree>
    <p:extLst>
      <p:ext uri="{BB962C8B-B14F-4D97-AF65-F5344CB8AC3E}">
        <p14:creationId xmlns:p14="http://schemas.microsoft.com/office/powerpoint/2010/main" val="2923937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Inheritance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6569322" cy="5334907"/>
          </a:xfrm>
        </p:spPr>
        <p:txBody>
          <a:bodyPr>
            <a:normAutofit fontScale="92500" lnSpcReduction="10000"/>
          </a:bodyPr>
          <a:lstStyle/>
          <a:p>
            <a:r>
              <a:rPr lang="en-IT" dirty="0"/>
              <a:t>OOP provides a modular and hierchical organizing structure for reusing code: </a:t>
            </a:r>
            <a:r>
              <a:rPr lang="en-IT" b="1" dirty="0"/>
              <a:t>inheritance.</a:t>
            </a:r>
          </a:p>
          <a:p>
            <a:endParaRPr lang="en-IT" b="1" dirty="0"/>
          </a:p>
          <a:p>
            <a:r>
              <a:rPr lang="en-IT" b="1" dirty="0"/>
              <a:t>Inheritance </a:t>
            </a:r>
            <a:r>
              <a:rPr lang="en-IT" dirty="0"/>
              <a:t>allows to design ”general classes” (e.g., Animal) that can be specialized to more particular ones (e.g., Cat, Koala, Eagle). </a:t>
            </a:r>
          </a:p>
          <a:p>
            <a:pPr marL="0" indent="0">
              <a:buNone/>
            </a:pPr>
            <a:endParaRPr lang="en-IT" dirty="0"/>
          </a:p>
          <a:p>
            <a:r>
              <a:rPr lang="en-IT" dirty="0"/>
              <a:t>The general class is the so-called </a:t>
            </a:r>
            <a:r>
              <a:rPr lang="en-IT" b="1" dirty="0"/>
              <a:t>superclass</a:t>
            </a:r>
            <a:r>
              <a:rPr lang="en-IT" dirty="0"/>
              <a:t>, the specialized class is the so-called </a:t>
            </a:r>
            <a:r>
              <a:rPr lang="en-IT" b="1" dirty="0"/>
              <a:t>subclass.</a:t>
            </a:r>
          </a:p>
          <a:p>
            <a:endParaRPr lang="en-IT" dirty="0"/>
          </a:p>
          <a:p>
            <a:r>
              <a:rPr lang="en-IT" dirty="0"/>
              <a:t>The subclass </a:t>
            </a:r>
            <a:r>
              <a:rPr lang="en-IT" b="1" dirty="0"/>
              <a:t>inherits </a:t>
            </a:r>
            <a:r>
              <a:rPr lang="en-IT" dirty="0"/>
              <a:t>the instance variables and methods of the superclass and </a:t>
            </a:r>
            <a:r>
              <a:rPr lang="en-IT" b="1" dirty="0"/>
              <a:t>extends </a:t>
            </a:r>
            <a:r>
              <a:rPr lang="en-IT" dirty="0"/>
              <a:t>it with additional instance variables and methods.</a:t>
            </a:r>
          </a:p>
          <a:p>
            <a:endParaRPr lang="en-IT" dirty="0"/>
          </a:p>
          <a:p>
            <a:r>
              <a:rPr lang="en-IT" dirty="0"/>
              <a:t>Everything is an </a:t>
            </a:r>
            <a:r>
              <a:rPr lang="en-IT" b="1" dirty="0">
                <a:latin typeface="Menlo" panose="020B0609030804020204" pitchFamily="49" charset="0"/>
                <a:ea typeface="Menlo" panose="020B0609030804020204" pitchFamily="49" charset="0"/>
                <a:cs typeface="Menlo" panose="020B0609030804020204" pitchFamily="49" charset="0"/>
              </a:rPr>
              <a:t>Object</a:t>
            </a:r>
            <a:r>
              <a:rPr lang="en-IT" dirty="0"/>
              <a:t> (actually </a:t>
            </a:r>
            <a:r>
              <a:rPr lang="en-IT" b="1" dirty="0">
                <a:latin typeface="Menlo" panose="020B0609030804020204" pitchFamily="49" charset="0"/>
                <a:ea typeface="Menlo" panose="020B0609030804020204" pitchFamily="49" charset="0"/>
                <a:cs typeface="Menlo" panose="020B0609030804020204" pitchFamily="49" charset="0"/>
              </a:rPr>
              <a:t>Object?</a:t>
            </a:r>
            <a:r>
              <a:rPr lang="en-IT" dirty="0"/>
              <a:t>)</a:t>
            </a:r>
          </a:p>
          <a:p>
            <a:endParaRPr lang="en-IT" dirty="0"/>
          </a:p>
          <a:p>
            <a:endParaRPr lang="en-IT" dirty="0"/>
          </a:p>
          <a:p>
            <a:pPr marL="0" indent="0">
              <a:buNone/>
            </a:pPr>
            <a:endParaRPr lang="en-IT" dirty="0"/>
          </a:p>
        </p:txBody>
      </p:sp>
      <p:pic>
        <p:nvPicPr>
          <p:cNvPr id="6" name="Graphic 5" descr="Cat outline">
            <a:extLst>
              <a:ext uri="{FF2B5EF4-FFF2-40B4-BE49-F238E27FC236}">
                <a16:creationId xmlns:a16="http://schemas.microsoft.com/office/drawing/2014/main" id="{21820477-7FAF-1C4A-9999-25A2B58BECB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02000" y="4809933"/>
            <a:ext cx="1455700" cy="1455700"/>
          </a:xfrm>
          <a:prstGeom prst="rect">
            <a:avLst/>
          </a:prstGeom>
        </p:spPr>
      </p:pic>
      <p:sp>
        <p:nvSpPr>
          <p:cNvPr id="15" name="Content Placeholder 2">
            <a:extLst>
              <a:ext uri="{FF2B5EF4-FFF2-40B4-BE49-F238E27FC236}">
                <a16:creationId xmlns:a16="http://schemas.microsoft.com/office/drawing/2014/main" id="{D60E087C-6C95-A843-BE47-18C94DD4BA1B}"/>
              </a:ext>
            </a:extLst>
          </p:cNvPr>
          <p:cNvSpPr txBox="1">
            <a:spLocks/>
          </p:cNvSpPr>
          <p:nvPr/>
        </p:nvSpPr>
        <p:spPr>
          <a:xfrm>
            <a:off x="7311886" y="6236023"/>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Cat</a:t>
            </a:r>
          </a:p>
        </p:txBody>
      </p:sp>
      <p:cxnSp>
        <p:nvCxnSpPr>
          <p:cNvPr id="20" name="Straight Arrow Connector 19">
            <a:extLst>
              <a:ext uri="{FF2B5EF4-FFF2-40B4-BE49-F238E27FC236}">
                <a16:creationId xmlns:a16="http://schemas.microsoft.com/office/drawing/2014/main" id="{FC049198-D63B-0C4C-B552-2F38E0DCF4F8}"/>
              </a:ext>
            </a:extLst>
          </p:cNvPr>
          <p:cNvCxnSpPr>
            <a:cxnSpLocks/>
            <a:stCxn id="23" idx="4"/>
            <a:endCxn id="6" idx="0"/>
          </p:cNvCxnSpPr>
          <p:nvPr/>
        </p:nvCxnSpPr>
        <p:spPr>
          <a:xfrm flipH="1">
            <a:off x="8529850" y="3866485"/>
            <a:ext cx="1833723" cy="9434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E235D909-FD39-AE47-A81A-E5884C0AFB31}"/>
              </a:ext>
            </a:extLst>
          </p:cNvPr>
          <p:cNvCxnSpPr>
            <a:cxnSpLocks/>
            <a:stCxn id="23" idx="4"/>
            <a:endCxn id="9" idx="0"/>
          </p:cNvCxnSpPr>
          <p:nvPr/>
        </p:nvCxnSpPr>
        <p:spPr>
          <a:xfrm flipH="1">
            <a:off x="10198677" y="3866485"/>
            <a:ext cx="164896" cy="9689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0C08F598-9DA8-2446-ACAE-51072758020A}"/>
              </a:ext>
            </a:extLst>
          </p:cNvPr>
          <p:cNvCxnSpPr>
            <a:cxnSpLocks/>
            <a:stCxn id="23" idx="4"/>
          </p:cNvCxnSpPr>
          <p:nvPr/>
        </p:nvCxnSpPr>
        <p:spPr>
          <a:xfrm>
            <a:off x="10363573" y="3866485"/>
            <a:ext cx="1020154" cy="938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9" name="Graphic 8" descr="Koala outline">
            <a:extLst>
              <a:ext uri="{FF2B5EF4-FFF2-40B4-BE49-F238E27FC236}">
                <a16:creationId xmlns:a16="http://schemas.microsoft.com/office/drawing/2014/main" id="{40FBFA26-A44B-2847-8157-98C804D44E5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70245" y="4835394"/>
            <a:ext cx="1256863" cy="1256863"/>
          </a:xfrm>
          <a:prstGeom prst="rect">
            <a:avLst/>
          </a:prstGeom>
        </p:spPr>
      </p:pic>
      <p:sp>
        <p:nvSpPr>
          <p:cNvPr id="22" name="Content Placeholder 2">
            <a:extLst>
              <a:ext uri="{FF2B5EF4-FFF2-40B4-BE49-F238E27FC236}">
                <a16:creationId xmlns:a16="http://schemas.microsoft.com/office/drawing/2014/main" id="{B08789BE-A4D6-7849-89C2-BDA84C1F9246}"/>
              </a:ext>
            </a:extLst>
          </p:cNvPr>
          <p:cNvSpPr txBox="1">
            <a:spLocks/>
          </p:cNvSpPr>
          <p:nvPr/>
        </p:nvSpPr>
        <p:spPr>
          <a:xfrm>
            <a:off x="8980712" y="6184308"/>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Koala</a:t>
            </a:r>
          </a:p>
        </p:txBody>
      </p:sp>
      <p:sp>
        <p:nvSpPr>
          <p:cNvPr id="25" name="Content Placeholder 2">
            <a:extLst>
              <a:ext uri="{FF2B5EF4-FFF2-40B4-BE49-F238E27FC236}">
                <a16:creationId xmlns:a16="http://schemas.microsoft.com/office/drawing/2014/main" id="{0AB80300-57EE-2B4F-BC52-84EF4C2B2580}"/>
              </a:ext>
            </a:extLst>
          </p:cNvPr>
          <p:cNvSpPr txBox="1">
            <a:spLocks/>
          </p:cNvSpPr>
          <p:nvPr/>
        </p:nvSpPr>
        <p:spPr>
          <a:xfrm>
            <a:off x="10165763" y="581545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Eagle</a:t>
            </a:r>
          </a:p>
        </p:txBody>
      </p:sp>
      <p:sp>
        <p:nvSpPr>
          <p:cNvPr id="23" name="Oval 22">
            <a:extLst>
              <a:ext uri="{FF2B5EF4-FFF2-40B4-BE49-F238E27FC236}">
                <a16:creationId xmlns:a16="http://schemas.microsoft.com/office/drawing/2014/main" id="{9B1AF41D-655D-684B-868D-F141A64A730E}"/>
              </a:ext>
            </a:extLst>
          </p:cNvPr>
          <p:cNvSpPr/>
          <p:nvPr/>
        </p:nvSpPr>
        <p:spPr>
          <a:xfrm>
            <a:off x="9460001" y="2363084"/>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33" name="Content Placeholder 2">
            <a:extLst>
              <a:ext uri="{FF2B5EF4-FFF2-40B4-BE49-F238E27FC236}">
                <a16:creationId xmlns:a16="http://schemas.microsoft.com/office/drawing/2014/main" id="{FA93B1F0-7902-F84B-9B5E-62B288B7A148}"/>
              </a:ext>
            </a:extLst>
          </p:cNvPr>
          <p:cNvSpPr txBox="1">
            <a:spLocks/>
          </p:cNvSpPr>
          <p:nvPr/>
        </p:nvSpPr>
        <p:spPr>
          <a:xfrm>
            <a:off x="9145608" y="2972788"/>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sp>
        <p:nvSpPr>
          <p:cNvPr id="37" name="Content Placeholder 2">
            <a:extLst>
              <a:ext uri="{FF2B5EF4-FFF2-40B4-BE49-F238E27FC236}">
                <a16:creationId xmlns:a16="http://schemas.microsoft.com/office/drawing/2014/main" id="{66398C6A-A792-FB41-8D3D-273E80807A93}"/>
              </a:ext>
            </a:extLst>
          </p:cNvPr>
          <p:cNvSpPr txBox="1">
            <a:spLocks/>
          </p:cNvSpPr>
          <p:nvPr/>
        </p:nvSpPr>
        <p:spPr>
          <a:xfrm>
            <a:off x="9145608" y="1313688"/>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Object</a:t>
            </a:r>
          </a:p>
        </p:txBody>
      </p:sp>
      <p:cxnSp>
        <p:nvCxnSpPr>
          <p:cNvPr id="38" name="Straight Arrow Connector 37">
            <a:extLst>
              <a:ext uri="{FF2B5EF4-FFF2-40B4-BE49-F238E27FC236}">
                <a16:creationId xmlns:a16="http://schemas.microsoft.com/office/drawing/2014/main" id="{7F1D4929-F52D-384E-A288-2F6C4213C996}"/>
              </a:ext>
            </a:extLst>
          </p:cNvPr>
          <p:cNvCxnSpPr>
            <a:cxnSpLocks/>
            <a:stCxn id="37" idx="2"/>
            <a:endCxn id="23" idx="0"/>
          </p:cNvCxnSpPr>
          <p:nvPr/>
        </p:nvCxnSpPr>
        <p:spPr>
          <a:xfrm>
            <a:off x="10363572" y="1763869"/>
            <a:ext cx="1" cy="5992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 name="Graphic 4" descr="Eagle outline">
            <a:extLst>
              <a:ext uri="{FF2B5EF4-FFF2-40B4-BE49-F238E27FC236}">
                <a16:creationId xmlns:a16="http://schemas.microsoft.com/office/drawing/2014/main" id="{7D29B3CB-A71E-DB48-A8F9-AA861C998CA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73650" y="4805119"/>
            <a:ext cx="914400" cy="914400"/>
          </a:xfrm>
          <a:prstGeom prst="rect">
            <a:avLst/>
          </a:prstGeom>
        </p:spPr>
      </p:pic>
      <p:sp>
        <p:nvSpPr>
          <p:cNvPr id="4" name="Slide Number Placeholder 3">
            <a:extLst>
              <a:ext uri="{FF2B5EF4-FFF2-40B4-BE49-F238E27FC236}">
                <a16:creationId xmlns:a16="http://schemas.microsoft.com/office/drawing/2014/main" id="{03DF2B3F-33FB-F94A-B9FF-9CAC12153588}"/>
              </a:ext>
            </a:extLst>
          </p:cNvPr>
          <p:cNvSpPr>
            <a:spLocks noGrp="1"/>
          </p:cNvSpPr>
          <p:nvPr>
            <p:ph type="sldNum" sz="quarter" idx="12"/>
          </p:nvPr>
        </p:nvSpPr>
        <p:spPr/>
        <p:txBody>
          <a:bodyPr/>
          <a:lstStyle/>
          <a:p>
            <a:fld id="{31DE2C5B-556E-47B8-A792-024C2FCA4ACC}" type="slidenum">
              <a:rPr lang="en-GB" smtClean="0"/>
              <a:t>16</a:t>
            </a:fld>
            <a:endParaRPr lang="en-GB"/>
          </a:p>
        </p:txBody>
      </p:sp>
    </p:spTree>
    <p:extLst>
      <p:ext uri="{BB962C8B-B14F-4D97-AF65-F5344CB8AC3E}">
        <p14:creationId xmlns:p14="http://schemas.microsoft.com/office/powerpoint/2010/main" val="888938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Inheritance (example)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6569322" cy="5334907"/>
          </a:xfrm>
        </p:spPr>
        <p:txBody>
          <a:bodyPr>
            <a:normAutofit/>
          </a:bodyPr>
          <a:lstStyle/>
          <a:p>
            <a:r>
              <a:rPr lang="en-US" dirty="0"/>
              <a:t>Let’s write the superclass </a:t>
            </a:r>
            <a:r>
              <a:rPr lang="en-US" dirty="0">
                <a:latin typeface="Menlo" panose="020B0609030804020204" pitchFamily="49" charset="0"/>
                <a:ea typeface="Menlo" panose="020B0609030804020204" pitchFamily="49" charset="0"/>
                <a:cs typeface="Menlo" panose="020B0609030804020204" pitchFamily="49" charset="0"/>
              </a:rPr>
              <a:t>Animal</a:t>
            </a:r>
            <a:r>
              <a:rPr lang="en-US" dirty="0"/>
              <a:t>:</a:t>
            </a:r>
          </a:p>
          <a:p>
            <a:endParaRPr lang="en-IT" dirty="0"/>
          </a:p>
          <a:p>
            <a:endParaRPr lang="en-IT" dirty="0"/>
          </a:p>
          <a:p>
            <a:pPr marL="0" indent="0">
              <a:buNone/>
            </a:pPr>
            <a:r>
              <a:rPr lang="en-IT" dirty="0"/>
              <a:t> </a:t>
            </a:r>
          </a:p>
        </p:txBody>
      </p:sp>
      <p:cxnSp>
        <p:nvCxnSpPr>
          <p:cNvPr id="24" name="Straight Arrow Connector 23">
            <a:extLst>
              <a:ext uri="{FF2B5EF4-FFF2-40B4-BE49-F238E27FC236}">
                <a16:creationId xmlns:a16="http://schemas.microsoft.com/office/drawing/2014/main" id="{0C08F598-9DA8-2446-ACAE-51072758020A}"/>
              </a:ext>
            </a:extLst>
          </p:cNvPr>
          <p:cNvCxnSpPr>
            <a:cxnSpLocks/>
          </p:cNvCxnSpPr>
          <p:nvPr/>
        </p:nvCxnSpPr>
        <p:spPr>
          <a:xfrm>
            <a:off x="10462680" y="2896189"/>
            <a:ext cx="0" cy="1942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9B1AF41D-655D-684B-868D-F141A64A730E}"/>
              </a:ext>
            </a:extLst>
          </p:cNvPr>
          <p:cNvSpPr/>
          <p:nvPr/>
        </p:nvSpPr>
        <p:spPr>
          <a:xfrm>
            <a:off x="9582350" y="1336893"/>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33" name="Content Placeholder 2">
            <a:extLst>
              <a:ext uri="{FF2B5EF4-FFF2-40B4-BE49-F238E27FC236}">
                <a16:creationId xmlns:a16="http://schemas.microsoft.com/office/drawing/2014/main" id="{FA93B1F0-7902-F84B-9B5E-62B288B7A148}"/>
              </a:ext>
            </a:extLst>
          </p:cNvPr>
          <p:cNvSpPr txBox="1">
            <a:spLocks/>
          </p:cNvSpPr>
          <p:nvPr/>
        </p:nvSpPr>
        <p:spPr>
          <a:xfrm>
            <a:off x="9267957" y="187316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pic>
        <p:nvPicPr>
          <p:cNvPr id="5" name="Graphic 4" descr="Eagle outline">
            <a:extLst>
              <a:ext uri="{FF2B5EF4-FFF2-40B4-BE49-F238E27FC236}">
                <a16:creationId xmlns:a16="http://schemas.microsoft.com/office/drawing/2014/main" id="{1653E6F9-72BE-FB41-9D6B-209AD5ACC0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372" y="5072516"/>
            <a:ext cx="914400" cy="914400"/>
          </a:xfrm>
          <a:prstGeom prst="rect">
            <a:avLst/>
          </a:prstGeom>
        </p:spPr>
      </p:pic>
      <p:sp>
        <p:nvSpPr>
          <p:cNvPr id="12" name="Rectangle 11">
            <a:extLst>
              <a:ext uri="{FF2B5EF4-FFF2-40B4-BE49-F238E27FC236}">
                <a16:creationId xmlns:a16="http://schemas.microsoft.com/office/drawing/2014/main" id="{9D71D47D-C730-6F40-84D0-668D773BAB44}"/>
              </a:ext>
            </a:extLst>
          </p:cNvPr>
          <p:cNvSpPr/>
          <p:nvPr/>
        </p:nvSpPr>
        <p:spPr>
          <a:xfrm>
            <a:off x="6640394" y="1846630"/>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p:txBody>
      </p:sp>
      <p:sp>
        <p:nvSpPr>
          <p:cNvPr id="13" name="Rectangle 12">
            <a:extLst>
              <a:ext uri="{FF2B5EF4-FFF2-40B4-BE49-F238E27FC236}">
                <a16:creationId xmlns:a16="http://schemas.microsoft.com/office/drawing/2014/main" id="{08F1E681-62F0-F64C-8115-37F8013118CF}"/>
              </a:ext>
            </a:extLst>
          </p:cNvPr>
          <p:cNvSpPr/>
          <p:nvPr/>
        </p:nvSpPr>
        <p:spPr>
          <a:xfrm>
            <a:off x="6640394" y="1281146"/>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Animal</a:t>
            </a:r>
          </a:p>
        </p:txBody>
      </p:sp>
      <p:sp>
        <p:nvSpPr>
          <p:cNvPr id="14" name="Rectangle 13">
            <a:extLst>
              <a:ext uri="{FF2B5EF4-FFF2-40B4-BE49-F238E27FC236}">
                <a16:creationId xmlns:a16="http://schemas.microsoft.com/office/drawing/2014/main" id="{4094D712-D1E5-C64A-ADE4-9916FA657AE8}"/>
              </a:ext>
            </a:extLst>
          </p:cNvPr>
          <p:cNvSpPr/>
          <p:nvPr/>
        </p:nvSpPr>
        <p:spPr>
          <a:xfrm>
            <a:off x="6640392" y="2479728"/>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jump()</a:t>
            </a:r>
          </a:p>
          <a:p>
            <a:pPr algn="ctr"/>
            <a:r>
              <a:rPr lang="en-IT" b="1" dirty="0">
                <a:latin typeface="Aptos" panose="020B0004020202020204" pitchFamily="34" charset="0"/>
              </a:rPr>
              <a:t>eat()</a:t>
            </a:r>
          </a:p>
        </p:txBody>
      </p:sp>
      <p:sp>
        <p:nvSpPr>
          <p:cNvPr id="16" name="Rectangle 15">
            <a:extLst>
              <a:ext uri="{FF2B5EF4-FFF2-40B4-BE49-F238E27FC236}">
                <a16:creationId xmlns:a16="http://schemas.microsoft.com/office/drawing/2014/main" id="{5C8C40DB-B1AE-0B4C-9231-A652A40ED51F}"/>
              </a:ext>
            </a:extLst>
          </p:cNvPr>
          <p:cNvSpPr/>
          <p:nvPr/>
        </p:nvSpPr>
        <p:spPr>
          <a:xfrm>
            <a:off x="6640392" y="1281146"/>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4" name="Slide Number Placeholder 3">
            <a:extLst>
              <a:ext uri="{FF2B5EF4-FFF2-40B4-BE49-F238E27FC236}">
                <a16:creationId xmlns:a16="http://schemas.microsoft.com/office/drawing/2014/main" id="{4C2D9D0F-D8CD-C848-9D8C-D3866A34202E}"/>
              </a:ext>
            </a:extLst>
          </p:cNvPr>
          <p:cNvSpPr>
            <a:spLocks noGrp="1"/>
          </p:cNvSpPr>
          <p:nvPr>
            <p:ph type="sldNum" sz="quarter" idx="12"/>
          </p:nvPr>
        </p:nvSpPr>
        <p:spPr/>
        <p:txBody>
          <a:bodyPr/>
          <a:lstStyle/>
          <a:p>
            <a:fld id="{31DE2C5B-556E-47B8-A792-024C2FCA4ACC}" type="slidenum">
              <a:rPr lang="en-GB" smtClean="0"/>
              <a:t>17</a:t>
            </a:fld>
            <a:endParaRPr lang="en-GB"/>
          </a:p>
        </p:txBody>
      </p:sp>
      <p:sp>
        <p:nvSpPr>
          <p:cNvPr id="17" name="Content Placeholder 2">
            <a:extLst>
              <a:ext uri="{FF2B5EF4-FFF2-40B4-BE49-F238E27FC236}">
                <a16:creationId xmlns:a16="http://schemas.microsoft.com/office/drawing/2014/main" id="{0A1B848B-B392-5640-B0A5-FFABC4498B6E}"/>
              </a:ext>
            </a:extLst>
          </p:cNvPr>
          <p:cNvSpPr txBox="1">
            <a:spLocks/>
          </p:cNvSpPr>
          <p:nvPr/>
        </p:nvSpPr>
        <p:spPr>
          <a:xfrm>
            <a:off x="9145608" y="6105646"/>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Eagle</a:t>
            </a:r>
          </a:p>
        </p:txBody>
      </p:sp>
    </p:spTree>
    <p:extLst>
      <p:ext uri="{BB962C8B-B14F-4D97-AF65-F5344CB8AC3E}">
        <p14:creationId xmlns:p14="http://schemas.microsoft.com/office/powerpoint/2010/main" val="3084357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Inheritance (example)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6569322" cy="5334907"/>
          </a:xfrm>
        </p:spPr>
        <p:txBody>
          <a:bodyPr>
            <a:normAutofit/>
          </a:bodyPr>
          <a:lstStyle/>
          <a:p>
            <a:r>
              <a:rPr lang="en-US" dirty="0"/>
              <a:t>Let’s write the superclass </a:t>
            </a:r>
            <a:r>
              <a:rPr lang="en-US" dirty="0">
                <a:latin typeface="Menlo" panose="020B0609030804020204" pitchFamily="49" charset="0"/>
                <a:ea typeface="Menlo" panose="020B0609030804020204" pitchFamily="49" charset="0"/>
                <a:cs typeface="Menlo" panose="020B0609030804020204" pitchFamily="49" charset="0"/>
              </a:rPr>
              <a:t>Animal</a:t>
            </a:r>
            <a:r>
              <a:rPr lang="en-US" dirty="0"/>
              <a:t>:</a:t>
            </a:r>
          </a:p>
          <a:p>
            <a:endParaRPr lang="en-IT" dirty="0"/>
          </a:p>
          <a:p>
            <a:endParaRPr lang="en-IT" dirty="0"/>
          </a:p>
          <a:p>
            <a:pPr marL="0" indent="0">
              <a:buNone/>
            </a:pPr>
            <a:r>
              <a:rPr lang="en-IT" dirty="0"/>
              <a:t> </a:t>
            </a:r>
          </a:p>
        </p:txBody>
      </p:sp>
      <p:sp>
        <p:nvSpPr>
          <p:cNvPr id="8" name="Rectangle 7">
            <a:extLst>
              <a:ext uri="{FF2B5EF4-FFF2-40B4-BE49-F238E27FC236}">
                <a16:creationId xmlns:a16="http://schemas.microsoft.com/office/drawing/2014/main" id="{343B568A-28FE-A045-AF92-64A25EDDC105}"/>
              </a:ext>
            </a:extLst>
          </p:cNvPr>
          <p:cNvSpPr/>
          <p:nvPr/>
        </p:nvSpPr>
        <p:spPr>
          <a:xfrm>
            <a:off x="420937" y="2016791"/>
            <a:ext cx="6226689" cy="4401205"/>
          </a:xfrm>
          <a:prstGeom prst="rect">
            <a:avLst/>
          </a:prstGeom>
        </p:spPr>
        <p:txBody>
          <a:bodyPr wrap="square">
            <a:spAutoFit/>
          </a:bodyPr>
          <a:lstStyle/>
          <a:p>
            <a:r>
              <a:rPr lang="en-GB" sz="1400" dirty="0">
                <a:latin typeface="Menlo" panose="020B0609030804020204" pitchFamily="49" charset="0"/>
                <a:ea typeface="Menlo" panose="020B0609030804020204" pitchFamily="49" charset="0"/>
                <a:cs typeface="Menlo" panose="020B0609030804020204" pitchFamily="49" charset="0"/>
              </a:rPr>
              <a:t>//This is the definition of the superclass Animal</a:t>
            </a:r>
          </a:p>
          <a:p>
            <a:r>
              <a:rPr lang="en-GB" sz="1400" dirty="0">
                <a:latin typeface="Menlo" panose="020B0609030804020204" pitchFamily="49" charset="0"/>
                <a:ea typeface="Menlo" panose="020B0609030804020204" pitchFamily="49" charset="0"/>
                <a:cs typeface="Menlo" panose="020B0609030804020204" pitchFamily="49" charset="0"/>
              </a:rPr>
              <a:t>class Animal{</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 -- Instance variables</a:t>
            </a:r>
          </a:p>
          <a:p>
            <a:r>
              <a:rPr lang="en-GB" sz="1400" dirty="0">
                <a:latin typeface="Menlo" panose="020B0609030804020204" pitchFamily="49" charset="0"/>
                <a:ea typeface="Menlo" panose="020B0609030804020204" pitchFamily="49" charset="0"/>
                <a:cs typeface="Menlo" panose="020B0609030804020204" pitchFamily="49" charset="0"/>
              </a:rPr>
              <a:t>  double weight;</a:t>
            </a:r>
          </a:p>
          <a:p>
            <a:r>
              <a:rPr lang="en-GB" sz="1400" dirty="0">
                <a:latin typeface="Menlo" panose="020B0609030804020204" pitchFamily="49" charset="0"/>
                <a:ea typeface="Menlo" panose="020B0609030804020204" pitchFamily="49" charset="0"/>
                <a:cs typeface="Menlo" panose="020B0609030804020204" pitchFamily="49" charset="0"/>
              </a:rPr>
              <a:t>  String name;</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 -- Constructors</a:t>
            </a:r>
          </a:p>
          <a:p>
            <a:r>
              <a:rPr lang="en-GB" sz="1400" dirty="0">
                <a:latin typeface="Menlo" panose="020B0609030804020204" pitchFamily="49" charset="0"/>
                <a:ea typeface="Menlo" panose="020B0609030804020204" pitchFamily="49" charset="0"/>
                <a:cs typeface="Menlo" panose="020B0609030804020204" pitchFamily="49" charset="0"/>
              </a:rPr>
              <a:t>  Animal({required </a:t>
            </a:r>
            <a:r>
              <a:rPr lang="en-GB" sz="1400" dirty="0" err="1">
                <a:latin typeface="Menlo" panose="020B0609030804020204" pitchFamily="49" charset="0"/>
                <a:ea typeface="Menlo" panose="020B0609030804020204" pitchFamily="49" charset="0"/>
                <a:cs typeface="Menlo" panose="020B0609030804020204" pitchFamily="49" charset="0"/>
              </a:rPr>
              <a:t>this.name</a:t>
            </a:r>
            <a:r>
              <a:rPr lang="en-GB" sz="1400" dirty="0">
                <a:latin typeface="Menlo" panose="020B0609030804020204" pitchFamily="49" charset="0"/>
                <a:ea typeface="Menlo" panose="020B0609030804020204" pitchFamily="49" charset="0"/>
                <a:cs typeface="Menlo" panose="020B0609030804020204" pitchFamily="49" charset="0"/>
              </a:rPr>
              <a:t>, required </a:t>
            </a:r>
            <a:r>
              <a:rPr lang="en-GB" sz="1400" dirty="0" err="1">
                <a:latin typeface="Menlo" panose="020B0609030804020204" pitchFamily="49" charset="0"/>
                <a:ea typeface="Menlo" panose="020B0609030804020204" pitchFamily="49" charset="0"/>
                <a:cs typeface="Menlo" panose="020B0609030804020204" pitchFamily="49" charset="0"/>
              </a:rPr>
              <a:t>this.weight</a:t>
            </a:r>
            <a:r>
              <a:rPr lang="en-GB" sz="1400" dirty="0">
                <a:latin typeface="Menlo" panose="020B0609030804020204" pitchFamily="49" charset="0"/>
                <a:ea typeface="Menlo" panose="020B0609030804020204" pitchFamily="49" charset="0"/>
                <a:cs typeface="Menlo" panose="020B0609030804020204" pitchFamily="49" charset="0"/>
              </a:rPr>
              <a:t>});</a:t>
            </a:r>
          </a:p>
          <a:p>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 -- Methods</a:t>
            </a:r>
          </a:p>
          <a:p>
            <a:r>
              <a:rPr lang="en-GB" sz="1400" dirty="0">
                <a:latin typeface="Menlo" panose="020B0609030804020204" pitchFamily="49" charset="0"/>
                <a:ea typeface="Menlo" panose="020B0609030804020204" pitchFamily="49" charset="0"/>
                <a:cs typeface="Menlo" panose="020B0609030804020204" pitchFamily="49" charset="0"/>
              </a:rPr>
              <a:t>  void jump(){</a:t>
            </a:r>
          </a:p>
          <a:p>
            <a:r>
              <a:rPr lang="en-GB" sz="1400" dirty="0">
                <a:latin typeface="Menlo" panose="020B0609030804020204" pitchFamily="49" charset="0"/>
                <a:ea typeface="Menlo" panose="020B0609030804020204" pitchFamily="49" charset="0"/>
                <a:cs typeface="Menlo" panose="020B0609030804020204" pitchFamily="49" charset="0"/>
              </a:rPr>
              <a:t>    print('Jump');</a:t>
            </a:r>
          </a:p>
          <a:p>
            <a:r>
              <a:rPr lang="en-GB" sz="1400" dirty="0">
                <a:latin typeface="Menlo" panose="020B0609030804020204" pitchFamily="49" charset="0"/>
                <a:ea typeface="Menlo" panose="020B0609030804020204" pitchFamily="49" charset="0"/>
                <a:cs typeface="Menlo" panose="020B0609030804020204" pitchFamily="49" charset="0"/>
              </a:rPr>
              <a:t>  }//jump</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@override </a:t>
            </a:r>
          </a:p>
          <a:p>
            <a:r>
              <a:rPr lang="en-GB" sz="1400" dirty="0">
                <a:latin typeface="Menlo" panose="020B0609030804020204" pitchFamily="49" charset="0"/>
                <a:ea typeface="Menlo" panose="020B0609030804020204" pitchFamily="49" charset="0"/>
                <a:cs typeface="Menlo" panose="020B0609030804020204" pitchFamily="49" charset="0"/>
              </a:rPr>
              <a:t>  String </a:t>
            </a:r>
            <a:r>
              <a:rPr lang="en-GB" sz="1400" dirty="0" err="1">
                <a:latin typeface="Menlo" panose="020B0609030804020204" pitchFamily="49" charset="0"/>
                <a:ea typeface="Menlo" panose="020B0609030804020204" pitchFamily="49" charset="0"/>
                <a:cs typeface="Menlo" panose="020B0609030804020204" pitchFamily="49" charset="0"/>
              </a:rPr>
              <a:t>toString</a:t>
            </a:r>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return '(weight: $weight, name: $name)';</a:t>
            </a:r>
          </a:p>
          <a:p>
            <a:r>
              <a:rPr lang="en-GB" sz="1400" dirty="0">
                <a:latin typeface="Menlo" panose="020B0609030804020204" pitchFamily="49" charset="0"/>
                <a:ea typeface="Menlo" panose="020B0609030804020204" pitchFamily="49" charset="0"/>
                <a:cs typeface="Menlo" panose="020B0609030804020204" pitchFamily="49" charset="0"/>
              </a:rPr>
              <a:t>  }//</a:t>
            </a:r>
            <a:r>
              <a:rPr lang="en-GB" sz="1400" dirty="0" err="1">
                <a:latin typeface="Menlo" panose="020B0609030804020204" pitchFamily="49" charset="0"/>
                <a:ea typeface="Menlo" panose="020B0609030804020204" pitchFamily="49" charset="0"/>
                <a:cs typeface="Menlo" panose="020B0609030804020204" pitchFamily="49" charset="0"/>
              </a:rPr>
              <a:t>toString</a:t>
            </a:r>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}//Animal</a:t>
            </a:r>
            <a:endParaRPr lang="en-GB" sz="1400" b="0" dirty="0">
              <a:effectLst/>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B6BDBCFF-8398-2649-B213-F9B1AF844FF8}"/>
              </a:ext>
            </a:extLst>
          </p:cNvPr>
          <p:cNvSpPr>
            <a:spLocks noGrp="1"/>
          </p:cNvSpPr>
          <p:nvPr>
            <p:ph type="sldNum" sz="quarter" idx="12"/>
          </p:nvPr>
        </p:nvSpPr>
        <p:spPr/>
        <p:txBody>
          <a:bodyPr/>
          <a:lstStyle/>
          <a:p>
            <a:fld id="{31DE2C5B-556E-47B8-A792-024C2FCA4ACC}" type="slidenum">
              <a:rPr lang="en-GB" smtClean="0"/>
              <a:t>18</a:t>
            </a:fld>
            <a:endParaRPr lang="en-GB"/>
          </a:p>
        </p:txBody>
      </p:sp>
      <p:cxnSp>
        <p:nvCxnSpPr>
          <p:cNvPr id="6" name="Straight Arrow Connector 5">
            <a:extLst>
              <a:ext uri="{FF2B5EF4-FFF2-40B4-BE49-F238E27FC236}">
                <a16:creationId xmlns:a16="http://schemas.microsoft.com/office/drawing/2014/main" id="{C786ECC8-0DE8-87F0-1B59-D23B80A279EC}"/>
              </a:ext>
            </a:extLst>
          </p:cNvPr>
          <p:cNvCxnSpPr>
            <a:cxnSpLocks/>
          </p:cNvCxnSpPr>
          <p:nvPr/>
        </p:nvCxnSpPr>
        <p:spPr>
          <a:xfrm>
            <a:off x="10462680" y="2896189"/>
            <a:ext cx="0" cy="1942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350F64C3-290D-FFB4-142E-B2A714F09C49}"/>
              </a:ext>
            </a:extLst>
          </p:cNvPr>
          <p:cNvSpPr/>
          <p:nvPr/>
        </p:nvSpPr>
        <p:spPr>
          <a:xfrm>
            <a:off x="9582350" y="1336893"/>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9" name="Content Placeholder 2">
            <a:extLst>
              <a:ext uri="{FF2B5EF4-FFF2-40B4-BE49-F238E27FC236}">
                <a16:creationId xmlns:a16="http://schemas.microsoft.com/office/drawing/2014/main" id="{7649E6C5-0B59-A8FE-8D4F-245D590C164F}"/>
              </a:ext>
            </a:extLst>
          </p:cNvPr>
          <p:cNvSpPr txBox="1">
            <a:spLocks/>
          </p:cNvSpPr>
          <p:nvPr/>
        </p:nvSpPr>
        <p:spPr>
          <a:xfrm>
            <a:off x="9267957" y="187316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pic>
        <p:nvPicPr>
          <p:cNvPr id="10" name="Graphic 9" descr="Eagle outline">
            <a:extLst>
              <a:ext uri="{FF2B5EF4-FFF2-40B4-BE49-F238E27FC236}">
                <a16:creationId xmlns:a16="http://schemas.microsoft.com/office/drawing/2014/main" id="{EE21F744-A752-D36D-6370-C1FD0D55CE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372" y="5072516"/>
            <a:ext cx="914400" cy="914400"/>
          </a:xfrm>
          <a:prstGeom prst="rect">
            <a:avLst/>
          </a:prstGeom>
        </p:spPr>
      </p:pic>
      <p:sp>
        <p:nvSpPr>
          <p:cNvPr id="11" name="Rectangle 10">
            <a:extLst>
              <a:ext uri="{FF2B5EF4-FFF2-40B4-BE49-F238E27FC236}">
                <a16:creationId xmlns:a16="http://schemas.microsoft.com/office/drawing/2014/main" id="{057EF47A-3734-2E6A-5931-954011174609}"/>
              </a:ext>
            </a:extLst>
          </p:cNvPr>
          <p:cNvSpPr/>
          <p:nvPr/>
        </p:nvSpPr>
        <p:spPr>
          <a:xfrm>
            <a:off x="6640394" y="1846630"/>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p:txBody>
      </p:sp>
      <p:sp>
        <p:nvSpPr>
          <p:cNvPr id="15" name="Rectangle 14">
            <a:extLst>
              <a:ext uri="{FF2B5EF4-FFF2-40B4-BE49-F238E27FC236}">
                <a16:creationId xmlns:a16="http://schemas.microsoft.com/office/drawing/2014/main" id="{55456E0D-34E6-1724-3BB0-EDD2A382BCF7}"/>
              </a:ext>
            </a:extLst>
          </p:cNvPr>
          <p:cNvSpPr/>
          <p:nvPr/>
        </p:nvSpPr>
        <p:spPr>
          <a:xfrm>
            <a:off x="6640394" y="1281146"/>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Animal</a:t>
            </a:r>
          </a:p>
        </p:txBody>
      </p:sp>
      <p:sp>
        <p:nvSpPr>
          <p:cNvPr id="18" name="Rectangle 17">
            <a:extLst>
              <a:ext uri="{FF2B5EF4-FFF2-40B4-BE49-F238E27FC236}">
                <a16:creationId xmlns:a16="http://schemas.microsoft.com/office/drawing/2014/main" id="{9DCFBEC4-5F59-1647-1AF9-221C77C00A5E}"/>
              </a:ext>
            </a:extLst>
          </p:cNvPr>
          <p:cNvSpPr/>
          <p:nvPr/>
        </p:nvSpPr>
        <p:spPr>
          <a:xfrm>
            <a:off x="6640392" y="2479728"/>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jump()</a:t>
            </a:r>
          </a:p>
          <a:p>
            <a:pPr algn="ctr"/>
            <a:r>
              <a:rPr lang="en-IT" b="1" dirty="0">
                <a:latin typeface="Aptos" panose="020B0004020202020204" pitchFamily="34" charset="0"/>
              </a:rPr>
              <a:t>eat()</a:t>
            </a:r>
          </a:p>
        </p:txBody>
      </p:sp>
      <p:sp>
        <p:nvSpPr>
          <p:cNvPr id="19" name="Rectangle 18">
            <a:extLst>
              <a:ext uri="{FF2B5EF4-FFF2-40B4-BE49-F238E27FC236}">
                <a16:creationId xmlns:a16="http://schemas.microsoft.com/office/drawing/2014/main" id="{9B056F00-5675-2D81-1017-5DD516F4562C}"/>
              </a:ext>
            </a:extLst>
          </p:cNvPr>
          <p:cNvSpPr/>
          <p:nvPr/>
        </p:nvSpPr>
        <p:spPr>
          <a:xfrm>
            <a:off x="6640392" y="1281146"/>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20" name="Content Placeholder 2">
            <a:extLst>
              <a:ext uri="{FF2B5EF4-FFF2-40B4-BE49-F238E27FC236}">
                <a16:creationId xmlns:a16="http://schemas.microsoft.com/office/drawing/2014/main" id="{7DCBF85C-D9EB-3FA1-5793-391B50134C91}"/>
              </a:ext>
            </a:extLst>
          </p:cNvPr>
          <p:cNvSpPr txBox="1">
            <a:spLocks/>
          </p:cNvSpPr>
          <p:nvPr/>
        </p:nvSpPr>
        <p:spPr>
          <a:xfrm>
            <a:off x="9145608" y="6105646"/>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Eagle</a:t>
            </a:r>
          </a:p>
        </p:txBody>
      </p:sp>
    </p:spTree>
    <p:extLst>
      <p:ext uri="{BB962C8B-B14F-4D97-AF65-F5344CB8AC3E}">
        <p14:creationId xmlns:p14="http://schemas.microsoft.com/office/powerpoint/2010/main" val="1724979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Inheritance (example)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6569322" cy="5334907"/>
          </a:xfrm>
        </p:spPr>
        <p:txBody>
          <a:bodyPr>
            <a:normAutofit/>
          </a:bodyPr>
          <a:lstStyle/>
          <a:p>
            <a:r>
              <a:rPr lang="en-US" dirty="0"/>
              <a:t>Let’s write the superclass </a:t>
            </a:r>
            <a:r>
              <a:rPr lang="en-US" dirty="0">
                <a:latin typeface="Menlo" panose="020B0609030804020204" pitchFamily="49" charset="0"/>
                <a:ea typeface="Menlo" panose="020B0609030804020204" pitchFamily="49" charset="0"/>
                <a:cs typeface="Menlo" panose="020B0609030804020204" pitchFamily="49" charset="0"/>
              </a:rPr>
              <a:t>Animal</a:t>
            </a:r>
            <a:r>
              <a:rPr lang="en-US" dirty="0"/>
              <a:t>:</a:t>
            </a:r>
          </a:p>
          <a:p>
            <a:endParaRPr lang="en-IT" dirty="0"/>
          </a:p>
          <a:p>
            <a:endParaRPr lang="en-IT" dirty="0"/>
          </a:p>
          <a:p>
            <a:pPr marL="0" indent="0">
              <a:buNone/>
            </a:pPr>
            <a:r>
              <a:rPr lang="en-IT" dirty="0"/>
              <a:t> </a:t>
            </a:r>
          </a:p>
        </p:txBody>
      </p:sp>
      <p:sp>
        <p:nvSpPr>
          <p:cNvPr id="8" name="Rectangle 7">
            <a:extLst>
              <a:ext uri="{FF2B5EF4-FFF2-40B4-BE49-F238E27FC236}">
                <a16:creationId xmlns:a16="http://schemas.microsoft.com/office/drawing/2014/main" id="{343B568A-28FE-A045-AF92-64A25EDDC105}"/>
              </a:ext>
            </a:extLst>
          </p:cNvPr>
          <p:cNvSpPr/>
          <p:nvPr/>
        </p:nvSpPr>
        <p:spPr>
          <a:xfrm>
            <a:off x="420937" y="2016791"/>
            <a:ext cx="6226689" cy="4401205"/>
          </a:xfrm>
          <a:prstGeom prst="rect">
            <a:avLst/>
          </a:prstGeom>
        </p:spPr>
        <p:txBody>
          <a:bodyPr wrap="square">
            <a:spAutoFit/>
          </a:bodyPr>
          <a:lstStyle/>
          <a:p>
            <a:r>
              <a:rPr lang="en-GB" sz="1400" dirty="0">
                <a:latin typeface="Menlo" panose="020B0609030804020204" pitchFamily="49" charset="0"/>
                <a:ea typeface="Menlo" panose="020B0609030804020204" pitchFamily="49" charset="0"/>
                <a:cs typeface="Menlo" panose="020B0609030804020204" pitchFamily="49" charset="0"/>
              </a:rPr>
              <a:t>//This is the definition of the superclass Animal</a:t>
            </a:r>
          </a:p>
          <a:p>
            <a:r>
              <a:rPr lang="en-GB" sz="1400" dirty="0">
                <a:latin typeface="Menlo" panose="020B0609030804020204" pitchFamily="49" charset="0"/>
                <a:ea typeface="Menlo" panose="020B0609030804020204" pitchFamily="49" charset="0"/>
                <a:cs typeface="Menlo" panose="020B0609030804020204" pitchFamily="49" charset="0"/>
              </a:rPr>
              <a:t>class Animal{</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 -- Instance variables</a:t>
            </a:r>
          </a:p>
          <a:p>
            <a:r>
              <a:rPr lang="en-GB" sz="1400" dirty="0">
                <a:latin typeface="Menlo" panose="020B0609030804020204" pitchFamily="49" charset="0"/>
                <a:ea typeface="Menlo" panose="020B0609030804020204" pitchFamily="49" charset="0"/>
                <a:cs typeface="Menlo" panose="020B0609030804020204" pitchFamily="49" charset="0"/>
              </a:rPr>
              <a:t>  double weight;</a:t>
            </a:r>
          </a:p>
          <a:p>
            <a:r>
              <a:rPr lang="en-GB" sz="1400" dirty="0">
                <a:latin typeface="Menlo" panose="020B0609030804020204" pitchFamily="49" charset="0"/>
                <a:ea typeface="Menlo" panose="020B0609030804020204" pitchFamily="49" charset="0"/>
                <a:cs typeface="Menlo" panose="020B0609030804020204" pitchFamily="49" charset="0"/>
              </a:rPr>
              <a:t>  String name;</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 -- Constructors</a:t>
            </a:r>
          </a:p>
          <a:p>
            <a:r>
              <a:rPr lang="en-GB" sz="1400" dirty="0">
                <a:latin typeface="Menlo" panose="020B0609030804020204" pitchFamily="49" charset="0"/>
                <a:ea typeface="Menlo" panose="020B0609030804020204" pitchFamily="49" charset="0"/>
                <a:cs typeface="Menlo" panose="020B0609030804020204" pitchFamily="49" charset="0"/>
              </a:rPr>
              <a:t>  Animal({required </a:t>
            </a:r>
            <a:r>
              <a:rPr lang="en-GB" sz="1400" dirty="0" err="1">
                <a:latin typeface="Menlo" panose="020B0609030804020204" pitchFamily="49" charset="0"/>
                <a:ea typeface="Menlo" panose="020B0609030804020204" pitchFamily="49" charset="0"/>
                <a:cs typeface="Menlo" panose="020B0609030804020204" pitchFamily="49" charset="0"/>
              </a:rPr>
              <a:t>this.name</a:t>
            </a:r>
            <a:r>
              <a:rPr lang="en-GB" sz="1400" dirty="0">
                <a:latin typeface="Menlo" panose="020B0609030804020204" pitchFamily="49" charset="0"/>
                <a:ea typeface="Menlo" panose="020B0609030804020204" pitchFamily="49" charset="0"/>
                <a:cs typeface="Menlo" panose="020B0609030804020204" pitchFamily="49" charset="0"/>
              </a:rPr>
              <a:t>, required </a:t>
            </a:r>
            <a:r>
              <a:rPr lang="en-GB" sz="1400" dirty="0" err="1">
                <a:latin typeface="Menlo" panose="020B0609030804020204" pitchFamily="49" charset="0"/>
                <a:ea typeface="Menlo" panose="020B0609030804020204" pitchFamily="49" charset="0"/>
                <a:cs typeface="Menlo" panose="020B0609030804020204" pitchFamily="49" charset="0"/>
              </a:rPr>
              <a:t>this.weight</a:t>
            </a:r>
            <a:r>
              <a:rPr lang="en-GB" sz="1400" dirty="0">
                <a:latin typeface="Menlo" panose="020B0609030804020204" pitchFamily="49" charset="0"/>
                <a:ea typeface="Menlo" panose="020B0609030804020204" pitchFamily="49" charset="0"/>
                <a:cs typeface="Menlo" panose="020B0609030804020204" pitchFamily="49" charset="0"/>
              </a:rPr>
              <a:t>});</a:t>
            </a:r>
          </a:p>
          <a:p>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 -- Methods</a:t>
            </a:r>
          </a:p>
          <a:p>
            <a:r>
              <a:rPr lang="en-GB" sz="1400" dirty="0">
                <a:latin typeface="Menlo" panose="020B0609030804020204" pitchFamily="49" charset="0"/>
                <a:ea typeface="Menlo" panose="020B0609030804020204" pitchFamily="49" charset="0"/>
                <a:cs typeface="Menlo" panose="020B0609030804020204" pitchFamily="49" charset="0"/>
              </a:rPr>
              <a:t>  void jump(){</a:t>
            </a:r>
          </a:p>
          <a:p>
            <a:r>
              <a:rPr lang="en-GB" sz="1400" dirty="0">
                <a:latin typeface="Menlo" panose="020B0609030804020204" pitchFamily="49" charset="0"/>
                <a:ea typeface="Menlo" panose="020B0609030804020204" pitchFamily="49" charset="0"/>
                <a:cs typeface="Menlo" panose="020B0609030804020204" pitchFamily="49" charset="0"/>
              </a:rPr>
              <a:t>    print('Jump');</a:t>
            </a:r>
          </a:p>
          <a:p>
            <a:r>
              <a:rPr lang="en-GB" sz="1400" dirty="0">
                <a:latin typeface="Menlo" panose="020B0609030804020204" pitchFamily="49" charset="0"/>
                <a:ea typeface="Menlo" panose="020B0609030804020204" pitchFamily="49" charset="0"/>
                <a:cs typeface="Menlo" panose="020B0609030804020204" pitchFamily="49" charset="0"/>
              </a:rPr>
              <a:t>  }//jump</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@override </a:t>
            </a:r>
          </a:p>
          <a:p>
            <a:r>
              <a:rPr lang="en-GB" sz="1400" dirty="0">
                <a:latin typeface="Menlo" panose="020B0609030804020204" pitchFamily="49" charset="0"/>
                <a:ea typeface="Menlo" panose="020B0609030804020204" pitchFamily="49" charset="0"/>
                <a:cs typeface="Menlo" panose="020B0609030804020204" pitchFamily="49" charset="0"/>
              </a:rPr>
              <a:t>  String </a:t>
            </a:r>
            <a:r>
              <a:rPr lang="en-GB" sz="1400" dirty="0" err="1">
                <a:latin typeface="Menlo" panose="020B0609030804020204" pitchFamily="49" charset="0"/>
                <a:ea typeface="Menlo" panose="020B0609030804020204" pitchFamily="49" charset="0"/>
                <a:cs typeface="Menlo" panose="020B0609030804020204" pitchFamily="49" charset="0"/>
              </a:rPr>
              <a:t>toString</a:t>
            </a:r>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return '(weight: $weight, name: $name)';</a:t>
            </a:r>
          </a:p>
          <a:p>
            <a:r>
              <a:rPr lang="en-GB" sz="1400" dirty="0">
                <a:latin typeface="Menlo" panose="020B0609030804020204" pitchFamily="49" charset="0"/>
                <a:ea typeface="Menlo" panose="020B0609030804020204" pitchFamily="49" charset="0"/>
                <a:cs typeface="Menlo" panose="020B0609030804020204" pitchFamily="49" charset="0"/>
              </a:rPr>
              <a:t>  }//</a:t>
            </a:r>
            <a:r>
              <a:rPr lang="en-GB" sz="1400" dirty="0" err="1">
                <a:latin typeface="Menlo" panose="020B0609030804020204" pitchFamily="49" charset="0"/>
                <a:ea typeface="Menlo" panose="020B0609030804020204" pitchFamily="49" charset="0"/>
                <a:cs typeface="Menlo" panose="020B0609030804020204" pitchFamily="49" charset="0"/>
              </a:rPr>
              <a:t>toString</a:t>
            </a:r>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}//Animal</a:t>
            </a:r>
            <a:endParaRPr lang="en-GB" sz="1400" b="0" dirty="0">
              <a:effectLst/>
              <a:latin typeface="Menlo" panose="020B0609030804020204" pitchFamily="49" charset="0"/>
              <a:ea typeface="Menlo" panose="020B0609030804020204" pitchFamily="49" charset="0"/>
              <a:cs typeface="Menlo" panose="020B0609030804020204" pitchFamily="49" charset="0"/>
            </a:endParaRPr>
          </a:p>
        </p:txBody>
      </p:sp>
      <p:sp>
        <p:nvSpPr>
          <p:cNvPr id="17" name="Content Placeholder 2">
            <a:extLst>
              <a:ext uri="{FF2B5EF4-FFF2-40B4-BE49-F238E27FC236}">
                <a16:creationId xmlns:a16="http://schemas.microsoft.com/office/drawing/2014/main" id="{D106BC0B-39AB-7041-AE1E-967F70C4809F}"/>
              </a:ext>
            </a:extLst>
          </p:cNvPr>
          <p:cNvSpPr txBox="1">
            <a:spLocks/>
          </p:cNvSpPr>
          <p:nvPr/>
        </p:nvSpPr>
        <p:spPr>
          <a:xfrm>
            <a:off x="6640392" y="3885821"/>
            <a:ext cx="2654398" cy="737122"/>
          </a:xfrm>
          <a:prstGeom prst="rect">
            <a:avLst/>
          </a:prstGeom>
          <a:solidFill>
            <a:schemeClr val="accent6">
              <a:lumMod val="20000"/>
              <a:lumOff val="80000"/>
            </a:schemeClr>
          </a:solidFill>
        </p:spPr>
        <p:txBody>
          <a:bodyPr vert="horz" lIns="91440" tIns="45720" rIns="91440" bIns="45720" rtlCol="0" anchor="ctr">
            <a:normAutofit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We will learn about the </a:t>
            </a:r>
            <a:r>
              <a:rPr lang="en-IT" sz="1600" b="1" dirty="0">
                <a:latin typeface="Menlo" panose="020B0609030804020204" pitchFamily="49" charset="0"/>
                <a:ea typeface="Menlo" panose="020B0609030804020204" pitchFamily="49" charset="0"/>
                <a:cs typeface="Menlo" panose="020B0609030804020204" pitchFamily="49" charset="0"/>
              </a:rPr>
              <a:t>@override </a:t>
            </a:r>
            <a:r>
              <a:rPr lang="en-IT" sz="1600" dirty="0">
                <a:latin typeface="Aptos" panose="020B0004020202020204" pitchFamily="34" charset="0"/>
                <a:ea typeface="Palatino" pitchFamily="2" charset="77"/>
              </a:rPr>
              <a:t>decorator later. </a:t>
            </a:r>
          </a:p>
        </p:txBody>
      </p:sp>
      <p:cxnSp>
        <p:nvCxnSpPr>
          <p:cNvPr id="18" name="Straight Arrow Connector 17">
            <a:extLst>
              <a:ext uri="{FF2B5EF4-FFF2-40B4-BE49-F238E27FC236}">
                <a16:creationId xmlns:a16="http://schemas.microsoft.com/office/drawing/2014/main" id="{01E363AA-8AF2-594F-AE27-4539BDDBF275}"/>
              </a:ext>
            </a:extLst>
          </p:cNvPr>
          <p:cNvCxnSpPr>
            <a:cxnSpLocks/>
            <a:stCxn id="17" idx="1"/>
          </p:cNvCxnSpPr>
          <p:nvPr/>
        </p:nvCxnSpPr>
        <p:spPr>
          <a:xfrm flipH="1">
            <a:off x="1729319" y="4254382"/>
            <a:ext cx="4911073" cy="11315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Content Placeholder 2">
            <a:extLst>
              <a:ext uri="{FF2B5EF4-FFF2-40B4-BE49-F238E27FC236}">
                <a16:creationId xmlns:a16="http://schemas.microsoft.com/office/drawing/2014/main" id="{B9103E09-0689-F347-9AA6-94B92758FB09}"/>
              </a:ext>
            </a:extLst>
          </p:cNvPr>
          <p:cNvSpPr txBox="1">
            <a:spLocks/>
          </p:cNvSpPr>
          <p:nvPr/>
        </p:nvSpPr>
        <p:spPr>
          <a:xfrm>
            <a:off x="6640392" y="4768188"/>
            <a:ext cx="2654398" cy="1576444"/>
          </a:xfrm>
          <a:prstGeom prst="rect">
            <a:avLst/>
          </a:prstGeom>
          <a:solidFill>
            <a:schemeClr val="accent6">
              <a:lumMod val="20000"/>
              <a:lumOff val="80000"/>
            </a:schemeClr>
          </a:solidFill>
        </p:spPr>
        <p:txBody>
          <a:bodyPr vert="horz" lIns="91440" tIns="45720" rIns="91440" bIns="45720" rtlCol="0" anchor="ctr">
            <a:normAutofit fontScale="925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Menlo" panose="020B0609030804020204" pitchFamily="49" charset="0"/>
                <a:ea typeface="Menlo" panose="020B0609030804020204" pitchFamily="49" charset="0"/>
                <a:cs typeface="Menlo" panose="020B0609030804020204" pitchFamily="49" charset="0"/>
              </a:rPr>
              <a:t>toString() </a:t>
            </a:r>
            <a:r>
              <a:rPr lang="en-IT" sz="1600" dirty="0">
                <a:latin typeface="Aptos" panose="020B0004020202020204" pitchFamily="34" charset="0"/>
                <a:ea typeface="Palatino" pitchFamily="2" charset="77"/>
              </a:rPr>
              <a:t>is a special method that is invoked when we want to ”print” an object of the class. It provides a String representation of the object (it is the same as </a:t>
            </a:r>
            <a:r>
              <a:rPr lang="en-IT" sz="1600" b="1" dirty="0">
                <a:latin typeface="Menlo" panose="020B0609030804020204" pitchFamily="49" charset="0"/>
                <a:ea typeface="Menlo" panose="020B0609030804020204" pitchFamily="49" charset="0"/>
                <a:cs typeface="Menlo" panose="020B0609030804020204" pitchFamily="49" charset="0"/>
              </a:rPr>
              <a:t>__repr__ </a:t>
            </a:r>
            <a:r>
              <a:rPr lang="en-IT" sz="1600" dirty="0">
                <a:latin typeface="Aptos" panose="020B0004020202020204" pitchFamily="34" charset="0"/>
                <a:ea typeface="Palatino" pitchFamily="2" charset="77"/>
              </a:rPr>
              <a:t>in Python)</a:t>
            </a:r>
          </a:p>
        </p:txBody>
      </p:sp>
      <p:cxnSp>
        <p:nvCxnSpPr>
          <p:cNvPr id="25" name="Straight Arrow Connector 24">
            <a:extLst>
              <a:ext uri="{FF2B5EF4-FFF2-40B4-BE49-F238E27FC236}">
                <a16:creationId xmlns:a16="http://schemas.microsoft.com/office/drawing/2014/main" id="{B572A986-8938-7E40-9C63-A80FC4D60280}"/>
              </a:ext>
            </a:extLst>
          </p:cNvPr>
          <p:cNvCxnSpPr>
            <a:cxnSpLocks/>
            <a:stCxn id="21" idx="1"/>
          </p:cNvCxnSpPr>
          <p:nvPr/>
        </p:nvCxnSpPr>
        <p:spPr>
          <a:xfrm flipH="1">
            <a:off x="2781837" y="5556410"/>
            <a:ext cx="3858555" cy="204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Content Placeholder 2">
            <a:extLst>
              <a:ext uri="{FF2B5EF4-FFF2-40B4-BE49-F238E27FC236}">
                <a16:creationId xmlns:a16="http://schemas.microsoft.com/office/drawing/2014/main" id="{508BBD3A-8F5A-9642-834A-821EF23941C3}"/>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animal.dart</a:t>
            </a:r>
          </a:p>
        </p:txBody>
      </p:sp>
      <p:sp>
        <p:nvSpPr>
          <p:cNvPr id="4" name="Slide Number Placeholder 3">
            <a:extLst>
              <a:ext uri="{FF2B5EF4-FFF2-40B4-BE49-F238E27FC236}">
                <a16:creationId xmlns:a16="http://schemas.microsoft.com/office/drawing/2014/main" id="{882AAFAE-73C0-3A4A-BFDC-C39D1247BAF7}"/>
              </a:ext>
            </a:extLst>
          </p:cNvPr>
          <p:cNvSpPr>
            <a:spLocks noGrp="1"/>
          </p:cNvSpPr>
          <p:nvPr>
            <p:ph type="sldNum" sz="quarter" idx="12"/>
          </p:nvPr>
        </p:nvSpPr>
        <p:spPr/>
        <p:txBody>
          <a:bodyPr/>
          <a:lstStyle/>
          <a:p>
            <a:fld id="{31DE2C5B-556E-47B8-A792-024C2FCA4ACC}" type="slidenum">
              <a:rPr lang="en-GB" smtClean="0"/>
              <a:t>19</a:t>
            </a:fld>
            <a:endParaRPr lang="en-GB"/>
          </a:p>
        </p:txBody>
      </p:sp>
      <p:cxnSp>
        <p:nvCxnSpPr>
          <p:cNvPr id="6" name="Straight Arrow Connector 5">
            <a:extLst>
              <a:ext uri="{FF2B5EF4-FFF2-40B4-BE49-F238E27FC236}">
                <a16:creationId xmlns:a16="http://schemas.microsoft.com/office/drawing/2014/main" id="{7A776A14-B207-AFAC-45A3-CF165ABBAE4E}"/>
              </a:ext>
            </a:extLst>
          </p:cNvPr>
          <p:cNvCxnSpPr>
            <a:cxnSpLocks/>
          </p:cNvCxnSpPr>
          <p:nvPr/>
        </p:nvCxnSpPr>
        <p:spPr>
          <a:xfrm>
            <a:off x="10462680" y="2896189"/>
            <a:ext cx="0" cy="1942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3CDC6B2A-7EA8-31A7-E724-A9981FC3BBB2}"/>
              </a:ext>
            </a:extLst>
          </p:cNvPr>
          <p:cNvSpPr/>
          <p:nvPr/>
        </p:nvSpPr>
        <p:spPr>
          <a:xfrm>
            <a:off x="9582350" y="1336893"/>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9" name="Content Placeholder 2">
            <a:extLst>
              <a:ext uri="{FF2B5EF4-FFF2-40B4-BE49-F238E27FC236}">
                <a16:creationId xmlns:a16="http://schemas.microsoft.com/office/drawing/2014/main" id="{0539C449-07AE-C956-3EB0-16C676872806}"/>
              </a:ext>
            </a:extLst>
          </p:cNvPr>
          <p:cNvSpPr txBox="1">
            <a:spLocks/>
          </p:cNvSpPr>
          <p:nvPr/>
        </p:nvSpPr>
        <p:spPr>
          <a:xfrm>
            <a:off x="9267957" y="187316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pic>
        <p:nvPicPr>
          <p:cNvPr id="10" name="Graphic 9" descr="Eagle outline">
            <a:extLst>
              <a:ext uri="{FF2B5EF4-FFF2-40B4-BE49-F238E27FC236}">
                <a16:creationId xmlns:a16="http://schemas.microsoft.com/office/drawing/2014/main" id="{93ED641E-8076-AB9D-2E62-1D04606D9A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372" y="5072516"/>
            <a:ext cx="914400" cy="914400"/>
          </a:xfrm>
          <a:prstGeom prst="rect">
            <a:avLst/>
          </a:prstGeom>
        </p:spPr>
      </p:pic>
      <p:sp>
        <p:nvSpPr>
          <p:cNvPr id="11" name="Rectangle 10">
            <a:extLst>
              <a:ext uri="{FF2B5EF4-FFF2-40B4-BE49-F238E27FC236}">
                <a16:creationId xmlns:a16="http://schemas.microsoft.com/office/drawing/2014/main" id="{8AC56889-4767-81CA-B2C4-4560E170FE9F}"/>
              </a:ext>
            </a:extLst>
          </p:cNvPr>
          <p:cNvSpPr/>
          <p:nvPr/>
        </p:nvSpPr>
        <p:spPr>
          <a:xfrm>
            <a:off x="6640394" y="1846630"/>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p:txBody>
      </p:sp>
      <p:sp>
        <p:nvSpPr>
          <p:cNvPr id="20" name="Rectangle 19">
            <a:extLst>
              <a:ext uri="{FF2B5EF4-FFF2-40B4-BE49-F238E27FC236}">
                <a16:creationId xmlns:a16="http://schemas.microsoft.com/office/drawing/2014/main" id="{F05D5B42-630E-F2CA-3248-BFBB58FF52C9}"/>
              </a:ext>
            </a:extLst>
          </p:cNvPr>
          <p:cNvSpPr/>
          <p:nvPr/>
        </p:nvSpPr>
        <p:spPr>
          <a:xfrm>
            <a:off x="6640394" y="1281146"/>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Animal</a:t>
            </a:r>
          </a:p>
        </p:txBody>
      </p:sp>
      <p:sp>
        <p:nvSpPr>
          <p:cNvPr id="22" name="Rectangle 21">
            <a:extLst>
              <a:ext uri="{FF2B5EF4-FFF2-40B4-BE49-F238E27FC236}">
                <a16:creationId xmlns:a16="http://schemas.microsoft.com/office/drawing/2014/main" id="{6F0667D2-0111-D8DA-2741-82165A4F6814}"/>
              </a:ext>
            </a:extLst>
          </p:cNvPr>
          <p:cNvSpPr/>
          <p:nvPr/>
        </p:nvSpPr>
        <p:spPr>
          <a:xfrm>
            <a:off x="6640392" y="2479728"/>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jump()</a:t>
            </a:r>
          </a:p>
          <a:p>
            <a:pPr algn="ctr"/>
            <a:r>
              <a:rPr lang="en-IT" b="1" dirty="0">
                <a:latin typeface="Aptos" panose="020B0004020202020204" pitchFamily="34" charset="0"/>
              </a:rPr>
              <a:t>eat()</a:t>
            </a:r>
          </a:p>
        </p:txBody>
      </p:sp>
      <p:sp>
        <p:nvSpPr>
          <p:cNvPr id="26" name="Rectangle 25">
            <a:extLst>
              <a:ext uri="{FF2B5EF4-FFF2-40B4-BE49-F238E27FC236}">
                <a16:creationId xmlns:a16="http://schemas.microsoft.com/office/drawing/2014/main" id="{2049FD21-2EC4-C46C-DC66-E184B3BF8737}"/>
              </a:ext>
            </a:extLst>
          </p:cNvPr>
          <p:cNvSpPr/>
          <p:nvPr/>
        </p:nvSpPr>
        <p:spPr>
          <a:xfrm>
            <a:off x="6640392" y="1281146"/>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27" name="Content Placeholder 2">
            <a:extLst>
              <a:ext uri="{FF2B5EF4-FFF2-40B4-BE49-F238E27FC236}">
                <a16:creationId xmlns:a16="http://schemas.microsoft.com/office/drawing/2014/main" id="{2EB4ED86-FEB3-8208-1659-3901F5602592}"/>
              </a:ext>
            </a:extLst>
          </p:cNvPr>
          <p:cNvSpPr txBox="1">
            <a:spLocks/>
          </p:cNvSpPr>
          <p:nvPr/>
        </p:nvSpPr>
        <p:spPr>
          <a:xfrm>
            <a:off x="9145608" y="6105646"/>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Eagle</a:t>
            </a:r>
          </a:p>
        </p:txBody>
      </p:sp>
    </p:spTree>
    <p:extLst>
      <p:ext uri="{BB962C8B-B14F-4D97-AF65-F5344CB8AC3E}">
        <p14:creationId xmlns:p14="http://schemas.microsoft.com/office/powerpoint/2010/main" val="507024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Inheritance (example)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6569322" cy="5334907"/>
          </a:xfrm>
        </p:spPr>
        <p:txBody>
          <a:bodyPr>
            <a:normAutofit/>
          </a:bodyPr>
          <a:lstStyle/>
          <a:p>
            <a:r>
              <a:rPr lang="en-US" dirty="0"/>
              <a:t>Let’s write the subclass </a:t>
            </a:r>
            <a:r>
              <a:rPr lang="en-US" dirty="0">
                <a:latin typeface="Menlo" panose="020B0609030804020204" pitchFamily="49" charset="0"/>
                <a:ea typeface="Menlo" panose="020B0609030804020204" pitchFamily="49" charset="0"/>
                <a:cs typeface="Menlo" panose="020B0609030804020204" pitchFamily="49" charset="0"/>
              </a:rPr>
              <a:t>Eagle</a:t>
            </a:r>
            <a:r>
              <a:rPr lang="en-US" dirty="0"/>
              <a:t>:</a:t>
            </a:r>
          </a:p>
          <a:p>
            <a:endParaRPr lang="en-IT" dirty="0"/>
          </a:p>
          <a:p>
            <a:endParaRPr lang="en-IT" dirty="0"/>
          </a:p>
          <a:p>
            <a:pPr marL="0" indent="0">
              <a:buNone/>
            </a:pPr>
            <a:r>
              <a:rPr lang="en-IT" dirty="0"/>
              <a:t> </a:t>
            </a:r>
          </a:p>
        </p:txBody>
      </p:sp>
      <p:sp>
        <p:nvSpPr>
          <p:cNvPr id="19" name="Rectangle 18">
            <a:extLst>
              <a:ext uri="{FF2B5EF4-FFF2-40B4-BE49-F238E27FC236}">
                <a16:creationId xmlns:a16="http://schemas.microsoft.com/office/drawing/2014/main" id="{1877F9B4-0607-9B48-A78F-4EDA6DADFBC5}"/>
              </a:ext>
            </a:extLst>
          </p:cNvPr>
          <p:cNvSpPr/>
          <p:nvPr/>
        </p:nvSpPr>
        <p:spPr>
          <a:xfrm>
            <a:off x="6640392" y="4939687"/>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20" name="Rectangle 19">
            <a:extLst>
              <a:ext uri="{FF2B5EF4-FFF2-40B4-BE49-F238E27FC236}">
                <a16:creationId xmlns:a16="http://schemas.microsoft.com/office/drawing/2014/main" id="{7FE26D5B-434A-FA44-BDEA-9C288C4AC9B8}"/>
              </a:ext>
            </a:extLst>
          </p:cNvPr>
          <p:cNvSpPr/>
          <p:nvPr/>
        </p:nvSpPr>
        <p:spPr>
          <a:xfrm>
            <a:off x="6640392" y="437420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Eagle</a:t>
            </a:r>
          </a:p>
        </p:txBody>
      </p:sp>
      <p:sp>
        <p:nvSpPr>
          <p:cNvPr id="22" name="Rectangle 21">
            <a:extLst>
              <a:ext uri="{FF2B5EF4-FFF2-40B4-BE49-F238E27FC236}">
                <a16:creationId xmlns:a16="http://schemas.microsoft.com/office/drawing/2014/main" id="{25D27EE7-3F12-F040-B830-FB27C3604365}"/>
              </a:ext>
            </a:extLst>
          </p:cNvPr>
          <p:cNvSpPr/>
          <p:nvPr/>
        </p:nvSpPr>
        <p:spPr>
          <a:xfrm>
            <a:off x="6640390" y="5572785"/>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fly()</a:t>
            </a:r>
          </a:p>
        </p:txBody>
      </p:sp>
      <p:sp>
        <p:nvSpPr>
          <p:cNvPr id="26" name="Rectangle 25">
            <a:extLst>
              <a:ext uri="{FF2B5EF4-FFF2-40B4-BE49-F238E27FC236}">
                <a16:creationId xmlns:a16="http://schemas.microsoft.com/office/drawing/2014/main" id="{C65AA77C-A85F-5343-B601-A47EF501F784}"/>
              </a:ext>
            </a:extLst>
          </p:cNvPr>
          <p:cNvSpPr/>
          <p:nvPr/>
        </p:nvSpPr>
        <p:spPr>
          <a:xfrm>
            <a:off x="6640390" y="4374203"/>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cxnSp>
        <p:nvCxnSpPr>
          <p:cNvPr id="27" name="Straight Arrow Connector 26">
            <a:extLst>
              <a:ext uri="{FF2B5EF4-FFF2-40B4-BE49-F238E27FC236}">
                <a16:creationId xmlns:a16="http://schemas.microsoft.com/office/drawing/2014/main" id="{6D64EC59-7E51-FD4B-9D6F-0B71544F01AA}"/>
              </a:ext>
            </a:extLst>
          </p:cNvPr>
          <p:cNvCxnSpPr>
            <a:cxnSpLocks/>
            <a:stCxn id="26" idx="0"/>
          </p:cNvCxnSpPr>
          <p:nvPr/>
        </p:nvCxnSpPr>
        <p:spPr>
          <a:xfrm flipV="1">
            <a:off x="7983918" y="3112826"/>
            <a:ext cx="2" cy="12613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E659EA27-CF7C-1F43-8A81-5E8FCBE3349E}"/>
              </a:ext>
            </a:extLst>
          </p:cNvPr>
          <p:cNvSpPr/>
          <p:nvPr/>
        </p:nvSpPr>
        <p:spPr>
          <a:xfrm>
            <a:off x="7995934" y="3558848"/>
            <a:ext cx="1149674"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extends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D7931330-37C5-304B-9AD5-E783D220EC6A}"/>
              </a:ext>
            </a:extLst>
          </p:cNvPr>
          <p:cNvSpPr>
            <a:spLocks noGrp="1"/>
          </p:cNvSpPr>
          <p:nvPr>
            <p:ph type="sldNum" sz="quarter" idx="12"/>
          </p:nvPr>
        </p:nvSpPr>
        <p:spPr/>
        <p:txBody>
          <a:bodyPr/>
          <a:lstStyle/>
          <a:p>
            <a:fld id="{31DE2C5B-556E-47B8-A792-024C2FCA4ACC}" type="slidenum">
              <a:rPr lang="en-GB" smtClean="0"/>
              <a:t>20</a:t>
            </a:fld>
            <a:endParaRPr lang="en-GB" dirty="0"/>
          </a:p>
        </p:txBody>
      </p:sp>
      <p:cxnSp>
        <p:nvCxnSpPr>
          <p:cNvPr id="6" name="Straight Arrow Connector 5">
            <a:extLst>
              <a:ext uri="{FF2B5EF4-FFF2-40B4-BE49-F238E27FC236}">
                <a16:creationId xmlns:a16="http://schemas.microsoft.com/office/drawing/2014/main" id="{5A720176-9062-325E-6CFD-B23DF10D4ED6}"/>
              </a:ext>
            </a:extLst>
          </p:cNvPr>
          <p:cNvCxnSpPr>
            <a:cxnSpLocks/>
          </p:cNvCxnSpPr>
          <p:nvPr/>
        </p:nvCxnSpPr>
        <p:spPr>
          <a:xfrm>
            <a:off x="10462680" y="2896189"/>
            <a:ext cx="0" cy="1942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18BCD225-899D-7E60-BA27-70B8483270E7}"/>
              </a:ext>
            </a:extLst>
          </p:cNvPr>
          <p:cNvSpPr/>
          <p:nvPr/>
        </p:nvSpPr>
        <p:spPr>
          <a:xfrm>
            <a:off x="9582350" y="1336893"/>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10" name="Content Placeholder 2">
            <a:extLst>
              <a:ext uri="{FF2B5EF4-FFF2-40B4-BE49-F238E27FC236}">
                <a16:creationId xmlns:a16="http://schemas.microsoft.com/office/drawing/2014/main" id="{7190A444-EE2A-342B-C29B-710C2D23048D}"/>
              </a:ext>
            </a:extLst>
          </p:cNvPr>
          <p:cNvSpPr txBox="1">
            <a:spLocks/>
          </p:cNvSpPr>
          <p:nvPr/>
        </p:nvSpPr>
        <p:spPr>
          <a:xfrm>
            <a:off x="9267957" y="187316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pic>
        <p:nvPicPr>
          <p:cNvPr id="11" name="Graphic 10" descr="Eagle outline">
            <a:extLst>
              <a:ext uri="{FF2B5EF4-FFF2-40B4-BE49-F238E27FC236}">
                <a16:creationId xmlns:a16="http://schemas.microsoft.com/office/drawing/2014/main" id="{BBFE2B5B-3A67-C064-6E4D-A6CFB267F9B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372" y="5072516"/>
            <a:ext cx="914400" cy="914400"/>
          </a:xfrm>
          <a:prstGeom prst="rect">
            <a:avLst/>
          </a:prstGeom>
        </p:spPr>
      </p:pic>
      <p:sp>
        <p:nvSpPr>
          <p:cNvPr id="15" name="Rectangle 14">
            <a:extLst>
              <a:ext uri="{FF2B5EF4-FFF2-40B4-BE49-F238E27FC236}">
                <a16:creationId xmlns:a16="http://schemas.microsoft.com/office/drawing/2014/main" id="{2E51814C-D759-04E4-5451-EE72D81CF19C}"/>
              </a:ext>
            </a:extLst>
          </p:cNvPr>
          <p:cNvSpPr/>
          <p:nvPr/>
        </p:nvSpPr>
        <p:spPr>
          <a:xfrm>
            <a:off x="6640394" y="1846630"/>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p:txBody>
      </p:sp>
      <p:sp>
        <p:nvSpPr>
          <p:cNvPr id="17" name="Rectangle 16">
            <a:extLst>
              <a:ext uri="{FF2B5EF4-FFF2-40B4-BE49-F238E27FC236}">
                <a16:creationId xmlns:a16="http://schemas.microsoft.com/office/drawing/2014/main" id="{780E6492-A068-CE38-E562-757908C1EDD7}"/>
              </a:ext>
            </a:extLst>
          </p:cNvPr>
          <p:cNvSpPr/>
          <p:nvPr/>
        </p:nvSpPr>
        <p:spPr>
          <a:xfrm>
            <a:off x="6640394" y="1281146"/>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Animal</a:t>
            </a:r>
          </a:p>
        </p:txBody>
      </p:sp>
      <p:sp>
        <p:nvSpPr>
          <p:cNvPr id="18" name="Rectangle 17">
            <a:extLst>
              <a:ext uri="{FF2B5EF4-FFF2-40B4-BE49-F238E27FC236}">
                <a16:creationId xmlns:a16="http://schemas.microsoft.com/office/drawing/2014/main" id="{96545664-42CC-5120-6A0B-FA64CB087A23}"/>
              </a:ext>
            </a:extLst>
          </p:cNvPr>
          <p:cNvSpPr/>
          <p:nvPr/>
        </p:nvSpPr>
        <p:spPr>
          <a:xfrm>
            <a:off x="6640392" y="2479728"/>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jump()</a:t>
            </a:r>
          </a:p>
          <a:p>
            <a:pPr algn="ctr"/>
            <a:r>
              <a:rPr lang="en-IT" b="1" dirty="0">
                <a:latin typeface="Aptos" panose="020B0004020202020204" pitchFamily="34" charset="0"/>
              </a:rPr>
              <a:t>eat()</a:t>
            </a:r>
          </a:p>
        </p:txBody>
      </p:sp>
      <p:sp>
        <p:nvSpPr>
          <p:cNvPr id="28" name="Rectangle 27">
            <a:extLst>
              <a:ext uri="{FF2B5EF4-FFF2-40B4-BE49-F238E27FC236}">
                <a16:creationId xmlns:a16="http://schemas.microsoft.com/office/drawing/2014/main" id="{C3AD5E53-FC46-4AAC-9E91-5FB1FEE15A2E}"/>
              </a:ext>
            </a:extLst>
          </p:cNvPr>
          <p:cNvSpPr/>
          <p:nvPr/>
        </p:nvSpPr>
        <p:spPr>
          <a:xfrm>
            <a:off x="6640392" y="1281146"/>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29" name="Content Placeholder 2">
            <a:extLst>
              <a:ext uri="{FF2B5EF4-FFF2-40B4-BE49-F238E27FC236}">
                <a16:creationId xmlns:a16="http://schemas.microsoft.com/office/drawing/2014/main" id="{3A29BC9B-5A43-D859-4723-AEE2C04CD652}"/>
              </a:ext>
            </a:extLst>
          </p:cNvPr>
          <p:cNvSpPr txBox="1">
            <a:spLocks/>
          </p:cNvSpPr>
          <p:nvPr/>
        </p:nvSpPr>
        <p:spPr>
          <a:xfrm>
            <a:off x="9145608" y="6105646"/>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Eagle</a:t>
            </a:r>
          </a:p>
        </p:txBody>
      </p:sp>
    </p:spTree>
    <p:extLst>
      <p:ext uri="{BB962C8B-B14F-4D97-AF65-F5344CB8AC3E}">
        <p14:creationId xmlns:p14="http://schemas.microsoft.com/office/powerpoint/2010/main" val="3019020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2061C-BF85-C271-46C9-C6A8B1294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BA45A-330F-F851-6302-E7F1112C97EB}"/>
              </a:ext>
            </a:extLst>
          </p:cNvPr>
          <p:cNvSpPr>
            <a:spLocks noGrp="1"/>
          </p:cNvSpPr>
          <p:nvPr>
            <p:ph type="title"/>
          </p:nvPr>
        </p:nvSpPr>
        <p:spPr/>
        <p:txBody>
          <a:bodyPr/>
          <a:lstStyle/>
          <a:p>
            <a:r>
              <a:rPr lang="en-IT" dirty="0"/>
              <a:t>Inheritance (example)</a:t>
            </a:r>
          </a:p>
        </p:txBody>
      </p:sp>
      <p:sp>
        <p:nvSpPr>
          <p:cNvPr id="3" name="Content Placeholder 2">
            <a:extLst>
              <a:ext uri="{FF2B5EF4-FFF2-40B4-BE49-F238E27FC236}">
                <a16:creationId xmlns:a16="http://schemas.microsoft.com/office/drawing/2014/main" id="{7968BB2A-7D5F-0DD2-64C2-B6B2BFED95E7}"/>
              </a:ext>
            </a:extLst>
          </p:cNvPr>
          <p:cNvSpPr>
            <a:spLocks noGrp="1"/>
          </p:cNvSpPr>
          <p:nvPr>
            <p:ph idx="1"/>
          </p:nvPr>
        </p:nvSpPr>
        <p:spPr>
          <a:xfrm>
            <a:off x="428171" y="1361167"/>
            <a:ext cx="6569322" cy="5334907"/>
          </a:xfrm>
        </p:spPr>
        <p:txBody>
          <a:bodyPr>
            <a:normAutofit/>
          </a:bodyPr>
          <a:lstStyle/>
          <a:p>
            <a:r>
              <a:rPr lang="en-US" dirty="0"/>
              <a:t>Let’s write the subclass </a:t>
            </a:r>
            <a:r>
              <a:rPr lang="en-US" dirty="0">
                <a:latin typeface="Menlo" panose="020B0609030804020204" pitchFamily="49" charset="0"/>
                <a:ea typeface="Menlo" panose="020B0609030804020204" pitchFamily="49" charset="0"/>
                <a:cs typeface="Menlo" panose="020B0609030804020204" pitchFamily="49" charset="0"/>
              </a:rPr>
              <a:t>Eagle</a:t>
            </a:r>
            <a:r>
              <a:rPr lang="en-US" dirty="0"/>
              <a:t>:</a:t>
            </a:r>
          </a:p>
          <a:p>
            <a:endParaRPr lang="en-IT" dirty="0"/>
          </a:p>
          <a:p>
            <a:endParaRPr lang="en-IT" dirty="0"/>
          </a:p>
          <a:p>
            <a:pPr marL="0" indent="0">
              <a:buNone/>
            </a:pPr>
            <a:r>
              <a:rPr lang="en-IT" dirty="0"/>
              <a:t> </a:t>
            </a:r>
          </a:p>
        </p:txBody>
      </p:sp>
      <p:sp>
        <p:nvSpPr>
          <p:cNvPr id="8" name="Rectangle 7">
            <a:extLst>
              <a:ext uri="{FF2B5EF4-FFF2-40B4-BE49-F238E27FC236}">
                <a16:creationId xmlns:a16="http://schemas.microsoft.com/office/drawing/2014/main" id="{A88D7870-217C-4B56-B13A-B03A4C63964D}"/>
              </a:ext>
            </a:extLst>
          </p:cNvPr>
          <p:cNvSpPr/>
          <p:nvPr/>
        </p:nvSpPr>
        <p:spPr>
          <a:xfrm>
            <a:off x="420937" y="2016791"/>
            <a:ext cx="6226689" cy="3970318"/>
          </a:xfrm>
          <a:prstGeom prst="rect">
            <a:avLst/>
          </a:prstGeom>
        </p:spPr>
        <p:txBody>
          <a:bodyPr wrap="square">
            <a:spAutoFit/>
          </a:bodyPr>
          <a:lstStyle/>
          <a:p>
            <a:r>
              <a:rPr lang="en-GB" sz="1400" dirty="0">
                <a:latin typeface="Menlo" panose="020B0609030804020204" pitchFamily="49" charset="0"/>
                <a:ea typeface="Menlo" panose="020B0609030804020204" pitchFamily="49" charset="0"/>
                <a:cs typeface="Menlo" panose="020B0609030804020204" pitchFamily="49" charset="0"/>
              </a:rPr>
              <a:t>import '</a:t>
            </a:r>
            <a:r>
              <a:rPr lang="en-GB" sz="1400" dirty="0" err="1">
                <a:latin typeface="Menlo" panose="020B0609030804020204" pitchFamily="49" charset="0"/>
                <a:ea typeface="Menlo" panose="020B0609030804020204" pitchFamily="49" charset="0"/>
                <a:cs typeface="Menlo" panose="020B0609030804020204" pitchFamily="49" charset="0"/>
              </a:rPr>
              <a:t>animal.dart</a:t>
            </a:r>
            <a:r>
              <a:rPr lang="en-GB" sz="1400" dirty="0">
                <a:latin typeface="Menlo" panose="020B0609030804020204" pitchFamily="49" charset="0"/>
                <a:ea typeface="Menlo" panose="020B0609030804020204" pitchFamily="49" charset="0"/>
                <a:cs typeface="Menlo" panose="020B0609030804020204" pitchFamily="49" charset="0"/>
              </a:rPr>
              <a:t>';</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//To extend a class, use the extends keyword</a:t>
            </a:r>
          </a:p>
          <a:p>
            <a:r>
              <a:rPr lang="en-GB" sz="1400" dirty="0">
                <a:latin typeface="Menlo" panose="020B0609030804020204" pitchFamily="49" charset="0"/>
                <a:ea typeface="Menlo" panose="020B0609030804020204" pitchFamily="49" charset="0"/>
                <a:cs typeface="Menlo" panose="020B0609030804020204" pitchFamily="49" charset="0"/>
              </a:rPr>
              <a:t>class Eagle extends Animal{</a:t>
            </a:r>
          </a:p>
          <a:p>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 -- Constructors</a:t>
            </a:r>
          </a:p>
          <a:p>
            <a:r>
              <a:rPr lang="en-GB" sz="1400" dirty="0">
                <a:latin typeface="Menlo" panose="020B0609030804020204" pitchFamily="49" charset="0"/>
                <a:ea typeface="Menlo" panose="020B0609030804020204" pitchFamily="49" charset="0"/>
                <a:cs typeface="Menlo" panose="020B0609030804020204" pitchFamily="49" charset="0"/>
              </a:rPr>
              <a:t>  Eagle({required name, required weight}) : super(name : name, weight: weight);</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void fly(){</a:t>
            </a:r>
          </a:p>
          <a:p>
            <a:r>
              <a:rPr lang="en-GB" sz="1400" dirty="0">
                <a:latin typeface="Menlo" panose="020B0609030804020204" pitchFamily="49" charset="0"/>
                <a:ea typeface="Menlo" panose="020B0609030804020204" pitchFamily="49" charset="0"/>
                <a:cs typeface="Menlo" panose="020B0609030804020204" pitchFamily="49" charset="0"/>
              </a:rPr>
              <a:t>    print('Fly');</a:t>
            </a:r>
          </a:p>
          <a:p>
            <a:r>
              <a:rPr lang="en-GB" sz="1400" dirty="0">
                <a:latin typeface="Menlo" panose="020B0609030804020204" pitchFamily="49" charset="0"/>
                <a:ea typeface="Menlo" panose="020B0609030804020204" pitchFamily="49" charset="0"/>
                <a:cs typeface="Menlo" panose="020B0609030804020204" pitchFamily="49" charset="0"/>
              </a:rPr>
              <a:t>  }//fly</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@override</a:t>
            </a:r>
          </a:p>
          <a:p>
            <a:r>
              <a:rPr lang="en-GB" sz="1400" dirty="0">
                <a:latin typeface="Menlo" panose="020B0609030804020204" pitchFamily="49" charset="0"/>
                <a:ea typeface="Menlo" panose="020B0609030804020204" pitchFamily="49" charset="0"/>
                <a:cs typeface="Menlo" panose="020B0609030804020204" pitchFamily="49" charset="0"/>
              </a:rPr>
              <a:t>  String </a:t>
            </a:r>
            <a:r>
              <a:rPr lang="en-GB" sz="1400" dirty="0" err="1">
                <a:latin typeface="Menlo" panose="020B0609030804020204" pitchFamily="49" charset="0"/>
                <a:ea typeface="Menlo" panose="020B0609030804020204" pitchFamily="49" charset="0"/>
                <a:cs typeface="Menlo" panose="020B0609030804020204" pitchFamily="49" charset="0"/>
              </a:rPr>
              <a:t>toString</a:t>
            </a:r>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return </a:t>
            </a:r>
            <a:r>
              <a:rPr lang="en-GB" sz="1400" dirty="0" err="1">
                <a:latin typeface="Menlo" panose="020B0609030804020204" pitchFamily="49" charset="0"/>
                <a:ea typeface="Menlo" panose="020B0609030804020204" pitchFamily="49" charset="0"/>
                <a:cs typeface="Menlo" panose="020B0609030804020204" pitchFamily="49" charset="0"/>
              </a:rPr>
              <a:t>super.toString</a:t>
            </a:r>
            <a:r>
              <a:rPr lang="en-GB" sz="1400" dirty="0">
                <a:latin typeface="Menlo" panose="020B0609030804020204" pitchFamily="49" charset="0"/>
                <a:ea typeface="Menlo" panose="020B0609030804020204" pitchFamily="49" charset="0"/>
                <a:cs typeface="Menlo" panose="020B0609030804020204" pitchFamily="49" charset="0"/>
              </a:rPr>
              <a:t>();</a:t>
            </a:r>
          </a:p>
          <a:p>
            <a:r>
              <a:rPr lang="en-GB" sz="1400" dirty="0">
                <a:latin typeface="Menlo" panose="020B0609030804020204" pitchFamily="49" charset="0"/>
                <a:ea typeface="Menlo" panose="020B0609030804020204" pitchFamily="49" charset="0"/>
                <a:cs typeface="Menlo" panose="020B0609030804020204" pitchFamily="49" charset="0"/>
              </a:rPr>
              <a:t>  }//</a:t>
            </a:r>
            <a:r>
              <a:rPr lang="en-GB" sz="1400" dirty="0" err="1">
                <a:latin typeface="Menlo" panose="020B0609030804020204" pitchFamily="49" charset="0"/>
                <a:ea typeface="Menlo" panose="020B0609030804020204" pitchFamily="49" charset="0"/>
                <a:cs typeface="Menlo" panose="020B0609030804020204" pitchFamily="49" charset="0"/>
              </a:rPr>
              <a:t>toString</a:t>
            </a:r>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}//Eagle</a:t>
            </a:r>
            <a:endParaRPr lang="en-GB" sz="1400" b="0" dirty="0">
              <a:effectLst/>
              <a:latin typeface="Menlo" panose="020B0609030804020204" pitchFamily="49" charset="0"/>
              <a:ea typeface="Menlo" panose="020B0609030804020204" pitchFamily="49" charset="0"/>
              <a:cs typeface="Menlo" panose="020B0609030804020204" pitchFamily="49" charset="0"/>
            </a:endParaRPr>
          </a:p>
        </p:txBody>
      </p:sp>
      <p:sp>
        <p:nvSpPr>
          <p:cNvPr id="19" name="Rectangle 18">
            <a:extLst>
              <a:ext uri="{FF2B5EF4-FFF2-40B4-BE49-F238E27FC236}">
                <a16:creationId xmlns:a16="http://schemas.microsoft.com/office/drawing/2014/main" id="{62DC2D52-135E-6BD7-CD90-7DD5EAF0CCCE}"/>
              </a:ext>
            </a:extLst>
          </p:cNvPr>
          <p:cNvSpPr/>
          <p:nvPr/>
        </p:nvSpPr>
        <p:spPr>
          <a:xfrm>
            <a:off x="6640392" y="4939687"/>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20" name="Rectangle 19">
            <a:extLst>
              <a:ext uri="{FF2B5EF4-FFF2-40B4-BE49-F238E27FC236}">
                <a16:creationId xmlns:a16="http://schemas.microsoft.com/office/drawing/2014/main" id="{8AFD958D-30FF-0000-586C-7CE762FD9528}"/>
              </a:ext>
            </a:extLst>
          </p:cNvPr>
          <p:cNvSpPr/>
          <p:nvPr/>
        </p:nvSpPr>
        <p:spPr>
          <a:xfrm>
            <a:off x="6640392" y="4374203"/>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Eagle</a:t>
            </a:r>
          </a:p>
        </p:txBody>
      </p:sp>
      <p:sp>
        <p:nvSpPr>
          <p:cNvPr id="22" name="Rectangle 21">
            <a:extLst>
              <a:ext uri="{FF2B5EF4-FFF2-40B4-BE49-F238E27FC236}">
                <a16:creationId xmlns:a16="http://schemas.microsoft.com/office/drawing/2014/main" id="{1CBC3D75-DD3A-7297-1B71-3B3829FF0ECE}"/>
              </a:ext>
            </a:extLst>
          </p:cNvPr>
          <p:cNvSpPr/>
          <p:nvPr/>
        </p:nvSpPr>
        <p:spPr>
          <a:xfrm>
            <a:off x="6640390" y="5572785"/>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fly()</a:t>
            </a:r>
          </a:p>
        </p:txBody>
      </p:sp>
      <p:sp>
        <p:nvSpPr>
          <p:cNvPr id="26" name="Rectangle 25">
            <a:extLst>
              <a:ext uri="{FF2B5EF4-FFF2-40B4-BE49-F238E27FC236}">
                <a16:creationId xmlns:a16="http://schemas.microsoft.com/office/drawing/2014/main" id="{AA7BC33E-5C88-84B7-0FD8-E7B97FAE2415}"/>
              </a:ext>
            </a:extLst>
          </p:cNvPr>
          <p:cNvSpPr/>
          <p:nvPr/>
        </p:nvSpPr>
        <p:spPr>
          <a:xfrm>
            <a:off x="6640390" y="4374203"/>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cxnSp>
        <p:nvCxnSpPr>
          <p:cNvPr id="27" name="Straight Arrow Connector 26">
            <a:extLst>
              <a:ext uri="{FF2B5EF4-FFF2-40B4-BE49-F238E27FC236}">
                <a16:creationId xmlns:a16="http://schemas.microsoft.com/office/drawing/2014/main" id="{CC2C0015-7CD3-06A5-7D0E-A38B6C2981F8}"/>
              </a:ext>
            </a:extLst>
          </p:cNvPr>
          <p:cNvCxnSpPr>
            <a:cxnSpLocks/>
            <a:stCxn id="26" idx="0"/>
          </p:cNvCxnSpPr>
          <p:nvPr/>
        </p:nvCxnSpPr>
        <p:spPr>
          <a:xfrm flipV="1">
            <a:off x="7983918" y="3112826"/>
            <a:ext cx="2" cy="12613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F914956D-DEFE-2304-4DB8-730DC581A0F2}"/>
              </a:ext>
            </a:extLst>
          </p:cNvPr>
          <p:cNvSpPr/>
          <p:nvPr/>
        </p:nvSpPr>
        <p:spPr>
          <a:xfrm>
            <a:off x="7995934" y="3558848"/>
            <a:ext cx="1149674"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extends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21" name="Content Placeholder 2">
            <a:extLst>
              <a:ext uri="{FF2B5EF4-FFF2-40B4-BE49-F238E27FC236}">
                <a16:creationId xmlns:a16="http://schemas.microsoft.com/office/drawing/2014/main" id="{865EC062-2710-CAA2-EDBF-385AD4073561}"/>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eagle.dart</a:t>
            </a:r>
          </a:p>
        </p:txBody>
      </p:sp>
      <p:sp>
        <p:nvSpPr>
          <p:cNvPr id="4" name="Slide Number Placeholder 3">
            <a:extLst>
              <a:ext uri="{FF2B5EF4-FFF2-40B4-BE49-F238E27FC236}">
                <a16:creationId xmlns:a16="http://schemas.microsoft.com/office/drawing/2014/main" id="{89A3098D-53C2-EE4D-42BF-7D8DF656B65E}"/>
              </a:ext>
            </a:extLst>
          </p:cNvPr>
          <p:cNvSpPr>
            <a:spLocks noGrp="1"/>
          </p:cNvSpPr>
          <p:nvPr>
            <p:ph type="sldNum" sz="quarter" idx="12"/>
          </p:nvPr>
        </p:nvSpPr>
        <p:spPr/>
        <p:txBody>
          <a:bodyPr/>
          <a:lstStyle/>
          <a:p>
            <a:fld id="{31DE2C5B-556E-47B8-A792-024C2FCA4ACC}" type="slidenum">
              <a:rPr lang="en-GB" smtClean="0"/>
              <a:t>21</a:t>
            </a:fld>
            <a:endParaRPr lang="en-GB" dirty="0"/>
          </a:p>
        </p:txBody>
      </p:sp>
      <p:cxnSp>
        <p:nvCxnSpPr>
          <p:cNvPr id="6" name="Straight Arrow Connector 5">
            <a:extLst>
              <a:ext uri="{FF2B5EF4-FFF2-40B4-BE49-F238E27FC236}">
                <a16:creationId xmlns:a16="http://schemas.microsoft.com/office/drawing/2014/main" id="{816778E6-9F8B-0105-C270-B3A625E3EB8D}"/>
              </a:ext>
            </a:extLst>
          </p:cNvPr>
          <p:cNvCxnSpPr>
            <a:cxnSpLocks/>
          </p:cNvCxnSpPr>
          <p:nvPr/>
        </p:nvCxnSpPr>
        <p:spPr>
          <a:xfrm>
            <a:off x="10462680" y="2896189"/>
            <a:ext cx="0" cy="1942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A801581C-407E-70EB-6522-C002A38E4BCB}"/>
              </a:ext>
            </a:extLst>
          </p:cNvPr>
          <p:cNvSpPr/>
          <p:nvPr/>
        </p:nvSpPr>
        <p:spPr>
          <a:xfrm>
            <a:off x="9582350" y="1336893"/>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10" name="Content Placeholder 2">
            <a:extLst>
              <a:ext uri="{FF2B5EF4-FFF2-40B4-BE49-F238E27FC236}">
                <a16:creationId xmlns:a16="http://schemas.microsoft.com/office/drawing/2014/main" id="{A32E24BE-062A-838E-6090-5B4317368C1E}"/>
              </a:ext>
            </a:extLst>
          </p:cNvPr>
          <p:cNvSpPr txBox="1">
            <a:spLocks/>
          </p:cNvSpPr>
          <p:nvPr/>
        </p:nvSpPr>
        <p:spPr>
          <a:xfrm>
            <a:off x="9267957" y="187316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pic>
        <p:nvPicPr>
          <p:cNvPr id="11" name="Graphic 10" descr="Eagle outline">
            <a:extLst>
              <a:ext uri="{FF2B5EF4-FFF2-40B4-BE49-F238E27FC236}">
                <a16:creationId xmlns:a16="http://schemas.microsoft.com/office/drawing/2014/main" id="{952817B0-0D31-0512-A8FB-1AF31BCBD8A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372" y="5072516"/>
            <a:ext cx="914400" cy="914400"/>
          </a:xfrm>
          <a:prstGeom prst="rect">
            <a:avLst/>
          </a:prstGeom>
        </p:spPr>
      </p:pic>
      <p:sp>
        <p:nvSpPr>
          <p:cNvPr id="15" name="Rectangle 14">
            <a:extLst>
              <a:ext uri="{FF2B5EF4-FFF2-40B4-BE49-F238E27FC236}">
                <a16:creationId xmlns:a16="http://schemas.microsoft.com/office/drawing/2014/main" id="{01CDA4B2-AF80-5306-5299-AAFB72934C7E}"/>
              </a:ext>
            </a:extLst>
          </p:cNvPr>
          <p:cNvSpPr/>
          <p:nvPr/>
        </p:nvSpPr>
        <p:spPr>
          <a:xfrm>
            <a:off x="6640394" y="1846630"/>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p:txBody>
      </p:sp>
      <p:sp>
        <p:nvSpPr>
          <p:cNvPr id="17" name="Rectangle 16">
            <a:extLst>
              <a:ext uri="{FF2B5EF4-FFF2-40B4-BE49-F238E27FC236}">
                <a16:creationId xmlns:a16="http://schemas.microsoft.com/office/drawing/2014/main" id="{38D54FB5-5F37-2A3D-BE04-8E751F204FB9}"/>
              </a:ext>
            </a:extLst>
          </p:cNvPr>
          <p:cNvSpPr/>
          <p:nvPr/>
        </p:nvSpPr>
        <p:spPr>
          <a:xfrm>
            <a:off x="6640394" y="1281146"/>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Animal</a:t>
            </a:r>
          </a:p>
        </p:txBody>
      </p:sp>
      <p:sp>
        <p:nvSpPr>
          <p:cNvPr id="18" name="Rectangle 17">
            <a:extLst>
              <a:ext uri="{FF2B5EF4-FFF2-40B4-BE49-F238E27FC236}">
                <a16:creationId xmlns:a16="http://schemas.microsoft.com/office/drawing/2014/main" id="{1CDC391B-A426-0AFA-7CD9-5EA139285896}"/>
              </a:ext>
            </a:extLst>
          </p:cNvPr>
          <p:cNvSpPr/>
          <p:nvPr/>
        </p:nvSpPr>
        <p:spPr>
          <a:xfrm>
            <a:off x="6640392" y="2479728"/>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jump()</a:t>
            </a:r>
          </a:p>
          <a:p>
            <a:pPr algn="ctr"/>
            <a:r>
              <a:rPr lang="en-IT" b="1" dirty="0">
                <a:latin typeface="Aptos" panose="020B0004020202020204" pitchFamily="34" charset="0"/>
              </a:rPr>
              <a:t>eat()</a:t>
            </a:r>
          </a:p>
        </p:txBody>
      </p:sp>
      <p:sp>
        <p:nvSpPr>
          <p:cNvPr id="28" name="Rectangle 27">
            <a:extLst>
              <a:ext uri="{FF2B5EF4-FFF2-40B4-BE49-F238E27FC236}">
                <a16:creationId xmlns:a16="http://schemas.microsoft.com/office/drawing/2014/main" id="{03498BAE-FD55-9A54-50C5-58FFC241A570}"/>
              </a:ext>
            </a:extLst>
          </p:cNvPr>
          <p:cNvSpPr/>
          <p:nvPr/>
        </p:nvSpPr>
        <p:spPr>
          <a:xfrm>
            <a:off x="6640392" y="1281146"/>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29" name="Content Placeholder 2">
            <a:extLst>
              <a:ext uri="{FF2B5EF4-FFF2-40B4-BE49-F238E27FC236}">
                <a16:creationId xmlns:a16="http://schemas.microsoft.com/office/drawing/2014/main" id="{B5380F7C-9482-262E-D81E-53AB8A256F0E}"/>
              </a:ext>
            </a:extLst>
          </p:cNvPr>
          <p:cNvSpPr txBox="1">
            <a:spLocks/>
          </p:cNvSpPr>
          <p:nvPr/>
        </p:nvSpPr>
        <p:spPr>
          <a:xfrm>
            <a:off x="9145608" y="6105646"/>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Eagle</a:t>
            </a:r>
          </a:p>
        </p:txBody>
      </p:sp>
    </p:spTree>
    <p:extLst>
      <p:ext uri="{BB962C8B-B14F-4D97-AF65-F5344CB8AC3E}">
        <p14:creationId xmlns:p14="http://schemas.microsoft.com/office/powerpoint/2010/main" val="4291627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The </a:t>
            </a:r>
            <a:r>
              <a:rPr lang="en-IT" dirty="0">
                <a:latin typeface="Menlo" panose="020B0609030804020204" pitchFamily="49" charset="0"/>
                <a:ea typeface="Menlo" panose="020B0609030804020204" pitchFamily="49" charset="0"/>
                <a:cs typeface="Menlo" panose="020B0609030804020204" pitchFamily="49" charset="0"/>
              </a:rPr>
              <a:t>extends</a:t>
            </a:r>
            <a:r>
              <a:rPr lang="en-IT" dirty="0"/>
              <a:t> keyword</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6569322" cy="5334907"/>
          </a:xfrm>
        </p:spPr>
        <p:txBody>
          <a:bodyPr>
            <a:normAutofit/>
          </a:bodyPr>
          <a:lstStyle/>
          <a:p>
            <a:r>
              <a:rPr lang="en-US" dirty="0"/>
              <a:t>Let’s write the subclass </a:t>
            </a:r>
            <a:r>
              <a:rPr lang="en-US" dirty="0">
                <a:latin typeface="Menlo" panose="020B0609030804020204" pitchFamily="49" charset="0"/>
                <a:ea typeface="Menlo" panose="020B0609030804020204" pitchFamily="49" charset="0"/>
                <a:cs typeface="Menlo" panose="020B0609030804020204" pitchFamily="49" charset="0"/>
              </a:rPr>
              <a:t>Eagle</a:t>
            </a:r>
            <a:r>
              <a:rPr lang="en-US" dirty="0"/>
              <a:t>:</a:t>
            </a:r>
          </a:p>
          <a:p>
            <a:endParaRPr lang="en-IT" dirty="0"/>
          </a:p>
          <a:p>
            <a:endParaRPr lang="en-IT" dirty="0"/>
          </a:p>
          <a:p>
            <a:pPr marL="0" indent="0">
              <a:buNone/>
            </a:pPr>
            <a:r>
              <a:rPr lang="en-IT" dirty="0"/>
              <a:t> </a:t>
            </a:r>
          </a:p>
        </p:txBody>
      </p:sp>
      <p:sp>
        <p:nvSpPr>
          <p:cNvPr id="8" name="Rectangle 7">
            <a:extLst>
              <a:ext uri="{FF2B5EF4-FFF2-40B4-BE49-F238E27FC236}">
                <a16:creationId xmlns:a16="http://schemas.microsoft.com/office/drawing/2014/main" id="{343B568A-28FE-A045-AF92-64A25EDDC105}"/>
              </a:ext>
            </a:extLst>
          </p:cNvPr>
          <p:cNvSpPr/>
          <p:nvPr/>
        </p:nvSpPr>
        <p:spPr>
          <a:xfrm>
            <a:off x="420937" y="2016791"/>
            <a:ext cx="6226689" cy="3970318"/>
          </a:xfrm>
          <a:prstGeom prst="rect">
            <a:avLst/>
          </a:prstGeom>
        </p:spPr>
        <p:txBody>
          <a:bodyPr wrap="square">
            <a:spAutoFit/>
          </a:bodyPr>
          <a:lstStyle/>
          <a:p>
            <a:r>
              <a:rPr lang="en-GB" sz="1400" dirty="0">
                <a:latin typeface="Menlo" panose="020B0609030804020204" pitchFamily="49" charset="0"/>
                <a:ea typeface="Menlo" panose="020B0609030804020204" pitchFamily="49" charset="0"/>
                <a:cs typeface="Menlo" panose="020B0609030804020204" pitchFamily="49" charset="0"/>
              </a:rPr>
              <a:t>import '</a:t>
            </a:r>
            <a:r>
              <a:rPr lang="en-GB" sz="1400" dirty="0" err="1">
                <a:latin typeface="Menlo" panose="020B0609030804020204" pitchFamily="49" charset="0"/>
                <a:ea typeface="Menlo" panose="020B0609030804020204" pitchFamily="49" charset="0"/>
                <a:cs typeface="Menlo" panose="020B0609030804020204" pitchFamily="49" charset="0"/>
              </a:rPr>
              <a:t>animal.dart</a:t>
            </a:r>
            <a:r>
              <a:rPr lang="en-GB" sz="1400" dirty="0">
                <a:latin typeface="Menlo" panose="020B0609030804020204" pitchFamily="49" charset="0"/>
                <a:ea typeface="Menlo" panose="020B0609030804020204" pitchFamily="49" charset="0"/>
                <a:cs typeface="Menlo" panose="020B0609030804020204" pitchFamily="49" charset="0"/>
              </a:rPr>
              <a:t>';</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//To extend a class, use the extends keyword</a:t>
            </a:r>
          </a:p>
          <a:p>
            <a:r>
              <a:rPr lang="en-GB" sz="1400" dirty="0">
                <a:latin typeface="Menlo" panose="020B0609030804020204" pitchFamily="49" charset="0"/>
                <a:ea typeface="Menlo" panose="020B0609030804020204" pitchFamily="49" charset="0"/>
                <a:cs typeface="Menlo" panose="020B0609030804020204" pitchFamily="49" charset="0"/>
              </a:rPr>
              <a:t>class Eagle </a:t>
            </a:r>
            <a:r>
              <a:rPr lang="en-GB" sz="1400" b="1" dirty="0">
                <a:highlight>
                  <a:srgbClr val="FFFF00"/>
                </a:highlight>
                <a:latin typeface="Menlo" panose="020B0609030804020204" pitchFamily="49" charset="0"/>
                <a:ea typeface="Menlo" panose="020B0609030804020204" pitchFamily="49" charset="0"/>
                <a:cs typeface="Menlo" panose="020B0609030804020204" pitchFamily="49" charset="0"/>
              </a:rPr>
              <a:t>extends</a:t>
            </a:r>
            <a:r>
              <a:rPr lang="en-GB" sz="1400" dirty="0">
                <a:latin typeface="Menlo" panose="020B0609030804020204" pitchFamily="49" charset="0"/>
                <a:ea typeface="Menlo" panose="020B0609030804020204" pitchFamily="49" charset="0"/>
                <a:cs typeface="Menlo" panose="020B0609030804020204" pitchFamily="49" charset="0"/>
              </a:rPr>
              <a:t> Animal{</a:t>
            </a:r>
          </a:p>
          <a:p>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 -- Constructors</a:t>
            </a:r>
          </a:p>
          <a:p>
            <a:r>
              <a:rPr lang="en-GB" sz="1400" dirty="0">
                <a:latin typeface="Menlo" panose="020B0609030804020204" pitchFamily="49" charset="0"/>
                <a:ea typeface="Menlo" panose="020B0609030804020204" pitchFamily="49" charset="0"/>
                <a:cs typeface="Menlo" panose="020B0609030804020204" pitchFamily="49" charset="0"/>
              </a:rPr>
              <a:t>  Eagle({required name, required weight}) : super(name : name, weight: weight);</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void fly(){</a:t>
            </a:r>
          </a:p>
          <a:p>
            <a:r>
              <a:rPr lang="en-GB" sz="1400" dirty="0">
                <a:latin typeface="Menlo" panose="020B0609030804020204" pitchFamily="49" charset="0"/>
                <a:ea typeface="Menlo" panose="020B0609030804020204" pitchFamily="49" charset="0"/>
                <a:cs typeface="Menlo" panose="020B0609030804020204" pitchFamily="49" charset="0"/>
              </a:rPr>
              <a:t>    print('Fly');</a:t>
            </a:r>
          </a:p>
          <a:p>
            <a:r>
              <a:rPr lang="en-GB" sz="1400" dirty="0">
                <a:latin typeface="Menlo" panose="020B0609030804020204" pitchFamily="49" charset="0"/>
                <a:ea typeface="Menlo" panose="020B0609030804020204" pitchFamily="49" charset="0"/>
                <a:cs typeface="Menlo" panose="020B0609030804020204" pitchFamily="49" charset="0"/>
              </a:rPr>
              <a:t>  }//fly</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@override</a:t>
            </a:r>
          </a:p>
          <a:p>
            <a:r>
              <a:rPr lang="en-GB" sz="1400" dirty="0">
                <a:latin typeface="Menlo" panose="020B0609030804020204" pitchFamily="49" charset="0"/>
                <a:ea typeface="Menlo" panose="020B0609030804020204" pitchFamily="49" charset="0"/>
                <a:cs typeface="Menlo" panose="020B0609030804020204" pitchFamily="49" charset="0"/>
              </a:rPr>
              <a:t>  String </a:t>
            </a:r>
            <a:r>
              <a:rPr lang="en-GB" sz="1400" dirty="0" err="1">
                <a:latin typeface="Menlo" panose="020B0609030804020204" pitchFamily="49" charset="0"/>
                <a:ea typeface="Menlo" panose="020B0609030804020204" pitchFamily="49" charset="0"/>
                <a:cs typeface="Menlo" panose="020B0609030804020204" pitchFamily="49" charset="0"/>
              </a:rPr>
              <a:t>toString</a:t>
            </a:r>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return </a:t>
            </a:r>
            <a:r>
              <a:rPr lang="en-GB" sz="1400" dirty="0" err="1">
                <a:latin typeface="Menlo" panose="020B0609030804020204" pitchFamily="49" charset="0"/>
                <a:ea typeface="Menlo" panose="020B0609030804020204" pitchFamily="49" charset="0"/>
                <a:cs typeface="Menlo" panose="020B0609030804020204" pitchFamily="49" charset="0"/>
              </a:rPr>
              <a:t>super.toString</a:t>
            </a:r>
            <a:r>
              <a:rPr lang="en-GB" sz="1400" dirty="0">
                <a:latin typeface="Menlo" panose="020B0609030804020204" pitchFamily="49" charset="0"/>
                <a:ea typeface="Menlo" panose="020B0609030804020204" pitchFamily="49" charset="0"/>
                <a:cs typeface="Menlo" panose="020B0609030804020204" pitchFamily="49" charset="0"/>
              </a:rPr>
              <a:t>();</a:t>
            </a:r>
          </a:p>
          <a:p>
            <a:r>
              <a:rPr lang="en-GB" sz="1400" dirty="0">
                <a:latin typeface="Menlo" panose="020B0609030804020204" pitchFamily="49" charset="0"/>
                <a:ea typeface="Menlo" panose="020B0609030804020204" pitchFamily="49" charset="0"/>
                <a:cs typeface="Menlo" panose="020B0609030804020204" pitchFamily="49" charset="0"/>
              </a:rPr>
              <a:t>  }//</a:t>
            </a:r>
            <a:r>
              <a:rPr lang="en-GB" sz="1400" dirty="0" err="1">
                <a:latin typeface="Menlo" panose="020B0609030804020204" pitchFamily="49" charset="0"/>
                <a:ea typeface="Menlo" panose="020B0609030804020204" pitchFamily="49" charset="0"/>
                <a:cs typeface="Menlo" panose="020B0609030804020204" pitchFamily="49" charset="0"/>
              </a:rPr>
              <a:t>toString</a:t>
            </a:r>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}//Eagle</a:t>
            </a:r>
            <a:endParaRPr lang="en-GB" sz="1400" b="0" dirty="0">
              <a:effectLst/>
              <a:latin typeface="Menlo" panose="020B0609030804020204" pitchFamily="49" charset="0"/>
              <a:ea typeface="Menlo" panose="020B0609030804020204" pitchFamily="49" charset="0"/>
              <a:cs typeface="Menlo" panose="020B0609030804020204" pitchFamily="49" charset="0"/>
            </a:endParaRPr>
          </a:p>
        </p:txBody>
      </p:sp>
      <p:sp>
        <p:nvSpPr>
          <p:cNvPr id="21" name="Content Placeholder 2">
            <a:extLst>
              <a:ext uri="{FF2B5EF4-FFF2-40B4-BE49-F238E27FC236}">
                <a16:creationId xmlns:a16="http://schemas.microsoft.com/office/drawing/2014/main" id="{8423081E-87B4-7D46-BFAD-94EA20C242BE}"/>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lesson_04</a:t>
            </a:r>
            <a:r>
              <a:rPr lang="en-US" sz="1600" dirty="0">
                <a:latin typeface="Aptos" panose="020B0004020202020204" pitchFamily="34" charset="0"/>
                <a:ea typeface="Palatino" pitchFamily="2" charset="77"/>
              </a:rPr>
              <a:t>-</a:t>
            </a:r>
            <a:r>
              <a:rPr lang="en-IT" sz="1600">
                <a:latin typeface="Aptos" panose="020B0004020202020204" pitchFamily="34" charset="0"/>
                <a:ea typeface="Palatino" pitchFamily="2" charset="77"/>
              </a:rPr>
              <a:t>dart_101_part2/</a:t>
            </a:r>
            <a:r>
              <a:rPr lang="en-IT" sz="1600" dirty="0">
                <a:latin typeface="Aptos" panose="020B0004020202020204" pitchFamily="34" charset="0"/>
                <a:ea typeface="Palatino" pitchFamily="2" charset="77"/>
              </a:rPr>
              <a:t>eagle.dart</a:t>
            </a:r>
          </a:p>
        </p:txBody>
      </p:sp>
      <p:sp>
        <p:nvSpPr>
          <p:cNvPr id="25" name="Content Placeholder 2">
            <a:extLst>
              <a:ext uri="{FF2B5EF4-FFF2-40B4-BE49-F238E27FC236}">
                <a16:creationId xmlns:a16="http://schemas.microsoft.com/office/drawing/2014/main" id="{AB64974E-838D-A64E-81C8-B7EA0003C311}"/>
              </a:ext>
            </a:extLst>
          </p:cNvPr>
          <p:cNvSpPr txBox="1">
            <a:spLocks/>
          </p:cNvSpPr>
          <p:nvPr/>
        </p:nvSpPr>
        <p:spPr>
          <a:xfrm>
            <a:off x="6756137" y="4344811"/>
            <a:ext cx="2654398" cy="112290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 keyword </a:t>
            </a:r>
            <a:r>
              <a:rPr lang="en-IT" sz="1600" b="1" dirty="0">
                <a:latin typeface="Menlo" panose="020B0609030804020204" pitchFamily="49" charset="0"/>
                <a:ea typeface="Menlo" panose="020B0609030804020204" pitchFamily="49" charset="0"/>
                <a:cs typeface="Menlo" panose="020B0609030804020204" pitchFamily="49" charset="0"/>
              </a:rPr>
              <a:t>extends</a:t>
            </a:r>
            <a:r>
              <a:rPr lang="en-IT" sz="1600" dirty="0">
                <a:latin typeface="Aptos" panose="020B0004020202020204" pitchFamily="34" charset="0"/>
                <a:ea typeface="Palatino" pitchFamily="2" charset="77"/>
              </a:rPr>
              <a:t> specifies the superclass we are extending and thus we are inheriting from.</a:t>
            </a:r>
          </a:p>
        </p:txBody>
      </p:sp>
      <p:cxnSp>
        <p:nvCxnSpPr>
          <p:cNvPr id="28" name="Straight Arrow Connector 27">
            <a:extLst>
              <a:ext uri="{FF2B5EF4-FFF2-40B4-BE49-F238E27FC236}">
                <a16:creationId xmlns:a16="http://schemas.microsoft.com/office/drawing/2014/main" id="{243249C2-C284-1342-8990-3601AEE4D4BB}"/>
              </a:ext>
            </a:extLst>
          </p:cNvPr>
          <p:cNvCxnSpPr>
            <a:cxnSpLocks/>
            <a:stCxn id="25" idx="1"/>
          </p:cNvCxnSpPr>
          <p:nvPr/>
        </p:nvCxnSpPr>
        <p:spPr>
          <a:xfrm flipH="1" flipV="1">
            <a:off x="2530699" y="2896189"/>
            <a:ext cx="4225438" cy="20100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F26FD99C-8A76-6846-91EC-99565B4E3500}"/>
              </a:ext>
            </a:extLst>
          </p:cNvPr>
          <p:cNvSpPr>
            <a:spLocks noGrp="1"/>
          </p:cNvSpPr>
          <p:nvPr>
            <p:ph type="sldNum" sz="quarter" idx="12"/>
          </p:nvPr>
        </p:nvSpPr>
        <p:spPr/>
        <p:txBody>
          <a:bodyPr/>
          <a:lstStyle/>
          <a:p>
            <a:fld id="{31DE2C5B-556E-47B8-A792-024C2FCA4ACC}" type="slidenum">
              <a:rPr lang="en-GB" smtClean="0"/>
              <a:t>22</a:t>
            </a:fld>
            <a:endParaRPr lang="en-GB"/>
          </a:p>
        </p:txBody>
      </p:sp>
      <p:cxnSp>
        <p:nvCxnSpPr>
          <p:cNvPr id="6" name="Straight Arrow Connector 5">
            <a:extLst>
              <a:ext uri="{FF2B5EF4-FFF2-40B4-BE49-F238E27FC236}">
                <a16:creationId xmlns:a16="http://schemas.microsoft.com/office/drawing/2014/main" id="{36A726D2-D110-F3BF-A571-F0A11D129F18}"/>
              </a:ext>
            </a:extLst>
          </p:cNvPr>
          <p:cNvCxnSpPr>
            <a:cxnSpLocks/>
          </p:cNvCxnSpPr>
          <p:nvPr/>
        </p:nvCxnSpPr>
        <p:spPr>
          <a:xfrm>
            <a:off x="10462680" y="2896189"/>
            <a:ext cx="0" cy="1942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59157DB3-4396-D8D8-B631-CE4850F46C19}"/>
              </a:ext>
            </a:extLst>
          </p:cNvPr>
          <p:cNvSpPr/>
          <p:nvPr/>
        </p:nvSpPr>
        <p:spPr>
          <a:xfrm>
            <a:off x="9582350" y="1336893"/>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9" name="Content Placeholder 2">
            <a:extLst>
              <a:ext uri="{FF2B5EF4-FFF2-40B4-BE49-F238E27FC236}">
                <a16:creationId xmlns:a16="http://schemas.microsoft.com/office/drawing/2014/main" id="{AFB7C7DB-785D-E6D5-8DA8-EBCCE37A8A7D}"/>
              </a:ext>
            </a:extLst>
          </p:cNvPr>
          <p:cNvSpPr txBox="1">
            <a:spLocks/>
          </p:cNvSpPr>
          <p:nvPr/>
        </p:nvSpPr>
        <p:spPr>
          <a:xfrm>
            <a:off x="9267957" y="187316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pic>
        <p:nvPicPr>
          <p:cNvPr id="10" name="Graphic 9" descr="Eagle outline">
            <a:extLst>
              <a:ext uri="{FF2B5EF4-FFF2-40B4-BE49-F238E27FC236}">
                <a16:creationId xmlns:a16="http://schemas.microsoft.com/office/drawing/2014/main" id="{8EDB8C97-92E9-3CB4-D7B7-DFACF1AD64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372" y="5072516"/>
            <a:ext cx="914400" cy="914400"/>
          </a:xfrm>
          <a:prstGeom prst="rect">
            <a:avLst/>
          </a:prstGeom>
        </p:spPr>
      </p:pic>
      <p:sp>
        <p:nvSpPr>
          <p:cNvPr id="11" name="Content Placeholder 2">
            <a:extLst>
              <a:ext uri="{FF2B5EF4-FFF2-40B4-BE49-F238E27FC236}">
                <a16:creationId xmlns:a16="http://schemas.microsoft.com/office/drawing/2014/main" id="{767F1A9D-C408-E1EA-0008-2F769AB799A5}"/>
              </a:ext>
            </a:extLst>
          </p:cNvPr>
          <p:cNvSpPr txBox="1">
            <a:spLocks/>
          </p:cNvSpPr>
          <p:nvPr/>
        </p:nvSpPr>
        <p:spPr>
          <a:xfrm>
            <a:off x="9145608" y="6105646"/>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Eagle</a:t>
            </a:r>
          </a:p>
        </p:txBody>
      </p:sp>
    </p:spTree>
    <p:extLst>
      <p:ext uri="{BB962C8B-B14F-4D97-AF65-F5344CB8AC3E}">
        <p14:creationId xmlns:p14="http://schemas.microsoft.com/office/powerpoint/2010/main" val="3672957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The </a:t>
            </a:r>
            <a:r>
              <a:rPr lang="en-IT" dirty="0">
                <a:latin typeface="Menlo" panose="020B0609030804020204" pitchFamily="49" charset="0"/>
                <a:ea typeface="Menlo" panose="020B0609030804020204" pitchFamily="49" charset="0"/>
                <a:cs typeface="Menlo" panose="020B0609030804020204" pitchFamily="49" charset="0"/>
              </a:rPr>
              <a:t>super</a:t>
            </a:r>
            <a:r>
              <a:rPr lang="en-IT" dirty="0"/>
              <a:t> keyword</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6569322" cy="5334907"/>
          </a:xfrm>
        </p:spPr>
        <p:txBody>
          <a:bodyPr>
            <a:normAutofit/>
          </a:bodyPr>
          <a:lstStyle/>
          <a:p>
            <a:r>
              <a:rPr lang="en-US" dirty="0"/>
              <a:t>Let’s write the subclass </a:t>
            </a:r>
            <a:r>
              <a:rPr lang="en-US" dirty="0">
                <a:latin typeface="Menlo" panose="020B0609030804020204" pitchFamily="49" charset="0"/>
                <a:ea typeface="Menlo" panose="020B0609030804020204" pitchFamily="49" charset="0"/>
                <a:cs typeface="Menlo" panose="020B0609030804020204" pitchFamily="49" charset="0"/>
              </a:rPr>
              <a:t>Eagle</a:t>
            </a:r>
            <a:r>
              <a:rPr lang="en-US" dirty="0"/>
              <a:t>:</a:t>
            </a:r>
          </a:p>
          <a:p>
            <a:endParaRPr lang="en-IT" dirty="0"/>
          </a:p>
          <a:p>
            <a:endParaRPr lang="en-IT" dirty="0"/>
          </a:p>
          <a:p>
            <a:pPr marL="0" indent="0">
              <a:buNone/>
            </a:pPr>
            <a:r>
              <a:rPr lang="en-IT" dirty="0"/>
              <a:t> </a:t>
            </a:r>
          </a:p>
        </p:txBody>
      </p:sp>
      <p:sp>
        <p:nvSpPr>
          <p:cNvPr id="8" name="Rectangle 7">
            <a:extLst>
              <a:ext uri="{FF2B5EF4-FFF2-40B4-BE49-F238E27FC236}">
                <a16:creationId xmlns:a16="http://schemas.microsoft.com/office/drawing/2014/main" id="{343B568A-28FE-A045-AF92-64A25EDDC105}"/>
              </a:ext>
            </a:extLst>
          </p:cNvPr>
          <p:cNvSpPr/>
          <p:nvPr/>
        </p:nvSpPr>
        <p:spPr>
          <a:xfrm>
            <a:off x="420937" y="2016791"/>
            <a:ext cx="6226689" cy="3970318"/>
          </a:xfrm>
          <a:prstGeom prst="rect">
            <a:avLst/>
          </a:prstGeom>
        </p:spPr>
        <p:txBody>
          <a:bodyPr wrap="square">
            <a:spAutoFit/>
          </a:bodyPr>
          <a:lstStyle/>
          <a:p>
            <a:r>
              <a:rPr lang="en-GB" sz="1400" dirty="0">
                <a:latin typeface="Menlo" panose="020B0609030804020204" pitchFamily="49" charset="0"/>
                <a:ea typeface="Menlo" panose="020B0609030804020204" pitchFamily="49" charset="0"/>
                <a:cs typeface="Menlo" panose="020B0609030804020204" pitchFamily="49" charset="0"/>
              </a:rPr>
              <a:t>import '</a:t>
            </a:r>
            <a:r>
              <a:rPr lang="en-GB" sz="1400" dirty="0" err="1">
                <a:latin typeface="Menlo" panose="020B0609030804020204" pitchFamily="49" charset="0"/>
                <a:ea typeface="Menlo" panose="020B0609030804020204" pitchFamily="49" charset="0"/>
                <a:cs typeface="Menlo" panose="020B0609030804020204" pitchFamily="49" charset="0"/>
              </a:rPr>
              <a:t>animal.dart</a:t>
            </a:r>
            <a:r>
              <a:rPr lang="en-GB" sz="1400" dirty="0">
                <a:latin typeface="Menlo" panose="020B0609030804020204" pitchFamily="49" charset="0"/>
                <a:ea typeface="Menlo" panose="020B0609030804020204" pitchFamily="49" charset="0"/>
                <a:cs typeface="Menlo" panose="020B0609030804020204" pitchFamily="49" charset="0"/>
              </a:rPr>
              <a:t>';</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//To extend a class, use the extends keyword</a:t>
            </a:r>
          </a:p>
          <a:p>
            <a:r>
              <a:rPr lang="en-GB" sz="1400" dirty="0">
                <a:latin typeface="Menlo" panose="020B0609030804020204" pitchFamily="49" charset="0"/>
                <a:ea typeface="Menlo" panose="020B0609030804020204" pitchFamily="49" charset="0"/>
                <a:cs typeface="Menlo" panose="020B0609030804020204" pitchFamily="49" charset="0"/>
              </a:rPr>
              <a:t>class Eagle extends Animal{</a:t>
            </a:r>
          </a:p>
          <a:p>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 -- Constructors</a:t>
            </a:r>
          </a:p>
          <a:p>
            <a:r>
              <a:rPr lang="en-GB" sz="1400" dirty="0">
                <a:latin typeface="Menlo" panose="020B0609030804020204" pitchFamily="49" charset="0"/>
                <a:ea typeface="Menlo" panose="020B0609030804020204" pitchFamily="49" charset="0"/>
                <a:cs typeface="Menlo" panose="020B0609030804020204" pitchFamily="49" charset="0"/>
              </a:rPr>
              <a:t>  Eagle({required name, required weight}) : </a:t>
            </a:r>
            <a:r>
              <a:rPr lang="en-GB" sz="1400" b="1" dirty="0">
                <a:highlight>
                  <a:srgbClr val="FFFF00"/>
                </a:highlight>
                <a:latin typeface="Menlo" panose="020B0609030804020204" pitchFamily="49" charset="0"/>
                <a:ea typeface="Menlo" panose="020B0609030804020204" pitchFamily="49" charset="0"/>
                <a:cs typeface="Menlo" panose="020B0609030804020204" pitchFamily="49" charset="0"/>
              </a:rPr>
              <a:t>super</a:t>
            </a:r>
            <a:r>
              <a:rPr lang="en-GB" sz="1400" dirty="0">
                <a:latin typeface="Menlo" panose="020B0609030804020204" pitchFamily="49" charset="0"/>
                <a:ea typeface="Menlo" panose="020B0609030804020204" pitchFamily="49" charset="0"/>
                <a:cs typeface="Menlo" panose="020B0609030804020204" pitchFamily="49" charset="0"/>
              </a:rPr>
              <a:t>(name : name, weight: weight);</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void fly(){</a:t>
            </a:r>
          </a:p>
          <a:p>
            <a:r>
              <a:rPr lang="en-GB" sz="1400" dirty="0">
                <a:latin typeface="Menlo" panose="020B0609030804020204" pitchFamily="49" charset="0"/>
                <a:ea typeface="Menlo" panose="020B0609030804020204" pitchFamily="49" charset="0"/>
                <a:cs typeface="Menlo" panose="020B0609030804020204" pitchFamily="49" charset="0"/>
              </a:rPr>
              <a:t>    print('Fly');</a:t>
            </a:r>
          </a:p>
          <a:p>
            <a:r>
              <a:rPr lang="en-GB" sz="1400" dirty="0">
                <a:latin typeface="Menlo" panose="020B0609030804020204" pitchFamily="49" charset="0"/>
                <a:ea typeface="Menlo" panose="020B0609030804020204" pitchFamily="49" charset="0"/>
                <a:cs typeface="Menlo" panose="020B0609030804020204" pitchFamily="49" charset="0"/>
              </a:rPr>
              <a:t>  }//fly</a:t>
            </a:r>
          </a:p>
          <a:p>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  @override</a:t>
            </a:r>
          </a:p>
          <a:p>
            <a:r>
              <a:rPr lang="en-GB" sz="1400" dirty="0">
                <a:latin typeface="Menlo" panose="020B0609030804020204" pitchFamily="49" charset="0"/>
                <a:ea typeface="Menlo" panose="020B0609030804020204" pitchFamily="49" charset="0"/>
                <a:cs typeface="Menlo" panose="020B0609030804020204" pitchFamily="49" charset="0"/>
              </a:rPr>
              <a:t>  String </a:t>
            </a:r>
            <a:r>
              <a:rPr lang="en-GB" sz="1400" dirty="0" err="1">
                <a:latin typeface="Menlo" panose="020B0609030804020204" pitchFamily="49" charset="0"/>
                <a:ea typeface="Menlo" panose="020B0609030804020204" pitchFamily="49" charset="0"/>
                <a:cs typeface="Menlo" panose="020B0609030804020204" pitchFamily="49" charset="0"/>
              </a:rPr>
              <a:t>toString</a:t>
            </a:r>
            <a:r>
              <a:rPr lang="en-GB" sz="1400" dirty="0">
                <a:latin typeface="Menlo" panose="020B0609030804020204" pitchFamily="49" charset="0"/>
                <a:ea typeface="Menlo" panose="020B0609030804020204" pitchFamily="49" charset="0"/>
                <a:cs typeface="Menlo" panose="020B0609030804020204" pitchFamily="49" charset="0"/>
              </a:rPr>
              <a:t>() {</a:t>
            </a:r>
          </a:p>
          <a:p>
            <a:r>
              <a:rPr lang="en-GB" sz="1400" dirty="0">
                <a:latin typeface="Menlo" panose="020B0609030804020204" pitchFamily="49" charset="0"/>
                <a:ea typeface="Menlo" panose="020B0609030804020204" pitchFamily="49" charset="0"/>
                <a:cs typeface="Menlo" panose="020B0609030804020204" pitchFamily="49" charset="0"/>
              </a:rPr>
              <a:t>    return </a:t>
            </a:r>
            <a:r>
              <a:rPr lang="en-GB" sz="1400" b="1" dirty="0" err="1">
                <a:highlight>
                  <a:srgbClr val="FFFF00"/>
                </a:highlight>
                <a:latin typeface="Menlo" panose="020B0609030804020204" pitchFamily="49" charset="0"/>
                <a:ea typeface="Menlo" panose="020B0609030804020204" pitchFamily="49" charset="0"/>
                <a:cs typeface="Menlo" panose="020B0609030804020204" pitchFamily="49" charset="0"/>
              </a:rPr>
              <a:t>super</a:t>
            </a:r>
            <a:r>
              <a:rPr lang="en-GB" sz="1400" dirty="0" err="1">
                <a:latin typeface="Menlo" panose="020B0609030804020204" pitchFamily="49" charset="0"/>
                <a:ea typeface="Menlo" panose="020B0609030804020204" pitchFamily="49" charset="0"/>
                <a:cs typeface="Menlo" panose="020B0609030804020204" pitchFamily="49" charset="0"/>
              </a:rPr>
              <a:t>.toString</a:t>
            </a:r>
            <a:r>
              <a:rPr lang="en-GB" sz="1400" dirty="0">
                <a:latin typeface="Menlo" panose="020B0609030804020204" pitchFamily="49" charset="0"/>
                <a:ea typeface="Menlo" panose="020B0609030804020204" pitchFamily="49" charset="0"/>
                <a:cs typeface="Menlo" panose="020B0609030804020204" pitchFamily="49" charset="0"/>
              </a:rPr>
              <a:t>();</a:t>
            </a:r>
          </a:p>
          <a:p>
            <a:r>
              <a:rPr lang="en-GB" sz="1400" dirty="0">
                <a:latin typeface="Menlo" panose="020B0609030804020204" pitchFamily="49" charset="0"/>
                <a:ea typeface="Menlo" panose="020B0609030804020204" pitchFamily="49" charset="0"/>
                <a:cs typeface="Menlo" panose="020B0609030804020204" pitchFamily="49" charset="0"/>
              </a:rPr>
              <a:t>  }//</a:t>
            </a:r>
            <a:r>
              <a:rPr lang="en-GB" sz="1400" dirty="0" err="1">
                <a:latin typeface="Menlo" panose="020B0609030804020204" pitchFamily="49" charset="0"/>
                <a:ea typeface="Menlo" panose="020B0609030804020204" pitchFamily="49" charset="0"/>
                <a:cs typeface="Menlo" panose="020B0609030804020204" pitchFamily="49" charset="0"/>
              </a:rPr>
              <a:t>toString</a:t>
            </a:r>
            <a:endParaRPr lang="en-GB" sz="1400" dirty="0">
              <a:latin typeface="Menlo" panose="020B0609030804020204" pitchFamily="49" charset="0"/>
              <a:ea typeface="Menlo" panose="020B0609030804020204" pitchFamily="49" charset="0"/>
              <a:cs typeface="Menlo" panose="020B0609030804020204" pitchFamily="49" charset="0"/>
            </a:endParaRPr>
          </a:p>
          <a:p>
            <a:r>
              <a:rPr lang="en-GB" sz="1400" dirty="0">
                <a:latin typeface="Menlo" panose="020B0609030804020204" pitchFamily="49" charset="0"/>
                <a:ea typeface="Menlo" panose="020B0609030804020204" pitchFamily="49" charset="0"/>
                <a:cs typeface="Menlo" panose="020B0609030804020204" pitchFamily="49" charset="0"/>
              </a:rPr>
              <a:t>}//Eagle</a:t>
            </a:r>
            <a:endParaRPr lang="en-GB" sz="1400" b="0" dirty="0">
              <a:effectLst/>
              <a:latin typeface="Menlo" panose="020B0609030804020204" pitchFamily="49" charset="0"/>
              <a:ea typeface="Menlo" panose="020B0609030804020204" pitchFamily="49" charset="0"/>
              <a:cs typeface="Menlo" panose="020B0609030804020204" pitchFamily="49" charset="0"/>
            </a:endParaRPr>
          </a:p>
        </p:txBody>
      </p:sp>
      <p:sp>
        <p:nvSpPr>
          <p:cNvPr id="21" name="Content Placeholder 2">
            <a:extLst>
              <a:ext uri="{FF2B5EF4-FFF2-40B4-BE49-F238E27FC236}">
                <a16:creationId xmlns:a16="http://schemas.microsoft.com/office/drawing/2014/main" id="{8423081E-87B4-7D46-BFAD-94EA20C242BE}"/>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eagle.dart</a:t>
            </a:r>
          </a:p>
        </p:txBody>
      </p:sp>
      <p:sp>
        <p:nvSpPr>
          <p:cNvPr id="25" name="Content Placeholder 2">
            <a:extLst>
              <a:ext uri="{FF2B5EF4-FFF2-40B4-BE49-F238E27FC236}">
                <a16:creationId xmlns:a16="http://schemas.microsoft.com/office/drawing/2014/main" id="{AB64974E-838D-A64E-81C8-B7EA0003C311}"/>
              </a:ext>
            </a:extLst>
          </p:cNvPr>
          <p:cNvSpPr txBox="1">
            <a:spLocks/>
          </p:cNvSpPr>
          <p:nvPr/>
        </p:nvSpPr>
        <p:spPr>
          <a:xfrm>
            <a:off x="7251974" y="3317965"/>
            <a:ext cx="2654398" cy="112290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 keyword </a:t>
            </a:r>
            <a:r>
              <a:rPr lang="en-IT" sz="1600" b="1" dirty="0">
                <a:latin typeface="Menlo" panose="020B0609030804020204" pitchFamily="49" charset="0"/>
                <a:ea typeface="Menlo" panose="020B0609030804020204" pitchFamily="49" charset="0"/>
                <a:cs typeface="Menlo" panose="020B0609030804020204" pitchFamily="49" charset="0"/>
              </a:rPr>
              <a:t>super</a:t>
            </a:r>
            <a:r>
              <a:rPr lang="en-IT" sz="1600" dirty="0">
                <a:latin typeface="Aptos" panose="020B0004020202020204" pitchFamily="34" charset="0"/>
                <a:ea typeface="Palatino" pitchFamily="2" charset="77"/>
              </a:rPr>
              <a:t> is a special reference variable that refers to the superclass.</a:t>
            </a:r>
          </a:p>
        </p:txBody>
      </p:sp>
      <p:cxnSp>
        <p:nvCxnSpPr>
          <p:cNvPr id="28" name="Straight Arrow Connector 27">
            <a:extLst>
              <a:ext uri="{FF2B5EF4-FFF2-40B4-BE49-F238E27FC236}">
                <a16:creationId xmlns:a16="http://schemas.microsoft.com/office/drawing/2014/main" id="{243249C2-C284-1342-8990-3601AEE4D4BB}"/>
              </a:ext>
            </a:extLst>
          </p:cNvPr>
          <p:cNvCxnSpPr>
            <a:cxnSpLocks/>
            <a:stCxn id="25" idx="1"/>
          </p:cNvCxnSpPr>
          <p:nvPr/>
        </p:nvCxnSpPr>
        <p:spPr>
          <a:xfrm flipH="1" flipV="1">
            <a:off x="5589431" y="3606085"/>
            <a:ext cx="1662543" cy="2733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F6FB4745-2A87-A649-8F63-949101C5B072}"/>
              </a:ext>
            </a:extLst>
          </p:cNvPr>
          <p:cNvCxnSpPr>
            <a:cxnSpLocks/>
            <a:stCxn id="25" idx="1"/>
          </p:cNvCxnSpPr>
          <p:nvPr/>
        </p:nvCxnSpPr>
        <p:spPr>
          <a:xfrm flipH="1">
            <a:off x="2820473" y="3879419"/>
            <a:ext cx="4431501" cy="13172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F272316D-7BD1-4D42-A55C-0959F2D6907A}"/>
              </a:ext>
            </a:extLst>
          </p:cNvPr>
          <p:cNvSpPr>
            <a:spLocks noGrp="1"/>
          </p:cNvSpPr>
          <p:nvPr>
            <p:ph type="sldNum" sz="quarter" idx="12"/>
          </p:nvPr>
        </p:nvSpPr>
        <p:spPr/>
        <p:txBody>
          <a:bodyPr/>
          <a:lstStyle/>
          <a:p>
            <a:fld id="{31DE2C5B-556E-47B8-A792-024C2FCA4ACC}" type="slidenum">
              <a:rPr lang="en-GB" smtClean="0"/>
              <a:t>23</a:t>
            </a:fld>
            <a:endParaRPr lang="en-GB"/>
          </a:p>
        </p:txBody>
      </p:sp>
      <p:cxnSp>
        <p:nvCxnSpPr>
          <p:cNvPr id="6" name="Straight Arrow Connector 5">
            <a:extLst>
              <a:ext uri="{FF2B5EF4-FFF2-40B4-BE49-F238E27FC236}">
                <a16:creationId xmlns:a16="http://schemas.microsoft.com/office/drawing/2014/main" id="{6E0B617F-8A67-630A-BA32-7198012C9EDF}"/>
              </a:ext>
            </a:extLst>
          </p:cNvPr>
          <p:cNvCxnSpPr>
            <a:cxnSpLocks/>
          </p:cNvCxnSpPr>
          <p:nvPr/>
        </p:nvCxnSpPr>
        <p:spPr>
          <a:xfrm>
            <a:off x="10462680" y="2896189"/>
            <a:ext cx="0" cy="19420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FCD706B1-1699-02EF-77E9-5387980CF599}"/>
              </a:ext>
            </a:extLst>
          </p:cNvPr>
          <p:cNvSpPr/>
          <p:nvPr/>
        </p:nvSpPr>
        <p:spPr>
          <a:xfrm>
            <a:off x="9582350" y="1336893"/>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p>
        </p:txBody>
      </p:sp>
      <p:sp>
        <p:nvSpPr>
          <p:cNvPr id="9" name="Content Placeholder 2">
            <a:extLst>
              <a:ext uri="{FF2B5EF4-FFF2-40B4-BE49-F238E27FC236}">
                <a16:creationId xmlns:a16="http://schemas.microsoft.com/office/drawing/2014/main" id="{ACD4BFEA-4C4A-7FEF-8DA1-C7731C4A24C7}"/>
              </a:ext>
            </a:extLst>
          </p:cNvPr>
          <p:cNvSpPr txBox="1">
            <a:spLocks/>
          </p:cNvSpPr>
          <p:nvPr/>
        </p:nvSpPr>
        <p:spPr>
          <a:xfrm>
            <a:off x="9267957" y="187316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pic>
        <p:nvPicPr>
          <p:cNvPr id="10" name="Graphic 9" descr="Eagle outline">
            <a:extLst>
              <a:ext uri="{FF2B5EF4-FFF2-40B4-BE49-F238E27FC236}">
                <a16:creationId xmlns:a16="http://schemas.microsoft.com/office/drawing/2014/main" id="{5D5642B0-C576-5AC3-624A-BB4B69CD46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06372" y="5072516"/>
            <a:ext cx="914400" cy="914400"/>
          </a:xfrm>
          <a:prstGeom prst="rect">
            <a:avLst/>
          </a:prstGeom>
        </p:spPr>
      </p:pic>
      <p:sp>
        <p:nvSpPr>
          <p:cNvPr id="11" name="Content Placeholder 2">
            <a:extLst>
              <a:ext uri="{FF2B5EF4-FFF2-40B4-BE49-F238E27FC236}">
                <a16:creationId xmlns:a16="http://schemas.microsoft.com/office/drawing/2014/main" id="{FFD958DA-AA0B-F588-D233-074C22ABC1EC}"/>
              </a:ext>
            </a:extLst>
          </p:cNvPr>
          <p:cNvSpPr txBox="1">
            <a:spLocks/>
          </p:cNvSpPr>
          <p:nvPr/>
        </p:nvSpPr>
        <p:spPr>
          <a:xfrm>
            <a:off x="9145608" y="6105646"/>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Eagle</a:t>
            </a:r>
          </a:p>
        </p:txBody>
      </p:sp>
    </p:spTree>
    <p:extLst>
      <p:ext uri="{BB962C8B-B14F-4D97-AF65-F5344CB8AC3E}">
        <p14:creationId xmlns:p14="http://schemas.microsoft.com/office/powerpoint/2010/main" val="2237845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Using inheritance</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8812081" cy="5176599"/>
          </a:xfrm>
        </p:spPr>
        <p:txBody>
          <a:bodyPr>
            <a:normAutofit fontScale="47500" lnSpcReduction="20000"/>
          </a:bodyPr>
          <a:lstStyle/>
          <a:p>
            <a:r>
              <a:rPr lang="en-GB" sz="4900" dirty="0"/>
              <a:t>Let’s see how to use inheritance in a simple snippet of code:</a:t>
            </a:r>
          </a:p>
          <a:p>
            <a:pPr marL="0" indent="0">
              <a:buNone/>
            </a:pPr>
            <a:endParaRPr lang="en-GB" dirty="0"/>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import '</a:t>
            </a:r>
            <a:r>
              <a:rPr lang="en-GB" dirty="0" err="1">
                <a:latin typeface="Menlo" panose="020B0609030804020204" pitchFamily="49" charset="0"/>
                <a:ea typeface="Menlo" panose="020B0609030804020204" pitchFamily="49" charset="0"/>
                <a:cs typeface="Menlo" panose="020B0609030804020204" pitchFamily="49" charset="0"/>
              </a:rPr>
              <a:t>animal.dart</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import '</a:t>
            </a:r>
            <a:r>
              <a:rPr lang="en-GB" dirty="0" err="1">
                <a:latin typeface="Menlo" panose="020B0609030804020204" pitchFamily="49" charset="0"/>
                <a:ea typeface="Menlo" panose="020B0609030804020204" pitchFamily="49" charset="0"/>
                <a:cs typeface="Menlo" panose="020B0609030804020204" pitchFamily="49" charset="0"/>
              </a:rPr>
              <a:t>eagle.dart</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//Create an Animal </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Animal animal = Animal(name: 'Bob', weight: 10.0);</a:t>
            </a: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//Use its methods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animal.jump</a:t>
            </a:r>
            <a:r>
              <a:rPr lang="en-GB" dirty="0">
                <a:latin typeface="Menlo" panose="020B0609030804020204" pitchFamily="49" charset="0"/>
                <a:ea typeface="Menlo" panose="020B0609030804020204" pitchFamily="49" charset="0"/>
                <a:cs typeface="Menlo" panose="020B0609030804020204" pitchFamily="49" charset="0"/>
              </a:rPr>
              <a:t>(); //this will print 'Jump'</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//Use its instance variables</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animal.weight</a:t>
            </a:r>
            <a:r>
              <a:rPr lang="en-GB" dirty="0">
                <a:latin typeface="Menlo" panose="020B0609030804020204" pitchFamily="49" charset="0"/>
                <a:ea typeface="Menlo" panose="020B0609030804020204" pitchFamily="49" charset="0"/>
                <a:cs typeface="Menlo" panose="020B0609030804020204" pitchFamily="49" charset="0"/>
              </a:rPr>
              <a:t> = 30;</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 it (it will use </a:t>
            </a:r>
            <a:r>
              <a:rPr lang="en-GB" dirty="0" err="1">
                <a:latin typeface="Menlo" panose="020B0609030804020204" pitchFamily="49" charset="0"/>
                <a:ea typeface="Menlo" panose="020B0609030804020204" pitchFamily="49" charset="0"/>
                <a:cs typeface="Menlo" panose="020B0609030804020204" pitchFamily="49" charset="0"/>
              </a:rPr>
              <a:t>toString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print(animal); //This will print '(weight: 30.0, name: Bob)'</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//Create an Eagle</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Eagle eagle = Eagle(name: 'Jim', weight: 20.0);</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//Use its methods (inherited and its own)</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err="1">
                <a:latin typeface="Menlo" panose="020B0609030804020204" pitchFamily="49" charset="0"/>
                <a:ea typeface="Menlo" panose="020B0609030804020204" pitchFamily="49" charset="0"/>
                <a:cs typeface="Menlo" panose="020B0609030804020204" pitchFamily="49" charset="0"/>
              </a:rPr>
              <a:t>eagle.jump</a:t>
            </a:r>
            <a:r>
              <a:rPr lang="en-GB" b="1" dirty="0">
                <a:latin typeface="Menlo" panose="020B0609030804020204" pitchFamily="49" charset="0"/>
                <a:ea typeface="Menlo" panose="020B0609030804020204" pitchFamily="49" charset="0"/>
                <a:cs typeface="Menlo" panose="020B0609030804020204" pitchFamily="49" charset="0"/>
              </a:rPr>
              <a:t>(); </a:t>
            </a:r>
            <a:r>
              <a:rPr lang="en-GB" dirty="0">
                <a:latin typeface="Menlo" panose="020B0609030804020204" pitchFamily="49" charset="0"/>
                <a:ea typeface="Menlo" panose="020B0609030804020204" pitchFamily="49" charset="0"/>
                <a:cs typeface="Menlo" panose="020B0609030804020204" pitchFamily="49" charset="0"/>
              </a:rPr>
              <a:t>//this will print 'Jump'</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eagle.fly</a:t>
            </a:r>
            <a:r>
              <a:rPr lang="en-GB" dirty="0">
                <a:latin typeface="Menlo" panose="020B0609030804020204" pitchFamily="49" charset="0"/>
                <a:ea typeface="Menlo" panose="020B0609030804020204" pitchFamily="49" charset="0"/>
                <a:cs typeface="Menlo" panose="020B0609030804020204" pitchFamily="49" charset="0"/>
              </a:rPr>
              <a:t>(); //this will print 'Fly'</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//Use its instance variables (inherited)</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err="1">
                <a:latin typeface="Menlo" panose="020B0609030804020204" pitchFamily="49" charset="0"/>
                <a:ea typeface="Menlo" panose="020B0609030804020204" pitchFamily="49" charset="0"/>
                <a:cs typeface="Menlo" panose="020B0609030804020204" pitchFamily="49" charset="0"/>
              </a:rPr>
              <a:t>eagle.name</a:t>
            </a:r>
            <a:r>
              <a:rPr lang="en-GB" b="1" dirty="0">
                <a:latin typeface="Menlo" panose="020B0609030804020204" pitchFamily="49" charset="0"/>
                <a:ea typeface="Menlo" panose="020B0609030804020204" pitchFamily="49" charset="0"/>
                <a:cs typeface="Menlo" panose="020B0609030804020204" pitchFamily="49" charset="0"/>
              </a:rPr>
              <a:t> </a:t>
            </a:r>
            <a:r>
              <a:rPr lang="en-GB" dirty="0">
                <a:latin typeface="Menlo" panose="020B0609030804020204" pitchFamily="49" charset="0"/>
                <a:ea typeface="Menlo" panose="020B0609030804020204" pitchFamily="49" charset="0"/>
                <a:cs typeface="Menlo" panose="020B0609030804020204" pitchFamily="49" charset="0"/>
              </a:rPr>
              <a:t>= 'Carl';</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//print it (it will use the inherited </a:t>
            </a:r>
            <a:r>
              <a:rPr lang="en-GB" dirty="0" err="1">
                <a:latin typeface="Menlo" panose="020B0609030804020204" pitchFamily="49" charset="0"/>
                <a:ea typeface="Menlo" panose="020B0609030804020204" pitchFamily="49" charset="0"/>
                <a:cs typeface="Menlo" panose="020B0609030804020204" pitchFamily="49" charset="0"/>
              </a:rPr>
              <a:t>toString</a:t>
            </a:r>
            <a:r>
              <a:rPr lang="en-GB" dirty="0">
                <a:latin typeface="Menlo" panose="020B0609030804020204" pitchFamily="49" charset="0"/>
                <a:ea typeface="Menlo" panose="020B0609030804020204" pitchFamily="49" charset="0"/>
                <a:cs typeface="Menlo" panose="020B0609030804020204" pitchFamily="49" charset="0"/>
              </a:rPr>
              <a:t>())</a:t>
            </a: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print(eagle); </a:t>
            </a:r>
            <a:r>
              <a:rPr lang="en-GB" dirty="0">
                <a:latin typeface="Menlo" panose="020B0609030804020204" pitchFamily="49" charset="0"/>
                <a:ea typeface="Menlo" panose="020B0609030804020204" pitchFamily="49" charset="0"/>
                <a:cs typeface="Menlo" panose="020B0609030804020204" pitchFamily="49" charset="0"/>
              </a:rPr>
              <a:t>//This will print '(weight: 20.0, name: Carl)'</a:t>
            </a: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r>
              <a:rPr lang="en-GB" dirty="0">
                <a:latin typeface="Menlo" panose="020B0609030804020204" pitchFamily="49" charset="0"/>
                <a:ea typeface="Menlo" panose="020B0609030804020204" pitchFamily="49" charset="0"/>
                <a:cs typeface="Menlo" panose="020B0609030804020204" pitchFamily="49" charset="0"/>
              </a:rPr>
              <a:t>}//main</a:t>
            </a:r>
          </a:p>
        </p:txBody>
      </p:sp>
      <p:sp>
        <p:nvSpPr>
          <p:cNvPr id="8" name="Content Placeholder 2">
            <a:extLst>
              <a:ext uri="{FF2B5EF4-FFF2-40B4-BE49-F238E27FC236}">
                <a16:creationId xmlns:a16="http://schemas.microsoft.com/office/drawing/2014/main" id="{665D1DF4-EEF9-E44B-AC2E-851D28FD5A49}"/>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use_animal_and_eagle.dart</a:t>
            </a:r>
          </a:p>
        </p:txBody>
      </p:sp>
      <p:sp>
        <p:nvSpPr>
          <p:cNvPr id="9" name="Rectangle 8">
            <a:extLst>
              <a:ext uri="{FF2B5EF4-FFF2-40B4-BE49-F238E27FC236}">
                <a16:creationId xmlns:a16="http://schemas.microsoft.com/office/drawing/2014/main" id="{D8D03173-7B4B-9E40-BA42-6F5CBE9D00F6}"/>
              </a:ext>
            </a:extLst>
          </p:cNvPr>
          <p:cNvSpPr/>
          <p:nvPr/>
        </p:nvSpPr>
        <p:spPr>
          <a:xfrm>
            <a:off x="9183972" y="1888654"/>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name</a:t>
            </a:r>
          </a:p>
          <a:p>
            <a:pPr algn="ctr"/>
            <a:r>
              <a:rPr lang="en-IT" b="1" dirty="0">
                <a:latin typeface="Aptos" panose="020B0004020202020204" pitchFamily="34" charset="0"/>
              </a:rPr>
              <a:t>weight</a:t>
            </a:r>
          </a:p>
        </p:txBody>
      </p:sp>
      <p:sp>
        <p:nvSpPr>
          <p:cNvPr id="10" name="Rectangle 9">
            <a:extLst>
              <a:ext uri="{FF2B5EF4-FFF2-40B4-BE49-F238E27FC236}">
                <a16:creationId xmlns:a16="http://schemas.microsoft.com/office/drawing/2014/main" id="{65B95D07-A856-9144-9078-CEDC2DE87255}"/>
              </a:ext>
            </a:extLst>
          </p:cNvPr>
          <p:cNvSpPr/>
          <p:nvPr/>
        </p:nvSpPr>
        <p:spPr>
          <a:xfrm>
            <a:off x="9183972" y="1323170"/>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Animal</a:t>
            </a:r>
          </a:p>
        </p:txBody>
      </p:sp>
      <p:sp>
        <p:nvSpPr>
          <p:cNvPr id="11" name="Rectangle 10">
            <a:extLst>
              <a:ext uri="{FF2B5EF4-FFF2-40B4-BE49-F238E27FC236}">
                <a16:creationId xmlns:a16="http://schemas.microsoft.com/office/drawing/2014/main" id="{B4BA90DA-6615-1C4E-A6D2-0DDAD90073DA}"/>
              </a:ext>
            </a:extLst>
          </p:cNvPr>
          <p:cNvSpPr/>
          <p:nvPr/>
        </p:nvSpPr>
        <p:spPr>
          <a:xfrm>
            <a:off x="9183970" y="2521752"/>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jump()</a:t>
            </a:r>
          </a:p>
          <a:p>
            <a:pPr algn="ctr"/>
            <a:r>
              <a:rPr lang="en-IT" b="1" dirty="0">
                <a:latin typeface="Aptos" panose="020B0004020202020204" pitchFamily="34" charset="0"/>
              </a:rPr>
              <a:t>eat()</a:t>
            </a:r>
          </a:p>
        </p:txBody>
      </p:sp>
      <p:sp>
        <p:nvSpPr>
          <p:cNvPr id="12" name="Rectangle 11">
            <a:extLst>
              <a:ext uri="{FF2B5EF4-FFF2-40B4-BE49-F238E27FC236}">
                <a16:creationId xmlns:a16="http://schemas.microsoft.com/office/drawing/2014/main" id="{692A0547-4DE6-B541-9C23-EAC00192A33A}"/>
              </a:ext>
            </a:extLst>
          </p:cNvPr>
          <p:cNvSpPr/>
          <p:nvPr/>
        </p:nvSpPr>
        <p:spPr>
          <a:xfrm>
            <a:off x="9183970" y="1323170"/>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13" name="Rectangle 12">
            <a:extLst>
              <a:ext uri="{FF2B5EF4-FFF2-40B4-BE49-F238E27FC236}">
                <a16:creationId xmlns:a16="http://schemas.microsoft.com/office/drawing/2014/main" id="{2D95F97C-AA4D-A24F-A299-68824D743A0C}"/>
              </a:ext>
            </a:extLst>
          </p:cNvPr>
          <p:cNvSpPr/>
          <p:nvPr/>
        </p:nvSpPr>
        <p:spPr>
          <a:xfrm>
            <a:off x="9183970" y="4981711"/>
            <a:ext cx="2687054" cy="633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14" name="Rectangle 13">
            <a:extLst>
              <a:ext uri="{FF2B5EF4-FFF2-40B4-BE49-F238E27FC236}">
                <a16:creationId xmlns:a16="http://schemas.microsoft.com/office/drawing/2014/main" id="{B9BDE6A4-85E9-264A-B247-5A30619B5086}"/>
              </a:ext>
            </a:extLst>
          </p:cNvPr>
          <p:cNvSpPr/>
          <p:nvPr/>
        </p:nvSpPr>
        <p:spPr>
          <a:xfrm>
            <a:off x="9183970" y="4416227"/>
            <a:ext cx="2687054"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Eagle</a:t>
            </a:r>
          </a:p>
        </p:txBody>
      </p:sp>
      <p:sp>
        <p:nvSpPr>
          <p:cNvPr id="15" name="Rectangle 14">
            <a:extLst>
              <a:ext uri="{FF2B5EF4-FFF2-40B4-BE49-F238E27FC236}">
                <a16:creationId xmlns:a16="http://schemas.microsoft.com/office/drawing/2014/main" id="{3941F896-053B-FD4F-96C8-0663FF24A8F0}"/>
              </a:ext>
            </a:extLst>
          </p:cNvPr>
          <p:cNvSpPr/>
          <p:nvPr/>
        </p:nvSpPr>
        <p:spPr>
          <a:xfrm>
            <a:off x="9183968" y="5614809"/>
            <a:ext cx="2687054" cy="6330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fly()</a:t>
            </a:r>
          </a:p>
        </p:txBody>
      </p:sp>
      <p:sp>
        <p:nvSpPr>
          <p:cNvPr id="16" name="Rectangle 15">
            <a:extLst>
              <a:ext uri="{FF2B5EF4-FFF2-40B4-BE49-F238E27FC236}">
                <a16:creationId xmlns:a16="http://schemas.microsoft.com/office/drawing/2014/main" id="{64B57EF9-CCF4-C842-9407-ADFDBACCE7A2}"/>
              </a:ext>
            </a:extLst>
          </p:cNvPr>
          <p:cNvSpPr/>
          <p:nvPr/>
        </p:nvSpPr>
        <p:spPr>
          <a:xfrm>
            <a:off x="9183968" y="4416227"/>
            <a:ext cx="2687056" cy="183168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cxnSp>
        <p:nvCxnSpPr>
          <p:cNvPr id="17" name="Straight Arrow Connector 16">
            <a:extLst>
              <a:ext uri="{FF2B5EF4-FFF2-40B4-BE49-F238E27FC236}">
                <a16:creationId xmlns:a16="http://schemas.microsoft.com/office/drawing/2014/main" id="{C60BB52D-23BB-A547-9544-A042CA5DE687}"/>
              </a:ext>
            </a:extLst>
          </p:cNvPr>
          <p:cNvCxnSpPr>
            <a:cxnSpLocks/>
            <a:stCxn id="16" idx="0"/>
            <a:endCxn id="12" idx="2"/>
          </p:cNvCxnSpPr>
          <p:nvPr/>
        </p:nvCxnSpPr>
        <p:spPr>
          <a:xfrm flipV="1">
            <a:off x="10527496" y="3154850"/>
            <a:ext cx="2" cy="12613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2B866B69-3AA4-7F43-9115-B1DE6602C16B}"/>
              </a:ext>
            </a:extLst>
          </p:cNvPr>
          <p:cNvSpPr/>
          <p:nvPr/>
        </p:nvSpPr>
        <p:spPr>
          <a:xfrm>
            <a:off x="10539512" y="3600872"/>
            <a:ext cx="1149674"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extends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3" name="Slide Number Placeholder 2">
            <a:extLst>
              <a:ext uri="{FF2B5EF4-FFF2-40B4-BE49-F238E27FC236}">
                <a16:creationId xmlns:a16="http://schemas.microsoft.com/office/drawing/2014/main" id="{3E93D139-4626-FA4A-9066-E2B95FBC46DF}"/>
              </a:ext>
            </a:extLst>
          </p:cNvPr>
          <p:cNvSpPr>
            <a:spLocks noGrp="1"/>
          </p:cNvSpPr>
          <p:nvPr>
            <p:ph type="sldNum" sz="quarter" idx="12"/>
          </p:nvPr>
        </p:nvSpPr>
        <p:spPr/>
        <p:txBody>
          <a:bodyPr/>
          <a:lstStyle/>
          <a:p>
            <a:fld id="{31DE2C5B-556E-47B8-A792-024C2FCA4ACC}" type="slidenum">
              <a:rPr lang="en-GB" smtClean="0"/>
              <a:t>24</a:t>
            </a:fld>
            <a:endParaRPr lang="en-GB"/>
          </a:p>
        </p:txBody>
      </p:sp>
    </p:spTree>
    <p:extLst>
      <p:ext uri="{BB962C8B-B14F-4D97-AF65-F5344CB8AC3E}">
        <p14:creationId xmlns:p14="http://schemas.microsoft.com/office/powerpoint/2010/main" val="919408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How’s that possible? Dynamic dispatch</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4903680" cy="5334907"/>
          </a:xfrm>
        </p:spPr>
        <p:txBody>
          <a:bodyPr>
            <a:normAutofit fontScale="92500" lnSpcReduction="20000"/>
          </a:bodyPr>
          <a:lstStyle/>
          <a:p>
            <a:r>
              <a:rPr lang="en-US" dirty="0"/>
              <a:t>This is possible thanks to the </a:t>
            </a:r>
            <a:r>
              <a:rPr lang="en-US" b="1" dirty="0"/>
              <a:t>dynamic dispatch </a:t>
            </a:r>
            <a:r>
              <a:rPr lang="en-US" dirty="0"/>
              <a:t>mechanism.</a:t>
            </a:r>
          </a:p>
          <a:p>
            <a:endParaRPr lang="en-US" dirty="0"/>
          </a:p>
          <a:p>
            <a:r>
              <a:rPr lang="en-US" dirty="0"/>
              <a:t>When a program wishes to invoke a method </a:t>
            </a:r>
            <a:r>
              <a:rPr lang="en-US" dirty="0">
                <a:latin typeface="Menlo" panose="020B0609030804020204" pitchFamily="49" charset="0"/>
                <a:ea typeface="Menlo" panose="020B0609030804020204" pitchFamily="49" charset="0"/>
                <a:cs typeface="Menlo" panose="020B0609030804020204" pitchFamily="49" charset="0"/>
              </a:rPr>
              <a:t>met() </a:t>
            </a:r>
            <a:r>
              <a:rPr lang="en-US" dirty="0"/>
              <a:t>of some object </a:t>
            </a:r>
            <a:r>
              <a:rPr lang="en-US" dirty="0">
                <a:latin typeface="Menlo" panose="020B0609030804020204" pitchFamily="49" charset="0"/>
                <a:ea typeface="Menlo" panose="020B0609030804020204" pitchFamily="49" charset="0"/>
                <a:cs typeface="Menlo" panose="020B0609030804020204" pitchFamily="49" charset="0"/>
              </a:rPr>
              <a:t>obj</a:t>
            </a:r>
            <a:r>
              <a:rPr lang="en-US" dirty="0">
                <a:latin typeface="Courier" pitchFamily="2" charset="0"/>
              </a:rPr>
              <a:t> </a:t>
            </a:r>
            <a:r>
              <a:rPr lang="en-US" sz="2000" dirty="0"/>
              <a:t>of class </a:t>
            </a:r>
            <a:r>
              <a:rPr lang="en-US" dirty="0">
                <a:latin typeface="Menlo" panose="020B0609030804020204" pitchFamily="49" charset="0"/>
                <a:ea typeface="Menlo" panose="020B0609030804020204" pitchFamily="49" charset="0"/>
                <a:cs typeface="Menlo" panose="020B0609030804020204" pitchFamily="49" charset="0"/>
              </a:rPr>
              <a:t>C</a:t>
            </a:r>
            <a:r>
              <a:rPr lang="en-US" dirty="0"/>
              <a:t>, i.e., </a:t>
            </a:r>
            <a:r>
              <a:rPr lang="en-US" dirty="0" err="1">
                <a:latin typeface="Menlo" panose="020B0609030804020204" pitchFamily="49" charset="0"/>
                <a:ea typeface="Menlo" panose="020B0609030804020204" pitchFamily="49" charset="0"/>
                <a:cs typeface="Menlo" panose="020B0609030804020204" pitchFamily="49" charset="0"/>
              </a:rPr>
              <a:t>obj.met</a:t>
            </a:r>
            <a:r>
              <a:rPr lang="en-US" dirty="0">
                <a:latin typeface="Menlo" panose="020B0609030804020204" pitchFamily="49" charset="0"/>
                <a:ea typeface="Menlo" panose="020B0609030804020204" pitchFamily="49" charset="0"/>
                <a:cs typeface="Menlo" panose="020B0609030804020204" pitchFamily="49" charset="0"/>
              </a:rPr>
              <a:t>()</a:t>
            </a:r>
            <a:r>
              <a:rPr lang="en-US" dirty="0"/>
              <a:t>, the run-time:</a:t>
            </a:r>
          </a:p>
          <a:p>
            <a:pPr lvl="1"/>
            <a:r>
              <a:rPr lang="en-US" dirty="0"/>
              <a:t>Examines the class </a:t>
            </a:r>
            <a:r>
              <a:rPr lang="en-US" sz="2400" dirty="0">
                <a:latin typeface="Menlo" panose="020B0609030804020204" pitchFamily="49" charset="0"/>
                <a:ea typeface="Menlo" panose="020B0609030804020204" pitchFamily="49" charset="0"/>
                <a:cs typeface="Menlo" panose="020B0609030804020204" pitchFamily="49" charset="0"/>
              </a:rPr>
              <a:t>C</a:t>
            </a:r>
            <a:r>
              <a:rPr lang="en-US" dirty="0"/>
              <a:t> checking if it implements a method </a:t>
            </a:r>
            <a:r>
              <a:rPr lang="en-US" sz="2400" dirty="0">
                <a:latin typeface="Menlo" panose="020B0609030804020204" pitchFamily="49" charset="0"/>
                <a:ea typeface="Menlo" panose="020B0609030804020204" pitchFamily="49" charset="0"/>
                <a:cs typeface="Menlo" panose="020B0609030804020204" pitchFamily="49" charset="0"/>
              </a:rPr>
              <a:t>met()</a:t>
            </a:r>
          </a:p>
          <a:p>
            <a:pPr lvl="1"/>
            <a:r>
              <a:rPr lang="en-US" dirty="0"/>
              <a:t>If it does, the method </a:t>
            </a:r>
            <a:r>
              <a:rPr lang="en-US" sz="2400" dirty="0">
                <a:latin typeface="Menlo" panose="020B0609030804020204" pitchFamily="49" charset="0"/>
                <a:ea typeface="Menlo" panose="020B0609030804020204" pitchFamily="49" charset="0"/>
                <a:cs typeface="Menlo" panose="020B0609030804020204" pitchFamily="49" charset="0"/>
              </a:rPr>
              <a:t>met() </a:t>
            </a:r>
            <a:r>
              <a:rPr lang="en-US" dirty="0"/>
              <a:t>of class </a:t>
            </a:r>
            <a:r>
              <a:rPr lang="en-US" sz="2400" dirty="0">
                <a:latin typeface="Menlo" panose="020B0609030804020204" pitchFamily="49" charset="0"/>
                <a:ea typeface="Menlo" panose="020B0609030804020204" pitchFamily="49" charset="0"/>
                <a:cs typeface="Menlo" panose="020B0609030804020204" pitchFamily="49" charset="0"/>
              </a:rPr>
              <a:t>C</a:t>
            </a:r>
            <a:r>
              <a:rPr lang="en-US" dirty="0"/>
              <a:t> is executed</a:t>
            </a:r>
          </a:p>
          <a:p>
            <a:pPr lvl="1"/>
            <a:r>
              <a:rPr lang="en-US" dirty="0"/>
              <a:t>If it does not, the run-time examines the superclass of </a:t>
            </a:r>
            <a:r>
              <a:rPr lang="en-US" sz="2400" dirty="0">
                <a:latin typeface="Menlo" panose="020B0609030804020204" pitchFamily="49" charset="0"/>
                <a:ea typeface="Menlo" panose="020B0609030804020204" pitchFamily="49" charset="0"/>
                <a:cs typeface="Menlo" panose="020B0609030804020204" pitchFamily="49" charset="0"/>
              </a:rPr>
              <a:t>C</a:t>
            </a:r>
            <a:r>
              <a:rPr lang="en-US" dirty="0"/>
              <a:t> (let’s say </a:t>
            </a:r>
            <a:r>
              <a:rPr lang="en-US" sz="2400" dirty="0">
                <a:latin typeface="Menlo" panose="020B0609030804020204" pitchFamily="49" charset="0"/>
                <a:ea typeface="Menlo" panose="020B0609030804020204" pitchFamily="49" charset="0"/>
                <a:cs typeface="Menlo" panose="020B0609030804020204" pitchFamily="49" charset="0"/>
              </a:rPr>
              <a:t>S</a:t>
            </a:r>
            <a:r>
              <a:rPr lang="en-US" dirty="0"/>
              <a:t>)</a:t>
            </a:r>
          </a:p>
          <a:p>
            <a:pPr lvl="1"/>
            <a:r>
              <a:rPr lang="en-US" dirty="0"/>
              <a:t>If </a:t>
            </a:r>
            <a:r>
              <a:rPr lang="en-US" sz="2400" dirty="0">
                <a:latin typeface="Menlo" panose="020B0609030804020204" pitchFamily="49" charset="0"/>
                <a:ea typeface="Menlo" panose="020B0609030804020204" pitchFamily="49" charset="0"/>
                <a:cs typeface="Menlo" panose="020B0609030804020204" pitchFamily="49" charset="0"/>
              </a:rPr>
              <a:t>S</a:t>
            </a:r>
            <a:r>
              <a:rPr lang="en-US" dirty="0"/>
              <a:t> defines a method </a:t>
            </a:r>
            <a:r>
              <a:rPr lang="en-US" sz="2400" dirty="0">
                <a:latin typeface="Menlo" panose="020B0609030804020204" pitchFamily="49" charset="0"/>
                <a:ea typeface="Menlo" panose="020B0609030804020204" pitchFamily="49" charset="0"/>
                <a:cs typeface="Menlo" panose="020B0609030804020204" pitchFamily="49" charset="0"/>
              </a:rPr>
              <a:t>met()</a:t>
            </a:r>
            <a:r>
              <a:rPr lang="en-US" dirty="0"/>
              <a:t>, the method </a:t>
            </a:r>
            <a:r>
              <a:rPr lang="en-US" sz="2400" dirty="0">
                <a:latin typeface="Menlo" panose="020B0609030804020204" pitchFamily="49" charset="0"/>
                <a:ea typeface="Menlo" panose="020B0609030804020204" pitchFamily="49" charset="0"/>
                <a:cs typeface="Menlo" panose="020B0609030804020204" pitchFamily="49" charset="0"/>
              </a:rPr>
              <a:t>met() </a:t>
            </a:r>
            <a:r>
              <a:rPr lang="en-US" dirty="0"/>
              <a:t>of class </a:t>
            </a:r>
            <a:r>
              <a:rPr lang="en-US" sz="2400" dirty="0">
                <a:latin typeface="Menlo" panose="020B0609030804020204" pitchFamily="49" charset="0"/>
                <a:ea typeface="Menlo" panose="020B0609030804020204" pitchFamily="49" charset="0"/>
                <a:cs typeface="Menlo" panose="020B0609030804020204" pitchFamily="49" charset="0"/>
              </a:rPr>
              <a:t>S</a:t>
            </a:r>
            <a:r>
              <a:rPr lang="en-US" dirty="0"/>
              <a:t> is executed</a:t>
            </a:r>
          </a:p>
          <a:p>
            <a:pPr lvl="1"/>
            <a:r>
              <a:rPr lang="en-US" dirty="0"/>
              <a:t>Otherwise, the run-time checks the superclass of </a:t>
            </a:r>
            <a:r>
              <a:rPr lang="en-US" sz="2400" dirty="0">
                <a:latin typeface="Menlo" panose="020B0609030804020204" pitchFamily="49" charset="0"/>
                <a:ea typeface="Menlo" panose="020B0609030804020204" pitchFamily="49" charset="0"/>
                <a:cs typeface="Menlo" panose="020B0609030804020204" pitchFamily="49" charset="0"/>
              </a:rPr>
              <a:t>S</a:t>
            </a:r>
            <a:r>
              <a:rPr lang="en-US" dirty="0"/>
              <a:t> (let’s say </a:t>
            </a:r>
            <a:r>
              <a:rPr lang="en-US" sz="2400" dirty="0">
                <a:latin typeface="Menlo" panose="020B0609030804020204" pitchFamily="49" charset="0"/>
                <a:ea typeface="Menlo" panose="020B0609030804020204" pitchFamily="49" charset="0"/>
                <a:cs typeface="Menlo" panose="020B0609030804020204" pitchFamily="49" charset="0"/>
              </a:rPr>
              <a:t>T</a:t>
            </a:r>
            <a:r>
              <a:rPr lang="en-US" dirty="0"/>
              <a:t>) and so on…</a:t>
            </a:r>
            <a:endParaRPr lang="en-IT" dirty="0"/>
          </a:p>
        </p:txBody>
      </p:sp>
      <p:sp>
        <p:nvSpPr>
          <p:cNvPr id="15" name="Content Placeholder 2">
            <a:extLst>
              <a:ext uri="{FF2B5EF4-FFF2-40B4-BE49-F238E27FC236}">
                <a16:creationId xmlns:a16="http://schemas.microsoft.com/office/drawing/2014/main" id="{D60E087C-6C95-A843-BE47-18C94DD4BA1B}"/>
              </a:ext>
            </a:extLst>
          </p:cNvPr>
          <p:cNvSpPr txBox="1">
            <a:spLocks/>
          </p:cNvSpPr>
          <p:nvPr/>
        </p:nvSpPr>
        <p:spPr>
          <a:xfrm>
            <a:off x="11044062" y="4385040"/>
            <a:ext cx="537901"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Menlo" panose="020B0609030804020204" pitchFamily="49" charset="0"/>
                <a:ea typeface="Menlo" panose="020B0609030804020204" pitchFamily="49" charset="0"/>
                <a:cs typeface="Menlo" panose="020B0609030804020204" pitchFamily="49" charset="0"/>
              </a:rPr>
              <a:t>C</a:t>
            </a:r>
          </a:p>
        </p:txBody>
      </p:sp>
      <p:cxnSp>
        <p:nvCxnSpPr>
          <p:cNvPr id="24" name="Straight Arrow Connector 23">
            <a:extLst>
              <a:ext uri="{FF2B5EF4-FFF2-40B4-BE49-F238E27FC236}">
                <a16:creationId xmlns:a16="http://schemas.microsoft.com/office/drawing/2014/main" id="{0C08F598-9DA8-2446-ACAE-51072758020A}"/>
              </a:ext>
            </a:extLst>
          </p:cNvPr>
          <p:cNvCxnSpPr>
            <a:cxnSpLocks/>
          </p:cNvCxnSpPr>
          <p:nvPr/>
        </p:nvCxnSpPr>
        <p:spPr>
          <a:xfrm flipH="1">
            <a:off x="11313014" y="3319494"/>
            <a:ext cx="1" cy="947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Content Placeholder 2">
            <a:extLst>
              <a:ext uri="{FF2B5EF4-FFF2-40B4-BE49-F238E27FC236}">
                <a16:creationId xmlns:a16="http://schemas.microsoft.com/office/drawing/2014/main" id="{FA93B1F0-7902-F84B-9B5E-62B288B7A148}"/>
              </a:ext>
            </a:extLst>
          </p:cNvPr>
          <p:cNvSpPr txBox="1">
            <a:spLocks/>
          </p:cNvSpPr>
          <p:nvPr/>
        </p:nvSpPr>
        <p:spPr>
          <a:xfrm>
            <a:off x="11044062" y="2872148"/>
            <a:ext cx="537901"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Menlo" panose="020B0609030804020204" pitchFamily="49" charset="0"/>
                <a:ea typeface="Menlo" panose="020B0609030804020204" pitchFamily="49" charset="0"/>
                <a:cs typeface="Menlo" panose="020B0609030804020204" pitchFamily="49" charset="0"/>
              </a:rPr>
              <a:t>S</a:t>
            </a:r>
          </a:p>
        </p:txBody>
      </p:sp>
      <p:sp>
        <p:nvSpPr>
          <p:cNvPr id="37" name="Content Placeholder 2">
            <a:extLst>
              <a:ext uri="{FF2B5EF4-FFF2-40B4-BE49-F238E27FC236}">
                <a16:creationId xmlns:a16="http://schemas.microsoft.com/office/drawing/2014/main" id="{66398C6A-A792-FB41-8D3D-273E80807A93}"/>
              </a:ext>
            </a:extLst>
          </p:cNvPr>
          <p:cNvSpPr txBox="1">
            <a:spLocks/>
          </p:cNvSpPr>
          <p:nvPr/>
        </p:nvSpPr>
        <p:spPr>
          <a:xfrm>
            <a:off x="11044062" y="1361167"/>
            <a:ext cx="537901"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Menlo" panose="020B0609030804020204" pitchFamily="49" charset="0"/>
                <a:ea typeface="Menlo" panose="020B0609030804020204" pitchFamily="49" charset="0"/>
                <a:cs typeface="Menlo" panose="020B0609030804020204" pitchFamily="49" charset="0"/>
              </a:rPr>
              <a:t>T</a:t>
            </a:r>
          </a:p>
        </p:txBody>
      </p:sp>
      <p:sp>
        <p:nvSpPr>
          <p:cNvPr id="12" name="Rectangle 11">
            <a:extLst>
              <a:ext uri="{FF2B5EF4-FFF2-40B4-BE49-F238E27FC236}">
                <a16:creationId xmlns:a16="http://schemas.microsoft.com/office/drawing/2014/main" id="{C6844FE9-E7D7-5346-8D4C-078BA09351BE}"/>
              </a:ext>
            </a:extLst>
          </p:cNvPr>
          <p:cNvSpPr/>
          <p:nvPr/>
        </p:nvSpPr>
        <p:spPr>
          <a:xfrm>
            <a:off x="7343006" y="5545627"/>
            <a:ext cx="2687054" cy="10324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T" b="1" dirty="0">
                <a:latin typeface="Menlo" panose="020B0609030804020204" pitchFamily="49" charset="0"/>
                <a:ea typeface="Menlo" panose="020B0609030804020204" pitchFamily="49" charset="0"/>
                <a:cs typeface="Menlo" panose="020B0609030804020204" pitchFamily="49" charset="0"/>
              </a:rPr>
              <a:t>…</a:t>
            </a:r>
          </a:p>
          <a:p>
            <a:r>
              <a:rPr lang="en-IT" b="1" dirty="0">
                <a:latin typeface="Menlo" panose="020B0609030804020204" pitchFamily="49" charset="0"/>
                <a:ea typeface="Menlo" panose="020B0609030804020204" pitchFamily="49" charset="0"/>
                <a:cs typeface="Menlo" panose="020B0609030804020204" pitchFamily="49" charset="0"/>
              </a:rPr>
              <a:t>obj.met()</a:t>
            </a:r>
          </a:p>
          <a:p>
            <a:r>
              <a:rPr lang="en-IT" b="1" dirty="0">
                <a:latin typeface="Menlo" panose="020B0609030804020204" pitchFamily="49" charset="0"/>
                <a:ea typeface="Menlo" panose="020B0609030804020204" pitchFamily="49" charset="0"/>
                <a:cs typeface="Menlo" panose="020B0609030804020204" pitchFamily="49" charset="0"/>
              </a:rPr>
              <a:t>…</a:t>
            </a:r>
          </a:p>
        </p:txBody>
      </p:sp>
      <p:sp>
        <p:nvSpPr>
          <p:cNvPr id="13" name="Rectangle 12">
            <a:extLst>
              <a:ext uri="{FF2B5EF4-FFF2-40B4-BE49-F238E27FC236}">
                <a16:creationId xmlns:a16="http://schemas.microsoft.com/office/drawing/2014/main" id="{8F42252C-83DB-FF4A-85E0-C183E97A57B1}"/>
              </a:ext>
            </a:extLst>
          </p:cNvPr>
          <p:cNvSpPr/>
          <p:nvPr/>
        </p:nvSpPr>
        <p:spPr>
          <a:xfrm>
            <a:off x="9146147" y="5542944"/>
            <a:ext cx="883913" cy="3651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r"/>
            <a:r>
              <a:rPr lang="en-IT" b="1" dirty="0">
                <a:latin typeface="Menlo" panose="020B0609030804020204" pitchFamily="49" charset="0"/>
                <a:ea typeface="Menlo" panose="020B0609030804020204" pitchFamily="49" charset="0"/>
                <a:cs typeface="Menlo" panose="020B0609030804020204" pitchFamily="49" charset="0"/>
              </a:rPr>
              <a:t>Dart</a:t>
            </a:r>
          </a:p>
        </p:txBody>
      </p:sp>
      <p:cxnSp>
        <p:nvCxnSpPr>
          <p:cNvPr id="14" name="Straight Arrow Connector 13">
            <a:extLst>
              <a:ext uri="{FF2B5EF4-FFF2-40B4-BE49-F238E27FC236}">
                <a16:creationId xmlns:a16="http://schemas.microsoft.com/office/drawing/2014/main" id="{D48B21BD-DA34-1D4A-89B5-79B517440913}"/>
              </a:ext>
            </a:extLst>
          </p:cNvPr>
          <p:cNvCxnSpPr>
            <a:cxnSpLocks/>
          </p:cNvCxnSpPr>
          <p:nvPr/>
        </p:nvCxnSpPr>
        <p:spPr>
          <a:xfrm flipH="1">
            <a:off x="11313013" y="1811348"/>
            <a:ext cx="1" cy="947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BCDE4F60-CAFE-8348-BD60-C85065DB7EF3}"/>
              </a:ext>
            </a:extLst>
          </p:cNvPr>
          <p:cNvCxnSpPr>
            <a:cxnSpLocks/>
            <a:stCxn id="7" idx="3"/>
            <a:endCxn id="12" idx="1"/>
          </p:cNvCxnSpPr>
          <p:nvPr/>
        </p:nvCxnSpPr>
        <p:spPr>
          <a:xfrm>
            <a:off x="6703410" y="6059776"/>
            <a:ext cx="639596" cy="20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6C4101C7-8D5A-6540-ABCB-E449422F7F95}"/>
              </a:ext>
            </a:extLst>
          </p:cNvPr>
          <p:cNvSpPr/>
          <p:nvPr/>
        </p:nvSpPr>
        <p:spPr>
          <a:xfrm>
            <a:off x="5681079" y="5875110"/>
            <a:ext cx="1022331" cy="369332"/>
          </a:xfrm>
          <a:prstGeom prst="rect">
            <a:avLst/>
          </a:prstGeom>
        </p:spPr>
        <p:txBody>
          <a:bodyPr wrap="none">
            <a:spAutoFit/>
          </a:bodyPr>
          <a:lstStyle/>
          <a:p>
            <a:r>
              <a:rPr lang="en-US" dirty="0">
                <a:latin typeface="Aptos" panose="020B0004020202020204" pitchFamily="34" charset="0"/>
              </a:rPr>
              <a:t>I’m here</a:t>
            </a:r>
            <a:endParaRPr lang="en-IT" dirty="0">
              <a:latin typeface="Aptos" panose="020B0004020202020204" pitchFamily="34" charset="0"/>
            </a:endParaRPr>
          </a:p>
        </p:txBody>
      </p:sp>
      <p:sp>
        <p:nvSpPr>
          <p:cNvPr id="19" name="Rectangle 18">
            <a:extLst>
              <a:ext uri="{FF2B5EF4-FFF2-40B4-BE49-F238E27FC236}">
                <a16:creationId xmlns:a16="http://schemas.microsoft.com/office/drawing/2014/main" id="{0DC466CB-478D-2147-BF15-116ED84C9044}"/>
              </a:ext>
            </a:extLst>
          </p:cNvPr>
          <p:cNvSpPr/>
          <p:nvPr/>
        </p:nvSpPr>
        <p:spPr>
          <a:xfrm>
            <a:off x="7409755" y="4425464"/>
            <a:ext cx="3236014" cy="369332"/>
          </a:xfrm>
          <a:prstGeom prst="rect">
            <a:avLst/>
          </a:prstGeom>
        </p:spPr>
        <p:txBody>
          <a:bodyPr wrap="none">
            <a:spAutoFit/>
          </a:bodyPr>
          <a:lstStyle/>
          <a:p>
            <a:r>
              <a:rPr lang="en-US" dirty="0">
                <a:latin typeface="Menlo" panose="020B0609030804020204" pitchFamily="49" charset="0"/>
                <a:ea typeface="Menlo" panose="020B0609030804020204" pitchFamily="49" charset="0"/>
                <a:cs typeface="Menlo" panose="020B0609030804020204" pitchFamily="49" charset="0"/>
              </a:rPr>
              <a:t>C</a:t>
            </a:r>
            <a:r>
              <a:rPr lang="en-US" dirty="0">
                <a:latin typeface="Palatino Linotype" panose="02040502050505030304" pitchFamily="18" charset="0"/>
              </a:rPr>
              <a:t>, </a:t>
            </a:r>
            <a:r>
              <a:rPr lang="en-US" dirty="0">
                <a:latin typeface="Aptos" panose="020B0004020202020204" pitchFamily="34" charset="0"/>
              </a:rPr>
              <a:t>do you implement </a:t>
            </a:r>
            <a:r>
              <a:rPr lang="en-US" dirty="0">
                <a:latin typeface="Menlo" panose="020B0609030804020204" pitchFamily="49" charset="0"/>
                <a:ea typeface="Menlo" panose="020B0609030804020204" pitchFamily="49" charset="0"/>
                <a:cs typeface="Menlo" panose="020B0609030804020204" pitchFamily="49" charset="0"/>
              </a:rPr>
              <a:t>met()</a:t>
            </a:r>
            <a:r>
              <a:rPr lang="en-US" dirty="0">
                <a:latin typeface="Aptos" panose="020B0004020202020204" pitchFamily="34" charset="0"/>
              </a:rPr>
              <a:t>?</a:t>
            </a:r>
            <a:r>
              <a:rPr lang="en-US" dirty="0">
                <a:latin typeface="Palatino Linotype" panose="02040502050505030304" pitchFamily="18" charset="0"/>
              </a:rPr>
              <a:t> </a:t>
            </a:r>
            <a:endParaRPr lang="en-IT" dirty="0">
              <a:latin typeface="Palatino Linotype" panose="02040502050505030304" pitchFamily="18" charset="0"/>
            </a:endParaRPr>
          </a:p>
        </p:txBody>
      </p:sp>
      <p:sp>
        <p:nvSpPr>
          <p:cNvPr id="26" name="Rectangle 25">
            <a:extLst>
              <a:ext uri="{FF2B5EF4-FFF2-40B4-BE49-F238E27FC236}">
                <a16:creationId xmlns:a16="http://schemas.microsoft.com/office/drawing/2014/main" id="{EB06E2DE-4FAA-C149-B0AC-453B1B021CEF}"/>
              </a:ext>
            </a:extLst>
          </p:cNvPr>
          <p:cNvSpPr/>
          <p:nvPr/>
        </p:nvSpPr>
        <p:spPr>
          <a:xfrm>
            <a:off x="5277767" y="4004115"/>
            <a:ext cx="1828957" cy="1212030"/>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pPr algn="ctr"/>
            <a:r>
              <a:rPr lang="en-IT" b="1">
                <a:latin typeface="Aptos" panose="020B0004020202020204" pitchFamily="34" charset="0"/>
              </a:rPr>
              <a:t>Run-time</a:t>
            </a:r>
            <a:endParaRPr lang="en-IT" b="1" dirty="0">
              <a:latin typeface="Aptos" panose="020B0004020202020204" pitchFamily="34" charset="0"/>
            </a:endParaRPr>
          </a:p>
        </p:txBody>
      </p:sp>
      <p:pic>
        <p:nvPicPr>
          <p:cNvPr id="27" name="Graphic 26" descr="Stopwatch outline">
            <a:extLst>
              <a:ext uri="{FF2B5EF4-FFF2-40B4-BE49-F238E27FC236}">
                <a16:creationId xmlns:a16="http://schemas.microsoft.com/office/drawing/2014/main" id="{4A26E5F0-8D7F-0440-97DB-C86A94481A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67376" y="4324993"/>
            <a:ext cx="816060" cy="816060"/>
          </a:xfrm>
          <a:prstGeom prst="rect">
            <a:avLst/>
          </a:prstGeom>
        </p:spPr>
      </p:pic>
      <p:pic>
        <p:nvPicPr>
          <p:cNvPr id="28" name="Graphic 27" descr="Run outline">
            <a:extLst>
              <a:ext uri="{FF2B5EF4-FFF2-40B4-BE49-F238E27FC236}">
                <a16:creationId xmlns:a16="http://schemas.microsoft.com/office/drawing/2014/main" id="{D51AD184-1DB2-9444-AE10-6B622DCABC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5139" y="4324993"/>
            <a:ext cx="816060" cy="816060"/>
          </a:xfrm>
          <a:prstGeom prst="rect">
            <a:avLst/>
          </a:prstGeom>
        </p:spPr>
      </p:pic>
      <p:cxnSp>
        <p:nvCxnSpPr>
          <p:cNvPr id="30" name="Straight Arrow Connector 29">
            <a:extLst>
              <a:ext uri="{FF2B5EF4-FFF2-40B4-BE49-F238E27FC236}">
                <a16:creationId xmlns:a16="http://schemas.microsoft.com/office/drawing/2014/main" id="{3ACB117B-D49D-6644-B6E7-D9E61EC89D28}"/>
              </a:ext>
            </a:extLst>
          </p:cNvPr>
          <p:cNvCxnSpPr>
            <a:cxnSpLocks/>
            <a:stCxn id="26" idx="3"/>
            <a:endCxn id="19" idx="1"/>
          </p:cNvCxnSpPr>
          <p:nvPr/>
        </p:nvCxnSpPr>
        <p:spPr>
          <a:xfrm>
            <a:off x="7106724" y="4610130"/>
            <a:ext cx="3030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56D95A29-4791-2646-8101-175AE7ACE66C}"/>
              </a:ext>
            </a:extLst>
          </p:cNvPr>
          <p:cNvCxnSpPr>
            <a:cxnSpLocks/>
            <a:stCxn id="19" idx="3"/>
            <a:endCxn id="15" idx="1"/>
          </p:cNvCxnSpPr>
          <p:nvPr/>
        </p:nvCxnSpPr>
        <p:spPr>
          <a:xfrm>
            <a:off x="10645769" y="4610130"/>
            <a:ext cx="398293"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8F52A1F0-5C62-9F4A-8620-A36139700190}"/>
              </a:ext>
            </a:extLst>
          </p:cNvPr>
          <p:cNvCxnSpPr>
            <a:cxnSpLocks/>
          </p:cNvCxnSpPr>
          <p:nvPr/>
        </p:nvCxnSpPr>
        <p:spPr>
          <a:xfrm>
            <a:off x="11313012" y="867128"/>
            <a:ext cx="0" cy="3719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Content Placeholder 2">
            <a:extLst>
              <a:ext uri="{FF2B5EF4-FFF2-40B4-BE49-F238E27FC236}">
                <a16:creationId xmlns:a16="http://schemas.microsoft.com/office/drawing/2014/main" id="{F84C7C42-A80D-5B44-8BA7-41EEF3B25666}"/>
              </a:ext>
            </a:extLst>
          </p:cNvPr>
          <p:cNvSpPr txBox="1">
            <a:spLocks/>
          </p:cNvSpPr>
          <p:nvPr/>
        </p:nvSpPr>
        <p:spPr>
          <a:xfrm>
            <a:off x="11044061" y="402597"/>
            <a:ext cx="537901"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t>…</a:t>
            </a:r>
          </a:p>
        </p:txBody>
      </p:sp>
      <p:sp>
        <p:nvSpPr>
          <p:cNvPr id="47" name="Rectangle 46">
            <a:extLst>
              <a:ext uri="{FF2B5EF4-FFF2-40B4-BE49-F238E27FC236}">
                <a16:creationId xmlns:a16="http://schemas.microsoft.com/office/drawing/2014/main" id="{240DDCE2-34FA-A44D-A400-5BF71140FD5F}"/>
              </a:ext>
            </a:extLst>
          </p:cNvPr>
          <p:cNvSpPr/>
          <p:nvPr/>
        </p:nvSpPr>
        <p:spPr>
          <a:xfrm>
            <a:off x="11500411" y="4956387"/>
            <a:ext cx="592150" cy="369332"/>
          </a:xfrm>
          <a:prstGeom prst="rect">
            <a:avLst/>
          </a:prstGeom>
        </p:spPr>
        <p:txBody>
          <a:bodyPr wrap="none">
            <a:spAutoFit/>
          </a:bodyPr>
          <a:lstStyle/>
          <a:p>
            <a:r>
              <a:rPr lang="en-US" dirty="0">
                <a:latin typeface="Aptos" panose="020B0004020202020204" pitchFamily="34" charset="0"/>
              </a:rPr>
              <a:t>Yes!</a:t>
            </a:r>
            <a:endParaRPr lang="en-IT" dirty="0">
              <a:latin typeface="Aptos" panose="020B0004020202020204" pitchFamily="34" charset="0"/>
            </a:endParaRPr>
          </a:p>
        </p:txBody>
      </p:sp>
      <p:cxnSp>
        <p:nvCxnSpPr>
          <p:cNvPr id="51" name="Straight Arrow Connector 50">
            <a:extLst>
              <a:ext uri="{FF2B5EF4-FFF2-40B4-BE49-F238E27FC236}">
                <a16:creationId xmlns:a16="http://schemas.microsoft.com/office/drawing/2014/main" id="{25FFA8C7-8237-A64E-9099-5BFEF73A76CB}"/>
              </a:ext>
            </a:extLst>
          </p:cNvPr>
          <p:cNvCxnSpPr>
            <a:cxnSpLocks/>
            <a:stCxn id="26" idx="2"/>
            <a:endCxn id="7" idx="0"/>
          </p:cNvCxnSpPr>
          <p:nvPr/>
        </p:nvCxnSpPr>
        <p:spPr>
          <a:xfrm flipH="1">
            <a:off x="6192245" y="5216145"/>
            <a:ext cx="1" cy="6589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F7D30FF7-EF3A-FB40-A36F-CD63BFED6710}"/>
              </a:ext>
            </a:extLst>
          </p:cNvPr>
          <p:cNvCxnSpPr>
            <a:cxnSpLocks/>
            <a:stCxn id="15" idx="3"/>
            <a:endCxn id="47" idx="0"/>
          </p:cNvCxnSpPr>
          <p:nvPr/>
        </p:nvCxnSpPr>
        <p:spPr>
          <a:xfrm>
            <a:off x="11581963" y="4610131"/>
            <a:ext cx="214523" cy="3462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CCD41F0F-68A6-D64C-B20C-20A4650AC4AA}"/>
              </a:ext>
            </a:extLst>
          </p:cNvPr>
          <p:cNvCxnSpPr>
            <a:cxnSpLocks/>
            <a:stCxn id="47" idx="2"/>
          </p:cNvCxnSpPr>
          <p:nvPr/>
        </p:nvCxnSpPr>
        <p:spPr>
          <a:xfrm>
            <a:off x="11796486" y="5325719"/>
            <a:ext cx="0" cy="5493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Rectangle 63">
            <a:extLst>
              <a:ext uri="{FF2B5EF4-FFF2-40B4-BE49-F238E27FC236}">
                <a16:creationId xmlns:a16="http://schemas.microsoft.com/office/drawing/2014/main" id="{CD11059A-4FC9-5840-A8E5-1DA50F455368}"/>
              </a:ext>
            </a:extLst>
          </p:cNvPr>
          <p:cNvSpPr/>
          <p:nvPr/>
        </p:nvSpPr>
        <p:spPr>
          <a:xfrm>
            <a:off x="10154107" y="5936446"/>
            <a:ext cx="1938454" cy="369332"/>
          </a:xfrm>
          <a:prstGeom prst="rect">
            <a:avLst/>
          </a:prstGeom>
        </p:spPr>
        <p:txBody>
          <a:bodyPr wrap="square">
            <a:spAutoFit/>
          </a:bodyPr>
          <a:lstStyle/>
          <a:p>
            <a:pPr algn="r"/>
            <a:r>
              <a:rPr lang="en-US" dirty="0">
                <a:latin typeface="Aptos" panose="020B0004020202020204" pitchFamily="34" charset="0"/>
              </a:rPr>
              <a:t>Execute</a:t>
            </a:r>
            <a:r>
              <a:rPr lang="en-US" dirty="0">
                <a:latin typeface="Palatino Linotype" panose="02040502050505030304" pitchFamily="18" charset="0"/>
              </a:rPr>
              <a:t> </a:t>
            </a:r>
            <a:r>
              <a:rPr lang="en-US" dirty="0">
                <a:latin typeface="Menlo" panose="020B0609030804020204" pitchFamily="49" charset="0"/>
                <a:ea typeface="Menlo" panose="020B0609030804020204" pitchFamily="49" charset="0"/>
                <a:cs typeface="Menlo" panose="020B0609030804020204" pitchFamily="49" charset="0"/>
              </a:rPr>
              <a:t>met()</a:t>
            </a:r>
            <a:endParaRPr lang="en-IT" dirty="0">
              <a:latin typeface="Menlo" panose="020B0609030804020204" pitchFamily="49" charset="0"/>
              <a:ea typeface="Menlo" panose="020B0609030804020204" pitchFamily="49" charset="0"/>
              <a:cs typeface="Menlo" panose="020B0609030804020204" pitchFamily="49" charset="0"/>
            </a:endParaRPr>
          </a:p>
        </p:txBody>
      </p:sp>
      <p:cxnSp>
        <p:nvCxnSpPr>
          <p:cNvPr id="65" name="Straight Arrow Connector 64">
            <a:extLst>
              <a:ext uri="{FF2B5EF4-FFF2-40B4-BE49-F238E27FC236}">
                <a16:creationId xmlns:a16="http://schemas.microsoft.com/office/drawing/2014/main" id="{A267C959-6152-CC4E-A80B-3578C29B87D3}"/>
              </a:ext>
            </a:extLst>
          </p:cNvPr>
          <p:cNvCxnSpPr>
            <a:cxnSpLocks/>
            <a:stCxn id="33" idx="3"/>
            <a:endCxn id="47" idx="0"/>
          </p:cNvCxnSpPr>
          <p:nvPr/>
        </p:nvCxnSpPr>
        <p:spPr>
          <a:xfrm>
            <a:off x="11581963" y="3097239"/>
            <a:ext cx="214523" cy="18591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D18B98E1-A180-1347-9517-D529E89690A5}"/>
              </a:ext>
            </a:extLst>
          </p:cNvPr>
          <p:cNvCxnSpPr>
            <a:cxnSpLocks/>
            <a:stCxn id="37" idx="3"/>
            <a:endCxn id="47" idx="0"/>
          </p:cNvCxnSpPr>
          <p:nvPr/>
        </p:nvCxnSpPr>
        <p:spPr>
          <a:xfrm>
            <a:off x="11581963" y="1586258"/>
            <a:ext cx="214523" cy="33701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Rectangle 71">
            <a:extLst>
              <a:ext uri="{FF2B5EF4-FFF2-40B4-BE49-F238E27FC236}">
                <a16:creationId xmlns:a16="http://schemas.microsoft.com/office/drawing/2014/main" id="{91D35D22-D331-3948-B00E-F9C17745EECA}"/>
              </a:ext>
            </a:extLst>
          </p:cNvPr>
          <p:cNvSpPr/>
          <p:nvPr/>
        </p:nvSpPr>
        <p:spPr>
          <a:xfrm>
            <a:off x="7922330" y="3718497"/>
            <a:ext cx="3026470" cy="369332"/>
          </a:xfrm>
          <a:prstGeom prst="rect">
            <a:avLst/>
          </a:prstGeom>
        </p:spPr>
        <p:txBody>
          <a:bodyPr wrap="none">
            <a:spAutoFit/>
          </a:bodyPr>
          <a:lstStyle/>
          <a:p>
            <a:r>
              <a:rPr lang="en-US" dirty="0">
                <a:latin typeface="Aptos" panose="020B0004020202020204" pitchFamily="34" charset="0"/>
              </a:rPr>
              <a:t>No! Ask to my superclass </a:t>
            </a:r>
            <a:r>
              <a:rPr lang="en-US" dirty="0">
                <a:latin typeface="Menlo" panose="020B0609030804020204" pitchFamily="49" charset="0"/>
                <a:ea typeface="Menlo" panose="020B0609030804020204" pitchFamily="49" charset="0"/>
                <a:cs typeface="Menlo" panose="020B0609030804020204" pitchFamily="49" charset="0"/>
              </a:rPr>
              <a:t>S</a:t>
            </a:r>
            <a:r>
              <a:rPr lang="en-US" dirty="0">
                <a:latin typeface="Palatino Linotype" panose="02040502050505030304" pitchFamily="18" charset="0"/>
              </a:rPr>
              <a:t>.</a:t>
            </a:r>
            <a:endParaRPr lang="en-IT" dirty="0">
              <a:latin typeface="Palatino Linotype" panose="02040502050505030304" pitchFamily="18" charset="0"/>
            </a:endParaRPr>
          </a:p>
        </p:txBody>
      </p:sp>
      <p:cxnSp>
        <p:nvCxnSpPr>
          <p:cNvPr id="73" name="Straight Arrow Connector 72">
            <a:extLst>
              <a:ext uri="{FF2B5EF4-FFF2-40B4-BE49-F238E27FC236}">
                <a16:creationId xmlns:a16="http://schemas.microsoft.com/office/drawing/2014/main" id="{B71A0116-2B3B-1D4A-9EF7-7A69EBC1D0F8}"/>
              </a:ext>
            </a:extLst>
          </p:cNvPr>
          <p:cNvCxnSpPr>
            <a:cxnSpLocks/>
            <a:endCxn id="72" idx="2"/>
          </p:cNvCxnSpPr>
          <p:nvPr/>
        </p:nvCxnSpPr>
        <p:spPr>
          <a:xfrm flipH="1" flipV="1">
            <a:off x="9435565" y="4087829"/>
            <a:ext cx="1275988" cy="3430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Rectangle 85">
            <a:extLst>
              <a:ext uri="{FF2B5EF4-FFF2-40B4-BE49-F238E27FC236}">
                <a16:creationId xmlns:a16="http://schemas.microsoft.com/office/drawing/2014/main" id="{4180670A-42DE-114A-94C2-D7A1EE291611}"/>
              </a:ext>
            </a:extLst>
          </p:cNvPr>
          <p:cNvSpPr/>
          <p:nvPr/>
        </p:nvSpPr>
        <p:spPr>
          <a:xfrm>
            <a:off x="7409755" y="2914482"/>
            <a:ext cx="3236014" cy="369332"/>
          </a:xfrm>
          <a:prstGeom prst="rect">
            <a:avLst/>
          </a:prstGeom>
        </p:spPr>
        <p:txBody>
          <a:bodyPr wrap="none">
            <a:spAutoFit/>
          </a:bodyPr>
          <a:lstStyle/>
          <a:p>
            <a:r>
              <a:rPr lang="en-US" dirty="0">
                <a:latin typeface="Menlo" panose="020B0609030804020204" pitchFamily="49" charset="0"/>
                <a:ea typeface="Menlo" panose="020B0609030804020204" pitchFamily="49" charset="0"/>
                <a:cs typeface="Menlo" panose="020B0609030804020204" pitchFamily="49" charset="0"/>
              </a:rPr>
              <a:t>S</a:t>
            </a:r>
            <a:r>
              <a:rPr lang="en-US" dirty="0">
                <a:latin typeface="Palatino Linotype" panose="02040502050505030304" pitchFamily="18" charset="0"/>
              </a:rPr>
              <a:t>, </a:t>
            </a:r>
            <a:r>
              <a:rPr lang="en-US" dirty="0">
                <a:latin typeface="Aptos" panose="020B0004020202020204" pitchFamily="34" charset="0"/>
              </a:rPr>
              <a:t>do you implement </a:t>
            </a:r>
            <a:r>
              <a:rPr lang="en-US" dirty="0">
                <a:latin typeface="Menlo" panose="020B0609030804020204" pitchFamily="49" charset="0"/>
                <a:ea typeface="Menlo" panose="020B0609030804020204" pitchFamily="49" charset="0"/>
                <a:cs typeface="Menlo" panose="020B0609030804020204" pitchFamily="49" charset="0"/>
              </a:rPr>
              <a:t>met()</a:t>
            </a:r>
            <a:r>
              <a:rPr lang="en-US" dirty="0">
                <a:latin typeface="Aptos" panose="020B0004020202020204" pitchFamily="34" charset="0"/>
              </a:rPr>
              <a:t>?</a:t>
            </a:r>
            <a:r>
              <a:rPr lang="en-US" dirty="0">
                <a:latin typeface="Palatino Linotype" panose="02040502050505030304" pitchFamily="18" charset="0"/>
              </a:rPr>
              <a:t> </a:t>
            </a:r>
            <a:endParaRPr lang="en-IT" dirty="0">
              <a:latin typeface="Palatino Linotype" panose="02040502050505030304" pitchFamily="18" charset="0"/>
            </a:endParaRPr>
          </a:p>
        </p:txBody>
      </p:sp>
      <p:cxnSp>
        <p:nvCxnSpPr>
          <p:cNvPr id="87" name="Straight Arrow Connector 86">
            <a:extLst>
              <a:ext uri="{FF2B5EF4-FFF2-40B4-BE49-F238E27FC236}">
                <a16:creationId xmlns:a16="http://schemas.microsoft.com/office/drawing/2014/main" id="{FC40AE47-5491-CA41-810A-D0DB5B8A0804}"/>
              </a:ext>
            </a:extLst>
          </p:cNvPr>
          <p:cNvCxnSpPr>
            <a:cxnSpLocks/>
            <a:endCxn id="86" idx="2"/>
          </p:cNvCxnSpPr>
          <p:nvPr/>
        </p:nvCxnSpPr>
        <p:spPr>
          <a:xfrm flipV="1">
            <a:off x="9027762" y="3283814"/>
            <a:ext cx="0" cy="3870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8D6CAD70-C5F2-B749-9E03-684C3CF329CE}"/>
              </a:ext>
            </a:extLst>
          </p:cNvPr>
          <p:cNvCxnSpPr>
            <a:cxnSpLocks/>
            <a:stCxn id="86" idx="3"/>
            <a:endCxn id="33" idx="1"/>
          </p:cNvCxnSpPr>
          <p:nvPr/>
        </p:nvCxnSpPr>
        <p:spPr>
          <a:xfrm flipV="1">
            <a:off x="10645769" y="3097239"/>
            <a:ext cx="398293" cy="19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9" name="Rectangle 98">
            <a:extLst>
              <a:ext uri="{FF2B5EF4-FFF2-40B4-BE49-F238E27FC236}">
                <a16:creationId xmlns:a16="http://schemas.microsoft.com/office/drawing/2014/main" id="{DAE1EFCE-3939-C04A-A6DE-93F5CCEC98EA}"/>
              </a:ext>
            </a:extLst>
          </p:cNvPr>
          <p:cNvSpPr/>
          <p:nvPr/>
        </p:nvSpPr>
        <p:spPr>
          <a:xfrm>
            <a:off x="7396815" y="1398131"/>
            <a:ext cx="3236014" cy="369332"/>
          </a:xfrm>
          <a:prstGeom prst="rect">
            <a:avLst/>
          </a:prstGeom>
        </p:spPr>
        <p:txBody>
          <a:bodyPr wrap="none">
            <a:spAutoFit/>
          </a:bodyPr>
          <a:lstStyle/>
          <a:p>
            <a:r>
              <a:rPr lang="en-US" dirty="0">
                <a:latin typeface="Menlo" panose="020B0609030804020204" pitchFamily="49" charset="0"/>
                <a:ea typeface="Menlo" panose="020B0609030804020204" pitchFamily="49" charset="0"/>
                <a:cs typeface="Menlo" panose="020B0609030804020204" pitchFamily="49" charset="0"/>
              </a:rPr>
              <a:t>T</a:t>
            </a:r>
            <a:r>
              <a:rPr lang="en-US" dirty="0">
                <a:latin typeface="Palatino Linotype" panose="02040502050505030304" pitchFamily="18" charset="0"/>
              </a:rPr>
              <a:t>, </a:t>
            </a:r>
            <a:r>
              <a:rPr lang="en-US" dirty="0">
                <a:latin typeface="Aptos" panose="020B0004020202020204" pitchFamily="34" charset="0"/>
              </a:rPr>
              <a:t>do you implement </a:t>
            </a:r>
            <a:r>
              <a:rPr lang="en-US" dirty="0">
                <a:latin typeface="Menlo" panose="020B0609030804020204" pitchFamily="49" charset="0"/>
                <a:ea typeface="Menlo" panose="020B0609030804020204" pitchFamily="49" charset="0"/>
                <a:cs typeface="Menlo" panose="020B0609030804020204" pitchFamily="49" charset="0"/>
              </a:rPr>
              <a:t>met()</a:t>
            </a:r>
            <a:r>
              <a:rPr lang="en-US" dirty="0">
                <a:latin typeface="Palatino Linotype" panose="02040502050505030304" pitchFamily="18" charset="0"/>
              </a:rPr>
              <a:t>? </a:t>
            </a:r>
            <a:endParaRPr lang="en-IT" dirty="0">
              <a:latin typeface="Palatino Linotype" panose="02040502050505030304" pitchFamily="18" charset="0"/>
            </a:endParaRPr>
          </a:p>
        </p:txBody>
      </p:sp>
      <p:cxnSp>
        <p:nvCxnSpPr>
          <p:cNvPr id="100" name="Straight Arrow Connector 99">
            <a:extLst>
              <a:ext uri="{FF2B5EF4-FFF2-40B4-BE49-F238E27FC236}">
                <a16:creationId xmlns:a16="http://schemas.microsoft.com/office/drawing/2014/main" id="{6BBC5EA3-9464-DB4E-B25D-71C884BD5610}"/>
              </a:ext>
            </a:extLst>
          </p:cNvPr>
          <p:cNvCxnSpPr>
            <a:cxnSpLocks/>
            <a:stCxn id="99" idx="3"/>
            <a:endCxn id="37" idx="1"/>
          </p:cNvCxnSpPr>
          <p:nvPr/>
        </p:nvCxnSpPr>
        <p:spPr>
          <a:xfrm>
            <a:off x="10632829" y="1582797"/>
            <a:ext cx="411233" cy="34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1" name="Rectangle 110">
            <a:extLst>
              <a:ext uri="{FF2B5EF4-FFF2-40B4-BE49-F238E27FC236}">
                <a16:creationId xmlns:a16="http://schemas.microsoft.com/office/drawing/2014/main" id="{703A7A46-F825-0149-AA1E-71613A0B4C6C}"/>
              </a:ext>
            </a:extLst>
          </p:cNvPr>
          <p:cNvSpPr/>
          <p:nvPr/>
        </p:nvSpPr>
        <p:spPr>
          <a:xfrm>
            <a:off x="7922330" y="2163651"/>
            <a:ext cx="3026470" cy="369332"/>
          </a:xfrm>
          <a:prstGeom prst="rect">
            <a:avLst/>
          </a:prstGeom>
        </p:spPr>
        <p:txBody>
          <a:bodyPr wrap="none">
            <a:spAutoFit/>
          </a:bodyPr>
          <a:lstStyle/>
          <a:p>
            <a:r>
              <a:rPr lang="en-US" dirty="0">
                <a:latin typeface="Aptos" panose="020B0004020202020204" pitchFamily="34" charset="0"/>
              </a:rPr>
              <a:t>No! Ask to my superclass </a:t>
            </a:r>
            <a:r>
              <a:rPr lang="en-US" dirty="0">
                <a:latin typeface="Menlo" panose="020B0609030804020204" pitchFamily="49" charset="0"/>
                <a:ea typeface="Menlo" panose="020B0609030804020204" pitchFamily="49" charset="0"/>
                <a:cs typeface="Menlo" panose="020B0609030804020204" pitchFamily="49" charset="0"/>
              </a:rPr>
              <a:t>T</a:t>
            </a:r>
            <a:r>
              <a:rPr lang="en-US" dirty="0">
                <a:latin typeface="Palatino Linotype" panose="02040502050505030304" pitchFamily="18" charset="0"/>
              </a:rPr>
              <a:t>.</a:t>
            </a:r>
            <a:endParaRPr lang="en-IT" dirty="0">
              <a:latin typeface="Palatino Linotype" panose="02040502050505030304" pitchFamily="18" charset="0"/>
            </a:endParaRPr>
          </a:p>
        </p:txBody>
      </p:sp>
      <p:cxnSp>
        <p:nvCxnSpPr>
          <p:cNvPr id="112" name="Straight Arrow Connector 111">
            <a:extLst>
              <a:ext uri="{FF2B5EF4-FFF2-40B4-BE49-F238E27FC236}">
                <a16:creationId xmlns:a16="http://schemas.microsoft.com/office/drawing/2014/main" id="{6D60499B-F9BD-1248-9C24-480C7C36019A}"/>
              </a:ext>
            </a:extLst>
          </p:cNvPr>
          <p:cNvCxnSpPr>
            <a:cxnSpLocks/>
            <a:endCxn id="111" idx="2"/>
          </p:cNvCxnSpPr>
          <p:nvPr/>
        </p:nvCxnSpPr>
        <p:spPr>
          <a:xfrm flipH="1" flipV="1">
            <a:off x="9435565" y="2532983"/>
            <a:ext cx="1275988" cy="3430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5F95841E-9A0C-9343-A8C8-9BA07257A56E}"/>
              </a:ext>
            </a:extLst>
          </p:cNvPr>
          <p:cNvCxnSpPr>
            <a:cxnSpLocks/>
          </p:cNvCxnSpPr>
          <p:nvPr/>
        </p:nvCxnSpPr>
        <p:spPr>
          <a:xfrm flipV="1">
            <a:off x="9027762" y="1728968"/>
            <a:ext cx="0" cy="3870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44B3516B-12B4-B547-BB54-8ACEACC2ACCB}"/>
              </a:ext>
            </a:extLst>
          </p:cNvPr>
          <p:cNvSpPr>
            <a:spLocks noGrp="1"/>
          </p:cNvSpPr>
          <p:nvPr>
            <p:ph type="sldNum" sz="quarter" idx="12"/>
          </p:nvPr>
        </p:nvSpPr>
        <p:spPr/>
        <p:txBody>
          <a:bodyPr/>
          <a:lstStyle/>
          <a:p>
            <a:fld id="{31DE2C5B-556E-47B8-A792-024C2FCA4ACC}" type="slidenum">
              <a:rPr lang="en-GB" smtClean="0"/>
              <a:t>25</a:t>
            </a:fld>
            <a:endParaRPr lang="en-GB"/>
          </a:p>
        </p:txBody>
      </p:sp>
      <p:sp>
        <p:nvSpPr>
          <p:cNvPr id="5" name="TextBox 4">
            <a:extLst>
              <a:ext uri="{FF2B5EF4-FFF2-40B4-BE49-F238E27FC236}">
                <a16:creationId xmlns:a16="http://schemas.microsoft.com/office/drawing/2014/main" id="{CE1EF0D5-4544-4605-84E3-F0CD803B6203}"/>
              </a:ext>
            </a:extLst>
          </p:cNvPr>
          <p:cNvSpPr txBox="1"/>
          <p:nvPr/>
        </p:nvSpPr>
        <p:spPr>
          <a:xfrm>
            <a:off x="591765" y="402597"/>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2146498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b="1" dirty="0"/>
              <a:t>Polymorphism</a:t>
            </a:r>
          </a:p>
          <a:p>
            <a:r>
              <a:rPr lang="en-GB" sz="2600" dirty="0">
                <a:solidFill>
                  <a:schemeClr val="bg2">
                    <a:lumMod val="90000"/>
                  </a:schemeClr>
                </a:solidFill>
              </a:rPr>
              <a:t>Abstract data types</a:t>
            </a:r>
          </a:p>
          <a:p>
            <a:r>
              <a:rPr lang="en-GB" sz="2600" dirty="0">
                <a:solidFill>
                  <a:schemeClr val="bg2">
                    <a:lumMod val="90000"/>
                  </a:schemeClr>
                </a:solidFill>
              </a:rPr>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26</a:t>
            </a:fld>
            <a:endParaRPr lang="en-GB"/>
          </a:p>
        </p:txBody>
      </p:sp>
    </p:spTree>
    <p:extLst>
      <p:ext uri="{BB962C8B-B14F-4D97-AF65-F5344CB8AC3E}">
        <p14:creationId xmlns:p14="http://schemas.microsoft.com/office/powerpoint/2010/main" val="1630899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Polymorphism</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258630" cy="5334907"/>
          </a:xfrm>
        </p:spPr>
        <p:txBody>
          <a:bodyPr>
            <a:normAutofit/>
          </a:bodyPr>
          <a:lstStyle/>
          <a:p>
            <a:r>
              <a:rPr lang="en-US" dirty="0"/>
              <a:t>Inheritance and dynamic dispatch unlock the concept of </a:t>
            </a:r>
            <a:r>
              <a:rPr lang="en-US" b="1" dirty="0"/>
              <a:t>polymorphism</a:t>
            </a:r>
            <a:r>
              <a:rPr lang="en-US" dirty="0"/>
              <a:t>: the ability of an object of taking many forms (or types).</a:t>
            </a:r>
          </a:p>
          <a:p>
            <a:endParaRPr lang="en-US" dirty="0"/>
          </a:p>
          <a:p>
            <a:r>
              <a:rPr lang="en-US" dirty="0"/>
              <a:t>A </a:t>
            </a:r>
            <a:r>
              <a:rPr lang="en-US" dirty="0">
                <a:latin typeface="Menlo" panose="020B0609030804020204" pitchFamily="49" charset="0"/>
                <a:ea typeface="Menlo" panose="020B0609030804020204" pitchFamily="49" charset="0"/>
                <a:cs typeface="Menlo" panose="020B0609030804020204" pitchFamily="49" charset="0"/>
              </a:rPr>
              <a:t>Cat</a:t>
            </a:r>
            <a:r>
              <a:rPr lang="en-US" dirty="0"/>
              <a:t> is an </a:t>
            </a:r>
            <a:r>
              <a:rPr lang="en-US" dirty="0">
                <a:latin typeface="Menlo" panose="020B0609030804020204" pitchFamily="49" charset="0"/>
                <a:ea typeface="Menlo" panose="020B0609030804020204" pitchFamily="49" charset="0"/>
                <a:cs typeface="Menlo" panose="020B0609030804020204" pitchFamily="49" charset="0"/>
              </a:rPr>
              <a:t>Animal</a:t>
            </a:r>
            <a:r>
              <a:rPr lang="en-US" dirty="0"/>
              <a:t>, as such the following is fine:</a:t>
            </a:r>
            <a:br>
              <a:rPr lang="en-US" dirty="0"/>
            </a:br>
            <a:br>
              <a:rPr lang="en-US" dirty="0"/>
            </a:br>
            <a:r>
              <a:rPr lang="en-US" dirty="0">
                <a:latin typeface="Menlo" panose="020B0609030804020204" pitchFamily="49" charset="0"/>
                <a:ea typeface="Menlo" panose="020B0609030804020204" pitchFamily="49" charset="0"/>
                <a:cs typeface="Menlo" panose="020B0609030804020204" pitchFamily="49" charset="0"/>
              </a:rPr>
              <a:t>Animal cat = Cat(...);</a:t>
            </a:r>
          </a:p>
          <a:p>
            <a:endParaRPr lang="en-US" dirty="0"/>
          </a:p>
          <a:p>
            <a:r>
              <a:rPr lang="en-US" dirty="0"/>
              <a:t>An object of type “superclass” can refer to both a type ”superclass” but also to a type “subclass”!  </a:t>
            </a:r>
          </a:p>
          <a:p>
            <a:pPr marL="0" indent="0">
              <a:buNone/>
            </a:pPr>
            <a:endParaRPr lang="en-IT" dirty="0"/>
          </a:p>
          <a:p>
            <a:pPr marL="0" indent="0">
              <a:buNone/>
            </a:pPr>
            <a:r>
              <a:rPr lang="en-IT" dirty="0"/>
              <a:t> </a:t>
            </a:r>
          </a:p>
        </p:txBody>
      </p:sp>
      <p:sp>
        <p:nvSpPr>
          <p:cNvPr id="4" name="Content Placeholder 2">
            <a:extLst>
              <a:ext uri="{FF2B5EF4-FFF2-40B4-BE49-F238E27FC236}">
                <a16:creationId xmlns:a16="http://schemas.microsoft.com/office/drawing/2014/main" id="{AFEC7A75-5AD8-BB4C-8B63-9B42E456AF1F}"/>
              </a:ext>
            </a:extLst>
          </p:cNvPr>
          <p:cNvSpPr txBox="1">
            <a:spLocks/>
          </p:cNvSpPr>
          <p:nvPr/>
        </p:nvSpPr>
        <p:spPr>
          <a:xfrm>
            <a:off x="9219172" y="5168802"/>
            <a:ext cx="2435928"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Cat</a:t>
            </a:r>
          </a:p>
        </p:txBody>
      </p:sp>
      <p:cxnSp>
        <p:nvCxnSpPr>
          <p:cNvPr id="5" name="Straight Arrow Connector 4">
            <a:extLst>
              <a:ext uri="{FF2B5EF4-FFF2-40B4-BE49-F238E27FC236}">
                <a16:creationId xmlns:a16="http://schemas.microsoft.com/office/drawing/2014/main" id="{8AD6A830-A47A-D242-8BF9-9E8966F6CBF8}"/>
              </a:ext>
            </a:extLst>
          </p:cNvPr>
          <p:cNvCxnSpPr>
            <a:cxnSpLocks/>
            <a:stCxn id="6" idx="4"/>
          </p:cNvCxnSpPr>
          <p:nvPr/>
        </p:nvCxnSpPr>
        <p:spPr>
          <a:xfrm flipH="1">
            <a:off x="10437136" y="3252417"/>
            <a:ext cx="21103" cy="9210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9" name="Group 8">
            <a:extLst>
              <a:ext uri="{FF2B5EF4-FFF2-40B4-BE49-F238E27FC236}">
                <a16:creationId xmlns:a16="http://schemas.microsoft.com/office/drawing/2014/main" id="{B74077A2-1D9A-D647-AE35-F3E4977F0E72}"/>
              </a:ext>
            </a:extLst>
          </p:cNvPr>
          <p:cNvGrpSpPr/>
          <p:nvPr/>
        </p:nvGrpSpPr>
        <p:grpSpPr>
          <a:xfrm>
            <a:off x="9554667" y="1749016"/>
            <a:ext cx="1807143" cy="1503401"/>
            <a:chOff x="10054070" y="1825183"/>
            <a:chExt cx="1807143" cy="1503401"/>
          </a:xfrm>
        </p:grpSpPr>
        <p:sp>
          <p:nvSpPr>
            <p:cNvPr id="6" name="Oval 5">
              <a:extLst>
                <a:ext uri="{FF2B5EF4-FFF2-40B4-BE49-F238E27FC236}">
                  <a16:creationId xmlns:a16="http://schemas.microsoft.com/office/drawing/2014/main" id="{8614692B-C7AF-7D47-B1A1-FB8F2941C97B}"/>
                </a:ext>
              </a:extLst>
            </p:cNvPr>
            <p:cNvSpPr/>
            <p:nvPr/>
          </p:nvSpPr>
          <p:spPr>
            <a:xfrm>
              <a:off x="10054070" y="1825183"/>
              <a:ext cx="1807143" cy="1503401"/>
            </a:xfrm>
            <a:prstGeom prst="ellipse">
              <a:avLst/>
            </a:prstGeom>
            <a:ln w="28575">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7" name="Content Placeholder 2">
              <a:extLst>
                <a:ext uri="{FF2B5EF4-FFF2-40B4-BE49-F238E27FC236}">
                  <a16:creationId xmlns:a16="http://schemas.microsoft.com/office/drawing/2014/main" id="{86E50E40-AB11-1D46-9ACF-820CE82A5078}"/>
                </a:ext>
              </a:extLst>
            </p:cNvPr>
            <p:cNvSpPr txBox="1">
              <a:spLocks/>
            </p:cNvSpPr>
            <p:nvPr/>
          </p:nvSpPr>
          <p:spPr>
            <a:xfrm>
              <a:off x="10223211" y="2403939"/>
              <a:ext cx="1468860" cy="45018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T" b="1" dirty="0">
                  <a:latin typeface="Aptos" panose="020B0004020202020204" pitchFamily="34" charset="0"/>
                </a:rPr>
                <a:t>Animal</a:t>
              </a:r>
            </a:p>
          </p:txBody>
        </p:sp>
      </p:grpSp>
      <p:sp>
        <p:nvSpPr>
          <p:cNvPr id="13" name="Slide Number Placeholder 12">
            <a:extLst>
              <a:ext uri="{FF2B5EF4-FFF2-40B4-BE49-F238E27FC236}">
                <a16:creationId xmlns:a16="http://schemas.microsoft.com/office/drawing/2014/main" id="{1E8107E6-0886-9741-A2B1-5D926F98C60D}"/>
              </a:ext>
            </a:extLst>
          </p:cNvPr>
          <p:cNvSpPr>
            <a:spLocks noGrp="1"/>
          </p:cNvSpPr>
          <p:nvPr>
            <p:ph type="sldNum" sz="quarter" idx="12"/>
          </p:nvPr>
        </p:nvSpPr>
        <p:spPr/>
        <p:txBody>
          <a:bodyPr/>
          <a:lstStyle/>
          <a:p>
            <a:fld id="{31DE2C5B-556E-47B8-A792-024C2FCA4ACC}" type="slidenum">
              <a:rPr lang="en-GB" smtClean="0"/>
              <a:t>27</a:t>
            </a:fld>
            <a:endParaRPr lang="en-GB"/>
          </a:p>
        </p:txBody>
      </p:sp>
      <p:pic>
        <p:nvPicPr>
          <p:cNvPr id="15" name="Graphic 14" descr="Cat outline">
            <a:extLst>
              <a:ext uri="{FF2B5EF4-FFF2-40B4-BE49-F238E27FC236}">
                <a16:creationId xmlns:a16="http://schemas.microsoft.com/office/drawing/2014/main" id="{EC9BB1E4-0D1B-7043-9DAF-CD2BFD66F4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79936" y="4221539"/>
            <a:ext cx="914400" cy="914400"/>
          </a:xfrm>
          <a:prstGeom prst="rect">
            <a:avLst/>
          </a:prstGeom>
        </p:spPr>
      </p:pic>
    </p:spTree>
    <p:extLst>
      <p:ext uri="{BB962C8B-B14F-4D97-AF65-F5344CB8AC3E}">
        <p14:creationId xmlns:p14="http://schemas.microsoft.com/office/powerpoint/2010/main" val="1183039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Polymorphism – Method invocation and override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9222266" cy="5334907"/>
          </a:xfrm>
        </p:spPr>
        <p:txBody>
          <a:bodyPr>
            <a:normAutofit/>
          </a:bodyPr>
          <a:lstStyle/>
          <a:p>
            <a:r>
              <a:rPr lang="en-US" dirty="0"/>
              <a:t>Moreover, the method invocation chain will always start from the most restrictive class that applies.</a:t>
            </a:r>
          </a:p>
          <a:p>
            <a:endParaRPr lang="en-US" dirty="0"/>
          </a:p>
          <a:p>
            <a:r>
              <a:rPr lang="en-US" dirty="0"/>
              <a:t>Let’s say that both </a:t>
            </a:r>
            <a:r>
              <a:rPr lang="en-US" dirty="0">
                <a:latin typeface="Menlo" panose="020B0609030804020204" pitchFamily="49" charset="0"/>
                <a:ea typeface="Menlo" panose="020B0609030804020204" pitchFamily="49" charset="0"/>
                <a:cs typeface="Menlo" panose="020B0609030804020204" pitchFamily="49" charset="0"/>
              </a:rPr>
              <a:t>Animal</a:t>
            </a:r>
            <a:r>
              <a:rPr lang="en-US" dirty="0"/>
              <a:t> and </a:t>
            </a:r>
            <a:r>
              <a:rPr lang="en-US" dirty="0">
                <a:latin typeface="Menlo" panose="020B0609030804020204" pitchFamily="49" charset="0"/>
                <a:ea typeface="Menlo" panose="020B0609030804020204" pitchFamily="49" charset="0"/>
                <a:cs typeface="Menlo" panose="020B0609030804020204" pitchFamily="49" charset="0"/>
              </a:rPr>
              <a:t>Cat</a:t>
            </a:r>
            <a:r>
              <a:rPr lang="en-US" dirty="0"/>
              <a:t> define a method </a:t>
            </a:r>
            <a:r>
              <a:rPr lang="en-US" dirty="0">
                <a:latin typeface="Menlo" panose="020B0609030804020204" pitchFamily="49" charset="0"/>
                <a:ea typeface="Menlo" panose="020B0609030804020204" pitchFamily="49" charset="0"/>
                <a:cs typeface="Menlo" panose="020B0609030804020204" pitchFamily="49" charset="0"/>
              </a:rPr>
              <a:t>eat()</a:t>
            </a:r>
            <a:r>
              <a:rPr lang="en-US" dirty="0"/>
              <a:t>:</a:t>
            </a:r>
            <a:br>
              <a:rPr lang="en-US" dirty="0">
                <a:latin typeface="Courier" pitchFamily="2" charset="0"/>
              </a:rPr>
            </a:br>
            <a:br>
              <a:rPr lang="en-US" dirty="0">
                <a:latin typeface="Courier" pitchFamily="2" charset="0"/>
              </a:rPr>
            </a:br>
            <a:r>
              <a:rPr lang="en-US" dirty="0">
                <a:latin typeface="Menlo" panose="020B0609030804020204" pitchFamily="49" charset="0"/>
                <a:ea typeface="Menlo" panose="020B0609030804020204" pitchFamily="49" charset="0"/>
                <a:cs typeface="Menlo" panose="020B0609030804020204" pitchFamily="49" charset="0"/>
              </a:rPr>
              <a:t>Animal cat1 = Cat(...);</a:t>
            </a:r>
            <a:br>
              <a:rPr lang="en-US" dirty="0">
                <a:latin typeface="Menlo" panose="020B0609030804020204" pitchFamily="49" charset="0"/>
                <a:ea typeface="Menlo" panose="020B0609030804020204" pitchFamily="49" charset="0"/>
                <a:cs typeface="Menlo" panose="020B0609030804020204" pitchFamily="49" charset="0"/>
              </a:rPr>
            </a:br>
            <a:br>
              <a:rPr lang="en-US" dirty="0">
                <a:latin typeface="Menlo" panose="020B0609030804020204" pitchFamily="49" charset="0"/>
                <a:ea typeface="Menlo" panose="020B0609030804020204" pitchFamily="49" charset="0"/>
                <a:cs typeface="Menlo" panose="020B0609030804020204" pitchFamily="49" charset="0"/>
              </a:rPr>
            </a:br>
            <a:r>
              <a:rPr lang="en-US" dirty="0">
                <a:latin typeface="Menlo" panose="020B0609030804020204" pitchFamily="49" charset="0"/>
                <a:ea typeface="Menlo" panose="020B0609030804020204" pitchFamily="49" charset="0"/>
                <a:cs typeface="Menlo" panose="020B0609030804020204" pitchFamily="49" charset="0"/>
              </a:rPr>
              <a:t>Cat cat2 = Cat(...);</a:t>
            </a:r>
          </a:p>
          <a:p>
            <a:endParaRPr lang="en-US" dirty="0">
              <a:latin typeface="Courier" pitchFamily="2" charset="0"/>
            </a:endParaRPr>
          </a:p>
          <a:p>
            <a:r>
              <a:rPr lang="en-US" dirty="0"/>
              <a:t>Technically speaking, </a:t>
            </a:r>
            <a:r>
              <a:rPr lang="en-US" dirty="0">
                <a:latin typeface="Menlo" panose="020B0609030804020204" pitchFamily="49" charset="0"/>
                <a:ea typeface="Menlo" panose="020B0609030804020204" pitchFamily="49" charset="0"/>
                <a:cs typeface="Menlo" panose="020B0609030804020204" pitchFamily="49" charset="0"/>
              </a:rPr>
              <a:t>Cat</a:t>
            </a:r>
            <a:r>
              <a:rPr lang="en-US" dirty="0">
                <a:latin typeface="Courier" pitchFamily="2" charset="0"/>
              </a:rPr>
              <a:t> </a:t>
            </a:r>
            <a:r>
              <a:rPr lang="en-US" dirty="0"/>
              <a:t>is </a:t>
            </a:r>
            <a:r>
              <a:rPr lang="en-US" b="1" dirty="0"/>
              <a:t>overriding</a:t>
            </a:r>
            <a:r>
              <a:rPr lang="en-US" dirty="0"/>
              <a:t> the method</a:t>
            </a:r>
            <a:r>
              <a:rPr lang="en-US" dirty="0">
                <a:latin typeface="Courier" pitchFamily="2" charset="0"/>
              </a:rPr>
              <a:t> </a:t>
            </a:r>
            <a:r>
              <a:rPr lang="en-US" dirty="0">
                <a:latin typeface="Menlo" panose="020B0609030804020204" pitchFamily="49" charset="0"/>
                <a:ea typeface="Menlo" panose="020B0609030804020204" pitchFamily="49" charset="0"/>
                <a:cs typeface="Menlo" panose="020B0609030804020204" pitchFamily="49" charset="0"/>
              </a:rPr>
              <a:t>eat() </a:t>
            </a:r>
            <a:r>
              <a:rPr lang="en-US" dirty="0"/>
              <a:t>from</a:t>
            </a:r>
            <a:r>
              <a:rPr lang="en-US" dirty="0">
                <a:latin typeface="Courier" pitchFamily="2" charset="0"/>
              </a:rPr>
              <a:t> </a:t>
            </a:r>
            <a:r>
              <a:rPr lang="en-US" dirty="0">
                <a:latin typeface="Menlo" panose="020B0609030804020204" pitchFamily="49" charset="0"/>
                <a:ea typeface="Menlo" panose="020B0609030804020204" pitchFamily="49" charset="0"/>
                <a:cs typeface="Menlo" panose="020B0609030804020204" pitchFamily="49" charset="0"/>
              </a:rPr>
              <a:t>Animal</a:t>
            </a:r>
          </a:p>
        </p:txBody>
      </p:sp>
      <p:sp>
        <p:nvSpPr>
          <p:cNvPr id="46" name="Content Placeholder 2">
            <a:extLst>
              <a:ext uri="{FF2B5EF4-FFF2-40B4-BE49-F238E27FC236}">
                <a16:creationId xmlns:a16="http://schemas.microsoft.com/office/drawing/2014/main" id="{25A3854D-B396-E64B-BAD8-844DEE79A052}"/>
              </a:ext>
            </a:extLst>
          </p:cNvPr>
          <p:cNvSpPr txBox="1">
            <a:spLocks/>
          </p:cNvSpPr>
          <p:nvPr/>
        </p:nvSpPr>
        <p:spPr>
          <a:xfrm>
            <a:off x="7758543" y="3233558"/>
            <a:ext cx="2370195" cy="69132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This will use the</a:t>
            </a:r>
            <a:r>
              <a:rPr lang="en-IT" sz="1600" dirty="0">
                <a:ea typeface="Palatino" pitchFamily="2" charset="77"/>
              </a:rPr>
              <a:t> </a:t>
            </a:r>
            <a:r>
              <a:rPr lang="en-IT" sz="1600" dirty="0">
                <a:latin typeface="Menlo" panose="020B0609030804020204" pitchFamily="49" charset="0"/>
                <a:ea typeface="Menlo" panose="020B0609030804020204" pitchFamily="49" charset="0"/>
                <a:cs typeface="Menlo" panose="020B0609030804020204" pitchFamily="49" charset="0"/>
              </a:rPr>
              <a:t>eat()</a:t>
            </a:r>
            <a:r>
              <a:rPr lang="en-IT" sz="1600" dirty="0">
                <a:latin typeface="Courier" pitchFamily="2" charset="0"/>
                <a:ea typeface="Palatino" pitchFamily="2" charset="77"/>
              </a:rPr>
              <a:t> </a:t>
            </a:r>
            <a:r>
              <a:rPr lang="en-IT" sz="1600" dirty="0">
                <a:latin typeface="Aptos" panose="020B0004020202020204" pitchFamily="34" charset="0"/>
                <a:ea typeface="Palatino" pitchFamily="2" charset="77"/>
              </a:rPr>
              <a:t>method of </a:t>
            </a:r>
            <a:r>
              <a:rPr lang="en-IT" sz="1600" dirty="0">
                <a:latin typeface="Menlo" panose="020B0609030804020204" pitchFamily="49" charset="0"/>
                <a:ea typeface="Menlo" panose="020B0609030804020204" pitchFamily="49" charset="0"/>
                <a:cs typeface="Menlo" panose="020B0609030804020204" pitchFamily="49" charset="0"/>
              </a:rPr>
              <a:t>Cat</a:t>
            </a:r>
          </a:p>
        </p:txBody>
      </p:sp>
      <p:cxnSp>
        <p:nvCxnSpPr>
          <p:cNvPr id="47" name="Straight Arrow Connector 46">
            <a:extLst>
              <a:ext uri="{FF2B5EF4-FFF2-40B4-BE49-F238E27FC236}">
                <a16:creationId xmlns:a16="http://schemas.microsoft.com/office/drawing/2014/main" id="{6835BBC1-41FA-544F-8B05-0803ED19ABF1}"/>
              </a:ext>
            </a:extLst>
          </p:cNvPr>
          <p:cNvCxnSpPr>
            <a:cxnSpLocks/>
            <a:stCxn id="46" idx="1"/>
          </p:cNvCxnSpPr>
          <p:nvPr/>
        </p:nvCxnSpPr>
        <p:spPr>
          <a:xfrm flipH="1" flipV="1">
            <a:off x="6096000" y="3521678"/>
            <a:ext cx="1662543" cy="575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Content Placeholder 2">
            <a:extLst>
              <a:ext uri="{FF2B5EF4-FFF2-40B4-BE49-F238E27FC236}">
                <a16:creationId xmlns:a16="http://schemas.microsoft.com/office/drawing/2014/main" id="{4C3BA99A-2016-3848-ABDA-4298F82BEE0F}"/>
              </a:ext>
            </a:extLst>
          </p:cNvPr>
          <p:cNvSpPr txBox="1">
            <a:spLocks/>
          </p:cNvSpPr>
          <p:nvPr/>
        </p:nvSpPr>
        <p:spPr>
          <a:xfrm>
            <a:off x="7758542" y="4105345"/>
            <a:ext cx="2370195" cy="69132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Again, this will use the </a:t>
            </a:r>
            <a:r>
              <a:rPr lang="en-IT" sz="1600">
                <a:latin typeface="Menlo" panose="020B0609030804020204" pitchFamily="49" charset="0"/>
                <a:ea typeface="Menlo" panose="020B0609030804020204" pitchFamily="49" charset="0"/>
                <a:cs typeface="Menlo" panose="020B0609030804020204" pitchFamily="49" charset="0"/>
              </a:rPr>
              <a:t>eat() </a:t>
            </a:r>
            <a:r>
              <a:rPr lang="en-IT" sz="1600" dirty="0">
                <a:latin typeface="Aptos" panose="020B0004020202020204" pitchFamily="34" charset="0"/>
                <a:ea typeface="Palatino" pitchFamily="2" charset="77"/>
              </a:rPr>
              <a:t>method of </a:t>
            </a:r>
            <a:r>
              <a:rPr lang="en-IT" sz="1600">
                <a:latin typeface="Menlo" panose="020B0609030804020204" pitchFamily="49" charset="0"/>
                <a:ea typeface="Menlo" panose="020B0609030804020204" pitchFamily="49" charset="0"/>
                <a:cs typeface="Menlo" panose="020B0609030804020204" pitchFamily="49" charset="0"/>
              </a:rPr>
              <a:t>Cat</a:t>
            </a:r>
            <a:endParaRPr lang="en-IT" sz="1600" dirty="0">
              <a:latin typeface="Menlo" panose="020B0609030804020204" pitchFamily="49" charset="0"/>
              <a:ea typeface="Menlo" panose="020B0609030804020204" pitchFamily="49" charset="0"/>
              <a:cs typeface="Menlo" panose="020B0609030804020204" pitchFamily="49" charset="0"/>
            </a:endParaRPr>
          </a:p>
        </p:txBody>
      </p:sp>
      <p:cxnSp>
        <p:nvCxnSpPr>
          <p:cNvPr id="51" name="Straight Arrow Connector 50">
            <a:extLst>
              <a:ext uri="{FF2B5EF4-FFF2-40B4-BE49-F238E27FC236}">
                <a16:creationId xmlns:a16="http://schemas.microsoft.com/office/drawing/2014/main" id="{6E5D1AFF-1E79-3A4E-9042-422191FF3818}"/>
              </a:ext>
            </a:extLst>
          </p:cNvPr>
          <p:cNvCxnSpPr>
            <a:cxnSpLocks/>
            <a:stCxn id="50" idx="1"/>
          </p:cNvCxnSpPr>
          <p:nvPr/>
        </p:nvCxnSpPr>
        <p:spPr>
          <a:xfrm flipH="1" flipV="1">
            <a:off x="6112329" y="4185138"/>
            <a:ext cx="1646213" cy="2658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Content Placeholder 2">
            <a:extLst>
              <a:ext uri="{FF2B5EF4-FFF2-40B4-BE49-F238E27FC236}">
                <a16:creationId xmlns:a16="http://schemas.microsoft.com/office/drawing/2014/main" id="{F51ADEA4-F33C-B74E-997E-B292B56616B3}"/>
              </a:ext>
            </a:extLst>
          </p:cNvPr>
          <p:cNvSpPr txBox="1">
            <a:spLocks/>
          </p:cNvSpPr>
          <p:nvPr/>
        </p:nvSpPr>
        <p:spPr>
          <a:xfrm>
            <a:off x="6112329" y="5495523"/>
            <a:ext cx="4086665" cy="691328"/>
          </a:xfrm>
          <a:prstGeom prst="rect">
            <a:avLst/>
          </a:prstGeom>
          <a:solidFill>
            <a:schemeClr val="accent6">
              <a:lumMod val="20000"/>
              <a:lumOff val="80000"/>
            </a:schemeClr>
          </a:solidFill>
        </p:spPr>
        <p:txBody>
          <a:bodyPr vert="horz" lIns="91440" tIns="45720" rIns="91440" bIns="45720" rtlCol="0" anchor="ctr">
            <a:normAutofit fontScale="85000"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900">
                <a:latin typeface="Aptos" panose="020B0004020202020204" pitchFamily="34" charset="0"/>
                <a:ea typeface="Palatino" pitchFamily="2" charset="77"/>
              </a:rPr>
              <a:t>Note:</a:t>
            </a:r>
            <a:r>
              <a:rPr lang="en-IT" sz="1900" dirty="0">
                <a:latin typeface="Aptos" panose="020B0004020202020204" pitchFamily="34" charset="0"/>
                <a:ea typeface="Palatino" pitchFamily="2" charset="77"/>
              </a:rPr>
              <a:t> In the previous example, you saw that class</a:t>
            </a:r>
            <a:r>
              <a:rPr lang="en-US" sz="1900" dirty="0">
                <a:latin typeface="Aptos" panose="020B0004020202020204" pitchFamily="34" charset="0"/>
                <a:ea typeface="Palatino" pitchFamily="2" charset="77"/>
              </a:rPr>
              <a:t> </a:t>
            </a:r>
            <a:r>
              <a:rPr lang="en-US" sz="1600" dirty="0">
                <a:latin typeface="Menlo" panose="020B0609030804020204" pitchFamily="49" charset="0"/>
                <a:ea typeface="Menlo" panose="020B0609030804020204" pitchFamily="49" charset="0"/>
                <a:cs typeface="Menlo" panose="020B0609030804020204" pitchFamily="49" charset="0"/>
              </a:rPr>
              <a:t>Eagle</a:t>
            </a:r>
            <a:r>
              <a:rPr lang="en-IT" sz="1600">
                <a:ea typeface="Palatino" pitchFamily="2" charset="77"/>
              </a:rPr>
              <a:t> </a:t>
            </a:r>
            <a:r>
              <a:rPr lang="en-IT" sz="1900">
                <a:latin typeface="Aptos" panose="020B0004020202020204" pitchFamily="34" charset="0"/>
                <a:ea typeface="Palatino" pitchFamily="2" charset="77"/>
              </a:rPr>
              <a:t>overrode</a:t>
            </a:r>
            <a:r>
              <a:rPr lang="en-IT" sz="1600">
                <a:ea typeface="Palatino" pitchFamily="2" charset="77"/>
              </a:rPr>
              <a:t> </a:t>
            </a:r>
            <a:r>
              <a:rPr lang="en-IT" sz="1500">
                <a:latin typeface="Menlo" panose="020B0609030804020204" pitchFamily="49" charset="0"/>
                <a:ea typeface="Menlo" panose="020B0609030804020204" pitchFamily="49" charset="0"/>
                <a:cs typeface="Menlo" panose="020B0609030804020204" pitchFamily="49" charset="0"/>
              </a:rPr>
              <a:t>toString() </a:t>
            </a:r>
            <a:r>
              <a:rPr lang="en-IT" sz="1900">
                <a:latin typeface="Aptos" panose="020B0004020202020204" pitchFamily="34" charset="0"/>
                <a:ea typeface="Palatino" pitchFamily="2" charset="77"/>
              </a:rPr>
              <a:t>from</a:t>
            </a:r>
            <a:r>
              <a:rPr lang="en-IT" sz="1600">
                <a:ea typeface="Palatino" pitchFamily="2" charset="77"/>
              </a:rPr>
              <a:t> </a:t>
            </a:r>
            <a:r>
              <a:rPr lang="en-US" sz="1600" dirty="0">
                <a:latin typeface="Menlo" panose="020B0609030804020204" pitchFamily="49" charset="0"/>
                <a:ea typeface="Menlo" panose="020B0609030804020204" pitchFamily="49" charset="0"/>
                <a:cs typeface="Menlo" panose="020B0609030804020204" pitchFamily="49" charset="0"/>
              </a:rPr>
              <a:t>Animal</a:t>
            </a:r>
            <a:r>
              <a:rPr lang="en-IT" sz="1600">
                <a:ea typeface="Palatino" pitchFamily="2" charset="77"/>
              </a:rPr>
              <a:t>  </a:t>
            </a:r>
            <a:r>
              <a:rPr lang="en-IT" sz="1900" dirty="0">
                <a:latin typeface="Aptos" panose="020B0004020202020204" pitchFamily="34" charset="0"/>
                <a:ea typeface="Palatino" pitchFamily="2" charset="77"/>
              </a:rPr>
              <a:t>using </a:t>
            </a:r>
            <a:r>
              <a:rPr lang="en-IT" sz="1900">
                <a:latin typeface="Aptos" panose="020B0004020202020204" pitchFamily="34" charset="0"/>
                <a:ea typeface="Palatino" pitchFamily="2" charset="77"/>
              </a:rPr>
              <a:t>the </a:t>
            </a:r>
            <a:r>
              <a:rPr lang="en-IT" sz="1600" b="1">
                <a:latin typeface="Menlo" panose="020B0609030804020204" pitchFamily="49" charset="0"/>
                <a:ea typeface="Menlo" panose="020B0609030804020204" pitchFamily="49" charset="0"/>
                <a:cs typeface="Menlo" panose="020B0609030804020204" pitchFamily="49" charset="0"/>
              </a:rPr>
              <a:t>@override </a:t>
            </a:r>
            <a:r>
              <a:rPr lang="en-IT" sz="1900">
                <a:latin typeface="Aptos" panose="020B0004020202020204" pitchFamily="34" charset="0"/>
                <a:ea typeface="Palatino" pitchFamily="2" charset="77"/>
              </a:rPr>
              <a:t>decorator.</a:t>
            </a:r>
            <a:endParaRPr lang="en-IT" sz="1900" dirty="0">
              <a:latin typeface="Aptos" panose="020B0004020202020204" pitchFamily="34" charset="0"/>
              <a:ea typeface="Palatino" pitchFamily="2" charset="77"/>
            </a:endParaRPr>
          </a:p>
        </p:txBody>
      </p:sp>
      <p:sp>
        <p:nvSpPr>
          <p:cNvPr id="59" name="Slide Number Placeholder 12">
            <a:extLst>
              <a:ext uri="{FF2B5EF4-FFF2-40B4-BE49-F238E27FC236}">
                <a16:creationId xmlns:a16="http://schemas.microsoft.com/office/drawing/2014/main" id="{87AB5B4C-B378-9E46-A3B4-B4448FDCAF2D}"/>
              </a:ext>
            </a:extLst>
          </p:cNvPr>
          <p:cNvSpPr>
            <a:spLocks noGrp="1"/>
          </p:cNvSpPr>
          <p:nvPr>
            <p:ph type="sldNum" sz="quarter" idx="12"/>
          </p:nvPr>
        </p:nvSpPr>
        <p:spPr>
          <a:xfrm>
            <a:off x="8610600" y="6356350"/>
            <a:ext cx="3185886" cy="365125"/>
          </a:xfrm>
        </p:spPr>
        <p:txBody>
          <a:bodyPr/>
          <a:lstStyle/>
          <a:p>
            <a:fld id="{31DE2C5B-556E-47B8-A792-024C2FCA4ACC}" type="slidenum">
              <a:rPr lang="en-GB" smtClean="0"/>
              <a:t>28</a:t>
            </a:fld>
            <a:endParaRPr lang="en-GB" dirty="0"/>
          </a:p>
        </p:txBody>
      </p:sp>
    </p:spTree>
    <p:extLst>
      <p:ext uri="{BB962C8B-B14F-4D97-AF65-F5344CB8AC3E}">
        <p14:creationId xmlns:p14="http://schemas.microsoft.com/office/powerpoint/2010/main" val="2433314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Polymorphism – Casting</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9222266" cy="5334907"/>
          </a:xfrm>
        </p:spPr>
        <p:txBody>
          <a:bodyPr>
            <a:normAutofit lnSpcReduction="10000"/>
          </a:bodyPr>
          <a:lstStyle/>
          <a:p>
            <a:r>
              <a:rPr lang="en-US" dirty="0"/>
              <a:t>How polymorphism affect type casting?</a:t>
            </a:r>
          </a:p>
          <a:p>
            <a:endParaRPr lang="en-US" dirty="0"/>
          </a:p>
          <a:p>
            <a:r>
              <a:rPr lang="en-US" b="1" dirty="0"/>
              <a:t>Widening casts </a:t>
            </a:r>
            <a:r>
              <a:rPr lang="en-US" dirty="0"/>
              <a:t>are always ok and there is no need of an explicit task, e.g.:</a:t>
            </a:r>
            <a:br>
              <a:rPr lang="en-US" dirty="0"/>
            </a:br>
            <a:br>
              <a:rPr lang="en-US" dirty="0">
                <a:latin typeface="Menlo" panose="020B0609030804020204" pitchFamily="49" charset="0"/>
                <a:ea typeface="Menlo" panose="020B0609030804020204" pitchFamily="49" charset="0"/>
                <a:cs typeface="Menlo" panose="020B0609030804020204" pitchFamily="49" charset="0"/>
              </a:rPr>
            </a:br>
            <a:r>
              <a:rPr lang="en-US" dirty="0">
                <a:latin typeface="Menlo" panose="020B0609030804020204" pitchFamily="49" charset="0"/>
                <a:ea typeface="Menlo" panose="020B0609030804020204" pitchFamily="49" charset="0"/>
                <a:cs typeface="Menlo" panose="020B0609030804020204" pitchFamily="49" charset="0"/>
              </a:rPr>
              <a:t>Cat cat = Cat(...);</a:t>
            </a:r>
            <a:br>
              <a:rPr lang="en-US" dirty="0">
                <a:latin typeface="Menlo" panose="020B0609030804020204" pitchFamily="49" charset="0"/>
                <a:ea typeface="Menlo" panose="020B0609030804020204" pitchFamily="49" charset="0"/>
                <a:cs typeface="Menlo" panose="020B0609030804020204" pitchFamily="49" charset="0"/>
              </a:rPr>
            </a:br>
            <a:r>
              <a:rPr lang="en-US" dirty="0">
                <a:latin typeface="Menlo" panose="020B0609030804020204" pitchFamily="49" charset="0"/>
                <a:ea typeface="Menlo" panose="020B0609030804020204" pitchFamily="49" charset="0"/>
                <a:cs typeface="Menlo" panose="020B0609030804020204" pitchFamily="49" charset="0"/>
              </a:rPr>
              <a:t>Animal animal = cat;</a:t>
            </a:r>
          </a:p>
          <a:p>
            <a:endParaRPr lang="en-US" dirty="0">
              <a:latin typeface="Courier" pitchFamily="2" charset="0"/>
            </a:endParaRPr>
          </a:p>
          <a:p>
            <a:r>
              <a:rPr lang="en-US" dirty="0"/>
              <a:t>On the other hand, </a:t>
            </a:r>
            <a:r>
              <a:rPr lang="en-US" b="1" dirty="0"/>
              <a:t>narrowing casts </a:t>
            </a:r>
            <a:r>
              <a:rPr lang="en-US" dirty="0"/>
              <a:t>must be explicit and can fail, e.g.:</a:t>
            </a:r>
            <a:br>
              <a:rPr lang="en-US" dirty="0">
                <a:latin typeface="Courier" pitchFamily="2" charset="0"/>
              </a:rPr>
            </a:br>
            <a:br>
              <a:rPr lang="en-US" dirty="0">
                <a:latin typeface="Courier" pitchFamily="2" charset="0"/>
              </a:rPr>
            </a:br>
            <a:r>
              <a:rPr lang="en-US" dirty="0">
                <a:latin typeface="Menlo" panose="020B0609030804020204" pitchFamily="49" charset="0"/>
                <a:ea typeface="Menlo" panose="020B0609030804020204" pitchFamily="49" charset="0"/>
                <a:cs typeface="Menlo" panose="020B0609030804020204" pitchFamily="49" charset="0"/>
              </a:rPr>
              <a:t>Animal animal1 = Cat(...);</a:t>
            </a:r>
            <a:br>
              <a:rPr lang="en-US" dirty="0">
                <a:latin typeface="Menlo" panose="020B0609030804020204" pitchFamily="49" charset="0"/>
                <a:ea typeface="Menlo" panose="020B0609030804020204" pitchFamily="49" charset="0"/>
                <a:cs typeface="Menlo" panose="020B0609030804020204" pitchFamily="49" charset="0"/>
              </a:rPr>
            </a:br>
            <a:r>
              <a:rPr lang="en-US" dirty="0">
                <a:latin typeface="Menlo" panose="020B0609030804020204" pitchFamily="49" charset="0"/>
                <a:ea typeface="Menlo" panose="020B0609030804020204" pitchFamily="49" charset="0"/>
                <a:cs typeface="Menlo" panose="020B0609030804020204" pitchFamily="49" charset="0"/>
              </a:rPr>
              <a:t>Animal animal2 = Koala(...);</a:t>
            </a:r>
            <a:br>
              <a:rPr lang="en-US" dirty="0">
                <a:latin typeface="Menlo" panose="020B0609030804020204" pitchFamily="49" charset="0"/>
                <a:ea typeface="Menlo" panose="020B0609030804020204" pitchFamily="49" charset="0"/>
                <a:cs typeface="Menlo" panose="020B0609030804020204" pitchFamily="49" charset="0"/>
              </a:rPr>
            </a:br>
            <a:r>
              <a:rPr lang="en-US" dirty="0">
                <a:latin typeface="Menlo" panose="020B0609030804020204" pitchFamily="49" charset="0"/>
                <a:ea typeface="Menlo" panose="020B0609030804020204" pitchFamily="49" charset="0"/>
                <a:cs typeface="Menlo" panose="020B0609030804020204" pitchFamily="49" charset="0"/>
              </a:rPr>
              <a:t>Cat c1 = animal1 as Cat; //This is ok</a:t>
            </a:r>
            <a:br>
              <a:rPr lang="en-US" dirty="0">
                <a:latin typeface="Menlo" panose="020B0609030804020204" pitchFamily="49" charset="0"/>
                <a:ea typeface="Menlo" panose="020B0609030804020204" pitchFamily="49" charset="0"/>
                <a:cs typeface="Menlo" panose="020B0609030804020204" pitchFamily="49" charset="0"/>
              </a:rPr>
            </a:br>
            <a:r>
              <a:rPr lang="en-US" dirty="0">
                <a:latin typeface="Menlo" panose="020B0609030804020204" pitchFamily="49" charset="0"/>
                <a:ea typeface="Menlo" panose="020B0609030804020204" pitchFamily="49" charset="0"/>
                <a:cs typeface="Menlo" panose="020B0609030804020204" pitchFamily="49" charset="0"/>
              </a:rPr>
              <a:t>Cat c2 = animal2 as Cat; //This will fail</a:t>
            </a:r>
          </a:p>
        </p:txBody>
      </p:sp>
      <p:cxnSp>
        <p:nvCxnSpPr>
          <p:cNvPr id="47" name="Straight Arrow Connector 46">
            <a:extLst>
              <a:ext uri="{FF2B5EF4-FFF2-40B4-BE49-F238E27FC236}">
                <a16:creationId xmlns:a16="http://schemas.microsoft.com/office/drawing/2014/main" id="{6835BBC1-41FA-544F-8B05-0803ED19ABF1}"/>
              </a:ext>
            </a:extLst>
          </p:cNvPr>
          <p:cNvCxnSpPr>
            <a:cxnSpLocks/>
            <a:stCxn id="55" idx="1"/>
          </p:cNvCxnSpPr>
          <p:nvPr/>
        </p:nvCxnSpPr>
        <p:spPr>
          <a:xfrm flipH="1">
            <a:off x="4656406" y="3592981"/>
            <a:ext cx="31021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Content Placeholder 2">
            <a:extLst>
              <a:ext uri="{FF2B5EF4-FFF2-40B4-BE49-F238E27FC236}">
                <a16:creationId xmlns:a16="http://schemas.microsoft.com/office/drawing/2014/main" id="{F51ADEA4-F33C-B74E-997E-B292B56616B3}"/>
              </a:ext>
            </a:extLst>
          </p:cNvPr>
          <p:cNvSpPr txBox="1">
            <a:spLocks/>
          </p:cNvSpPr>
          <p:nvPr/>
        </p:nvSpPr>
        <p:spPr>
          <a:xfrm>
            <a:off x="7758542" y="3242576"/>
            <a:ext cx="3643322" cy="700809"/>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Aptos" panose="020B0004020202020204" pitchFamily="34" charset="0"/>
                <a:ea typeface="Palatino" pitchFamily="2" charset="77"/>
              </a:rPr>
              <a:t>Note:</a:t>
            </a:r>
            <a:r>
              <a:rPr lang="en-IT" sz="1600" dirty="0">
                <a:latin typeface="Aptos" panose="020B0004020202020204" pitchFamily="34" charset="0"/>
                <a:ea typeface="Palatino" pitchFamily="2" charset="77"/>
              </a:rPr>
              <a:t> in this example</a:t>
            </a:r>
            <a:r>
              <a:rPr lang="en-IT" sz="1600" dirty="0">
                <a:ea typeface="Palatino" pitchFamily="2" charset="77"/>
              </a:rPr>
              <a:t> </a:t>
            </a:r>
            <a:r>
              <a:rPr lang="en-US" sz="1600" dirty="0">
                <a:latin typeface="Menlo" panose="020B0609030804020204" pitchFamily="49" charset="0"/>
                <a:ea typeface="Menlo" panose="020B0609030804020204" pitchFamily="49" charset="0"/>
                <a:cs typeface="Menlo" panose="020B0609030804020204" pitchFamily="49" charset="0"/>
              </a:rPr>
              <a:t>cat</a:t>
            </a:r>
            <a:r>
              <a:rPr lang="en-US" sz="1600" dirty="0">
                <a:ea typeface="Palatino" pitchFamily="2" charset="77"/>
              </a:rPr>
              <a:t> </a:t>
            </a:r>
            <a:r>
              <a:rPr lang="en-US" sz="1600" dirty="0">
                <a:latin typeface="Aptos" panose="020B0004020202020204" pitchFamily="34" charset="0"/>
                <a:ea typeface="Palatino" pitchFamily="2" charset="77"/>
              </a:rPr>
              <a:t>and</a:t>
            </a:r>
            <a:r>
              <a:rPr lang="en-US" sz="1600" dirty="0">
                <a:ea typeface="Palatino" pitchFamily="2" charset="77"/>
              </a:rPr>
              <a:t> </a:t>
            </a:r>
            <a:r>
              <a:rPr lang="en-US" sz="1600" dirty="0">
                <a:latin typeface="Menlo" panose="020B0609030804020204" pitchFamily="49" charset="0"/>
                <a:ea typeface="Menlo" panose="020B0609030804020204" pitchFamily="49" charset="0"/>
                <a:cs typeface="Menlo" panose="020B0609030804020204" pitchFamily="49" charset="0"/>
              </a:rPr>
              <a:t>animal</a:t>
            </a:r>
            <a:r>
              <a:rPr lang="en-US" sz="1600" dirty="0">
                <a:ea typeface="Palatino" pitchFamily="2" charset="77"/>
              </a:rPr>
              <a:t> </a:t>
            </a:r>
            <a:r>
              <a:rPr lang="en-US" sz="1600" dirty="0">
                <a:latin typeface="Aptos" panose="020B0004020202020204" pitchFamily="34" charset="0"/>
                <a:ea typeface="Palatino" pitchFamily="2" charset="77"/>
              </a:rPr>
              <a:t>will refer to the same object!</a:t>
            </a:r>
            <a:endParaRPr lang="en-IT" sz="1600" dirty="0">
              <a:latin typeface="Aptos" panose="020B0004020202020204" pitchFamily="34" charset="0"/>
              <a:ea typeface="Palatino" pitchFamily="2" charset="77"/>
            </a:endParaRPr>
          </a:p>
        </p:txBody>
      </p:sp>
      <p:sp>
        <p:nvSpPr>
          <p:cNvPr id="58" name="Content Placeholder 2">
            <a:extLst>
              <a:ext uri="{FF2B5EF4-FFF2-40B4-BE49-F238E27FC236}">
                <a16:creationId xmlns:a16="http://schemas.microsoft.com/office/drawing/2014/main" id="{E414B688-6C1C-F845-957C-6BDC8A676CC5}"/>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polymorphism.dart</a:t>
            </a:r>
          </a:p>
        </p:txBody>
      </p:sp>
      <p:sp>
        <p:nvSpPr>
          <p:cNvPr id="59" name="Slide Number Placeholder 12">
            <a:extLst>
              <a:ext uri="{FF2B5EF4-FFF2-40B4-BE49-F238E27FC236}">
                <a16:creationId xmlns:a16="http://schemas.microsoft.com/office/drawing/2014/main" id="{87AB5B4C-B378-9E46-A3B4-B4448FDCAF2D}"/>
              </a:ext>
            </a:extLst>
          </p:cNvPr>
          <p:cNvSpPr>
            <a:spLocks noGrp="1"/>
          </p:cNvSpPr>
          <p:nvPr>
            <p:ph type="sldNum" sz="quarter" idx="12"/>
          </p:nvPr>
        </p:nvSpPr>
        <p:spPr>
          <a:xfrm>
            <a:off x="8610600" y="6356350"/>
            <a:ext cx="3185886" cy="365125"/>
          </a:xfrm>
        </p:spPr>
        <p:txBody>
          <a:bodyPr/>
          <a:lstStyle/>
          <a:p>
            <a:fld id="{31DE2C5B-556E-47B8-A792-024C2FCA4ACC}" type="slidenum">
              <a:rPr lang="en-GB" smtClean="0"/>
              <a:t>29</a:t>
            </a:fld>
            <a:endParaRPr lang="en-GB" dirty="0"/>
          </a:p>
        </p:txBody>
      </p:sp>
      <p:cxnSp>
        <p:nvCxnSpPr>
          <p:cNvPr id="8" name="Straight Arrow Connector 7">
            <a:extLst>
              <a:ext uri="{FF2B5EF4-FFF2-40B4-BE49-F238E27FC236}">
                <a16:creationId xmlns:a16="http://schemas.microsoft.com/office/drawing/2014/main" id="{A122186D-857D-6746-AF47-01F1B6D8C35C}"/>
              </a:ext>
            </a:extLst>
          </p:cNvPr>
          <p:cNvCxnSpPr>
            <a:cxnSpLocks/>
            <a:stCxn id="9" idx="1"/>
          </p:cNvCxnSpPr>
          <p:nvPr/>
        </p:nvCxnSpPr>
        <p:spPr>
          <a:xfrm flipH="1">
            <a:off x="4383741" y="5147146"/>
            <a:ext cx="3374801" cy="6888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Content Placeholder 2">
            <a:extLst>
              <a:ext uri="{FF2B5EF4-FFF2-40B4-BE49-F238E27FC236}">
                <a16:creationId xmlns:a16="http://schemas.microsoft.com/office/drawing/2014/main" id="{13F00912-600C-EE47-A978-1CC0C72F8A05}"/>
              </a:ext>
            </a:extLst>
          </p:cNvPr>
          <p:cNvSpPr txBox="1">
            <a:spLocks/>
          </p:cNvSpPr>
          <p:nvPr/>
        </p:nvSpPr>
        <p:spPr>
          <a:xfrm>
            <a:off x="7758542" y="4796741"/>
            <a:ext cx="3643322" cy="700809"/>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Aptos" panose="020B0004020202020204" pitchFamily="34" charset="0"/>
                <a:ea typeface="Palatino" pitchFamily="2" charset="77"/>
              </a:rPr>
              <a:t>The</a:t>
            </a:r>
            <a:r>
              <a:rPr lang="en-US" sz="1600" dirty="0">
                <a:ea typeface="Palatino" pitchFamily="2" charset="77"/>
              </a:rPr>
              <a:t> </a:t>
            </a:r>
            <a:r>
              <a:rPr lang="en-US" sz="1600" b="1" dirty="0">
                <a:latin typeface="Menlo" panose="020B0609030804020204" pitchFamily="49" charset="0"/>
                <a:ea typeface="Menlo" panose="020B0609030804020204" pitchFamily="49" charset="0"/>
                <a:cs typeface="Menlo" panose="020B0609030804020204" pitchFamily="49" charset="0"/>
              </a:rPr>
              <a:t>as</a:t>
            </a:r>
            <a:r>
              <a:rPr lang="en-US" sz="1600" dirty="0">
                <a:ea typeface="Palatino" pitchFamily="2" charset="77"/>
              </a:rPr>
              <a:t> </a:t>
            </a:r>
            <a:r>
              <a:rPr lang="en-US" sz="1600" dirty="0">
                <a:latin typeface="Aptos" panose="020B0004020202020204" pitchFamily="34" charset="0"/>
                <a:ea typeface="Palatino" pitchFamily="2" charset="77"/>
              </a:rPr>
              <a:t>keyword is used to cast an object to another type</a:t>
            </a:r>
            <a:endParaRPr lang="en-IT" sz="1600" dirty="0">
              <a:latin typeface="Aptos" panose="020B0004020202020204" pitchFamily="34" charset="0"/>
              <a:ea typeface="Palatino" pitchFamily="2" charset="77"/>
            </a:endParaRPr>
          </a:p>
        </p:txBody>
      </p:sp>
    </p:spTree>
    <p:extLst>
      <p:ext uri="{BB962C8B-B14F-4D97-AF65-F5344CB8AC3E}">
        <p14:creationId xmlns:p14="http://schemas.microsoft.com/office/powerpoint/2010/main" val="230673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b="1" dirty="0"/>
              <a:t>Abstract data types</a:t>
            </a:r>
          </a:p>
          <a:p>
            <a:r>
              <a:rPr lang="en-GB" sz="2600" dirty="0">
                <a:solidFill>
                  <a:schemeClr val="bg2">
                    <a:lumMod val="90000"/>
                  </a:schemeClr>
                </a:solidFill>
              </a:rPr>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30</a:t>
            </a:fld>
            <a:endParaRPr lang="en-GB"/>
          </a:p>
        </p:txBody>
      </p:sp>
    </p:spTree>
    <p:extLst>
      <p:ext uri="{BB962C8B-B14F-4D97-AF65-F5344CB8AC3E}">
        <p14:creationId xmlns:p14="http://schemas.microsoft.com/office/powerpoint/2010/main" val="664256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Abstract data types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258630" cy="5334907"/>
          </a:xfrm>
        </p:spPr>
        <p:txBody>
          <a:bodyPr>
            <a:normAutofit/>
          </a:bodyPr>
          <a:lstStyle/>
          <a:p>
            <a:r>
              <a:rPr lang="en-US" dirty="0"/>
              <a:t>Finally, let’s talk about </a:t>
            </a:r>
            <a:r>
              <a:rPr lang="en-US" b="1" dirty="0"/>
              <a:t>abstract data types </a:t>
            </a:r>
            <a:r>
              <a:rPr lang="en-US" dirty="0"/>
              <a:t>(ADT).</a:t>
            </a:r>
          </a:p>
          <a:p>
            <a:endParaRPr lang="en-US" dirty="0"/>
          </a:p>
          <a:p>
            <a:r>
              <a:rPr lang="en-IT" dirty="0"/>
              <a:t>ADTs allow to enforce the abstraction principle of OOP.</a:t>
            </a:r>
          </a:p>
          <a:p>
            <a:endParaRPr lang="en-IT" dirty="0"/>
          </a:p>
          <a:p>
            <a:r>
              <a:rPr lang="en-IT" dirty="0"/>
              <a:t>An ADT is a mathematical model of a data structure that specifies the type of data stored, the operations supported on them and the types of parameters of the operations.</a:t>
            </a:r>
          </a:p>
          <a:p>
            <a:endParaRPr lang="en-IT" dirty="0"/>
          </a:p>
          <a:p>
            <a:r>
              <a:rPr lang="en-IT" dirty="0"/>
              <a:t>An ADT specifies </a:t>
            </a:r>
            <a:r>
              <a:rPr lang="en-IT" b="1" dirty="0"/>
              <a:t>what </a:t>
            </a:r>
            <a:r>
              <a:rPr lang="en-IT" dirty="0"/>
              <a:t>each operation does, but not </a:t>
            </a:r>
            <a:r>
              <a:rPr lang="en-IT" b="1" dirty="0"/>
              <a:t>how</a:t>
            </a:r>
            <a:r>
              <a:rPr lang="en-IT" dirty="0"/>
              <a:t> the </a:t>
            </a:r>
            <a:r>
              <a:rPr lang="en-IT"/>
              <a:t>operation </a:t>
            </a:r>
            <a:r>
              <a:rPr lang="en-US" dirty="0"/>
              <a:t>is</a:t>
            </a:r>
            <a:r>
              <a:rPr lang="en-IT"/>
              <a:t> </a:t>
            </a:r>
            <a:r>
              <a:rPr lang="en-IT" dirty="0"/>
              <a:t>performed.</a:t>
            </a:r>
          </a:p>
          <a:p>
            <a:pPr marL="0" indent="0">
              <a:buNone/>
            </a:pPr>
            <a:r>
              <a:rPr lang="en-IT" dirty="0"/>
              <a:t> </a:t>
            </a:r>
          </a:p>
        </p:txBody>
      </p:sp>
      <p:sp>
        <p:nvSpPr>
          <p:cNvPr id="13" name="Slide Number Placeholder 12">
            <a:extLst>
              <a:ext uri="{FF2B5EF4-FFF2-40B4-BE49-F238E27FC236}">
                <a16:creationId xmlns:a16="http://schemas.microsoft.com/office/drawing/2014/main" id="{1E8107E6-0886-9741-A2B1-5D926F98C60D}"/>
              </a:ext>
            </a:extLst>
          </p:cNvPr>
          <p:cNvSpPr>
            <a:spLocks noGrp="1"/>
          </p:cNvSpPr>
          <p:nvPr>
            <p:ph type="sldNum" sz="quarter" idx="12"/>
          </p:nvPr>
        </p:nvSpPr>
        <p:spPr/>
        <p:txBody>
          <a:bodyPr/>
          <a:lstStyle/>
          <a:p>
            <a:fld id="{31DE2C5B-556E-47B8-A792-024C2FCA4ACC}" type="slidenum">
              <a:rPr lang="en-GB" smtClean="0"/>
              <a:t>31</a:t>
            </a:fld>
            <a:endParaRPr lang="en-GB"/>
          </a:p>
        </p:txBody>
      </p:sp>
      <p:pic>
        <p:nvPicPr>
          <p:cNvPr id="17" name="Graphic 16" descr="Thought bubble outline">
            <a:extLst>
              <a:ext uri="{FF2B5EF4-FFF2-40B4-BE49-F238E27FC236}">
                <a16:creationId xmlns:a16="http://schemas.microsoft.com/office/drawing/2014/main" id="{A547DE65-3DD1-144C-8872-0FD2449D27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95137" y="2155078"/>
            <a:ext cx="2660023" cy="2660023"/>
          </a:xfrm>
          <a:prstGeom prst="rect">
            <a:avLst/>
          </a:prstGeom>
        </p:spPr>
      </p:pic>
    </p:spTree>
    <p:extLst>
      <p:ext uri="{BB962C8B-B14F-4D97-AF65-F5344CB8AC3E}">
        <p14:creationId xmlns:p14="http://schemas.microsoft.com/office/powerpoint/2010/main" val="1722749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Interfaces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325688" cy="5334907"/>
          </a:xfrm>
        </p:spPr>
        <p:txBody>
          <a:bodyPr>
            <a:normAutofit/>
          </a:bodyPr>
          <a:lstStyle/>
          <a:p>
            <a:r>
              <a:rPr lang="en-US" dirty="0"/>
              <a:t>An ADT can be specified via an </a:t>
            </a:r>
            <a:r>
              <a:rPr lang="en-US" b="1" dirty="0"/>
              <a:t>interface</a:t>
            </a:r>
            <a:r>
              <a:rPr lang="en-US" dirty="0"/>
              <a:t>, that defines the collection of methods and instance variables supported by that class (i.e., what, not how).</a:t>
            </a:r>
          </a:p>
          <a:p>
            <a:pPr lvl="1"/>
            <a:endParaRPr lang="en-US" dirty="0"/>
          </a:p>
          <a:p>
            <a:pPr lvl="1"/>
            <a:r>
              <a:rPr lang="en-US" dirty="0"/>
              <a:t>For example, this diagram expresses the interface of a Drinkable thing, i.e., a drink (we are saying that a Drinkable can be poured)</a:t>
            </a:r>
            <a:endParaRPr lang="en-IT" dirty="0"/>
          </a:p>
          <a:p>
            <a:pPr marL="0" indent="0">
              <a:buNone/>
            </a:pPr>
            <a:r>
              <a:rPr lang="en-IT" dirty="0"/>
              <a:t> </a:t>
            </a:r>
          </a:p>
        </p:txBody>
      </p:sp>
      <p:sp>
        <p:nvSpPr>
          <p:cNvPr id="13" name="Slide Number Placeholder 12">
            <a:extLst>
              <a:ext uri="{FF2B5EF4-FFF2-40B4-BE49-F238E27FC236}">
                <a16:creationId xmlns:a16="http://schemas.microsoft.com/office/drawing/2014/main" id="{1E8107E6-0886-9741-A2B1-5D926F98C60D}"/>
              </a:ext>
            </a:extLst>
          </p:cNvPr>
          <p:cNvSpPr>
            <a:spLocks noGrp="1"/>
          </p:cNvSpPr>
          <p:nvPr>
            <p:ph type="sldNum" sz="quarter" idx="12"/>
          </p:nvPr>
        </p:nvSpPr>
        <p:spPr/>
        <p:txBody>
          <a:bodyPr/>
          <a:lstStyle/>
          <a:p>
            <a:fld id="{31DE2C5B-556E-47B8-A792-024C2FCA4ACC}" type="slidenum">
              <a:rPr lang="en-GB" smtClean="0"/>
              <a:t>32</a:t>
            </a:fld>
            <a:endParaRPr lang="en-GB"/>
          </a:p>
        </p:txBody>
      </p:sp>
      <p:sp>
        <p:nvSpPr>
          <p:cNvPr id="9" name="Rectangle 8">
            <a:extLst>
              <a:ext uri="{FF2B5EF4-FFF2-40B4-BE49-F238E27FC236}">
                <a16:creationId xmlns:a16="http://schemas.microsoft.com/office/drawing/2014/main" id="{B5946F3C-B659-9545-AA62-98CD040AED53}"/>
              </a:ext>
            </a:extLst>
          </p:cNvPr>
          <p:cNvSpPr/>
          <p:nvPr/>
        </p:nvSpPr>
        <p:spPr>
          <a:xfrm>
            <a:off x="3067084" y="4261151"/>
            <a:ext cx="2143000"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10" name="Rectangle 9">
            <a:extLst>
              <a:ext uri="{FF2B5EF4-FFF2-40B4-BE49-F238E27FC236}">
                <a16:creationId xmlns:a16="http://schemas.microsoft.com/office/drawing/2014/main" id="{43BAE9C1-0EF5-B346-A5F3-75CEC666A430}"/>
              </a:ext>
            </a:extLst>
          </p:cNvPr>
          <p:cNvSpPr/>
          <p:nvPr/>
        </p:nvSpPr>
        <p:spPr>
          <a:xfrm>
            <a:off x="3067084" y="3695667"/>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Drinkable</a:t>
            </a:r>
          </a:p>
        </p:txBody>
      </p:sp>
      <p:sp>
        <p:nvSpPr>
          <p:cNvPr id="15" name="Rectangle 14">
            <a:extLst>
              <a:ext uri="{FF2B5EF4-FFF2-40B4-BE49-F238E27FC236}">
                <a16:creationId xmlns:a16="http://schemas.microsoft.com/office/drawing/2014/main" id="{7C859CDD-8C01-7C48-BF41-775261571BB1}"/>
              </a:ext>
            </a:extLst>
          </p:cNvPr>
          <p:cNvSpPr/>
          <p:nvPr/>
        </p:nvSpPr>
        <p:spPr>
          <a:xfrm>
            <a:off x="3067084" y="4468468"/>
            <a:ext cx="2143000"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pour()</a:t>
            </a:r>
          </a:p>
        </p:txBody>
      </p:sp>
      <p:sp>
        <p:nvSpPr>
          <p:cNvPr id="17" name="Rectangle 16">
            <a:extLst>
              <a:ext uri="{FF2B5EF4-FFF2-40B4-BE49-F238E27FC236}">
                <a16:creationId xmlns:a16="http://schemas.microsoft.com/office/drawing/2014/main" id="{772A2943-3C9B-CE49-9A77-40975B34A064}"/>
              </a:ext>
            </a:extLst>
          </p:cNvPr>
          <p:cNvSpPr/>
          <p:nvPr/>
        </p:nvSpPr>
        <p:spPr>
          <a:xfrm>
            <a:off x="3067082" y="3695667"/>
            <a:ext cx="2143002"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18" name="Content Placeholder 2">
            <a:extLst>
              <a:ext uri="{FF2B5EF4-FFF2-40B4-BE49-F238E27FC236}">
                <a16:creationId xmlns:a16="http://schemas.microsoft.com/office/drawing/2014/main" id="{6B8349B0-7567-2D4C-B28D-3C1CC143EE2A}"/>
              </a:ext>
            </a:extLst>
          </p:cNvPr>
          <p:cNvSpPr txBox="1">
            <a:spLocks/>
          </p:cNvSpPr>
          <p:nvPr/>
        </p:nvSpPr>
        <p:spPr>
          <a:xfrm>
            <a:off x="7621975" y="4840261"/>
            <a:ext cx="3131884" cy="1177091"/>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Aptos" panose="020B0004020202020204" pitchFamily="34" charset="0"/>
                <a:ea typeface="Palatino" pitchFamily="2" charset="77"/>
              </a:rPr>
              <a:t>An interface cannot be instantiated since it provides only what each operation does, not how.</a:t>
            </a:r>
          </a:p>
        </p:txBody>
      </p:sp>
    </p:spTree>
    <p:extLst>
      <p:ext uri="{BB962C8B-B14F-4D97-AF65-F5344CB8AC3E}">
        <p14:creationId xmlns:p14="http://schemas.microsoft.com/office/powerpoint/2010/main" val="3666934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Interfaces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6275283" cy="5334907"/>
          </a:xfrm>
        </p:spPr>
        <p:txBody>
          <a:bodyPr>
            <a:normAutofit/>
          </a:bodyPr>
          <a:lstStyle/>
          <a:p>
            <a:r>
              <a:rPr lang="en-US" dirty="0"/>
              <a:t>Then, we can use an interface to force a new classes to conform to the behavior and characteristics defined by the interface itself.</a:t>
            </a:r>
          </a:p>
          <a:p>
            <a:endParaRPr lang="en-US" dirty="0"/>
          </a:p>
          <a:p>
            <a:r>
              <a:rPr lang="en-US" dirty="0"/>
              <a:t>A class that </a:t>
            </a:r>
            <a:r>
              <a:rPr lang="en-US" b="1" dirty="0"/>
              <a:t>implements </a:t>
            </a:r>
            <a:r>
              <a:rPr lang="en-US" dirty="0"/>
              <a:t>an interface </a:t>
            </a:r>
            <a:r>
              <a:rPr lang="en-US" b="1" dirty="0"/>
              <a:t>must provide how </a:t>
            </a:r>
            <a:r>
              <a:rPr lang="en-US" dirty="0"/>
              <a:t>the methods expressed by the interface behave. </a:t>
            </a:r>
          </a:p>
          <a:p>
            <a:endParaRPr lang="en-US" dirty="0"/>
          </a:p>
          <a:p>
            <a:r>
              <a:rPr lang="en-US" dirty="0"/>
              <a:t>In the example, Beer and Coffee </a:t>
            </a:r>
            <a:r>
              <a:rPr lang="en-US" b="1" dirty="0"/>
              <a:t>are implementing </a:t>
            </a:r>
            <a:r>
              <a:rPr lang="en-US" dirty="0"/>
              <a:t>Drinkable. As such, the programmer must define a body for the pour() methods of both Beer and Coffee </a:t>
            </a:r>
          </a:p>
          <a:p>
            <a:endParaRPr lang="en-US" b="1" dirty="0"/>
          </a:p>
          <a:p>
            <a:endParaRPr lang="en-IT" b="1" dirty="0"/>
          </a:p>
        </p:txBody>
      </p:sp>
      <p:sp>
        <p:nvSpPr>
          <p:cNvPr id="13" name="Slide Number Placeholder 12">
            <a:extLst>
              <a:ext uri="{FF2B5EF4-FFF2-40B4-BE49-F238E27FC236}">
                <a16:creationId xmlns:a16="http://schemas.microsoft.com/office/drawing/2014/main" id="{1E8107E6-0886-9741-A2B1-5D926F98C60D}"/>
              </a:ext>
            </a:extLst>
          </p:cNvPr>
          <p:cNvSpPr>
            <a:spLocks noGrp="1"/>
          </p:cNvSpPr>
          <p:nvPr>
            <p:ph type="sldNum" sz="quarter" idx="12"/>
          </p:nvPr>
        </p:nvSpPr>
        <p:spPr/>
        <p:txBody>
          <a:bodyPr/>
          <a:lstStyle/>
          <a:p>
            <a:fld id="{31DE2C5B-556E-47B8-A792-024C2FCA4ACC}" type="slidenum">
              <a:rPr lang="en-GB" smtClean="0"/>
              <a:t>33</a:t>
            </a:fld>
            <a:endParaRPr lang="en-GB"/>
          </a:p>
        </p:txBody>
      </p:sp>
      <p:sp>
        <p:nvSpPr>
          <p:cNvPr id="9" name="Rectangle 8">
            <a:extLst>
              <a:ext uri="{FF2B5EF4-FFF2-40B4-BE49-F238E27FC236}">
                <a16:creationId xmlns:a16="http://schemas.microsoft.com/office/drawing/2014/main" id="{131342A7-87C3-F645-B842-D307F1A383A7}"/>
              </a:ext>
            </a:extLst>
          </p:cNvPr>
          <p:cNvSpPr/>
          <p:nvPr/>
        </p:nvSpPr>
        <p:spPr>
          <a:xfrm>
            <a:off x="8391919" y="2685718"/>
            <a:ext cx="2143000"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10" name="Rectangle 9">
            <a:extLst>
              <a:ext uri="{FF2B5EF4-FFF2-40B4-BE49-F238E27FC236}">
                <a16:creationId xmlns:a16="http://schemas.microsoft.com/office/drawing/2014/main" id="{5AF1A3A7-1AD3-3949-B119-23B7B7758E1E}"/>
              </a:ext>
            </a:extLst>
          </p:cNvPr>
          <p:cNvSpPr/>
          <p:nvPr/>
        </p:nvSpPr>
        <p:spPr>
          <a:xfrm>
            <a:off x="8391919" y="2120234"/>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Drinkable</a:t>
            </a:r>
          </a:p>
        </p:txBody>
      </p:sp>
      <p:sp>
        <p:nvSpPr>
          <p:cNvPr id="15" name="Rectangle 14">
            <a:extLst>
              <a:ext uri="{FF2B5EF4-FFF2-40B4-BE49-F238E27FC236}">
                <a16:creationId xmlns:a16="http://schemas.microsoft.com/office/drawing/2014/main" id="{A4DBF7FB-1366-5344-BC21-FE06E5C9F07A}"/>
              </a:ext>
            </a:extLst>
          </p:cNvPr>
          <p:cNvSpPr/>
          <p:nvPr/>
        </p:nvSpPr>
        <p:spPr>
          <a:xfrm>
            <a:off x="8391919" y="2893035"/>
            <a:ext cx="2143000"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pour()</a:t>
            </a:r>
          </a:p>
        </p:txBody>
      </p:sp>
      <p:sp>
        <p:nvSpPr>
          <p:cNvPr id="17" name="Rectangle 16">
            <a:extLst>
              <a:ext uri="{FF2B5EF4-FFF2-40B4-BE49-F238E27FC236}">
                <a16:creationId xmlns:a16="http://schemas.microsoft.com/office/drawing/2014/main" id="{26224299-2D3C-AA46-96C6-7BA1242EF9BD}"/>
              </a:ext>
            </a:extLst>
          </p:cNvPr>
          <p:cNvSpPr/>
          <p:nvPr/>
        </p:nvSpPr>
        <p:spPr>
          <a:xfrm>
            <a:off x="8391917" y="2120234"/>
            <a:ext cx="2143002"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18" name="Rectangle 17">
            <a:extLst>
              <a:ext uri="{FF2B5EF4-FFF2-40B4-BE49-F238E27FC236}">
                <a16:creationId xmlns:a16="http://schemas.microsoft.com/office/drawing/2014/main" id="{406CFA70-B05C-0E44-AF7E-7544DDD9E717}"/>
              </a:ext>
            </a:extLst>
          </p:cNvPr>
          <p:cNvSpPr/>
          <p:nvPr/>
        </p:nvSpPr>
        <p:spPr>
          <a:xfrm>
            <a:off x="7174865" y="5040200"/>
            <a:ext cx="2143000"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19" name="Rectangle 18">
            <a:extLst>
              <a:ext uri="{FF2B5EF4-FFF2-40B4-BE49-F238E27FC236}">
                <a16:creationId xmlns:a16="http://schemas.microsoft.com/office/drawing/2014/main" id="{C2448B4A-702F-D94F-82E6-4EB80C4E6136}"/>
              </a:ext>
            </a:extLst>
          </p:cNvPr>
          <p:cNvSpPr/>
          <p:nvPr/>
        </p:nvSpPr>
        <p:spPr>
          <a:xfrm>
            <a:off x="7174865" y="4474716"/>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Beer</a:t>
            </a:r>
          </a:p>
        </p:txBody>
      </p:sp>
      <p:sp>
        <p:nvSpPr>
          <p:cNvPr id="20" name="Rectangle 19">
            <a:extLst>
              <a:ext uri="{FF2B5EF4-FFF2-40B4-BE49-F238E27FC236}">
                <a16:creationId xmlns:a16="http://schemas.microsoft.com/office/drawing/2014/main" id="{45ED0719-BDCF-3B40-96E7-3F7D00E0531B}"/>
              </a:ext>
            </a:extLst>
          </p:cNvPr>
          <p:cNvSpPr/>
          <p:nvPr/>
        </p:nvSpPr>
        <p:spPr>
          <a:xfrm>
            <a:off x="7174865" y="5247517"/>
            <a:ext cx="2143000"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pour()</a:t>
            </a:r>
          </a:p>
        </p:txBody>
      </p:sp>
      <p:sp>
        <p:nvSpPr>
          <p:cNvPr id="21" name="Rectangle 20">
            <a:extLst>
              <a:ext uri="{FF2B5EF4-FFF2-40B4-BE49-F238E27FC236}">
                <a16:creationId xmlns:a16="http://schemas.microsoft.com/office/drawing/2014/main" id="{BB2792AA-9BB5-C14B-849F-F4E648E150AB}"/>
              </a:ext>
            </a:extLst>
          </p:cNvPr>
          <p:cNvSpPr/>
          <p:nvPr/>
        </p:nvSpPr>
        <p:spPr>
          <a:xfrm>
            <a:off x="7174863" y="4474716"/>
            <a:ext cx="2143002"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22" name="Rectangle 21">
            <a:extLst>
              <a:ext uri="{FF2B5EF4-FFF2-40B4-BE49-F238E27FC236}">
                <a16:creationId xmlns:a16="http://schemas.microsoft.com/office/drawing/2014/main" id="{FBD25F8E-4408-B44D-9231-692C214427AC}"/>
              </a:ext>
            </a:extLst>
          </p:cNvPr>
          <p:cNvSpPr/>
          <p:nvPr/>
        </p:nvSpPr>
        <p:spPr>
          <a:xfrm>
            <a:off x="9581068" y="5048600"/>
            <a:ext cx="2143000"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23" name="Rectangle 22">
            <a:extLst>
              <a:ext uri="{FF2B5EF4-FFF2-40B4-BE49-F238E27FC236}">
                <a16:creationId xmlns:a16="http://schemas.microsoft.com/office/drawing/2014/main" id="{6C80F4BA-A8E4-7F46-B984-A9BBC9E807BE}"/>
              </a:ext>
            </a:extLst>
          </p:cNvPr>
          <p:cNvSpPr/>
          <p:nvPr/>
        </p:nvSpPr>
        <p:spPr>
          <a:xfrm>
            <a:off x="9581068" y="4483116"/>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Coffee</a:t>
            </a:r>
          </a:p>
        </p:txBody>
      </p:sp>
      <p:sp>
        <p:nvSpPr>
          <p:cNvPr id="24" name="Rectangle 23">
            <a:extLst>
              <a:ext uri="{FF2B5EF4-FFF2-40B4-BE49-F238E27FC236}">
                <a16:creationId xmlns:a16="http://schemas.microsoft.com/office/drawing/2014/main" id="{38A3CCAC-00C4-F243-9D90-0324918A0AC7}"/>
              </a:ext>
            </a:extLst>
          </p:cNvPr>
          <p:cNvSpPr/>
          <p:nvPr/>
        </p:nvSpPr>
        <p:spPr>
          <a:xfrm>
            <a:off x="9581068" y="5255917"/>
            <a:ext cx="2143000"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pour()</a:t>
            </a:r>
          </a:p>
        </p:txBody>
      </p:sp>
      <p:sp>
        <p:nvSpPr>
          <p:cNvPr id="25" name="Rectangle 24">
            <a:extLst>
              <a:ext uri="{FF2B5EF4-FFF2-40B4-BE49-F238E27FC236}">
                <a16:creationId xmlns:a16="http://schemas.microsoft.com/office/drawing/2014/main" id="{69BFC8EB-1AAE-EC43-A530-86B7F719D110}"/>
              </a:ext>
            </a:extLst>
          </p:cNvPr>
          <p:cNvSpPr/>
          <p:nvPr/>
        </p:nvSpPr>
        <p:spPr>
          <a:xfrm>
            <a:off x="9581066" y="4483116"/>
            <a:ext cx="2143002"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cxnSp>
        <p:nvCxnSpPr>
          <p:cNvPr id="26" name="Straight Arrow Connector 25">
            <a:extLst>
              <a:ext uri="{FF2B5EF4-FFF2-40B4-BE49-F238E27FC236}">
                <a16:creationId xmlns:a16="http://schemas.microsoft.com/office/drawing/2014/main" id="{532D1B4C-0A74-B443-8580-52AF357BD494}"/>
              </a:ext>
            </a:extLst>
          </p:cNvPr>
          <p:cNvCxnSpPr>
            <a:cxnSpLocks/>
            <a:stCxn id="25" idx="0"/>
            <a:endCxn id="17" idx="2"/>
          </p:cNvCxnSpPr>
          <p:nvPr/>
        </p:nvCxnSpPr>
        <p:spPr>
          <a:xfrm flipH="1" flipV="1">
            <a:off x="9463418" y="3234402"/>
            <a:ext cx="1189149" cy="12487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2D7558B1-208E-0744-8B7C-A43169805865}"/>
              </a:ext>
            </a:extLst>
          </p:cNvPr>
          <p:cNvSpPr/>
          <p:nvPr/>
        </p:nvSpPr>
        <p:spPr>
          <a:xfrm>
            <a:off x="7108667" y="3750035"/>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28" name="Straight Arrow Connector 27">
            <a:extLst>
              <a:ext uri="{FF2B5EF4-FFF2-40B4-BE49-F238E27FC236}">
                <a16:creationId xmlns:a16="http://schemas.microsoft.com/office/drawing/2014/main" id="{A07F2350-2C1E-9B47-BF97-11426A723C9C}"/>
              </a:ext>
            </a:extLst>
          </p:cNvPr>
          <p:cNvCxnSpPr>
            <a:cxnSpLocks/>
            <a:stCxn id="21" idx="0"/>
            <a:endCxn id="15" idx="2"/>
          </p:cNvCxnSpPr>
          <p:nvPr/>
        </p:nvCxnSpPr>
        <p:spPr>
          <a:xfrm flipV="1">
            <a:off x="8246364" y="3234402"/>
            <a:ext cx="1217055" cy="12403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AAC9059A-0DF2-7949-82C0-F1D6211E2B22}"/>
              </a:ext>
            </a:extLst>
          </p:cNvPr>
          <p:cNvSpPr/>
          <p:nvPr/>
        </p:nvSpPr>
        <p:spPr>
          <a:xfrm>
            <a:off x="10406694" y="3716009"/>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1892916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Abstract classes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325688" cy="5334907"/>
          </a:xfrm>
        </p:spPr>
        <p:txBody>
          <a:bodyPr>
            <a:normAutofit/>
          </a:bodyPr>
          <a:lstStyle/>
          <a:p>
            <a:r>
              <a:rPr lang="en-US" dirty="0"/>
              <a:t>An </a:t>
            </a:r>
            <a:r>
              <a:rPr lang="en-US" b="1" dirty="0"/>
              <a:t>abstract class </a:t>
            </a:r>
            <a:r>
              <a:rPr lang="en-US" dirty="0"/>
              <a:t>is something in between an interface and a concrete class. </a:t>
            </a:r>
          </a:p>
          <a:p>
            <a:endParaRPr lang="en-US" dirty="0"/>
          </a:p>
          <a:p>
            <a:r>
              <a:rPr lang="en-US" b="1" dirty="0"/>
              <a:t>Like an interface</a:t>
            </a:r>
            <a:r>
              <a:rPr lang="en-US" dirty="0"/>
              <a:t>, an abstract class cannot be instantiated, that is, no objects can be created from an abstract class.</a:t>
            </a:r>
          </a:p>
          <a:p>
            <a:endParaRPr lang="en-US" dirty="0"/>
          </a:p>
          <a:p>
            <a:r>
              <a:rPr lang="en-US" b="1" dirty="0"/>
              <a:t>Like a concrete class</a:t>
            </a:r>
            <a:r>
              <a:rPr lang="en-US" dirty="0"/>
              <a:t>, an abstract class can extend another abstract class, and can contain concrete method body definitions.</a:t>
            </a:r>
          </a:p>
          <a:p>
            <a:endParaRPr lang="en-IT" dirty="0"/>
          </a:p>
          <a:p>
            <a:pPr marL="0" indent="0">
              <a:buNone/>
            </a:pPr>
            <a:r>
              <a:rPr lang="en-IT" dirty="0"/>
              <a:t> </a:t>
            </a:r>
          </a:p>
        </p:txBody>
      </p:sp>
      <p:sp>
        <p:nvSpPr>
          <p:cNvPr id="13" name="Slide Number Placeholder 12">
            <a:extLst>
              <a:ext uri="{FF2B5EF4-FFF2-40B4-BE49-F238E27FC236}">
                <a16:creationId xmlns:a16="http://schemas.microsoft.com/office/drawing/2014/main" id="{1E8107E6-0886-9741-A2B1-5D926F98C60D}"/>
              </a:ext>
            </a:extLst>
          </p:cNvPr>
          <p:cNvSpPr>
            <a:spLocks noGrp="1"/>
          </p:cNvSpPr>
          <p:nvPr>
            <p:ph type="sldNum" sz="quarter" idx="12"/>
          </p:nvPr>
        </p:nvSpPr>
        <p:spPr/>
        <p:txBody>
          <a:bodyPr/>
          <a:lstStyle/>
          <a:p>
            <a:fld id="{31DE2C5B-556E-47B8-A792-024C2FCA4ACC}" type="slidenum">
              <a:rPr lang="en-GB" smtClean="0"/>
              <a:t>34</a:t>
            </a:fld>
            <a:endParaRPr lang="en-GB"/>
          </a:p>
        </p:txBody>
      </p:sp>
    </p:spTree>
    <p:extLst>
      <p:ext uri="{BB962C8B-B14F-4D97-AF65-F5344CB8AC3E}">
        <p14:creationId xmlns:p14="http://schemas.microsoft.com/office/powerpoint/2010/main" val="1947966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Interfaces and abstract classes in Dart</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325688" cy="5334907"/>
          </a:xfrm>
        </p:spPr>
        <p:txBody>
          <a:bodyPr>
            <a:normAutofit/>
          </a:bodyPr>
          <a:lstStyle/>
          <a:p>
            <a:r>
              <a:rPr lang="en-US" b="1" dirty="0"/>
              <a:t>In Dart, ADTs are defined via abstract classes only</a:t>
            </a:r>
            <a:r>
              <a:rPr lang="en-US" dirty="0"/>
              <a:t>. To create an interface, simply define an abstract class with no concrete method definition.</a:t>
            </a:r>
          </a:p>
          <a:p>
            <a:endParaRPr lang="en-US" dirty="0"/>
          </a:p>
          <a:p>
            <a:r>
              <a:rPr lang="en-US" dirty="0"/>
              <a:t>How to define an interface? Here’s an example:</a:t>
            </a:r>
          </a:p>
          <a:p>
            <a:endParaRPr lang="en-US" dirty="0"/>
          </a:p>
          <a:p>
            <a:endParaRPr lang="en-US" dirty="0"/>
          </a:p>
          <a:p>
            <a:endParaRPr lang="en-US" dirty="0"/>
          </a:p>
          <a:p>
            <a:r>
              <a:rPr lang="en-US" dirty="0"/>
              <a:t>How to define an abstract class?  </a:t>
            </a:r>
            <a:endParaRPr lang="en-IT" dirty="0"/>
          </a:p>
          <a:p>
            <a:pPr marL="0" indent="0">
              <a:buNone/>
            </a:pPr>
            <a:r>
              <a:rPr lang="en-IT" dirty="0"/>
              <a:t> </a:t>
            </a:r>
          </a:p>
        </p:txBody>
      </p:sp>
      <p:sp>
        <p:nvSpPr>
          <p:cNvPr id="13" name="Slide Number Placeholder 12">
            <a:extLst>
              <a:ext uri="{FF2B5EF4-FFF2-40B4-BE49-F238E27FC236}">
                <a16:creationId xmlns:a16="http://schemas.microsoft.com/office/drawing/2014/main" id="{1E8107E6-0886-9741-A2B1-5D926F98C60D}"/>
              </a:ext>
            </a:extLst>
          </p:cNvPr>
          <p:cNvSpPr>
            <a:spLocks noGrp="1"/>
          </p:cNvSpPr>
          <p:nvPr>
            <p:ph type="sldNum" sz="quarter" idx="12"/>
          </p:nvPr>
        </p:nvSpPr>
        <p:spPr/>
        <p:txBody>
          <a:bodyPr/>
          <a:lstStyle/>
          <a:p>
            <a:fld id="{31DE2C5B-556E-47B8-A792-024C2FCA4ACC}" type="slidenum">
              <a:rPr lang="en-GB" smtClean="0"/>
              <a:t>35</a:t>
            </a:fld>
            <a:endParaRPr lang="en-GB"/>
          </a:p>
        </p:txBody>
      </p:sp>
      <p:sp>
        <p:nvSpPr>
          <p:cNvPr id="15" name="Rectangle 14">
            <a:extLst>
              <a:ext uri="{FF2B5EF4-FFF2-40B4-BE49-F238E27FC236}">
                <a16:creationId xmlns:a16="http://schemas.microsoft.com/office/drawing/2014/main" id="{E6945509-51B6-7E44-ABD4-7A3A22DAEDF8}"/>
              </a:ext>
            </a:extLst>
          </p:cNvPr>
          <p:cNvSpPr/>
          <p:nvPr/>
        </p:nvSpPr>
        <p:spPr>
          <a:xfrm>
            <a:off x="3233404" y="3534080"/>
            <a:ext cx="2710186"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b="1" dirty="0">
                <a:latin typeface="Menlo" panose="020B0609030804020204" pitchFamily="49" charset="0"/>
              </a:rPr>
              <a:t>abstract</a:t>
            </a:r>
            <a:r>
              <a:rPr lang="en-GB" sz="1200" dirty="0">
                <a:latin typeface="Menlo" panose="020B0609030804020204" pitchFamily="49" charset="0"/>
              </a:rPr>
              <a:t> class Drinkable {</a:t>
            </a:r>
          </a:p>
          <a:p>
            <a:r>
              <a:rPr lang="en-GB" sz="1200" dirty="0">
                <a:latin typeface="Menlo" panose="020B0609030804020204" pitchFamily="49" charset="0"/>
              </a:rPr>
              <a:t>  void pour();</a:t>
            </a:r>
          </a:p>
          <a:p>
            <a:r>
              <a:rPr lang="en-GB" sz="1200" dirty="0">
                <a:latin typeface="Menlo" panose="020B0609030804020204" pitchFamily="49" charset="0"/>
              </a:rPr>
              <a:t>}//Drinkable</a:t>
            </a:r>
            <a:endParaRPr lang="en-GB" sz="1200" b="0" dirty="0">
              <a:effectLst/>
              <a:latin typeface="Menlo" panose="020B0609030804020204" pitchFamily="49" charset="0"/>
            </a:endParaRPr>
          </a:p>
        </p:txBody>
      </p:sp>
      <p:sp>
        <p:nvSpPr>
          <p:cNvPr id="18" name="Content Placeholder 2">
            <a:extLst>
              <a:ext uri="{FF2B5EF4-FFF2-40B4-BE49-F238E27FC236}">
                <a16:creationId xmlns:a16="http://schemas.microsoft.com/office/drawing/2014/main" id="{B952832F-D4F0-CA45-B39A-81B5B7FB926B}"/>
              </a:ext>
            </a:extLst>
          </p:cNvPr>
          <p:cNvSpPr txBox="1">
            <a:spLocks/>
          </p:cNvSpPr>
          <p:nvPr/>
        </p:nvSpPr>
        <p:spPr>
          <a:xfrm>
            <a:off x="8214404" y="2563607"/>
            <a:ext cx="3131884" cy="1177091"/>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 </a:t>
            </a:r>
            <a:r>
              <a:rPr lang="en-IT" sz="1600" b="1" dirty="0">
                <a:latin typeface="Menlo" panose="020B0609030804020204" pitchFamily="49" charset="0"/>
                <a:ea typeface="Menlo" panose="020B0609030804020204" pitchFamily="49" charset="0"/>
                <a:cs typeface="Menlo" panose="020B0609030804020204" pitchFamily="49" charset="0"/>
              </a:rPr>
              <a:t>abstract</a:t>
            </a:r>
            <a:r>
              <a:rPr lang="en-IT" sz="1600" dirty="0">
                <a:latin typeface="Aptos" panose="020B0004020202020204" pitchFamily="34" charset="0"/>
                <a:ea typeface="Palatino" pitchFamily="2" charset="77"/>
              </a:rPr>
              <a:t> keyword is used to say that the class defines an ADT (interface or abstract class)</a:t>
            </a:r>
          </a:p>
        </p:txBody>
      </p:sp>
      <p:sp>
        <p:nvSpPr>
          <p:cNvPr id="11" name="Rectangle 10">
            <a:extLst>
              <a:ext uri="{FF2B5EF4-FFF2-40B4-BE49-F238E27FC236}">
                <a16:creationId xmlns:a16="http://schemas.microsoft.com/office/drawing/2014/main" id="{0B37B8F7-6AC9-2241-844B-CD4982D46395}"/>
              </a:ext>
            </a:extLst>
          </p:cNvPr>
          <p:cNvSpPr/>
          <p:nvPr/>
        </p:nvSpPr>
        <p:spPr>
          <a:xfrm>
            <a:off x="3233404" y="5405487"/>
            <a:ext cx="2710186" cy="830997"/>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b="1" dirty="0">
                <a:latin typeface="Menlo" panose="020B0609030804020204" pitchFamily="49" charset="0"/>
              </a:rPr>
              <a:t>abstract</a:t>
            </a:r>
            <a:r>
              <a:rPr lang="en-GB" sz="1200" dirty="0">
                <a:latin typeface="Menlo" panose="020B0609030804020204" pitchFamily="49" charset="0"/>
              </a:rPr>
              <a:t> class Drinkable {</a:t>
            </a:r>
          </a:p>
          <a:p>
            <a:r>
              <a:rPr lang="en-GB" sz="1200" dirty="0">
                <a:latin typeface="Menlo" panose="020B0609030804020204" pitchFamily="49" charset="0"/>
              </a:rPr>
              <a:t>  void pour();</a:t>
            </a:r>
            <a:br>
              <a:rPr lang="en-GB" sz="1200" dirty="0">
                <a:latin typeface="Menlo" panose="020B0609030804020204" pitchFamily="49" charset="0"/>
              </a:rPr>
            </a:br>
            <a:r>
              <a:rPr lang="en-GB" sz="1200" dirty="0">
                <a:latin typeface="Menlo" panose="020B0609030804020204" pitchFamily="49" charset="0"/>
              </a:rPr>
              <a:t>  bool </a:t>
            </a:r>
            <a:r>
              <a:rPr lang="en-GB" sz="1200" dirty="0" err="1">
                <a:latin typeface="Menlo" panose="020B0609030804020204" pitchFamily="49" charset="0"/>
              </a:rPr>
              <a:t>isLiquid</a:t>
            </a:r>
            <a:r>
              <a:rPr lang="en-GB" sz="1200" dirty="0">
                <a:latin typeface="Menlo" panose="020B0609030804020204" pitchFamily="49" charset="0"/>
              </a:rPr>
              <a:t>() =&gt; true;</a:t>
            </a:r>
          </a:p>
          <a:p>
            <a:r>
              <a:rPr lang="en-GB" sz="1200" dirty="0">
                <a:latin typeface="Menlo" panose="020B0609030804020204" pitchFamily="49" charset="0"/>
              </a:rPr>
              <a:t>}//Drinkable</a:t>
            </a:r>
            <a:endParaRPr lang="en-GB" sz="1200" b="0" dirty="0">
              <a:effectLst/>
              <a:latin typeface="Menlo" panose="020B0609030804020204" pitchFamily="49" charset="0"/>
            </a:endParaRPr>
          </a:p>
        </p:txBody>
      </p:sp>
      <p:sp>
        <p:nvSpPr>
          <p:cNvPr id="12" name="Content Placeholder 2">
            <a:extLst>
              <a:ext uri="{FF2B5EF4-FFF2-40B4-BE49-F238E27FC236}">
                <a16:creationId xmlns:a16="http://schemas.microsoft.com/office/drawing/2014/main" id="{1A5F4516-B6B6-254F-B153-9B8F48BAEA4C}"/>
              </a:ext>
            </a:extLst>
          </p:cNvPr>
          <p:cNvSpPr txBox="1">
            <a:spLocks/>
          </p:cNvSpPr>
          <p:nvPr/>
        </p:nvSpPr>
        <p:spPr>
          <a:xfrm>
            <a:off x="8214404" y="3983020"/>
            <a:ext cx="3131884" cy="1177091"/>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Aptos" panose="020B0004020202020204" pitchFamily="34" charset="0"/>
                <a:ea typeface="Palatino" pitchFamily="2" charset="77"/>
              </a:rPr>
              <a:t>Practically very similar</a:t>
            </a:r>
            <a:r>
              <a:rPr lang="en-IT" sz="1600" dirty="0">
                <a:latin typeface="Aptos" panose="020B0004020202020204" pitchFamily="34" charset="0"/>
                <a:ea typeface="Palatino" pitchFamily="2" charset="77"/>
              </a:rPr>
              <a:t>, they just differ by the fact that the former contains a concrete implementation.</a:t>
            </a:r>
          </a:p>
        </p:txBody>
      </p:sp>
      <p:cxnSp>
        <p:nvCxnSpPr>
          <p:cNvPr id="14" name="Straight Arrow Connector 13">
            <a:extLst>
              <a:ext uri="{FF2B5EF4-FFF2-40B4-BE49-F238E27FC236}">
                <a16:creationId xmlns:a16="http://schemas.microsoft.com/office/drawing/2014/main" id="{4270DB51-4555-B84F-99C0-3BB709B4B5CA}"/>
              </a:ext>
            </a:extLst>
          </p:cNvPr>
          <p:cNvCxnSpPr>
            <a:cxnSpLocks/>
            <a:stCxn id="18" idx="1"/>
            <a:endCxn id="15" idx="3"/>
          </p:cNvCxnSpPr>
          <p:nvPr/>
        </p:nvCxnSpPr>
        <p:spPr>
          <a:xfrm flipH="1">
            <a:off x="5943590" y="3152153"/>
            <a:ext cx="2270814" cy="7050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Content Placeholder 2">
            <a:extLst>
              <a:ext uri="{FF2B5EF4-FFF2-40B4-BE49-F238E27FC236}">
                <a16:creationId xmlns:a16="http://schemas.microsoft.com/office/drawing/2014/main" id="{1E8C626C-F1E3-D948-A313-E2649E758ABA}"/>
              </a:ext>
            </a:extLst>
          </p:cNvPr>
          <p:cNvSpPr txBox="1">
            <a:spLocks/>
          </p:cNvSpPr>
          <p:nvPr/>
        </p:nvSpPr>
        <p:spPr>
          <a:xfrm>
            <a:off x="8221751" y="5402433"/>
            <a:ext cx="3131884" cy="1177091"/>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Aptos" panose="020B0004020202020204" pitchFamily="34" charset="0"/>
                <a:ea typeface="Palatino" pitchFamily="2" charset="77"/>
              </a:rPr>
              <a:t>From now on, we will refer to interfaces as abstract classes without loss of generality </a:t>
            </a:r>
            <a:endParaRPr lang="en-IT" sz="1600" dirty="0">
              <a:latin typeface="Aptos" panose="020B0004020202020204" pitchFamily="34" charset="0"/>
              <a:ea typeface="Palatino" pitchFamily="2" charset="77"/>
            </a:endParaRPr>
          </a:p>
        </p:txBody>
      </p:sp>
    </p:spTree>
    <p:extLst>
      <p:ext uri="{BB962C8B-B14F-4D97-AF65-F5344CB8AC3E}">
        <p14:creationId xmlns:p14="http://schemas.microsoft.com/office/powerpoint/2010/main" val="27623700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The </a:t>
            </a:r>
            <a:r>
              <a:rPr lang="en-IT" dirty="0">
                <a:latin typeface="Menlo" panose="020B0609030804020204" pitchFamily="49" charset="0"/>
                <a:ea typeface="Menlo" panose="020B0609030804020204" pitchFamily="49" charset="0"/>
                <a:cs typeface="Menlo" panose="020B0609030804020204" pitchFamily="49" charset="0"/>
              </a:rPr>
              <a:t>implements</a:t>
            </a:r>
            <a:r>
              <a:rPr lang="en-IT" dirty="0"/>
              <a:t> keyword</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325688" cy="5334907"/>
          </a:xfrm>
        </p:spPr>
        <p:txBody>
          <a:bodyPr>
            <a:normAutofit/>
          </a:bodyPr>
          <a:lstStyle/>
          <a:p>
            <a:r>
              <a:rPr lang="en-US" dirty="0"/>
              <a:t>How to </a:t>
            </a:r>
            <a:r>
              <a:rPr lang="en-US" dirty="0">
                <a:latin typeface="Menlo" panose="020B0609030804020204" pitchFamily="49" charset="0"/>
                <a:ea typeface="Menlo" panose="020B0609030804020204" pitchFamily="49" charset="0"/>
                <a:cs typeface="Menlo" panose="020B0609030804020204" pitchFamily="49" charset="0"/>
              </a:rPr>
              <a:t>implement</a:t>
            </a:r>
            <a:r>
              <a:rPr lang="en-US" dirty="0"/>
              <a:t> an abstract class? Here’s an example: </a:t>
            </a:r>
            <a:endParaRPr lang="en-IT" dirty="0"/>
          </a:p>
          <a:p>
            <a:pPr marL="0" indent="0">
              <a:buNone/>
            </a:pPr>
            <a:r>
              <a:rPr lang="en-IT" dirty="0"/>
              <a:t> </a:t>
            </a:r>
          </a:p>
        </p:txBody>
      </p:sp>
      <p:cxnSp>
        <p:nvCxnSpPr>
          <p:cNvPr id="9" name="Straight Arrow Connector 8">
            <a:extLst>
              <a:ext uri="{FF2B5EF4-FFF2-40B4-BE49-F238E27FC236}">
                <a16:creationId xmlns:a16="http://schemas.microsoft.com/office/drawing/2014/main" id="{AE40F7C6-B4F1-7A40-A5B6-5CF41152E347}"/>
              </a:ext>
            </a:extLst>
          </p:cNvPr>
          <p:cNvCxnSpPr>
            <a:cxnSpLocks/>
            <a:stCxn id="10" idx="0"/>
            <a:endCxn id="15" idx="2"/>
          </p:cNvCxnSpPr>
          <p:nvPr/>
        </p:nvCxnSpPr>
        <p:spPr>
          <a:xfrm flipV="1">
            <a:off x="4910470" y="3174496"/>
            <a:ext cx="0" cy="10473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321CACE7-1DA2-9442-8DD8-8F9D017FBD41}"/>
              </a:ext>
            </a:extLst>
          </p:cNvPr>
          <p:cNvSpPr/>
          <p:nvPr/>
        </p:nvSpPr>
        <p:spPr>
          <a:xfrm>
            <a:off x="3271524" y="4221824"/>
            <a:ext cx="3277892" cy="10156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rPr>
              <a:t>class Beer </a:t>
            </a:r>
            <a:r>
              <a:rPr lang="en-GB" sz="1200" b="1" dirty="0">
                <a:latin typeface="Menlo" panose="020B0609030804020204" pitchFamily="49" charset="0"/>
              </a:rPr>
              <a:t>implements</a:t>
            </a:r>
            <a:r>
              <a:rPr lang="en-GB" sz="1200" dirty="0">
                <a:latin typeface="Menlo" panose="020B0609030804020204" pitchFamily="49" charset="0"/>
              </a:rPr>
              <a:t> Drinkable {</a:t>
            </a:r>
          </a:p>
          <a:p>
            <a:r>
              <a:rPr lang="en-GB" sz="1200" dirty="0">
                <a:latin typeface="Menlo" panose="020B0609030804020204" pitchFamily="49" charset="0"/>
              </a:rPr>
              <a:t>  void pour() {</a:t>
            </a:r>
          </a:p>
          <a:p>
            <a:r>
              <a:rPr lang="en-GB" sz="1200" dirty="0">
                <a:latin typeface="Menlo" panose="020B0609030804020204" pitchFamily="49" charset="0"/>
              </a:rPr>
              <a:t>    print("Pouring a beer!");</a:t>
            </a:r>
          </a:p>
          <a:p>
            <a:r>
              <a:rPr lang="en-GB" sz="1200" dirty="0">
                <a:latin typeface="Menlo" panose="020B0609030804020204" pitchFamily="49" charset="0"/>
              </a:rPr>
              <a:t>  }//pour</a:t>
            </a:r>
          </a:p>
          <a:p>
            <a:r>
              <a:rPr lang="en-GB" sz="1200" dirty="0">
                <a:latin typeface="Menlo" panose="020B0609030804020204" pitchFamily="49" charset="0"/>
              </a:rPr>
              <a:t>}//Beer</a:t>
            </a:r>
            <a:endParaRPr lang="en-GB" sz="1200" b="0" dirty="0">
              <a:effectLst/>
              <a:latin typeface="Menlo" panose="020B0609030804020204" pitchFamily="49" charset="0"/>
            </a:endParaRPr>
          </a:p>
        </p:txBody>
      </p:sp>
      <p:sp>
        <p:nvSpPr>
          <p:cNvPr id="15" name="Rectangle 14">
            <a:extLst>
              <a:ext uri="{FF2B5EF4-FFF2-40B4-BE49-F238E27FC236}">
                <a16:creationId xmlns:a16="http://schemas.microsoft.com/office/drawing/2014/main" id="{E6945509-51B6-7E44-ABD4-7A3A22DAEDF8}"/>
              </a:ext>
            </a:extLst>
          </p:cNvPr>
          <p:cNvSpPr/>
          <p:nvPr/>
        </p:nvSpPr>
        <p:spPr>
          <a:xfrm>
            <a:off x="3555377" y="2528165"/>
            <a:ext cx="2710186"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b="1" dirty="0">
                <a:latin typeface="Menlo" panose="020B0609030804020204" pitchFamily="49" charset="0"/>
              </a:rPr>
              <a:t>abstract</a:t>
            </a:r>
            <a:r>
              <a:rPr lang="en-GB" sz="1200" dirty="0">
                <a:latin typeface="Menlo" panose="020B0609030804020204" pitchFamily="49" charset="0"/>
              </a:rPr>
              <a:t> class Drinkable {</a:t>
            </a:r>
          </a:p>
          <a:p>
            <a:r>
              <a:rPr lang="en-GB" sz="1200" dirty="0">
                <a:latin typeface="Menlo" panose="020B0609030804020204" pitchFamily="49" charset="0"/>
              </a:rPr>
              <a:t>  void pour();</a:t>
            </a:r>
          </a:p>
          <a:p>
            <a:r>
              <a:rPr lang="en-GB" sz="1200" dirty="0">
                <a:latin typeface="Menlo" panose="020B0609030804020204" pitchFamily="49" charset="0"/>
              </a:rPr>
              <a:t>}//Drinkable</a:t>
            </a:r>
            <a:endParaRPr lang="en-GB" sz="1200" b="0" dirty="0">
              <a:effectLst/>
              <a:latin typeface="Menlo" panose="020B0609030804020204" pitchFamily="49" charset="0"/>
            </a:endParaRPr>
          </a:p>
        </p:txBody>
      </p:sp>
      <p:sp>
        <p:nvSpPr>
          <p:cNvPr id="17" name="Rectangle 16">
            <a:extLst>
              <a:ext uri="{FF2B5EF4-FFF2-40B4-BE49-F238E27FC236}">
                <a16:creationId xmlns:a16="http://schemas.microsoft.com/office/drawing/2014/main" id="{E5FBAE90-8E49-644F-8AAD-28CF476BD138}"/>
              </a:ext>
            </a:extLst>
          </p:cNvPr>
          <p:cNvSpPr/>
          <p:nvPr/>
        </p:nvSpPr>
        <p:spPr>
          <a:xfrm>
            <a:off x="2946321" y="3513494"/>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18" name="Content Placeholder 2">
            <a:extLst>
              <a:ext uri="{FF2B5EF4-FFF2-40B4-BE49-F238E27FC236}">
                <a16:creationId xmlns:a16="http://schemas.microsoft.com/office/drawing/2014/main" id="{B952832F-D4F0-CA45-B39A-81B5B7FB926B}"/>
              </a:ext>
            </a:extLst>
          </p:cNvPr>
          <p:cNvSpPr txBox="1">
            <a:spLocks/>
          </p:cNvSpPr>
          <p:nvPr/>
        </p:nvSpPr>
        <p:spPr>
          <a:xfrm>
            <a:off x="7512504" y="3440074"/>
            <a:ext cx="3131884" cy="1177091"/>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a:t>
            </a:r>
            <a:r>
              <a:rPr lang="en-IT" sz="1600" dirty="0">
                <a:ea typeface="Palatino" pitchFamily="2" charset="77"/>
              </a:rPr>
              <a:t> </a:t>
            </a:r>
            <a:r>
              <a:rPr lang="en-IT" sz="1600" b="1">
                <a:latin typeface="Menlo" panose="020B0609030804020204" pitchFamily="49" charset="0"/>
                <a:ea typeface="Menlo" panose="020B0609030804020204" pitchFamily="49" charset="0"/>
                <a:cs typeface="Menlo" panose="020B0609030804020204" pitchFamily="49" charset="0"/>
              </a:rPr>
              <a:t>implements</a:t>
            </a:r>
            <a:r>
              <a:rPr lang="en-IT" sz="1600">
                <a:ea typeface="Palatino" pitchFamily="2" charset="77"/>
              </a:rPr>
              <a:t> </a:t>
            </a:r>
            <a:r>
              <a:rPr lang="en-IT" sz="1600" dirty="0">
                <a:latin typeface="Aptos" panose="020B0004020202020204" pitchFamily="34" charset="0"/>
                <a:ea typeface="Palatino" pitchFamily="2" charset="77"/>
              </a:rPr>
              <a:t>keyword is used to say that the class is implementing another abstract class</a:t>
            </a:r>
          </a:p>
        </p:txBody>
      </p:sp>
      <p:sp>
        <p:nvSpPr>
          <p:cNvPr id="20" name="Slide Number Placeholder 12">
            <a:extLst>
              <a:ext uri="{FF2B5EF4-FFF2-40B4-BE49-F238E27FC236}">
                <a16:creationId xmlns:a16="http://schemas.microsoft.com/office/drawing/2014/main" id="{6C16D989-498D-334A-9D9F-AA1DD64EBED0}"/>
              </a:ext>
            </a:extLst>
          </p:cNvPr>
          <p:cNvSpPr>
            <a:spLocks noGrp="1"/>
          </p:cNvSpPr>
          <p:nvPr>
            <p:ph type="sldNum" sz="quarter" idx="12"/>
          </p:nvPr>
        </p:nvSpPr>
        <p:spPr>
          <a:xfrm>
            <a:off x="8610600" y="6356350"/>
            <a:ext cx="3185886" cy="365125"/>
          </a:xfrm>
        </p:spPr>
        <p:txBody>
          <a:bodyPr/>
          <a:lstStyle/>
          <a:p>
            <a:fld id="{31DE2C5B-556E-47B8-A792-024C2FCA4ACC}" type="slidenum">
              <a:rPr lang="en-GB" smtClean="0"/>
              <a:t>36</a:t>
            </a:fld>
            <a:endParaRPr lang="en-GB" dirty="0"/>
          </a:p>
        </p:txBody>
      </p:sp>
    </p:spTree>
    <p:extLst>
      <p:ext uri="{BB962C8B-B14F-4D97-AF65-F5344CB8AC3E}">
        <p14:creationId xmlns:p14="http://schemas.microsoft.com/office/powerpoint/2010/main" val="619283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Using abstract classes in Dart</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325688" cy="5334907"/>
          </a:xfrm>
        </p:spPr>
        <p:txBody>
          <a:bodyPr>
            <a:normAutofit/>
          </a:bodyPr>
          <a:lstStyle/>
          <a:p>
            <a:r>
              <a:rPr lang="en-US" dirty="0"/>
              <a:t>We can use the same approach used for </a:t>
            </a:r>
            <a:r>
              <a:rPr lang="en-US" dirty="0" err="1"/>
              <a:t>superclasses</a:t>
            </a:r>
            <a:r>
              <a:rPr lang="en-US" dirty="0"/>
              <a:t> and subclasses:</a:t>
            </a:r>
            <a:endParaRPr lang="en-IT" dirty="0"/>
          </a:p>
          <a:p>
            <a:pPr marL="0" indent="0">
              <a:buNone/>
            </a:pPr>
            <a:r>
              <a:rPr lang="en-IT" dirty="0"/>
              <a:t> </a:t>
            </a:r>
          </a:p>
        </p:txBody>
      </p:sp>
      <p:sp>
        <p:nvSpPr>
          <p:cNvPr id="10" name="Rectangle 9">
            <a:extLst>
              <a:ext uri="{FF2B5EF4-FFF2-40B4-BE49-F238E27FC236}">
                <a16:creationId xmlns:a16="http://schemas.microsoft.com/office/drawing/2014/main" id="{321CACE7-1DA2-9442-8DD8-8F9D017FBD41}"/>
              </a:ext>
            </a:extLst>
          </p:cNvPr>
          <p:cNvSpPr/>
          <p:nvPr/>
        </p:nvSpPr>
        <p:spPr>
          <a:xfrm>
            <a:off x="3123417" y="3159317"/>
            <a:ext cx="5280048" cy="1569660"/>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a:spAutoFit/>
          </a:bodyPr>
          <a:lstStyle/>
          <a:p>
            <a:r>
              <a:rPr lang="en-GB" sz="1600" dirty="0">
                <a:latin typeface="Menlo" panose="020B0609030804020204" pitchFamily="49" charset="0"/>
                <a:ea typeface="Menlo" panose="020B0609030804020204" pitchFamily="49" charset="0"/>
                <a:cs typeface="Menlo" panose="020B0609030804020204" pitchFamily="49" charset="0"/>
              </a:rPr>
              <a:t>void main(List&lt;String&gt; </a:t>
            </a:r>
            <a:r>
              <a:rPr lang="en-GB" sz="1600" dirty="0" err="1">
                <a:latin typeface="Menlo" panose="020B0609030804020204" pitchFamily="49" charset="0"/>
                <a:ea typeface="Menlo" panose="020B0609030804020204" pitchFamily="49" charset="0"/>
                <a:cs typeface="Menlo" panose="020B0609030804020204" pitchFamily="49" charset="0"/>
              </a:rPr>
              <a:t>args</a:t>
            </a:r>
            <a:r>
              <a:rPr lang="en-GB" sz="1600" dirty="0">
                <a:latin typeface="Menlo" panose="020B0609030804020204" pitchFamily="49" charset="0"/>
                <a:ea typeface="Menlo" panose="020B0609030804020204" pitchFamily="49" charset="0"/>
                <a:cs typeface="Menlo" panose="020B0609030804020204" pitchFamily="49" charset="0"/>
              </a:rPr>
              <a:t>) {</a:t>
            </a:r>
          </a:p>
          <a:p>
            <a:r>
              <a:rPr lang="en-GB" sz="1600" dirty="0">
                <a:latin typeface="Menlo" panose="020B0609030804020204" pitchFamily="49" charset="0"/>
                <a:ea typeface="Menlo" panose="020B0609030804020204" pitchFamily="49" charset="0"/>
                <a:cs typeface="Menlo" panose="020B0609030804020204" pitchFamily="49" charset="0"/>
              </a:rPr>
              <a:t>  //Same as </a:t>
            </a:r>
            <a:r>
              <a:rPr lang="en-GB" sz="1600" dirty="0" err="1">
                <a:latin typeface="Menlo" panose="020B0609030804020204" pitchFamily="49" charset="0"/>
                <a:ea typeface="Menlo" panose="020B0609030804020204" pitchFamily="49" charset="0"/>
                <a:cs typeface="Menlo" panose="020B0609030804020204" pitchFamily="49" charset="0"/>
              </a:rPr>
              <a:t>superclasses</a:t>
            </a:r>
            <a:r>
              <a:rPr lang="en-GB" sz="1600" dirty="0">
                <a:latin typeface="Menlo" panose="020B0609030804020204" pitchFamily="49" charset="0"/>
                <a:ea typeface="Menlo" panose="020B0609030804020204" pitchFamily="49" charset="0"/>
                <a:cs typeface="Menlo" panose="020B0609030804020204" pitchFamily="49" charset="0"/>
              </a:rPr>
              <a:t> and subclasses</a:t>
            </a:r>
          </a:p>
          <a:p>
            <a:r>
              <a:rPr lang="en-GB" sz="1600" dirty="0">
                <a:latin typeface="Menlo" panose="020B0609030804020204" pitchFamily="49" charset="0"/>
                <a:ea typeface="Menlo" panose="020B0609030804020204" pitchFamily="49" charset="0"/>
                <a:cs typeface="Menlo" panose="020B0609030804020204" pitchFamily="49" charset="0"/>
              </a:rPr>
              <a:t>  </a:t>
            </a:r>
            <a:r>
              <a:rPr lang="en-GB" sz="1600" b="1" dirty="0">
                <a:latin typeface="Menlo" panose="020B0609030804020204" pitchFamily="49" charset="0"/>
                <a:ea typeface="Menlo" panose="020B0609030804020204" pitchFamily="49" charset="0"/>
                <a:cs typeface="Menlo" panose="020B0609030804020204" pitchFamily="49" charset="0"/>
              </a:rPr>
              <a:t>Drinkable</a:t>
            </a:r>
            <a:r>
              <a:rPr lang="en-GB" sz="1600" dirty="0">
                <a:latin typeface="Menlo" panose="020B0609030804020204" pitchFamily="49" charset="0"/>
                <a:ea typeface="Menlo" panose="020B0609030804020204" pitchFamily="49" charset="0"/>
                <a:cs typeface="Menlo" panose="020B0609030804020204" pitchFamily="49" charset="0"/>
              </a:rPr>
              <a:t> drink = Beer();</a:t>
            </a:r>
          </a:p>
          <a:p>
            <a:r>
              <a:rPr lang="en-GB" sz="1600" dirty="0">
                <a:latin typeface="Menlo" panose="020B0609030804020204" pitchFamily="49" charset="0"/>
                <a:ea typeface="Menlo" panose="020B0609030804020204" pitchFamily="49" charset="0"/>
                <a:cs typeface="Menlo" panose="020B0609030804020204" pitchFamily="49" charset="0"/>
              </a:rPr>
              <a:t>  //This will print 'Pouring a beer!'</a:t>
            </a:r>
          </a:p>
          <a:p>
            <a:r>
              <a:rPr lang="en-GB" sz="1600" dirty="0">
                <a:latin typeface="Menlo" panose="020B0609030804020204" pitchFamily="49" charset="0"/>
                <a:ea typeface="Menlo" panose="020B0609030804020204" pitchFamily="49" charset="0"/>
                <a:cs typeface="Menlo" panose="020B0609030804020204" pitchFamily="49" charset="0"/>
              </a:rPr>
              <a:t>  </a:t>
            </a:r>
            <a:r>
              <a:rPr lang="en-GB" sz="1600" dirty="0" err="1">
                <a:latin typeface="Menlo" panose="020B0609030804020204" pitchFamily="49" charset="0"/>
                <a:ea typeface="Menlo" panose="020B0609030804020204" pitchFamily="49" charset="0"/>
                <a:cs typeface="Menlo" panose="020B0609030804020204" pitchFamily="49" charset="0"/>
              </a:rPr>
              <a:t>drink.pour</a:t>
            </a:r>
            <a:r>
              <a:rPr lang="en-GB" sz="1600" dirty="0">
                <a:latin typeface="Menlo" panose="020B0609030804020204" pitchFamily="49" charset="0"/>
                <a:ea typeface="Menlo" panose="020B0609030804020204" pitchFamily="49" charset="0"/>
                <a:cs typeface="Menlo" panose="020B0609030804020204" pitchFamily="49" charset="0"/>
              </a:rPr>
              <a:t>();</a:t>
            </a:r>
          </a:p>
          <a:p>
            <a:r>
              <a:rPr lang="en-GB" sz="1600" dirty="0">
                <a:latin typeface="Menlo" panose="020B0609030804020204" pitchFamily="49" charset="0"/>
                <a:ea typeface="Menlo" panose="020B0609030804020204" pitchFamily="49" charset="0"/>
                <a:cs typeface="Menlo" panose="020B0609030804020204" pitchFamily="49" charset="0"/>
              </a:rPr>
              <a:t>}//main</a:t>
            </a:r>
            <a:endParaRPr lang="en-GB" sz="1600" b="0" dirty="0">
              <a:effectLst/>
              <a:latin typeface="Menlo" panose="020B0609030804020204" pitchFamily="49" charset="0"/>
              <a:ea typeface="Menlo" panose="020B0609030804020204" pitchFamily="49" charset="0"/>
              <a:cs typeface="Menlo" panose="020B0609030804020204" pitchFamily="49" charset="0"/>
            </a:endParaRPr>
          </a:p>
        </p:txBody>
      </p:sp>
      <p:sp>
        <p:nvSpPr>
          <p:cNvPr id="11" name="Content Placeholder 2">
            <a:extLst>
              <a:ext uri="{FF2B5EF4-FFF2-40B4-BE49-F238E27FC236}">
                <a16:creationId xmlns:a16="http://schemas.microsoft.com/office/drawing/2014/main" id="{3E31D3F3-654E-BC42-9025-EAF8C86E92D7}"/>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lesson_04</a:t>
            </a:r>
            <a:r>
              <a:rPr lang="en-US" sz="1600" dirty="0">
                <a:latin typeface="Aptos" panose="020B0004020202020204" pitchFamily="34" charset="0"/>
                <a:ea typeface="Palatino" pitchFamily="2" charset="77"/>
              </a:rPr>
              <a:t>-</a:t>
            </a:r>
            <a:r>
              <a:rPr lang="en-IT" sz="1600">
                <a:latin typeface="Aptos" panose="020B0004020202020204" pitchFamily="34" charset="0"/>
                <a:ea typeface="Palatino" pitchFamily="2" charset="77"/>
              </a:rPr>
              <a:t>dart_101_part2/</a:t>
            </a:r>
            <a:r>
              <a:rPr lang="en-IT" sz="1600" dirty="0">
                <a:latin typeface="Aptos" panose="020B0004020202020204" pitchFamily="34" charset="0"/>
                <a:ea typeface="Palatino" pitchFamily="2" charset="77"/>
              </a:rPr>
              <a:t>abstract_data_types.dart</a:t>
            </a:r>
          </a:p>
        </p:txBody>
      </p:sp>
      <p:sp>
        <p:nvSpPr>
          <p:cNvPr id="12" name="Slide Number Placeholder 12">
            <a:extLst>
              <a:ext uri="{FF2B5EF4-FFF2-40B4-BE49-F238E27FC236}">
                <a16:creationId xmlns:a16="http://schemas.microsoft.com/office/drawing/2014/main" id="{A9D5F660-8303-BF4E-89EA-7ADCBBD988DC}"/>
              </a:ext>
            </a:extLst>
          </p:cNvPr>
          <p:cNvSpPr>
            <a:spLocks noGrp="1"/>
          </p:cNvSpPr>
          <p:nvPr>
            <p:ph type="sldNum" sz="quarter" idx="12"/>
          </p:nvPr>
        </p:nvSpPr>
        <p:spPr>
          <a:xfrm>
            <a:off x="8610600" y="6356350"/>
            <a:ext cx="3185886" cy="365125"/>
          </a:xfrm>
        </p:spPr>
        <p:txBody>
          <a:bodyPr/>
          <a:lstStyle/>
          <a:p>
            <a:fld id="{31DE2C5B-556E-47B8-A792-024C2FCA4ACC}" type="slidenum">
              <a:rPr lang="en-GB" smtClean="0"/>
              <a:t>37</a:t>
            </a:fld>
            <a:endParaRPr lang="en-GB" dirty="0"/>
          </a:p>
        </p:txBody>
      </p:sp>
    </p:spTree>
    <p:extLst>
      <p:ext uri="{BB962C8B-B14F-4D97-AF65-F5344CB8AC3E}">
        <p14:creationId xmlns:p14="http://schemas.microsoft.com/office/powerpoint/2010/main" val="1429098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b="1" dirty="0"/>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38</a:t>
            </a:fld>
            <a:endParaRPr lang="en-GB"/>
          </a:p>
        </p:txBody>
      </p:sp>
      <p:sp>
        <p:nvSpPr>
          <p:cNvPr id="6" name="TextBox 5">
            <a:extLst>
              <a:ext uri="{FF2B5EF4-FFF2-40B4-BE49-F238E27FC236}">
                <a16:creationId xmlns:a16="http://schemas.microsoft.com/office/drawing/2014/main" id="{FEA1905B-D780-B1BB-3F50-B4C71AD989A5}"/>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205121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Design Patterns</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639187" y="1318388"/>
            <a:ext cx="9792007" cy="5377686"/>
          </a:xfrm>
        </p:spPr>
        <p:txBody>
          <a:bodyPr>
            <a:normAutofit/>
          </a:bodyPr>
          <a:lstStyle/>
          <a:p>
            <a:r>
              <a:rPr lang="en-GB" dirty="0"/>
              <a:t>A </a:t>
            </a:r>
            <a:r>
              <a:rPr lang="en-GB" b="1" dirty="0"/>
              <a:t>Design Patterns </a:t>
            </a:r>
            <a:r>
              <a:rPr lang="en-GB" dirty="0"/>
              <a:t>”describes a problem which occurs over and over again in our environment, and then describes the core of the solution to that problem, in such a way that you can use this solution a million times over, without ever doing it the same way twice” – Christopher Alexander</a:t>
            </a:r>
          </a:p>
          <a:p>
            <a:pPr marL="0" indent="0">
              <a:buNone/>
            </a:pPr>
            <a:endParaRPr lang="en-GB" dirty="0"/>
          </a:p>
          <a:p>
            <a:r>
              <a:rPr lang="en-GB" dirty="0"/>
              <a:t>In few words: </a:t>
            </a:r>
            <a:r>
              <a:rPr lang="en-GB" b="1" dirty="0"/>
              <a:t>they are efficient design solutions to recurring problems</a:t>
            </a:r>
            <a:r>
              <a:rPr lang="en-GB" dirty="0"/>
              <a:t>.</a:t>
            </a:r>
          </a:p>
          <a:p>
            <a:endParaRPr lang="en-GB" dirty="0"/>
          </a:p>
          <a:p>
            <a:r>
              <a:rPr lang="en-GB" dirty="0"/>
              <a:t>Design patterns are 23 (as identified by the Gang of Four*) and allow to build better software leveraging the principles of OOP.</a:t>
            </a:r>
          </a:p>
          <a:p>
            <a:endParaRPr lang="en-GB" dirty="0"/>
          </a:p>
          <a:p>
            <a:r>
              <a:rPr lang="en-GB" dirty="0"/>
              <a:t>Here, I will present you 3 popular design patterns.</a:t>
            </a:r>
          </a:p>
          <a:p>
            <a:endParaRPr lang="en-GB" dirty="0"/>
          </a:p>
        </p:txBody>
      </p:sp>
      <p:pic>
        <p:nvPicPr>
          <p:cNvPr id="4" name="Graphic 3" descr="Mandala outline">
            <a:extLst>
              <a:ext uri="{FF2B5EF4-FFF2-40B4-BE49-F238E27FC236}">
                <a16:creationId xmlns:a16="http://schemas.microsoft.com/office/drawing/2014/main" id="{39442198-F8FD-FE49-A31B-155A51063A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58642" y="1612739"/>
            <a:ext cx="1710396" cy="1710396"/>
          </a:xfrm>
          <a:prstGeom prst="rect">
            <a:avLst/>
          </a:prstGeom>
        </p:spPr>
      </p:pic>
      <p:pic>
        <p:nvPicPr>
          <p:cNvPr id="7" name="Graphic 6" descr="Golden Ratio outline">
            <a:extLst>
              <a:ext uri="{FF2B5EF4-FFF2-40B4-BE49-F238E27FC236}">
                <a16:creationId xmlns:a16="http://schemas.microsoft.com/office/drawing/2014/main" id="{F992694C-9256-4949-8931-312EC2F333F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58399" y="3328861"/>
            <a:ext cx="1510881" cy="1510881"/>
          </a:xfrm>
          <a:prstGeom prst="rect">
            <a:avLst/>
          </a:prstGeom>
        </p:spPr>
      </p:pic>
      <p:sp>
        <p:nvSpPr>
          <p:cNvPr id="8" name="Content Placeholder 2">
            <a:extLst>
              <a:ext uri="{FF2B5EF4-FFF2-40B4-BE49-F238E27FC236}">
                <a16:creationId xmlns:a16="http://schemas.microsoft.com/office/drawing/2014/main" id="{C0664B2C-9797-E34C-93AB-86B6993478F1}"/>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 Gang of Four – Design Patterns (see resources)</a:t>
            </a:r>
          </a:p>
        </p:txBody>
      </p:sp>
      <p:sp>
        <p:nvSpPr>
          <p:cNvPr id="9" name="Slide Number Placeholder 4">
            <a:extLst>
              <a:ext uri="{FF2B5EF4-FFF2-40B4-BE49-F238E27FC236}">
                <a16:creationId xmlns:a16="http://schemas.microsoft.com/office/drawing/2014/main" id="{7A0FF35A-1914-6F46-9D4F-85244D1C74EB}"/>
              </a:ext>
            </a:extLst>
          </p:cNvPr>
          <p:cNvSpPr>
            <a:spLocks noGrp="1"/>
          </p:cNvSpPr>
          <p:nvPr>
            <p:ph type="sldNum" sz="quarter" idx="12"/>
          </p:nvPr>
        </p:nvSpPr>
        <p:spPr>
          <a:xfrm>
            <a:off x="8610600" y="6356350"/>
            <a:ext cx="3185886" cy="365125"/>
          </a:xfrm>
        </p:spPr>
        <p:txBody>
          <a:bodyPr/>
          <a:lstStyle/>
          <a:p>
            <a:fld id="{31DE2C5B-556E-47B8-A792-024C2FCA4ACC}" type="slidenum">
              <a:rPr lang="en-GB" smtClean="0"/>
              <a:t>39</a:t>
            </a:fld>
            <a:endParaRPr lang="en-GB" dirty="0"/>
          </a:p>
        </p:txBody>
      </p:sp>
      <p:sp>
        <p:nvSpPr>
          <p:cNvPr id="3" name="TextBox 2">
            <a:extLst>
              <a:ext uri="{FF2B5EF4-FFF2-40B4-BE49-F238E27FC236}">
                <a16:creationId xmlns:a16="http://schemas.microsoft.com/office/drawing/2014/main" id="{649F24BE-9FD3-67C3-B613-2F11F7E051C0}"/>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6979289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b="1" dirty="0"/>
              <a:t>Flavours of design patterns </a:t>
            </a:r>
          </a:p>
          <a:p>
            <a:pPr lvl="1"/>
            <a:r>
              <a:rPr lang="en-GB" sz="2200" b="1" dirty="0"/>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endParaRPr lang="en-GB" sz="2600" dirty="0">
              <a:solidFill>
                <a:schemeClr val="bg2">
                  <a:lumMod val="90000"/>
                </a:schemeClr>
              </a:solidFill>
            </a:endParaRP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40</a:t>
            </a:fld>
            <a:endParaRPr lang="en-GB"/>
          </a:p>
        </p:txBody>
      </p:sp>
      <p:sp>
        <p:nvSpPr>
          <p:cNvPr id="5" name="TextBox 4">
            <a:extLst>
              <a:ext uri="{FF2B5EF4-FFF2-40B4-BE49-F238E27FC236}">
                <a16:creationId xmlns:a16="http://schemas.microsoft.com/office/drawing/2014/main" id="{7E88C75B-C682-19F2-4114-6E0AA608003C}"/>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852641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Composite</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10453188" cy="5377686"/>
          </a:xfrm>
        </p:spPr>
        <p:txBody>
          <a:bodyPr>
            <a:normAutofit/>
          </a:bodyPr>
          <a:lstStyle/>
          <a:p>
            <a:r>
              <a:rPr lang="en-GB" dirty="0"/>
              <a:t>The </a:t>
            </a:r>
            <a:r>
              <a:rPr lang="en-GB" b="1" dirty="0"/>
              <a:t>Composite </a:t>
            </a:r>
            <a:r>
              <a:rPr lang="en-GB" dirty="0"/>
              <a:t>design pattern “composes objects into tree structures to represent part-whole </a:t>
            </a:r>
            <a:r>
              <a:rPr lang="en-GB" dirty="0" err="1"/>
              <a:t>hierarachies</a:t>
            </a:r>
            <a:r>
              <a:rPr lang="en-GB" dirty="0"/>
              <a:t>. Composite lets clients treats individual objects and compositions of objects uniformly” - </a:t>
            </a:r>
            <a:r>
              <a:rPr lang="en-GB" dirty="0" err="1"/>
              <a:t>GoF</a:t>
            </a:r>
            <a:r>
              <a:rPr lang="en-GB" dirty="0"/>
              <a:t>.</a:t>
            </a:r>
          </a:p>
          <a:p>
            <a:endParaRPr lang="en-GB" dirty="0"/>
          </a:p>
          <a:p>
            <a:r>
              <a:rPr lang="en-GB" dirty="0"/>
              <a:t>The Composite design pattern lets users build complex diagrams out of simple components.</a:t>
            </a:r>
          </a:p>
          <a:p>
            <a:endParaRPr lang="en-GB" dirty="0"/>
          </a:p>
        </p:txBody>
      </p:sp>
      <p:pic>
        <p:nvPicPr>
          <p:cNvPr id="4" name="Graphic 3" descr="Hierarchy outline">
            <a:extLst>
              <a:ext uri="{FF2B5EF4-FFF2-40B4-BE49-F238E27FC236}">
                <a16:creationId xmlns:a16="http://schemas.microsoft.com/office/drawing/2014/main" id="{B94C252E-9677-6B40-B13C-C6AE3881CD1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65716" y="4072943"/>
            <a:ext cx="2282780" cy="2282780"/>
          </a:xfrm>
          <a:prstGeom prst="rect">
            <a:avLst/>
          </a:prstGeom>
        </p:spPr>
      </p:pic>
      <p:sp>
        <p:nvSpPr>
          <p:cNvPr id="3" name="Slide Number Placeholder 2">
            <a:extLst>
              <a:ext uri="{FF2B5EF4-FFF2-40B4-BE49-F238E27FC236}">
                <a16:creationId xmlns:a16="http://schemas.microsoft.com/office/drawing/2014/main" id="{522F44E0-1F9C-E546-AE92-64277C0A676D}"/>
              </a:ext>
            </a:extLst>
          </p:cNvPr>
          <p:cNvSpPr>
            <a:spLocks noGrp="1"/>
          </p:cNvSpPr>
          <p:nvPr>
            <p:ph type="sldNum" sz="quarter" idx="12"/>
          </p:nvPr>
        </p:nvSpPr>
        <p:spPr/>
        <p:txBody>
          <a:bodyPr/>
          <a:lstStyle/>
          <a:p>
            <a:fld id="{31DE2C5B-556E-47B8-A792-024C2FCA4ACC}" type="slidenum">
              <a:rPr lang="en-GB" smtClean="0"/>
              <a:t>41</a:t>
            </a:fld>
            <a:endParaRPr lang="en-GB"/>
          </a:p>
        </p:txBody>
      </p:sp>
      <p:sp>
        <p:nvSpPr>
          <p:cNvPr id="5" name="TextBox 4">
            <a:extLst>
              <a:ext uri="{FF2B5EF4-FFF2-40B4-BE49-F238E27FC236}">
                <a16:creationId xmlns:a16="http://schemas.microsoft.com/office/drawing/2014/main" id="{09789D47-6495-9D8A-1113-8CD8C9C208B0}"/>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2221854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Composite (Example)</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10453188" cy="5377686"/>
          </a:xfrm>
        </p:spPr>
        <p:txBody>
          <a:bodyPr>
            <a:normAutofit/>
          </a:bodyPr>
          <a:lstStyle/>
          <a:p>
            <a:r>
              <a:rPr lang="en-GB" dirty="0"/>
              <a:t>Let’s think about a screen of your app. It is made of multiple </a:t>
            </a:r>
            <a:r>
              <a:rPr lang="en-GB" b="1" dirty="0"/>
              <a:t>graphical</a:t>
            </a:r>
            <a:r>
              <a:rPr lang="en-GB" dirty="0"/>
              <a:t> components, each of which can be composed by other graphical components:</a:t>
            </a:r>
          </a:p>
          <a:p>
            <a:endParaRPr lang="en-GB" dirty="0"/>
          </a:p>
          <a:p>
            <a:pPr lvl="1"/>
            <a:endParaRPr lang="en-GB" dirty="0"/>
          </a:p>
          <a:p>
            <a:endParaRPr lang="en-GB" dirty="0"/>
          </a:p>
          <a:p>
            <a:endParaRPr lang="en-GB" dirty="0"/>
          </a:p>
          <a:p>
            <a:endParaRPr lang="en-GB" dirty="0"/>
          </a:p>
          <a:p>
            <a:endParaRPr lang="en-GB" dirty="0"/>
          </a:p>
          <a:p>
            <a:endParaRPr lang="en-GB" dirty="0"/>
          </a:p>
          <a:p>
            <a:endParaRPr lang="en-GB" dirty="0"/>
          </a:p>
          <a:p>
            <a:r>
              <a:rPr lang="en-GB" dirty="0"/>
              <a:t>We can think of using the composite pattern to implement this screen!</a:t>
            </a:r>
          </a:p>
          <a:p>
            <a:endParaRPr lang="en-GB" dirty="0"/>
          </a:p>
          <a:p>
            <a:pPr marL="0" indent="0">
              <a:buNone/>
            </a:pPr>
            <a:endParaRPr lang="en-GB" dirty="0"/>
          </a:p>
        </p:txBody>
      </p:sp>
      <p:sp>
        <p:nvSpPr>
          <p:cNvPr id="3" name="Rectangle 2">
            <a:extLst>
              <a:ext uri="{FF2B5EF4-FFF2-40B4-BE49-F238E27FC236}">
                <a16:creationId xmlns:a16="http://schemas.microsoft.com/office/drawing/2014/main" id="{8A60F3AD-8DD7-0149-863C-E52943F5C634}"/>
              </a:ext>
            </a:extLst>
          </p:cNvPr>
          <p:cNvSpPr/>
          <p:nvPr/>
        </p:nvSpPr>
        <p:spPr>
          <a:xfrm>
            <a:off x="9453092" y="2247363"/>
            <a:ext cx="2189408" cy="2826913"/>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T" b="1" dirty="0">
                <a:solidFill>
                  <a:schemeClr val="tx1"/>
                </a:solidFill>
                <a:latin typeface="Aptos" panose="020B0004020202020204" pitchFamily="34" charset="0"/>
              </a:rPr>
              <a:t>Container</a:t>
            </a:r>
          </a:p>
        </p:txBody>
      </p:sp>
      <p:sp>
        <p:nvSpPr>
          <p:cNvPr id="7" name="Rectangle 6">
            <a:extLst>
              <a:ext uri="{FF2B5EF4-FFF2-40B4-BE49-F238E27FC236}">
                <a16:creationId xmlns:a16="http://schemas.microsoft.com/office/drawing/2014/main" id="{DEF4F2F5-C7BD-3140-A0AC-965943EE5135}"/>
              </a:ext>
            </a:extLst>
          </p:cNvPr>
          <p:cNvSpPr/>
          <p:nvPr/>
        </p:nvSpPr>
        <p:spPr>
          <a:xfrm>
            <a:off x="9605493" y="2735700"/>
            <a:ext cx="1888902" cy="139586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T" b="1" dirty="0">
                <a:solidFill>
                  <a:schemeClr val="tx1"/>
                </a:solidFill>
                <a:latin typeface="Aptos" panose="020B0004020202020204" pitchFamily="34" charset="0"/>
              </a:rPr>
              <a:t>Container</a:t>
            </a:r>
          </a:p>
        </p:txBody>
      </p:sp>
      <p:sp>
        <p:nvSpPr>
          <p:cNvPr id="11" name="Rectangle 10">
            <a:extLst>
              <a:ext uri="{FF2B5EF4-FFF2-40B4-BE49-F238E27FC236}">
                <a16:creationId xmlns:a16="http://schemas.microsoft.com/office/drawing/2014/main" id="{6EEA1CEA-26A2-604D-AC9A-D0A033F2C85C}"/>
              </a:ext>
            </a:extLst>
          </p:cNvPr>
          <p:cNvSpPr/>
          <p:nvPr/>
        </p:nvSpPr>
        <p:spPr>
          <a:xfrm>
            <a:off x="9603345" y="4527374"/>
            <a:ext cx="1888902" cy="368932"/>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b="1" dirty="0">
                <a:solidFill>
                  <a:schemeClr val="tx1"/>
                </a:solidFill>
                <a:latin typeface="Aptos" panose="020B0004020202020204" pitchFamily="34" charset="0"/>
              </a:rPr>
              <a:t>Button</a:t>
            </a:r>
          </a:p>
        </p:txBody>
      </p:sp>
      <p:sp>
        <p:nvSpPr>
          <p:cNvPr id="12" name="Rectangle 11">
            <a:extLst>
              <a:ext uri="{FF2B5EF4-FFF2-40B4-BE49-F238E27FC236}">
                <a16:creationId xmlns:a16="http://schemas.microsoft.com/office/drawing/2014/main" id="{66B8FA9C-D8F4-E642-A8F3-D6CD16DB4190}"/>
              </a:ext>
            </a:extLst>
          </p:cNvPr>
          <p:cNvSpPr/>
          <p:nvPr/>
        </p:nvSpPr>
        <p:spPr>
          <a:xfrm>
            <a:off x="9756819" y="3659724"/>
            <a:ext cx="1581955" cy="368932"/>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b="1" dirty="0">
                <a:solidFill>
                  <a:schemeClr val="tx1"/>
                </a:solidFill>
                <a:latin typeface="Aptos" panose="020B0004020202020204" pitchFamily="34" charset="0"/>
              </a:rPr>
              <a:t>Button</a:t>
            </a:r>
          </a:p>
        </p:txBody>
      </p:sp>
      <p:sp>
        <p:nvSpPr>
          <p:cNvPr id="13" name="Rectangle 12">
            <a:extLst>
              <a:ext uri="{FF2B5EF4-FFF2-40B4-BE49-F238E27FC236}">
                <a16:creationId xmlns:a16="http://schemas.microsoft.com/office/drawing/2014/main" id="{740BDDF6-D6F0-6546-83F6-F92165489421}"/>
              </a:ext>
            </a:extLst>
          </p:cNvPr>
          <p:cNvSpPr/>
          <p:nvPr/>
        </p:nvSpPr>
        <p:spPr>
          <a:xfrm>
            <a:off x="9756819" y="3105479"/>
            <a:ext cx="1581955" cy="368932"/>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b="1" dirty="0">
                <a:solidFill>
                  <a:schemeClr val="tx1"/>
                </a:solidFill>
                <a:latin typeface="Aptos" panose="020B0004020202020204" pitchFamily="34" charset="0"/>
              </a:rPr>
              <a:t>Text</a:t>
            </a:r>
          </a:p>
        </p:txBody>
      </p:sp>
      <p:sp>
        <p:nvSpPr>
          <p:cNvPr id="14" name="Rectangle 13">
            <a:extLst>
              <a:ext uri="{FF2B5EF4-FFF2-40B4-BE49-F238E27FC236}">
                <a16:creationId xmlns:a16="http://schemas.microsoft.com/office/drawing/2014/main" id="{B2352FAE-29B3-7F41-B622-63F43974BCF1}"/>
              </a:ext>
            </a:extLst>
          </p:cNvPr>
          <p:cNvSpPr/>
          <p:nvPr/>
        </p:nvSpPr>
        <p:spPr>
          <a:xfrm>
            <a:off x="4566501" y="2361125"/>
            <a:ext cx="1529499" cy="42715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b="1" dirty="0">
                <a:solidFill>
                  <a:schemeClr val="tx1"/>
                </a:solidFill>
                <a:latin typeface="Aptos" panose="020B0004020202020204" pitchFamily="34" charset="0"/>
              </a:rPr>
              <a:t>Container</a:t>
            </a:r>
          </a:p>
        </p:txBody>
      </p:sp>
      <p:sp>
        <p:nvSpPr>
          <p:cNvPr id="15" name="Rectangle 14">
            <a:extLst>
              <a:ext uri="{FF2B5EF4-FFF2-40B4-BE49-F238E27FC236}">
                <a16:creationId xmlns:a16="http://schemas.microsoft.com/office/drawing/2014/main" id="{A6827D0A-E984-2244-B0AB-6F9991E866CF}"/>
              </a:ext>
            </a:extLst>
          </p:cNvPr>
          <p:cNvSpPr/>
          <p:nvPr/>
        </p:nvSpPr>
        <p:spPr>
          <a:xfrm>
            <a:off x="5536709" y="3122650"/>
            <a:ext cx="1529499" cy="42715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b="1" dirty="0">
                <a:solidFill>
                  <a:schemeClr val="tx1"/>
                </a:solidFill>
                <a:latin typeface="Aptos" panose="020B0004020202020204" pitchFamily="34" charset="0"/>
              </a:rPr>
              <a:t>Container</a:t>
            </a:r>
          </a:p>
        </p:txBody>
      </p:sp>
      <p:sp>
        <p:nvSpPr>
          <p:cNvPr id="16" name="Rectangle 15">
            <a:extLst>
              <a:ext uri="{FF2B5EF4-FFF2-40B4-BE49-F238E27FC236}">
                <a16:creationId xmlns:a16="http://schemas.microsoft.com/office/drawing/2014/main" id="{AAF29B3A-9000-6247-A095-25AE4CB6CE55}"/>
              </a:ext>
            </a:extLst>
          </p:cNvPr>
          <p:cNvSpPr/>
          <p:nvPr/>
        </p:nvSpPr>
        <p:spPr>
          <a:xfrm>
            <a:off x="4890016" y="4020616"/>
            <a:ext cx="1529499" cy="42715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b="1" dirty="0">
                <a:solidFill>
                  <a:schemeClr val="tx1"/>
                </a:solidFill>
                <a:latin typeface="Aptos" panose="020B0004020202020204" pitchFamily="34" charset="0"/>
              </a:rPr>
              <a:t>Text</a:t>
            </a:r>
          </a:p>
        </p:txBody>
      </p:sp>
      <p:sp>
        <p:nvSpPr>
          <p:cNvPr id="17" name="Rectangle 16">
            <a:extLst>
              <a:ext uri="{FF2B5EF4-FFF2-40B4-BE49-F238E27FC236}">
                <a16:creationId xmlns:a16="http://schemas.microsoft.com/office/drawing/2014/main" id="{9B62E654-AEE9-1045-A534-5C0AC2C0D997}"/>
              </a:ext>
            </a:extLst>
          </p:cNvPr>
          <p:cNvSpPr/>
          <p:nvPr/>
        </p:nvSpPr>
        <p:spPr>
          <a:xfrm>
            <a:off x="6730151" y="4020616"/>
            <a:ext cx="1529499" cy="42715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b="1" dirty="0">
                <a:solidFill>
                  <a:schemeClr val="tx1"/>
                </a:solidFill>
                <a:latin typeface="Aptos" panose="020B0004020202020204" pitchFamily="34" charset="0"/>
              </a:rPr>
              <a:t>Button</a:t>
            </a:r>
          </a:p>
        </p:txBody>
      </p:sp>
      <p:sp>
        <p:nvSpPr>
          <p:cNvPr id="18" name="Rectangle 17">
            <a:extLst>
              <a:ext uri="{FF2B5EF4-FFF2-40B4-BE49-F238E27FC236}">
                <a16:creationId xmlns:a16="http://schemas.microsoft.com/office/drawing/2014/main" id="{711C15A3-8D55-0049-9A47-2E8BAC9D3E21}"/>
              </a:ext>
            </a:extLst>
          </p:cNvPr>
          <p:cNvSpPr/>
          <p:nvPr/>
        </p:nvSpPr>
        <p:spPr>
          <a:xfrm>
            <a:off x="2049019" y="3527058"/>
            <a:ext cx="1529499" cy="427150"/>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T" b="1" dirty="0">
                <a:solidFill>
                  <a:schemeClr val="tx1"/>
                </a:solidFill>
                <a:latin typeface="Aptos" panose="020B0004020202020204" pitchFamily="34" charset="0"/>
              </a:rPr>
              <a:t>Button</a:t>
            </a:r>
          </a:p>
        </p:txBody>
      </p:sp>
      <p:cxnSp>
        <p:nvCxnSpPr>
          <p:cNvPr id="6" name="Straight Arrow Connector 5">
            <a:extLst>
              <a:ext uri="{FF2B5EF4-FFF2-40B4-BE49-F238E27FC236}">
                <a16:creationId xmlns:a16="http://schemas.microsoft.com/office/drawing/2014/main" id="{F2678304-2D48-D643-9471-BF78495EF8E0}"/>
              </a:ext>
            </a:extLst>
          </p:cNvPr>
          <p:cNvCxnSpPr>
            <a:cxnSpLocks/>
            <a:stCxn id="14" idx="2"/>
            <a:endCxn id="18" idx="0"/>
          </p:cNvCxnSpPr>
          <p:nvPr/>
        </p:nvCxnSpPr>
        <p:spPr>
          <a:xfrm flipH="1">
            <a:off x="2813769" y="2788275"/>
            <a:ext cx="2517482" cy="7387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474F99DE-4354-A745-986A-C84C9C6D8A08}"/>
              </a:ext>
            </a:extLst>
          </p:cNvPr>
          <p:cNvCxnSpPr>
            <a:cxnSpLocks/>
            <a:stCxn id="15" idx="2"/>
            <a:endCxn id="16" idx="0"/>
          </p:cNvCxnSpPr>
          <p:nvPr/>
        </p:nvCxnSpPr>
        <p:spPr>
          <a:xfrm flipH="1">
            <a:off x="5654766" y="3549800"/>
            <a:ext cx="646693" cy="4708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4BEBCEB-E0C3-534A-8B56-AE60567A8937}"/>
              </a:ext>
            </a:extLst>
          </p:cNvPr>
          <p:cNvCxnSpPr>
            <a:cxnSpLocks/>
            <a:stCxn id="15" idx="2"/>
            <a:endCxn id="17" idx="0"/>
          </p:cNvCxnSpPr>
          <p:nvPr/>
        </p:nvCxnSpPr>
        <p:spPr>
          <a:xfrm>
            <a:off x="6301459" y="3549800"/>
            <a:ext cx="1193442" cy="4708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75533CF-4691-ED47-B177-D3B4D3ACD26F}"/>
              </a:ext>
            </a:extLst>
          </p:cNvPr>
          <p:cNvCxnSpPr>
            <a:cxnSpLocks/>
            <a:stCxn id="14" idx="2"/>
            <a:endCxn id="15" idx="0"/>
          </p:cNvCxnSpPr>
          <p:nvPr/>
        </p:nvCxnSpPr>
        <p:spPr>
          <a:xfrm>
            <a:off x="5331251" y="2788275"/>
            <a:ext cx="970208" cy="3343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2837214C-3FEC-3247-83D2-25E1F215AAD6}"/>
              </a:ext>
            </a:extLst>
          </p:cNvPr>
          <p:cNvSpPr>
            <a:spLocks noGrp="1"/>
          </p:cNvSpPr>
          <p:nvPr>
            <p:ph type="sldNum" sz="quarter" idx="12"/>
          </p:nvPr>
        </p:nvSpPr>
        <p:spPr/>
        <p:txBody>
          <a:bodyPr/>
          <a:lstStyle/>
          <a:p>
            <a:fld id="{31DE2C5B-556E-47B8-A792-024C2FCA4ACC}" type="slidenum">
              <a:rPr lang="en-GB" smtClean="0"/>
              <a:t>42</a:t>
            </a:fld>
            <a:endParaRPr lang="en-GB"/>
          </a:p>
        </p:txBody>
      </p:sp>
      <p:sp>
        <p:nvSpPr>
          <p:cNvPr id="5" name="TextBox 4">
            <a:extLst>
              <a:ext uri="{FF2B5EF4-FFF2-40B4-BE49-F238E27FC236}">
                <a16:creationId xmlns:a16="http://schemas.microsoft.com/office/drawing/2014/main" id="{2B3180FC-2F45-9607-3B3D-9CD1E36288A8}"/>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5436972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Composite (Example)</a:t>
            </a:r>
            <a:endParaRPr lang="en-IT" dirty="0"/>
          </a:p>
        </p:txBody>
      </p:sp>
      <p:sp>
        <p:nvSpPr>
          <p:cNvPr id="6" name="Rectangle 5">
            <a:extLst>
              <a:ext uri="{FF2B5EF4-FFF2-40B4-BE49-F238E27FC236}">
                <a16:creationId xmlns:a16="http://schemas.microsoft.com/office/drawing/2014/main" id="{A54C2018-B4C4-6B47-BE9A-EFD1F99C3785}"/>
              </a:ext>
            </a:extLst>
          </p:cNvPr>
          <p:cNvSpPr/>
          <p:nvPr/>
        </p:nvSpPr>
        <p:spPr>
          <a:xfrm>
            <a:off x="2351728" y="2136136"/>
            <a:ext cx="2143000" cy="3461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height</a:t>
            </a:r>
          </a:p>
        </p:txBody>
      </p:sp>
      <p:sp>
        <p:nvSpPr>
          <p:cNvPr id="7" name="Rectangle 6">
            <a:extLst>
              <a:ext uri="{FF2B5EF4-FFF2-40B4-BE49-F238E27FC236}">
                <a16:creationId xmlns:a16="http://schemas.microsoft.com/office/drawing/2014/main" id="{EDD3806A-37DA-1E41-ACDF-AFDCAF064358}"/>
              </a:ext>
            </a:extLst>
          </p:cNvPr>
          <p:cNvSpPr/>
          <p:nvPr/>
        </p:nvSpPr>
        <p:spPr>
          <a:xfrm>
            <a:off x="2351728" y="1570652"/>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abstract Graphic</a:t>
            </a:r>
          </a:p>
        </p:txBody>
      </p:sp>
      <p:sp>
        <p:nvSpPr>
          <p:cNvPr id="8" name="Rectangle 7">
            <a:extLst>
              <a:ext uri="{FF2B5EF4-FFF2-40B4-BE49-F238E27FC236}">
                <a16:creationId xmlns:a16="http://schemas.microsoft.com/office/drawing/2014/main" id="{F8DDCB94-765D-7147-8367-1546440771E6}"/>
              </a:ext>
            </a:extLst>
          </p:cNvPr>
          <p:cNvSpPr/>
          <p:nvPr/>
        </p:nvSpPr>
        <p:spPr>
          <a:xfrm>
            <a:off x="2351726" y="2464460"/>
            <a:ext cx="2143000" cy="3581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draw()</a:t>
            </a:r>
          </a:p>
        </p:txBody>
      </p:sp>
      <p:sp>
        <p:nvSpPr>
          <p:cNvPr id="9" name="Rectangle 8">
            <a:extLst>
              <a:ext uri="{FF2B5EF4-FFF2-40B4-BE49-F238E27FC236}">
                <a16:creationId xmlns:a16="http://schemas.microsoft.com/office/drawing/2014/main" id="{D30615D5-2BA8-CA4A-B878-D9AC5AD28B04}"/>
              </a:ext>
            </a:extLst>
          </p:cNvPr>
          <p:cNvSpPr/>
          <p:nvPr/>
        </p:nvSpPr>
        <p:spPr>
          <a:xfrm>
            <a:off x="2351726" y="1570651"/>
            <a:ext cx="2143002" cy="1246665"/>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cxnSp>
        <p:nvCxnSpPr>
          <p:cNvPr id="31" name="Straight Arrow Connector 30">
            <a:extLst>
              <a:ext uri="{FF2B5EF4-FFF2-40B4-BE49-F238E27FC236}">
                <a16:creationId xmlns:a16="http://schemas.microsoft.com/office/drawing/2014/main" id="{C1BA4125-9BC3-524F-B6ED-C5E81CBDFB23}"/>
              </a:ext>
            </a:extLst>
          </p:cNvPr>
          <p:cNvCxnSpPr>
            <a:cxnSpLocks/>
            <a:stCxn id="59" idx="0"/>
            <a:endCxn id="9" idx="3"/>
          </p:cNvCxnSpPr>
          <p:nvPr/>
        </p:nvCxnSpPr>
        <p:spPr>
          <a:xfrm flipH="1" flipV="1">
            <a:off x="4494728" y="2193984"/>
            <a:ext cx="3078713" cy="18818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07D33032-0FDB-C843-9900-2845707B01C6}"/>
              </a:ext>
            </a:extLst>
          </p:cNvPr>
          <p:cNvSpPr/>
          <p:nvPr/>
        </p:nvSpPr>
        <p:spPr>
          <a:xfrm>
            <a:off x="1570102" y="3887957"/>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34" name="Straight Arrow Connector 33">
            <a:extLst>
              <a:ext uri="{FF2B5EF4-FFF2-40B4-BE49-F238E27FC236}">
                <a16:creationId xmlns:a16="http://schemas.microsoft.com/office/drawing/2014/main" id="{B9889DDD-5CAB-B746-ADF5-49D045687613}"/>
              </a:ext>
            </a:extLst>
          </p:cNvPr>
          <p:cNvCxnSpPr>
            <a:cxnSpLocks/>
            <a:stCxn id="72" idx="0"/>
            <a:endCxn id="9" idx="2"/>
          </p:cNvCxnSpPr>
          <p:nvPr/>
        </p:nvCxnSpPr>
        <p:spPr>
          <a:xfrm flipV="1">
            <a:off x="2919877" y="2817316"/>
            <a:ext cx="503350" cy="19706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36">
            <a:extLst>
              <a:ext uri="{FF2B5EF4-FFF2-40B4-BE49-F238E27FC236}">
                <a16:creationId xmlns:a16="http://schemas.microsoft.com/office/drawing/2014/main" id="{5AB0F975-C263-1341-B7C2-43AFBEA3C325}"/>
              </a:ext>
            </a:extLst>
          </p:cNvPr>
          <p:cNvSpPr/>
          <p:nvPr/>
        </p:nvSpPr>
        <p:spPr>
          <a:xfrm>
            <a:off x="8321490" y="2104110"/>
            <a:ext cx="3149697" cy="3868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List&lt;Graphic&gt; components</a:t>
            </a:r>
          </a:p>
        </p:txBody>
      </p:sp>
      <p:sp>
        <p:nvSpPr>
          <p:cNvPr id="38" name="Rectangle 37">
            <a:extLst>
              <a:ext uri="{FF2B5EF4-FFF2-40B4-BE49-F238E27FC236}">
                <a16:creationId xmlns:a16="http://schemas.microsoft.com/office/drawing/2014/main" id="{4D88F652-A509-464A-940B-8F36CA28AF6B}"/>
              </a:ext>
            </a:extLst>
          </p:cNvPr>
          <p:cNvSpPr/>
          <p:nvPr/>
        </p:nvSpPr>
        <p:spPr>
          <a:xfrm>
            <a:off x="8321490" y="1538626"/>
            <a:ext cx="3149697"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Container</a:t>
            </a:r>
          </a:p>
        </p:txBody>
      </p:sp>
      <p:sp>
        <p:nvSpPr>
          <p:cNvPr id="39" name="Rectangle 38">
            <a:extLst>
              <a:ext uri="{FF2B5EF4-FFF2-40B4-BE49-F238E27FC236}">
                <a16:creationId xmlns:a16="http://schemas.microsoft.com/office/drawing/2014/main" id="{876A781A-6DC7-9946-91FE-9410AD33AFF7}"/>
              </a:ext>
            </a:extLst>
          </p:cNvPr>
          <p:cNvSpPr/>
          <p:nvPr/>
        </p:nvSpPr>
        <p:spPr>
          <a:xfrm>
            <a:off x="8321490" y="2490922"/>
            <a:ext cx="3149697"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40" name="Rectangle 39">
            <a:extLst>
              <a:ext uri="{FF2B5EF4-FFF2-40B4-BE49-F238E27FC236}">
                <a16:creationId xmlns:a16="http://schemas.microsoft.com/office/drawing/2014/main" id="{6EB5805D-CCD8-6346-A3AC-AB18DAC9FB7B}"/>
              </a:ext>
            </a:extLst>
          </p:cNvPr>
          <p:cNvSpPr/>
          <p:nvPr/>
        </p:nvSpPr>
        <p:spPr>
          <a:xfrm>
            <a:off x="8321488" y="1538626"/>
            <a:ext cx="3149699" cy="129468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cxnSp>
        <p:nvCxnSpPr>
          <p:cNvPr id="64" name="Straight Arrow Connector 63">
            <a:extLst>
              <a:ext uri="{FF2B5EF4-FFF2-40B4-BE49-F238E27FC236}">
                <a16:creationId xmlns:a16="http://schemas.microsoft.com/office/drawing/2014/main" id="{314CCC24-4D7F-5243-9DF7-FE67299BA9DD}"/>
              </a:ext>
            </a:extLst>
          </p:cNvPr>
          <p:cNvCxnSpPr>
            <a:cxnSpLocks/>
            <a:stCxn id="40" idx="1"/>
            <a:endCxn id="9" idx="3"/>
          </p:cNvCxnSpPr>
          <p:nvPr/>
        </p:nvCxnSpPr>
        <p:spPr>
          <a:xfrm flipH="1">
            <a:off x="4494728" y="2185970"/>
            <a:ext cx="3826760" cy="80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Rectangle 66">
            <a:extLst>
              <a:ext uri="{FF2B5EF4-FFF2-40B4-BE49-F238E27FC236}">
                <a16:creationId xmlns:a16="http://schemas.microsoft.com/office/drawing/2014/main" id="{6EB4D5EE-E7BC-8645-BB15-0E0670138B42}"/>
              </a:ext>
            </a:extLst>
          </p:cNvPr>
          <p:cNvSpPr/>
          <p:nvPr/>
        </p:nvSpPr>
        <p:spPr>
          <a:xfrm>
            <a:off x="4914792" y="1720963"/>
            <a:ext cx="2276585"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uses/implements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56" name="Rectangle 55">
            <a:extLst>
              <a:ext uri="{FF2B5EF4-FFF2-40B4-BE49-F238E27FC236}">
                <a16:creationId xmlns:a16="http://schemas.microsoft.com/office/drawing/2014/main" id="{1C9A3EBD-4638-8446-A57F-F289202CB24E}"/>
              </a:ext>
            </a:extLst>
          </p:cNvPr>
          <p:cNvSpPr/>
          <p:nvPr/>
        </p:nvSpPr>
        <p:spPr>
          <a:xfrm>
            <a:off x="5998593" y="4641344"/>
            <a:ext cx="3149697" cy="3868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57" name="Rectangle 56">
            <a:extLst>
              <a:ext uri="{FF2B5EF4-FFF2-40B4-BE49-F238E27FC236}">
                <a16:creationId xmlns:a16="http://schemas.microsoft.com/office/drawing/2014/main" id="{A657B44F-D002-464B-A532-2EE943E761FE}"/>
              </a:ext>
            </a:extLst>
          </p:cNvPr>
          <p:cNvSpPr/>
          <p:nvPr/>
        </p:nvSpPr>
        <p:spPr>
          <a:xfrm>
            <a:off x="5998593" y="4075860"/>
            <a:ext cx="3149697"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Button</a:t>
            </a:r>
          </a:p>
        </p:txBody>
      </p:sp>
      <p:sp>
        <p:nvSpPr>
          <p:cNvPr id="58" name="Rectangle 57">
            <a:extLst>
              <a:ext uri="{FF2B5EF4-FFF2-40B4-BE49-F238E27FC236}">
                <a16:creationId xmlns:a16="http://schemas.microsoft.com/office/drawing/2014/main" id="{38289883-C827-EF4C-9D9E-52ED018CF2C2}"/>
              </a:ext>
            </a:extLst>
          </p:cNvPr>
          <p:cNvSpPr/>
          <p:nvPr/>
        </p:nvSpPr>
        <p:spPr>
          <a:xfrm>
            <a:off x="5998593" y="5028156"/>
            <a:ext cx="3149697"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doSomething()</a:t>
            </a:r>
          </a:p>
        </p:txBody>
      </p:sp>
      <p:sp>
        <p:nvSpPr>
          <p:cNvPr id="59" name="Rectangle 58">
            <a:extLst>
              <a:ext uri="{FF2B5EF4-FFF2-40B4-BE49-F238E27FC236}">
                <a16:creationId xmlns:a16="http://schemas.microsoft.com/office/drawing/2014/main" id="{0379091C-08E1-A348-A3CA-20CF63DEA46E}"/>
              </a:ext>
            </a:extLst>
          </p:cNvPr>
          <p:cNvSpPr/>
          <p:nvPr/>
        </p:nvSpPr>
        <p:spPr>
          <a:xfrm>
            <a:off x="5998591" y="4075860"/>
            <a:ext cx="3149699" cy="129468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66" name="Rectangle 65">
            <a:extLst>
              <a:ext uri="{FF2B5EF4-FFF2-40B4-BE49-F238E27FC236}">
                <a16:creationId xmlns:a16="http://schemas.microsoft.com/office/drawing/2014/main" id="{785BE232-6C83-0C4A-8CBC-0117712503E9}"/>
              </a:ext>
            </a:extLst>
          </p:cNvPr>
          <p:cNvSpPr/>
          <p:nvPr/>
        </p:nvSpPr>
        <p:spPr>
          <a:xfrm>
            <a:off x="1345029" y="5353430"/>
            <a:ext cx="3149697" cy="3868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text</a:t>
            </a:r>
          </a:p>
        </p:txBody>
      </p:sp>
      <p:sp>
        <p:nvSpPr>
          <p:cNvPr id="68" name="Rectangle 67">
            <a:extLst>
              <a:ext uri="{FF2B5EF4-FFF2-40B4-BE49-F238E27FC236}">
                <a16:creationId xmlns:a16="http://schemas.microsoft.com/office/drawing/2014/main" id="{B09D2FA4-C6BE-A44A-9485-F30D97F0474A}"/>
              </a:ext>
            </a:extLst>
          </p:cNvPr>
          <p:cNvSpPr/>
          <p:nvPr/>
        </p:nvSpPr>
        <p:spPr>
          <a:xfrm>
            <a:off x="1345029" y="4787946"/>
            <a:ext cx="3149697"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Text</a:t>
            </a:r>
          </a:p>
        </p:txBody>
      </p:sp>
      <p:sp>
        <p:nvSpPr>
          <p:cNvPr id="69" name="Rectangle 68">
            <a:extLst>
              <a:ext uri="{FF2B5EF4-FFF2-40B4-BE49-F238E27FC236}">
                <a16:creationId xmlns:a16="http://schemas.microsoft.com/office/drawing/2014/main" id="{315B17B7-ABBF-7B44-B969-0D87C0FCF62D}"/>
              </a:ext>
            </a:extLst>
          </p:cNvPr>
          <p:cNvSpPr/>
          <p:nvPr/>
        </p:nvSpPr>
        <p:spPr>
          <a:xfrm>
            <a:off x="1345029" y="5740242"/>
            <a:ext cx="3149697"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72" name="Rectangle 71">
            <a:extLst>
              <a:ext uri="{FF2B5EF4-FFF2-40B4-BE49-F238E27FC236}">
                <a16:creationId xmlns:a16="http://schemas.microsoft.com/office/drawing/2014/main" id="{959D03DC-40AE-C64F-804B-C5FF0B65EF20}"/>
              </a:ext>
            </a:extLst>
          </p:cNvPr>
          <p:cNvSpPr/>
          <p:nvPr/>
        </p:nvSpPr>
        <p:spPr>
          <a:xfrm>
            <a:off x="1345027" y="4787946"/>
            <a:ext cx="3149699" cy="129468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75" name="Rectangle 74">
            <a:extLst>
              <a:ext uri="{FF2B5EF4-FFF2-40B4-BE49-F238E27FC236}">
                <a16:creationId xmlns:a16="http://schemas.microsoft.com/office/drawing/2014/main" id="{3DC47A99-5A86-0349-90FA-481D1F47C068}"/>
              </a:ext>
            </a:extLst>
          </p:cNvPr>
          <p:cNvSpPr/>
          <p:nvPr/>
        </p:nvSpPr>
        <p:spPr>
          <a:xfrm>
            <a:off x="4706617" y="3305901"/>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3" name="Slide Number Placeholder 2">
            <a:extLst>
              <a:ext uri="{FF2B5EF4-FFF2-40B4-BE49-F238E27FC236}">
                <a16:creationId xmlns:a16="http://schemas.microsoft.com/office/drawing/2014/main" id="{DA881CC6-6122-5D4A-BA33-8D8FED58DB3A}"/>
              </a:ext>
            </a:extLst>
          </p:cNvPr>
          <p:cNvSpPr>
            <a:spLocks noGrp="1"/>
          </p:cNvSpPr>
          <p:nvPr>
            <p:ph type="sldNum" sz="quarter" idx="12"/>
          </p:nvPr>
        </p:nvSpPr>
        <p:spPr/>
        <p:txBody>
          <a:bodyPr/>
          <a:lstStyle/>
          <a:p>
            <a:fld id="{31DE2C5B-556E-47B8-A792-024C2FCA4ACC}" type="slidenum">
              <a:rPr lang="en-GB" smtClean="0"/>
              <a:t>43</a:t>
            </a:fld>
            <a:endParaRPr lang="en-GB"/>
          </a:p>
        </p:txBody>
      </p:sp>
      <p:sp>
        <p:nvSpPr>
          <p:cNvPr id="4" name="TextBox 3">
            <a:extLst>
              <a:ext uri="{FF2B5EF4-FFF2-40B4-BE49-F238E27FC236}">
                <a16:creationId xmlns:a16="http://schemas.microsoft.com/office/drawing/2014/main" id="{17F152A8-2FCC-A912-2FBE-38E2C3A96428}"/>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1397188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Composite (Example in Dart)</a:t>
            </a:r>
            <a:endParaRPr lang="en-IT" dirty="0"/>
          </a:p>
        </p:txBody>
      </p:sp>
      <p:cxnSp>
        <p:nvCxnSpPr>
          <p:cNvPr id="31" name="Straight Arrow Connector 30">
            <a:extLst>
              <a:ext uri="{FF2B5EF4-FFF2-40B4-BE49-F238E27FC236}">
                <a16:creationId xmlns:a16="http://schemas.microsoft.com/office/drawing/2014/main" id="{C1BA4125-9BC3-524F-B6ED-C5E81CBDFB23}"/>
              </a:ext>
            </a:extLst>
          </p:cNvPr>
          <p:cNvCxnSpPr>
            <a:cxnSpLocks/>
            <a:endCxn id="26" idx="3"/>
          </p:cNvCxnSpPr>
          <p:nvPr/>
        </p:nvCxnSpPr>
        <p:spPr>
          <a:xfrm flipH="1" flipV="1">
            <a:off x="3921279" y="2012402"/>
            <a:ext cx="2174721" cy="22029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07D33032-0FDB-C843-9900-2845707B01C6}"/>
              </a:ext>
            </a:extLst>
          </p:cNvPr>
          <p:cNvSpPr/>
          <p:nvPr/>
        </p:nvSpPr>
        <p:spPr>
          <a:xfrm>
            <a:off x="390205" y="3316361"/>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34" name="Straight Arrow Connector 33">
            <a:extLst>
              <a:ext uri="{FF2B5EF4-FFF2-40B4-BE49-F238E27FC236}">
                <a16:creationId xmlns:a16="http://schemas.microsoft.com/office/drawing/2014/main" id="{B9889DDD-5CAB-B746-ADF5-49D045687613}"/>
              </a:ext>
            </a:extLst>
          </p:cNvPr>
          <p:cNvCxnSpPr>
            <a:cxnSpLocks/>
            <a:stCxn id="41" idx="0"/>
            <a:endCxn id="26" idx="2"/>
          </p:cNvCxnSpPr>
          <p:nvPr/>
        </p:nvCxnSpPr>
        <p:spPr>
          <a:xfrm flipH="1" flipV="1">
            <a:off x="2045045" y="2520233"/>
            <a:ext cx="490276" cy="16951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314CCC24-4D7F-5243-9DF7-FE67299BA9DD}"/>
              </a:ext>
            </a:extLst>
          </p:cNvPr>
          <p:cNvCxnSpPr>
            <a:cxnSpLocks/>
            <a:stCxn id="29" idx="1"/>
            <a:endCxn id="26" idx="3"/>
          </p:cNvCxnSpPr>
          <p:nvPr/>
        </p:nvCxnSpPr>
        <p:spPr>
          <a:xfrm flipH="1" flipV="1">
            <a:off x="3921279" y="2012402"/>
            <a:ext cx="2599867" cy="5748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Rectangle 66">
            <a:extLst>
              <a:ext uri="{FF2B5EF4-FFF2-40B4-BE49-F238E27FC236}">
                <a16:creationId xmlns:a16="http://schemas.microsoft.com/office/drawing/2014/main" id="{6EB4D5EE-E7BC-8645-BB15-0E0670138B42}"/>
              </a:ext>
            </a:extLst>
          </p:cNvPr>
          <p:cNvSpPr/>
          <p:nvPr/>
        </p:nvSpPr>
        <p:spPr>
          <a:xfrm>
            <a:off x="4168944" y="1668500"/>
            <a:ext cx="2276585"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uses/implements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75" name="Rectangle 74">
            <a:extLst>
              <a:ext uri="{FF2B5EF4-FFF2-40B4-BE49-F238E27FC236}">
                <a16:creationId xmlns:a16="http://schemas.microsoft.com/office/drawing/2014/main" id="{3DC47A99-5A86-0349-90FA-481D1F47C068}"/>
              </a:ext>
            </a:extLst>
          </p:cNvPr>
          <p:cNvSpPr/>
          <p:nvPr/>
        </p:nvSpPr>
        <p:spPr>
          <a:xfrm>
            <a:off x="3659536" y="3398699"/>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3" name="Slide Number Placeholder 2">
            <a:extLst>
              <a:ext uri="{FF2B5EF4-FFF2-40B4-BE49-F238E27FC236}">
                <a16:creationId xmlns:a16="http://schemas.microsoft.com/office/drawing/2014/main" id="{DA881CC6-6122-5D4A-BA33-8D8FED58DB3A}"/>
              </a:ext>
            </a:extLst>
          </p:cNvPr>
          <p:cNvSpPr>
            <a:spLocks noGrp="1"/>
          </p:cNvSpPr>
          <p:nvPr>
            <p:ph type="sldNum" sz="quarter" idx="12"/>
          </p:nvPr>
        </p:nvSpPr>
        <p:spPr/>
        <p:txBody>
          <a:bodyPr/>
          <a:lstStyle/>
          <a:p>
            <a:fld id="{31DE2C5B-556E-47B8-A792-024C2FCA4ACC}" type="slidenum">
              <a:rPr lang="en-GB" smtClean="0"/>
              <a:t>44</a:t>
            </a:fld>
            <a:endParaRPr lang="en-GB"/>
          </a:p>
        </p:txBody>
      </p:sp>
      <p:sp>
        <p:nvSpPr>
          <p:cNvPr id="26" name="Rectangle 25">
            <a:extLst>
              <a:ext uri="{FF2B5EF4-FFF2-40B4-BE49-F238E27FC236}">
                <a16:creationId xmlns:a16="http://schemas.microsoft.com/office/drawing/2014/main" id="{1203A55A-8176-F84F-8E58-635DD3AFFAE8}"/>
              </a:ext>
            </a:extLst>
          </p:cNvPr>
          <p:cNvSpPr/>
          <p:nvPr/>
        </p:nvSpPr>
        <p:spPr>
          <a:xfrm>
            <a:off x="168810" y="1504570"/>
            <a:ext cx="3752469" cy="10156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rPr>
              <a:t>abstract class </a:t>
            </a:r>
            <a:r>
              <a:rPr lang="en-GB" sz="1200" b="1" dirty="0">
                <a:latin typeface="Menlo" panose="020B0609030804020204" pitchFamily="49" charset="0"/>
              </a:rPr>
              <a:t>Graphic</a:t>
            </a:r>
            <a:r>
              <a:rPr lang="en-GB" sz="1200" dirty="0">
                <a:latin typeface="Menlo" panose="020B0609030804020204" pitchFamily="49" charset="0"/>
              </a:rPr>
              <a:t>{</a:t>
            </a:r>
          </a:p>
          <a:p>
            <a:r>
              <a:rPr lang="en-GB" sz="1200" dirty="0">
                <a:latin typeface="Menlo" panose="020B0609030804020204" pitchFamily="49" charset="0"/>
              </a:rPr>
              <a:t>  final double height;</a:t>
            </a:r>
          </a:p>
          <a:p>
            <a:r>
              <a:rPr lang="en-GB" sz="1200" dirty="0">
                <a:latin typeface="Menlo" panose="020B0609030804020204" pitchFamily="49" charset="0"/>
              </a:rPr>
              <a:t>  Graphic({required </a:t>
            </a:r>
            <a:r>
              <a:rPr lang="en-GB" sz="1200" dirty="0" err="1">
                <a:latin typeface="Menlo" panose="020B0609030804020204" pitchFamily="49" charset="0"/>
              </a:rPr>
              <a:t>this.height</a:t>
            </a:r>
            <a:r>
              <a:rPr lang="en-GB" sz="1200" dirty="0">
                <a:latin typeface="Menlo" panose="020B0609030804020204" pitchFamily="49" charset="0"/>
              </a:rPr>
              <a:t>});</a:t>
            </a:r>
          </a:p>
          <a:p>
            <a:r>
              <a:rPr lang="en-GB" sz="1200" dirty="0">
                <a:latin typeface="Menlo" panose="020B0609030804020204" pitchFamily="49" charset="0"/>
              </a:rPr>
              <a:t>  void draw();</a:t>
            </a:r>
          </a:p>
          <a:p>
            <a:r>
              <a:rPr lang="en-GB" sz="1200" dirty="0">
                <a:latin typeface="Menlo" panose="020B0609030804020204" pitchFamily="49" charset="0"/>
              </a:rPr>
              <a:t>}//Graphic</a:t>
            </a:r>
            <a:endParaRPr lang="en-GB" sz="1200" b="0" dirty="0">
              <a:effectLst/>
              <a:latin typeface="Menlo" panose="020B0609030804020204" pitchFamily="49" charset="0"/>
            </a:endParaRPr>
          </a:p>
        </p:txBody>
      </p:sp>
      <p:sp>
        <p:nvSpPr>
          <p:cNvPr id="29" name="Rectangle 28">
            <a:extLst>
              <a:ext uri="{FF2B5EF4-FFF2-40B4-BE49-F238E27FC236}">
                <a16:creationId xmlns:a16="http://schemas.microsoft.com/office/drawing/2014/main" id="{2C0B3D45-5B9D-EE48-B1A7-DA08C30AF4AB}"/>
              </a:ext>
            </a:extLst>
          </p:cNvPr>
          <p:cNvSpPr/>
          <p:nvPr/>
        </p:nvSpPr>
        <p:spPr>
          <a:xfrm>
            <a:off x="6521146" y="1156096"/>
            <a:ext cx="5275340" cy="286232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rPr>
              <a:t>class </a:t>
            </a:r>
            <a:r>
              <a:rPr lang="en-GB" sz="1200" b="1" dirty="0">
                <a:latin typeface="Menlo" panose="020B0609030804020204" pitchFamily="49" charset="0"/>
              </a:rPr>
              <a:t>Container</a:t>
            </a:r>
            <a:r>
              <a:rPr lang="en-GB" sz="1200" dirty="0">
                <a:latin typeface="Menlo" panose="020B0609030804020204" pitchFamily="49" charset="0"/>
              </a:rPr>
              <a:t> implements </a:t>
            </a:r>
            <a:r>
              <a:rPr lang="en-GB" sz="1200" b="1" dirty="0">
                <a:latin typeface="Menlo" panose="020B0609030804020204" pitchFamily="49" charset="0"/>
              </a:rPr>
              <a:t>Graphic</a:t>
            </a:r>
            <a:r>
              <a:rPr lang="en-GB" sz="1200" dirty="0">
                <a:latin typeface="Menlo" panose="020B0609030804020204" pitchFamily="49" charset="0"/>
              </a:rPr>
              <a:t>{</a:t>
            </a:r>
          </a:p>
          <a:p>
            <a:r>
              <a:rPr lang="en-GB" sz="1200" dirty="0">
                <a:latin typeface="Menlo" panose="020B0609030804020204" pitchFamily="49" charset="0"/>
              </a:rPr>
              <a:t>  final List&lt;</a:t>
            </a:r>
            <a:r>
              <a:rPr lang="en-GB" sz="1200" b="1" dirty="0">
                <a:latin typeface="Menlo" panose="020B0609030804020204" pitchFamily="49" charset="0"/>
              </a:rPr>
              <a:t>Graphic</a:t>
            </a:r>
            <a:r>
              <a:rPr lang="en-GB" sz="1200" dirty="0">
                <a:latin typeface="Menlo" panose="020B0609030804020204" pitchFamily="49" charset="0"/>
              </a:rPr>
              <a:t>&gt; components;</a:t>
            </a:r>
          </a:p>
          <a:p>
            <a:r>
              <a:rPr lang="en-GB" sz="1200" dirty="0">
                <a:latin typeface="Menlo" panose="020B0609030804020204" pitchFamily="49" charset="0"/>
              </a:rPr>
              <a:t>  @override</a:t>
            </a:r>
          </a:p>
          <a:p>
            <a:r>
              <a:rPr lang="en-GB" sz="1200" dirty="0">
                <a:latin typeface="Menlo" panose="020B0609030804020204" pitchFamily="49" charset="0"/>
              </a:rPr>
              <a:t>  final double height;</a:t>
            </a:r>
          </a:p>
          <a:p>
            <a:r>
              <a:rPr lang="en-GB" sz="1200" dirty="0">
                <a:latin typeface="Menlo" panose="020B0609030804020204" pitchFamily="49" charset="0"/>
              </a:rPr>
              <a:t>  Container({required </a:t>
            </a:r>
            <a:r>
              <a:rPr lang="en-GB" sz="1200" dirty="0" err="1">
                <a:latin typeface="Menlo" panose="020B0609030804020204" pitchFamily="49" charset="0"/>
              </a:rPr>
              <a:t>this.components</a:t>
            </a:r>
            <a:r>
              <a:rPr lang="en-GB" sz="1200" dirty="0">
                <a:latin typeface="Menlo" panose="020B0609030804020204" pitchFamily="49" charset="0"/>
              </a:rPr>
              <a:t>, required </a:t>
            </a:r>
            <a:r>
              <a:rPr lang="en-GB" sz="1200" dirty="0" err="1">
                <a:latin typeface="Menlo" panose="020B0609030804020204" pitchFamily="49" charset="0"/>
              </a:rPr>
              <a:t>this.height</a:t>
            </a:r>
            <a:r>
              <a:rPr lang="en-GB" sz="1200" dirty="0">
                <a:latin typeface="Menlo" panose="020B0609030804020204" pitchFamily="49" charset="0"/>
              </a:rPr>
              <a:t>});</a:t>
            </a:r>
          </a:p>
          <a:p>
            <a:endParaRPr lang="en-GB" sz="1200" dirty="0">
              <a:latin typeface="Menlo" panose="020B0609030804020204" pitchFamily="49" charset="0"/>
            </a:endParaRPr>
          </a:p>
          <a:p>
            <a:r>
              <a:rPr lang="en-GB" sz="1200" dirty="0">
                <a:latin typeface="Menlo" panose="020B0609030804020204" pitchFamily="49" charset="0"/>
              </a:rPr>
              <a:t>  void draw(){</a:t>
            </a:r>
          </a:p>
          <a:p>
            <a:r>
              <a:rPr lang="en-GB" sz="1200" dirty="0">
                <a:latin typeface="Menlo" panose="020B0609030804020204" pitchFamily="49" charset="0"/>
              </a:rPr>
              <a:t>    print('Drawing the container, height: $height...');</a:t>
            </a:r>
          </a:p>
          <a:p>
            <a:r>
              <a:rPr lang="en-GB" sz="1200" dirty="0">
                <a:latin typeface="Menlo" panose="020B0609030804020204" pitchFamily="49" charset="0"/>
              </a:rPr>
              <a:t>    for (var item in components) {</a:t>
            </a:r>
          </a:p>
          <a:p>
            <a:r>
              <a:rPr lang="en-GB" sz="1200" dirty="0">
                <a:latin typeface="Menlo" panose="020B0609030804020204" pitchFamily="49" charset="0"/>
              </a:rPr>
              <a:t>      </a:t>
            </a:r>
            <a:r>
              <a:rPr lang="en-GB" sz="1200" dirty="0" err="1">
                <a:latin typeface="Menlo" panose="020B0609030804020204" pitchFamily="49" charset="0"/>
              </a:rPr>
              <a:t>item.draw</a:t>
            </a:r>
            <a:r>
              <a:rPr lang="en-GB" sz="1200" dirty="0">
                <a:latin typeface="Menlo" panose="020B0609030804020204" pitchFamily="49" charset="0"/>
              </a:rPr>
              <a:t>();</a:t>
            </a:r>
          </a:p>
          <a:p>
            <a:r>
              <a:rPr lang="en-GB" sz="1200" dirty="0">
                <a:latin typeface="Menlo" panose="020B0609030804020204" pitchFamily="49" charset="0"/>
              </a:rPr>
              <a:t>    }//for</a:t>
            </a:r>
          </a:p>
          <a:p>
            <a:r>
              <a:rPr lang="en-GB" sz="1200" dirty="0">
                <a:latin typeface="Menlo" panose="020B0609030804020204" pitchFamily="49" charset="0"/>
              </a:rPr>
              <a:t>    print('Done!');</a:t>
            </a:r>
          </a:p>
          <a:p>
            <a:r>
              <a:rPr lang="en-GB" sz="1200" dirty="0">
                <a:latin typeface="Menlo" panose="020B0609030804020204" pitchFamily="49" charset="0"/>
              </a:rPr>
              <a:t>  }//draw</a:t>
            </a:r>
          </a:p>
          <a:p>
            <a:r>
              <a:rPr lang="en-GB" sz="1200" dirty="0">
                <a:latin typeface="Menlo" panose="020B0609030804020204" pitchFamily="49" charset="0"/>
              </a:rPr>
              <a:t>}//Container</a:t>
            </a:r>
            <a:endParaRPr lang="en-GB" sz="1200" b="0" dirty="0">
              <a:effectLst/>
              <a:latin typeface="Menlo" panose="020B0609030804020204" pitchFamily="49" charset="0"/>
            </a:endParaRPr>
          </a:p>
        </p:txBody>
      </p:sp>
      <p:sp>
        <p:nvSpPr>
          <p:cNvPr id="41" name="Rectangle 40">
            <a:extLst>
              <a:ext uri="{FF2B5EF4-FFF2-40B4-BE49-F238E27FC236}">
                <a16:creationId xmlns:a16="http://schemas.microsoft.com/office/drawing/2014/main" id="{947328E7-7568-5445-939D-2030763C2F1F}"/>
              </a:ext>
            </a:extLst>
          </p:cNvPr>
          <p:cNvSpPr/>
          <p:nvPr/>
        </p:nvSpPr>
        <p:spPr>
          <a:xfrm>
            <a:off x="86517" y="4215361"/>
            <a:ext cx="4897608" cy="230832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rPr>
              <a:t>class </a:t>
            </a:r>
            <a:r>
              <a:rPr lang="en-GB" sz="1200" b="1" dirty="0">
                <a:latin typeface="Menlo" panose="020B0609030804020204" pitchFamily="49" charset="0"/>
              </a:rPr>
              <a:t>Text</a:t>
            </a:r>
            <a:r>
              <a:rPr lang="en-GB" sz="1200" dirty="0">
                <a:latin typeface="Menlo" panose="020B0609030804020204" pitchFamily="49" charset="0"/>
              </a:rPr>
              <a:t> implements </a:t>
            </a:r>
            <a:r>
              <a:rPr lang="en-GB" sz="1200" b="1" dirty="0">
                <a:latin typeface="Menlo" panose="020B0609030804020204" pitchFamily="49" charset="0"/>
              </a:rPr>
              <a:t>Graphic</a:t>
            </a:r>
            <a:r>
              <a:rPr lang="en-GB" sz="1200" dirty="0">
                <a:latin typeface="Menlo" panose="020B0609030804020204" pitchFamily="49" charset="0"/>
              </a:rPr>
              <a:t>{</a:t>
            </a:r>
          </a:p>
          <a:p>
            <a:r>
              <a:rPr lang="en-GB" sz="1200" dirty="0">
                <a:latin typeface="Menlo" panose="020B0609030804020204" pitchFamily="49" charset="0"/>
              </a:rPr>
              <a:t>  final String text;</a:t>
            </a:r>
          </a:p>
          <a:p>
            <a:r>
              <a:rPr lang="en-GB" sz="1200" dirty="0">
                <a:latin typeface="Menlo" panose="020B0609030804020204" pitchFamily="49" charset="0"/>
              </a:rPr>
              <a:t>  @override</a:t>
            </a:r>
          </a:p>
          <a:p>
            <a:r>
              <a:rPr lang="en-GB" sz="1200" dirty="0">
                <a:latin typeface="Menlo" panose="020B0609030804020204" pitchFamily="49" charset="0"/>
              </a:rPr>
              <a:t>  final double height;</a:t>
            </a:r>
          </a:p>
          <a:p>
            <a:r>
              <a:rPr lang="en-GB" sz="1200" dirty="0">
                <a:latin typeface="Menlo" panose="020B0609030804020204" pitchFamily="49" charset="0"/>
              </a:rPr>
              <a:t>  Text({required </a:t>
            </a:r>
            <a:r>
              <a:rPr lang="en-GB" sz="1200" dirty="0" err="1">
                <a:latin typeface="Menlo" panose="020B0609030804020204" pitchFamily="49" charset="0"/>
              </a:rPr>
              <a:t>this.text</a:t>
            </a:r>
            <a:r>
              <a:rPr lang="en-GB" sz="1200" dirty="0">
                <a:latin typeface="Menlo" panose="020B0609030804020204" pitchFamily="49" charset="0"/>
              </a:rPr>
              <a:t>, required </a:t>
            </a:r>
            <a:r>
              <a:rPr lang="en-GB" sz="1200" dirty="0" err="1">
                <a:latin typeface="Menlo" panose="020B0609030804020204" pitchFamily="49" charset="0"/>
              </a:rPr>
              <a:t>this.height</a:t>
            </a:r>
            <a:r>
              <a:rPr lang="en-GB" sz="1200" dirty="0">
                <a:latin typeface="Menlo" panose="020B0609030804020204" pitchFamily="49" charset="0"/>
              </a:rPr>
              <a:t>});</a:t>
            </a:r>
          </a:p>
          <a:p>
            <a:endParaRPr lang="en-GB" sz="1200" dirty="0">
              <a:latin typeface="Menlo" panose="020B0609030804020204" pitchFamily="49" charset="0"/>
            </a:endParaRPr>
          </a:p>
          <a:p>
            <a:r>
              <a:rPr lang="en-GB" sz="1200" dirty="0">
                <a:latin typeface="Menlo" panose="020B0609030804020204" pitchFamily="49" charset="0"/>
              </a:rPr>
              <a:t>  void draw(){</a:t>
            </a:r>
          </a:p>
          <a:p>
            <a:r>
              <a:rPr lang="en-GB" sz="1200" dirty="0">
                <a:latin typeface="Menlo" panose="020B0609030804020204" pitchFamily="49" charset="0"/>
              </a:rPr>
              <a:t>    print('Drawing the text: \'$text\', height: $height!');</a:t>
            </a:r>
          </a:p>
          <a:p>
            <a:r>
              <a:rPr lang="en-GB" sz="1200" dirty="0">
                <a:latin typeface="Menlo" panose="020B0609030804020204" pitchFamily="49" charset="0"/>
              </a:rPr>
              <a:t>  }//draw</a:t>
            </a:r>
          </a:p>
          <a:p>
            <a:endParaRPr lang="en-GB" sz="1200" dirty="0">
              <a:latin typeface="Menlo" panose="020B0609030804020204" pitchFamily="49" charset="0"/>
            </a:endParaRPr>
          </a:p>
          <a:p>
            <a:r>
              <a:rPr lang="en-GB" sz="1200" dirty="0">
                <a:latin typeface="Menlo" panose="020B0609030804020204" pitchFamily="49" charset="0"/>
              </a:rPr>
              <a:t>}//Text</a:t>
            </a:r>
          </a:p>
        </p:txBody>
      </p:sp>
      <p:sp>
        <p:nvSpPr>
          <p:cNvPr id="44" name="Rectangle 43">
            <a:extLst>
              <a:ext uri="{FF2B5EF4-FFF2-40B4-BE49-F238E27FC236}">
                <a16:creationId xmlns:a16="http://schemas.microsoft.com/office/drawing/2014/main" id="{0BB32BB1-C884-2248-A227-A49BFC40CACB}"/>
              </a:ext>
            </a:extLst>
          </p:cNvPr>
          <p:cNvSpPr/>
          <p:nvPr/>
        </p:nvSpPr>
        <p:spPr>
          <a:xfrm>
            <a:off x="5817784" y="4228485"/>
            <a:ext cx="4813894" cy="249299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rPr>
              <a:t>class </a:t>
            </a:r>
            <a:r>
              <a:rPr lang="en-GB" sz="1200" b="1" dirty="0">
                <a:latin typeface="Menlo" panose="020B0609030804020204" pitchFamily="49" charset="0"/>
              </a:rPr>
              <a:t>Button</a:t>
            </a:r>
            <a:r>
              <a:rPr lang="en-GB" sz="1200" dirty="0">
                <a:latin typeface="Menlo" panose="020B0609030804020204" pitchFamily="49" charset="0"/>
              </a:rPr>
              <a:t> implements </a:t>
            </a:r>
            <a:r>
              <a:rPr lang="en-GB" sz="1200" b="1" dirty="0">
                <a:latin typeface="Menlo" panose="020B0609030804020204" pitchFamily="49" charset="0"/>
              </a:rPr>
              <a:t>Graphic</a:t>
            </a:r>
            <a:r>
              <a:rPr lang="en-GB" sz="1200" dirty="0">
                <a:latin typeface="Menlo" panose="020B0609030804020204" pitchFamily="49" charset="0"/>
              </a:rPr>
              <a:t>{</a:t>
            </a:r>
          </a:p>
          <a:p>
            <a:r>
              <a:rPr lang="en-GB" sz="1200" dirty="0">
                <a:latin typeface="Menlo" panose="020B0609030804020204" pitchFamily="49" charset="0"/>
              </a:rPr>
              <a:t>  @override</a:t>
            </a:r>
          </a:p>
          <a:p>
            <a:r>
              <a:rPr lang="en-GB" sz="1200" dirty="0">
                <a:latin typeface="Menlo" panose="020B0609030804020204" pitchFamily="49" charset="0"/>
              </a:rPr>
              <a:t>  final double height;</a:t>
            </a:r>
          </a:p>
          <a:p>
            <a:r>
              <a:rPr lang="en-GB" sz="1200" dirty="0">
                <a:latin typeface="Menlo" panose="020B0609030804020204" pitchFamily="49" charset="0"/>
              </a:rPr>
              <a:t>  Button({required </a:t>
            </a:r>
            <a:r>
              <a:rPr lang="en-GB" sz="1200" dirty="0" err="1">
                <a:latin typeface="Menlo" panose="020B0609030804020204" pitchFamily="49" charset="0"/>
              </a:rPr>
              <a:t>this.height</a:t>
            </a:r>
            <a:r>
              <a:rPr lang="en-GB" sz="1200" dirty="0">
                <a:latin typeface="Menlo" panose="020B0609030804020204" pitchFamily="49" charset="0"/>
              </a:rPr>
              <a:t>});</a:t>
            </a:r>
          </a:p>
          <a:p>
            <a:endParaRPr lang="en-GB" sz="1200" dirty="0">
              <a:latin typeface="Menlo" panose="020B0609030804020204" pitchFamily="49" charset="0"/>
            </a:endParaRPr>
          </a:p>
          <a:p>
            <a:r>
              <a:rPr lang="en-GB" sz="1200" dirty="0">
                <a:latin typeface="Menlo" panose="020B0609030804020204" pitchFamily="49" charset="0"/>
              </a:rPr>
              <a:t>  void draw(){</a:t>
            </a:r>
          </a:p>
          <a:p>
            <a:r>
              <a:rPr lang="en-GB" sz="1200" dirty="0">
                <a:latin typeface="Menlo" panose="020B0609030804020204" pitchFamily="49" charset="0"/>
              </a:rPr>
              <a:t>    print('Drawing the button, height: $height!');</a:t>
            </a:r>
          </a:p>
          <a:p>
            <a:r>
              <a:rPr lang="en-GB" sz="1200" dirty="0">
                <a:latin typeface="Menlo" panose="020B0609030804020204" pitchFamily="49" charset="0"/>
              </a:rPr>
              <a:t>  }//draw</a:t>
            </a:r>
          </a:p>
          <a:p>
            <a:r>
              <a:rPr lang="en-GB" sz="1200" dirty="0">
                <a:latin typeface="Menlo" panose="020B0609030804020204" pitchFamily="49" charset="0"/>
              </a:rPr>
              <a:t>  void </a:t>
            </a:r>
            <a:r>
              <a:rPr lang="en-GB" sz="1200" dirty="0" err="1">
                <a:latin typeface="Menlo" panose="020B0609030804020204" pitchFamily="49" charset="0"/>
              </a:rPr>
              <a:t>doSomething</a:t>
            </a:r>
            <a:r>
              <a:rPr lang="en-GB" sz="1200" dirty="0">
                <a:latin typeface="Menlo" panose="020B0609030804020204" pitchFamily="49" charset="0"/>
              </a:rPr>
              <a:t>(){</a:t>
            </a:r>
          </a:p>
          <a:p>
            <a:r>
              <a:rPr lang="en-GB" sz="1200" dirty="0">
                <a:latin typeface="Menlo" panose="020B0609030804020204" pitchFamily="49" charset="0"/>
              </a:rPr>
              <a:t>    print('Do something when clicked!');</a:t>
            </a:r>
          </a:p>
          <a:p>
            <a:r>
              <a:rPr lang="en-GB" sz="1200" dirty="0">
                <a:latin typeface="Menlo" panose="020B0609030804020204" pitchFamily="49" charset="0"/>
              </a:rPr>
              <a:t>  }//</a:t>
            </a:r>
            <a:r>
              <a:rPr lang="en-GB" sz="1200" dirty="0" err="1">
                <a:latin typeface="Menlo" panose="020B0609030804020204" pitchFamily="49" charset="0"/>
              </a:rPr>
              <a:t>doSomething</a:t>
            </a:r>
            <a:endParaRPr lang="en-GB" sz="1200" dirty="0">
              <a:latin typeface="Menlo" panose="020B0609030804020204" pitchFamily="49" charset="0"/>
            </a:endParaRPr>
          </a:p>
          <a:p>
            <a:endParaRPr lang="en-GB" sz="1200" dirty="0">
              <a:latin typeface="Menlo" panose="020B0609030804020204" pitchFamily="49" charset="0"/>
            </a:endParaRPr>
          </a:p>
          <a:p>
            <a:r>
              <a:rPr lang="en-GB" sz="1200" dirty="0">
                <a:latin typeface="Menlo" panose="020B0609030804020204" pitchFamily="49" charset="0"/>
              </a:rPr>
              <a:t>}//Button</a:t>
            </a:r>
          </a:p>
        </p:txBody>
      </p:sp>
      <p:sp>
        <p:nvSpPr>
          <p:cNvPr id="4" name="TextBox 3">
            <a:extLst>
              <a:ext uri="{FF2B5EF4-FFF2-40B4-BE49-F238E27FC236}">
                <a16:creationId xmlns:a16="http://schemas.microsoft.com/office/drawing/2014/main" id="{80C0665E-188A-B97C-3783-5719E8AE36CC}"/>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6689147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Using Composite (Example in Dart)</a:t>
            </a:r>
            <a:endParaRPr lang="en-IT" dirty="0"/>
          </a:p>
        </p:txBody>
      </p:sp>
      <p:sp>
        <p:nvSpPr>
          <p:cNvPr id="53" name="Rectangle 52">
            <a:extLst>
              <a:ext uri="{FF2B5EF4-FFF2-40B4-BE49-F238E27FC236}">
                <a16:creationId xmlns:a16="http://schemas.microsoft.com/office/drawing/2014/main" id="{E6ED9E4B-536E-C64F-A6EB-4A6B63DD156E}"/>
              </a:ext>
            </a:extLst>
          </p:cNvPr>
          <p:cNvSpPr/>
          <p:nvPr/>
        </p:nvSpPr>
        <p:spPr>
          <a:xfrm>
            <a:off x="838822" y="1401465"/>
            <a:ext cx="6926544" cy="3785652"/>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ea typeface="Menlo" panose="020B0609030804020204" pitchFamily="49" charset="0"/>
                <a:cs typeface="Menlo" panose="020B0609030804020204" pitchFamily="49" charset="0"/>
              </a:rPr>
              <a:t>void main(List&lt;String&gt; </a:t>
            </a:r>
            <a:r>
              <a:rPr lang="en-GB" sz="1200" dirty="0" err="1">
                <a:latin typeface="Menlo" panose="020B0609030804020204" pitchFamily="49" charset="0"/>
                <a:ea typeface="Menlo" panose="020B0609030804020204" pitchFamily="49" charset="0"/>
                <a:cs typeface="Menlo" panose="020B0609030804020204" pitchFamily="49" charset="0"/>
              </a:rPr>
              <a:t>args</a:t>
            </a:r>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//Let's compose the box</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b="1" dirty="0">
                <a:latin typeface="Menlo" panose="020B0609030804020204" pitchFamily="49" charset="0"/>
                <a:ea typeface="Menlo" panose="020B0609030804020204" pitchFamily="49" charset="0"/>
                <a:cs typeface="Menlo" panose="020B0609030804020204" pitchFamily="49" charset="0"/>
              </a:rPr>
              <a:t>List&lt;Graphic&gt; </a:t>
            </a:r>
            <a:r>
              <a:rPr lang="en-GB" sz="1200" b="1" dirty="0" err="1">
                <a:latin typeface="Menlo" panose="020B0609030804020204" pitchFamily="49" charset="0"/>
                <a:ea typeface="Menlo" panose="020B0609030804020204" pitchFamily="49" charset="0"/>
                <a:cs typeface="Menlo" panose="020B0609030804020204" pitchFamily="49" charset="0"/>
              </a:rPr>
              <a:t>boxComponents</a:t>
            </a:r>
            <a:r>
              <a:rPr lang="en-GB" sz="1200" dirty="0">
                <a:latin typeface="Menlo" panose="020B0609030804020204" pitchFamily="49" charset="0"/>
                <a:ea typeface="Menlo" panose="020B0609030804020204" pitchFamily="49" charset="0"/>
                <a:cs typeface="Menlo" panose="020B0609030804020204" pitchFamily="49" charset="0"/>
              </a:rPr>
              <a:t> = [</a:t>
            </a:r>
          </a:p>
          <a:p>
            <a:r>
              <a:rPr lang="en-GB" sz="1200" dirty="0">
                <a:latin typeface="Menlo" panose="020B0609030804020204" pitchFamily="49" charset="0"/>
                <a:ea typeface="Menlo" panose="020B0609030804020204" pitchFamily="49" charset="0"/>
                <a:cs typeface="Menlo" panose="020B0609030804020204" pitchFamily="49" charset="0"/>
              </a:rPr>
              <a:t>    Text(text: 'Hello', height: 100),</a:t>
            </a:r>
          </a:p>
          <a:p>
            <a:r>
              <a:rPr lang="en-GB" sz="1200" dirty="0">
                <a:latin typeface="Menlo" panose="020B0609030804020204" pitchFamily="49" charset="0"/>
                <a:ea typeface="Menlo" panose="020B0609030804020204" pitchFamily="49" charset="0"/>
                <a:cs typeface="Menlo" panose="020B0609030804020204" pitchFamily="49" charset="0"/>
              </a:rPr>
              <a:t>    Button(height: 50),</a:t>
            </a:r>
          </a:p>
          <a:p>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Graphic box = Container(components: </a:t>
            </a:r>
            <a:r>
              <a:rPr lang="en-GB" sz="1200" dirty="0" err="1">
                <a:latin typeface="Menlo" panose="020B0609030804020204" pitchFamily="49" charset="0"/>
                <a:ea typeface="Menlo" panose="020B0609030804020204" pitchFamily="49" charset="0"/>
                <a:cs typeface="Menlo" panose="020B0609030804020204" pitchFamily="49" charset="0"/>
              </a:rPr>
              <a:t>boxComponents</a:t>
            </a:r>
            <a:r>
              <a:rPr lang="en-GB" sz="1200" dirty="0">
                <a:latin typeface="Menlo" panose="020B0609030804020204" pitchFamily="49" charset="0"/>
                <a:ea typeface="Menlo" panose="020B0609030804020204" pitchFamily="49" charset="0"/>
                <a:cs typeface="Menlo" panose="020B0609030804020204" pitchFamily="49" charset="0"/>
              </a:rPr>
              <a:t>, height: 500);</a:t>
            </a:r>
          </a:p>
          <a:p>
            <a:endParaRPr lang="en-GB" sz="1200" dirty="0">
              <a:latin typeface="Menlo" panose="020B0609030804020204" pitchFamily="49" charset="0"/>
              <a:ea typeface="Menlo" panose="020B0609030804020204" pitchFamily="49" charset="0"/>
              <a:cs typeface="Menlo" panose="020B0609030804020204" pitchFamily="49" charset="0"/>
            </a:endParaRPr>
          </a:p>
          <a:p>
            <a:r>
              <a:rPr lang="en-GB" sz="1200" dirty="0">
                <a:latin typeface="Menlo" panose="020B0609030804020204" pitchFamily="49" charset="0"/>
                <a:ea typeface="Menlo" panose="020B0609030804020204" pitchFamily="49" charset="0"/>
                <a:cs typeface="Menlo" panose="020B0609030804020204" pitchFamily="49" charset="0"/>
              </a:rPr>
              <a:t>  //Then, let's compose the whole screen</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b="1" dirty="0">
                <a:latin typeface="Menlo" panose="020B0609030804020204" pitchFamily="49" charset="0"/>
                <a:ea typeface="Menlo" panose="020B0609030804020204" pitchFamily="49" charset="0"/>
                <a:cs typeface="Menlo" panose="020B0609030804020204" pitchFamily="49" charset="0"/>
              </a:rPr>
              <a:t>List&lt;Graphic&gt; </a:t>
            </a:r>
            <a:r>
              <a:rPr lang="en-GB" sz="1200" b="1" dirty="0" err="1">
                <a:latin typeface="Menlo" panose="020B0609030804020204" pitchFamily="49" charset="0"/>
                <a:ea typeface="Menlo" panose="020B0609030804020204" pitchFamily="49" charset="0"/>
                <a:cs typeface="Menlo" panose="020B0609030804020204" pitchFamily="49" charset="0"/>
              </a:rPr>
              <a:t>screenComponents</a:t>
            </a:r>
            <a:r>
              <a:rPr lang="en-GB" sz="1200" dirty="0">
                <a:latin typeface="Menlo" panose="020B0609030804020204" pitchFamily="49" charset="0"/>
                <a:ea typeface="Menlo" panose="020B0609030804020204" pitchFamily="49" charset="0"/>
                <a:cs typeface="Menlo" panose="020B0609030804020204" pitchFamily="49" charset="0"/>
              </a:rPr>
              <a:t> = [</a:t>
            </a:r>
          </a:p>
          <a:p>
            <a:r>
              <a:rPr lang="en-GB" sz="1200" dirty="0">
                <a:latin typeface="Menlo" panose="020B0609030804020204" pitchFamily="49" charset="0"/>
                <a:ea typeface="Menlo" panose="020B0609030804020204" pitchFamily="49" charset="0"/>
                <a:cs typeface="Menlo" panose="020B0609030804020204" pitchFamily="49" charset="0"/>
              </a:rPr>
              <a:t>    box,</a:t>
            </a:r>
          </a:p>
          <a:p>
            <a:r>
              <a:rPr lang="en-GB" sz="1200" dirty="0">
                <a:latin typeface="Menlo" panose="020B0609030804020204" pitchFamily="49" charset="0"/>
                <a:ea typeface="Menlo" panose="020B0609030804020204" pitchFamily="49" charset="0"/>
                <a:cs typeface="Menlo" panose="020B0609030804020204" pitchFamily="49" charset="0"/>
              </a:rPr>
              <a:t>    Button(height: 150),</a:t>
            </a:r>
          </a:p>
          <a:p>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Graphic screen = Container(components: </a:t>
            </a:r>
            <a:r>
              <a:rPr lang="en-GB" sz="1200" dirty="0" err="1">
                <a:latin typeface="Menlo" panose="020B0609030804020204" pitchFamily="49" charset="0"/>
                <a:ea typeface="Menlo" panose="020B0609030804020204" pitchFamily="49" charset="0"/>
                <a:cs typeface="Menlo" panose="020B0609030804020204" pitchFamily="49" charset="0"/>
              </a:rPr>
              <a:t>screenComponents</a:t>
            </a:r>
            <a:r>
              <a:rPr lang="en-GB" sz="1200" dirty="0">
                <a:latin typeface="Menlo" panose="020B0609030804020204" pitchFamily="49" charset="0"/>
                <a:ea typeface="Menlo" panose="020B0609030804020204" pitchFamily="49" charset="0"/>
                <a:cs typeface="Menlo" panose="020B0609030804020204" pitchFamily="49" charset="0"/>
              </a:rPr>
              <a:t>, height: 1000);</a:t>
            </a:r>
          </a:p>
          <a:p>
            <a:endParaRPr lang="en-GB" sz="1200" dirty="0">
              <a:latin typeface="Menlo" panose="020B0609030804020204" pitchFamily="49" charset="0"/>
              <a:ea typeface="Menlo" panose="020B0609030804020204" pitchFamily="49" charset="0"/>
              <a:cs typeface="Menlo" panose="020B0609030804020204" pitchFamily="49" charset="0"/>
            </a:endParaRPr>
          </a:p>
          <a:p>
            <a:r>
              <a:rPr lang="en-GB" sz="1200" dirty="0">
                <a:latin typeface="Menlo" panose="020B0609030804020204" pitchFamily="49" charset="0"/>
                <a:ea typeface="Menlo" panose="020B0609030804020204" pitchFamily="49" charset="0"/>
                <a:cs typeface="Menlo" panose="020B0609030804020204" pitchFamily="49" charset="0"/>
              </a:rPr>
              <a:t>  //Finally, let's draw the screen</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screen.draw</a:t>
            </a:r>
            <a:r>
              <a:rPr lang="en-GB" sz="1200" dirty="0">
                <a:latin typeface="Menlo" panose="020B0609030804020204" pitchFamily="49" charset="0"/>
                <a:ea typeface="Menlo" panose="020B0609030804020204" pitchFamily="49" charset="0"/>
                <a:cs typeface="Menlo" panose="020B0609030804020204" pitchFamily="49" charset="0"/>
              </a:rPr>
              <a:t>();</a:t>
            </a:r>
          </a:p>
          <a:p>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}//main</a:t>
            </a:r>
            <a:endParaRPr lang="en-GB" sz="1200" b="0" dirty="0">
              <a:effectLst/>
              <a:latin typeface="Menlo" panose="020B0609030804020204" pitchFamily="49" charset="0"/>
              <a:ea typeface="Menlo" panose="020B0609030804020204" pitchFamily="49" charset="0"/>
              <a:cs typeface="Menlo" panose="020B0609030804020204" pitchFamily="49" charset="0"/>
            </a:endParaRPr>
          </a:p>
        </p:txBody>
      </p:sp>
      <p:sp>
        <p:nvSpPr>
          <p:cNvPr id="26" name="Content Placeholder 2">
            <a:extLst>
              <a:ext uri="{FF2B5EF4-FFF2-40B4-BE49-F238E27FC236}">
                <a16:creationId xmlns:a16="http://schemas.microsoft.com/office/drawing/2014/main" id="{F0EE7D41-BBC9-F247-984B-AF08D3F49DC4}"/>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composite_example.dart</a:t>
            </a:r>
          </a:p>
        </p:txBody>
      </p:sp>
      <p:pic>
        <p:nvPicPr>
          <p:cNvPr id="4" name="Picture 3" descr="Text&#10;&#10;Description automatically generated">
            <a:extLst>
              <a:ext uri="{FF2B5EF4-FFF2-40B4-BE49-F238E27FC236}">
                <a16:creationId xmlns:a16="http://schemas.microsoft.com/office/drawing/2014/main" id="{9EF7E6CC-ED2D-214F-BE2E-10352DA38A0E}"/>
              </a:ext>
            </a:extLst>
          </p:cNvPr>
          <p:cNvPicPr>
            <a:picLocks noChangeAspect="1"/>
          </p:cNvPicPr>
          <p:nvPr/>
        </p:nvPicPr>
        <p:blipFill rotWithShape="1">
          <a:blip r:embed="rId3">
            <a:extLst>
              <a:ext uri="{28A0092B-C50C-407E-A947-70E740481C1C}">
                <a14:useLocalDpi xmlns:a14="http://schemas.microsoft.com/office/drawing/2010/main" val="0"/>
              </a:ext>
            </a:extLst>
          </a:blip>
          <a:srcRect t="5087"/>
          <a:stretch/>
        </p:blipFill>
        <p:spPr>
          <a:xfrm>
            <a:off x="6676488" y="4739327"/>
            <a:ext cx="3987800" cy="1434416"/>
          </a:xfrm>
          <a:prstGeom prst="rect">
            <a:avLst/>
          </a:prstGeom>
        </p:spPr>
      </p:pic>
      <p:sp>
        <p:nvSpPr>
          <p:cNvPr id="5" name="Slide Number Placeholder 4">
            <a:extLst>
              <a:ext uri="{FF2B5EF4-FFF2-40B4-BE49-F238E27FC236}">
                <a16:creationId xmlns:a16="http://schemas.microsoft.com/office/drawing/2014/main" id="{B633CC1C-18C6-F34F-BB2D-9D0667682F42}"/>
              </a:ext>
            </a:extLst>
          </p:cNvPr>
          <p:cNvSpPr>
            <a:spLocks noGrp="1"/>
          </p:cNvSpPr>
          <p:nvPr>
            <p:ph type="sldNum" sz="quarter" idx="12"/>
          </p:nvPr>
        </p:nvSpPr>
        <p:spPr/>
        <p:txBody>
          <a:bodyPr/>
          <a:lstStyle/>
          <a:p>
            <a:fld id="{31DE2C5B-556E-47B8-A792-024C2FCA4ACC}" type="slidenum">
              <a:rPr lang="en-GB" smtClean="0"/>
              <a:t>45</a:t>
            </a:fld>
            <a:endParaRPr lang="en-GB"/>
          </a:p>
        </p:txBody>
      </p:sp>
      <p:sp>
        <p:nvSpPr>
          <p:cNvPr id="3" name="TextBox 2">
            <a:extLst>
              <a:ext uri="{FF2B5EF4-FFF2-40B4-BE49-F238E27FC236}">
                <a16:creationId xmlns:a16="http://schemas.microsoft.com/office/drawing/2014/main" id="{7BF2C07A-C078-F0EF-C5B0-4862BAE50EED}"/>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9385801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Composite</a:t>
            </a:r>
            <a:endParaRPr lang="en-IT" dirty="0"/>
          </a:p>
        </p:txBody>
      </p:sp>
      <p:sp>
        <p:nvSpPr>
          <p:cNvPr id="8" name="Content Placeholder 2">
            <a:extLst>
              <a:ext uri="{FF2B5EF4-FFF2-40B4-BE49-F238E27FC236}">
                <a16:creationId xmlns:a16="http://schemas.microsoft.com/office/drawing/2014/main" id="{209002FB-6523-794E-99E4-90A9A40D9D68}"/>
              </a:ext>
            </a:extLst>
          </p:cNvPr>
          <p:cNvSpPr>
            <a:spLocks noGrp="1"/>
          </p:cNvSpPr>
          <p:nvPr>
            <p:ph idx="1"/>
          </p:nvPr>
        </p:nvSpPr>
        <p:spPr>
          <a:xfrm>
            <a:off x="428171" y="1361167"/>
            <a:ext cx="10551068" cy="5334907"/>
          </a:xfrm>
        </p:spPr>
        <p:txBody>
          <a:bodyPr>
            <a:normAutofit fontScale="92500" lnSpcReduction="10000"/>
          </a:bodyPr>
          <a:lstStyle/>
          <a:p>
            <a:r>
              <a:rPr lang="en-US" dirty="0"/>
              <a:t>Consequences: </a:t>
            </a:r>
          </a:p>
          <a:p>
            <a:endParaRPr lang="en-US" dirty="0"/>
          </a:p>
          <a:p>
            <a:pPr lvl="1"/>
            <a:r>
              <a:rPr lang="en-US" b="1" dirty="0">
                <a:solidFill>
                  <a:schemeClr val="accent6"/>
                </a:solidFill>
              </a:rPr>
              <a:t>It is easy to build complex structures out of simple components</a:t>
            </a:r>
            <a:r>
              <a:rPr lang="en-US" dirty="0"/>
              <a:t>: by definition.</a:t>
            </a:r>
          </a:p>
          <a:p>
            <a:pPr lvl="1"/>
            <a:endParaRPr lang="en-US" dirty="0">
              <a:sym typeface="Wingdings" pitchFamily="2" charset="2"/>
            </a:endParaRPr>
          </a:p>
          <a:p>
            <a:pPr lvl="1"/>
            <a:r>
              <a:rPr lang="en-US" b="1" dirty="0">
                <a:solidFill>
                  <a:schemeClr val="accent6"/>
                </a:solidFill>
                <a:sym typeface="Wingdings" pitchFamily="2" charset="2"/>
              </a:rPr>
              <a:t>Makes the client simple</a:t>
            </a:r>
            <a:r>
              <a:rPr lang="en-US" dirty="0">
                <a:sym typeface="Wingdings" pitchFamily="2" charset="2"/>
              </a:rPr>
              <a:t>: it avoids having to write specific code for the different kind of components. </a:t>
            </a:r>
          </a:p>
          <a:p>
            <a:pPr lvl="1"/>
            <a:endParaRPr lang="en-US" dirty="0">
              <a:sym typeface="Wingdings" pitchFamily="2" charset="2"/>
            </a:endParaRPr>
          </a:p>
          <a:p>
            <a:pPr lvl="1"/>
            <a:r>
              <a:rPr lang="en-US" b="1" dirty="0">
                <a:solidFill>
                  <a:schemeClr val="accent6"/>
                </a:solidFill>
                <a:sym typeface="Wingdings" pitchFamily="2" charset="2"/>
              </a:rPr>
              <a:t>It is easier to add new kind of components</a:t>
            </a:r>
            <a:r>
              <a:rPr lang="en-US" dirty="0">
                <a:sym typeface="Wingdings" pitchFamily="2" charset="2"/>
              </a:rPr>
              <a:t>: new kind of components will work automatically with the existing code.</a:t>
            </a:r>
          </a:p>
          <a:p>
            <a:pPr lvl="1"/>
            <a:endParaRPr lang="en-US" dirty="0">
              <a:sym typeface="Wingdings" pitchFamily="2" charset="2"/>
            </a:endParaRPr>
          </a:p>
          <a:p>
            <a:pPr lvl="1"/>
            <a:r>
              <a:rPr lang="en-US" b="1" dirty="0">
                <a:solidFill>
                  <a:srgbClr val="FF0000"/>
                </a:solidFill>
                <a:sym typeface="Wingdings" pitchFamily="2" charset="2"/>
              </a:rPr>
              <a:t>Can make your design overly general</a:t>
            </a:r>
            <a:r>
              <a:rPr lang="en-US" dirty="0">
                <a:sym typeface="Wingdings" pitchFamily="2" charset="2"/>
              </a:rPr>
              <a:t>: sometimes you want your composite to have only certain components. With this pattern this is difficult since all is ”general. </a:t>
            </a:r>
          </a:p>
          <a:p>
            <a:pPr lvl="1"/>
            <a:endParaRPr lang="en-US" dirty="0">
              <a:sym typeface="Wingdings" pitchFamily="2" charset="2"/>
            </a:endParaRPr>
          </a:p>
          <a:p>
            <a:pPr lvl="1"/>
            <a:endParaRPr lang="en-US" dirty="0"/>
          </a:p>
          <a:p>
            <a:endParaRPr lang="en-IT" dirty="0"/>
          </a:p>
          <a:p>
            <a:endParaRPr lang="en-IT" dirty="0"/>
          </a:p>
          <a:p>
            <a:pPr marL="0" indent="0">
              <a:buNone/>
            </a:pPr>
            <a:r>
              <a:rPr lang="en-IT" dirty="0"/>
              <a:t> </a:t>
            </a:r>
          </a:p>
        </p:txBody>
      </p:sp>
      <p:sp>
        <p:nvSpPr>
          <p:cNvPr id="3" name="Slide Number Placeholder 2">
            <a:extLst>
              <a:ext uri="{FF2B5EF4-FFF2-40B4-BE49-F238E27FC236}">
                <a16:creationId xmlns:a16="http://schemas.microsoft.com/office/drawing/2014/main" id="{95EB2834-CE7B-5540-AC4C-64BC5C73E048}"/>
              </a:ext>
            </a:extLst>
          </p:cNvPr>
          <p:cNvSpPr>
            <a:spLocks noGrp="1"/>
          </p:cNvSpPr>
          <p:nvPr>
            <p:ph type="sldNum" sz="quarter" idx="12"/>
          </p:nvPr>
        </p:nvSpPr>
        <p:spPr/>
        <p:txBody>
          <a:bodyPr/>
          <a:lstStyle/>
          <a:p>
            <a:fld id="{31DE2C5B-556E-47B8-A792-024C2FCA4ACC}" type="slidenum">
              <a:rPr lang="en-GB" smtClean="0"/>
              <a:t>46</a:t>
            </a:fld>
            <a:endParaRPr lang="en-GB"/>
          </a:p>
        </p:txBody>
      </p:sp>
      <p:sp>
        <p:nvSpPr>
          <p:cNvPr id="5" name="Content Placeholder 2">
            <a:extLst>
              <a:ext uri="{FF2B5EF4-FFF2-40B4-BE49-F238E27FC236}">
                <a16:creationId xmlns:a16="http://schemas.microsoft.com/office/drawing/2014/main" id="{33BD362C-6AAD-7F45-859D-2AECC2E5532E}"/>
              </a:ext>
            </a:extLst>
          </p:cNvPr>
          <p:cNvSpPr txBox="1">
            <a:spLocks/>
          </p:cNvSpPr>
          <p:nvPr/>
        </p:nvSpPr>
        <p:spPr>
          <a:xfrm>
            <a:off x="8368949" y="5361821"/>
            <a:ext cx="2610290" cy="1177091"/>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Aptos" panose="020B0004020202020204" pitchFamily="34" charset="0"/>
                <a:ea typeface="Palatino" pitchFamily="2" charset="77"/>
              </a:rPr>
              <a:t>Note</a:t>
            </a:r>
            <a:r>
              <a:rPr lang="en-IT" sz="1600" dirty="0">
                <a:latin typeface="Aptos" panose="020B0004020202020204" pitchFamily="34" charset="0"/>
                <a:ea typeface="Palatino" pitchFamily="2" charset="77"/>
              </a:rPr>
              <a:t>: Flutter uses the Composite pattern to build the UI</a:t>
            </a:r>
          </a:p>
        </p:txBody>
      </p:sp>
      <p:sp>
        <p:nvSpPr>
          <p:cNvPr id="4" name="TextBox 3">
            <a:extLst>
              <a:ext uri="{FF2B5EF4-FFF2-40B4-BE49-F238E27FC236}">
                <a16:creationId xmlns:a16="http://schemas.microsoft.com/office/drawing/2014/main" id="{4DE49E88-F485-5DB1-5B7F-A58F470653CE}"/>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6525745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b="1" dirty="0"/>
              <a:t>Flavours of design patterns </a:t>
            </a:r>
          </a:p>
          <a:p>
            <a:pPr lvl="1"/>
            <a:r>
              <a:rPr lang="en-GB" sz="2200" dirty="0">
                <a:solidFill>
                  <a:schemeClr val="bg2">
                    <a:lumMod val="90000"/>
                  </a:schemeClr>
                </a:solidFill>
              </a:rPr>
              <a:t>Composite</a:t>
            </a:r>
          </a:p>
          <a:p>
            <a:pPr lvl="1"/>
            <a:r>
              <a:rPr lang="en-GB" sz="2200" b="1" dirty="0"/>
              <a:t>Singleton</a:t>
            </a:r>
          </a:p>
          <a:p>
            <a:pPr lvl="1"/>
            <a:r>
              <a:rPr lang="en-GB" sz="2200" dirty="0">
                <a:solidFill>
                  <a:schemeClr val="bg2">
                    <a:lumMod val="90000"/>
                  </a:schemeClr>
                </a:solidFill>
              </a:rPr>
              <a:t>Abstract Factory</a:t>
            </a:r>
            <a:endParaRPr lang="en-GB" sz="2600" dirty="0">
              <a:solidFill>
                <a:schemeClr val="bg2">
                  <a:lumMod val="90000"/>
                </a:schemeClr>
              </a:solidFill>
            </a:endParaRP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47</a:t>
            </a:fld>
            <a:endParaRPr lang="en-GB"/>
          </a:p>
        </p:txBody>
      </p:sp>
      <p:sp>
        <p:nvSpPr>
          <p:cNvPr id="6" name="TextBox 5">
            <a:extLst>
              <a:ext uri="{FF2B5EF4-FFF2-40B4-BE49-F238E27FC236}">
                <a16:creationId xmlns:a16="http://schemas.microsoft.com/office/drawing/2014/main" id="{F8819917-6993-5E1A-28D4-156CDF9FCDD9}"/>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2764515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Singleton</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10453188" cy="5377686"/>
          </a:xfrm>
        </p:spPr>
        <p:txBody>
          <a:bodyPr>
            <a:normAutofit/>
          </a:bodyPr>
          <a:lstStyle/>
          <a:p>
            <a:r>
              <a:rPr lang="en-GB" dirty="0"/>
              <a:t>The </a:t>
            </a:r>
            <a:r>
              <a:rPr lang="en-GB" b="1" dirty="0"/>
              <a:t>Singleton </a:t>
            </a:r>
            <a:r>
              <a:rPr lang="en-GB" dirty="0"/>
              <a:t>design pattern “ensure a class only has one instance, and provide a global point of access to it” - </a:t>
            </a:r>
            <a:r>
              <a:rPr lang="en-GB" dirty="0" err="1"/>
              <a:t>GoF</a:t>
            </a:r>
            <a:r>
              <a:rPr lang="en-GB" dirty="0"/>
              <a:t>.</a:t>
            </a:r>
          </a:p>
          <a:p>
            <a:endParaRPr lang="en-GB" dirty="0"/>
          </a:p>
          <a:p>
            <a:r>
              <a:rPr lang="en-GB" dirty="0"/>
              <a:t>As such, it can be used when there must be exactly one instance of a class.</a:t>
            </a:r>
          </a:p>
          <a:p>
            <a:endParaRPr lang="en-GB" dirty="0"/>
          </a:p>
          <a:p>
            <a:r>
              <a:rPr lang="en-GB" dirty="0"/>
              <a:t>We also have to provide to clients a clear access point to that instance. </a:t>
            </a:r>
          </a:p>
          <a:p>
            <a:endParaRPr lang="en-GB" dirty="0"/>
          </a:p>
        </p:txBody>
      </p:sp>
      <p:sp>
        <p:nvSpPr>
          <p:cNvPr id="3" name="Slide Number Placeholder 2">
            <a:extLst>
              <a:ext uri="{FF2B5EF4-FFF2-40B4-BE49-F238E27FC236}">
                <a16:creationId xmlns:a16="http://schemas.microsoft.com/office/drawing/2014/main" id="{A1F9F987-79DE-7F48-9B0F-D789534D359D}"/>
              </a:ext>
            </a:extLst>
          </p:cNvPr>
          <p:cNvSpPr>
            <a:spLocks noGrp="1"/>
          </p:cNvSpPr>
          <p:nvPr>
            <p:ph type="sldNum" sz="quarter" idx="12"/>
          </p:nvPr>
        </p:nvSpPr>
        <p:spPr/>
        <p:txBody>
          <a:bodyPr/>
          <a:lstStyle/>
          <a:p>
            <a:fld id="{31DE2C5B-556E-47B8-A792-024C2FCA4ACC}" type="slidenum">
              <a:rPr lang="en-GB" smtClean="0"/>
              <a:t>48</a:t>
            </a:fld>
            <a:endParaRPr lang="en-GB"/>
          </a:p>
        </p:txBody>
      </p:sp>
      <p:pic>
        <p:nvPicPr>
          <p:cNvPr id="5" name="Graphic 4" descr="Single gear outline">
            <a:extLst>
              <a:ext uri="{FF2B5EF4-FFF2-40B4-BE49-F238E27FC236}">
                <a16:creationId xmlns:a16="http://schemas.microsoft.com/office/drawing/2014/main" id="{98ADEF77-3D14-E341-941B-385E8BF919A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74909" y="4716179"/>
            <a:ext cx="1706451" cy="1706451"/>
          </a:xfrm>
          <a:prstGeom prst="rect">
            <a:avLst/>
          </a:prstGeom>
        </p:spPr>
      </p:pic>
      <p:sp>
        <p:nvSpPr>
          <p:cNvPr id="6" name="TextBox 5">
            <a:extLst>
              <a:ext uri="{FF2B5EF4-FFF2-40B4-BE49-F238E27FC236}">
                <a16:creationId xmlns:a16="http://schemas.microsoft.com/office/drawing/2014/main" id="{E5A12E1C-4CCD-C4D4-3719-3D9DCFB03DF5}"/>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41998334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Singleton (Example)</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10453188" cy="5377686"/>
          </a:xfrm>
        </p:spPr>
        <p:txBody>
          <a:bodyPr>
            <a:normAutofit/>
          </a:bodyPr>
          <a:lstStyle/>
          <a:p>
            <a:r>
              <a:rPr lang="en-GB" dirty="0"/>
              <a:t>Let’s think about the storage manager of your phone. </a:t>
            </a:r>
          </a:p>
          <a:p>
            <a:endParaRPr lang="en-GB" dirty="0"/>
          </a:p>
          <a:p>
            <a:r>
              <a:rPr lang="en-GB" dirty="0"/>
              <a:t>There is only and only one storage manager through the all application and the access point to it should be clear:</a:t>
            </a:r>
          </a:p>
          <a:p>
            <a:endParaRPr lang="en-GB" dirty="0"/>
          </a:p>
          <a:p>
            <a:pPr lvl="1"/>
            <a:endParaRPr lang="en-GB" dirty="0"/>
          </a:p>
          <a:p>
            <a:endParaRPr lang="en-GB" dirty="0"/>
          </a:p>
          <a:p>
            <a:endParaRPr lang="en-GB" dirty="0"/>
          </a:p>
          <a:p>
            <a:endParaRPr lang="en-GB" dirty="0"/>
          </a:p>
          <a:p>
            <a:pPr marL="0" indent="0">
              <a:buNone/>
            </a:pPr>
            <a:endParaRPr lang="en-GB" dirty="0"/>
          </a:p>
          <a:p>
            <a:r>
              <a:rPr lang="en-GB" dirty="0"/>
              <a:t>The singleton pattern is the right way to implement it</a:t>
            </a:r>
          </a:p>
          <a:p>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2837214C-3FEC-3247-83D2-25E1F215AAD6}"/>
              </a:ext>
            </a:extLst>
          </p:cNvPr>
          <p:cNvSpPr>
            <a:spLocks noGrp="1"/>
          </p:cNvSpPr>
          <p:nvPr>
            <p:ph type="sldNum" sz="quarter" idx="12"/>
          </p:nvPr>
        </p:nvSpPr>
        <p:spPr/>
        <p:txBody>
          <a:bodyPr/>
          <a:lstStyle/>
          <a:p>
            <a:fld id="{31DE2C5B-556E-47B8-A792-024C2FCA4ACC}" type="slidenum">
              <a:rPr lang="en-GB" smtClean="0"/>
              <a:t>49</a:t>
            </a:fld>
            <a:endParaRPr lang="en-GB"/>
          </a:p>
        </p:txBody>
      </p:sp>
      <p:pic>
        <p:nvPicPr>
          <p:cNvPr id="8" name="Graphic 7" descr="Box outline">
            <a:extLst>
              <a:ext uri="{FF2B5EF4-FFF2-40B4-BE49-F238E27FC236}">
                <a16:creationId xmlns:a16="http://schemas.microsoft.com/office/drawing/2014/main" id="{3D758D12-B7BE-FB4C-863E-1FF5BD0489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93259" y="3169670"/>
            <a:ext cx="1885773" cy="1885773"/>
          </a:xfrm>
          <a:prstGeom prst="rect">
            <a:avLst/>
          </a:prstGeom>
        </p:spPr>
      </p:pic>
      <p:sp>
        <p:nvSpPr>
          <p:cNvPr id="5" name="TextBox 4">
            <a:extLst>
              <a:ext uri="{FF2B5EF4-FFF2-40B4-BE49-F238E27FC236}">
                <a16:creationId xmlns:a16="http://schemas.microsoft.com/office/drawing/2014/main" id="{CA61787C-9405-CBCC-5144-1F22EFB8BADF}"/>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41022499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Singleton (Example)</a:t>
            </a:r>
            <a:endParaRPr lang="en-IT" dirty="0"/>
          </a:p>
        </p:txBody>
      </p:sp>
      <p:sp>
        <p:nvSpPr>
          <p:cNvPr id="37" name="Rectangle 36">
            <a:extLst>
              <a:ext uri="{FF2B5EF4-FFF2-40B4-BE49-F238E27FC236}">
                <a16:creationId xmlns:a16="http://schemas.microsoft.com/office/drawing/2014/main" id="{5AB0F975-C263-1341-B7C2-43AFBEA3C325}"/>
              </a:ext>
            </a:extLst>
          </p:cNvPr>
          <p:cNvSpPr/>
          <p:nvPr/>
        </p:nvSpPr>
        <p:spPr>
          <a:xfrm>
            <a:off x="4438510" y="3469270"/>
            <a:ext cx="3149697" cy="38681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freeSpace</a:t>
            </a:r>
          </a:p>
        </p:txBody>
      </p:sp>
      <p:sp>
        <p:nvSpPr>
          <p:cNvPr id="38" name="Rectangle 37">
            <a:extLst>
              <a:ext uri="{FF2B5EF4-FFF2-40B4-BE49-F238E27FC236}">
                <a16:creationId xmlns:a16="http://schemas.microsoft.com/office/drawing/2014/main" id="{4D88F652-A509-464A-940B-8F36CA28AF6B}"/>
              </a:ext>
            </a:extLst>
          </p:cNvPr>
          <p:cNvSpPr/>
          <p:nvPr/>
        </p:nvSpPr>
        <p:spPr>
          <a:xfrm>
            <a:off x="4438510" y="2903786"/>
            <a:ext cx="3149697"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StorageManager</a:t>
            </a:r>
          </a:p>
        </p:txBody>
      </p:sp>
      <p:sp>
        <p:nvSpPr>
          <p:cNvPr id="39" name="Rectangle 38">
            <a:extLst>
              <a:ext uri="{FF2B5EF4-FFF2-40B4-BE49-F238E27FC236}">
                <a16:creationId xmlns:a16="http://schemas.microsoft.com/office/drawing/2014/main" id="{876A781A-6DC7-9946-91FE-9410AD33AFF7}"/>
              </a:ext>
            </a:extLst>
          </p:cNvPr>
          <p:cNvSpPr/>
          <p:nvPr/>
        </p:nvSpPr>
        <p:spPr>
          <a:xfrm>
            <a:off x="4438510" y="3856082"/>
            <a:ext cx="3149697"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store()</a:t>
            </a:r>
          </a:p>
        </p:txBody>
      </p:sp>
      <p:sp>
        <p:nvSpPr>
          <p:cNvPr id="40" name="Rectangle 39">
            <a:extLst>
              <a:ext uri="{FF2B5EF4-FFF2-40B4-BE49-F238E27FC236}">
                <a16:creationId xmlns:a16="http://schemas.microsoft.com/office/drawing/2014/main" id="{6EB5805D-CCD8-6346-A3AC-AB18DAC9FB7B}"/>
              </a:ext>
            </a:extLst>
          </p:cNvPr>
          <p:cNvSpPr/>
          <p:nvPr/>
        </p:nvSpPr>
        <p:spPr>
          <a:xfrm>
            <a:off x="4438508" y="2903786"/>
            <a:ext cx="3149699" cy="129468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3" name="Slide Number Placeholder 2">
            <a:extLst>
              <a:ext uri="{FF2B5EF4-FFF2-40B4-BE49-F238E27FC236}">
                <a16:creationId xmlns:a16="http://schemas.microsoft.com/office/drawing/2014/main" id="{DA881CC6-6122-5D4A-BA33-8D8FED58DB3A}"/>
              </a:ext>
            </a:extLst>
          </p:cNvPr>
          <p:cNvSpPr>
            <a:spLocks noGrp="1"/>
          </p:cNvSpPr>
          <p:nvPr>
            <p:ph type="sldNum" sz="quarter" idx="12"/>
          </p:nvPr>
        </p:nvSpPr>
        <p:spPr/>
        <p:txBody>
          <a:bodyPr/>
          <a:lstStyle/>
          <a:p>
            <a:fld id="{31DE2C5B-556E-47B8-A792-024C2FCA4ACC}" type="slidenum">
              <a:rPr lang="en-GB" smtClean="0"/>
              <a:t>50</a:t>
            </a:fld>
            <a:endParaRPr lang="en-GB"/>
          </a:p>
        </p:txBody>
      </p:sp>
      <p:sp>
        <p:nvSpPr>
          <p:cNvPr id="5" name="TextBox 4">
            <a:extLst>
              <a:ext uri="{FF2B5EF4-FFF2-40B4-BE49-F238E27FC236}">
                <a16:creationId xmlns:a16="http://schemas.microsoft.com/office/drawing/2014/main" id="{EEA3A5AC-B2A6-1643-5B78-8A0B404DF28C}"/>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753308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Singleton (Example in Dart)</a:t>
            </a:r>
            <a:endParaRPr lang="en-IT" dirty="0"/>
          </a:p>
        </p:txBody>
      </p:sp>
      <p:sp>
        <p:nvSpPr>
          <p:cNvPr id="3" name="Slide Number Placeholder 2">
            <a:extLst>
              <a:ext uri="{FF2B5EF4-FFF2-40B4-BE49-F238E27FC236}">
                <a16:creationId xmlns:a16="http://schemas.microsoft.com/office/drawing/2014/main" id="{37B9E278-5894-C14F-9C98-A48EDE5A74A1}"/>
              </a:ext>
            </a:extLst>
          </p:cNvPr>
          <p:cNvSpPr>
            <a:spLocks noGrp="1"/>
          </p:cNvSpPr>
          <p:nvPr>
            <p:ph type="sldNum" sz="quarter" idx="12"/>
          </p:nvPr>
        </p:nvSpPr>
        <p:spPr/>
        <p:txBody>
          <a:bodyPr/>
          <a:lstStyle/>
          <a:p>
            <a:fld id="{31DE2C5B-556E-47B8-A792-024C2FCA4ACC}" type="slidenum">
              <a:rPr lang="en-GB" smtClean="0"/>
              <a:t>51</a:t>
            </a:fld>
            <a:endParaRPr lang="en-GB"/>
          </a:p>
        </p:txBody>
      </p:sp>
      <p:sp>
        <p:nvSpPr>
          <p:cNvPr id="6" name="Rectangle 5">
            <a:extLst>
              <a:ext uri="{FF2B5EF4-FFF2-40B4-BE49-F238E27FC236}">
                <a16:creationId xmlns:a16="http://schemas.microsoft.com/office/drawing/2014/main" id="{26F228EE-8088-5049-8476-A8E5610B525D}"/>
              </a:ext>
            </a:extLst>
          </p:cNvPr>
          <p:cNvSpPr/>
          <p:nvPr/>
        </p:nvSpPr>
        <p:spPr>
          <a:xfrm>
            <a:off x="1030386" y="1647369"/>
            <a:ext cx="6973834" cy="470898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rPr>
              <a:t>class </a:t>
            </a:r>
            <a:r>
              <a:rPr lang="en-GB" sz="1200" dirty="0" err="1">
                <a:latin typeface="Menlo" panose="020B0609030804020204" pitchFamily="49" charset="0"/>
              </a:rPr>
              <a:t>StorageManager</a:t>
            </a:r>
            <a:r>
              <a:rPr lang="en-GB" sz="1200" dirty="0">
                <a:latin typeface="Menlo" panose="020B0609030804020204" pitchFamily="49" charset="0"/>
              </a:rPr>
              <a:t> {</a:t>
            </a:r>
          </a:p>
          <a:p>
            <a:r>
              <a:rPr lang="en-GB" sz="1200" dirty="0">
                <a:latin typeface="Menlo" panose="020B0609030804020204" pitchFamily="49" charset="0"/>
              </a:rPr>
              <a:t>  static final </a:t>
            </a:r>
            <a:r>
              <a:rPr lang="en-GB" sz="1200" dirty="0" err="1">
                <a:latin typeface="Menlo" panose="020B0609030804020204" pitchFamily="49" charset="0"/>
              </a:rPr>
              <a:t>StorageManager</a:t>
            </a:r>
            <a:r>
              <a:rPr lang="en-GB" sz="1200" dirty="0">
                <a:latin typeface="Menlo" panose="020B0609030804020204" pitchFamily="49" charset="0"/>
              </a:rPr>
              <a:t> _singleton = </a:t>
            </a:r>
            <a:r>
              <a:rPr lang="en-GB" sz="1200" dirty="0" err="1">
                <a:latin typeface="Menlo" panose="020B0609030804020204" pitchFamily="49" charset="0"/>
              </a:rPr>
              <a:t>StorageManager</a:t>
            </a:r>
            <a:r>
              <a:rPr lang="en-GB" sz="1200" dirty="0">
                <a:latin typeface="Menlo" panose="020B0609030804020204" pitchFamily="49" charset="0"/>
              </a:rPr>
              <a:t>._internal();</a:t>
            </a:r>
          </a:p>
          <a:p>
            <a:r>
              <a:rPr lang="en-GB" sz="1200" dirty="0">
                <a:latin typeface="Menlo" panose="020B0609030804020204" pitchFamily="49" charset="0"/>
              </a:rPr>
              <a:t>  static final double _</a:t>
            </a:r>
            <a:r>
              <a:rPr lang="en-GB" sz="1200" dirty="0" err="1">
                <a:latin typeface="Menlo" panose="020B0609030804020204" pitchFamily="49" charset="0"/>
              </a:rPr>
              <a:t>totalSpace</a:t>
            </a:r>
            <a:r>
              <a:rPr lang="en-GB" sz="1200" dirty="0">
                <a:latin typeface="Menlo" panose="020B0609030804020204" pitchFamily="49" charset="0"/>
              </a:rPr>
              <a:t> = 2048;</a:t>
            </a:r>
          </a:p>
          <a:p>
            <a:r>
              <a:rPr lang="en-GB" sz="1200" dirty="0">
                <a:latin typeface="Menlo" panose="020B0609030804020204" pitchFamily="49" charset="0"/>
              </a:rPr>
              <a:t>  static double _</a:t>
            </a:r>
            <a:r>
              <a:rPr lang="en-GB" sz="1200" dirty="0" err="1">
                <a:latin typeface="Menlo" panose="020B0609030804020204" pitchFamily="49" charset="0"/>
              </a:rPr>
              <a:t>spaceOccupied</a:t>
            </a:r>
            <a:r>
              <a:rPr lang="en-GB" sz="1200" dirty="0">
                <a:latin typeface="Menlo" panose="020B0609030804020204" pitchFamily="49" charset="0"/>
              </a:rPr>
              <a:t> = 0;</a:t>
            </a:r>
          </a:p>
          <a:p>
            <a:endParaRPr lang="en-GB" sz="1200" dirty="0">
              <a:latin typeface="Menlo" panose="020B0609030804020204" pitchFamily="49" charset="0"/>
            </a:endParaRPr>
          </a:p>
          <a:p>
            <a:r>
              <a:rPr lang="en-GB" sz="1200" dirty="0">
                <a:latin typeface="Menlo" panose="020B0609030804020204" pitchFamily="49" charset="0"/>
              </a:rPr>
              <a:t>  factory </a:t>
            </a:r>
            <a:r>
              <a:rPr lang="en-GB" sz="1200" dirty="0" err="1">
                <a:latin typeface="Menlo" panose="020B0609030804020204" pitchFamily="49" charset="0"/>
              </a:rPr>
              <a:t>StorageManager</a:t>
            </a:r>
            <a:r>
              <a:rPr lang="en-GB" sz="1200" dirty="0">
                <a:latin typeface="Menlo" panose="020B0609030804020204" pitchFamily="49" charset="0"/>
              </a:rPr>
              <a:t>() {</a:t>
            </a:r>
          </a:p>
          <a:p>
            <a:r>
              <a:rPr lang="en-GB" sz="1200" dirty="0">
                <a:latin typeface="Menlo" panose="020B0609030804020204" pitchFamily="49" charset="0"/>
              </a:rPr>
              <a:t>    return _singleton;</a:t>
            </a:r>
          </a:p>
          <a:p>
            <a:r>
              <a:rPr lang="en-GB" sz="1200" dirty="0">
                <a:latin typeface="Menlo" panose="020B0609030804020204" pitchFamily="49" charset="0"/>
              </a:rPr>
              <a:t>  }//</a:t>
            </a:r>
            <a:r>
              <a:rPr lang="en-GB" sz="1200" dirty="0" err="1">
                <a:latin typeface="Menlo" panose="020B0609030804020204" pitchFamily="49" charset="0"/>
              </a:rPr>
              <a:t>StorageManager</a:t>
            </a:r>
            <a:endParaRPr lang="en-GB" sz="1200" dirty="0">
              <a:latin typeface="Menlo" panose="020B0609030804020204" pitchFamily="49" charset="0"/>
            </a:endParaRPr>
          </a:p>
          <a:p>
            <a:endParaRPr lang="en-GB" sz="1200" dirty="0">
              <a:latin typeface="Menlo" panose="020B0609030804020204" pitchFamily="49" charset="0"/>
            </a:endParaRPr>
          </a:p>
          <a:p>
            <a:r>
              <a:rPr lang="en-GB" sz="1200" dirty="0">
                <a:latin typeface="Menlo" panose="020B0609030804020204" pitchFamily="49" charset="0"/>
              </a:rPr>
              <a:t>  static double get </a:t>
            </a:r>
            <a:r>
              <a:rPr lang="en-GB" sz="1200" dirty="0" err="1">
                <a:latin typeface="Menlo" panose="020B0609030804020204" pitchFamily="49" charset="0"/>
              </a:rPr>
              <a:t>freeSpace</a:t>
            </a:r>
            <a:r>
              <a:rPr lang="en-GB" sz="1200" dirty="0">
                <a:latin typeface="Menlo" panose="020B0609030804020204" pitchFamily="49" charset="0"/>
              </a:rPr>
              <a:t> =&gt; _</a:t>
            </a:r>
            <a:r>
              <a:rPr lang="en-GB" sz="1200" dirty="0" err="1">
                <a:latin typeface="Menlo" panose="020B0609030804020204" pitchFamily="49" charset="0"/>
              </a:rPr>
              <a:t>totalSpace</a:t>
            </a:r>
            <a:r>
              <a:rPr lang="en-GB" sz="1200" dirty="0">
                <a:latin typeface="Menlo" panose="020B0609030804020204" pitchFamily="49" charset="0"/>
              </a:rPr>
              <a:t> - _</a:t>
            </a:r>
            <a:r>
              <a:rPr lang="en-GB" sz="1200" dirty="0" err="1">
                <a:latin typeface="Menlo" panose="020B0609030804020204" pitchFamily="49" charset="0"/>
              </a:rPr>
              <a:t>spaceOccupied</a:t>
            </a:r>
            <a:r>
              <a:rPr lang="en-GB" sz="1200" dirty="0">
                <a:latin typeface="Menlo" panose="020B0609030804020204" pitchFamily="49" charset="0"/>
              </a:rPr>
              <a:t>;</a:t>
            </a:r>
          </a:p>
          <a:p>
            <a:r>
              <a:rPr lang="en-GB" sz="1200" dirty="0">
                <a:latin typeface="Menlo" panose="020B0609030804020204" pitchFamily="49" charset="0"/>
              </a:rPr>
              <a:t>  </a:t>
            </a:r>
          </a:p>
          <a:p>
            <a:r>
              <a:rPr lang="en-GB" sz="1200" dirty="0">
                <a:latin typeface="Menlo" panose="020B0609030804020204" pitchFamily="49" charset="0"/>
              </a:rPr>
              <a:t>  void store(double space){</a:t>
            </a:r>
          </a:p>
          <a:p>
            <a:r>
              <a:rPr lang="en-GB" sz="1200" dirty="0">
                <a:latin typeface="Menlo" panose="020B0609030804020204" pitchFamily="49" charset="0"/>
              </a:rPr>
              <a:t>    if((</a:t>
            </a:r>
            <a:r>
              <a:rPr lang="en-GB" sz="1200" dirty="0" err="1">
                <a:latin typeface="Menlo" panose="020B0609030804020204" pitchFamily="49" charset="0"/>
              </a:rPr>
              <a:t>freeSpace</a:t>
            </a:r>
            <a:r>
              <a:rPr lang="en-GB" sz="1200" dirty="0">
                <a:latin typeface="Menlo" panose="020B0609030804020204" pitchFamily="49" charset="0"/>
              </a:rPr>
              <a:t> - space) &lt; 0){</a:t>
            </a:r>
          </a:p>
          <a:p>
            <a:r>
              <a:rPr lang="en-GB" sz="1200" dirty="0">
                <a:latin typeface="Menlo" panose="020B0609030804020204" pitchFamily="49" charset="0"/>
              </a:rPr>
              <a:t>      print('Not enough space!');</a:t>
            </a:r>
          </a:p>
          <a:p>
            <a:r>
              <a:rPr lang="en-GB" sz="1200" dirty="0">
                <a:latin typeface="Menlo" panose="020B0609030804020204" pitchFamily="49" charset="0"/>
              </a:rPr>
              <a:t>    }//if</a:t>
            </a:r>
          </a:p>
          <a:p>
            <a:r>
              <a:rPr lang="en-GB" sz="1200" dirty="0">
                <a:latin typeface="Menlo" panose="020B0609030804020204" pitchFamily="49" charset="0"/>
              </a:rPr>
              <a:t>    else{</a:t>
            </a:r>
          </a:p>
          <a:p>
            <a:r>
              <a:rPr lang="en-GB" sz="1200" dirty="0">
                <a:latin typeface="Menlo" panose="020B0609030804020204" pitchFamily="49" charset="0"/>
              </a:rPr>
              <a:t>      _</a:t>
            </a:r>
            <a:r>
              <a:rPr lang="en-GB" sz="1200" dirty="0" err="1">
                <a:latin typeface="Menlo" panose="020B0609030804020204" pitchFamily="49" charset="0"/>
              </a:rPr>
              <a:t>spaceOccupied</a:t>
            </a:r>
            <a:r>
              <a:rPr lang="en-GB" sz="1200" dirty="0">
                <a:latin typeface="Menlo" panose="020B0609030804020204" pitchFamily="49" charset="0"/>
              </a:rPr>
              <a:t> += space;</a:t>
            </a:r>
          </a:p>
          <a:p>
            <a:r>
              <a:rPr lang="en-GB" sz="1200" dirty="0">
                <a:latin typeface="Menlo" panose="020B0609030804020204" pitchFamily="49" charset="0"/>
              </a:rPr>
              <a:t>      print('Stored $space MB');</a:t>
            </a:r>
          </a:p>
          <a:p>
            <a:r>
              <a:rPr lang="en-GB" sz="1200" dirty="0">
                <a:latin typeface="Menlo" panose="020B0609030804020204" pitchFamily="49" charset="0"/>
              </a:rPr>
              <a:t>    }//else</a:t>
            </a:r>
          </a:p>
          <a:p>
            <a:r>
              <a:rPr lang="en-GB" sz="1200" dirty="0">
                <a:latin typeface="Menlo" panose="020B0609030804020204" pitchFamily="49" charset="0"/>
              </a:rPr>
              <a:t>  }//space</a:t>
            </a:r>
          </a:p>
          <a:p>
            <a:r>
              <a:rPr lang="en-GB" sz="1200" dirty="0">
                <a:latin typeface="Menlo" panose="020B0609030804020204" pitchFamily="49" charset="0"/>
              </a:rPr>
              <a:t>  @override</a:t>
            </a:r>
          </a:p>
          <a:p>
            <a:r>
              <a:rPr lang="en-GB" sz="1200" dirty="0">
                <a:latin typeface="Menlo" panose="020B0609030804020204" pitchFamily="49" charset="0"/>
              </a:rPr>
              <a:t>  String </a:t>
            </a:r>
            <a:r>
              <a:rPr lang="en-GB" sz="1200" dirty="0" err="1">
                <a:latin typeface="Menlo" panose="020B0609030804020204" pitchFamily="49" charset="0"/>
              </a:rPr>
              <a:t>toString</a:t>
            </a:r>
            <a:r>
              <a:rPr lang="en-GB" sz="1200" dirty="0">
                <a:latin typeface="Menlo" panose="020B0609030804020204" pitchFamily="49" charset="0"/>
              </a:rPr>
              <a:t>() =&gt; "Space: $_</a:t>
            </a:r>
            <a:r>
              <a:rPr lang="en-GB" sz="1200" dirty="0" err="1">
                <a:latin typeface="Menlo" panose="020B0609030804020204" pitchFamily="49" charset="0"/>
              </a:rPr>
              <a:t>spaceOccupied</a:t>
            </a:r>
            <a:r>
              <a:rPr lang="en-GB" sz="1200" dirty="0">
                <a:latin typeface="Menlo" panose="020B0609030804020204" pitchFamily="49" charset="0"/>
              </a:rPr>
              <a:t> (of $_</a:t>
            </a:r>
            <a:r>
              <a:rPr lang="en-GB" sz="1200" dirty="0" err="1">
                <a:latin typeface="Menlo" panose="020B0609030804020204" pitchFamily="49" charset="0"/>
              </a:rPr>
              <a:t>totalSpace</a:t>
            </a:r>
            <a:r>
              <a:rPr lang="en-GB" sz="1200" dirty="0">
                <a:latin typeface="Menlo" panose="020B0609030804020204" pitchFamily="49" charset="0"/>
              </a:rPr>
              <a:t>) MB";</a:t>
            </a:r>
          </a:p>
          <a:p>
            <a:endParaRPr lang="en-GB" sz="1200" dirty="0">
              <a:latin typeface="Menlo" panose="020B0609030804020204" pitchFamily="49" charset="0"/>
            </a:endParaRPr>
          </a:p>
          <a:p>
            <a:r>
              <a:rPr lang="en-GB" sz="1200" dirty="0">
                <a:latin typeface="Menlo" panose="020B0609030804020204" pitchFamily="49" charset="0"/>
              </a:rPr>
              <a:t>  </a:t>
            </a:r>
            <a:r>
              <a:rPr lang="en-GB" sz="1200" dirty="0" err="1">
                <a:latin typeface="Menlo" panose="020B0609030804020204" pitchFamily="49" charset="0"/>
              </a:rPr>
              <a:t>StorageManager</a:t>
            </a:r>
            <a:r>
              <a:rPr lang="en-GB" sz="1200" dirty="0">
                <a:latin typeface="Menlo" panose="020B0609030804020204" pitchFamily="49" charset="0"/>
              </a:rPr>
              <a:t>._internal();</a:t>
            </a:r>
          </a:p>
          <a:p>
            <a:r>
              <a:rPr lang="en-GB" sz="1200" dirty="0">
                <a:latin typeface="Menlo" panose="020B0609030804020204" pitchFamily="49" charset="0"/>
              </a:rPr>
              <a:t>}//</a:t>
            </a:r>
            <a:r>
              <a:rPr lang="en-GB" sz="1200" dirty="0" err="1">
                <a:latin typeface="Menlo" panose="020B0609030804020204" pitchFamily="49" charset="0"/>
              </a:rPr>
              <a:t>StorageManager</a:t>
            </a:r>
            <a:endParaRPr lang="en-GB" sz="1200" b="0" dirty="0">
              <a:effectLst/>
              <a:latin typeface="Menlo" panose="020B0609030804020204" pitchFamily="49" charset="0"/>
            </a:endParaRPr>
          </a:p>
        </p:txBody>
      </p:sp>
      <p:sp>
        <p:nvSpPr>
          <p:cNvPr id="5" name="TextBox 4">
            <a:extLst>
              <a:ext uri="{FF2B5EF4-FFF2-40B4-BE49-F238E27FC236}">
                <a16:creationId xmlns:a16="http://schemas.microsoft.com/office/drawing/2014/main" id="{C1B3E72D-6334-AFB2-8927-DC7E62B24739}"/>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1172250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Singleton (Example in Dart)</a:t>
            </a:r>
            <a:endParaRPr lang="en-IT" dirty="0"/>
          </a:p>
        </p:txBody>
      </p:sp>
      <p:sp>
        <p:nvSpPr>
          <p:cNvPr id="52" name="Content Placeholder 2">
            <a:extLst>
              <a:ext uri="{FF2B5EF4-FFF2-40B4-BE49-F238E27FC236}">
                <a16:creationId xmlns:a16="http://schemas.microsoft.com/office/drawing/2014/main" id="{C8C1FA15-98EA-8E44-BA58-892E4E6F54B8}"/>
              </a:ext>
            </a:extLst>
          </p:cNvPr>
          <p:cNvSpPr txBox="1">
            <a:spLocks/>
          </p:cNvSpPr>
          <p:nvPr/>
        </p:nvSpPr>
        <p:spPr>
          <a:xfrm>
            <a:off x="9109430" y="1893024"/>
            <a:ext cx="2654398" cy="112290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a:t>
            </a:r>
            <a:r>
              <a:rPr lang="en-IT" sz="1600" b="1" dirty="0">
                <a:latin typeface="Aptos" panose="020B0004020202020204" pitchFamily="34" charset="0"/>
                <a:ea typeface="Palatino" pitchFamily="2" charset="77"/>
              </a:rPr>
              <a:t> _ </a:t>
            </a:r>
            <a:r>
              <a:rPr lang="en-IT" sz="1600" dirty="0">
                <a:latin typeface="Aptos" panose="020B0004020202020204" pitchFamily="34" charset="0"/>
                <a:ea typeface="Palatino" pitchFamily="2" charset="77"/>
              </a:rPr>
              <a:t>before the name of a variable marks it as private (only accessible inside the class)</a:t>
            </a:r>
          </a:p>
        </p:txBody>
      </p:sp>
      <p:sp>
        <p:nvSpPr>
          <p:cNvPr id="3" name="Slide Number Placeholder 2">
            <a:extLst>
              <a:ext uri="{FF2B5EF4-FFF2-40B4-BE49-F238E27FC236}">
                <a16:creationId xmlns:a16="http://schemas.microsoft.com/office/drawing/2014/main" id="{37B9E278-5894-C14F-9C98-A48EDE5A74A1}"/>
              </a:ext>
            </a:extLst>
          </p:cNvPr>
          <p:cNvSpPr>
            <a:spLocks noGrp="1"/>
          </p:cNvSpPr>
          <p:nvPr>
            <p:ph type="sldNum" sz="quarter" idx="12"/>
          </p:nvPr>
        </p:nvSpPr>
        <p:spPr/>
        <p:txBody>
          <a:bodyPr/>
          <a:lstStyle/>
          <a:p>
            <a:fld id="{31DE2C5B-556E-47B8-A792-024C2FCA4ACC}" type="slidenum">
              <a:rPr lang="en-GB" smtClean="0"/>
              <a:t>52</a:t>
            </a:fld>
            <a:endParaRPr lang="en-GB"/>
          </a:p>
        </p:txBody>
      </p:sp>
      <p:sp>
        <p:nvSpPr>
          <p:cNvPr id="6" name="Rectangle 5">
            <a:extLst>
              <a:ext uri="{FF2B5EF4-FFF2-40B4-BE49-F238E27FC236}">
                <a16:creationId xmlns:a16="http://schemas.microsoft.com/office/drawing/2014/main" id="{26F228EE-8088-5049-8476-A8E5610B525D}"/>
              </a:ext>
            </a:extLst>
          </p:cNvPr>
          <p:cNvSpPr/>
          <p:nvPr/>
        </p:nvSpPr>
        <p:spPr>
          <a:xfrm>
            <a:off x="1030386" y="1647369"/>
            <a:ext cx="6973834" cy="470898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rPr>
              <a:t>class </a:t>
            </a:r>
            <a:r>
              <a:rPr lang="en-GB" sz="1200" dirty="0" err="1">
                <a:latin typeface="Menlo" panose="020B0609030804020204" pitchFamily="49" charset="0"/>
              </a:rPr>
              <a:t>StorageManager</a:t>
            </a:r>
            <a:r>
              <a:rPr lang="en-GB" sz="1200" dirty="0">
                <a:latin typeface="Menlo" panose="020B0609030804020204" pitchFamily="49" charset="0"/>
              </a:rPr>
              <a:t> {</a:t>
            </a:r>
          </a:p>
          <a:p>
            <a:r>
              <a:rPr lang="en-GB" sz="1200" dirty="0">
                <a:latin typeface="Menlo" panose="020B0609030804020204" pitchFamily="49" charset="0"/>
              </a:rPr>
              <a:t>  static final </a:t>
            </a:r>
            <a:r>
              <a:rPr lang="en-GB" sz="1200" dirty="0" err="1">
                <a:latin typeface="Menlo" panose="020B0609030804020204" pitchFamily="49" charset="0"/>
              </a:rPr>
              <a:t>StorageManager</a:t>
            </a:r>
            <a:r>
              <a:rPr lang="en-GB" sz="1200" dirty="0">
                <a:latin typeface="Menlo" panose="020B0609030804020204" pitchFamily="49" charset="0"/>
              </a:rPr>
              <a:t> _singleton = </a:t>
            </a:r>
            <a:r>
              <a:rPr lang="en-GB" sz="1200" dirty="0" err="1">
                <a:latin typeface="Menlo" panose="020B0609030804020204" pitchFamily="49" charset="0"/>
              </a:rPr>
              <a:t>StorageManager</a:t>
            </a:r>
            <a:r>
              <a:rPr lang="en-GB" sz="1200" dirty="0">
                <a:latin typeface="Menlo" panose="020B0609030804020204" pitchFamily="49" charset="0"/>
              </a:rPr>
              <a:t>.</a:t>
            </a:r>
            <a:r>
              <a:rPr lang="en-GB" sz="1200" dirty="0">
                <a:highlight>
                  <a:srgbClr val="FFFF00"/>
                </a:highlight>
                <a:latin typeface="Menlo" panose="020B0609030804020204" pitchFamily="49" charset="0"/>
              </a:rPr>
              <a:t>_</a:t>
            </a:r>
            <a:r>
              <a:rPr lang="en-GB" sz="1200" dirty="0">
                <a:latin typeface="Menlo" panose="020B0609030804020204" pitchFamily="49" charset="0"/>
              </a:rPr>
              <a:t>internal();</a:t>
            </a:r>
          </a:p>
          <a:p>
            <a:r>
              <a:rPr lang="en-GB" sz="1200" dirty="0">
                <a:latin typeface="Menlo" panose="020B0609030804020204" pitchFamily="49" charset="0"/>
              </a:rPr>
              <a:t>  </a:t>
            </a:r>
            <a:r>
              <a:rPr lang="en-GB" sz="1200" dirty="0">
                <a:highlight>
                  <a:srgbClr val="FFFF00"/>
                </a:highlight>
                <a:latin typeface="Menlo" panose="020B0609030804020204" pitchFamily="49" charset="0"/>
              </a:rPr>
              <a:t>static</a:t>
            </a:r>
            <a:r>
              <a:rPr lang="en-GB" sz="1200" dirty="0">
                <a:latin typeface="Menlo" panose="020B0609030804020204" pitchFamily="49" charset="0"/>
              </a:rPr>
              <a:t> final double _</a:t>
            </a:r>
            <a:r>
              <a:rPr lang="en-GB" sz="1200" dirty="0" err="1">
                <a:latin typeface="Menlo" panose="020B0609030804020204" pitchFamily="49" charset="0"/>
              </a:rPr>
              <a:t>totalSpace</a:t>
            </a:r>
            <a:r>
              <a:rPr lang="en-GB" sz="1200" dirty="0">
                <a:latin typeface="Menlo" panose="020B0609030804020204" pitchFamily="49" charset="0"/>
              </a:rPr>
              <a:t> = 2048;</a:t>
            </a:r>
          </a:p>
          <a:p>
            <a:r>
              <a:rPr lang="en-GB" sz="1200" dirty="0">
                <a:latin typeface="Menlo" panose="020B0609030804020204" pitchFamily="49" charset="0"/>
              </a:rPr>
              <a:t>  static double _</a:t>
            </a:r>
            <a:r>
              <a:rPr lang="en-GB" sz="1200" dirty="0" err="1">
                <a:latin typeface="Menlo" panose="020B0609030804020204" pitchFamily="49" charset="0"/>
              </a:rPr>
              <a:t>spaceOccupied</a:t>
            </a:r>
            <a:r>
              <a:rPr lang="en-GB" sz="1200" dirty="0">
                <a:latin typeface="Menlo" panose="020B0609030804020204" pitchFamily="49" charset="0"/>
              </a:rPr>
              <a:t> = 0;</a:t>
            </a:r>
          </a:p>
          <a:p>
            <a:endParaRPr lang="en-GB" sz="1200" dirty="0">
              <a:latin typeface="Menlo" panose="020B0609030804020204" pitchFamily="49" charset="0"/>
            </a:endParaRPr>
          </a:p>
          <a:p>
            <a:r>
              <a:rPr lang="en-GB" sz="1200" dirty="0">
                <a:latin typeface="Menlo" panose="020B0609030804020204" pitchFamily="49" charset="0"/>
              </a:rPr>
              <a:t>  </a:t>
            </a:r>
            <a:r>
              <a:rPr lang="en-GB" sz="1200" dirty="0">
                <a:highlight>
                  <a:srgbClr val="FFFF00"/>
                </a:highlight>
                <a:latin typeface="Menlo" panose="020B0609030804020204" pitchFamily="49" charset="0"/>
              </a:rPr>
              <a:t>factory</a:t>
            </a:r>
            <a:r>
              <a:rPr lang="en-GB" sz="1200" dirty="0">
                <a:latin typeface="Menlo" panose="020B0609030804020204" pitchFamily="49" charset="0"/>
              </a:rPr>
              <a:t> </a:t>
            </a:r>
            <a:r>
              <a:rPr lang="en-GB" sz="1200" dirty="0" err="1">
                <a:latin typeface="Menlo" panose="020B0609030804020204" pitchFamily="49" charset="0"/>
              </a:rPr>
              <a:t>StorageManager</a:t>
            </a:r>
            <a:r>
              <a:rPr lang="en-GB" sz="1200" dirty="0">
                <a:latin typeface="Menlo" panose="020B0609030804020204" pitchFamily="49" charset="0"/>
              </a:rPr>
              <a:t>() {</a:t>
            </a:r>
          </a:p>
          <a:p>
            <a:r>
              <a:rPr lang="en-GB" sz="1200" dirty="0">
                <a:latin typeface="Menlo" panose="020B0609030804020204" pitchFamily="49" charset="0"/>
              </a:rPr>
              <a:t>    return _singleton;</a:t>
            </a:r>
          </a:p>
          <a:p>
            <a:r>
              <a:rPr lang="en-GB" sz="1200" dirty="0">
                <a:latin typeface="Menlo" panose="020B0609030804020204" pitchFamily="49" charset="0"/>
              </a:rPr>
              <a:t>  }//</a:t>
            </a:r>
            <a:r>
              <a:rPr lang="en-GB" sz="1200" dirty="0" err="1">
                <a:latin typeface="Menlo" panose="020B0609030804020204" pitchFamily="49" charset="0"/>
              </a:rPr>
              <a:t>StorageManager</a:t>
            </a:r>
            <a:endParaRPr lang="en-GB" sz="1200" dirty="0">
              <a:latin typeface="Menlo" panose="020B0609030804020204" pitchFamily="49" charset="0"/>
            </a:endParaRPr>
          </a:p>
          <a:p>
            <a:endParaRPr lang="en-GB" sz="1200" dirty="0">
              <a:latin typeface="Menlo" panose="020B0609030804020204" pitchFamily="49" charset="0"/>
            </a:endParaRPr>
          </a:p>
          <a:p>
            <a:r>
              <a:rPr lang="en-GB" sz="1200" dirty="0">
                <a:latin typeface="Menlo" panose="020B0609030804020204" pitchFamily="49" charset="0"/>
              </a:rPr>
              <a:t>  static double </a:t>
            </a:r>
            <a:r>
              <a:rPr lang="en-GB" sz="1200" dirty="0">
                <a:highlight>
                  <a:srgbClr val="FFFF00"/>
                </a:highlight>
                <a:latin typeface="Menlo" panose="020B0609030804020204" pitchFamily="49" charset="0"/>
              </a:rPr>
              <a:t>get</a:t>
            </a:r>
            <a:r>
              <a:rPr lang="en-GB" sz="1200" dirty="0">
                <a:latin typeface="Menlo" panose="020B0609030804020204" pitchFamily="49" charset="0"/>
              </a:rPr>
              <a:t> </a:t>
            </a:r>
            <a:r>
              <a:rPr lang="en-GB" sz="1200" dirty="0" err="1">
                <a:latin typeface="Menlo" panose="020B0609030804020204" pitchFamily="49" charset="0"/>
              </a:rPr>
              <a:t>freeSpace</a:t>
            </a:r>
            <a:r>
              <a:rPr lang="en-GB" sz="1200" dirty="0">
                <a:latin typeface="Menlo" panose="020B0609030804020204" pitchFamily="49" charset="0"/>
              </a:rPr>
              <a:t> =&gt; _</a:t>
            </a:r>
            <a:r>
              <a:rPr lang="en-GB" sz="1200" dirty="0" err="1">
                <a:latin typeface="Menlo" panose="020B0609030804020204" pitchFamily="49" charset="0"/>
              </a:rPr>
              <a:t>totalSpace</a:t>
            </a:r>
            <a:r>
              <a:rPr lang="en-GB" sz="1200" dirty="0">
                <a:latin typeface="Menlo" panose="020B0609030804020204" pitchFamily="49" charset="0"/>
              </a:rPr>
              <a:t> - _</a:t>
            </a:r>
            <a:r>
              <a:rPr lang="en-GB" sz="1200" dirty="0" err="1">
                <a:latin typeface="Menlo" panose="020B0609030804020204" pitchFamily="49" charset="0"/>
              </a:rPr>
              <a:t>spaceOccupied</a:t>
            </a:r>
            <a:r>
              <a:rPr lang="en-GB" sz="1200" dirty="0">
                <a:latin typeface="Menlo" panose="020B0609030804020204" pitchFamily="49" charset="0"/>
              </a:rPr>
              <a:t>;</a:t>
            </a:r>
          </a:p>
          <a:p>
            <a:r>
              <a:rPr lang="en-GB" sz="1200" dirty="0">
                <a:latin typeface="Menlo" panose="020B0609030804020204" pitchFamily="49" charset="0"/>
              </a:rPr>
              <a:t>  </a:t>
            </a:r>
          </a:p>
          <a:p>
            <a:r>
              <a:rPr lang="en-GB" sz="1200" dirty="0">
                <a:latin typeface="Menlo" panose="020B0609030804020204" pitchFamily="49" charset="0"/>
              </a:rPr>
              <a:t>  void store(double space){</a:t>
            </a:r>
          </a:p>
          <a:p>
            <a:r>
              <a:rPr lang="en-GB" sz="1200" dirty="0">
                <a:latin typeface="Menlo" panose="020B0609030804020204" pitchFamily="49" charset="0"/>
              </a:rPr>
              <a:t>    if((</a:t>
            </a:r>
            <a:r>
              <a:rPr lang="en-GB" sz="1200" dirty="0" err="1">
                <a:latin typeface="Menlo" panose="020B0609030804020204" pitchFamily="49" charset="0"/>
              </a:rPr>
              <a:t>freeSpace</a:t>
            </a:r>
            <a:r>
              <a:rPr lang="en-GB" sz="1200" dirty="0">
                <a:latin typeface="Menlo" panose="020B0609030804020204" pitchFamily="49" charset="0"/>
              </a:rPr>
              <a:t> - space) &lt; 0){</a:t>
            </a:r>
          </a:p>
          <a:p>
            <a:r>
              <a:rPr lang="en-GB" sz="1200" dirty="0">
                <a:latin typeface="Menlo" panose="020B0609030804020204" pitchFamily="49" charset="0"/>
              </a:rPr>
              <a:t>      print('Not enough space!');</a:t>
            </a:r>
          </a:p>
          <a:p>
            <a:r>
              <a:rPr lang="en-GB" sz="1200" dirty="0">
                <a:latin typeface="Menlo" panose="020B0609030804020204" pitchFamily="49" charset="0"/>
              </a:rPr>
              <a:t>    }//if</a:t>
            </a:r>
          </a:p>
          <a:p>
            <a:r>
              <a:rPr lang="en-GB" sz="1200" dirty="0">
                <a:latin typeface="Menlo" panose="020B0609030804020204" pitchFamily="49" charset="0"/>
              </a:rPr>
              <a:t>    else{</a:t>
            </a:r>
          </a:p>
          <a:p>
            <a:r>
              <a:rPr lang="en-GB" sz="1200" dirty="0">
                <a:latin typeface="Menlo" panose="020B0609030804020204" pitchFamily="49" charset="0"/>
              </a:rPr>
              <a:t>      _</a:t>
            </a:r>
            <a:r>
              <a:rPr lang="en-GB" sz="1200" dirty="0" err="1">
                <a:latin typeface="Menlo" panose="020B0609030804020204" pitchFamily="49" charset="0"/>
              </a:rPr>
              <a:t>spaceOccupied</a:t>
            </a:r>
            <a:r>
              <a:rPr lang="en-GB" sz="1200" dirty="0">
                <a:latin typeface="Menlo" panose="020B0609030804020204" pitchFamily="49" charset="0"/>
              </a:rPr>
              <a:t> += space;</a:t>
            </a:r>
          </a:p>
          <a:p>
            <a:r>
              <a:rPr lang="en-GB" sz="1200" dirty="0">
                <a:latin typeface="Menlo" panose="020B0609030804020204" pitchFamily="49" charset="0"/>
              </a:rPr>
              <a:t>      print('Stored $space MB');</a:t>
            </a:r>
          </a:p>
          <a:p>
            <a:r>
              <a:rPr lang="en-GB" sz="1200" dirty="0">
                <a:latin typeface="Menlo" panose="020B0609030804020204" pitchFamily="49" charset="0"/>
              </a:rPr>
              <a:t>    }//else</a:t>
            </a:r>
          </a:p>
          <a:p>
            <a:r>
              <a:rPr lang="en-GB" sz="1200" dirty="0">
                <a:latin typeface="Menlo" panose="020B0609030804020204" pitchFamily="49" charset="0"/>
              </a:rPr>
              <a:t>  }//space</a:t>
            </a:r>
          </a:p>
          <a:p>
            <a:r>
              <a:rPr lang="en-GB" sz="1200" dirty="0">
                <a:latin typeface="Menlo" panose="020B0609030804020204" pitchFamily="49" charset="0"/>
              </a:rPr>
              <a:t>  @override</a:t>
            </a:r>
          </a:p>
          <a:p>
            <a:r>
              <a:rPr lang="en-GB" sz="1200" dirty="0">
                <a:latin typeface="Menlo" panose="020B0609030804020204" pitchFamily="49" charset="0"/>
              </a:rPr>
              <a:t>  String </a:t>
            </a:r>
            <a:r>
              <a:rPr lang="en-GB" sz="1200" dirty="0" err="1">
                <a:latin typeface="Menlo" panose="020B0609030804020204" pitchFamily="49" charset="0"/>
              </a:rPr>
              <a:t>toString</a:t>
            </a:r>
            <a:r>
              <a:rPr lang="en-GB" sz="1200" dirty="0">
                <a:latin typeface="Menlo" panose="020B0609030804020204" pitchFamily="49" charset="0"/>
              </a:rPr>
              <a:t>() =&gt; "Space: $_</a:t>
            </a:r>
            <a:r>
              <a:rPr lang="en-GB" sz="1200" dirty="0" err="1">
                <a:latin typeface="Menlo" panose="020B0609030804020204" pitchFamily="49" charset="0"/>
              </a:rPr>
              <a:t>spaceOccupied</a:t>
            </a:r>
            <a:r>
              <a:rPr lang="en-GB" sz="1200" dirty="0">
                <a:latin typeface="Menlo" panose="020B0609030804020204" pitchFamily="49" charset="0"/>
              </a:rPr>
              <a:t> (of $_</a:t>
            </a:r>
            <a:r>
              <a:rPr lang="en-GB" sz="1200" dirty="0" err="1">
                <a:latin typeface="Menlo" panose="020B0609030804020204" pitchFamily="49" charset="0"/>
              </a:rPr>
              <a:t>totalSpace</a:t>
            </a:r>
            <a:r>
              <a:rPr lang="en-GB" sz="1200" dirty="0">
                <a:latin typeface="Menlo" panose="020B0609030804020204" pitchFamily="49" charset="0"/>
              </a:rPr>
              <a:t>) MB";</a:t>
            </a:r>
          </a:p>
          <a:p>
            <a:endParaRPr lang="en-GB" sz="1200" dirty="0">
              <a:latin typeface="Menlo" panose="020B0609030804020204" pitchFamily="49" charset="0"/>
            </a:endParaRPr>
          </a:p>
          <a:p>
            <a:r>
              <a:rPr lang="en-GB" sz="1200" dirty="0">
                <a:latin typeface="Menlo" panose="020B0609030804020204" pitchFamily="49" charset="0"/>
              </a:rPr>
              <a:t>  </a:t>
            </a:r>
            <a:r>
              <a:rPr lang="en-GB" sz="1200" dirty="0" err="1">
                <a:latin typeface="Menlo" panose="020B0609030804020204" pitchFamily="49" charset="0"/>
              </a:rPr>
              <a:t>StorageManager</a:t>
            </a:r>
            <a:r>
              <a:rPr lang="en-GB" sz="1200" dirty="0">
                <a:latin typeface="Menlo" panose="020B0609030804020204" pitchFamily="49" charset="0"/>
              </a:rPr>
              <a:t>._internal();</a:t>
            </a:r>
          </a:p>
          <a:p>
            <a:r>
              <a:rPr lang="en-GB" sz="1200" dirty="0">
                <a:latin typeface="Menlo" panose="020B0609030804020204" pitchFamily="49" charset="0"/>
              </a:rPr>
              <a:t>}//</a:t>
            </a:r>
            <a:r>
              <a:rPr lang="en-GB" sz="1200" dirty="0" err="1">
                <a:latin typeface="Menlo" panose="020B0609030804020204" pitchFamily="49" charset="0"/>
              </a:rPr>
              <a:t>StorageManager</a:t>
            </a:r>
            <a:endParaRPr lang="en-GB" sz="1200" b="0" dirty="0">
              <a:effectLst/>
              <a:latin typeface="Menlo" panose="020B0609030804020204" pitchFamily="49" charset="0"/>
            </a:endParaRPr>
          </a:p>
        </p:txBody>
      </p:sp>
      <p:cxnSp>
        <p:nvCxnSpPr>
          <p:cNvPr id="8" name="Straight Arrow Connector 7">
            <a:extLst>
              <a:ext uri="{FF2B5EF4-FFF2-40B4-BE49-F238E27FC236}">
                <a16:creationId xmlns:a16="http://schemas.microsoft.com/office/drawing/2014/main" id="{32EE2303-BEB5-4443-8602-F1188D48A778}"/>
              </a:ext>
            </a:extLst>
          </p:cNvPr>
          <p:cNvCxnSpPr>
            <a:cxnSpLocks/>
            <a:stCxn id="52" idx="1"/>
          </p:cNvCxnSpPr>
          <p:nvPr/>
        </p:nvCxnSpPr>
        <p:spPr>
          <a:xfrm flipH="1" flipV="1">
            <a:off x="6548907" y="2099256"/>
            <a:ext cx="2560523" cy="3552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Content Placeholder 2">
            <a:extLst>
              <a:ext uri="{FF2B5EF4-FFF2-40B4-BE49-F238E27FC236}">
                <a16:creationId xmlns:a16="http://schemas.microsoft.com/office/drawing/2014/main" id="{2976C219-3058-3747-8D3A-0C04EA023A83}"/>
              </a:ext>
            </a:extLst>
          </p:cNvPr>
          <p:cNvSpPr txBox="1">
            <a:spLocks/>
          </p:cNvSpPr>
          <p:nvPr/>
        </p:nvSpPr>
        <p:spPr>
          <a:xfrm>
            <a:off x="9109430" y="3239679"/>
            <a:ext cx="2654398" cy="1122908"/>
          </a:xfrm>
          <a:prstGeom prst="rect">
            <a:avLst/>
          </a:prstGeom>
          <a:solidFill>
            <a:schemeClr val="accent6">
              <a:lumMod val="20000"/>
              <a:lumOff val="80000"/>
            </a:schemeClr>
          </a:solidFill>
        </p:spPr>
        <p:txBody>
          <a:bodyPr vert="horz" lIns="91440" tIns="45720" rIns="91440" bIns="45720" rtlCol="0" anchor="ctr">
            <a:normAutofit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a:t>
            </a:r>
            <a:r>
              <a:rPr lang="en-IT" sz="1600" b="1" dirty="0">
                <a:latin typeface="Aptos" panose="020B0004020202020204" pitchFamily="34" charset="0"/>
                <a:ea typeface="Palatino" pitchFamily="2" charset="77"/>
              </a:rPr>
              <a:t> </a:t>
            </a:r>
            <a:r>
              <a:rPr lang="en-IT" sz="1600" b="1" dirty="0">
                <a:latin typeface="Menlo" panose="020B0609030804020204" pitchFamily="49" charset="0"/>
                <a:ea typeface="Menlo" panose="020B0609030804020204" pitchFamily="49" charset="0"/>
                <a:cs typeface="Menlo" panose="020B0609030804020204" pitchFamily="49" charset="0"/>
              </a:rPr>
              <a:t>static</a:t>
            </a:r>
            <a:r>
              <a:rPr lang="en-IT" sz="1600" b="1" dirty="0">
                <a:latin typeface="Aptos" panose="020B0004020202020204" pitchFamily="34" charset="0"/>
                <a:ea typeface="Palatino" pitchFamily="2" charset="77"/>
              </a:rPr>
              <a:t> </a:t>
            </a:r>
            <a:r>
              <a:rPr lang="en-IT" sz="1600" dirty="0">
                <a:latin typeface="Aptos" panose="020B0004020202020204" pitchFamily="34" charset="0"/>
                <a:ea typeface="Palatino" pitchFamily="2" charset="77"/>
              </a:rPr>
              <a:t>keyword marks a static variable or method, i.e., variable or method proper of the class (not of an instance object).</a:t>
            </a:r>
          </a:p>
        </p:txBody>
      </p:sp>
      <p:cxnSp>
        <p:nvCxnSpPr>
          <p:cNvPr id="13" name="Straight Arrow Connector 12">
            <a:extLst>
              <a:ext uri="{FF2B5EF4-FFF2-40B4-BE49-F238E27FC236}">
                <a16:creationId xmlns:a16="http://schemas.microsoft.com/office/drawing/2014/main" id="{A60FBC6D-8B5C-DC40-B5D0-FBEB6EDF282E}"/>
              </a:ext>
            </a:extLst>
          </p:cNvPr>
          <p:cNvCxnSpPr>
            <a:cxnSpLocks/>
            <a:stCxn id="12" idx="1"/>
          </p:cNvCxnSpPr>
          <p:nvPr/>
        </p:nvCxnSpPr>
        <p:spPr>
          <a:xfrm flipH="1" flipV="1">
            <a:off x="4655713" y="2276867"/>
            <a:ext cx="4453717" cy="15242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Content Placeholder 2">
            <a:extLst>
              <a:ext uri="{FF2B5EF4-FFF2-40B4-BE49-F238E27FC236}">
                <a16:creationId xmlns:a16="http://schemas.microsoft.com/office/drawing/2014/main" id="{E1368950-4F17-BE49-AF46-E432DC6FC637}"/>
              </a:ext>
            </a:extLst>
          </p:cNvPr>
          <p:cNvSpPr txBox="1">
            <a:spLocks/>
          </p:cNvSpPr>
          <p:nvPr/>
        </p:nvSpPr>
        <p:spPr>
          <a:xfrm>
            <a:off x="9109430" y="4520530"/>
            <a:ext cx="2654398" cy="112290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a:t>
            </a:r>
            <a:r>
              <a:rPr lang="en-IT" sz="1600" b="1" dirty="0">
                <a:latin typeface="Aptos" panose="020B0004020202020204" pitchFamily="34" charset="0"/>
                <a:ea typeface="Palatino" pitchFamily="2" charset="77"/>
              </a:rPr>
              <a:t> </a:t>
            </a:r>
            <a:r>
              <a:rPr lang="en-IT" sz="1600" b="1" dirty="0">
                <a:latin typeface="Menlo" panose="020B0609030804020204" pitchFamily="49" charset="0"/>
                <a:ea typeface="Menlo" panose="020B0609030804020204" pitchFamily="49" charset="0"/>
                <a:cs typeface="Menlo" panose="020B0609030804020204" pitchFamily="49" charset="0"/>
              </a:rPr>
              <a:t>factory</a:t>
            </a:r>
            <a:r>
              <a:rPr lang="en-IT" sz="1600" b="1" dirty="0">
                <a:latin typeface="Aptos" panose="020B0004020202020204" pitchFamily="34" charset="0"/>
                <a:ea typeface="Palatino" pitchFamily="2" charset="77"/>
              </a:rPr>
              <a:t> </a:t>
            </a:r>
            <a:r>
              <a:rPr lang="en-IT" sz="1600" dirty="0">
                <a:latin typeface="Aptos" panose="020B0004020202020204" pitchFamily="34" charset="0"/>
                <a:ea typeface="Palatino" pitchFamily="2" charset="77"/>
              </a:rPr>
              <a:t>keyword marks a constructor that does not always return a new instance of the class</a:t>
            </a:r>
          </a:p>
        </p:txBody>
      </p:sp>
      <p:cxnSp>
        <p:nvCxnSpPr>
          <p:cNvPr id="17" name="Straight Arrow Connector 16">
            <a:extLst>
              <a:ext uri="{FF2B5EF4-FFF2-40B4-BE49-F238E27FC236}">
                <a16:creationId xmlns:a16="http://schemas.microsoft.com/office/drawing/2014/main" id="{A224A52C-8E7D-4F48-830D-747BCB08F456}"/>
              </a:ext>
            </a:extLst>
          </p:cNvPr>
          <p:cNvCxnSpPr>
            <a:cxnSpLocks/>
            <a:stCxn id="16" idx="1"/>
          </p:cNvCxnSpPr>
          <p:nvPr/>
        </p:nvCxnSpPr>
        <p:spPr>
          <a:xfrm flipH="1" flipV="1">
            <a:off x="3464417" y="2820473"/>
            <a:ext cx="5645013" cy="22615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Content Placeholder 2">
            <a:extLst>
              <a:ext uri="{FF2B5EF4-FFF2-40B4-BE49-F238E27FC236}">
                <a16:creationId xmlns:a16="http://schemas.microsoft.com/office/drawing/2014/main" id="{A9FAFDEA-BD1D-EB40-A7E1-CF49D231E3FD}"/>
              </a:ext>
            </a:extLst>
          </p:cNvPr>
          <p:cNvSpPr txBox="1">
            <a:spLocks/>
          </p:cNvSpPr>
          <p:nvPr/>
        </p:nvSpPr>
        <p:spPr>
          <a:xfrm>
            <a:off x="9109430" y="5693634"/>
            <a:ext cx="2654398" cy="112290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The</a:t>
            </a:r>
            <a:r>
              <a:rPr lang="en-IT" sz="1600" b="1" dirty="0">
                <a:latin typeface="Aptos" panose="020B0004020202020204" pitchFamily="34" charset="0"/>
                <a:ea typeface="Palatino" pitchFamily="2" charset="77"/>
              </a:rPr>
              <a:t> </a:t>
            </a:r>
            <a:r>
              <a:rPr lang="en-IT" sz="1600" b="1" dirty="0">
                <a:latin typeface="Menlo" panose="020B0609030804020204" pitchFamily="49" charset="0"/>
                <a:ea typeface="Menlo" panose="020B0609030804020204" pitchFamily="49" charset="0"/>
                <a:cs typeface="Menlo" panose="020B0609030804020204" pitchFamily="49" charset="0"/>
              </a:rPr>
              <a:t>get</a:t>
            </a:r>
            <a:r>
              <a:rPr lang="en-IT" sz="1600" b="1" dirty="0">
                <a:latin typeface="Aptos" panose="020B0004020202020204" pitchFamily="34" charset="0"/>
                <a:ea typeface="Palatino" pitchFamily="2" charset="77"/>
              </a:rPr>
              <a:t> </a:t>
            </a:r>
            <a:r>
              <a:rPr lang="en-IT" sz="1600" dirty="0">
                <a:latin typeface="Aptos" panose="020B0004020202020204" pitchFamily="34" charset="0"/>
                <a:ea typeface="Palatino" pitchFamily="2" charset="77"/>
              </a:rPr>
              <a:t>keyword defines a getter: special methods that provide read acces to a variable. </a:t>
            </a:r>
          </a:p>
        </p:txBody>
      </p:sp>
      <p:cxnSp>
        <p:nvCxnSpPr>
          <p:cNvPr id="21" name="Straight Arrow Connector 20">
            <a:extLst>
              <a:ext uri="{FF2B5EF4-FFF2-40B4-BE49-F238E27FC236}">
                <a16:creationId xmlns:a16="http://schemas.microsoft.com/office/drawing/2014/main" id="{2F9B0491-6DC6-B149-A86C-328F539067F4}"/>
              </a:ext>
            </a:extLst>
          </p:cNvPr>
          <p:cNvCxnSpPr>
            <a:cxnSpLocks/>
            <a:stCxn id="20" idx="1"/>
          </p:cNvCxnSpPr>
          <p:nvPr/>
        </p:nvCxnSpPr>
        <p:spPr>
          <a:xfrm flipH="1" flipV="1">
            <a:off x="2839792" y="3565997"/>
            <a:ext cx="6269638" cy="26890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5D7E1952-568C-DACE-1E12-5776484C2D48}"/>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21581953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Using Singleton (Example in Dart)</a:t>
            </a:r>
            <a:endParaRPr lang="en-IT" dirty="0"/>
          </a:p>
        </p:txBody>
      </p:sp>
      <p:sp>
        <p:nvSpPr>
          <p:cNvPr id="3" name="Slide Number Placeholder 2">
            <a:extLst>
              <a:ext uri="{FF2B5EF4-FFF2-40B4-BE49-F238E27FC236}">
                <a16:creationId xmlns:a16="http://schemas.microsoft.com/office/drawing/2014/main" id="{37B9E278-5894-C14F-9C98-A48EDE5A74A1}"/>
              </a:ext>
            </a:extLst>
          </p:cNvPr>
          <p:cNvSpPr>
            <a:spLocks noGrp="1"/>
          </p:cNvSpPr>
          <p:nvPr>
            <p:ph type="sldNum" sz="quarter" idx="12"/>
          </p:nvPr>
        </p:nvSpPr>
        <p:spPr/>
        <p:txBody>
          <a:bodyPr/>
          <a:lstStyle/>
          <a:p>
            <a:fld id="{31DE2C5B-556E-47B8-A792-024C2FCA4ACC}" type="slidenum">
              <a:rPr lang="en-GB" smtClean="0"/>
              <a:t>53</a:t>
            </a:fld>
            <a:endParaRPr lang="en-GB"/>
          </a:p>
        </p:txBody>
      </p:sp>
      <p:sp>
        <p:nvSpPr>
          <p:cNvPr id="6" name="Rectangle 5">
            <a:extLst>
              <a:ext uri="{FF2B5EF4-FFF2-40B4-BE49-F238E27FC236}">
                <a16:creationId xmlns:a16="http://schemas.microsoft.com/office/drawing/2014/main" id="{26F228EE-8088-5049-8476-A8E5610B525D}"/>
              </a:ext>
            </a:extLst>
          </p:cNvPr>
          <p:cNvSpPr/>
          <p:nvPr/>
        </p:nvSpPr>
        <p:spPr>
          <a:xfrm>
            <a:off x="1030386" y="1647369"/>
            <a:ext cx="8454904" cy="378565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rPr>
              <a:t>void main(List&lt;String&gt; </a:t>
            </a:r>
            <a:r>
              <a:rPr lang="en-GB" sz="1200" dirty="0" err="1">
                <a:latin typeface="Menlo" panose="020B0609030804020204" pitchFamily="49" charset="0"/>
              </a:rPr>
              <a:t>args</a:t>
            </a:r>
            <a:r>
              <a:rPr lang="en-GB" sz="1200" dirty="0">
                <a:latin typeface="Menlo" panose="020B0609030804020204" pitchFamily="49" charset="0"/>
              </a:rPr>
              <a:t>) {</a:t>
            </a:r>
          </a:p>
          <a:p>
            <a:endParaRPr lang="en-GB" sz="1200" dirty="0">
              <a:latin typeface="Menlo" panose="020B0609030804020204" pitchFamily="49" charset="0"/>
            </a:endParaRPr>
          </a:p>
          <a:p>
            <a:r>
              <a:rPr lang="en-GB" sz="1200" dirty="0">
                <a:latin typeface="Menlo" panose="020B0609030804020204" pitchFamily="49" charset="0"/>
              </a:rPr>
              <a:t>  //Here, I'm getting an instance of </a:t>
            </a:r>
            <a:r>
              <a:rPr lang="en-GB" sz="1200" dirty="0" err="1">
                <a:latin typeface="Menlo" panose="020B0609030804020204" pitchFamily="49" charset="0"/>
              </a:rPr>
              <a:t>StorageManager</a:t>
            </a:r>
            <a:r>
              <a:rPr lang="en-GB" sz="1200" dirty="0">
                <a:latin typeface="Menlo" panose="020B0609030804020204" pitchFamily="49" charset="0"/>
              </a:rPr>
              <a:t> </a:t>
            </a:r>
          </a:p>
          <a:p>
            <a:r>
              <a:rPr lang="en-GB" sz="1200" dirty="0">
                <a:latin typeface="Menlo" panose="020B0609030804020204" pitchFamily="49" charset="0"/>
              </a:rPr>
              <a:t>  </a:t>
            </a:r>
            <a:r>
              <a:rPr lang="en-GB" sz="1200" b="1" dirty="0" err="1">
                <a:latin typeface="Menlo" panose="020B0609030804020204" pitchFamily="49" charset="0"/>
              </a:rPr>
              <a:t>StorageManager</a:t>
            </a:r>
            <a:r>
              <a:rPr lang="en-GB" sz="1200" b="1" dirty="0">
                <a:latin typeface="Menlo" panose="020B0609030804020204" pitchFamily="49" charset="0"/>
              </a:rPr>
              <a:t> </a:t>
            </a:r>
            <a:r>
              <a:rPr lang="en-GB" sz="1200" b="1" dirty="0" err="1">
                <a:latin typeface="Menlo" panose="020B0609030804020204" pitchFamily="49" charset="0"/>
              </a:rPr>
              <a:t>sm</a:t>
            </a:r>
            <a:r>
              <a:rPr lang="en-GB" sz="1200" b="1" dirty="0">
                <a:latin typeface="Menlo" panose="020B0609030804020204" pitchFamily="49" charset="0"/>
              </a:rPr>
              <a:t> = </a:t>
            </a:r>
            <a:r>
              <a:rPr lang="en-GB" sz="1200" b="1" dirty="0" err="1">
                <a:latin typeface="Menlo" panose="020B0609030804020204" pitchFamily="49" charset="0"/>
              </a:rPr>
              <a:t>StorageManager</a:t>
            </a:r>
            <a:r>
              <a:rPr lang="en-GB" sz="1200" b="1" dirty="0">
                <a:latin typeface="Menlo" panose="020B0609030804020204" pitchFamily="49" charset="0"/>
              </a:rPr>
              <a:t>();</a:t>
            </a:r>
          </a:p>
          <a:p>
            <a:endParaRPr lang="en-GB" sz="1200" dirty="0">
              <a:latin typeface="Menlo" panose="020B0609030804020204" pitchFamily="49" charset="0"/>
            </a:endParaRPr>
          </a:p>
          <a:p>
            <a:r>
              <a:rPr lang="en-GB" sz="1200" dirty="0">
                <a:latin typeface="Menlo" panose="020B0609030804020204" pitchFamily="49" charset="0"/>
              </a:rPr>
              <a:t>  //Let's use it</a:t>
            </a:r>
          </a:p>
          <a:p>
            <a:r>
              <a:rPr lang="en-GB" sz="1200" dirty="0">
                <a:latin typeface="Menlo" panose="020B0609030804020204" pitchFamily="49" charset="0"/>
              </a:rPr>
              <a:t>  </a:t>
            </a:r>
            <a:r>
              <a:rPr lang="en-GB" sz="1200" dirty="0" err="1">
                <a:latin typeface="Menlo" panose="020B0609030804020204" pitchFamily="49" charset="0"/>
              </a:rPr>
              <a:t>sm.store</a:t>
            </a:r>
            <a:r>
              <a:rPr lang="en-GB" sz="1200" dirty="0">
                <a:latin typeface="Menlo" panose="020B0609030804020204" pitchFamily="49" charset="0"/>
              </a:rPr>
              <a:t>(1000);</a:t>
            </a:r>
          </a:p>
          <a:p>
            <a:r>
              <a:rPr lang="en-GB" sz="1200" dirty="0">
                <a:latin typeface="Menlo" panose="020B0609030804020204" pitchFamily="49" charset="0"/>
              </a:rPr>
              <a:t>  print(</a:t>
            </a:r>
            <a:r>
              <a:rPr lang="en-GB" sz="1200" dirty="0" err="1">
                <a:latin typeface="Menlo" panose="020B0609030804020204" pitchFamily="49" charset="0"/>
              </a:rPr>
              <a:t>sm</a:t>
            </a:r>
            <a:r>
              <a:rPr lang="en-GB" sz="1200" dirty="0">
                <a:latin typeface="Menlo" panose="020B0609030804020204" pitchFamily="49" charset="0"/>
              </a:rPr>
              <a:t>); // This will print 'Space: 1000.0 (0f 2048) MB'</a:t>
            </a:r>
          </a:p>
          <a:p>
            <a:r>
              <a:rPr lang="en-GB" sz="1200" dirty="0">
                <a:latin typeface="Menlo" panose="020B0609030804020204" pitchFamily="49" charset="0"/>
              </a:rPr>
              <a:t>  </a:t>
            </a:r>
            <a:r>
              <a:rPr lang="en-GB" sz="1200" dirty="0" err="1">
                <a:latin typeface="Menlo" panose="020B0609030804020204" pitchFamily="49" charset="0"/>
              </a:rPr>
              <a:t>sm.store</a:t>
            </a:r>
            <a:r>
              <a:rPr lang="en-GB" sz="1200" dirty="0">
                <a:latin typeface="Menlo" panose="020B0609030804020204" pitchFamily="49" charset="0"/>
              </a:rPr>
              <a:t>(500);</a:t>
            </a:r>
          </a:p>
          <a:p>
            <a:r>
              <a:rPr lang="en-GB" sz="1200" dirty="0">
                <a:latin typeface="Menlo" panose="020B0609030804020204" pitchFamily="49" charset="0"/>
              </a:rPr>
              <a:t>  print(</a:t>
            </a:r>
            <a:r>
              <a:rPr lang="en-GB" sz="1200" dirty="0" err="1">
                <a:latin typeface="Menlo" panose="020B0609030804020204" pitchFamily="49" charset="0"/>
              </a:rPr>
              <a:t>sm</a:t>
            </a:r>
            <a:r>
              <a:rPr lang="en-GB" sz="1200" dirty="0">
                <a:latin typeface="Menlo" panose="020B0609030804020204" pitchFamily="49" charset="0"/>
              </a:rPr>
              <a:t>); // This will print 'Space: 1500.0 (0f 2048) MB'</a:t>
            </a:r>
          </a:p>
          <a:p>
            <a:endParaRPr lang="en-GB" sz="1200" dirty="0">
              <a:latin typeface="Menlo" panose="020B0609030804020204" pitchFamily="49" charset="0"/>
            </a:endParaRPr>
          </a:p>
          <a:p>
            <a:r>
              <a:rPr lang="en-GB" sz="1200" dirty="0">
                <a:latin typeface="Menlo" panose="020B0609030804020204" pitchFamily="49" charset="0"/>
              </a:rPr>
              <a:t>  //Let's get a new instance of </a:t>
            </a:r>
            <a:r>
              <a:rPr lang="en-GB" sz="1200" dirty="0" err="1">
                <a:latin typeface="Menlo" panose="020B0609030804020204" pitchFamily="49" charset="0"/>
              </a:rPr>
              <a:t>StorageManager</a:t>
            </a:r>
            <a:endParaRPr lang="en-GB" sz="1200" dirty="0">
              <a:latin typeface="Menlo" panose="020B0609030804020204" pitchFamily="49" charset="0"/>
            </a:endParaRPr>
          </a:p>
          <a:p>
            <a:r>
              <a:rPr lang="en-GB" sz="1200" dirty="0">
                <a:latin typeface="Menlo" panose="020B0609030804020204" pitchFamily="49" charset="0"/>
              </a:rPr>
              <a:t>  </a:t>
            </a:r>
            <a:r>
              <a:rPr lang="en-GB" sz="1200" b="1" dirty="0" err="1">
                <a:latin typeface="Menlo" panose="020B0609030804020204" pitchFamily="49" charset="0"/>
              </a:rPr>
              <a:t>StorageManager</a:t>
            </a:r>
            <a:r>
              <a:rPr lang="en-GB" sz="1200" b="1" dirty="0">
                <a:latin typeface="Menlo" panose="020B0609030804020204" pitchFamily="49" charset="0"/>
              </a:rPr>
              <a:t> </a:t>
            </a:r>
            <a:r>
              <a:rPr lang="en-GB" sz="1200" b="1" dirty="0" err="1">
                <a:latin typeface="Menlo" panose="020B0609030804020204" pitchFamily="49" charset="0"/>
              </a:rPr>
              <a:t>smBis</a:t>
            </a:r>
            <a:r>
              <a:rPr lang="en-GB" sz="1200" b="1" dirty="0">
                <a:latin typeface="Menlo" panose="020B0609030804020204" pitchFamily="49" charset="0"/>
              </a:rPr>
              <a:t> = </a:t>
            </a:r>
            <a:r>
              <a:rPr lang="en-GB" sz="1200" b="1" dirty="0" err="1">
                <a:latin typeface="Menlo" panose="020B0609030804020204" pitchFamily="49" charset="0"/>
              </a:rPr>
              <a:t>StorageManager</a:t>
            </a:r>
            <a:r>
              <a:rPr lang="en-GB" sz="1200" b="1" dirty="0">
                <a:latin typeface="Menlo" panose="020B0609030804020204" pitchFamily="49" charset="0"/>
              </a:rPr>
              <a:t>();</a:t>
            </a:r>
          </a:p>
          <a:p>
            <a:endParaRPr lang="en-GB" sz="1200" dirty="0">
              <a:latin typeface="Menlo" panose="020B0609030804020204" pitchFamily="49" charset="0"/>
            </a:endParaRPr>
          </a:p>
          <a:p>
            <a:r>
              <a:rPr lang="en-GB" sz="1200" dirty="0">
                <a:latin typeface="Menlo" panose="020B0609030804020204" pitchFamily="49" charset="0"/>
              </a:rPr>
              <a:t>  //This will fail since the Singleton pattern is ensuring that </a:t>
            </a:r>
            <a:r>
              <a:rPr lang="en-GB" sz="1200" dirty="0" err="1">
                <a:latin typeface="Menlo" panose="020B0609030804020204" pitchFamily="49" charset="0"/>
              </a:rPr>
              <a:t>smBis</a:t>
            </a:r>
            <a:r>
              <a:rPr lang="en-GB" sz="1200" dirty="0">
                <a:latin typeface="Menlo" panose="020B0609030804020204" pitchFamily="49" charset="0"/>
              </a:rPr>
              <a:t> is the same as </a:t>
            </a:r>
            <a:r>
              <a:rPr lang="en-GB" sz="1200" dirty="0" err="1">
                <a:latin typeface="Menlo" panose="020B0609030804020204" pitchFamily="49" charset="0"/>
              </a:rPr>
              <a:t>sm</a:t>
            </a:r>
            <a:endParaRPr lang="en-GB" sz="1200" dirty="0">
              <a:latin typeface="Menlo" panose="020B0609030804020204" pitchFamily="49" charset="0"/>
            </a:endParaRPr>
          </a:p>
          <a:p>
            <a:r>
              <a:rPr lang="en-GB" sz="1200" dirty="0">
                <a:latin typeface="Menlo" panose="020B0609030804020204" pitchFamily="49" charset="0"/>
              </a:rPr>
              <a:t>  //thus the storage has not enough space.</a:t>
            </a:r>
          </a:p>
          <a:p>
            <a:r>
              <a:rPr lang="en-GB" sz="1200" dirty="0">
                <a:latin typeface="Menlo" panose="020B0609030804020204" pitchFamily="49" charset="0"/>
              </a:rPr>
              <a:t>  </a:t>
            </a:r>
            <a:r>
              <a:rPr lang="en-GB" sz="1200" dirty="0" err="1">
                <a:latin typeface="Menlo" panose="020B0609030804020204" pitchFamily="49" charset="0"/>
              </a:rPr>
              <a:t>smBis.store</a:t>
            </a:r>
            <a:r>
              <a:rPr lang="en-GB" sz="1200" dirty="0">
                <a:latin typeface="Menlo" panose="020B0609030804020204" pitchFamily="49" charset="0"/>
              </a:rPr>
              <a:t>(1000);</a:t>
            </a:r>
          </a:p>
          <a:p>
            <a:r>
              <a:rPr lang="en-GB" sz="1200" dirty="0">
                <a:latin typeface="Menlo" panose="020B0609030804020204" pitchFamily="49" charset="0"/>
              </a:rPr>
              <a:t>  print(</a:t>
            </a:r>
            <a:r>
              <a:rPr lang="en-GB" sz="1200" dirty="0" err="1">
                <a:latin typeface="Menlo" panose="020B0609030804020204" pitchFamily="49" charset="0"/>
              </a:rPr>
              <a:t>smBis</a:t>
            </a:r>
            <a:r>
              <a:rPr lang="en-GB" sz="1200" dirty="0">
                <a:latin typeface="Menlo" panose="020B0609030804020204" pitchFamily="49" charset="0"/>
              </a:rPr>
              <a:t>); // This will print 'Space: 1500.0 (0f 2048) MB’</a:t>
            </a:r>
          </a:p>
          <a:p>
            <a:endParaRPr lang="en-GB" sz="1200" dirty="0">
              <a:latin typeface="Menlo" panose="020B0609030804020204" pitchFamily="49" charset="0"/>
            </a:endParaRPr>
          </a:p>
          <a:p>
            <a:r>
              <a:rPr lang="en-GB" sz="1200" dirty="0">
                <a:latin typeface="Menlo" panose="020B0609030804020204" pitchFamily="49" charset="0"/>
              </a:rPr>
              <a:t>}//main</a:t>
            </a:r>
            <a:endParaRPr lang="en-GB" sz="1200" b="0" dirty="0">
              <a:effectLst/>
              <a:latin typeface="Menlo" panose="020B0609030804020204" pitchFamily="49" charset="0"/>
            </a:endParaRPr>
          </a:p>
        </p:txBody>
      </p:sp>
      <p:sp>
        <p:nvSpPr>
          <p:cNvPr id="5" name="Content Placeholder 2">
            <a:extLst>
              <a:ext uri="{FF2B5EF4-FFF2-40B4-BE49-F238E27FC236}">
                <a16:creationId xmlns:a16="http://schemas.microsoft.com/office/drawing/2014/main" id="{7B580E9A-A717-2042-A0E8-0EEAE88AEAE9}"/>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singleton_example.dart</a:t>
            </a:r>
          </a:p>
        </p:txBody>
      </p:sp>
      <p:sp>
        <p:nvSpPr>
          <p:cNvPr id="7" name="TextBox 6">
            <a:extLst>
              <a:ext uri="{FF2B5EF4-FFF2-40B4-BE49-F238E27FC236}">
                <a16:creationId xmlns:a16="http://schemas.microsoft.com/office/drawing/2014/main" id="{27533306-C45A-C8DC-8931-30A9A9C83270}"/>
              </a:ext>
            </a:extLst>
          </p:cNvPr>
          <p:cNvSpPr txBox="1"/>
          <p:nvPr/>
        </p:nvSpPr>
        <p:spPr>
          <a:xfrm>
            <a:off x="10381670" y="400896"/>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23852068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Singleton</a:t>
            </a:r>
            <a:endParaRPr lang="en-IT" dirty="0"/>
          </a:p>
        </p:txBody>
      </p:sp>
      <p:sp>
        <p:nvSpPr>
          <p:cNvPr id="8" name="Content Placeholder 2">
            <a:extLst>
              <a:ext uri="{FF2B5EF4-FFF2-40B4-BE49-F238E27FC236}">
                <a16:creationId xmlns:a16="http://schemas.microsoft.com/office/drawing/2014/main" id="{209002FB-6523-794E-99E4-90A9A40D9D68}"/>
              </a:ext>
            </a:extLst>
          </p:cNvPr>
          <p:cNvSpPr>
            <a:spLocks noGrp="1"/>
          </p:cNvSpPr>
          <p:nvPr>
            <p:ph idx="1"/>
          </p:nvPr>
        </p:nvSpPr>
        <p:spPr>
          <a:xfrm>
            <a:off x="428171" y="1361167"/>
            <a:ext cx="10551068" cy="5334907"/>
          </a:xfrm>
        </p:spPr>
        <p:txBody>
          <a:bodyPr>
            <a:normAutofit/>
          </a:bodyPr>
          <a:lstStyle/>
          <a:p>
            <a:r>
              <a:rPr lang="en-US" dirty="0"/>
              <a:t>Consequences: </a:t>
            </a:r>
          </a:p>
          <a:p>
            <a:endParaRPr lang="en-US" dirty="0"/>
          </a:p>
          <a:p>
            <a:pPr lvl="1"/>
            <a:r>
              <a:rPr lang="en-US" b="1" dirty="0">
                <a:solidFill>
                  <a:schemeClr val="accent6"/>
                </a:solidFill>
              </a:rPr>
              <a:t>Easy to control the access to the sole instance</a:t>
            </a:r>
            <a:r>
              <a:rPr lang="en-US" dirty="0"/>
              <a:t>: by definition.</a:t>
            </a:r>
          </a:p>
          <a:p>
            <a:pPr lvl="1"/>
            <a:endParaRPr lang="en-US" dirty="0">
              <a:sym typeface="Wingdings" pitchFamily="2" charset="2"/>
            </a:endParaRPr>
          </a:p>
          <a:p>
            <a:pPr lvl="1"/>
            <a:r>
              <a:rPr lang="en-US" b="1" dirty="0">
                <a:solidFill>
                  <a:schemeClr val="accent6"/>
                </a:solidFill>
                <a:sym typeface="Wingdings" pitchFamily="2" charset="2"/>
              </a:rPr>
              <a:t>Reduced name space</a:t>
            </a:r>
            <a:r>
              <a:rPr lang="en-US" dirty="0">
                <a:sym typeface="Wingdings" pitchFamily="2" charset="2"/>
              </a:rPr>
              <a:t>: singleton is an improvement with respect to global variables and avoid “polluting” the name space.</a:t>
            </a:r>
          </a:p>
          <a:p>
            <a:pPr lvl="1"/>
            <a:endParaRPr lang="en-US" dirty="0">
              <a:sym typeface="Wingdings" pitchFamily="2" charset="2"/>
            </a:endParaRPr>
          </a:p>
          <a:p>
            <a:pPr lvl="1"/>
            <a:r>
              <a:rPr lang="en-US" b="1" dirty="0">
                <a:solidFill>
                  <a:schemeClr val="accent6"/>
                </a:solidFill>
                <a:sym typeface="Wingdings" pitchFamily="2" charset="2"/>
              </a:rPr>
              <a:t>Permits a variable number of instances</a:t>
            </a:r>
            <a:r>
              <a:rPr lang="en-US" dirty="0">
                <a:sym typeface="Wingdings" pitchFamily="2" charset="2"/>
              </a:rPr>
              <a:t>: it is easy to adapt the pattern and define an exact number of instances allowed.</a:t>
            </a:r>
          </a:p>
          <a:p>
            <a:pPr lvl="1"/>
            <a:endParaRPr lang="en-US" dirty="0">
              <a:sym typeface="Wingdings" pitchFamily="2" charset="2"/>
            </a:endParaRPr>
          </a:p>
          <a:p>
            <a:pPr lvl="1"/>
            <a:endParaRPr lang="en-US" dirty="0"/>
          </a:p>
          <a:p>
            <a:endParaRPr lang="en-IT" dirty="0"/>
          </a:p>
          <a:p>
            <a:endParaRPr lang="en-IT" dirty="0"/>
          </a:p>
          <a:p>
            <a:pPr marL="0" indent="0">
              <a:buNone/>
            </a:pPr>
            <a:r>
              <a:rPr lang="en-IT" dirty="0"/>
              <a:t> </a:t>
            </a:r>
          </a:p>
        </p:txBody>
      </p:sp>
      <p:sp>
        <p:nvSpPr>
          <p:cNvPr id="3" name="Slide Number Placeholder 2">
            <a:extLst>
              <a:ext uri="{FF2B5EF4-FFF2-40B4-BE49-F238E27FC236}">
                <a16:creationId xmlns:a16="http://schemas.microsoft.com/office/drawing/2014/main" id="{FA4E72AD-9A14-7C49-9C58-84E81F56C889}"/>
              </a:ext>
            </a:extLst>
          </p:cNvPr>
          <p:cNvSpPr>
            <a:spLocks noGrp="1"/>
          </p:cNvSpPr>
          <p:nvPr>
            <p:ph type="sldNum" sz="quarter" idx="12"/>
          </p:nvPr>
        </p:nvSpPr>
        <p:spPr/>
        <p:txBody>
          <a:bodyPr/>
          <a:lstStyle/>
          <a:p>
            <a:fld id="{31DE2C5B-556E-47B8-A792-024C2FCA4ACC}" type="slidenum">
              <a:rPr lang="en-GB" smtClean="0"/>
              <a:t>54</a:t>
            </a:fld>
            <a:endParaRPr lang="en-GB"/>
          </a:p>
        </p:txBody>
      </p:sp>
      <p:sp>
        <p:nvSpPr>
          <p:cNvPr id="5" name="TextBox 4">
            <a:extLst>
              <a:ext uri="{FF2B5EF4-FFF2-40B4-BE49-F238E27FC236}">
                <a16:creationId xmlns:a16="http://schemas.microsoft.com/office/drawing/2014/main" id="{B6265C51-FACE-8F5B-BD7B-B7E4314CCFE8}"/>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4403290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b="1" dirty="0"/>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b="1" dirty="0"/>
              <a:t>Abstract Factory</a:t>
            </a:r>
            <a:endParaRPr lang="en-GB" sz="2600" dirty="0">
              <a:solidFill>
                <a:schemeClr val="bg2">
                  <a:lumMod val="90000"/>
                </a:schemeClr>
              </a:solidFill>
            </a:endParaRP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55</a:t>
            </a:fld>
            <a:endParaRPr lang="en-GB"/>
          </a:p>
        </p:txBody>
      </p:sp>
      <p:sp>
        <p:nvSpPr>
          <p:cNvPr id="6" name="TextBox 5">
            <a:extLst>
              <a:ext uri="{FF2B5EF4-FFF2-40B4-BE49-F238E27FC236}">
                <a16:creationId xmlns:a16="http://schemas.microsoft.com/office/drawing/2014/main" id="{8B8C2D1E-1530-2269-908C-6D695969C28F}"/>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4176472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Abstract Factory</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10453188" cy="5377686"/>
          </a:xfrm>
        </p:spPr>
        <p:txBody>
          <a:bodyPr>
            <a:normAutofit/>
          </a:bodyPr>
          <a:lstStyle/>
          <a:p>
            <a:r>
              <a:rPr lang="en-GB" dirty="0"/>
              <a:t>The </a:t>
            </a:r>
            <a:r>
              <a:rPr lang="en-GB" b="1" dirty="0"/>
              <a:t>Abstract Factory </a:t>
            </a:r>
            <a:r>
              <a:rPr lang="en-GB" dirty="0"/>
              <a:t>design pattern “provides an interface for creating families of related or dependent objects without specifying their concrete classes” - </a:t>
            </a:r>
            <a:r>
              <a:rPr lang="en-GB" dirty="0" err="1"/>
              <a:t>GoF</a:t>
            </a:r>
            <a:r>
              <a:rPr lang="en-GB" dirty="0"/>
              <a:t>.</a:t>
            </a:r>
          </a:p>
          <a:p>
            <a:endParaRPr lang="en-GB" dirty="0"/>
          </a:p>
          <a:p>
            <a:endParaRPr lang="en-GB" dirty="0"/>
          </a:p>
          <a:p>
            <a:r>
              <a:rPr lang="en-GB" dirty="0"/>
              <a:t>The abstract factory pattern provides a way to encapsulate a group of individual factories that have a common theme without specifying their concrete classes. </a:t>
            </a:r>
          </a:p>
          <a:p>
            <a:endParaRPr lang="en-GB" dirty="0"/>
          </a:p>
          <a:p>
            <a:endParaRPr lang="en-GB" dirty="0"/>
          </a:p>
          <a:p>
            <a:r>
              <a:rPr lang="en-GB" dirty="0"/>
              <a:t>The abstract factory produces abstract products. </a:t>
            </a:r>
          </a:p>
          <a:p>
            <a:endParaRPr lang="en-GB" dirty="0"/>
          </a:p>
          <a:p>
            <a:endParaRPr lang="en-GB" dirty="0"/>
          </a:p>
        </p:txBody>
      </p:sp>
      <p:pic>
        <p:nvPicPr>
          <p:cNvPr id="4" name="Graphic 3" descr="Factory outline">
            <a:extLst>
              <a:ext uri="{FF2B5EF4-FFF2-40B4-BE49-F238E27FC236}">
                <a16:creationId xmlns:a16="http://schemas.microsoft.com/office/drawing/2014/main" id="{36C46FFC-EF39-4947-A6E9-9E19C6BDB3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18371" y="4465750"/>
            <a:ext cx="1007772" cy="1007772"/>
          </a:xfrm>
          <a:prstGeom prst="rect">
            <a:avLst/>
          </a:prstGeom>
        </p:spPr>
      </p:pic>
      <p:pic>
        <p:nvPicPr>
          <p:cNvPr id="6" name="Graphic 5" descr="Thought bubble outline">
            <a:extLst>
              <a:ext uri="{FF2B5EF4-FFF2-40B4-BE49-F238E27FC236}">
                <a16:creationId xmlns:a16="http://schemas.microsoft.com/office/drawing/2014/main" id="{E1888721-E629-3749-B836-EF59B5DC387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764073" y="3977438"/>
            <a:ext cx="2660023" cy="2660023"/>
          </a:xfrm>
          <a:prstGeom prst="rect">
            <a:avLst/>
          </a:prstGeom>
        </p:spPr>
      </p:pic>
      <p:sp>
        <p:nvSpPr>
          <p:cNvPr id="3" name="Slide Number Placeholder 2">
            <a:extLst>
              <a:ext uri="{FF2B5EF4-FFF2-40B4-BE49-F238E27FC236}">
                <a16:creationId xmlns:a16="http://schemas.microsoft.com/office/drawing/2014/main" id="{BC5182FB-A491-8544-8138-2A03828409DE}"/>
              </a:ext>
            </a:extLst>
          </p:cNvPr>
          <p:cNvSpPr>
            <a:spLocks noGrp="1"/>
          </p:cNvSpPr>
          <p:nvPr>
            <p:ph type="sldNum" sz="quarter" idx="12"/>
          </p:nvPr>
        </p:nvSpPr>
        <p:spPr/>
        <p:txBody>
          <a:bodyPr/>
          <a:lstStyle/>
          <a:p>
            <a:fld id="{31DE2C5B-556E-47B8-A792-024C2FCA4ACC}" type="slidenum">
              <a:rPr lang="en-GB" smtClean="0"/>
              <a:t>56</a:t>
            </a:fld>
            <a:endParaRPr lang="en-GB"/>
          </a:p>
        </p:txBody>
      </p:sp>
      <p:sp>
        <p:nvSpPr>
          <p:cNvPr id="5" name="TextBox 4">
            <a:extLst>
              <a:ext uri="{FF2B5EF4-FFF2-40B4-BE49-F238E27FC236}">
                <a16:creationId xmlns:a16="http://schemas.microsoft.com/office/drawing/2014/main" id="{7A58CE20-E102-51A8-4AA1-62D78301636C}"/>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969054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Abstract Factory (Example)</a:t>
            </a:r>
            <a:endParaRPr lang="en-IT" dirty="0"/>
          </a:p>
        </p:txBody>
      </p:sp>
      <p:sp>
        <p:nvSpPr>
          <p:cNvPr id="20" name="Content Placeholder 2">
            <a:extLst>
              <a:ext uri="{FF2B5EF4-FFF2-40B4-BE49-F238E27FC236}">
                <a16:creationId xmlns:a16="http://schemas.microsoft.com/office/drawing/2014/main" id="{B42B2631-DEDB-D847-9680-271CA1C870BB}"/>
              </a:ext>
            </a:extLst>
          </p:cNvPr>
          <p:cNvSpPr>
            <a:spLocks noGrp="1"/>
          </p:cNvSpPr>
          <p:nvPr>
            <p:ph idx="1"/>
          </p:nvPr>
        </p:nvSpPr>
        <p:spPr>
          <a:xfrm>
            <a:off x="428172" y="1288595"/>
            <a:ext cx="10453188" cy="5377686"/>
          </a:xfrm>
        </p:spPr>
        <p:txBody>
          <a:bodyPr>
            <a:normAutofit/>
          </a:bodyPr>
          <a:lstStyle/>
          <a:p>
            <a:r>
              <a:rPr lang="en-GB" dirty="0"/>
              <a:t>Let’s think about a bar. A bar is, the-facto, a “factory” of drinks which are the products. Bars can be of different types:</a:t>
            </a:r>
          </a:p>
          <a:p>
            <a:endParaRPr lang="en-GB" dirty="0"/>
          </a:p>
          <a:p>
            <a:pPr lvl="1"/>
            <a:r>
              <a:rPr lang="en-GB" dirty="0"/>
              <a:t>Pub: a factory of beers</a:t>
            </a:r>
          </a:p>
          <a:p>
            <a:pPr lvl="1"/>
            <a:endParaRPr lang="en-GB" dirty="0"/>
          </a:p>
          <a:p>
            <a:pPr lvl="1"/>
            <a:r>
              <a:rPr lang="en-GB" dirty="0"/>
              <a:t>Coffee shop: a factory of coffees</a:t>
            </a:r>
          </a:p>
          <a:p>
            <a:pPr lvl="1"/>
            <a:endParaRPr lang="en-GB" dirty="0"/>
          </a:p>
          <a:p>
            <a:endParaRPr lang="en-GB" dirty="0"/>
          </a:p>
          <a:p>
            <a:r>
              <a:rPr lang="en-GB" dirty="0"/>
              <a:t>We can think of using the abstract factory pattern to implement this scenario:</a:t>
            </a:r>
          </a:p>
          <a:p>
            <a:endParaRPr lang="en-GB" dirty="0"/>
          </a:p>
          <a:p>
            <a:pPr lvl="1"/>
            <a:r>
              <a:rPr lang="en-GB" dirty="0"/>
              <a:t>Pub and coffee shop will be type of the abstract “drink factory” factories</a:t>
            </a:r>
          </a:p>
          <a:p>
            <a:pPr lvl="1"/>
            <a:r>
              <a:rPr lang="en-GB" dirty="0"/>
              <a:t>Beer and coffee will be type of the abstract “drinkable” products</a:t>
            </a:r>
          </a:p>
          <a:p>
            <a:endParaRPr lang="en-GB" dirty="0"/>
          </a:p>
        </p:txBody>
      </p:sp>
      <p:pic>
        <p:nvPicPr>
          <p:cNvPr id="5" name="Graphic 4" descr="Beer outline">
            <a:extLst>
              <a:ext uri="{FF2B5EF4-FFF2-40B4-BE49-F238E27FC236}">
                <a16:creationId xmlns:a16="http://schemas.microsoft.com/office/drawing/2014/main" id="{91E40938-C8FD-174C-8FFE-F9E6E47A55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3529" y="2042603"/>
            <a:ext cx="914400" cy="914400"/>
          </a:xfrm>
          <a:prstGeom prst="rect">
            <a:avLst/>
          </a:prstGeom>
        </p:spPr>
      </p:pic>
      <p:pic>
        <p:nvPicPr>
          <p:cNvPr id="8" name="Graphic 7" descr="Coffee outline">
            <a:extLst>
              <a:ext uri="{FF2B5EF4-FFF2-40B4-BE49-F238E27FC236}">
                <a16:creationId xmlns:a16="http://schemas.microsoft.com/office/drawing/2014/main" id="{337C1069-C78F-7249-B5F8-83DEBCE20A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2020" y="2796611"/>
            <a:ext cx="914400" cy="914400"/>
          </a:xfrm>
          <a:prstGeom prst="rect">
            <a:avLst/>
          </a:prstGeom>
        </p:spPr>
      </p:pic>
      <p:sp>
        <p:nvSpPr>
          <p:cNvPr id="3" name="Slide Number Placeholder 2">
            <a:extLst>
              <a:ext uri="{FF2B5EF4-FFF2-40B4-BE49-F238E27FC236}">
                <a16:creationId xmlns:a16="http://schemas.microsoft.com/office/drawing/2014/main" id="{F9342ECE-FEB4-F344-852E-4FA7DFE01024}"/>
              </a:ext>
            </a:extLst>
          </p:cNvPr>
          <p:cNvSpPr>
            <a:spLocks noGrp="1"/>
          </p:cNvSpPr>
          <p:nvPr>
            <p:ph type="sldNum" sz="quarter" idx="12"/>
          </p:nvPr>
        </p:nvSpPr>
        <p:spPr/>
        <p:txBody>
          <a:bodyPr/>
          <a:lstStyle/>
          <a:p>
            <a:fld id="{31DE2C5B-556E-47B8-A792-024C2FCA4ACC}" type="slidenum">
              <a:rPr lang="en-GB" smtClean="0"/>
              <a:t>57</a:t>
            </a:fld>
            <a:endParaRPr lang="en-GB"/>
          </a:p>
        </p:txBody>
      </p:sp>
      <p:sp>
        <p:nvSpPr>
          <p:cNvPr id="4" name="TextBox 3">
            <a:extLst>
              <a:ext uri="{FF2B5EF4-FFF2-40B4-BE49-F238E27FC236}">
                <a16:creationId xmlns:a16="http://schemas.microsoft.com/office/drawing/2014/main" id="{E1B3C716-0F8E-A359-44E6-D8C421A0D9F7}"/>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25401743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Abstract Factory (Example)</a:t>
            </a:r>
            <a:endParaRPr lang="en-IT" dirty="0"/>
          </a:p>
        </p:txBody>
      </p:sp>
      <p:sp>
        <p:nvSpPr>
          <p:cNvPr id="6" name="Rectangle 5">
            <a:extLst>
              <a:ext uri="{FF2B5EF4-FFF2-40B4-BE49-F238E27FC236}">
                <a16:creationId xmlns:a16="http://schemas.microsoft.com/office/drawing/2014/main" id="{A54C2018-B4C4-6B47-BE9A-EFD1F99C3785}"/>
              </a:ext>
            </a:extLst>
          </p:cNvPr>
          <p:cNvSpPr/>
          <p:nvPr/>
        </p:nvSpPr>
        <p:spPr>
          <a:xfrm>
            <a:off x="2351728" y="2136136"/>
            <a:ext cx="2143000"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7" name="Rectangle 6">
            <a:extLst>
              <a:ext uri="{FF2B5EF4-FFF2-40B4-BE49-F238E27FC236}">
                <a16:creationId xmlns:a16="http://schemas.microsoft.com/office/drawing/2014/main" id="{EDD3806A-37DA-1E41-ACDF-AFDCAF064358}"/>
              </a:ext>
            </a:extLst>
          </p:cNvPr>
          <p:cNvSpPr/>
          <p:nvPr/>
        </p:nvSpPr>
        <p:spPr>
          <a:xfrm>
            <a:off x="2351728" y="1570652"/>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abstract Drinkable</a:t>
            </a:r>
          </a:p>
        </p:txBody>
      </p:sp>
      <p:sp>
        <p:nvSpPr>
          <p:cNvPr id="8" name="Rectangle 7">
            <a:extLst>
              <a:ext uri="{FF2B5EF4-FFF2-40B4-BE49-F238E27FC236}">
                <a16:creationId xmlns:a16="http://schemas.microsoft.com/office/drawing/2014/main" id="{F8DDCB94-765D-7147-8367-1546440771E6}"/>
              </a:ext>
            </a:extLst>
          </p:cNvPr>
          <p:cNvSpPr/>
          <p:nvPr/>
        </p:nvSpPr>
        <p:spPr>
          <a:xfrm>
            <a:off x="2351728" y="2343453"/>
            <a:ext cx="2143000"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pour()</a:t>
            </a:r>
          </a:p>
        </p:txBody>
      </p:sp>
      <p:sp>
        <p:nvSpPr>
          <p:cNvPr id="9" name="Rectangle 8">
            <a:extLst>
              <a:ext uri="{FF2B5EF4-FFF2-40B4-BE49-F238E27FC236}">
                <a16:creationId xmlns:a16="http://schemas.microsoft.com/office/drawing/2014/main" id="{D30615D5-2BA8-CA4A-B878-D9AC5AD28B04}"/>
              </a:ext>
            </a:extLst>
          </p:cNvPr>
          <p:cNvSpPr/>
          <p:nvPr/>
        </p:nvSpPr>
        <p:spPr>
          <a:xfrm>
            <a:off x="2351726" y="1570652"/>
            <a:ext cx="2143002"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23" name="Rectangle 22">
            <a:extLst>
              <a:ext uri="{FF2B5EF4-FFF2-40B4-BE49-F238E27FC236}">
                <a16:creationId xmlns:a16="http://schemas.microsoft.com/office/drawing/2014/main" id="{E5D35C58-7CCB-BA40-A36B-86E1173BBF17}"/>
              </a:ext>
            </a:extLst>
          </p:cNvPr>
          <p:cNvSpPr/>
          <p:nvPr/>
        </p:nvSpPr>
        <p:spPr>
          <a:xfrm>
            <a:off x="1134674" y="4490618"/>
            <a:ext cx="2143000"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24" name="Rectangle 23">
            <a:extLst>
              <a:ext uri="{FF2B5EF4-FFF2-40B4-BE49-F238E27FC236}">
                <a16:creationId xmlns:a16="http://schemas.microsoft.com/office/drawing/2014/main" id="{3EA561A8-5754-9C43-99FA-CA6B15B3FCCD}"/>
              </a:ext>
            </a:extLst>
          </p:cNvPr>
          <p:cNvSpPr/>
          <p:nvPr/>
        </p:nvSpPr>
        <p:spPr>
          <a:xfrm>
            <a:off x="1134674" y="3925134"/>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Beer</a:t>
            </a:r>
          </a:p>
        </p:txBody>
      </p:sp>
      <p:sp>
        <p:nvSpPr>
          <p:cNvPr id="25" name="Rectangle 24">
            <a:extLst>
              <a:ext uri="{FF2B5EF4-FFF2-40B4-BE49-F238E27FC236}">
                <a16:creationId xmlns:a16="http://schemas.microsoft.com/office/drawing/2014/main" id="{22A12F7E-1D3A-0745-AEA4-B5E6FD916D23}"/>
              </a:ext>
            </a:extLst>
          </p:cNvPr>
          <p:cNvSpPr/>
          <p:nvPr/>
        </p:nvSpPr>
        <p:spPr>
          <a:xfrm>
            <a:off x="1134674" y="4697935"/>
            <a:ext cx="2143000"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pour()</a:t>
            </a:r>
          </a:p>
        </p:txBody>
      </p:sp>
      <p:sp>
        <p:nvSpPr>
          <p:cNvPr id="26" name="Rectangle 25">
            <a:extLst>
              <a:ext uri="{FF2B5EF4-FFF2-40B4-BE49-F238E27FC236}">
                <a16:creationId xmlns:a16="http://schemas.microsoft.com/office/drawing/2014/main" id="{D4DE74D0-5027-0641-9698-CA3C6E99ABFD}"/>
              </a:ext>
            </a:extLst>
          </p:cNvPr>
          <p:cNvSpPr/>
          <p:nvPr/>
        </p:nvSpPr>
        <p:spPr>
          <a:xfrm>
            <a:off x="1134672" y="3925134"/>
            <a:ext cx="2143002"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27" name="Rectangle 26">
            <a:extLst>
              <a:ext uri="{FF2B5EF4-FFF2-40B4-BE49-F238E27FC236}">
                <a16:creationId xmlns:a16="http://schemas.microsoft.com/office/drawing/2014/main" id="{50CD2A5C-B1F7-8240-AB78-27FCC10D23F7}"/>
              </a:ext>
            </a:extLst>
          </p:cNvPr>
          <p:cNvSpPr/>
          <p:nvPr/>
        </p:nvSpPr>
        <p:spPr>
          <a:xfrm>
            <a:off x="3540877" y="4499018"/>
            <a:ext cx="2143000"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28" name="Rectangle 27">
            <a:extLst>
              <a:ext uri="{FF2B5EF4-FFF2-40B4-BE49-F238E27FC236}">
                <a16:creationId xmlns:a16="http://schemas.microsoft.com/office/drawing/2014/main" id="{A286C91E-143D-3D4A-8DED-3777EF0CA28E}"/>
              </a:ext>
            </a:extLst>
          </p:cNvPr>
          <p:cNvSpPr/>
          <p:nvPr/>
        </p:nvSpPr>
        <p:spPr>
          <a:xfrm>
            <a:off x="3540877" y="3933534"/>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Coffee</a:t>
            </a:r>
          </a:p>
        </p:txBody>
      </p:sp>
      <p:sp>
        <p:nvSpPr>
          <p:cNvPr id="29" name="Rectangle 28">
            <a:extLst>
              <a:ext uri="{FF2B5EF4-FFF2-40B4-BE49-F238E27FC236}">
                <a16:creationId xmlns:a16="http://schemas.microsoft.com/office/drawing/2014/main" id="{3089D110-4448-E249-B58A-C81A9FBA434B}"/>
              </a:ext>
            </a:extLst>
          </p:cNvPr>
          <p:cNvSpPr/>
          <p:nvPr/>
        </p:nvSpPr>
        <p:spPr>
          <a:xfrm>
            <a:off x="3540877" y="4706335"/>
            <a:ext cx="2143000"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pour()</a:t>
            </a:r>
          </a:p>
        </p:txBody>
      </p:sp>
      <p:sp>
        <p:nvSpPr>
          <p:cNvPr id="30" name="Rectangle 29">
            <a:extLst>
              <a:ext uri="{FF2B5EF4-FFF2-40B4-BE49-F238E27FC236}">
                <a16:creationId xmlns:a16="http://schemas.microsoft.com/office/drawing/2014/main" id="{514E490B-F1D2-7348-B3B4-0CC75F621A88}"/>
              </a:ext>
            </a:extLst>
          </p:cNvPr>
          <p:cNvSpPr/>
          <p:nvPr/>
        </p:nvSpPr>
        <p:spPr>
          <a:xfrm>
            <a:off x="3540875" y="3933534"/>
            <a:ext cx="2143002"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cxnSp>
        <p:nvCxnSpPr>
          <p:cNvPr id="31" name="Straight Arrow Connector 30">
            <a:extLst>
              <a:ext uri="{FF2B5EF4-FFF2-40B4-BE49-F238E27FC236}">
                <a16:creationId xmlns:a16="http://schemas.microsoft.com/office/drawing/2014/main" id="{C1BA4125-9BC3-524F-B6ED-C5E81CBDFB23}"/>
              </a:ext>
            </a:extLst>
          </p:cNvPr>
          <p:cNvCxnSpPr>
            <a:cxnSpLocks/>
            <a:stCxn id="30" idx="0"/>
            <a:endCxn id="9" idx="2"/>
          </p:cNvCxnSpPr>
          <p:nvPr/>
        </p:nvCxnSpPr>
        <p:spPr>
          <a:xfrm flipH="1" flipV="1">
            <a:off x="3423227" y="2684820"/>
            <a:ext cx="1189149" cy="12487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07D33032-0FDB-C843-9900-2845707B01C6}"/>
              </a:ext>
            </a:extLst>
          </p:cNvPr>
          <p:cNvSpPr/>
          <p:nvPr/>
        </p:nvSpPr>
        <p:spPr>
          <a:xfrm>
            <a:off x="2710532" y="3272955"/>
            <a:ext cx="143981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34" name="Straight Arrow Connector 33">
            <a:extLst>
              <a:ext uri="{FF2B5EF4-FFF2-40B4-BE49-F238E27FC236}">
                <a16:creationId xmlns:a16="http://schemas.microsoft.com/office/drawing/2014/main" id="{B9889DDD-5CAB-B746-ADF5-49D045687613}"/>
              </a:ext>
            </a:extLst>
          </p:cNvPr>
          <p:cNvCxnSpPr>
            <a:cxnSpLocks/>
            <a:stCxn id="26" idx="0"/>
            <a:endCxn id="8" idx="2"/>
          </p:cNvCxnSpPr>
          <p:nvPr/>
        </p:nvCxnSpPr>
        <p:spPr>
          <a:xfrm flipV="1">
            <a:off x="2206173" y="2684820"/>
            <a:ext cx="1217055" cy="12403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36">
            <a:extLst>
              <a:ext uri="{FF2B5EF4-FFF2-40B4-BE49-F238E27FC236}">
                <a16:creationId xmlns:a16="http://schemas.microsoft.com/office/drawing/2014/main" id="{5AB0F975-C263-1341-B7C2-43AFBEA3C325}"/>
              </a:ext>
            </a:extLst>
          </p:cNvPr>
          <p:cNvSpPr/>
          <p:nvPr/>
        </p:nvSpPr>
        <p:spPr>
          <a:xfrm>
            <a:off x="7204916" y="2136136"/>
            <a:ext cx="3149697"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38" name="Rectangle 37">
            <a:extLst>
              <a:ext uri="{FF2B5EF4-FFF2-40B4-BE49-F238E27FC236}">
                <a16:creationId xmlns:a16="http://schemas.microsoft.com/office/drawing/2014/main" id="{4D88F652-A509-464A-940B-8F36CA28AF6B}"/>
              </a:ext>
            </a:extLst>
          </p:cNvPr>
          <p:cNvSpPr/>
          <p:nvPr/>
        </p:nvSpPr>
        <p:spPr>
          <a:xfrm>
            <a:off x="7204916" y="1570652"/>
            <a:ext cx="3149697"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abstract DrinkFactory</a:t>
            </a:r>
          </a:p>
        </p:txBody>
      </p:sp>
      <p:sp>
        <p:nvSpPr>
          <p:cNvPr id="39" name="Rectangle 38">
            <a:extLst>
              <a:ext uri="{FF2B5EF4-FFF2-40B4-BE49-F238E27FC236}">
                <a16:creationId xmlns:a16="http://schemas.microsoft.com/office/drawing/2014/main" id="{876A781A-6DC7-9946-91FE-9410AD33AFF7}"/>
              </a:ext>
            </a:extLst>
          </p:cNvPr>
          <p:cNvSpPr/>
          <p:nvPr/>
        </p:nvSpPr>
        <p:spPr>
          <a:xfrm>
            <a:off x="7204916" y="2343453"/>
            <a:ext cx="3149697"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 Drinkable createDrink()</a:t>
            </a:r>
          </a:p>
        </p:txBody>
      </p:sp>
      <p:sp>
        <p:nvSpPr>
          <p:cNvPr id="40" name="Rectangle 39">
            <a:extLst>
              <a:ext uri="{FF2B5EF4-FFF2-40B4-BE49-F238E27FC236}">
                <a16:creationId xmlns:a16="http://schemas.microsoft.com/office/drawing/2014/main" id="{6EB5805D-CCD8-6346-A3AC-AB18DAC9FB7B}"/>
              </a:ext>
            </a:extLst>
          </p:cNvPr>
          <p:cNvSpPr/>
          <p:nvPr/>
        </p:nvSpPr>
        <p:spPr>
          <a:xfrm>
            <a:off x="7204914" y="1570652"/>
            <a:ext cx="3149699"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41" name="Rectangle 40">
            <a:extLst>
              <a:ext uri="{FF2B5EF4-FFF2-40B4-BE49-F238E27FC236}">
                <a16:creationId xmlns:a16="http://schemas.microsoft.com/office/drawing/2014/main" id="{0EA2293D-46CD-2C44-8EEA-08F6E0193DFE}"/>
              </a:ext>
            </a:extLst>
          </p:cNvPr>
          <p:cNvSpPr/>
          <p:nvPr/>
        </p:nvSpPr>
        <p:spPr>
          <a:xfrm>
            <a:off x="6515897" y="4490618"/>
            <a:ext cx="2143000"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42" name="Rectangle 41">
            <a:extLst>
              <a:ext uri="{FF2B5EF4-FFF2-40B4-BE49-F238E27FC236}">
                <a16:creationId xmlns:a16="http://schemas.microsoft.com/office/drawing/2014/main" id="{CF5CC0EA-9A2C-5541-B6A2-141CA503220D}"/>
              </a:ext>
            </a:extLst>
          </p:cNvPr>
          <p:cNvSpPr/>
          <p:nvPr/>
        </p:nvSpPr>
        <p:spPr>
          <a:xfrm>
            <a:off x="6515897" y="3925134"/>
            <a:ext cx="2143000"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Pub</a:t>
            </a:r>
          </a:p>
        </p:txBody>
      </p:sp>
      <p:sp>
        <p:nvSpPr>
          <p:cNvPr id="43" name="Rectangle 42">
            <a:extLst>
              <a:ext uri="{FF2B5EF4-FFF2-40B4-BE49-F238E27FC236}">
                <a16:creationId xmlns:a16="http://schemas.microsoft.com/office/drawing/2014/main" id="{C9EB028E-4535-2D49-9602-70A49BC4CE57}"/>
              </a:ext>
            </a:extLst>
          </p:cNvPr>
          <p:cNvSpPr/>
          <p:nvPr/>
        </p:nvSpPr>
        <p:spPr>
          <a:xfrm>
            <a:off x="6515897" y="4697935"/>
            <a:ext cx="2143000"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Beer createDrink()</a:t>
            </a:r>
          </a:p>
        </p:txBody>
      </p:sp>
      <p:sp>
        <p:nvSpPr>
          <p:cNvPr id="44" name="Rectangle 43">
            <a:extLst>
              <a:ext uri="{FF2B5EF4-FFF2-40B4-BE49-F238E27FC236}">
                <a16:creationId xmlns:a16="http://schemas.microsoft.com/office/drawing/2014/main" id="{72C913A1-E0AF-7140-B84B-9F8B22184F2D}"/>
              </a:ext>
            </a:extLst>
          </p:cNvPr>
          <p:cNvSpPr/>
          <p:nvPr/>
        </p:nvSpPr>
        <p:spPr>
          <a:xfrm>
            <a:off x="6515895" y="3925134"/>
            <a:ext cx="2143002"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45" name="Rectangle 44">
            <a:extLst>
              <a:ext uri="{FF2B5EF4-FFF2-40B4-BE49-F238E27FC236}">
                <a16:creationId xmlns:a16="http://schemas.microsoft.com/office/drawing/2014/main" id="{4A32340A-A6B3-9848-8A3E-45C270112B0D}"/>
              </a:ext>
            </a:extLst>
          </p:cNvPr>
          <p:cNvSpPr/>
          <p:nvPr/>
        </p:nvSpPr>
        <p:spPr>
          <a:xfrm>
            <a:off x="8922100" y="4499018"/>
            <a:ext cx="2372672" cy="2073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a:t>
            </a:r>
          </a:p>
        </p:txBody>
      </p:sp>
      <p:sp>
        <p:nvSpPr>
          <p:cNvPr id="46" name="Rectangle 45">
            <a:extLst>
              <a:ext uri="{FF2B5EF4-FFF2-40B4-BE49-F238E27FC236}">
                <a16:creationId xmlns:a16="http://schemas.microsoft.com/office/drawing/2014/main" id="{E8F73AF7-3930-F249-A76B-1F1A8FDB1063}"/>
              </a:ext>
            </a:extLst>
          </p:cNvPr>
          <p:cNvSpPr/>
          <p:nvPr/>
        </p:nvSpPr>
        <p:spPr>
          <a:xfrm>
            <a:off x="8922100" y="3933534"/>
            <a:ext cx="2372672" cy="565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CoffeeShop</a:t>
            </a:r>
          </a:p>
        </p:txBody>
      </p:sp>
      <p:sp>
        <p:nvSpPr>
          <p:cNvPr id="47" name="Rectangle 46">
            <a:extLst>
              <a:ext uri="{FF2B5EF4-FFF2-40B4-BE49-F238E27FC236}">
                <a16:creationId xmlns:a16="http://schemas.microsoft.com/office/drawing/2014/main" id="{03D5609A-5926-3047-BD26-C804E39808C0}"/>
              </a:ext>
            </a:extLst>
          </p:cNvPr>
          <p:cNvSpPr/>
          <p:nvPr/>
        </p:nvSpPr>
        <p:spPr>
          <a:xfrm>
            <a:off x="8922100" y="4706335"/>
            <a:ext cx="2372672" cy="3413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T" b="1" dirty="0">
                <a:latin typeface="Aptos" panose="020B0004020202020204" pitchFamily="34" charset="0"/>
              </a:rPr>
              <a:t>Coffee createDrink()</a:t>
            </a:r>
          </a:p>
        </p:txBody>
      </p:sp>
      <p:sp>
        <p:nvSpPr>
          <p:cNvPr id="48" name="Rectangle 47">
            <a:extLst>
              <a:ext uri="{FF2B5EF4-FFF2-40B4-BE49-F238E27FC236}">
                <a16:creationId xmlns:a16="http://schemas.microsoft.com/office/drawing/2014/main" id="{F5DFD5B0-87CA-494E-86B9-DC9E0175F8C4}"/>
              </a:ext>
            </a:extLst>
          </p:cNvPr>
          <p:cNvSpPr/>
          <p:nvPr/>
        </p:nvSpPr>
        <p:spPr>
          <a:xfrm>
            <a:off x="8922098" y="3933534"/>
            <a:ext cx="2372674" cy="1114168"/>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cxnSp>
        <p:nvCxnSpPr>
          <p:cNvPr id="49" name="Straight Arrow Connector 48">
            <a:extLst>
              <a:ext uri="{FF2B5EF4-FFF2-40B4-BE49-F238E27FC236}">
                <a16:creationId xmlns:a16="http://schemas.microsoft.com/office/drawing/2014/main" id="{DFF3154E-3E19-0749-B4D7-91BCF5D5C52B}"/>
              </a:ext>
            </a:extLst>
          </p:cNvPr>
          <p:cNvCxnSpPr>
            <a:cxnSpLocks/>
            <a:stCxn id="48" idx="0"/>
            <a:endCxn id="40" idx="2"/>
          </p:cNvCxnSpPr>
          <p:nvPr/>
        </p:nvCxnSpPr>
        <p:spPr>
          <a:xfrm flipH="1" flipV="1">
            <a:off x="8779764" y="2684820"/>
            <a:ext cx="1328671" cy="12487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Rectangle 49">
            <a:extLst>
              <a:ext uri="{FF2B5EF4-FFF2-40B4-BE49-F238E27FC236}">
                <a16:creationId xmlns:a16="http://schemas.microsoft.com/office/drawing/2014/main" id="{56B1DDC3-9EE8-1F41-8629-1B95E7089484}"/>
              </a:ext>
            </a:extLst>
          </p:cNvPr>
          <p:cNvSpPr/>
          <p:nvPr/>
        </p:nvSpPr>
        <p:spPr>
          <a:xfrm>
            <a:off x="8091755" y="3272955"/>
            <a:ext cx="143981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51" name="Straight Arrow Connector 50">
            <a:extLst>
              <a:ext uri="{FF2B5EF4-FFF2-40B4-BE49-F238E27FC236}">
                <a16:creationId xmlns:a16="http://schemas.microsoft.com/office/drawing/2014/main" id="{C035CACD-3E79-654F-9B65-19802DEB741E}"/>
              </a:ext>
            </a:extLst>
          </p:cNvPr>
          <p:cNvCxnSpPr>
            <a:cxnSpLocks/>
            <a:stCxn id="44" idx="0"/>
            <a:endCxn id="39" idx="2"/>
          </p:cNvCxnSpPr>
          <p:nvPr/>
        </p:nvCxnSpPr>
        <p:spPr>
          <a:xfrm flipV="1">
            <a:off x="7587396" y="2684820"/>
            <a:ext cx="1192369" cy="12403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314CCC24-4D7F-5243-9DF7-FE67299BA9DD}"/>
              </a:ext>
            </a:extLst>
          </p:cNvPr>
          <p:cNvCxnSpPr>
            <a:cxnSpLocks/>
            <a:stCxn id="40" idx="1"/>
            <a:endCxn id="9" idx="3"/>
          </p:cNvCxnSpPr>
          <p:nvPr/>
        </p:nvCxnSpPr>
        <p:spPr>
          <a:xfrm flipH="1">
            <a:off x="4494728" y="2127736"/>
            <a:ext cx="27101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Rectangle 66">
            <a:extLst>
              <a:ext uri="{FF2B5EF4-FFF2-40B4-BE49-F238E27FC236}">
                <a16:creationId xmlns:a16="http://schemas.microsoft.com/office/drawing/2014/main" id="{6EB4D5EE-E7BC-8645-BB15-0E0670138B42}"/>
              </a:ext>
            </a:extLst>
          </p:cNvPr>
          <p:cNvSpPr/>
          <p:nvPr/>
        </p:nvSpPr>
        <p:spPr>
          <a:xfrm>
            <a:off x="5481771" y="1702616"/>
            <a:ext cx="736099"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uses</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70" name="Elbow Connector 69">
            <a:extLst>
              <a:ext uri="{FF2B5EF4-FFF2-40B4-BE49-F238E27FC236}">
                <a16:creationId xmlns:a16="http://schemas.microsoft.com/office/drawing/2014/main" id="{D279B0A3-3326-6A47-AB1A-3B35FDFFF9B2}"/>
              </a:ext>
            </a:extLst>
          </p:cNvPr>
          <p:cNvCxnSpPr>
            <a:stCxn id="30" idx="2"/>
            <a:endCxn id="48" idx="2"/>
          </p:cNvCxnSpPr>
          <p:nvPr/>
        </p:nvCxnSpPr>
        <p:spPr>
          <a:xfrm rot="16200000" flipH="1">
            <a:off x="7360405" y="2299672"/>
            <a:ext cx="12700" cy="5496059"/>
          </a:xfrm>
          <a:prstGeom prst="bentConnector3">
            <a:avLst>
              <a:gd name="adj1" fmla="val 4030984"/>
            </a:avLst>
          </a:prstGeom>
          <a:ln>
            <a:tailEnd type="triangle"/>
          </a:ln>
        </p:spPr>
        <p:style>
          <a:lnRef idx="1">
            <a:schemeClr val="dk1"/>
          </a:lnRef>
          <a:fillRef idx="0">
            <a:schemeClr val="dk1"/>
          </a:fillRef>
          <a:effectRef idx="0">
            <a:schemeClr val="dk1"/>
          </a:effectRef>
          <a:fontRef idx="minor">
            <a:schemeClr val="tx1"/>
          </a:fontRef>
        </p:style>
      </p:cxnSp>
      <p:cxnSp>
        <p:nvCxnSpPr>
          <p:cNvPr id="71" name="Elbow Connector 70">
            <a:extLst>
              <a:ext uri="{FF2B5EF4-FFF2-40B4-BE49-F238E27FC236}">
                <a16:creationId xmlns:a16="http://schemas.microsoft.com/office/drawing/2014/main" id="{2FB33FBD-D589-BE43-891D-AF9DD3CF41D4}"/>
              </a:ext>
            </a:extLst>
          </p:cNvPr>
          <p:cNvCxnSpPr>
            <a:cxnSpLocks/>
            <a:stCxn id="26" idx="2"/>
            <a:endCxn id="44" idx="2"/>
          </p:cNvCxnSpPr>
          <p:nvPr/>
        </p:nvCxnSpPr>
        <p:spPr>
          <a:xfrm rot="16200000" flipH="1">
            <a:off x="4896784" y="2348690"/>
            <a:ext cx="12700" cy="5381223"/>
          </a:xfrm>
          <a:prstGeom prst="bentConnector3">
            <a:avLst>
              <a:gd name="adj1" fmla="val 7833803"/>
            </a:avLst>
          </a:prstGeom>
          <a:ln>
            <a:tailEnd type="triangle"/>
          </a:ln>
        </p:spPr>
        <p:style>
          <a:lnRef idx="1">
            <a:schemeClr val="dk1"/>
          </a:lnRef>
          <a:fillRef idx="0">
            <a:schemeClr val="dk1"/>
          </a:fillRef>
          <a:effectRef idx="0">
            <a:schemeClr val="dk1"/>
          </a:effectRef>
          <a:fontRef idx="minor">
            <a:schemeClr val="tx1"/>
          </a:fontRef>
        </p:style>
      </p:cxnSp>
      <p:sp>
        <p:nvSpPr>
          <p:cNvPr id="76" name="Rectangle 75">
            <a:extLst>
              <a:ext uri="{FF2B5EF4-FFF2-40B4-BE49-F238E27FC236}">
                <a16:creationId xmlns:a16="http://schemas.microsoft.com/office/drawing/2014/main" id="{381891F6-D633-6840-A2C5-DE2FE9D2A9BE}"/>
              </a:ext>
            </a:extLst>
          </p:cNvPr>
          <p:cNvSpPr/>
          <p:nvPr/>
        </p:nvSpPr>
        <p:spPr>
          <a:xfrm>
            <a:off x="8964548" y="5198052"/>
            <a:ext cx="736099"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uses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77" name="Rectangle 76">
            <a:extLst>
              <a:ext uri="{FF2B5EF4-FFF2-40B4-BE49-F238E27FC236}">
                <a16:creationId xmlns:a16="http://schemas.microsoft.com/office/drawing/2014/main" id="{173D924E-CC42-A149-A849-F90AFE7D18FC}"/>
              </a:ext>
            </a:extLst>
          </p:cNvPr>
          <p:cNvSpPr/>
          <p:nvPr/>
        </p:nvSpPr>
        <p:spPr>
          <a:xfrm>
            <a:off x="6836864" y="5702800"/>
            <a:ext cx="736099"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uses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3" name="Slide Number Placeholder 2">
            <a:extLst>
              <a:ext uri="{FF2B5EF4-FFF2-40B4-BE49-F238E27FC236}">
                <a16:creationId xmlns:a16="http://schemas.microsoft.com/office/drawing/2014/main" id="{5E910A3F-55DE-2545-B102-46B9EC108A5D}"/>
              </a:ext>
            </a:extLst>
          </p:cNvPr>
          <p:cNvSpPr>
            <a:spLocks noGrp="1"/>
          </p:cNvSpPr>
          <p:nvPr>
            <p:ph type="sldNum" sz="quarter" idx="12"/>
          </p:nvPr>
        </p:nvSpPr>
        <p:spPr/>
        <p:txBody>
          <a:bodyPr/>
          <a:lstStyle/>
          <a:p>
            <a:fld id="{31DE2C5B-556E-47B8-A792-024C2FCA4ACC}" type="slidenum">
              <a:rPr lang="en-GB" smtClean="0"/>
              <a:t>58</a:t>
            </a:fld>
            <a:endParaRPr lang="en-GB"/>
          </a:p>
        </p:txBody>
      </p:sp>
      <p:sp>
        <p:nvSpPr>
          <p:cNvPr id="4" name="TextBox 3">
            <a:extLst>
              <a:ext uri="{FF2B5EF4-FFF2-40B4-BE49-F238E27FC236}">
                <a16:creationId xmlns:a16="http://schemas.microsoft.com/office/drawing/2014/main" id="{F4D23262-B854-77ED-D226-D50C82B500E1}"/>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0424445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Abstract Factory (Example in Dart)</a:t>
            </a:r>
            <a:endParaRPr lang="en-IT" dirty="0"/>
          </a:p>
        </p:txBody>
      </p:sp>
      <p:cxnSp>
        <p:nvCxnSpPr>
          <p:cNvPr id="31" name="Straight Arrow Connector 30">
            <a:extLst>
              <a:ext uri="{FF2B5EF4-FFF2-40B4-BE49-F238E27FC236}">
                <a16:creationId xmlns:a16="http://schemas.microsoft.com/office/drawing/2014/main" id="{C1BA4125-9BC3-524F-B6ED-C5E81CBDFB23}"/>
              </a:ext>
            </a:extLst>
          </p:cNvPr>
          <p:cNvCxnSpPr>
            <a:cxnSpLocks/>
            <a:stCxn id="52" idx="0"/>
            <a:endCxn id="53" idx="2"/>
          </p:cNvCxnSpPr>
          <p:nvPr/>
        </p:nvCxnSpPr>
        <p:spPr>
          <a:xfrm flipH="1" flipV="1">
            <a:off x="2976925" y="2477851"/>
            <a:ext cx="1453786" cy="18807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07D33032-0FDB-C843-9900-2845707B01C6}"/>
              </a:ext>
            </a:extLst>
          </p:cNvPr>
          <p:cNvSpPr/>
          <p:nvPr/>
        </p:nvSpPr>
        <p:spPr>
          <a:xfrm>
            <a:off x="3589055" y="2960242"/>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34" name="Straight Arrow Connector 33">
            <a:extLst>
              <a:ext uri="{FF2B5EF4-FFF2-40B4-BE49-F238E27FC236}">
                <a16:creationId xmlns:a16="http://schemas.microsoft.com/office/drawing/2014/main" id="{B9889DDD-5CAB-B746-ADF5-49D045687613}"/>
              </a:ext>
            </a:extLst>
          </p:cNvPr>
          <p:cNvCxnSpPr>
            <a:cxnSpLocks/>
            <a:stCxn id="3" idx="0"/>
            <a:endCxn id="53" idx="2"/>
          </p:cNvCxnSpPr>
          <p:nvPr/>
        </p:nvCxnSpPr>
        <p:spPr>
          <a:xfrm flipV="1">
            <a:off x="1787343" y="2477851"/>
            <a:ext cx="1189582" cy="3045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DFF3154E-3E19-0749-B4D7-91BCF5D5C52B}"/>
              </a:ext>
            </a:extLst>
          </p:cNvPr>
          <p:cNvCxnSpPr>
            <a:cxnSpLocks/>
            <a:stCxn id="75" idx="0"/>
            <a:endCxn id="59" idx="2"/>
          </p:cNvCxnSpPr>
          <p:nvPr/>
        </p:nvCxnSpPr>
        <p:spPr>
          <a:xfrm flipH="1" flipV="1">
            <a:off x="8684002" y="2477503"/>
            <a:ext cx="1380253" cy="1870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Rectangle 49">
            <a:extLst>
              <a:ext uri="{FF2B5EF4-FFF2-40B4-BE49-F238E27FC236}">
                <a16:creationId xmlns:a16="http://schemas.microsoft.com/office/drawing/2014/main" id="{56B1DDC3-9EE8-1F41-8629-1B95E7089484}"/>
              </a:ext>
            </a:extLst>
          </p:cNvPr>
          <p:cNvSpPr/>
          <p:nvPr/>
        </p:nvSpPr>
        <p:spPr>
          <a:xfrm>
            <a:off x="6005679" y="2728900"/>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51" name="Straight Arrow Connector 50">
            <a:extLst>
              <a:ext uri="{FF2B5EF4-FFF2-40B4-BE49-F238E27FC236}">
                <a16:creationId xmlns:a16="http://schemas.microsoft.com/office/drawing/2014/main" id="{C035CACD-3E79-654F-9B65-19802DEB741E}"/>
              </a:ext>
            </a:extLst>
          </p:cNvPr>
          <p:cNvCxnSpPr>
            <a:cxnSpLocks/>
            <a:stCxn id="65" idx="0"/>
            <a:endCxn id="59" idx="2"/>
          </p:cNvCxnSpPr>
          <p:nvPr/>
        </p:nvCxnSpPr>
        <p:spPr>
          <a:xfrm flipV="1">
            <a:off x="7163729" y="2477503"/>
            <a:ext cx="1520273" cy="6569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314CCC24-4D7F-5243-9DF7-FE67299BA9DD}"/>
              </a:ext>
            </a:extLst>
          </p:cNvPr>
          <p:cNvCxnSpPr>
            <a:cxnSpLocks/>
            <a:stCxn id="59" idx="1"/>
            <a:endCxn id="53" idx="3"/>
          </p:cNvCxnSpPr>
          <p:nvPr/>
        </p:nvCxnSpPr>
        <p:spPr>
          <a:xfrm flipH="1">
            <a:off x="4332018" y="2154338"/>
            <a:ext cx="2872895" cy="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Rectangle 66">
            <a:extLst>
              <a:ext uri="{FF2B5EF4-FFF2-40B4-BE49-F238E27FC236}">
                <a16:creationId xmlns:a16="http://schemas.microsoft.com/office/drawing/2014/main" id="{6EB4D5EE-E7BC-8645-BB15-0E0670138B42}"/>
              </a:ext>
            </a:extLst>
          </p:cNvPr>
          <p:cNvSpPr/>
          <p:nvPr/>
        </p:nvSpPr>
        <p:spPr>
          <a:xfrm>
            <a:off x="5481771" y="1702616"/>
            <a:ext cx="736099"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uses</a:t>
            </a:r>
            <a:endParaRPr lang="en-IT" b="1" dirty="0">
              <a:latin typeface="Menlo" panose="020B0609030804020204" pitchFamily="49" charset="0"/>
              <a:ea typeface="Menlo" panose="020B0609030804020204" pitchFamily="49" charset="0"/>
              <a:cs typeface="Menlo" panose="020B0609030804020204" pitchFamily="49" charset="0"/>
            </a:endParaRPr>
          </a:p>
        </p:txBody>
      </p:sp>
      <p:cxnSp>
        <p:nvCxnSpPr>
          <p:cNvPr id="70" name="Elbow Connector 69">
            <a:extLst>
              <a:ext uri="{FF2B5EF4-FFF2-40B4-BE49-F238E27FC236}">
                <a16:creationId xmlns:a16="http://schemas.microsoft.com/office/drawing/2014/main" id="{D279B0A3-3326-6A47-AB1A-3B35FDFFF9B2}"/>
              </a:ext>
            </a:extLst>
          </p:cNvPr>
          <p:cNvCxnSpPr>
            <a:cxnSpLocks/>
            <a:stCxn id="52" idx="2"/>
            <a:endCxn id="75" idx="2"/>
          </p:cNvCxnSpPr>
          <p:nvPr/>
        </p:nvCxnSpPr>
        <p:spPr>
          <a:xfrm rot="5400000" flipH="1" flipV="1">
            <a:off x="7242256" y="2552281"/>
            <a:ext cx="10453" cy="5633544"/>
          </a:xfrm>
          <a:prstGeom prst="bentConnector3">
            <a:avLst>
              <a:gd name="adj1" fmla="val -5883172"/>
            </a:avLst>
          </a:prstGeom>
          <a:ln>
            <a:tailEnd type="triangle"/>
          </a:ln>
        </p:spPr>
        <p:style>
          <a:lnRef idx="1">
            <a:schemeClr val="dk1"/>
          </a:lnRef>
          <a:fillRef idx="0">
            <a:schemeClr val="dk1"/>
          </a:fillRef>
          <a:effectRef idx="0">
            <a:schemeClr val="dk1"/>
          </a:effectRef>
          <a:fontRef idx="minor">
            <a:schemeClr val="tx1"/>
          </a:fontRef>
        </p:style>
      </p:cxnSp>
      <p:cxnSp>
        <p:nvCxnSpPr>
          <p:cNvPr id="71" name="Elbow Connector 70">
            <a:extLst>
              <a:ext uri="{FF2B5EF4-FFF2-40B4-BE49-F238E27FC236}">
                <a16:creationId xmlns:a16="http://schemas.microsoft.com/office/drawing/2014/main" id="{2FB33FBD-D589-BE43-891D-AF9DD3CF41D4}"/>
              </a:ext>
            </a:extLst>
          </p:cNvPr>
          <p:cNvCxnSpPr>
            <a:cxnSpLocks/>
            <a:stCxn id="3" idx="2"/>
            <a:endCxn id="65" idx="2"/>
          </p:cNvCxnSpPr>
          <p:nvPr/>
        </p:nvCxnSpPr>
        <p:spPr>
          <a:xfrm rot="5400000" flipH="1" flipV="1">
            <a:off x="3281238" y="2656223"/>
            <a:ext cx="2388596" cy="5376386"/>
          </a:xfrm>
          <a:prstGeom prst="bentConnector3">
            <a:avLst>
              <a:gd name="adj1" fmla="val -9570"/>
            </a:avLst>
          </a:prstGeom>
          <a:ln>
            <a:tailEnd type="triangle"/>
          </a:ln>
        </p:spPr>
        <p:style>
          <a:lnRef idx="1">
            <a:schemeClr val="dk1"/>
          </a:lnRef>
          <a:fillRef idx="0">
            <a:schemeClr val="dk1"/>
          </a:fillRef>
          <a:effectRef idx="0">
            <a:schemeClr val="dk1"/>
          </a:effectRef>
          <a:fontRef idx="minor">
            <a:schemeClr val="tx1"/>
          </a:fontRef>
        </p:style>
      </p:cxnSp>
      <p:sp>
        <p:nvSpPr>
          <p:cNvPr id="76" name="Rectangle 75">
            <a:extLst>
              <a:ext uri="{FF2B5EF4-FFF2-40B4-BE49-F238E27FC236}">
                <a16:creationId xmlns:a16="http://schemas.microsoft.com/office/drawing/2014/main" id="{381891F6-D633-6840-A2C5-DE2FE9D2A9BE}"/>
              </a:ext>
            </a:extLst>
          </p:cNvPr>
          <p:cNvSpPr/>
          <p:nvPr/>
        </p:nvSpPr>
        <p:spPr>
          <a:xfrm>
            <a:off x="9175854" y="5576711"/>
            <a:ext cx="736099"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uses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77" name="Rectangle 76">
            <a:extLst>
              <a:ext uri="{FF2B5EF4-FFF2-40B4-BE49-F238E27FC236}">
                <a16:creationId xmlns:a16="http://schemas.microsoft.com/office/drawing/2014/main" id="{173D924E-CC42-A149-A849-F90AFE7D18FC}"/>
              </a:ext>
            </a:extLst>
          </p:cNvPr>
          <p:cNvSpPr/>
          <p:nvPr/>
        </p:nvSpPr>
        <p:spPr>
          <a:xfrm>
            <a:off x="6334588" y="6354050"/>
            <a:ext cx="736099"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uses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3" name="Rectangle 2">
            <a:extLst>
              <a:ext uri="{FF2B5EF4-FFF2-40B4-BE49-F238E27FC236}">
                <a16:creationId xmlns:a16="http://schemas.microsoft.com/office/drawing/2014/main" id="{83C4FE4D-2988-2C40-8275-30E5AA841A12}"/>
              </a:ext>
            </a:extLst>
          </p:cNvPr>
          <p:cNvSpPr/>
          <p:nvPr/>
        </p:nvSpPr>
        <p:spPr>
          <a:xfrm>
            <a:off x="148397" y="5523051"/>
            <a:ext cx="3277892" cy="10156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ea typeface="Menlo" panose="020B0609030804020204" pitchFamily="49" charset="0"/>
                <a:cs typeface="Menlo" panose="020B0609030804020204" pitchFamily="49" charset="0"/>
              </a:rPr>
              <a:t>class </a:t>
            </a:r>
            <a:r>
              <a:rPr lang="en-GB" sz="1200" b="1" dirty="0">
                <a:latin typeface="Menlo" panose="020B0609030804020204" pitchFamily="49" charset="0"/>
                <a:ea typeface="Menlo" panose="020B0609030804020204" pitchFamily="49" charset="0"/>
                <a:cs typeface="Menlo" panose="020B0609030804020204" pitchFamily="49" charset="0"/>
              </a:rPr>
              <a:t>Beer</a:t>
            </a:r>
            <a:r>
              <a:rPr lang="en-GB" sz="1200" dirty="0">
                <a:latin typeface="Menlo" panose="020B0609030804020204" pitchFamily="49" charset="0"/>
                <a:ea typeface="Menlo" panose="020B0609030804020204" pitchFamily="49" charset="0"/>
                <a:cs typeface="Menlo" panose="020B0609030804020204" pitchFamily="49" charset="0"/>
              </a:rPr>
              <a:t> implements Drinkable {</a:t>
            </a:r>
          </a:p>
          <a:p>
            <a:r>
              <a:rPr lang="en-GB" sz="1200" dirty="0">
                <a:latin typeface="Menlo" panose="020B0609030804020204" pitchFamily="49" charset="0"/>
                <a:ea typeface="Menlo" panose="020B0609030804020204" pitchFamily="49" charset="0"/>
                <a:cs typeface="Menlo" panose="020B0609030804020204" pitchFamily="49" charset="0"/>
              </a:rPr>
              <a:t>  void pour() {</a:t>
            </a:r>
          </a:p>
          <a:p>
            <a:r>
              <a:rPr lang="en-GB" sz="1200" dirty="0">
                <a:latin typeface="Menlo" panose="020B0609030804020204" pitchFamily="49" charset="0"/>
                <a:ea typeface="Menlo" panose="020B0609030804020204" pitchFamily="49" charset="0"/>
                <a:cs typeface="Menlo" panose="020B0609030804020204" pitchFamily="49" charset="0"/>
              </a:rPr>
              <a:t>    print("Pouring a beer!");</a:t>
            </a:r>
          </a:p>
          <a:p>
            <a:r>
              <a:rPr lang="en-GB" sz="1200" dirty="0">
                <a:latin typeface="Menlo" panose="020B0609030804020204" pitchFamily="49" charset="0"/>
                <a:ea typeface="Menlo" panose="020B0609030804020204" pitchFamily="49" charset="0"/>
                <a:cs typeface="Menlo" panose="020B0609030804020204" pitchFamily="49" charset="0"/>
              </a:rPr>
              <a:t>  }//pour</a:t>
            </a:r>
          </a:p>
          <a:p>
            <a:r>
              <a:rPr lang="en-GB" sz="1200" dirty="0">
                <a:latin typeface="Menlo" panose="020B0609030804020204" pitchFamily="49" charset="0"/>
                <a:ea typeface="Menlo" panose="020B0609030804020204" pitchFamily="49" charset="0"/>
                <a:cs typeface="Menlo" panose="020B0609030804020204" pitchFamily="49" charset="0"/>
              </a:rPr>
              <a:t>}//Beer</a:t>
            </a:r>
            <a:endParaRPr lang="en-GB" sz="1200" b="0" dirty="0">
              <a:effectLst/>
              <a:latin typeface="Menlo" panose="020B0609030804020204" pitchFamily="49" charset="0"/>
              <a:ea typeface="Menlo" panose="020B0609030804020204" pitchFamily="49" charset="0"/>
              <a:cs typeface="Menlo" panose="020B0609030804020204" pitchFamily="49" charset="0"/>
            </a:endParaRPr>
          </a:p>
        </p:txBody>
      </p:sp>
      <p:sp>
        <p:nvSpPr>
          <p:cNvPr id="52" name="Rectangle 51">
            <a:extLst>
              <a:ext uri="{FF2B5EF4-FFF2-40B4-BE49-F238E27FC236}">
                <a16:creationId xmlns:a16="http://schemas.microsoft.com/office/drawing/2014/main" id="{07CF9094-49EB-9948-B266-9377E194F44F}"/>
              </a:ext>
            </a:extLst>
          </p:cNvPr>
          <p:cNvSpPr/>
          <p:nvPr/>
        </p:nvSpPr>
        <p:spPr>
          <a:xfrm>
            <a:off x="2723958" y="4358616"/>
            <a:ext cx="3413506" cy="10156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ea typeface="Menlo" panose="020B0609030804020204" pitchFamily="49" charset="0"/>
                <a:cs typeface="Menlo" panose="020B0609030804020204" pitchFamily="49" charset="0"/>
              </a:rPr>
              <a:t>class </a:t>
            </a:r>
            <a:r>
              <a:rPr lang="en-GB" sz="1200" b="1" dirty="0">
                <a:latin typeface="Menlo" panose="020B0609030804020204" pitchFamily="49" charset="0"/>
                <a:ea typeface="Menlo" panose="020B0609030804020204" pitchFamily="49" charset="0"/>
                <a:cs typeface="Menlo" panose="020B0609030804020204" pitchFamily="49" charset="0"/>
              </a:rPr>
              <a:t>Coffee</a:t>
            </a:r>
            <a:r>
              <a:rPr lang="en-GB" sz="1200" dirty="0">
                <a:latin typeface="Menlo" panose="020B0609030804020204" pitchFamily="49" charset="0"/>
                <a:ea typeface="Menlo" panose="020B0609030804020204" pitchFamily="49" charset="0"/>
                <a:cs typeface="Menlo" panose="020B0609030804020204" pitchFamily="49" charset="0"/>
              </a:rPr>
              <a:t> implements Drinkable {</a:t>
            </a:r>
          </a:p>
          <a:p>
            <a:r>
              <a:rPr lang="en-GB" sz="1200" dirty="0">
                <a:latin typeface="Menlo" panose="020B0609030804020204" pitchFamily="49" charset="0"/>
                <a:ea typeface="Menlo" panose="020B0609030804020204" pitchFamily="49" charset="0"/>
                <a:cs typeface="Menlo" panose="020B0609030804020204" pitchFamily="49" charset="0"/>
              </a:rPr>
              <a:t>  void pour() {</a:t>
            </a:r>
          </a:p>
          <a:p>
            <a:r>
              <a:rPr lang="en-GB" sz="1200" dirty="0">
                <a:latin typeface="Menlo" panose="020B0609030804020204" pitchFamily="49" charset="0"/>
                <a:ea typeface="Menlo" panose="020B0609030804020204" pitchFamily="49" charset="0"/>
                <a:cs typeface="Menlo" panose="020B0609030804020204" pitchFamily="49" charset="0"/>
              </a:rPr>
              <a:t>    print("Pouring a coffee!");</a:t>
            </a:r>
          </a:p>
          <a:p>
            <a:r>
              <a:rPr lang="en-GB" sz="1200" dirty="0">
                <a:latin typeface="Menlo" panose="020B0609030804020204" pitchFamily="49" charset="0"/>
                <a:ea typeface="Menlo" panose="020B0609030804020204" pitchFamily="49" charset="0"/>
                <a:cs typeface="Menlo" panose="020B0609030804020204" pitchFamily="49" charset="0"/>
              </a:rPr>
              <a:t>  }//pour</a:t>
            </a:r>
          </a:p>
          <a:p>
            <a:r>
              <a:rPr lang="en-GB" sz="1200" dirty="0">
                <a:latin typeface="Menlo" panose="020B0609030804020204" pitchFamily="49" charset="0"/>
                <a:ea typeface="Menlo" panose="020B0609030804020204" pitchFamily="49" charset="0"/>
                <a:cs typeface="Menlo" panose="020B0609030804020204" pitchFamily="49" charset="0"/>
              </a:rPr>
              <a:t>}//Coffee</a:t>
            </a:r>
            <a:endParaRPr lang="en-GB" sz="1200" b="0" dirty="0">
              <a:effectLst/>
              <a:latin typeface="Menlo" panose="020B0609030804020204" pitchFamily="49" charset="0"/>
              <a:ea typeface="Menlo" panose="020B0609030804020204" pitchFamily="49" charset="0"/>
              <a:cs typeface="Menlo" panose="020B0609030804020204" pitchFamily="49" charset="0"/>
            </a:endParaRPr>
          </a:p>
        </p:txBody>
      </p:sp>
      <p:sp>
        <p:nvSpPr>
          <p:cNvPr id="53" name="Rectangle 52">
            <a:extLst>
              <a:ext uri="{FF2B5EF4-FFF2-40B4-BE49-F238E27FC236}">
                <a16:creationId xmlns:a16="http://schemas.microsoft.com/office/drawing/2014/main" id="{E6ED9E4B-536E-C64F-A6EB-4A6B63DD156E}"/>
              </a:ext>
            </a:extLst>
          </p:cNvPr>
          <p:cNvSpPr/>
          <p:nvPr/>
        </p:nvSpPr>
        <p:spPr>
          <a:xfrm>
            <a:off x="1621832" y="1831520"/>
            <a:ext cx="2710186"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ea typeface="Menlo" panose="020B0609030804020204" pitchFamily="49" charset="0"/>
                <a:cs typeface="Menlo" panose="020B0609030804020204" pitchFamily="49" charset="0"/>
              </a:rPr>
              <a:t>abstract class </a:t>
            </a:r>
            <a:r>
              <a:rPr lang="en-GB" sz="1200" b="1" dirty="0">
                <a:latin typeface="Menlo" panose="020B0609030804020204" pitchFamily="49" charset="0"/>
                <a:ea typeface="Menlo" panose="020B0609030804020204" pitchFamily="49" charset="0"/>
                <a:cs typeface="Menlo" panose="020B0609030804020204" pitchFamily="49" charset="0"/>
              </a:rPr>
              <a:t>Drinkable</a:t>
            </a:r>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void pour();</a:t>
            </a:r>
          </a:p>
          <a:p>
            <a:r>
              <a:rPr lang="en-GB" sz="1200" dirty="0">
                <a:latin typeface="Menlo" panose="020B0609030804020204" pitchFamily="49" charset="0"/>
                <a:ea typeface="Menlo" panose="020B0609030804020204" pitchFamily="49" charset="0"/>
                <a:cs typeface="Menlo" panose="020B0609030804020204" pitchFamily="49" charset="0"/>
              </a:rPr>
              <a:t>}//Drinkable</a:t>
            </a:r>
            <a:endParaRPr lang="en-GB" sz="1200" b="0" dirty="0">
              <a:effectLst/>
              <a:latin typeface="Menlo" panose="020B0609030804020204" pitchFamily="49" charset="0"/>
              <a:ea typeface="Menlo" panose="020B0609030804020204" pitchFamily="49" charset="0"/>
              <a:cs typeface="Menlo" panose="020B0609030804020204" pitchFamily="49" charset="0"/>
            </a:endParaRPr>
          </a:p>
        </p:txBody>
      </p:sp>
      <p:sp>
        <p:nvSpPr>
          <p:cNvPr id="59" name="Rectangle 58">
            <a:extLst>
              <a:ext uri="{FF2B5EF4-FFF2-40B4-BE49-F238E27FC236}">
                <a16:creationId xmlns:a16="http://schemas.microsoft.com/office/drawing/2014/main" id="{43E13B88-C0B4-5D4A-A99E-16E2FAE205E2}"/>
              </a:ext>
            </a:extLst>
          </p:cNvPr>
          <p:cNvSpPr/>
          <p:nvPr/>
        </p:nvSpPr>
        <p:spPr>
          <a:xfrm>
            <a:off x="7204913" y="1831172"/>
            <a:ext cx="2958178"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ea typeface="Menlo" panose="020B0609030804020204" pitchFamily="49" charset="0"/>
                <a:cs typeface="Menlo" panose="020B0609030804020204" pitchFamily="49" charset="0"/>
              </a:rPr>
              <a:t>abstract class </a:t>
            </a:r>
            <a:r>
              <a:rPr lang="en-GB" sz="1200" b="1" dirty="0" err="1">
                <a:latin typeface="Menlo" panose="020B0609030804020204" pitchFamily="49" charset="0"/>
                <a:ea typeface="Menlo" panose="020B0609030804020204" pitchFamily="49" charset="0"/>
                <a:cs typeface="Menlo" panose="020B0609030804020204" pitchFamily="49" charset="0"/>
              </a:rPr>
              <a:t>DrinkFactory</a:t>
            </a:r>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Drinkable </a:t>
            </a:r>
            <a:r>
              <a:rPr lang="en-GB" sz="1200" dirty="0" err="1">
                <a:latin typeface="Menlo" panose="020B0609030804020204" pitchFamily="49" charset="0"/>
                <a:ea typeface="Menlo" panose="020B0609030804020204" pitchFamily="49" charset="0"/>
                <a:cs typeface="Menlo" panose="020B0609030804020204" pitchFamily="49" charset="0"/>
              </a:rPr>
              <a:t>createDrink</a:t>
            </a:r>
            <a:r>
              <a:rPr lang="en-GB" sz="1200" dirty="0">
                <a:latin typeface="Menlo" panose="020B0609030804020204" pitchFamily="49" charset="0"/>
                <a:ea typeface="Menlo" panose="020B0609030804020204" pitchFamily="49" charset="0"/>
                <a:cs typeface="Menlo" panose="020B0609030804020204" pitchFamily="49" charset="0"/>
              </a:rPr>
              <a:t>();</a:t>
            </a:r>
          </a:p>
          <a:p>
            <a:r>
              <a:rPr lang="en-GB" sz="1200" dirty="0">
                <a:latin typeface="Menlo" panose="020B0609030804020204" pitchFamily="49" charset="0"/>
                <a:ea typeface="Menlo" panose="020B0609030804020204" pitchFamily="49" charset="0"/>
                <a:cs typeface="Menlo" panose="020B0609030804020204" pitchFamily="49" charset="0"/>
              </a:rPr>
              <a:t>}//</a:t>
            </a:r>
            <a:r>
              <a:rPr lang="en-GB" sz="1200" dirty="0" err="1">
                <a:latin typeface="Menlo" panose="020B0609030804020204" pitchFamily="49" charset="0"/>
                <a:ea typeface="Menlo" panose="020B0609030804020204" pitchFamily="49" charset="0"/>
                <a:cs typeface="Menlo" panose="020B0609030804020204" pitchFamily="49" charset="0"/>
              </a:rPr>
              <a:t>DrinkFactory</a:t>
            </a:r>
            <a:endParaRPr lang="en-GB" sz="1200" b="0" dirty="0">
              <a:effectLst/>
              <a:latin typeface="Menlo" panose="020B0609030804020204" pitchFamily="49" charset="0"/>
              <a:ea typeface="Menlo" panose="020B0609030804020204" pitchFamily="49" charset="0"/>
              <a:cs typeface="Menlo" panose="020B0609030804020204" pitchFamily="49" charset="0"/>
            </a:endParaRPr>
          </a:p>
        </p:txBody>
      </p:sp>
      <p:sp>
        <p:nvSpPr>
          <p:cNvPr id="65" name="Rectangle 64">
            <a:extLst>
              <a:ext uri="{FF2B5EF4-FFF2-40B4-BE49-F238E27FC236}">
                <a16:creationId xmlns:a16="http://schemas.microsoft.com/office/drawing/2014/main" id="{5317133D-2499-F84D-BAC7-8C126B69E61B}"/>
              </a:ext>
            </a:extLst>
          </p:cNvPr>
          <p:cNvSpPr/>
          <p:nvPr/>
        </p:nvSpPr>
        <p:spPr>
          <a:xfrm>
            <a:off x="5456976" y="3134455"/>
            <a:ext cx="3413506" cy="10156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ea typeface="Menlo" panose="020B0609030804020204" pitchFamily="49" charset="0"/>
                <a:cs typeface="Menlo" panose="020B0609030804020204" pitchFamily="49" charset="0"/>
              </a:rPr>
              <a:t>class </a:t>
            </a:r>
            <a:r>
              <a:rPr lang="en-GB" sz="1200" b="1" dirty="0">
                <a:latin typeface="Menlo" panose="020B0609030804020204" pitchFamily="49" charset="0"/>
                <a:ea typeface="Menlo" panose="020B0609030804020204" pitchFamily="49" charset="0"/>
                <a:cs typeface="Menlo" panose="020B0609030804020204" pitchFamily="49" charset="0"/>
              </a:rPr>
              <a:t>Pub</a:t>
            </a:r>
            <a:r>
              <a:rPr lang="en-GB" sz="1200" dirty="0">
                <a:latin typeface="Menlo" panose="020B0609030804020204" pitchFamily="49" charset="0"/>
                <a:ea typeface="Menlo" panose="020B0609030804020204" pitchFamily="49" charset="0"/>
                <a:cs typeface="Menlo" panose="020B0609030804020204" pitchFamily="49" charset="0"/>
              </a:rPr>
              <a:t> implements </a:t>
            </a:r>
            <a:r>
              <a:rPr lang="en-GB" sz="1200" dirty="0" err="1">
                <a:latin typeface="Menlo" panose="020B0609030804020204" pitchFamily="49" charset="0"/>
                <a:ea typeface="Menlo" panose="020B0609030804020204" pitchFamily="49" charset="0"/>
                <a:cs typeface="Menlo" panose="020B0609030804020204" pitchFamily="49" charset="0"/>
              </a:rPr>
              <a:t>DrinkFactory</a:t>
            </a:r>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Drinkable </a:t>
            </a:r>
            <a:r>
              <a:rPr lang="en-GB" sz="1200" dirty="0" err="1">
                <a:latin typeface="Menlo" panose="020B0609030804020204" pitchFamily="49" charset="0"/>
                <a:ea typeface="Menlo" panose="020B0609030804020204" pitchFamily="49" charset="0"/>
                <a:cs typeface="Menlo" panose="020B0609030804020204" pitchFamily="49" charset="0"/>
              </a:rPr>
              <a:t>createDrink</a:t>
            </a:r>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return Beer();</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createDrink</a:t>
            </a:r>
            <a:endParaRPr lang="en-GB" sz="1200" dirty="0">
              <a:latin typeface="Menlo" panose="020B0609030804020204" pitchFamily="49" charset="0"/>
              <a:ea typeface="Menlo" panose="020B0609030804020204" pitchFamily="49" charset="0"/>
              <a:cs typeface="Menlo" panose="020B0609030804020204" pitchFamily="49" charset="0"/>
            </a:endParaRPr>
          </a:p>
          <a:p>
            <a:r>
              <a:rPr lang="en-GB" sz="1200" dirty="0">
                <a:latin typeface="Menlo" panose="020B0609030804020204" pitchFamily="49" charset="0"/>
                <a:ea typeface="Menlo" panose="020B0609030804020204" pitchFamily="49" charset="0"/>
                <a:cs typeface="Menlo" panose="020B0609030804020204" pitchFamily="49" charset="0"/>
              </a:rPr>
              <a:t>}//Pub</a:t>
            </a:r>
            <a:endParaRPr lang="en-GB" sz="1200" b="0" dirty="0">
              <a:effectLst/>
              <a:latin typeface="Menlo" panose="020B0609030804020204" pitchFamily="49" charset="0"/>
              <a:ea typeface="Menlo" panose="020B0609030804020204" pitchFamily="49" charset="0"/>
              <a:cs typeface="Menlo" panose="020B0609030804020204" pitchFamily="49" charset="0"/>
            </a:endParaRPr>
          </a:p>
        </p:txBody>
      </p:sp>
      <p:sp>
        <p:nvSpPr>
          <p:cNvPr id="75" name="Rectangle 74">
            <a:extLst>
              <a:ext uri="{FF2B5EF4-FFF2-40B4-BE49-F238E27FC236}">
                <a16:creationId xmlns:a16="http://schemas.microsoft.com/office/drawing/2014/main" id="{2E11CDE0-DEB2-4244-B136-338811D82A96}"/>
              </a:ext>
            </a:extLst>
          </p:cNvPr>
          <p:cNvSpPr/>
          <p:nvPr/>
        </p:nvSpPr>
        <p:spPr>
          <a:xfrm>
            <a:off x="8017099" y="4348163"/>
            <a:ext cx="4094311" cy="101566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ea typeface="Menlo" panose="020B0609030804020204" pitchFamily="49" charset="0"/>
                <a:cs typeface="Menlo" panose="020B0609030804020204" pitchFamily="49" charset="0"/>
              </a:rPr>
              <a:t>class </a:t>
            </a:r>
            <a:r>
              <a:rPr lang="en-GB" sz="1200" b="1" dirty="0" err="1">
                <a:latin typeface="Menlo" panose="020B0609030804020204" pitchFamily="49" charset="0"/>
                <a:ea typeface="Menlo" panose="020B0609030804020204" pitchFamily="49" charset="0"/>
                <a:cs typeface="Menlo" panose="020B0609030804020204" pitchFamily="49" charset="0"/>
              </a:rPr>
              <a:t>CoffeeShop</a:t>
            </a:r>
            <a:r>
              <a:rPr lang="en-GB" sz="1200" dirty="0">
                <a:latin typeface="Menlo" panose="020B0609030804020204" pitchFamily="49" charset="0"/>
                <a:ea typeface="Menlo" panose="020B0609030804020204" pitchFamily="49" charset="0"/>
                <a:cs typeface="Menlo" panose="020B0609030804020204" pitchFamily="49" charset="0"/>
              </a:rPr>
              <a:t> implements </a:t>
            </a:r>
            <a:r>
              <a:rPr lang="en-GB" sz="1200" dirty="0" err="1">
                <a:latin typeface="Menlo" panose="020B0609030804020204" pitchFamily="49" charset="0"/>
                <a:ea typeface="Menlo" panose="020B0609030804020204" pitchFamily="49" charset="0"/>
                <a:cs typeface="Menlo" panose="020B0609030804020204" pitchFamily="49" charset="0"/>
              </a:rPr>
              <a:t>DrinkFactory</a:t>
            </a:r>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Drinkable </a:t>
            </a:r>
            <a:r>
              <a:rPr lang="en-GB" sz="1200" dirty="0" err="1">
                <a:latin typeface="Menlo" panose="020B0609030804020204" pitchFamily="49" charset="0"/>
                <a:ea typeface="Menlo" panose="020B0609030804020204" pitchFamily="49" charset="0"/>
                <a:cs typeface="Menlo" panose="020B0609030804020204" pitchFamily="49" charset="0"/>
              </a:rPr>
              <a:t>createDrink</a:t>
            </a:r>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return Coffee();</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createDrink</a:t>
            </a:r>
            <a:endParaRPr lang="en-GB" sz="1200" dirty="0">
              <a:latin typeface="Menlo" panose="020B0609030804020204" pitchFamily="49" charset="0"/>
              <a:ea typeface="Menlo" panose="020B0609030804020204" pitchFamily="49" charset="0"/>
              <a:cs typeface="Menlo" panose="020B0609030804020204" pitchFamily="49" charset="0"/>
            </a:endParaRPr>
          </a:p>
          <a:p>
            <a:r>
              <a:rPr lang="en-GB" sz="1200" dirty="0">
                <a:latin typeface="Menlo" panose="020B0609030804020204" pitchFamily="49" charset="0"/>
                <a:ea typeface="Menlo" panose="020B0609030804020204" pitchFamily="49" charset="0"/>
                <a:cs typeface="Menlo" panose="020B0609030804020204" pitchFamily="49" charset="0"/>
              </a:rPr>
              <a:t>}//</a:t>
            </a:r>
            <a:r>
              <a:rPr lang="en-GB" sz="1200" dirty="0" err="1">
                <a:latin typeface="Menlo" panose="020B0609030804020204" pitchFamily="49" charset="0"/>
                <a:ea typeface="Menlo" panose="020B0609030804020204" pitchFamily="49" charset="0"/>
                <a:cs typeface="Menlo" panose="020B0609030804020204" pitchFamily="49" charset="0"/>
              </a:rPr>
              <a:t>CoffeeShop</a:t>
            </a:r>
            <a:endParaRPr lang="en-GB" sz="1200" b="0" dirty="0">
              <a:effectLst/>
              <a:latin typeface="Menlo" panose="020B0609030804020204" pitchFamily="49" charset="0"/>
              <a:ea typeface="Menlo" panose="020B0609030804020204" pitchFamily="49" charset="0"/>
              <a:cs typeface="Menlo" panose="020B0609030804020204" pitchFamily="49" charset="0"/>
            </a:endParaRPr>
          </a:p>
        </p:txBody>
      </p:sp>
      <p:sp>
        <p:nvSpPr>
          <p:cNvPr id="88" name="Rectangle 87">
            <a:extLst>
              <a:ext uri="{FF2B5EF4-FFF2-40B4-BE49-F238E27FC236}">
                <a16:creationId xmlns:a16="http://schemas.microsoft.com/office/drawing/2014/main" id="{BE7E751C-F548-024C-8069-8026DBF70D47}"/>
              </a:ext>
            </a:extLst>
          </p:cNvPr>
          <p:cNvSpPr/>
          <p:nvPr/>
        </p:nvSpPr>
        <p:spPr>
          <a:xfrm>
            <a:off x="9911953" y="3799392"/>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89" name="Rectangle 88">
            <a:extLst>
              <a:ext uri="{FF2B5EF4-FFF2-40B4-BE49-F238E27FC236}">
                <a16:creationId xmlns:a16="http://schemas.microsoft.com/office/drawing/2014/main" id="{E1BCC942-BEEA-4A4D-B252-037415FF4EAC}"/>
              </a:ext>
            </a:extLst>
          </p:cNvPr>
          <p:cNvSpPr/>
          <p:nvPr/>
        </p:nvSpPr>
        <p:spPr>
          <a:xfrm>
            <a:off x="422061" y="4681781"/>
            <a:ext cx="1579278" cy="369332"/>
          </a:xfrm>
          <a:prstGeom prst="rect">
            <a:avLst/>
          </a:prstGeom>
        </p:spPr>
        <p:txBody>
          <a:bodyPr wrap="none">
            <a:spAutoFit/>
          </a:bodyPr>
          <a:lstStyle/>
          <a:p>
            <a:r>
              <a:rPr lang="en-GB" b="1" dirty="0">
                <a:latin typeface="Menlo" panose="020B0609030804020204" pitchFamily="49" charset="0"/>
                <a:ea typeface="Menlo" panose="020B0609030804020204" pitchFamily="49" charset="0"/>
                <a:cs typeface="Menlo" panose="020B0609030804020204" pitchFamily="49" charset="0"/>
              </a:rPr>
              <a:t>implements</a:t>
            </a:r>
            <a:endParaRPr lang="en-IT" b="1"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9E3706A0-24EB-F64A-8F76-5CC2D6052698}"/>
              </a:ext>
            </a:extLst>
          </p:cNvPr>
          <p:cNvSpPr>
            <a:spLocks noGrp="1"/>
          </p:cNvSpPr>
          <p:nvPr>
            <p:ph type="sldNum" sz="quarter" idx="12"/>
          </p:nvPr>
        </p:nvSpPr>
        <p:spPr/>
        <p:txBody>
          <a:bodyPr/>
          <a:lstStyle/>
          <a:p>
            <a:fld id="{31DE2C5B-556E-47B8-A792-024C2FCA4ACC}" type="slidenum">
              <a:rPr lang="en-GB" smtClean="0"/>
              <a:t>59</a:t>
            </a:fld>
            <a:endParaRPr lang="en-GB"/>
          </a:p>
        </p:txBody>
      </p:sp>
      <p:sp>
        <p:nvSpPr>
          <p:cNvPr id="5" name="TextBox 4">
            <a:extLst>
              <a:ext uri="{FF2B5EF4-FFF2-40B4-BE49-F238E27FC236}">
                <a16:creationId xmlns:a16="http://schemas.microsoft.com/office/drawing/2014/main" id="{EF91E17B-308B-FA6A-0D00-22792A6A69B1}"/>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23499623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Using Abstract Factory (Example in Dart)</a:t>
            </a:r>
            <a:endParaRPr lang="en-IT" dirty="0"/>
          </a:p>
        </p:txBody>
      </p:sp>
      <p:sp>
        <p:nvSpPr>
          <p:cNvPr id="53" name="Rectangle 52">
            <a:extLst>
              <a:ext uri="{FF2B5EF4-FFF2-40B4-BE49-F238E27FC236}">
                <a16:creationId xmlns:a16="http://schemas.microsoft.com/office/drawing/2014/main" id="{E6ED9E4B-536E-C64F-A6EB-4A6B63DD156E}"/>
              </a:ext>
            </a:extLst>
          </p:cNvPr>
          <p:cNvSpPr/>
          <p:nvPr/>
        </p:nvSpPr>
        <p:spPr>
          <a:xfrm>
            <a:off x="909161" y="1746124"/>
            <a:ext cx="6225735" cy="3785652"/>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a:spAutoFit/>
          </a:bodyPr>
          <a:lstStyle/>
          <a:p>
            <a:r>
              <a:rPr lang="en-GB" sz="1200" dirty="0">
                <a:latin typeface="Menlo" panose="020B0609030804020204" pitchFamily="49" charset="0"/>
                <a:ea typeface="Menlo" panose="020B0609030804020204" pitchFamily="49" charset="0"/>
                <a:cs typeface="Menlo" panose="020B0609030804020204" pitchFamily="49" charset="0"/>
              </a:rPr>
              <a:t>void main() {</a:t>
            </a:r>
          </a:p>
          <a:p>
            <a:r>
              <a:rPr lang="en-GB" sz="1200" dirty="0">
                <a:latin typeface="Menlo" panose="020B0609030804020204" pitchFamily="49" charset="0"/>
                <a:ea typeface="Menlo" panose="020B0609030804020204" pitchFamily="49" charset="0"/>
                <a:cs typeface="Menlo" panose="020B0609030804020204" pitchFamily="49" charset="0"/>
              </a:rPr>
              <a:t>  var mood = "sleepy";</a:t>
            </a:r>
          </a:p>
          <a:p>
            <a:endParaRPr lang="en-GB" sz="1200" dirty="0">
              <a:latin typeface="Menlo" panose="020B0609030804020204" pitchFamily="49" charset="0"/>
              <a:ea typeface="Menlo" panose="020B0609030804020204" pitchFamily="49" charset="0"/>
              <a:cs typeface="Menlo" panose="020B0609030804020204" pitchFamily="49" charset="0"/>
            </a:endParaRPr>
          </a:p>
          <a:p>
            <a:r>
              <a:rPr lang="en-GB" sz="1200" dirty="0">
                <a:latin typeface="Menlo" panose="020B0609030804020204" pitchFamily="49" charset="0"/>
                <a:ea typeface="Menlo" panose="020B0609030804020204" pitchFamily="49" charset="0"/>
                <a:cs typeface="Menlo" panose="020B0609030804020204" pitchFamily="49" charset="0"/>
              </a:rPr>
              <a:t>  //Here we are instantiating the abstract factory</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b="1" dirty="0" err="1">
                <a:latin typeface="Menlo" panose="020B0609030804020204" pitchFamily="49" charset="0"/>
                <a:ea typeface="Menlo" panose="020B0609030804020204" pitchFamily="49" charset="0"/>
                <a:cs typeface="Menlo" panose="020B0609030804020204" pitchFamily="49" charset="0"/>
              </a:rPr>
              <a:t>DrinkFactory</a:t>
            </a:r>
            <a:r>
              <a:rPr lang="en-GB" sz="1200" b="1" dirty="0">
                <a:latin typeface="Menlo" panose="020B0609030804020204" pitchFamily="49" charset="0"/>
                <a:ea typeface="Menlo" panose="020B0609030804020204" pitchFamily="49" charset="0"/>
                <a:cs typeface="Menlo" panose="020B0609030804020204" pitchFamily="49" charset="0"/>
              </a:rPr>
              <a:t> destination;</a:t>
            </a:r>
          </a:p>
          <a:p>
            <a:endParaRPr lang="en-GB" sz="1200" dirty="0">
              <a:latin typeface="Menlo" panose="020B0609030804020204" pitchFamily="49" charset="0"/>
              <a:ea typeface="Menlo" panose="020B0609030804020204" pitchFamily="49" charset="0"/>
              <a:cs typeface="Menlo" panose="020B0609030804020204" pitchFamily="49" charset="0"/>
            </a:endParaRPr>
          </a:p>
          <a:p>
            <a:r>
              <a:rPr lang="en-GB" sz="1200" dirty="0">
                <a:latin typeface="Menlo" panose="020B0609030804020204" pitchFamily="49" charset="0"/>
                <a:ea typeface="Menlo" panose="020B0609030804020204" pitchFamily="49" charset="0"/>
                <a:cs typeface="Menlo" panose="020B0609030804020204" pitchFamily="49" charset="0"/>
              </a:rPr>
              <a:t>  //We can leverage polymorphism to use the same instance object</a:t>
            </a:r>
          </a:p>
          <a:p>
            <a:r>
              <a:rPr lang="en-GB" sz="1200" dirty="0">
                <a:latin typeface="Menlo" panose="020B0609030804020204" pitchFamily="49" charset="0"/>
                <a:ea typeface="Menlo" panose="020B0609030804020204" pitchFamily="49" charset="0"/>
                <a:cs typeface="Menlo" panose="020B0609030804020204" pitchFamily="49" charset="0"/>
              </a:rPr>
              <a:t>  if(mood == "sleepy") {</a:t>
            </a:r>
          </a:p>
          <a:p>
            <a:r>
              <a:rPr lang="en-GB" sz="1200" dirty="0">
                <a:latin typeface="Menlo" panose="020B0609030804020204" pitchFamily="49" charset="0"/>
                <a:ea typeface="Menlo" panose="020B0609030804020204" pitchFamily="49" charset="0"/>
                <a:cs typeface="Menlo" panose="020B0609030804020204" pitchFamily="49" charset="0"/>
              </a:rPr>
              <a:t>      destination = </a:t>
            </a:r>
            <a:r>
              <a:rPr lang="en-GB" sz="1200" dirty="0" err="1">
                <a:latin typeface="Menlo" panose="020B0609030804020204" pitchFamily="49" charset="0"/>
                <a:ea typeface="Menlo" panose="020B0609030804020204" pitchFamily="49" charset="0"/>
                <a:cs typeface="Menlo" panose="020B0609030804020204" pitchFamily="49" charset="0"/>
              </a:rPr>
              <a:t>CoffeeShop</a:t>
            </a:r>
            <a:r>
              <a:rPr lang="en-GB" sz="1200" dirty="0">
                <a:latin typeface="Menlo" panose="020B0609030804020204" pitchFamily="49" charset="0"/>
                <a:ea typeface="Menlo" panose="020B0609030804020204" pitchFamily="49" charset="0"/>
                <a:cs typeface="Menlo" panose="020B0609030804020204" pitchFamily="49" charset="0"/>
              </a:rPr>
              <a:t>();</a:t>
            </a:r>
          </a:p>
          <a:p>
            <a:r>
              <a:rPr lang="en-GB" sz="1200" dirty="0">
                <a:latin typeface="Menlo" panose="020B0609030804020204" pitchFamily="49" charset="0"/>
                <a:ea typeface="Menlo" panose="020B0609030804020204" pitchFamily="49" charset="0"/>
                <a:cs typeface="Menlo" panose="020B0609030804020204" pitchFamily="49" charset="0"/>
              </a:rPr>
              <a:t>  }//if</a:t>
            </a:r>
          </a:p>
          <a:p>
            <a:r>
              <a:rPr lang="en-GB" sz="1200" dirty="0">
                <a:latin typeface="Menlo" panose="020B0609030804020204" pitchFamily="49" charset="0"/>
                <a:ea typeface="Menlo" panose="020B0609030804020204" pitchFamily="49" charset="0"/>
                <a:cs typeface="Menlo" panose="020B0609030804020204" pitchFamily="49" charset="0"/>
              </a:rPr>
              <a:t>  else{</a:t>
            </a:r>
          </a:p>
          <a:p>
            <a:r>
              <a:rPr lang="en-GB" sz="1200" dirty="0">
                <a:latin typeface="Menlo" panose="020B0609030804020204" pitchFamily="49" charset="0"/>
                <a:ea typeface="Menlo" panose="020B0609030804020204" pitchFamily="49" charset="0"/>
                <a:cs typeface="Menlo" panose="020B0609030804020204" pitchFamily="49" charset="0"/>
              </a:rPr>
              <a:t>      destination = Pub();</a:t>
            </a:r>
          </a:p>
          <a:p>
            <a:r>
              <a:rPr lang="en-GB" sz="1200" dirty="0">
                <a:latin typeface="Menlo" panose="020B0609030804020204" pitchFamily="49" charset="0"/>
                <a:ea typeface="Menlo" panose="020B0609030804020204" pitchFamily="49" charset="0"/>
                <a:cs typeface="Menlo" panose="020B0609030804020204" pitchFamily="49" charset="0"/>
              </a:rPr>
              <a:t>  }//else</a:t>
            </a:r>
          </a:p>
          <a:p>
            <a:r>
              <a:rPr lang="en-GB" sz="1200" dirty="0">
                <a:latin typeface="Menlo" panose="020B0609030804020204" pitchFamily="49" charset="0"/>
                <a:ea typeface="Menlo" panose="020B0609030804020204" pitchFamily="49" charset="0"/>
                <a:cs typeface="Menlo" panose="020B0609030804020204" pitchFamily="49" charset="0"/>
              </a:rPr>
              <a:t>  </a:t>
            </a:r>
          </a:p>
          <a:p>
            <a:r>
              <a:rPr lang="en-GB" sz="1200" dirty="0">
                <a:latin typeface="Menlo" panose="020B0609030804020204" pitchFamily="49" charset="0"/>
                <a:ea typeface="Menlo" panose="020B0609030804020204" pitchFamily="49" charset="0"/>
                <a:cs typeface="Menlo" panose="020B0609030804020204" pitchFamily="49" charset="0"/>
              </a:rPr>
              <a:t>  //This will assign to </a:t>
            </a:r>
            <a:r>
              <a:rPr lang="en-GB" sz="1200" dirty="0" err="1">
                <a:latin typeface="Menlo" panose="020B0609030804020204" pitchFamily="49" charset="0"/>
                <a:ea typeface="Menlo" panose="020B0609030804020204" pitchFamily="49" charset="0"/>
                <a:cs typeface="Menlo" panose="020B0609030804020204" pitchFamily="49" charset="0"/>
              </a:rPr>
              <a:t>myBeverage</a:t>
            </a:r>
            <a:r>
              <a:rPr lang="en-GB" sz="1200" dirty="0">
                <a:latin typeface="Menlo" panose="020B0609030804020204" pitchFamily="49" charset="0"/>
                <a:ea typeface="Menlo" panose="020B0609030804020204" pitchFamily="49" charset="0"/>
                <a:cs typeface="Menlo" panose="020B0609030804020204" pitchFamily="49" charset="0"/>
              </a:rPr>
              <a:t> a Coffee</a:t>
            </a:r>
          </a:p>
          <a:p>
            <a:r>
              <a:rPr lang="en-GB" sz="1200" dirty="0">
                <a:latin typeface="Menlo" panose="020B0609030804020204" pitchFamily="49" charset="0"/>
                <a:ea typeface="Menlo" panose="020B0609030804020204" pitchFamily="49" charset="0"/>
                <a:cs typeface="Menlo" panose="020B0609030804020204" pitchFamily="49" charset="0"/>
              </a:rPr>
              <a:t>  var </a:t>
            </a:r>
            <a:r>
              <a:rPr lang="en-GB" sz="1200" dirty="0" err="1">
                <a:latin typeface="Menlo" panose="020B0609030804020204" pitchFamily="49" charset="0"/>
                <a:ea typeface="Menlo" panose="020B0609030804020204" pitchFamily="49" charset="0"/>
                <a:cs typeface="Menlo" panose="020B0609030804020204" pitchFamily="49" charset="0"/>
              </a:rPr>
              <a:t>myBeverage</a:t>
            </a:r>
            <a:r>
              <a:rPr lang="en-GB" sz="1200" dirty="0">
                <a:latin typeface="Menlo" panose="020B0609030804020204" pitchFamily="49" charset="0"/>
                <a:ea typeface="Menlo" panose="020B0609030804020204" pitchFamily="49" charset="0"/>
                <a:cs typeface="Menlo" panose="020B0609030804020204" pitchFamily="49" charset="0"/>
              </a:rPr>
              <a:t> = </a:t>
            </a:r>
            <a:r>
              <a:rPr lang="en-GB" sz="1200" dirty="0" err="1">
                <a:latin typeface="Menlo" panose="020B0609030804020204" pitchFamily="49" charset="0"/>
                <a:ea typeface="Menlo" panose="020B0609030804020204" pitchFamily="49" charset="0"/>
                <a:cs typeface="Menlo" panose="020B0609030804020204" pitchFamily="49" charset="0"/>
              </a:rPr>
              <a:t>destination.createDrink</a:t>
            </a:r>
            <a:r>
              <a:rPr lang="en-GB" sz="1200" dirty="0">
                <a:latin typeface="Menlo" panose="020B0609030804020204" pitchFamily="49" charset="0"/>
                <a:ea typeface="Menlo" panose="020B0609030804020204" pitchFamily="49" charset="0"/>
                <a:cs typeface="Menlo" panose="020B0609030804020204" pitchFamily="49" charset="0"/>
              </a:rPr>
              <a:t>();</a:t>
            </a:r>
          </a:p>
          <a:p>
            <a:endParaRPr lang="en-GB" sz="1200" dirty="0">
              <a:latin typeface="Menlo" panose="020B0609030804020204" pitchFamily="49" charset="0"/>
              <a:ea typeface="Menlo" panose="020B0609030804020204" pitchFamily="49" charset="0"/>
              <a:cs typeface="Menlo" panose="020B0609030804020204" pitchFamily="49" charset="0"/>
            </a:endParaRPr>
          </a:p>
          <a:p>
            <a:r>
              <a:rPr lang="en-GB" sz="1200" dirty="0">
                <a:latin typeface="Menlo" panose="020B0609030804020204" pitchFamily="49" charset="0"/>
                <a:ea typeface="Menlo" panose="020B0609030804020204" pitchFamily="49" charset="0"/>
                <a:cs typeface="Menlo" panose="020B0609030804020204" pitchFamily="49" charset="0"/>
              </a:rPr>
              <a:t>  //This will print "Pouring a coffee!"</a:t>
            </a:r>
          </a:p>
          <a:p>
            <a:r>
              <a:rPr lang="en-GB" sz="1200" dirty="0">
                <a:latin typeface="Menlo" panose="020B0609030804020204" pitchFamily="49" charset="0"/>
                <a:ea typeface="Menlo" panose="020B0609030804020204" pitchFamily="49" charset="0"/>
                <a:cs typeface="Menlo" panose="020B0609030804020204" pitchFamily="49" charset="0"/>
              </a:rPr>
              <a:t>  </a:t>
            </a:r>
            <a:r>
              <a:rPr lang="en-GB" sz="1200" dirty="0" err="1">
                <a:latin typeface="Menlo" panose="020B0609030804020204" pitchFamily="49" charset="0"/>
                <a:ea typeface="Menlo" panose="020B0609030804020204" pitchFamily="49" charset="0"/>
                <a:cs typeface="Menlo" panose="020B0609030804020204" pitchFamily="49" charset="0"/>
              </a:rPr>
              <a:t>myBeverage.pour</a:t>
            </a:r>
            <a:r>
              <a:rPr lang="en-GB" sz="1200" dirty="0">
                <a:latin typeface="Menlo" panose="020B0609030804020204" pitchFamily="49" charset="0"/>
                <a:ea typeface="Menlo" panose="020B0609030804020204" pitchFamily="49" charset="0"/>
                <a:cs typeface="Menlo" panose="020B0609030804020204" pitchFamily="49" charset="0"/>
              </a:rPr>
              <a:t>();</a:t>
            </a:r>
          </a:p>
          <a:p>
            <a:r>
              <a:rPr lang="en-GB" sz="1200" dirty="0">
                <a:latin typeface="Menlo" panose="020B0609030804020204" pitchFamily="49" charset="0"/>
                <a:ea typeface="Menlo" panose="020B0609030804020204" pitchFamily="49" charset="0"/>
                <a:cs typeface="Menlo" panose="020B0609030804020204" pitchFamily="49" charset="0"/>
              </a:rPr>
              <a:t>}//main</a:t>
            </a:r>
            <a:endParaRPr lang="en-GB" sz="1200" b="0" dirty="0">
              <a:effectLst/>
              <a:latin typeface="Menlo" panose="020B0609030804020204" pitchFamily="49" charset="0"/>
              <a:ea typeface="Menlo" panose="020B0609030804020204" pitchFamily="49" charset="0"/>
              <a:cs typeface="Menlo" panose="020B0609030804020204" pitchFamily="49" charset="0"/>
            </a:endParaRPr>
          </a:p>
        </p:txBody>
      </p:sp>
      <p:sp>
        <p:nvSpPr>
          <p:cNvPr id="26" name="Content Placeholder 2">
            <a:extLst>
              <a:ext uri="{FF2B5EF4-FFF2-40B4-BE49-F238E27FC236}">
                <a16:creationId xmlns:a16="http://schemas.microsoft.com/office/drawing/2014/main" id="{F0EE7D41-BBC9-F247-984B-AF08D3F49DC4}"/>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a:t>
            </a:r>
            <a:r>
              <a:rPr lang="en-US" sz="1600" dirty="0">
                <a:latin typeface="Aptos" panose="020B0004020202020204" pitchFamily="34" charset="0"/>
                <a:ea typeface="Palatino" pitchFamily="2" charset="77"/>
              </a:rPr>
              <a:t>lesson_04-dart</a:t>
            </a:r>
            <a:r>
              <a:rPr lang="en-IT" sz="1600">
                <a:latin typeface="Aptos" panose="020B0004020202020204" pitchFamily="34" charset="0"/>
                <a:ea typeface="Palatino" pitchFamily="2" charset="77"/>
              </a:rPr>
              <a:t>_101_part2/</a:t>
            </a:r>
            <a:r>
              <a:rPr lang="en-IT" sz="1600" dirty="0">
                <a:latin typeface="Aptos" panose="020B0004020202020204" pitchFamily="34" charset="0"/>
                <a:ea typeface="Palatino" pitchFamily="2" charset="77"/>
              </a:rPr>
              <a:t>abstract_factory_example.dart</a:t>
            </a:r>
          </a:p>
        </p:txBody>
      </p:sp>
      <p:sp>
        <p:nvSpPr>
          <p:cNvPr id="3" name="Slide Number Placeholder 2">
            <a:extLst>
              <a:ext uri="{FF2B5EF4-FFF2-40B4-BE49-F238E27FC236}">
                <a16:creationId xmlns:a16="http://schemas.microsoft.com/office/drawing/2014/main" id="{53CE59EB-00D0-4D4D-8704-F5967639568C}"/>
              </a:ext>
            </a:extLst>
          </p:cNvPr>
          <p:cNvSpPr>
            <a:spLocks noGrp="1"/>
          </p:cNvSpPr>
          <p:nvPr>
            <p:ph type="sldNum" sz="quarter" idx="12"/>
          </p:nvPr>
        </p:nvSpPr>
        <p:spPr/>
        <p:txBody>
          <a:bodyPr/>
          <a:lstStyle/>
          <a:p>
            <a:fld id="{31DE2C5B-556E-47B8-A792-024C2FCA4ACC}" type="slidenum">
              <a:rPr lang="en-GB" smtClean="0"/>
              <a:t>60</a:t>
            </a:fld>
            <a:endParaRPr lang="en-GB"/>
          </a:p>
        </p:txBody>
      </p:sp>
      <p:sp>
        <p:nvSpPr>
          <p:cNvPr id="4" name="TextBox 3">
            <a:extLst>
              <a:ext uri="{FF2B5EF4-FFF2-40B4-BE49-F238E27FC236}">
                <a16:creationId xmlns:a16="http://schemas.microsoft.com/office/drawing/2014/main" id="{EFA5F2BD-4DDE-92C7-C1B0-9E44B4A3C4E9}"/>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4876906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GB" dirty="0"/>
              <a:t>Abstract Factory</a:t>
            </a:r>
            <a:endParaRPr lang="en-IT" dirty="0"/>
          </a:p>
        </p:txBody>
      </p:sp>
      <p:sp>
        <p:nvSpPr>
          <p:cNvPr id="8" name="Content Placeholder 2">
            <a:extLst>
              <a:ext uri="{FF2B5EF4-FFF2-40B4-BE49-F238E27FC236}">
                <a16:creationId xmlns:a16="http://schemas.microsoft.com/office/drawing/2014/main" id="{209002FB-6523-794E-99E4-90A9A40D9D68}"/>
              </a:ext>
            </a:extLst>
          </p:cNvPr>
          <p:cNvSpPr>
            <a:spLocks noGrp="1"/>
          </p:cNvSpPr>
          <p:nvPr>
            <p:ph idx="1"/>
          </p:nvPr>
        </p:nvSpPr>
        <p:spPr>
          <a:xfrm>
            <a:off x="428171" y="1361167"/>
            <a:ext cx="10551068" cy="5334907"/>
          </a:xfrm>
        </p:spPr>
        <p:txBody>
          <a:bodyPr>
            <a:normAutofit fontScale="92500" lnSpcReduction="20000"/>
          </a:bodyPr>
          <a:lstStyle/>
          <a:p>
            <a:r>
              <a:rPr lang="en-US" dirty="0"/>
              <a:t>Consequences: </a:t>
            </a:r>
          </a:p>
          <a:p>
            <a:endParaRPr lang="en-US" dirty="0"/>
          </a:p>
          <a:p>
            <a:pPr lvl="1"/>
            <a:r>
              <a:rPr lang="en-US" b="1" dirty="0">
                <a:solidFill>
                  <a:schemeClr val="accent6"/>
                </a:solidFill>
              </a:rPr>
              <a:t>We isolated the concrete classes</a:t>
            </a:r>
            <a:r>
              <a:rPr lang="en-US" dirty="0"/>
              <a:t>: the factory isolates users from implementation classes of the products since the factory encapsulate the responsibility of creating products objects. </a:t>
            </a:r>
          </a:p>
          <a:p>
            <a:pPr lvl="1"/>
            <a:endParaRPr lang="en-US" dirty="0">
              <a:sym typeface="Wingdings" pitchFamily="2" charset="2"/>
            </a:endParaRPr>
          </a:p>
          <a:p>
            <a:pPr lvl="1"/>
            <a:r>
              <a:rPr lang="en-US" b="1" dirty="0">
                <a:solidFill>
                  <a:schemeClr val="accent6"/>
                </a:solidFill>
                <a:sym typeface="Wingdings" pitchFamily="2" charset="2"/>
              </a:rPr>
              <a:t>We made exchanging product families easy</a:t>
            </a:r>
            <a:r>
              <a:rPr lang="en-US" dirty="0">
                <a:sym typeface="Wingdings" pitchFamily="2" charset="2"/>
              </a:rPr>
              <a:t>: we can just create a factory once and simply change the class that implements it to obtain different behaviors. </a:t>
            </a:r>
          </a:p>
          <a:p>
            <a:pPr lvl="1"/>
            <a:endParaRPr lang="en-US" dirty="0">
              <a:sym typeface="Wingdings" pitchFamily="2" charset="2"/>
            </a:endParaRPr>
          </a:p>
          <a:p>
            <a:pPr lvl="1"/>
            <a:r>
              <a:rPr lang="en-US" b="1" dirty="0">
                <a:solidFill>
                  <a:schemeClr val="accent6"/>
                </a:solidFill>
                <a:sym typeface="Wingdings" pitchFamily="2" charset="2"/>
              </a:rPr>
              <a:t>We promoted consistency among products</a:t>
            </a:r>
            <a:r>
              <a:rPr lang="en-US" dirty="0">
                <a:sym typeface="Wingdings" pitchFamily="2" charset="2"/>
              </a:rPr>
              <a:t>: it enforces the fact that when products of the same theme are designed to work together, the application should use objects from only one family at a time.</a:t>
            </a:r>
          </a:p>
          <a:p>
            <a:pPr lvl="1"/>
            <a:endParaRPr lang="en-US" dirty="0">
              <a:sym typeface="Wingdings" pitchFamily="2" charset="2"/>
            </a:endParaRPr>
          </a:p>
          <a:p>
            <a:pPr lvl="1"/>
            <a:r>
              <a:rPr lang="en-US" b="1" dirty="0">
                <a:solidFill>
                  <a:srgbClr val="FF0000"/>
                </a:solidFill>
                <a:sym typeface="Wingdings" pitchFamily="2" charset="2"/>
              </a:rPr>
              <a:t>Supporting new products is difficult</a:t>
            </a:r>
            <a:r>
              <a:rPr lang="en-US" dirty="0">
                <a:sym typeface="Wingdings" pitchFamily="2" charset="2"/>
              </a:rPr>
              <a:t>: the abstract factory fixes the kind of products that can be created. To support new products, we need to extend is. </a:t>
            </a:r>
          </a:p>
          <a:p>
            <a:pPr lvl="1"/>
            <a:endParaRPr lang="en-US" dirty="0">
              <a:sym typeface="Wingdings" pitchFamily="2" charset="2"/>
            </a:endParaRPr>
          </a:p>
          <a:p>
            <a:pPr lvl="1"/>
            <a:endParaRPr lang="en-US" dirty="0"/>
          </a:p>
          <a:p>
            <a:endParaRPr lang="en-IT" dirty="0"/>
          </a:p>
          <a:p>
            <a:endParaRPr lang="en-IT" dirty="0"/>
          </a:p>
          <a:p>
            <a:pPr marL="0" indent="0">
              <a:buNone/>
            </a:pPr>
            <a:r>
              <a:rPr lang="en-IT" dirty="0"/>
              <a:t> </a:t>
            </a:r>
          </a:p>
        </p:txBody>
      </p:sp>
      <p:sp>
        <p:nvSpPr>
          <p:cNvPr id="3" name="Slide Number Placeholder 2">
            <a:extLst>
              <a:ext uri="{FF2B5EF4-FFF2-40B4-BE49-F238E27FC236}">
                <a16:creationId xmlns:a16="http://schemas.microsoft.com/office/drawing/2014/main" id="{FA4E72AD-9A14-7C49-9C58-84E81F56C889}"/>
              </a:ext>
            </a:extLst>
          </p:cNvPr>
          <p:cNvSpPr>
            <a:spLocks noGrp="1"/>
          </p:cNvSpPr>
          <p:nvPr>
            <p:ph type="sldNum" sz="quarter" idx="12"/>
          </p:nvPr>
        </p:nvSpPr>
        <p:spPr/>
        <p:txBody>
          <a:bodyPr/>
          <a:lstStyle/>
          <a:p>
            <a:fld id="{31DE2C5B-556E-47B8-A792-024C2FCA4ACC}" type="slidenum">
              <a:rPr lang="en-GB" smtClean="0"/>
              <a:t>61</a:t>
            </a:fld>
            <a:endParaRPr lang="en-GB"/>
          </a:p>
        </p:txBody>
      </p:sp>
      <p:sp>
        <p:nvSpPr>
          <p:cNvPr id="4" name="TextBox 3">
            <a:extLst>
              <a:ext uri="{FF2B5EF4-FFF2-40B4-BE49-F238E27FC236}">
                <a16:creationId xmlns:a16="http://schemas.microsoft.com/office/drawing/2014/main" id="{57B12227-9D1F-2358-4B97-BB1465DA6F4D}"/>
              </a:ext>
            </a:extLst>
          </p:cNvPr>
          <p:cNvSpPr txBox="1"/>
          <p:nvPr/>
        </p:nvSpPr>
        <p:spPr>
          <a:xfrm>
            <a:off x="10381670" y="400896"/>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
        <p:nvSpPr>
          <p:cNvPr id="6" name="TextBox 5">
            <a:extLst>
              <a:ext uri="{FF2B5EF4-FFF2-40B4-BE49-F238E27FC236}">
                <a16:creationId xmlns:a16="http://schemas.microsoft.com/office/drawing/2014/main" id="{F0FAC70A-6898-96A8-9441-B257349A78A6}"/>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11929556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dirty="0">
                <a:solidFill>
                  <a:schemeClr val="bg2">
                    <a:lumMod val="90000"/>
                  </a:schemeClr>
                </a:solidFill>
              </a:rPr>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endParaRPr lang="en-GB" sz="2600" dirty="0">
              <a:solidFill>
                <a:schemeClr val="bg2">
                  <a:lumMod val="90000"/>
                </a:schemeClr>
              </a:solidFill>
            </a:endParaRPr>
          </a:p>
          <a:p>
            <a:pPr lvl="1"/>
            <a:endParaRPr lang="en-GB" sz="2600" dirty="0">
              <a:solidFill>
                <a:schemeClr val="bg2">
                  <a:lumMod val="90000"/>
                </a:schemeClr>
              </a:solidFill>
            </a:endParaRPr>
          </a:p>
          <a:p>
            <a:r>
              <a:rPr lang="en-IT" sz="2600" b="1" dirty="0"/>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62</a:t>
            </a:fld>
            <a:endParaRPr lang="en-GB"/>
          </a:p>
        </p:txBody>
      </p:sp>
    </p:spTree>
    <p:extLst>
      <p:ext uri="{BB962C8B-B14F-4D97-AF65-F5344CB8AC3E}">
        <p14:creationId xmlns:p14="http://schemas.microsoft.com/office/powerpoint/2010/main" val="35712811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Exercises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85000" lnSpcReduction="20000"/>
          </a:bodyPr>
          <a:lstStyle/>
          <a:p>
            <a:r>
              <a:rPr lang="en-IT"/>
              <a:t>Exercise 01</a:t>
            </a:r>
            <a:endParaRPr lang="en-IT" dirty="0"/>
          </a:p>
          <a:p>
            <a:pPr lvl="1"/>
            <a:r>
              <a:rPr lang="en-GB" dirty="0"/>
              <a:t>Create a class Vehicle with </a:t>
            </a:r>
            <a:r>
              <a:rPr lang="en-GB" dirty="0" err="1"/>
              <a:t>max_speed</a:t>
            </a:r>
            <a:r>
              <a:rPr lang="en-GB" dirty="0"/>
              <a:t>, </a:t>
            </a:r>
            <a:r>
              <a:rPr lang="en-GB" dirty="0" err="1"/>
              <a:t>is_moving</a:t>
            </a:r>
            <a:r>
              <a:rPr lang="en-GB" dirty="0"/>
              <a:t> and mileage instance variables (properly choose the type of the variables). </a:t>
            </a:r>
            <a:r>
              <a:rPr lang="en-GB" dirty="0" err="1"/>
              <a:t>max_speed</a:t>
            </a:r>
            <a:r>
              <a:rPr lang="en-GB" dirty="0"/>
              <a:t> is constant. </a:t>
            </a:r>
            <a:r>
              <a:rPr lang="en-GB" dirty="0" err="1"/>
              <a:t>is_moving</a:t>
            </a:r>
            <a:r>
              <a:rPr lang="en-GB" dirty="0"/>
              <a:t> and milage must be properly </a:t>
            </a:r>
            <a:r>
              <a:rPr lang="en-GB" dirty="0" err="1"/>
              <a:t>initiatilized</a:t>
            </a:r>
            <a:r>
              <a:rPr lang="en-GB" dirty="0"/>
              <a:t>.</a:t>
            </a:r>
          </a:p>
          <a:p>
            <a:pPr lvl="1"/>
            <a:r>
              <a:rPr lang="en-GB" dirty="0"/>
              <a:t>Create an unnamed constructor with the minimum amount of input arguments.</a:t>
            </a:r>
          </a:p>
          <a:p>
            <a:pPr lvl="1"/>
            <a:r>
              <a:rPr lang="en-GB" dirty="0"/>
              <a:t>Create also a named constructor </a:t>
            </a:r>
            <a:r>
              <a:rPr lang="en-GB" dirty="0" err="1"/>
              <a:t>Vehicle.used</a:t>
            </a:r>
            <a:r>
              <a:rPr lang="en-GB" dirty="0"/>
              <a:t> that creates a new Vehicle with a given mileage.</a:t>
            </a:r>
          </a:p>
          <a:p>
            <a:pPr lvl="1"/>
            <a:r>
              <a:rPr lang="en-GB" dirty="0"/>
              <a:t>Implement two methods start and stop that properly set </a:t>
            </a:r>
            <a:r>
              <a:rPr lang="en-GB" dirty="0" err="1"/>
              <a:t>is_moving</a:t>
            </a:r>
            <a:endParaRPr lang="en-GB" dirty="0"/>
          </a:p>
          <a:p>
            <a:pPr lvl="1"/>
            <a:r>
              <a:rPr lang="en-GB" dirty="0"/>
              <a:t>Implement also the </a:t>
            </a:r>
            <a:r>
              <a:rPr lang="en-GB" dirty="0" err="1"/>
              <a:t>toString</a:t>
            </a:r>
            <a:r>
              <a:rPr lang="en-GB" dirty="0"/>
              <a:t>() method of the Vehicle class. </a:t>
            </a:r>
          </a:p>
          <a:p>
            <a:pPr lvl="1"/>
            <a:r>
              <a:rPr lang="en-GB" dirty="0"/>
              <a:t>Create a method </a:t>
            </a:r>
            <a:r>
              <a:rPr lang="en-GB" dirty="0" err="1"/>
              <a:t>addMiles</a:t>
            </a:r>
            <a:r>
              <a:rPr lang="en-GB" dirty="0"/>
              <a:t> that takes a named parameter miles, adds that value to the current mileage, and return the new mileage.</a:t>
            </a:r>
          </a:p>
          <a:p>
            <a:pPr lvl="1"/>
            <a:r>
              <a:rPr lang="en-GB" dirty="0"/>
              <a:t>Properly test the created class capabilities in the main function.</a:t>
            </a:r>
            <a:br>
              <a:rPr lang="en-IT" dirty="0"/>
            </a:br>
            <a:endParaRPr lang="en-IT" dirty="0"/>
          </a:p>
          <a:p>
            <a:r>
              <a:rPr lang="en-IT"/>
              <a:t>Exercise 02</a:t>
            </a:r>
            <a:endParaRPr lang="en-IT" dirty="0"/>
          </a:p>
          <a:p>
            <a:pPr lvl="1"/>
            <a:r>
              <a:rPr lang="en-GB" dirty="0"/>
              <a:t>Create a Bus class that extends the Vehicle class and inherit everything from it.</a:t>
            </a:r>
          </a:p>
          <a:p>
            <a:pPr lvl="1"/>
            <a:r>
              <a:rPr lang="en-GB" dirty="0"/>
              <a:t>Properly inherit the superclass constructors </a:t>
            </a:r>
          </a:p>
          <a:p>
            <a:pPr lvl="1"/>
            <a:r>
              <a:rPr lang="en-GB" dirty="0"/>
              <a:t>A bus must retain also the </a:t>
            </a:r>
            <a:r>
              <a:rPr lang="en-GB" dirty="0" err="1"/>
              <a:t>current_number_of_passengers</a:t>
            </a:r>
            <a:r>
              <a:rPr lang="en-GB" dirty="0"/>
              <a:t> and the </a:t>
            </a:r>
            <a:r>
              <a:rPr lang="en-GB" dirty="0" err="1"/>
              <a:t>max_number_of_passengers</a:t>
            </a:r>
            <a:r>
              <a:rPr lang="en-GB" dirty="0"/>
              <a:t>. </a:t>
            </a:r>
          </a:p>
          <a:p>
            <a:pPr lvl="1"/>
            <a:r>
              <a:rPr lang="en-GB" dirty="0"/>
              <a:t>Each Bus has a constant </a:t>
            </a:r>
            <a:r>
              <a:rPr lang="en-GB" dirty="0" err="1"/>
              <a:t>max_number_of_passengers</a:t>
            </a:r>
            <a:r>
              <a:rPr lang="en-GB" dirty="0"/>
              <a:t> equal to 20 and the initial </a:t>
            </a:r>
            <a:r>
              <a:rPr lang="en-GB" dirty="0" err="1"/>
              <a:t>current_number_of_passengers</a:t>
            </a:r>
            <a:r>
              <a:rPr lang="en-GB" dirty="0"/>
              <a:t> is always 0.</a:t>
            </a:r>
          </a:p>
          <a:p>
            <a:pPr lvl="1"/>
            <a:r>
              <a:rPr lang="en-GB" dirty="0"/>
              <a:t>Implement a method board that increments the number of passengers by a given value (as much as possible) and return the new number of passengers.</a:t>
            </a:r>
          </a:p>
          <a:p>
            <a:pPr lvl="1"/>
            <a:r>
              <a:rPr lang="en-GB" dirty="0"/>
              <a:t>Remember to correctly manage the </a:t>
            </a:r>
            <a:r>
              <a:rPr lang="en-GB" dirty="0" err="1"/>
              <a:t>toString</a:t>
            </a:r>
            <a:r>
              <a:rPr lang="en-GB" dirty="0"/>
              <a:t>() method.</a:t>
            </a:r>
          </a:p>
          <a:p>
            <a:pPr lvl="1"/>
            <a:r>
              <a:rPr lang="en-GB" dirty="0"/>
              <a:t>Properly test the created class capabilities in the main function.</a:t>
            </a:r>
          </a:p>
        </p:txBody>
      </p:sp>
      <p:sp>
        <p:nvSpPr>
          <p:cNvPr id="4" name="Slide Number Placeholder 3">
            <a:extLst>
              <a:ext uri="{FF2B5EF4-FFF2-40B4-BE49-F238E27FC236}">
                <a16:creationId xmlns:a16="http://schemas.microsoft.com/office/drawing/2014/main" id="{14B8EEE0-8190-E947-8ED1-60EB5CFEAC08}"/>
              </a:ext>
            </a:extLst>
          </p:cNvPr>
          <p:cNvSpPr>
            <a:spLocks noGrp="1"/>
          </p:cNvSpPr>
          <p:nvPr>
            <p:ph type="sldNum" sz="quarter" idx="12"/>
          </p:nvPr>
        </p:nvSpPr>
        <p:spPr/>
        <p:txBody>
          <a:bodyPr/>
          <a:lstStyle/>
          <a:p>
            <a:fld id="{31DE2C5B-556E-47B8-A792-024C2FCA4ACC}" type="slidenum">
              <a:rPr lang="en-GB" smtClean="0"/>
              <a:t>63</a:t>
            </a:fld>
            <a:endParaRPr lang="en-GB"/>
          </a:p>
        </p:txBody>
      </p:sp>
    </p:spTree>
    <p:extLst>
      <p:ext uri="{BB962C8B-B14F-4D97-AF65-F5344CB8AC3E}">
        <p14:creationId xmlns:p14="http://schemas.microsoft.com/office/powerpoint/2010/main" val="8953784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dirty="0">
                <a:solidFill>
                  <a:schemeClr val="bg2">
                    <a:lumMod val="90000"/>
                  </a:schemeClr>
                </a:solidFill>
              </a:rPr>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endParaRPr lang="en-GB" sz="2600" dirty="0">
              <a:solidFill>
                <a:schemeClr val="bg2">
                  <a:lumMod val="90000"/>
                </a:schemeClr>
              </a:solidFill>
            </a:endParaRP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b="1" dirty="0"/>
              <a:t>Homework</a:t>
            </a:r>
            <a:endParaRPr lang="en-GB" sz="2600" b="1" dirty="0"/>
          </a:p>
          <a:p>
            <a:r>
              <a:rPr lang="en-GB" sz="2600" dirty="0">
                <a:solidFill>
                  <a:schemeClr val="bg2">
                    <a:lumMod val="90000"/>
                  </a:schemeClr>
                </a:solidFill>
              </a:rPr>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64</a:t>
            </a:fld>
            <a:endParaRPr lang="en-GB"/>
          </a:p>
        </p:txBody>
      </p:sp>
    </p:spTree>
    <p:extLst>
      <p:ext uri="{BB962C8B-B14F-4D97-AF65-F5344CB8AC3E}">
        <p14:creationId xmlns:p14="http://schemas.microsoft.com/office/powerpoint/2010/main" val="25795317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Homework </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a:bodyPr>
          <a:lstStyle/>
          <a:p>
            <a:r>
              <a:rPr lang="en-GB" dirty="0"/>
              <a:t>(At least try to) Do all the exercises</a:t>
            </a:r>
          </a:p>
          <a:p>
            <a:endParaRPr lang="en-GB" dirty="0"/>
          </a:p>
          <a:p>
            <a:r>
              <a:rPr lang="en-GB" dirty="0"/>
              <a:t>Get familiar with Dart 101 (part 1 &amp; 2)</a:t>
            </a:r>
          </a:p>
          <a:p>
            <a:endParaRPr lang="en-GB" dirty="0"/>
          </a:p>
          <a:p>
            <a:r>
              <a:rPr lang="en-GB" dirty="0"/>
              <a:t>Get familiar with OOP</a:t>
            </a:r>
          </a:p>
        </p:txBody>
      </p:sp>
      <p:sp>
        <p:nvSpPr>
          <p:cNvPr id="4" name="Slide Number Placeholder 3">
            <a:extLst>
              <a:ext uri="{FF2B5EF4-FFF2-40B4-BE49-F238E27FC236}">
                <a16:creationId xmlns:a16="http://schemas.microsoft.com/office/drawing/2014/main" id="{4C740B33-AA83-6145-AAD3-71FBCBF5051B}"/>
              </a:ext>
            </a:extLst>
          </p:cNvPr>
          <p:cNvSpPr>
            <a:spLocks noGrp="1"/>
          </p:cNvSpPr>
          <p:nvPr>
            <p:ph type="sldNum" sz="quarter" idx="12"/>
          </p:nvPr>
        </p:nvSpPr>
        <p:spPr/>
        <p:txBody>
          <a:bodyPr/>
          <a:lstStyle/>
          <a:p>
            <a:fld id="{31DE2C5B-556E-47B8-A792-024C2FCA4ACC}" type="slidenum">
              <a:rPr lang="en-GB" smtClean="0"/>
              <a:t>65</a:t>
            </a:fld>
            <a:endParaRPr lang="en-GB"/>
          </a:p>
        </p:txBody>
      </p:sp>
    </p:spTree>
    <p:extLst>
      <p:ext uri="{BB962C8B-B14F-4D97-AF65-F5344CB8AC3E}">
        <p14:creationId xmlns:p14="http://schemas.microsoft.com/office/powerpoint/2010/main" val="17695631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GB" sz="2600" dirty="0">
                <a:solidFill>
                  <a:schemeClr val="bg2">
                    <a:lumMod val="90000"/>
                  </a:schemeClr>
                </a:solidFill>
              </a:rPr>
              <a:t>Goals and Principles</a:t>
            </a:r>
          </a:p>
          <a:p>
            <a:r>
              <a:rPr lang="en-GB" sz="2600" dirty="0">
                <a:solidFill>
                  <a:schemeClr val="bg2">
                    <a:lumMod val="90000"/>
                  </a:schemeClr>
                </a:solidFill>
              </a:rPr>
              <a:t>Classes and objects </a:t>
            </a:r>
          </a:p>
          <a:p>
            <a:r>
              <a:rPr lang="en-GB" sz="2600" dirty="0">
                <a:solidFill>
                  <a:schemeClr val="bg2">
                    <a:lumMod val="90000"/>
                  </a:schemeClr>
                </a:solidFill>
              </a:rPr>
              <a:t>Inheritance</a:t>
            </a:r>
          </a:p>
          <a:p>
            <a:r>
              <a:rPr lang="en-GB" sz="2600" dirty="0">
                <a:solidFill>
                  <a:schemeClr val="bg2">
                    <a:lumMod val="90000"/>
                  </a:schemeClr>
                </a:solidFill>
              </a:rPr>
              <a:t>Polymorphism</a:t>
            </a:r>
          </a:p>
          <a:p>
            <a:r>
              <a:rPr lang="en-GB" sz="2600" dirty="0">
                <a:solidFill>
                  <a:schemeClr val="bg2">
                    <a:lumMod val="90000"/>
                  </a:schemeClr>
                </a:solidFill>
              </a:rPr>
              <a:t>Abstract data types</a:t>
            </a:r>
          </a:p>
          <a:p>
            <a:r>
              <a:rPr lang="en-GB" sz="2600" dirty="0">
                <a:solidFill>
                  <a:schemeClr val="bg2">
                    <a:lumMod val="90000"/>
                  </a:schemeClr>
                </a:solidFill>
              </a:rPr>
              <a:t>Flavours of design patterns </a:t>
            </a:r>
          </a:p>
          <a:p>
            <a:pPr lvl="1"/>
            <a:r>
              <a:rPr lang="en-GB" sz="2200" dirty="0">
                <a:solidFill>
                  <a:schemeClr val="bg2">
                    <a:lumMod val="90000"/>
                  </a:schemeClr>
                </a:solidFill>
              </a:rPr>
              <a:t>Composite</a:t>
            </a:r>
          </a:p>
          <a:p>
            <a:pPr lvl="1"/>
            <a:r>
              <a:rPr lang="en-GB" sz="2200" dirty="0">
                <a:solidFill>
                  <a:schemeClr val="bg2">
                    <a:lumMod val="90000"/>
                  </a:schemeClr>
                </a:solidFill>
              </a:rPr>
              <a:t>Singleton</a:t>
            </a:r>
          </a:p>
          <a:p>
            <a:pPr lvl="1"/>
            <a:r>
              <a:rPr lang="en-GB" sz="2200" dirty="0">
                <a:solidFill>
                  <a:schemeClr val="bg2">
                    <a:lumMod val="90000"/>
                  </a:schemeClr>
                </a:solidFill>
              </a:rPr>
              <a:t>Abstract Factory</a:t>
            </a:r>
            <a:endParaRPr lang="en-GB" sz="2600" dirty="0">
              <a:solidFill>
                <a:schemeClr val="bg2">
                  <a:lumMod val="90000"/>
                </a:schemeClr>
              </a:solidFill>
            </a:endParaRPr>
          </a:p>
          <a:p>
            <a:pPr lvl="1"/>
            <a:endParaRPr lang="en-GB" sz="2600" dirty="0">
              <a:solidFill>
                <a:schemeClr val="bg2">
                  <a:lumMod val="90000"/>
                </a:schemeClr>
              </a:solidFill>
            </a:endParaRPr>
          </a:p>
          <a:p>
            <a:r>
              <a:rPr lang="en-IT" sz="2600" dirty="0">
                <a:solidFill>
                  <a:schemeClr val="bg1">
                    <a:lumMod val="75000"/>
                  </a:schemeClr>
                </a:solidFill>
              </a:rPr>
              <a:t>Exercises</a:t>
            </a:r>
          </a:p>
          <a:p>
            <a:r>
              <a:rPr lang="en-IT" sz="2600" dirty="0">
                <a:solidFill>
                  <a:schemeClr val="bg1">
                    <a:lumMod val="75000"/>
                  </a:schemeClr>
                </a:solidFill>
              </a:rPr>
              <a:t>Homework</a:t>
            </a:r>
            <a:endParaRPr lang="en-GB" sz="2600" dirty="0">
              <a:solidFill>
                <a:schemeClr val="bg2">
                  <a:lumMod val="90000"/>
                </a:schemeClr>
              </a:solidFill>
            </a:endParaRPr>
          </a:p>
          <a:p>
            <a:r>
              <a:rPr lang="en-GB" sz="2600" b="1" dirty="0"/>
              <a:t>Resources</a:t>
            </a:r>
          </a:p>
        </p:txBody>
      </p:sp>
      <p:sp>
        <p:nvSpPr>
          <p:cNvPr id="4" name="Slide Number Placeholder 3">
            <a:extLst>
              <a:ext uri="{FF2B5EF4-FFF2-40B4-BE49-F238E27FC236}">
                <a16:creationId xmlns:a16="http://schemas.microsoft.com/office/drawing/2014/main" id="{AB02728B-BBF6-964D-8960-D67AFAA98C7C}"/>
              </a:ext>
            </a:extLst>
          </p:cNvPr>
          <p:cNvSpPr>
            <a:spLocks noGrp="1"/>
          </p:cNvSpPr>
          <p:nvPr>
            <p:ph type="sldNum" sz="quarter" idx="12"/>
          </p:nvPr>
        </p:nvSpPr>
        <p:spPr/>
        <p:txBody>
          <a:bodyPr/>
          <a:lstStyle/>
          <a:p>
            <a:fld id="{31DE2C5B-556E-47B8-A792-024C2FCA4ACC}" type="slidenum">
              <a:rPr lang="en-GB" smtClean="0"/>
              <a:t>66</a:t>
            </a:fld>
            <a:endParaRPr lang="en-GB"/>
          </a:p>
        </p:txBody>
      </p:sp>
    </p:spTree>
    <p:extLst>
      <p:ext uri="{BB962C8B-B14F-4D97-AF65-F5344CB8AC3E}">
        <p14:creationId xmlns:p14="http://schemas.microsoft.com/office/powerpoint/2010/main" val="39820336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Resources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a:bodyPr>
          <a:lstStyle/>
          <a:p>
            <a:r>
              <a:rPr lang="en-GB" dirty="0"/>
              <a:t>Code repository of today’s lesson and exercises solution</a:t>
            </a:r>
          </a:p>
          <a:p>
            <a:pPr lvl="1"/>
            <a:r>
              <a:rPr lang="en-GB" dirty="0">
                <a:hlinkClick r:id="rId2"/>
              </a:rPr>
              <a:t>https://github.com/gcappon/bwthw/tree/master/</a:t>
            </a:r>
            <a:r>
              <a:rPr lang="en-US" dirty="0">
                <a:ea typeface="Palatino" pitchFamily="2" charset="77"/>
                <a:hlinkClick r:id="rId2"/>
              </a:rPr>
              <a:t>lesson_04-dart</a:t>
            </a:r>
            <a:r>
              <a:rPr lang="en-IT">
                <a:ea typeface="Palatino" pitchFamily="2" charset="77"/>
                <a:hlinkClick r:id="rId2"/>
              </a:rPr>
              <a:t>_101_part</a:t>
            </a:r>
            <a:r>
              <a:rPr lang="en-US">
                <a:ea typeface="Palatino" pitchFamily="2" charset="77"/>
                <a:hlinkClick r:id="rId2"/>
              </a:rPr>
              <a:t>_</a:t>
            </a:r>
            <a:r>
              <a:rPr lang="en-IT">
                <a:ea typeface="Palatino" pitchFamily="2" charset="77"/>
                <a:hlinkClick r:id="rId2"/>
              </a:rPr>
              <a:t>2</a:t>
            </a:r>
            <a:r>
              <a:rPr lang="en-US" dirty="0">
                <a:ea typeface="Palatino" pitchFamily="2" charset="77"/>
              </a:rPr>
              <a:t> </a:t>
            </a:r>
            <a:br>
              <a:rPr lang="en-GB" dirty="0"/>
            </a:br>
            <a:endParaRPr lang="en-GB" dirty="0"/>
          </a:p>
          <a:p>
            <a:r>
              <a:rPr lang="en-GB" dirty="0"/>
              <a:t>Dart language tour </a:t>
            </a:r>
          </a:p>
          <a:p>
            <a:pPr lvl="1"/>
            <a:r>
              <a:rPr lang="en-GB" dirty="0">
                <a:hlinkClick r:id="rId3"/>
              </a:rPr>
              <a:t>https://dart.dev/guides/language/language-tour</a:t>
            </a:r>
            <a:endParaRPr lang="en-GB" dirty="0"/>
          </a:p>
          <a:p>
            <a:pPr lvl="1"/>
            <a:endParaRPr lang="en-GB" dirty="0"/>
          </a:p>
          <a:p>
            <a:r>
              <a:rPr lang="en-GB" dirty="0"/>
              <a:t>The Gang Of Four – Design Patterns</a:t>
            </a:r>
          </a:p>
          <a:p>
            <a:pPr lvl="1"/>
            <a:r>
              <a:rPr lang="en-GB" dirty="0">
                <a:hlinkClick r:id="rId4"/>
              </a:rPr>
              <a:t>https://github.com/amilajack/reading/blob/master/Design/GOF%20Design%20Patterns.pdf</a:t>
            </a:r>
            <a:r>
              <a:rPr lang="en-GB" dirty="0"/>
              <a:t> </a:t>
            </a:r>
          </a:p>
          <a:p>
            <a:endParaRPr lang="en-GB" dirty="0"/>
          </a:p>
          <a:p>
            <a:r>
              <a:rPr lang="en-GB" dirty="0"/>
              <a:t>Exhaustive examples of design patterns implemented in Dart</a:t>
            </a:r>
          </a:p>
          <a:p>
            <a:pPr lvl="1"/>
            <a:r>
              <a:rPr lang="en-GB" dirty="0">
                <a:hlinkClick r:id="rId5"/>
              </a:rPr>
              <a:t>https://scottt2.github.io/design-patterns-in-dart/</a:t>
            </a:r>
            <a:r>
              <a:rPr lang="en-GB" dirty="0"/>
              <a:t> </a:t>
            </a:r>
          </a:p>
          <a:p>
            <a:pPr lvl="1"/>
            <a:endParaRPr lang="en-GB" dirty="0"/>
          </a:p>
        </p:txBody>
      </p:sp>
      <p:sp>
        <p:nvSpPr>
          <p:cNvPr id="4" name="Slide Number Placeholder 3">
            <a:extLst>
              <a:ext uri="{FF2B5EF4-FFF2-40B4-BE49-F238E27FC236}">
                <a16:creationId xmlns:a16="http://schemas.microsoft.com/office/drawing/2014/main" id="{F97AD496-B1F8-6840-93D7-011C027C3497}"/>
              </a:ext>
            </a:extLst>
          </p:cNvPr>
          <p:cNvSpPr>
            <a:spLocks noGrp="1"/>
          </p:cNvSpPr>
          <p:nvPr>
            <p:ph type="sldNum" sz="quarter" idx="12"/>
          </p:nvPr>
        </p:nvSpPr>
        <p:spPr/>
        <p:txBody>
          <a:bodyPr/>
          <a:lstStyle/>
          <a:p>
            <a:fld id="{31DE2C5B-556E-47B8-A792-024C2FCA4ACC}" type="slidenum">
              <a:rPr lang="en-GB" smtClean="0"/>
              <a:t>67</a:t>
            </a:fld>
            <a:endParaRPr lang="en-GB"/>
          </a:p>
        </p:txBody>
      </p:sp>
    </p:spTree>
    <p:extLst>
      <p:ext uri="{BB962C8B-B14F-4D97-AF65-F5344CB8AC3E}">
        <p14:creationId xmlns:p14="http://schemas.microsoft.com/office/powerpoint/2010/main" val="5663269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24889</TotalTime>
  <Words>6402</Words>
  <Application>Microsoft Macintosh PowerPoint</Application>
  <PresentationFormat>Widescreen</PresentationFormat>
  <Paragraphs>1391</Paragraphs>
  <Slides>67</Slides>
  <Notes>52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67</vt:i4>
      </vt:variant>
    </vt:vector>
  </HeadingPairs>
  <TitlesOfParts>
    <vt:vector size="78" baseType="lpstr">
      <vt:lpstr>Aptos</vt:lpstr>
      <vt:lpstr>Arial</vt:lpstr>
      <vt:lpstr>Calibri</vt:lpstr>
      <vt:lpstr>Courier</vt:lpstr>
      <vt:lpstr>Courier New</vt:lpstr>
      <vt:lpstr>Menlo</vt:lpstr>
      <vt:lpstr>Palatino</vt:lpstr>
      <vt:lpstr>Palatino Linotype</vt:lpstr>
      <vt:lpstr>Times New Roman</vt:lpstr>
      <vt:lpstr>Wingdings</vt:lpstr>
      <vt:lpstr>Tema di Office</vt:lpstr>
      <vt:lpstr>Giacomo Cappon</vt:lpstr>
      <vt:lpstr>Outline</vt:lpstr>
      <vt:lpstr>Object oriented programming</vt:lpstr>
      <vt:lpstr>Goals of OOP</vt:lpstr>
      <vt:lpstr>Principles of OOP</vt:lpstr>
      <vt:lpstr>Outline</vt:lpstr>
      <vt:lpstr>Creating and defining a class</vt:lpstr>
      <vt:lpstr>Creating and defining a class</vt:lpstr>
      <vt:lpstr>The this keyword</vt:lpstr>
      <vt:lpstr>Constructors</vt:lpstr>
      <vt:lpstr>Constructors</vt:lpstr>
      <vt:lpstr>Constructors</vt:lpstr>
      <vt:lpstr>Methods</vt:lpstr>
      <vt:lpstr>Using a class</vt:lpstr>
      <vt:lpstr>Outline</vt:lpstr>
      <vt:lpstr>Inheritance</vt:lpstr>
      <vt:lpstr>Inheritance (example)</vt:lpstr>
      <vt:lpstr>Inheritance (example)</vt:lpstr>
      <vt:lpstr>Inheritance (example)</vt:lpstr>
      <vt:lpstr>Inheritance (example)</vt:lpstr>
      <vt:lpstr>Inheritance (example)</vt:lpstr>
      <vt:lpstr>The extends keyword</vt:lpstr>
      <vt:lpstr>The super keyword</vt:lpstr>
      <vt:lpstr>Using inheritance</vt:lpstr>
      <vt:lpstr>How’s that possible? Dynamic dispatch</vt:lpstr>
      <vt:lpstr>Outline</vt:lpstr>
      <vt:lpstr>Polymorphism</vt:lpstr>
      <vt:lpstr>Polymorphism – Method invocation and override</vt:lpstr>
      <vt:lpstr>Polymorphism – Casting</vt:lpstr>
      <vt:lpstr>Outline</vt:lpstr>
      <vt:lpstr>Abstract data types</vt:lpstr>
      <vt:lpstr>Interfaces</vt:lpstr>
      <vt:lpstr>Interfaces</vt:lpstr>
      <vt:lpstr>Abstract classes</vt:lpstr>
      <vt:lpstr>Interfaces and abstract classes in Dart</vt:lpstr>
      <vt:lpstr>The implements keyword</vt:lpstr>
      <vt:lpstr>Using abstract classes in Dart</vt:lpstr>
      <vt:lpstr>Outline</vt:lpstr>
      <vt:lpstr>Design Patterns</vt:lpstr>
      <vt:lpstr>Outline</vt:lpstr>
      <vt:lpstr>Composite</vt:lpstr>
      <vt:lpstr>Composite (Example)</vt:lpstr>
      <vt:lpstr>Composite (Example)</vt:lpstr>
      <vt:lpstr>Composite (Example in Dart)</vt:lpstr>
      <vt:lpstr>Using Composite (Example in Dart)</vt:lpstr>
      <vt:lpstr>Composite</vt:lpstr>
      <vt:lpstr>Outline</vt:lpstr>
      <vt:lpstr>Singleton</vt:lpstr>
      <vt:lpstr>Singleton (Example)</vt:lpstr>
      <vt:lpstr>Singleton (Example)</vt:lpstr>
      <vt:lpstr>Singleton (Example in Dart)</vt:lpstr>
      <vt:lpstr>Singleton (Example in Dart)</vt:lpstr>
      <vt:lpstr>Using Singleton (Example in Dart)</vt:lpstr>
      <vt:lpstr>Singleton</vt:lpstr>
      <vt:lpstr>Outline</vt:lpstr>
      <vt:lpstr>Abstract Factory</vt:lpstr>
      <vt:lpstr>Abstract Factory (Example)</vt:lpstr>
      <vt:lpstr>Abstract Factory (Example)</vt:lpstr>
      <vt:lpstr>Abstract Factory (Example in Dart)</vt:lpstr>
      <vt:lpstr>Using Abstract Factory (Example in Dart)</vt:lpstr>
      <vt:lpstr>Abstract Factory</vt:lpstr>
      <vt:lpstr>Outline</vt:lpstr>
      <vt:lpstr>Exercises</vt:lpstr>
      <vt:lpstr>Outline</vt:lpstr>
      <vt:lpstr>Homework </vt:lpstr>
      <vt:lpstr>Outline</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379</cp:revision>
  <dcterms:created xsi:type="dcterms:W3CDTF">2021-07-19T09:08:13Z</dcterms:created>
  <dcterms:modified xsi:type="dcterms:W3CDTF">2026-02-19T09:58:34Z</dcterms:modified>
</cp:coreProperties>
</file>