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9"/>
  </p:notesMasterIdLst>
  <p:sldIdLst>
    <p:sldId id="256" r:id="rId2"/>
    <p:sldId id="257" r:id="rId3"/>
    <p:sldId id="267" r:id="rId4"/>
    <p:sldId id="260" r:id="rId5"/>
    <p:sldId id="271" r:id="rId6"/>
    <p:sldId id="270" r:id="rId7"/>
    <p:sldId id="268" r:id="rId8"/>
    <p:sldId id="272" r:id="rId9"/>
    <p:sldId id="261" r:id="rId10"/>
    <p:sldId id="263" r:id="rId11"/>
    <p:sldId id="262" r:id="rId12"/>
    <p:sldId id="264" r:id="rId13"/>
    <p:sldId id="275" r:id="rId14"/>
    <p:sldId id="276" r:id="rId15"/>
    <p:sldId id="277" r:id="rId16"/>
    <p:sldId id="278" r:id="rId17"/>
    <p:sldId id="279" r:id="rId18"/>
    <p:sldId id="269" r:id="rId19"/>
    <p:sldId id="290" r:id="rId20"/>
    <p:sldId id="291" r:id="rId21"/>
    <p:sldId id="292" r:id="rId22"/>
    <p:sldId id="313" r:id="rId23"/>
    <p:sldId id="314" r:id="rId24"/>
    <p:sldId id="315" r:id="rId25"/>
    <p:sldId id="316" r:id="rId26"/>
    <p:sldId id="317" r:id="rId27"/>
    <p:sldId id="318" r:id="rId28"/>
    <p:sldId id="319" r:id="rId29"/>
    <p:sldId id="320" r:id="rId30"/>
    <p:sldId id="303" r:id="rId31"/>
    <p:sldId id="321" r:id="rId32"/>
    <p:sldId id="322" r:id="rId33"/>
    <p:sldId id="323" r:id="rId34"/>
    <p:sldId id="325" r:id="rId35"/>
    <p:sldId id="293" r:id="rId36"/>
    <p:sldId id="294" r:id="rId37"/>
    <p:sldId id="273" r:id="rId38"/>
    <p:sldId id="328" r:id="rId39"/>
    <p:sldId id="295" r:id="rId40"/>
    <p:sldId id="304" r:id="rId41"/>
    <p:sldId id="306" r:id="rId42"/>
    <p:sldId id="308" r:id="rId43"/>
    <p:sldId id="309" r:id="rId44"/>
    <p:sldId id="310" r:id="rId45"/>
    <p:sldId id="311" r:id="rId46"/>
    <p:sldId id="312" r:id="rId47"/>
    <p:sldId id="302" r:id="rId4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70AD47"/>
    <a:srgbClr val="EBF1E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ile medio 2 - Color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essuno stile, griglia tabella">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E8B1032C-EA38-4F05-BA0D-38AFFFC7BED3}" styleName="Stile chiaro 3 - Colore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16D9F66E-5EB9-4882-86FB-DCBF35E3C3E4}" styleName="Stile medio 4 - Colore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93296810-A885-4BE3-A3E7-6D5BEEA58F35}" styleName="Stile medio 2 - Colore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7335" autoAdjust="0"/>
    <p:restoredTop sz="94660"/>
  </p:normalViewPr>
  <p:slideViewPr>
    <p:cSldViewPr snapToGrid="0">
      <p:cViewPr varScale="1">
        <p:scale>
          <a:sx n="128" d="100"/>
          <a:sy n="128" d="100"/>
        </p:scale>
        <p:origin x="1008" y="176"/>
      </p:cViewPr>
      <p:guideLst/>
    </p:cSldViewPr>
  </p:slideViewPr>
  <p:notesTextViewPr>
    <p:cViewPr>
      <p:scale>
        <a:sx n="1" d="1"/>
        <a:sy n="1" d="1"/>
      </p:scale>
      <p:origin x="0" y="0"/>
    </p:cViewPr>
  </p:notesTextViewPr>
  <p:notesViewPr>
    <p:cSldViewPr snapToGrid="0">
      <p:cViewPr varScale="1">
        <p:scale>
          <a:sx n="168" d="100"/>
          <a:sy n="168" d="100"/>
        </p:scale>
        <p:origin x="6640" y="21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Segnaposto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6FBD0CA-8F9C-4380-8AFD-600A0D90DFDA}" type="datetimeFigureOut">
              <a:rPr lang="en-GB" smtClean="0"/>
              <a:t>19/02/2026</a:t>
            </a:fld>
            <a:endParaRPr lang="en-GB"/>
          </a:p>
        </p:txBody>
      </p:sp>
      <p:sp>
        <p:nvSpPr>
          <p:cNvPr id="4" name="Segnaposto immagin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Segnaposto note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it-IT"/>
              <a:t>Modifica gli stili del testo dello schema</a:t>
            </a:r>
          </a:p>
          <a:p>
            <a:pPr lvl="1"/>
            <a:r>
              <a:rPr lang="it-IT"/>
              <a:t>Secondo livello</a:t>
            </a:r>
          </a:p>
          <a:p>
            <a:pPr lvl="2"/>
            <a:r>
              <a:rPr lang="it-IT"/>
              <a:t>Terzo livello</a:t>
            </a:r>
          </a:p>
          <a:p>
            <a:pPr lvl="3"/>
            <a:r>
              <a:rPr lang="it-IT"/>
              <a:t>Quarto livello</a:t>
            </a:r>
          </a:p>
          <a:p>
            <a:pPr lvl="4"/>
            <a:r>
              <a:rPr lang="it-IT"/>
              <a:t>Quinto livello</a:t>
            </a:r>
            <a:endParaRPr lang="en-GB"/>
          </a:p>
        </p:txBody>
      </p:sp>
      <p:sp>
        <p:nvSpPr>
          <p:cNvPr id="6" name="Segnaposto piè di pa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egnaposto numero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EFC5DFC-85A9-4C89-B923-D32D369DC18C}" type="slidenum">
              <a:rPr lang="en-GB" smtClean="0"/>
              <a:t>‹#›</a:t>
            </a:fld>
            <a:endParaRPr lang="en-GB"/>
          </a:p>
        </p:txBody>
      </p:sp>
    </p:spTree>
    <p:extLst>
      <p:ext uri="{BB962C8B-B14F-4D97-AF65-F5344CB8AC3E}">
        <p14:creationId xmlns:p14="http://schemas.microsoft.com/office/powerpoint/2010/main" val="24897539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en-GB" dirty="0"/>
          </a:p>
        </p:txBody>
      </p:sp>
      <p:sp>
        <p:nvSpPr>
          <p:cNvPr id="4" name="Segnaposto numero diapositiva 3"/>
          <p:cNvSpPr>
            <a:spLocks noGrp="1"/>
          </p:cNvSpPr>
          <p:nvPr>
            <p:ph type="sldNum" sz="quarter" idx="10"/>
          </p:nvPr>
        </p:nvSpPr>
        <p:spPr/>
        <p:txBody>
          <a:bodyPr/>
          <a:lstStyle/>
          <a:p>
            <a:fld id="{3452F5A9-226A-479A-BA7C-FE8E1E3031D5}" type="slidenum">
              <a:rPr lang="en-GB" smtClean="0"/>
              <a:t>18</a:t>
            </a:fld>
            <a:endParaRPr lang="en-GB"/>
          </a:p>
        </p:txBody>
      </p:sp>
    </p:spTree>
    <p:extLst>
      <p:ext uri="{BB962C8B-B14F-4D97-AF65-F5344CB8AC3E}">
        <p14:creationId xmlns:p14="http://schemas.microsoft.com/office/powerpoint/2010/main" val="341468822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en-GB" dirty="0"/>
          </a:p>
        </p:txBody>
      </p:sp>
      <p:sp>
        <p:nvSpPr>
          <p:cNvPr id="4" name="Segnaposto numero diapositiva 3"/>
          <p:cNvSpPr>
            <a:spLocks noGrp="1"/>
          </p:cNvSpPr>
          <p:nvPr>
            <p:ph type="sldNum" sz="quarter" idx="10"/>
          </p:nvPr>
        </p:nvSpPr>
        <p:spPr/>
        <p:txBody>
          <a:bodyPr/>
          <a:lstStyle/>
          <a:p>
            <a:fld id="{3452F5A9-226A-479A-BA7C-FE8E1E3031D5}" type="slidenum">
              <a:rPr lang="en-GB" smtClean="0"/>
              <a:t>19</a:t>
            </a:fld>
            <a:endParaRPr lang="en-GB"/>
          </a:p>
        </p:txBody>
      </p:sp>
    </p:spTree>
    <p:extLst>
      <p:ext uri="{BB962C8B-B14F-4D97-AF65-F5344CB8AC3E}">
        <p14:creationId xmlns:p14="http://schemas.microsoft.com/office/powerpoint/2010/main" val="47312521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en-GB" dirty="0"/>
          </a:p>
        </p:txBody>
      </p:sp>
      <p:sp>
        <p:nvSpPr>
          <p:cNvPr id="4" name="Segnaposto numero diapositiva 3"/>
          <p:cNvSpPr>
            <a:spLocks noGrp="1"/>
          </p:cNvSpPr>
          <p:nvPr>
            <p:ph type="sldNum" sz="quarter" idx="10"/>
          </p:nvPr>
        </p:nvSpPr>
        <p:spPr/>
        <p:txBody>
          <a:bodyPr/>
          <a:lstStyle/>
          <a:p>
            <a:fld id="{3452F5A9-226A-479A-BA7C-FE8E1E3031D5}" type="slidenum">
              <a:rPr lang="en-GB" smtClean="0"/>
              <a:t>21</a:t>
            </a:fld>
            <a:endParaRPr lang="en-GB"/>
          </a:p>
        </p:txBody>
      </p:sp>
    </p:spTree>
    <p:extLst>
      <p:ext uri="{BB962C8B-B14F-4D97-AF65-F5344CB8AC3E}">
        <p14:creationId xmlns:p14="http://schemas.microsoft.com/office/powerpoint/2010/main" val="263708294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07B19-F0E0-66D4-4906-C41713D294A7}"/>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5A34ECFB-5DCD-646E-6A53-7B4344E41DA4}"/>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60176FA2-8B88-AF43-5AF8-AC1EF9E5D11C}"/>
              </a:ext>
            </a:extLst>
          </p:cNvPr>
          <p:cNvSpPr>
            <a:spLocks noGrp="1"/>
          </p:cNvSpPr>
          <p:nvPr>
            <p:ph type="body" idx="1"/>
          </p:nvPr>
        </p:nvSpPr>
        <p:spPr/>
        <p:txBody>
          <a:bodyPr/>
          <a:lstStyle/>
          <a:p>
            <a:endParaRPr lang="en-GB" dirty="0"/>
          </a:p>
        </p:txBody>
      </p:sp>
      <p:sp>
        <p:nvSpPr>
          <p:cNvPr id="4" name="Segnaposto numero diapositiva 3">
            <a:extLst>
              <a:ext uri="{FF2B5EF4-FFF2-40B4-BE49-F238E27FC236}">
                <a16:creationId xmlns:a16="http://schemas.microsoft.com/office/drawing/2014/main" id="{068AD0ED-5136-2D76-0C33-FAEF416CDC3B}"/>
              </a:ext>
            </a:extLst>
          </p:cNvPr>
          <p:cNvSpPr>
            <a:spLocks noGrp="1"/>
          </p:cNvSpPr>
          <p:nvPr>
            <p:ph type="sldNum" sz="quarter" idx="10"/>
          </p:nvPr>
        </p:nvSpPr>
        <p:spPr/>
        <p:txBody>
          <a:bodyPr/>
          <a:lstStyle/>
          <a:p>
            <a:fld id="{3452F5A9-226A-479A-BA7C-FE8E1E3031D5}" type="slidenum">
              <a:rPr lang="en-GB" smtClean="0"/>
              <a:t>22</a:t>
            </a:fld>
            <a:endParaRPr lang="en-GB"/>
          </a:p>
        </p:txBody>
      </p:sp>
    </p:spTree>
    <p:extLst>
      <p:ext uri="{BB962C8B-B14F-4D97-AF65-F5344CB8AC3E}">
        <p14:creationId xmlns:p14="http://schemas.microsoft.com/office/powerpoint/2010/main" val="21301269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en-GB" dirty="0"/>
          </a:p>
        </p:txBody>
      </p:sp>
      <p:sp>
        <p:nvSpPr>
          <p:cNvPr id="4" name="Segnaposto numero diapositiva 3"/>
          <p:cNvSpPr>
            <a:spLocks noGrp="1"/>
          </p:cNvSpPr>
          <p:nvPr>
            <p:ph type="sldNum" sz="quarter" idx="10"/>
          </p:nvPr>
        </p:nvSpPr>
        <p:spPr/>
        <p:txBody>
          <a:bodyPr/>
          <a:lstStyle/>
          <a:p>
            <a:fld id="{3452F5A9-226A-479A-BA7C-FE8E1E3031D5}" type="slidenum">
              <a:rPr lang="en-GB" smtClean="0"/>
              <a:t>23</a:t>
            </a:fld>
            <a:endParaRPr lang="en-GB"/>
          </a:p>
        </p:txBody>
      </p:sp>
    </p:spTree>
    <p:extLst>
      <p:ext uri="{BB962C8B-B14F-4D97-AF65-F5344CB8AC3E}">
        <p14:creationId xmlns:p14="http://schemas.microsoft.com/office/powerpoint/2010/main" val="24676627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en-GB" dirty="0"/>
          </a:p>
        </p:txBody>
      </p:sp>
      <p:sp>
        <p:nvSpPr>
          <p:cNvPr id="4" name="Segnaposto numero diapositiva 3"/>
          <p:cNvSpPr>
            <a:spLocks noGrp="1"/>
          </p:cNvSpPr>
          <p:nvPr>
            <p:ph type="sldNum" sz="quarter" idx="10"/>
          </p:nvPr>
        </p:nvSpPr>
        <p:spPr/>
        <p:txBody>
          <a:bodyPr/>
          <a:lstStyle/>
          <a:p>
            <a:fld id="{3452F5A9-226A-479A-BA7C-FE8E1E3031D5}" type="slidenum">
              <a:rPr lang="en-GB" smtClean="0"/>
              <a:t>24</a:t>
            </a:fld>
            <a:endParaRPr lang="en-GB"/>
          </a:p>
        </p:txBody>
      </p:sp>
    </p:spTree>
    <p:extLst>
      <p:ext uri="{BB962C8B-B14F-4D97-AF65-F5344CB8AC3E}">
        <p14:creationId xmlns:p14="http://schemas.microsoft.com/office/powerpoint/2010/main" val="62440308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CA9B27-BBFD-BB6F-7A26-BEAD3F55312F}"/>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54D7DDEF-99AF-B125-FD75-12F8945BEC72}"/>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F6C480A9-4BF9-EF58-B9AE-94C7095499C2}"/>
              </a:ext>
            </a:extLst>
          </p:cNvPr>
          <p:cNvSpPr>
            <a:spLocks noGrp="1"/>
          </p:cNvSpPr>
          <p:nvPr>
            <p:ph type="body" idx="1"/>
          </p:nvPr>
        </p:nvSpPr>
        <p:spPr/>
        <p:txBody>
          <a:bodyPr/>
          <a:lstStyle/>
          <a:p>
            <a:endParaRPr lang="en-GB" dirty="0"/>
          </a:p>
        </p:txBody>
      </p:sp>
      <p:sp>
        <p:nvSpPr>
          <p:cNvPr id="4" name="Segnaposto numero diapositiva 3">
            <a:extLst>
              <a:ext uri="{FF2B5EF4-FFF2-40B4-BE49-F238E27FC236}">
                <a16:creationId xmlns:a16="http://schemas.microsoft.com/office/drawing/2014/main" id="{EDCF96F4-7ECB-139D-15D3-698DBC0E0E1C}"/>
              </a:ext>
            </a:extLst>
          </p:cNvPr>
          <p:cNvSpPr>
            <a:spLocks noGrp="1"/>
          </p:cNvSpPr>
          <p:nvPr>
            <p:ph type="sldNum" sz="quarter" idx="10"/>
          </p:nvPr>
        </p:nvSpPr>
        <p:spPr/>
        <p:txBody>
          <a:bodyPr/>
          <a:lstStyle/>
          <a:p>
            <a:fld id="{3452F5A9-226A-479A-BA7C-FE8E1E3031D5}" type="slidenum">
              <a:rPr lang="en-GB" smtClean="0"/>
              <a:t>25</a:t>
            </a:fld>
            <a:endParaRPr lang="en-GB"/>
          </a:p>
        </p:txBody>
      </p:sp>
    </p:spTree>
    <p:extLst>
      <p:ext uri="{BB962C8B-B14F-4D97-AF65-F5344CB8AC3E}">
        <p14:creationId xmlns:p14="http://schemas.microsoft.com/office/powerpoint/2010/main" val="102978800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en-GB" dirty="0"/>
          </a:p>
        </p:txBody>
      </p:sp>
      <p:sp>
        <p:nvSpPr>
          <p:cNvPr id="4" name="Segnaposto numero diapositiva 3"/>
          <p:cNvSpPr>
            <a:spLocks noGrp="1"/>
          </p:cNvSpPr>
          <p:nvPr>
            <p:ph type="sldNum" sz="quarter" idx="10"/>
          </p:nvPr>
        </p:nvSpPr>
        <p:spPr/>
        <p:txBody>
          <a:bodyPr/>
          <a:lstStyle/>
          <a:p>
            <a:fld id="{3452F5A9-226A-479A-BA7C-FE8E1E3031D5}" type="slidenum">
              <a:rPr lang="en-GB" smtClean="0"/>
              <a:t>26</a:t>
            </a:fld>
            <a:endParaRPr lang="en-GB"/>
          </a:p>
        </p:txBody>
      </p:sp>
    </p:spTree>
    <p:extLst>
      <p:ext uri="{BB962C8B-B14F-4D97-AF65-F5344CB8AC3E}">
        <p14:creationId xmlns:p14="http://schemas.microsoft.com/office/powerpoint/2010/main" val="269814476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en-GB" dirty="0"/>
          </a:p>
        </p:txBody>
      </p:sp>
      <p:sp>
        <p:nvSpPr>
          <p:cNvPr id="4" name="Segnaposto numero diapositiva 3"/>
          <p:cNvSpPr>
            <a:spLocks noGrp="1"/>
          </p:cNvSpPr>
          <p:nvPr>
            <p:ph type="sldNum" sz="quarter" idx="10"/>
          </p:nvPr>
        </p:nvSpPr>
        <p:spPr/>
        <p:txBody>
          <a:bodyPr/>
          <a:lstStyle/>
          <a:p>
            <a:fld id="{3452F5A9-226A-479A-BA7C-FE8E1E3031D5}" type="slidenum">
              <a:rPr lang="en-GB" smtClean="0"/>
              <a:t>28</a:t>
            </a:fld>
            <a:endParaRPr lang="en-GB"/>
          </a:p>
        </p:txBody>
      </p:sp>
    </p:spTree>
    <p:extLst>
      <p:ext uri="{BB962C8B-B14F-4D97-AF65-F5344CB8AC3E}">
        <p14:creationId xmlns:p14="http://schemas.microsoft.com/office/powerpoint/2010/main" val="210315030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en-GB" dirty="0"/>
          </a:p>
        </p:txBody>
      </p:sp>
      <p:sp>
        <p:nvSpPr>
          <p:cNvPr id="4" name="Segnaposto numero diapositiva 3"/>
          <p:cNvSpPr>
            <a:spLocks noGrp="1"/>
          </p:cNvSpPr>
          <p:nvPr>
            <p:ph type="sldNum" sz="quarter" idx="10"/>
          </p:nvPr>
        </p:nvSpPr>
        <p:spPr/>
        <p:txBody>
          <a:bodyPr/>
          <a:lstStyle/>
          <a:p>
            <a:fld id="{3452F5A9-226A-479A-BA7C-FE8E1E3031D5}" type="slidenum">
              <a:rPr lang="en-GB" smtClean="0"/>
              <a:t>29</a:t>
            </a:fld>
            <a:endParaRPr lang="en-GB"/>
          </a:p>
        </p:txBody>
      </p:sp>
    </p:spTree>
    <p:extLst>
      <p:ext uri="{BB962C8B-B14F-4D97-AF65-F5344CB8AC3E}">
        <p14:creationId xmlns:p14="http://schemas.microsoft.com/office/powerpoint/2010/main" val="405639197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9A2635-6319-4C75-13F0-C653E634C118}"/>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7A70384A-2514-5437-10CE-75E7E08C98FA}"/>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CE00A942-9207-452B-571F-69641A602ACD}"/>
              </a:ext>
            </a:extLst>
          </p:cNvPr>
          <p:cNvSpPr>
            <a:spLocks noGrp="1"/>
          </p:cNvSpPr>
          <p:nvPr>
            <p:ph type="body" idx="1"/>
          </p:nvPr>
        </p:nvSpPr>
        <p:spPr/>
        <p:txBody>
          <a:bodyPr/>
          <a:lstStyle/>
          <a:p>
            <a:endParaRPr lang="en-GB" dirty="0"/>
          </a:p>
        </p:txBody>
      </p:sp>
      <p:sp>
        <p:nvSpPr>
          <p:cNvPr id="4" name="Segnaposto numero diapositiva 3">
            <a:extLst>
              <a:ext uri="{FF2B5EF4-FFF2-40B4-BE49-F238E27FC236}">
                <a16:creationId xmlns:a16="http://schemas.microsoft.com/office/drawing/2014/main" id="{3A15EC29-A89B-B786-8740-10B148A70D31}"/>
              </a:ext>
            </a:extLst>
          </p:cNvPr>
          <p:cNvSpPr>
            <a:spLocks noGrp="1"/>
          </p:cNvSpPr>
          <p:nvPr>
            <p:ph type="sldNum" sz="quarter" idx="10"/>
          </p:nvPr>
        </p:nvSpPr>
        <p:spPr/>
        <p:txBody>
          <a:bodyPr/>
          <a:lstStyle/>
          <a:p>
            <a:fld id="{3452F5A9-226A-479A-BA7C-FE8E1E3031D5}" type="slidenum">
              <a:rPr lang="en-GB" smtClean="0"/>
              <a:t>30</a:t>
            </a:fld>
            <a:endParaRPr lang="en-GB"/>
          </a:p>
        </p:txBody>
      </p:sp>
    </p:spTree>
    <p:extLst>
      <p:ext uri="{BB962C8B-B14F-4D97-AF65-F5344CB8AC3E}">
        <p14:creationId xmlns:p14="http://schemas.microsoft.com/office/powerpoint/2010/main" val="58163827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en-GB" dirty="0"/>
          </a:p>
        </p:txBody>
      </p:sp>
      <p:sp>
        <p:nvSpPr>
          <p:cNvPr id="4" name="Segnaposto numero diapositiva 3"/>
          <p:cNvSpPr>
            <a:spLocks noGrp="1"/>
          </p:cNvSpPr>
          <p:nvPr>
            <p:ph type="sldNum" sz="quarter" idx="10"/>
          </p:nvPr>
        </p:nvSpPr>
        <p:spPr/>
        <p:txBody>
          <a:bodyPr/>
          <a:lstStyle/>
          <a:p>
            <a:fld id="{3452F5A9-226A-479A-BA7C-FE8E1E3031D5}" type="slidenum">
              <a:rPr lang="en-GB" smtClean="0"/>
              <a:t>34</a:t>
            </a:fld>
            <a:endParaRPr lang="en-GB"/>
          </a:p>
        </p:txBody>
      </p:sp>
    </p:spTree>
    <p:extLst>
      <p:ext uri="{BB962C8B-B14F-4D97-AF65-F5344CB8AC3E}">
        <p14:creationId xmlns:p14="http://schemas.microsoft.com/office/powerpoint/2010/main" val="243864150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en-GB" dirty="0"/>
          </a:p>
        </p:txBody>
      </p:sp>
      <p:sp>
        <p:nvSpPr>
          <p:cNvPr id="4" name="Segnaposto numero diapositiva 3"/>
          <p:cNvSpPr>
            <a:spLocks noGrp="1"/>
          </p:cNvSpPr>
          <p:nvPr>
            <p:ph type="sldNum" sz="quarter" idx="10"/>
          </p:nvPr>
        </p:nvSpPr>
        <p:spPr/>
        <p:txBody>
          <a:bodyPr/>
          <a:lstStyle/>
          <a:p>
            <a:fld id="{3452F5A9-226A-479A-BA7C-FE8E1E3031D5}" type="slidenum">
              <a:rPr lang="en-GB" smtClean="0"/>
              <a:t>35</a:t>
            </a:fld>
            <a:endParaRPr lang="en-GB"/>
          </a:p>
        </p:txBody>
      </p:sp>
    </p:spTree>
    <p:extLst>
      <p:ext uri="{BB962C8B-B14F-4D97-AF65-F5344CB8AC3E}">
        <p14:creationId xmlns:p14="http://schemas.microsoft.com/office/powerpoint/2010/main" val="324490383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en-GB" dirty="0"/>
          </a:p>
        </p:txBody>
      </p:sp>
      <p:sp>
        <p:nvSpPr>
          <p:cNvPr id="4" name="Segnaposto numero diapositiva 3"/>
          <p:cNvSpPr>
            <a:spLocks noGrp="1"/>
          </p:cNvSpPr>
          <p:nvPr>
            <p:ph type="sldNum" sz="quarter" idx="10"/>
          </p:nvPr>
        </p:nvSpPr>
        <p:spPr/>
        <p:txBody>
          <a:bodyPr/>
          <a:lstStyle/>
          <a:p>
            <a:fld id="{3452F5A9-226A-479A-BA7C-FE8E1E3031D5}" type="slidenum">
              <a:rPr lang="en-GB" smtClean="0"/>
              <a:t>36</a:t>
            </a:fld>
            <a:endParaRPr lang="en-GB"/>
          </a:p>
        </p:txBody>
      </p:sp>
    </p:spTree>
    <p:extLst>
      <p:ext uri="{BB962C8B-B14F-4D97-AF65-F5344CB8AC3E}">
        <p14:creationId xmlns:p14="http://schemas.microsoft.com/office/powerpoint/2010/main" val="6818128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en-GB" dirty="0"/>
          </a:p>
        </p:txBody>
      </p:sp>
      <p:sp>
        <p:nvSpPr>
          <p:cNvPr id="4" name="Segnaposto numero diapositiva 3"/>
          <p:cNvSpPr>
            <a:spLocks noGrp="1"/>
          </p:cNvSpPr>
          <p:nvPr>
            <p:ph type="sldNum" sz="quarter" idx="10"/>
          </p:nvPr>
        </p:nvSpPr>
        <p:spPr/>
        <p:txBody>
          <a:bodyPr/>
          <a:lstStyle/>
          <a:p>
            <a:fld id="{3452F5A9-226A-479A-BA7C-FE8E1E3031D5}" type="slidenum">
              <a:rPr lang="en-GB" smtClean="0"/>
              <a:t>37</a:t>
            </a:fld>
            <a:endParaRPr lang="en-GB"/>
          </a:p>
        </p:txBody>
      </p:sp>
    </p:spTree>
    <p:extLst>
      <p:ext uri="{BB962C8B-B14F-4D97-AF65-F5344CB8AC3E}">
        <p14:creationId xmlns:p14="http://schemas.microsoft.com/office/powerpoint/2010/main" val="46759203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en-GB" dirty="0"/>
          </a:p>
        </p:txBody>
      </p:sp>
      <p:sp>
        <p:nvSpPr>
          <p:cNvPr id="4" name="Segnaposto numero diapositiva 3"/>
          <p:cNvSpPr>
            <a:spLocks noGrp="1"/>
          </p:cNvSpPr>
          <p:nvPr>
            <p:ph type="sldNum" sz="quarter" idx="10"/>
          </p:nvPr>
        </p:nvSpPr>
        <p:spPr/>
        <p:txBody>
          <a:bodyPr/>
          <a:lstStyle/>
          <a:p>
            <a:fld id="{3452F5A9-226A-479A-BA7C-FE8E1E3031D5}" type="slidenum">
              <a:rPr lang="en-GB" smtClean="0"/>
              <a:t>38</a:t>
            </a:fld>
            <a:endParaRPr lang="en-GB"/>
          </a:p>
        </p:txBody>
      </p:sp>
    </p:spTree>
    <p:extLst>
      <p:ext uri="{BB962C8B-B14F-4D97-AF65-F5344CB8AC3E}">
        <p14:creationId xmlns:p14="http://schemas.microsoft.com/office/powerpoint/2010/main" val="306884347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1.xml"/><Relationship Id="rId5" Type="http://schemas.microsoft.com/office/2007/relationships/hdphoto" Target="../media/hdphoto2.wdp"/><Relationship Id="rId4"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olo 1"/>
          <p:cNvSpPr>
            <a:spLocks noGrp="1"/>
          </p:cNvSpPr>
          <p:nvPr>
            <p:ph type="title"/>
          </p:nvPr>
        </p:nvSpPr>
        <p:spPr>
          <a:xfrm>
            <a:off x="428172" y="161926"/>
            <a:ext cx="11368314" cy="860243"/>
          </a:xfrm>
        </p:spPr>
        <p:txBody>
          <a:bodyPr/>
          <a:lstStyle/>
          <a:p>
            <a:r>
              <a:rPr lang="en-GB" noProof="0" dirty="0"/>
              <a:t>Fare </a:t>
            </a:r>
            <a:r>
              <a:rPr lang="en-GB" noProof="0" dirty="0" err="1"/>
              <a:t>clic</a:t>
            </a:r>
            <a:r>
              <a:rPr lang="en-GB" noProof="0" dirty="0"/>
              <a:t> per </a:t>
            </a:r>
            <a:r>
              <a:rPr lang="en-GB" noProof="0" dirty="0" err="1"/>
              <a:t>modificare</a:t>
            </a:r>
            <a:r>
              <a:rPr lang="en-GB" noProof="0" dirty="0"/>
              <a:t> lo stile del </a:t>
            </a:r>
            <a:r>
              <a:rPr lang="en-GB" noProof="0" dirty="0" err="1"/>
              <a:t>titolo</a:t>
            </a:r>
            <a:endParaRPr lang="en-GB" noProof="0" dirty="0"/>
          </a:p>
        </p:txBody>
      </p:sp>
      <p:sp>
        <p:nvSpPr>
          <p:cNvPr id="3" name="Segnaposto contenuto 2"/>
          <p:cNvSpPr>
            <a:spLocks noGrp="1"/>
          </p:cNvSpPr>
          <p:nvPr>
            <p:ph idx="1"/>
          </p:nvPr>
        </p:nvSpPr>
        <p:spPr>
          <a:xfrm>
            <a:off x="428172" y="1361167"/>
            <a:ext cx="11368314" cy="4858203"/>
          </a:xfrm>
        </p:spPr>
        <p:txBody>
          <a:bodyPr/>
          <a:lstStyle>
            <a:lvl5pPr>
              <a:defRPr/>
            </a:lvl5pPr>
          </a:lstStyle>
          <a:p>
            <a:pPr lvl="0"/>
            <a:r>
              <a:rPr lang="en-GB" noProof="0" dirty="0" err="1"/>
              <a:t>Modifica</a:t>
            </a:r>
            <a:r>
              <a:rPr lang="en-GB" noProof="0" dirty="0"/>
              <a:t> </a:t>
            </a:r>
            <a:r>
              <a:rPr lang="en-GB" noProof="0" dirty="0" err="1"/>
              <a:t>gli</a:t>
            </a:r>
            <a:r>
              <a:rPr lang="en-GB" noProof="0" dirty="0"/>
              <a:t> </a:t>
            </a:r>
            <a:r>
              <a:rPr lang="en-GB" noProof="0" dirty="0" err="1"/>
              <a:t>stili</a:t>
            </a:r>
            <a:r>
              <a:rPr lang="en-GB" noProof="0" dirty="0"/>
              <a:t> del </a:t>
            </a:r>
            <a:r>
              <a:rPr lang="en-GB" noProof="0" dirty="0" err="1"/>
              <a:t>testo</a:t>
            </a:r>
            <a:r>
              <a:rPr lang="en-GB" noProof="0" dirty="0"/>
              <a:t> </a:t>
            </a:r>
            <a:r>
              <a:rPr lang="en-GB" noProof="0" dirty="0" err="1"/>
              <a:t>dello</a:t>
            </a:r>
            <a:r>
              <a:rPr lang="en-GB" noProof="0" dirty="0"/>
              <a:t> schema</a:t>
            </a:r>
          </a:p>
          <a:p>
            <a:pPr lvl="1"/>
            <a:r>
              <a:rPr lang="en-GB" noProof="0" dirty="0"/>
              <a:t>Secondo </a:t>
            </a:r>
            <a:r>
              <a:rPr lang="en-GB" noProof="0" dirty="0" err="1"/>
              <a:t>livello</a:t>
            </a:r>
            <a:endParaRPr lang="en-GB" noProof="0" dirty="0"/>
          </a:p>
          <a:p>
            <a:pPr lvl="2"/>
            <a:r>
              <a:rPr lang="en-GB" noProof="0" dirty="0" err="1"/>
              <a:t>Terzo</a:t>
            </a:r>
            <a:r>
              <a:rPr lang="en-GB" noProof="0" dirty="0"/>
              <a:t> </a:t>
            </a:r>
            <a:r>
              <a:rPr lang="en-GB" noProof="0" dirty="0" err="1"/>
              <a:t>livello</a:t>
            </a:r>
            <a:endParaRPr lang="en-GB" noProof="0" dirty="0"/>
          </a:p>
          <a:p>
            <a:pPr lvl="3"/>
            <a:r>
              <a:rPr lang="en-GB" noProof="0" dirty="0"/>
              <a:t>Quarto </a:t>
            </a:r>
            <a:r>
              <a:rPr lang="en-GB" noProof="0" dirty="0" err="1"/>
              <a:t>livello</a:t>
            </a:r>
            <a:endParaRPr lang="en-GB" noProof="0" dirty="0"/>
          </a:p>
          <a:p>
            <a:pPr lvl="4"/>
            <a:r>
              <a:rPr lang="en-GB" noProof="0" dirty="0"/>
              <a:t>Quinto </a:t>
            </a:r>
            <a:r>
              <a:rPr lang="en-GB" noProof="0" dirty="0" err="1"/>
              <a:t>livello</a:t>
            </a:r>
            <a:endParaRPr lang="en-GB" noProof="0" dirty="0"/>
          </a:p>
          <a:p>
            <a:pPr lvl="4"/>
            <a:endParaRPr lang="en-GB" noProof="0" dirty="0"/>
          </a:p>
        </p:txBody>
      </p:sp>
      <p:sp>
        <p:nvSpPr>
          <p:cNvPr id="6" name="Segnaposto numero diapositiva 5"/>
          <p:cNvSpPr>
            <a:spLocks noGrp="1"/>
          </p:cNvSpPr>
          <p:nvPr>
            <p:ph type="sldNum" sz="quarter" idx="12"/>
          </p:nvPr>
        </p:nvSpPr>
        <p:spPr/>
        <p:txBody>
          <a:bodyPr/>
          <a:lstStyle/>
          <a:p>
            <a:fld id="{31DE2C5B-556E-47B8-A792-024C2FCA4ACC}" type="slidenum">
              <a:rPr lang="en-GB" smtClean="0"/>
              <a:t>‹#›</a:t>
            </a:fld>
            <a:endParaRPr lang="en-GB"/>
          </a:p>
        </p:txBody>
      </p:sp>
      <p:sp>
        <p:nvSpPr>
          <p:cNvPr id="7" name="Rettangolo arrotondato 6"/>
          <p:cNvSpPr/>
          <p:nvPr userDrawn="1"/>
        </p:nvSpPr>
        <p:spPr>
          <a:xfrm>
            <a:off x="1393371" y="1022169"/>
            <a:ext cx="9456058" cy="45719"/>
          </a:xfrm>
          <a:prstGeom prst="roundRect">
            <a:avLst>
              <a:gd name="adj" fmla="val 26104"/>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403838712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woObj" preserve="1">
  <p:cSld name="Due contenuti">
    <p:spTree>
      <p:nvGrpSpPr>
        <p:cNvPr id="1" name=""/>
        <p:cNvGrpSpPr/>
        <p:nvPr/>
      </p:nvGrpSpPr>
      <p:grpSpPr>
        <a:xfrm>
          <a:off x="0" y="0"/>
          <a:ext cx="0" cy="0"/>
          <a:chOff x="0" y="0"/>
          <a:chExt cx="0" cy="0"/>
        </a:xfrm>
      </p:grpSpPr>
      <p:sp>
        <p:nvSpPr>
          <p:cNvPr id="2" name="Titolo 1"/>
          <p:cNvSpPr>
            <a:spLocks noGrp="1"/>
          </p:cNvSpPr>
          <p:nvPr>
            <p:ph type="title"/>
          </p:nvPr>
        </p:nvSpPr>
        <p:spPr>
          <a:xfrm>
            <a:off x="428172" y="161926"/>
            <a:ext cx="11368314" cy="860243"/>
          </a:xfrm>
        </p:spPr>
        <p:txBody>
          <a:bodyPr/>
          <a:lstStyle/>
          <a:p>
            <a:r>
              <a:rPr lang="en-GB" noProof="0" dirty="0"/>
              <a:t>Fare </a:t>
            </a:r>
            <a:r>
              <a:rPr lang="en-GB" noProof="0" dirty="0" err="1"/>
              <a:t>clic</a:t>
            </a:r>
            <a:r>
              <a:rPr lang="en-GB" noProof="0" dirty="0"/>
              <a:t> per </a:t>
            </a:r>
            <a:r>
              <a:rPr lang="en-GB" noProof="0" dirty="0" err="1"/>
              <a:t>modificare</a:t>
            </a:r>
            <a:r>
              <a:rPr lang="en-GB" noProof="0" dirty="0"/>
              <a:t> lo stile del </a:t>
            </a:r>
            <a:r>
              <a:rPr lang="en-GB" noProof="0" dirty="0" err="1"/>
              <a:t>titolo</a:t>
            </a:r>
            <a:endParaRPr lang="en-GB" noProof="0" dirty="0"/>
          </a:p>
        </p:txBody>
      </p:sp>
      <p:sp>
        <p:nvSpPr>
          <p:cNvPr id="3" name="Segnaposto contenuto 2"/>
          <p:cNvSpPr>
            <a:spLocks noGrp="1"/>
          </p:cNvSpPr>
          <p:nvPr>
            <p:ph sz="half" idx="1"/>
          </p:nvPr>
        </p:nvSpPr>
        <p:spPr>
          <a:xfrm>
            <a:off x="428172" y="1364343"/>
            <a:ext cx="5591628" cy="4812620"/>
          </a:xfrm>
        </p:spPr>
        <p:txBody>
          <a:bodyPr/>
          <a:lstStyle/>
          <a:p>
            <a:pPr lvl="0"/>
            <a:r>
              <a:rPr lang="en-GB" noProof="0" dirty="0" err="1"/>
              <a:t>Modifica</a:t>
            </a:r>
            <a:r>
              <a:rPr lang="en-GB" noProof="0" dirty="0"/>
              <a:t> </a:t>
            </a:r>
            <a:r>
              <a:rPr lang="en-GB" noProof="0" dirty="0" err="1"/>
              <a:t>gli</a:t>
            </a:r>
            <a:r>
              <a:rPr lang="en-GB" noProof="0" dirty="0"/>
              <a:t> </a:t>
            </a:r>
            <a:r>
              <a:rPr lang="en-GB" noProof="0" dirty="0" err="1"/>
              <a:t>stili</a:t>
            </a:r>
            <a:r>
              <a:rPr lang="en-GB" noProof="0" dirty="0"/>
              <a:t> del </a:t>
            </a:r>
            <a:r>
              <a:rPr lang="en-GB" noProof="0" dirty="0" err="1"/>
              <a:t>testo</a:t>
            </a:r>
            <a:r>
              <a:rPr lang="en-GB" noProof="0" dirty="0"/>
              <a:t> </a:t>
            </a:r>
            <a:r>
              <a:rPr lang="en-GB" noProof="0" dirty="0" err="1"/>
              <a:t>dello</a:t>
            </a:r>
            <a:r>
              <a:rPr lang="en-GB" noProof="0" dirty="0"/>
              <a:t> schema</a:t>
            </a:r>
          </a:p>
          <a:p>
            <a:pPr lvl="1"/>
            <a:r>
              <a:rPr lang="en-GB" noProof="0" dirty="0"/>
              <a:t>Secondo </a:t>
            </a:r>
            <a:r>
              <a:rPr lang="en-GB" noProof="0" dirty="0" err="1"/>
              <a:t>livello</a:t>
            </a:r>
            <a:endParaRPr lang="en-GB" noProof="0" dirty="0"/>
          </a:p>
          <a:p>
            <a:pPr lvl="2"/>
            <a:r>
              <a:rPr lang="en-GB" noProof="0" dirty="0" err="1"/>
              <a:t>Terzo</a:t>
            </a:r>
            <a:r>
              <a:rPr lang="en-GB" noProof="0" dirty="0"/>
              <a:t> </a:t>
            </a:r>
            <a:r>
              <a:rPr lang="en-GB" noProof="0" dirty="0" err="1"/>
              <a:t>livello</a:t>
            </a:r>
            <a:endParaRPr lang="en-GB" noProof="0" dirty="0"/>
          </a:p>
          <a:p>
            <a:pPr lvl="3"/>
            <a:r>
              <a:rPr lang="en-GB" noProof="0" dirty="0"/>
              <a:t>Quarto </a:t>
            </a:r>
            <a:r>
              <a:rPr lang="en-GB" noProof="0" dirty="0" err="1"/>
              <a:t>livello</a:t>
            </a:r>
            <a:endParaRPr lang="en-GB" noProof="0" dirty="0"/>
          </a:p>
          <a:p>
            <a:pPr lvl="4"/>
            <a:r>
              <a:rPr lang="en-GB" noProof="0" dirty="0"/>
              <a:t>Quinto </a:t>
            </a:r>
            <a:r>
              <a:rPr lang="en-GB" noProof="0" dirty="0" err="1"/>
              <a:t>livello</a:t>
            </a:r>
            <a:endParaRPr lang="en-GB" noProof="0" dirty="0"/>
          </a:p>
        </p:txBody>
      </p:sp>
      <p:sp>
        <p:nvSpPr>
          <p:cNvPr id="4" name="Segnaposto contenuto 3"/>
          <p:cNvSpPr>
            <a:spLocks noGrp="1"/>
          </p:cNvSpPr>
          <p:nvPr>
            <p:ph sz="half" idx="2"/>
          </p:nvPr>
        </p:nvSpPr>
        <p:spPr>
          <a:xfrm>
            <a:off x="6172200" y="1364343"/>
            <a:ext cx="5624286" cy="4812620"/>
          </a:xfrm>
        </p:spPr>
        <p:txBody>
          <a:bodyPr/>
          <a:lstStyle/>
          <a:p>
            <a:pPr lvl="0"/>
            <a:r>
              <a:rPr lang="en-GB" noProof="0" dirty="0" err="1"/>
              <a:t>Modifica</a:t>
            </a:r>
            <a:r>
              <a:rPr lang="en-GB" noProof="0" dirty="0"/>
              <a:t> </a:t>
            </a:r>
            <a:r>
              <a:rPr lang="en-GB" noProof="0" dirty="0" err="1"/>
              <a:t>gli</a:t>
            </a:r>
            <a:r>
              <a:rPr lang="en-GB" noProof="0" dirty="0"/>
              <a:t> </a:t>
            </a:r>
            <a:r>
              <a:rPr lang="en-GB" noProof="0" dirty="0" err="1"/>
              <a:t>stili</a:t>
            </a:r>
            <a:r>
              <a:rPr lang="en-GB" noProof="0" dirty="0"/>
              <a:t> del </a:t>
            </a:r>
            <a:r>
              <a:rPr lang="en-GB" noProof="0" dirty="0" err="1"/>
              <a:t>testo</a:t>
            </a:r>
            <a:r>
              <a:rPr lang="en-GB" noProof="0" dirty="0"/>
              <a:t> </a:t>
            </a:r>
            <a:r>
              <a:rPr lang="en-GB" noProof="0" dirty="0" err="1"/>
              <a:t>dello</a:t>
            </a:r>
            <a:r>
              <a:rPr lang="en-GB" noProof="0" dirty="0"/>
              <a:t> schema</a:t>
            </a:r>
          </a:p>
          <a:p>
            <a:pPr lvl="1"/>
            <a:r>
              <a:rPr lang="en-GB" noProof="0" dirty="0"/>
              <a:t>Secondo </a:t>
            </a:r>
            <a:r>
              <a:rPr lang="en-GB" noProof="0" dirty="0" err="1"/>
              <a:t>livello</a:t>
            </a:r>
            <a:endParaRPr lang="en-GB" noProof="0" dirty="0"/>
          </a:p>
          <a:p>
            <a:pPr lvl="2"/>
            <a:r>
              <a:rPr lang="en-GB" noProof="0" dirty="0" err="1"/>
              <a:t>Terzo</a:t>
            </a:r>
            <a:r>
              <a:rPr lang="en-GB" noProof="0" dirty="0"/>
              <a:t> </a:t>
            </a:r>
            <a:r>
              <a:rPr lang="en-GB" noProof="0" dirty="0" err="1"/>
              <a:t>livello</a:t>
            </a:r>
            <a:endParaRPr lang="en-GB" noProof="0" dirty="0"/>
          </a:p>
          <a:p>
            <a:pPr lvl="3"/>
            <a:r>
              <a:rPr lang="en-GB" noProof="0" dirty="0"/>
              <a:t>Quarto </a:t>
            </a:r>
            <a:r>
              <a:rPr lang="en-GB" noProof="0" dirty="0" err="1"/>
              <a:t>livello</a:t>
            </a:r>
            <a:endParaRPr lang="en-GB" noProof="0" dirty="0"/>
          </a:p>
          <a:p>
            <a:pPr lvl="4"/>
            <a:r>
              <a:rPr lang="en-GB" noProof="0" dirty="0"/>
              <a:t>Quinto </a:t>
            </a:r>
            <a:r>
              <a:rPr lang="en-GB" noProof="0" dirty="0" err="1"/>
              <a:t>livello</a:t>
            </a:r>
            <a:endParaRPr lang="en-GB" noProof="0" dirty="0"/>
          </a:p>
        </p:txBody>
      </p:sp>
      <p:sp>
        <p:nvSpPr>
          <p:cNvPr id="7" name="Segnaposto numero diapositiva 6"/>
          <p:cNvSpPr>
            <a:spLocks noGrp="1"/>
          </p:cNvSpPr>
          <p:nvPr>
            <p:ph type="sldNum" sz="quarter" idx="12"/>
          </p:nvPr>
        </p:nvSpPr>
        <p:spPr/>
        <p:txBody>
          <a:bodyPr/>
          <a:lstStyle/>
          <a:p>
            <a:fld id="{31DE2C5B-556E-47B8-A792-024C2FCA4ACC}" type="slidenum">
              <a:rPr lang="en-GB" smtClean="0"/>
              <a:t>‹#›</a:t>
            </a:fld>
            <a:endParaRPr lang="en-GB"/>
          </a:p>
        </p:txBody>
      </p:sp>
      <p:sp>
        <p:nvSpPr>
          <p:cNvPr id="8" name="Rettangolo arrotondato 7"/>
          <p:cNvSpPr/>
          <p:nvPr userDrawn="1"/>
        </p:nvSpPr>
        <p:spPr>
          <a:xfrm>
            <a:off x="1393371" y="1022169"/>
            <a:ext cx="9456058" cy="45719"/>
          </a:xfrm>
          <a:prstGeom prst="roundRect">
            <a:avLst>
              <a:gd name="adj" fmla="val 26104"/>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57594814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iapositiva titolo">
    <p:spTree>
      <p:nvGrpSpPr>
        <p:cNvPr id="1" name=""/>
        <p:cNvGrpSpPr/>
        <p:nvPr/>
      </p:nvGrpSpPr>
      <p:grpSpPr>
        <a:xfrm>
          <a:off x="0" y="0"/>
          <a:ext cx="0" cy="0"/>
          <a:chOff x="0" y="0"/>
          <a:chExt cx="0" cy="0"/>
        </a:xfrm>
      </p:grpSpPr>
      <p:sp>
        <p:nvSpPr>
          <p:cNvPr id="3" name="Sottotitolo 2"/>
          <p:cNvSpPr>
            <a:spLocks noGrp="1"/>
          </p:cNvSpPr>
          <p:nvPr>
            <p:ph type="subTitle" idx="1"/>
          </p:nvPr>
        </p:nvSpPr>
        <p:spPr>
          <a:xfrm>
            <a:off x="1426028" y="2355399"/>
            <a:ext cx="9456058" cy="1570716"/>
          </a:xfrm>
        </p:spPr>
        <p:txBody>
          <a:bodyPr anchor="ctr">
            <a:noAutofit/>
          </a:bodyPr>
          <a:lstStyle>
            <a:lvl1pPr marL="0" indent="0" algn="ctr">
              <a:buNone/>
              <a:defRPr sz="4800" b="1">
                <a:latin typeface="Aptos" panose="020B00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endParaRPr lang="it-IT" dirty="0"/>
          </a:p>
        </p:txBody>
      </p:sp>
      <p:sp>
        <p:nvSpPr>
          <p:cNvPr id="7" name="Rettangolo arrotondato 6"/>
          <p:cNvSpPr/>
          <p:nvPr userDrawn="1"/>
        </p:nvSpPr>
        <p:spPr>
          <a:xfrm>
            <a:off x="2997200" y="855254"/>
            <a:ext cx="6125029" cy="45719"/>
          </a:xfrm>
          <a:prstGeom prst="roundRect">
            <a:avLst>
              <a:gd name="adj" fmla="val 26104"/>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latin typeface="Aptos" panose="020B0004020202020204" pitchFamily="34" charset="0"/>
            </a:endParaRPr>
          </a:p>
        </p:txBody>
      </p:sp>
      <p:sp>
        <p:nvSpPr>
          <p:cNvPr id="8" name="Rettangolo arrotondato 7"/>
          <p:cNvSpPr/>
          <p:nvPr userDrawn="1"/>
        </p:nvSpPr>
        <p:spPr>
          <a:xfrm>
            <a:off x="1426028" y="4152532"/>
            <a:ext cx="9456058" cy="45719"/>
          </a:xfrm>
          <a:prstGeom prst="roundRect">
            <a:avLst>
              <a:gd name="adj" fmla="val 26104"/>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latin typeface="Aptos" panose="020B0004020202020204" pitchFamily="34" charset="0"/>
            </a:endParaRPr>
          </a:p>
        </p:txBody>
      </p:sp>
      <p:sp>
        <p:nvSpPr>
          <p:cNvPr id="9" name="Titolo 1"/>
          <p:cNvSpPr txBox="1">
            <a:spLocks/>
          </p:cNvSpPr>
          <p:nvPr userDrawn="1"/>
        </p:nvSpPr>
        <p:spPr>
          <a:xfrm>
            <a:off x="460370" y="1155224"/>
            <a:ext cx="10926088" cy="945923"/>
          </a:xfrm>
          <a:prstGeom prst="rect">
            <a:avLst/>
          </a:prstGeom>
        </p:spPr>
        <p:txBody>
          <a:bodyPr vert="horz" lIns="91440" tIns="45720" rIns="91440" bIns="45720" rtlCol="0" anchor="ctr">
            <a:noAutofit/>
          </a:bodyPr>
          <a:lstStyle>
            <a:lvl1pPr algn="ctr" defTabSz="914400" rtl="0" eaLnBrk="1" latinLnBrk="0" hangingPunct="1">
              <a:lnSpc>
                <a:spcPct val="90000"/>
              </a:lnSpc>
              <a:spcBef>
                <a:spcPct val="0"/>
              </a:spcBef>
              <a:buNone/>
              <a:defRPr sz="2000" kern="1200" baseline="0">
                <a:solidFill>
                  <a:schemeClr val="tx1"/>
                </a:solidFill>
                <a:latin typeface="Palatino Linotype" panose="02040502050505030304" pitchFamily="18" charset="0"/>
                <a:ea typeface="+mj-ea"/>
                <a:cs typeface="+mj-cs"/>
              </a:defRPr>
            </a:lvl1pPr>
          </a:lstStyle>
          <a:p>
            <a:r>
              <a:rPr lang="it-IT" sz="2800" b="0" dirty="0" err="1">
                <a:latin typeface="Aptos" panose="020B0004020202020204" pitchFamily="34" charset="0"/>
              </a:rPr>
              <a:t>Biomedical</a:t>
            </a:r>
            <a:r>
              <a:rPr lang="it-IT" sz="2800" b="0" dirty="0">
                <a:latin typeface="Aptos" panose="020B0004020202020204" pitchFamily="34" charset="0"/>
              </a:rPr>
              <a:t> </a:t>
            </a:r>
            <a:r>
              <a:rPr lang="it-IT" sz="2800" b="0" dirty="0" err="1">
                <a:latin typeface="Aptos" panose="020B0004020202020204" pitchFamily="34" charset="0"/>
              </a:rPr>
              <a:t>Wearable</a:t>
            </a:r>
            <a:r>
              <a:rPr lang="it-IT" sz="2800" b="0" dirty="0">
                <a:latin typeface="Aptos" panose="020B0004020202020204" pitchFamily="34" charset="0"/>
              </a:rPr>
              <a:t> Technologies </a:t>
            </a:r>
          </a:p>
          <a:p>
            <a:r>
              <a:rPr lang="it-IT" sz="2800" b="0" dirty="0">
                <a:latin typeface="Aptos" panose="020B0004020202020204" pitchFamily="34" charset="0"/>
              </a:rPr>
              <a:t>for Healthcare and </a:t>
            </a:r>
            <a:r>
              <a:rPr lang="it-IT" sz="2800" b="0" dirty="0" err="1">
                <a:latin typeface="Aptos" panose="020B0004020202020204" pitchFamily="34" charset="0"/>
              </a:rPr>
              <a:t>Wellbeing</a:t>
            </a:r>
            <a:r>
              <a:rPr lang="it-IT" sz="2800" b="0" dirty="0">
                <a:latin typeface="Aptos" panose="020B0004020202020204" pitchFamily="34" charset="0"/>
              </a:rPr>
              <a:t>  </a:t>
            </a:r>
            <a:endParaRPr lang="en-GB" sz="2800" b="0" dirty="0">
              <a:latin typeface="Aptos" panose="020B0004020202020204" pitchFamily="34" charset="0"/>
            </a:endParaRPr>
          </a:p>
        </p:txBody>
      </p:sp>
      <p:sp>
        <p:nvSpPr>
          <p:cNvPr id="10" name="Titolo 1"/>
          <p:cNvSpPr txBox="1">
            <a:spLocks/>
          </p:cNvSpPr>
          <p:nvPr userDrawn="1"/>
        </p:nvSpPr>
        <p:spPr>
          <a:xfrm>
            <a:off x="1426028" y="4424669"/>
            <a:ext cx="9456058" cy="1005024"/>
          </a:xfrm>
          <a:prstGeom prst="rect">
            <a:avLst/>
          </a:prstGeom>
        </p:spPr>
        <p:txBody>
          <a:bodyPr vert="horz" lIns="91440" tIns="45720" rIns="91440" bIns="45720" rtlCol="0" anchor="ctr">
            <a:noAutofit/>
          </a:bodyPr>
          <a:lstStyle>
            <a:lvl1pPr algn="ctr" defTabSz="914400" rtl="0" eaLnBrk="1" latinLnBrk="0" hangingPunct="1">
              <a:lnSpc>
                <a:spcPct val="90000"/>
              </a:lnSpc>
              <a:spcBef>
                <a:spcPct val="0"/>
              </a:spcBef>
              <a:buNone/>
              <a:defRPr sz="2000" kern="1200" baseline="0">
                <a:solidFill>
                  <a:schemeClr val="tx1"/>
                </a:solidFill>
                <a:latin typeface="Palatino Linotype" panose="02040502050505030304" pitchFamily="18" charset="0"/>
                <a:ea typeface="+mj-ea"/>
                <a:cs typeface="+mj-cs"/>
              </a:defRPr>
            </a:lvl1pPr>
          </a:lstStyle>
          <a:p>
            <a:pPr>
              <a:spcAft>
                <a:spcPts val="600"/>
              </a:spcAft>
            </a:pPr>
            <a:r>
              <a:rPr lang="it-IT" sz="2800" dirty="0">
                <a:latin typeface="Aptos" panose="020B0004020202020204" pitchFamily="34" charset="0"/>
              </a:rPr>
              <a:t>A.Y. 2025-2026</a:t>
            </a:r>
          </a:p>
          <a:p>
            <a:pPr>
              <a:spcAft>
                <a:spcPts val="600"/>
              </a:spcAft>
            </a:pPr>
            <a:r>
              <a:rPr lang="it-IT" sz="2800" baseline="0" dirty="0">
                <a:latin typeface="Aptos" panose="020B0004020202020204" pitchFamily="34" charset="0"/>
              </a:rPr>
              <a:t>Giacomo Cappon</a:t>
            </a:r>
          </a:p>
        </p:txBody>
      </p:sp>
      <p:sp>
        <p:nvSpPr>
          <p:cNvPr id="14" name="CasellaDiTesto 13"/>
          <p:cNvSpPr txBox="1"/>
          <p:nvPr userDrawn="1"/>
        </p:nvSpPr>
        <p:spPr>
          <a:xfrm>
            <a:off x="2997200" y="133745"/>
            <a:ext cx="6125030" cy="707886"/>
          </a:xfrm>
          <a:prstGeom prst="rect">
            <a:avLst/>
          </a:prstGeom>
          <a:noFill/>
        </p:spPr>
        <p:txBody>
          <a:bodyPr wrap="square" rtlCol="0">
            <a:spAutoFit/>
          </a:bodyPr>
          <a:lstStyle/>
          <a:p>
            <a:pPr algn="ctr"/>
            <a:r>
              <a:rPr kumimoji="0" lang="it-IT" sz="2000" b="0" i="0" u="none" strike="noStrike" kern="1200" cap="small" spc="0" normalizeH="0" baseline="0" noProof="0" dirty="0" err="1">
                <a:ln>
                  <a:noFill/>
                </a:ln>
                <a:solidFill>
                  <a:prstClr val="black"/>
                </a:solidFill>
                <a:effectLst/>
                <a:uLnTx/>
                <a:uFillTx/>
                <a:latin typeface="Aptos" panose="020B0004020202020204" pitchFamily="34" charset="0"/>
                <a:ea typeface="+mj-ea"/>
                <a:cs typeface="+mj-cs"/>
              </a:rPr>
              <a:t>University</a:t>
            </a:r>
            <a:r>
              <a:rPr kumimoji="0" lang="it-IT" sz="2000" b="0" i="0" u="none" strike="noStrike" kern="1200" cap="small" spc="0" normalizeH="0" baseline="0" noProof="0" dirty="0">
                <a:ln>
                  <a:noFill/>
                </a:ln>
                <a:solidFill>
                  <a:prstClr val="black"/>
                </a:solidFill>
                <a:effectLst/>
                <a:uLnTx/>
                <a:uFillTx/>
                <a:latin typeface="Aptos" panose="020B0004020202020204" pitchFamily="34" charset="0"/>
                <a:ea typeface="+mj-ea"/>
                <a:cs typeface="+mj-cs"/>
              </a:rPr>
              <a:t> of Padova</a:t>
            </a:r>
            <a:br>
              <a:rPr kumimoji="0" lang="it-IT" sz="2000" b="0" i="0" u="none" strike="noStrike" kern="1200" cap="small" spc="0" normalizeH="0" baseline="0" noProof="0" dirty="0">
                <a:ln>
                  <a:noFill/>
                </a:ln>
                <a:solidFill>
                  <a:prstClr val="black"/>
                </a:solidFill>
                <a:effectLst/>
                <a:uLnTx/>
                <a:uFillTx/>
                <a:latin typeface="Aptos" panose="020B0004020202020204" pitchFamily="34" charset="0"/>
                <a:ea typeface="+mj-ea"/>
                <a:cs typeface="+mj-cs"/>
              </a:rPr>
            </a:br>
            <a:r>
              <a:rPr kumimoji="0" lang="it-IT" sz="2000" b="0" i="0" u="none" strike="noStrike" kern="1200" cap="small" spc="0" normalizeH="0" baseline="0" noProof="0" dirty="0" err="1">
                <a:ln>
                  <a:noFill/>
                </a:ln>
                <a:solidFill>
                  <a:prstClr val="black"/>
                </a:solidFill>
                <a:effectLst/>
                <a:uLnTx/>
                <a:uFillTx/>
                <a:latin typeface="Aptos" panose="020B0004020202020204" pitchFamily="34" charset="0"/>
                <a:ea typeface="+mj-ea"/>
                <a:cs typeface="+mj-cs"/>
              </a:rPr>
              <a:t>Department</a:t>
            </a:r>
            <a:r>
              <a:rPr kumimoji="0" lang="it-IT" sz="2000" b="0" i="0" u="none" strike="noStrike" kern="1200" cap="small" spc="0" normalizeH="0" baseline="0" noProof="0" dirty="0">
                <a:ln>
                  <a:noFill/>
                </a:ln>
                <a:solidFill>
                  <a:prstClr val="black"/>
                </a:solidFill>
                <a:effectLst/>
                <a:uLnTx/>
                <a:uFillTx/>
                <a:latin typeface="Aptos" panose="020B0004020202020204" pitchFamily="34" charset="0"/>
                <a:ea typeface="+mj-ea"/>
                <a:cs typeface="+mj-cs"/>
              </a:rPr>
              <a:t> of Information </a:t>
            </a:r>
            <a:r>
              <a:rPr kumimoji="0" lang="it-IT" sz="2000" b="0" i="0" u="none" strike="noStrike" kern="1200" cap="small" spc="0" normalizeH="0" baseline="0" noProof="0" dirty="0" err="1">
                <a:ln>
                  <a:noFill/>
                </a:ln>
                <a:solidFill>
                  <a:prstClr val="black"/>
                </a:solidFill>
                <a:effectLst/>
                <a:uLnTx/>
                <a:uFillTx/>
                <a:latin typeface="Aptos" panose="020B0004020202020204" pitchFamily="34" charset="0"/>
                <a:ea typeface="+mj-ea"/>
                <a:cs typeface="+mj-cs"/>
              </a:rPr>
              <a:t>Engineering</a:t>
            </a:r>
            <a:endParaRPr lang="en-GB" sz="1100" cap="small" baseline="0" dirty="0">
              <a:latin typeface="Aptos" panose="020B0004020202020204" pitchFamily="34" charset="0"/>
            </a:endParaRPr>
          </a:p>
        </p:txBody>
      </p:sp>
      <p:pic>
        <p:nvPicPr>
          <p:cNvPr id="15" name="Immagine 14"/>
          <p:cNvPicPr>
            <a:picLocks noChangeAspect="1"/>
          </p:cNvPicPr>
          <p:nvPr userDrawn="1"/>
        </p:nvPicPr>
        <p:blipFill>
          <a:blip r:embed="rId2" cstate="print">
            <a:extLst>
              <a:ext uri="{BEBA8EAE-BF5A-486C-A8C5-ECC9F3942E4B}">
                <a14:imgProps xmlns:a14="http://schemas.microsoft.com/office/drawing/2010/main">
                  <a14:imgLayer r:embed="rId3">
                    <a14:imgEffect>
                      <a14:artisticChalkSketch/>
                    </a14:imgEffect>
                  </a14:imgLayer>
                </a14:imgProps>
              </a:ext>
              <a:ext uri="{28A0092B-C50C-407E-A947-70E740481C1C}">
                <a14:useLocalDpi xmlns:a14="http://schemas.microsoft.com/office/drawing/2010/main" val="0"/>
              </a:ext>
            </a:extLst>
          </a:blip>
          <a:stretch>
            <a:fillRect/>
          </a:stretch>
        </p:blipFill>
        <p:spPr>
          <a:xfrm>
            <a:off x="460370" y="5094383"/>
            <a:ext cx="1648258" cy="1648258"/>
          </a:xfrm>
          <a:prstGeom prst="rect">
            <a:avLst/>
          </a:prstGeom>
        </p:spPr>
      </p:pic>
      <p:pic>
        <p:nvPicPr>
          <p:cNvPr id="16" name="Immagine 15"/>
          <p:cNvPicPr>
            <a:picLocks noChangeAspect="1"/>
          </p:cNvPicPr>
          <p:nvPr userDrawn="1"/>
        </p:nvPicPr>
        <p:blipFill>
          <a:blip r:embed="rId4">
            <a:extLst>
              <a:ext uri="{BEBA8EAE-BF5A-486C-A8C5-ECC9F3942E4B}">
                <a14:imgProps xmlns:a14="http://schemas.microsoft.com/office/drawing/2010/main">
                  <a14:imgLayer r:embed="rId5">
                    <a14:imgEffect>
                      <a14:saturation sat="0"/>
                    </a14:imgEffect>
                  </a14:imgLayer>
                </a14:imgProps>
              </a:ext>
              <a:ext uri="{28A0092B-C50C-407E-A947-70E740481C1C}">
                <a14:useLocalDpi xmlns:a14="http://schemas.microsoft.com/office/drawing/2010/main" val="0"/>
              </a:ext>
            </a:extLst>
          </a:blip>
          <a:stretch>
            <a:fillRect/>
          </a:stretch>
        </p:blipFill>
        <p:spPr>
          <a:xfrm>
            <a:off x="9735946" y="5094383"/>
            <a:ext cx="2153135" cy="1399538"/>
          </a:xfrm>
          <a:prstGeom prst="rect">
            <a:avLst/>
          </a:prstGeom>
        </p:spPr>
      </p:pic>
    </p:spTree>
    <p:extLst>
      <p:ext uri="{BB962C8B-B14F-4D97-AF65-F5344CB8AC3E}">
        <p14:creationId xmlns:p14="http://schemas.microsoft.com/office/powerpoint/2010/main" val="2551399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2" name="Titolo 1"/>
          <p:cNvSpPr>
            <a:spLocks noGrp="1"/>
          </p:cNvSpPr>
          <p:nvPr>
            <p:ph type="title"/>
          </p:nvPr>
        </p:nvSpPr>
        <p:spPr>
          <a:xfrm>
            <a:off x="428172" y="161926"/>
            <a:ext cx="11368314" cy="905962"/>
          </a:xfrm>
        </p:spPr>
        <p:txBody>
          <a:bodyPr/>
          <a:lstStyle/>
          <a:p>
            <a:r>
              <a:rPr lang="en-GB" noProof="0" dirty="0"/>
              <a:t>Fare </a:t>
            </a:r>
            <a:r>
              <a:rPr lang="en-GB" noProof="0" dirty="0" err="1"/>
              <a:t>clic</a:t>
            </a:r>
            <a:r>
              <a:rPr lang="en-GB" noProof="0" dirty="0"/>
              <a:t> per </a:t>
            </a:r>
            <a:r>
              <a:rPr lang="en-GB" noProof="0" dirty="0" err="1"/>
              <a:t>modificare</a:t>
            </a:r>
            <a:r>
              <a:rPr lang="en-GB" noProof="0" dirty="0"/>
              <a:t> lo stile del </a:t>
            </a:r>
            <a:r>
              <a:rPr lang="en-GB" noProof="0" dirty="0" err="1"/>
              <a:t>titolo</a:t>
            </a:r>
            <a:endParaRPr lang="en-GB" noProof="0" dirty="0"/>
          </a:p>
        </p:txBody>
      </p:sp>
      <p:sp>
        <p:nvSpPr>
          <p:cNvPr id="5" name="Segnaposto numero diapositiva 4"/>
          <p:cNvSpPr>
            <a:spLocks noGrp="1"/>
          </p:cNvSpPr>
          <p:nvPr>
            <p:ph type="sldNum" sz="quarter" idx="12"/>
          </p:nvPr>
        </p:nvSpPr>
        <p:spPr/>
        <p:txBody>
          <a:bodyPr/>
          <a:lstStyle/>
          <a:p>
            <a:fld id="{31DE2C5B-556E-47B8-A792-024C2FCA4ACC}" type="slidenum">
              <a:rPr lang="en-GB" smtClean="0"/>
              <a:t>‹#›</a:t>
            </a:fld>
            <a:endParaRPr lang="en-GB"/>
          </a:p>
        </p:txBody>
      </p:sp>
      <p:sp>
        <p:nvSpPr>
          <p:cNvPr id="6" name="Rettangolo arrotondato 5"/>
          <p:cNvSpPr/>
          <p:nvPr userDrawn="1"/>
        </p:nvSpPr>
        <p:spPr>
          <a:xfrm>
            <a:off x="1393371" y="1022169"/>
            <a:ext cx="9456058" cy="45719"/>
          </a:xfrm>
          <a:prstGeom prst="roundRect">
            <a:avLst>
              <a:gd name="adj" fmla="val 26104"/>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220065272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titolo 1"/>
          <p:cNvSpPr>
            <a:spLocks noGrp="1"/>
          </p:cNvSpPr>
          <p:nvPr>
            <p:ph type="title"/>
          </p:nvPr>
        </p:nvSpPr>
        <p:spPr>
          <a:xfrm>
            <a:off x="428172" y="161926"/>
            <a:ext cx="11368314" cy="919388"/>
          </a:xfrm>
          <a:prstGeom prst="rect">
            <a:avLst/>
          </a:prstGeom>
        </p:spPr>
        <p:txBody>
          <a:bodyPr vert="horz" lIns="91440" tIns="45720" rIns="91440" bIns="45720" rtlCol="0" anchor="ctr">
            <a:normAutofit/>
          </a:bodyPr>
          <a:lstStyle/>
          <a:p>
            <a:r>
              <a:rPr lang="en-GB" noProof="0" dirty="0"/>
              <a:t>Fare </a:t>
            </a:r>
            <a:r>
              <a:rPr lang="en-GB" noProof="0" dirty="0" err="1"/>
              <a:t>clic</a:t>
            </a:r>
            <a:r>
              <a:rPr lang="en-GB" noProof="0" dirty="0"/>
              <a:t> per </a:t>
            </a:r>
            <a:r>
              <a:rPr lang="en-GB" noProof="0" dirty="0" err="1"/>
              <a:t>modificare</a:t>
            </a:r>
            <a:r>
              <a:rPr lang="en-GB" noProof="0" dirty="0"/>
              <a:t> lo stile del </a:t>
            </a:r>
            <a:r>
              <a:rPr lang="en-GB" noProof="0" dirty="0" err="1"/>
              <a:t>titolo</a:t>
            </a:r>
            <a:endParaRPr lang="en-GB" noProof="0" dirty="0"/>
          </a:p>
        </p:txBody>
      </p:sp>
      <p:sp>
        <p:nvSpPr>
          <p:cNvPr id="3" name="Segnaposto testo 2"/>
          <p:cNvSpPr>
            <a:spLocks noGrp="1"/>
          </p:cNvSpPr>
          <p:nvPr>
            <p:ph type="body" idx="1"/>
          </p:nvPr>
        </p:nvSpPr>
        <p:spPr>
          <a:xfrm>
            <a:off x="428172" y="1375682"/>
            <a:ext cx="11368314" cy="4821918"/>
          </a:xfrm>
          <a:prstGeom prst="rect">
            <a:avLst/>
          </a:prstGeom>
        </p:spPr>
        <p:txBody>
          <a:bodyPr vert="horz" lIns="91440" tIns="45720" rIns="91440" bIns="45720" rtlCol="0">
            <a:normAutofit/>
          </a:bodyPr>
          <a:lstStyle/>
          <a:p>
            <a:pPr lvl="0"/>
            <a:r>
              <a:rPr lang="en-GB" noProof="0" dirty="0" err="1"/>
              <a:t>Modifica</a:t>
            </a:r>
            <a:r>
              <a:rPr lang="en-GB" noProof="0" dirty="0"/>
              <a:t> </a:t>
            </a:r>
            <a:r>
              <a:rPr lang="en-GB" noProof="0" dirty="0" err="1"/>
              <a:t>gli</a:t>
            </a:r>
            <a:r>
              <a:rPr lang="en-GB" noProof="0" dirty="0"/>
              <a:t> </a:t>
            </a:r>
            <a:r>
              <a:rPr lang="en-GB" noProof="0" dirty="0" err="1"/>
              <a:t>stili</a:t>
            </a:r>
            <a:r>
              <a:rPr lang="en-GB" noProof="0" dirty="0"/>
              <a:t> del </a:t>
            </a:r>
            <a:r>
              <a:rPr lang="en-GB" noProof="0" dirty="0" err="1"/>
              <a:t>testo</a:t>
            </a:r>
            <a:r>
              <a:rPr lang="en-GB" noProof="0" dirty="0"/>
              <a:t> </a:t>
            </a:r>
            <a:r>
              <a:rPr lang="en-GB" noProof="0" dirty="0" err="1"/>
              <a:t>dello</a:t>
            </a:r>
            <a:r>
              <a:rPr lang="en-GB" noProof="0" dirty="0"/>
              <a:t> schema</a:t>
            </a:r>
          </a:p>
          <a:p>
            <a:pPr lvl="1"/>
            <a:r>
              <a:rPr lang="en-GB" noProof="0" dirty="0"/>
              <a:t>Secondo </a:t>
            </a:r>
            <a:r>
              <a:rPr lang="en-GB" noProof="0" dirty="0" err="1"/>
              <a:t>livello</a:t>
            </a:r>
            <a:endParaRPr lang="en-GB" noProof="0" dirty="0"/>
          </a:p>
          <a:p>
            <a:pPr lvl="2"/>
            <a:r>
              <a:rPr lang="en-GB" noProof="0" dirty="0" err="1"/>
              <a:t>Terzo</a:t>
            </a:r>
            <a:r>
              <a:rPr lang="en-GB" noProof="0" dirty="0"/>
              <a:t> </a:t>
            </a:r>
            <a:r>
              <a:rPr lang="en-GB" noProof="0" dirty="0" err="1"/>
              <a:t>livello</a:t>
            </a:r>
            <a:endParaRPr lang="en-GB" noProof="0" dirty="0"/>
          </a:p>
          <a:p>
            <a:pPr lvl="3"/>
            <a:r>
              <a:rPr lang="en-GB" noProof="0" dirty="0"/>
              <a:t>Quarto </a:t>
            </a:r>
            <a:r>
              <a:rPr lang="en-GB" noProof="0" dirty="0" err="1"/>
              <a:t>livello</a:t>
            </a:r>
            <a:endParaRPr lang="en-GB" noProof="0" dirty="0"/>
          </a:p>
          <a:p>
            <a:pPr lvl="4"/>
            <a:r>
              <a:rPr lang="en-GB" noProof="0" dirty="0"/>
              <a:t>Quinto </a:t>
            </a:r>
            <a:r>
              <a:rPr lang="en-GB" noProof="0" dirty="0" err="1"/>
              <a:t>livello</a:t>
            </a:r>
            <a:endParaRPr lang="en-GB" noProof="0" dirty="0"/>
          </a:p>
        </p:txBody>
      </p:sp>
      <p:sp>
        <p:nvSpPr>
          <p:cNvPr id="6" name="Segnaposto numero diapositiva 5"/>
          <p:cNvSpPr>
            <a:spLocks noGrp="1"/>
          </p:cNvSpPr>
          <p:nvPr>
            <p:ph type="sldNum" sz="quarter" idx="4"/>
          </p:nvPr>
        </p:nvSpPr>
        <p:spPr>
          <a:xfrm>
            <a:off x="8610600" y="6356350"/>
            <a:ext cx="3185886" cy="365125"/>
          </a:xfrm>
          <a:prstGeom prst="rect">
            <a:avLst/>
          </a:prstGeom>
        </p:spPr>
        <p:txBody>
          <a:bodyPr vert="horz" lIns="91440" tIns="45720" rIns="91440" bIns="45720" rtlCol="0" anchor="ctr"/>
          <a:lstStyle>
            <a:lvl1pPr algn="r">
              <a:defRPr sz="1200">
                <a:solidFill>
                  <a:schemeClr val="tx1">
                    <a:tint val="75000"/>
                  </a:schemeClr>
                </a:solidFill>
                <a:latin typeface="Aptos" panose="020B0004020202020204" pitchFamily="34" charset="0"/>
              </a:defRPr>
            </a:lvl1pPr>
          </a:lstStyle>
          <a:p>
            <a:fld id="{31DE2C5B-556E-47B8-A792-024C2FCA4ACC}" type="slidenum">
              <a:rPr lang="en-GB" smtClean="0"/>
              <a:pPr/>
              <a:t>‹#›</a:t>
            </a:fld>
            <a:endParaRPr lang="en-GB"/>
          </a:p>
        </p:txBody>
      </p:sp>
    </p:spTree>
    <p:extLst>
      <p:ext uri="{BB962C8B-B14F-4D97-AF65-F5344CB8AC3E}">
        <p14:creationId xmlns:p14="http://schemas.microsoft.com/office/powerpoint/2010/main" val="892879000"/>
      </p:ext>
    </p:extLst>
  </p:cSld>
  <p:clrMap bg1="lt1" tx1="dk1" bg2="lt2" tx2="dk2" accent1="accent1" accent2="accent2" accent3="accent3" accent4="accent4" accent5="accent5" accent6="accent6" hlink="hlink" folHlink="folHlink"/>
  <p:sldLayoutIdLst>
    <p:sldLayoutId id="2147483650" r:id="rId1"/>
    <p:sldLayoutId id="2147483652" r:id="rId2"/>
    <p:sldLayoutId id="2147483649" r:id="rId3"/>
    <p:sldLayoutId id="2147483654" r:id="rId4"/>
  </p:sldLayoutIdLst>
  <p:hf hdr="0" dt="0"/>
  <p:txStyles>
    <p:titleStyle>
      <a:lvl1pPr algn="ctr" defTabSz="914400" rtl="0" eaLnBrk="1" latinLnBrk="0" hangingPunct="1">
        <a:lnSpc>
          <a:spcPct val="90000"/>
        </a:lnSpc>
        <a:spcBef>
          <a:spcPct val="0"/>
        </a:spcBef>
        <a:buNone/>
        <a:defRPr sz="3600" kern="1200">
          <a:solidFill>
            <a:schemeClr val="tx1"/>
          </a:solidFill>
          <a:latin typeface="Aptos" panose="020B0004020202020204" pitchFamily="34" charset="0"/>
          <a:ea typeface="+mj-ea"/>
          <a:cs typeface="+mj-cs"/>
        </a:defRPr>
      </a:lvl1pPr>
    </p:titleStyle>
    <p:body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2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1.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svg"/></Relationships>
</file>

<file path=ppt/slides/_rels/slide4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hyperlink" Target="https://www.postman.com/" TargetMode="Externa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hyperlink" Target="https://impact.dei.unipd.it/" TargetMode="Externa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hyperlink" Target="https://impact.dei.unipd.it/" TargetMode="Externa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ottotitolo 1"/>
          <p:cNvSpPr>
            <a:spLocks noGrp="1"/>
          </p:cNvSpPr>
          <p:nvPr>
            <p:ph type="subTitle" idx="1"/>
          </p:nvPr>
        </p:nvSpPr>
        <p:spPr/>
        <p:txBody>
          <a:bodyPr/>
          <a:lstStyle/>
          <a:p>
            <a:r>
              <a:rPr lang="en-US" dirty="0"/>
              <a:t>Fundamentals of computer networks and HTTP</a:t>
            </a:r>
          </a:p>
        </p:txBody>
      </p:sp>
    </p:spTree>
    <p:extLst>
      <p:ext uri="{BB962C8B-B14F-4D97-AF65-F5344CB8AC3E}">
        <p14:creationId xmlns:p14="http://schemas.microsoft.com/office/powerpoint/2010/main" val="406818568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latin typeface="Aptos" panose="020B0004020202020204" pitchFamily="34" charset="0"/>
              </a:rPr>
              <a:t>Computer networks</a:t>
            </a:r>
            <a:endParaRPr lang="en-GB" dirty="0">
              <a:latin typeface="Aptos" panose="020B0004020202020204" pitchFamily="34" charset="0"/>
            </a:endParaRPr>
          </a:p>
        </p:txBody>
      </p:sp>
      <p:sp>
        <p:nvSpPr>
          <p:cNvPr id="3" name="Segnaposto contenuto 2"/>
          <p:cNvSpPr>
            <a:spLocks noGrp="1"/>
          </p:cNvSpPr>
          <p:nvPr>
            <p:ph idx="1"/>
          </p:nvPr>
        </p:nvSpPr>
        <p:spPr>
          <a:xfrm>
            <a:off x="428172" y="1361167"/>
            <a:ext cx="9594717" cy="5352454"/>
          </a:xfrm>
        </p:spPr>
        <p:txBody>
          <a:bodyPr>
            <a:normAutofit/>
          </a:bodyPr>
          <a:lstStyle/>
          <a:p>
            <a:r>
              <a:rPr lang="en-US" dirty="0">
                <a:latin typeface="Aptos" panose="020B0004020202020204" pitchFamily="34" charset="0"/>
              </a:rPr>
              <a:t>Data collected by wearable IoT sensors are shared among different devices running over a computer network, typically the Internet.</a:t>
            </a:r>
          </a:p>
          <a:p>
            <a:endParaRPr lang="en-US" dirty="0">
              <a:latin typeface="Aptos" panose="020B0004020202020204" pitchFamily="34" charset="0"/>
            </a:endParaRPr>
          </a:p>
          <a:p>
            <a:r>
              <a:rPr lang="en-US" b="1" dirty="0">
                <a:latin typeface="Aptos" panose="020B0004020202020204" pitchFamily="34" charset="0"/>
              </a:rPr>
              <a:t>Computer network: </a:t>
            </a:r>
            <a:r>
              <a:rPr lang="en-US" dirty="0">
                <a:latin typeface="Aptos" panose="020B0004020202020204" pitchFamily="34" charset="0"/>
              </a:rPr>
              <a:t>a collection of autonomous computers (</a:t>
            </a:r>
            <a:r>
              <a:rPr lang="en-US" b="1" dirty="0">
                <a:latin typeface="Aptos" panose="020B0004020202020204" pitchFamily="34" charset="0"/>
              </a:rPr>
              <a:t>hosts</a:t>
            </a:r>
            <a:r>
              <a:rPr lang="en-US" dirty="0">
                <a:latin typeface="Aptos" panose="020B0004020202020204" pitchFamily="34" charset="0"/>
              </a:rPr>
              <a:t>) interconnected by a single technology. </a:t>
            </a:r>
          </a:p>
          <a:p>
            <a:endParaRPr lang="en-US" dirty="0">
              <a:latin typeface="Aptos" panose="020B0004020202020204" pitchFamily="34" charset="0"/>
            </a:endParaRPr>
          </a:p>
          <a:p>
            <a:r>
              <a:rPr lang="en-US" dirty="0">
                <a:latin typeface="Aptos" panose="020B0004020202020204" pitchFamily="34" charset="0"/>
              </a:rPr>
              <a:t>Two computers are said to be interconnected if they are able to exchange information.</a:t>
            </a:r>
          </a:p>
          <a:p>
            <a:endParaRPr lang="en-US" dirty="0">
              <a:latin typeface="Aptos" panose="020B0004020202020204" pitchFamily="34" charset="0"/>
            </a:endParaRPr>
          </a:p>
          <a:p>
            <a:r>
              <a:rPr lang="en-US" dirty="0">
                <a:latin typeface="Aptos" panose="020B0004020202020204" pitchFamily="34" charset="0"/>
                <a:sym typeface="Wingdings" panose="05000000000000000000" pitchFamily="2" charset="2"/>
              </a:rPr>
              <a:t>Purpose of computer networks: to </a:t>
            </a:r>
            <a:r>
              <a:rPr lang="en-US" b="1" dirty="0">
                <a:latin typeface="Aptos" panose="020B0004020202020204" pitchFamily="34" charset="0"/>
                <a:sym typeface="Wingdings" panose="05000000000000000000" pitchFamily="2" charset="2"/>
              </a:rPr>
              <a:t>share resources </a:t>
            </a:r>
            <a:r>
              <a:rPr lang="en-US" dirty="0">
                <a:latin typeface="Aptos" panose="020B0004020202020204" pitchFamily="34" charset="0"/>
                <a:sym typeface="Wingdings" panose="05000000000000000000" pitchFamily="2" charset="2"/>
              </a:rPr>
              <a:t>(e.g. data and applications). </a:t>
            </a:r>
          </a:p>
        </p:txBody>
      </p:sp>
      <p:sp>
        <p:nvSpPr>
          <p:cNvPr id="4" name="Segnaposto numero diapositiva 3"/>
          <p:cNvSpPr>
            <a:spLocks noGrp="1"/>
          </p:cNvSpPr>
          <p:nvPr>
            <p:ph type="sldNum" sz="quarter" idx="12"/>
          </p:nvPr>
        </p:nvSpPr>
        <p:spPr/>
        <p:txBody>
          <a:bodyPr/>
          <a:lstStyle/>
          <a:p>
            <a:fld id="{31DE2C5B-556E-47B8-A792-024C2FCA4ACC}" type="slidenum">
              <a:rPr lang="en-GB" smtClean="0">
                <a:latin typeface="Aptos" panose="020B0004020202020204" pitchFamily="34" charset="0"/>
              </a:rPr>
              <a:t>2</a:t>
            </a:fld>
            <a:endParaRPr lang="en-GB">
              <a:latin typeface="Aptos" panose="020B0004020202020204" pitchFamily="34" charset="0"/>
            </a:endParaRPr>
          </a:p>
        </p:txBody>
      </p:sp>
      <p:pic>
        <p:nvPicPr>
          <p:cNvPr id="6" name="Picture 5" descr="A computer and a computer tower&#10;&#10;Description automatically generated with medium confidence">
            <a:extLst>
              <a:ext uri="{FF2B5EF4-FFF2-40B4-BE49-F238E27FC236}">
                <a16:creationId xmlns:a16="http://schemas.microsoft.com/office/drawing/2014/main" id="{FCDAC03C-BF04-8EB4-6F5D-7E788711B92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499799" y="4764165"/>
            <a:ext cx="1133199" cy="1133199"/>
          </a:xfrm>
          <a:prstGeom prst="rect">
            <a:avLst/>
          </a:prstGeom>
        </p:spPr>
      </p:pic>
      <p:pic>
        <p:nvPicPr>
          <p:cNvPr id="8" name="Picture 7" descr="A blue smart watch with a heart and a red heart&#10;&#10;Description automatically generated">
            <a:extLst>
              <a:ext uri="{FF2B5EF4-FFF2-40B4-BE49-F238E27FC236}">
                <a16:creationId xmlns:a16="http://schemas.microsoft.com/office/drawing/2014/main" id="{A03287B2-6208-3E25-C0B1-314A3C390A3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99799" y="1286037"/>
            <a:ext cx="1133198" cy="1133198"/>
          </a:xfrm>
          <a:prstGeom prst="rect">
            <a:avLst/>
          </a:prstGeom>
        </p:spPr>
      </p:pic>
      <p:pic>
        <p:nvPicPr>
          <p:cNvPr id="10" name="Picture 9" descr="A blue and yellow logo&#10;&#10;Description automatically generated">
            <a:extLst>
              <a:ext uri="{FF2B5EF4-FFF2-40B4-BE49-F238E27FC236}">
                <a16:creationId xmlns:a16="http://schemas.microsoft.com/office/drawing/2014/main" id="{393F22C5-FD28-C7A9-1830-EC4A7B1D84E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499799" y="3025101"/>
            <a:ext cx="1133198" cy="1133198"/>
          </a:xfrm>
          <a:prstGeom prst="rect">
            <a:avLst/>
          </a:prstGeom>
        </p:spPr>
      </p:pic>
      <p:cxnSp>
        <p:nvCxnSpPr>
          <p:cNvPr id="12" name="Straight Arrow Connector 11">
            <a:extLst>
              <a:ext uri="{FF2B5EF4-FFF2-40B4-BE49-F238E27FC236}">
                <a16:creationId xmlns:a16="http://schemas.microsoft.com/office/drawing/2014/main" id="{4B0631BC-A5ED-6954-B3C3-10C3146145AF}"/>
              </a:ext>
            </a:extLst>
          </p:cNvPr>
          <p:cNvCxnSpPr/>
          <p:nvPr/>
        </p:nvCxnSpPr>
        <p:spPr>
          <a:xfrm>
            <a:off x="11066398" y="2539014"/>
            <a:ext cx="0" cy="390617"/>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49D6E7B8-7C77-2FCA-4550-786C53EC25F9}"/>
              </a:ext>
            </a:extLst>
          </p:cNvPr>
          <p:cNvCxnSpPr/>
          <p:nvPr/>
        </p:nvCxnSpPr>
        <p:spPr>
          <a:xfrm>
            <a:off x="11066398" y="4289394"/>
            <a:ext cx="0" cy="390617"/>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186404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err="1">
                <a:latin typeface="Aptos" panose="020B0004020202020204" pitchFamily="34" charset="0"/>
              </a:rPr>
              <a:t>Client-server</a:t>
            </a:r>
            <a:r>
              <a:rPr lang="it-IT" dirty="0">
                <a:latin typeface="Aptos" panose="020B0004020202020204" pitchFamily="34" charset="0"/>
              </a:rPr>
              <a:t> model</a:t>
            </a:r>
            <a:endParaRPr lang="en-GB" dirty="0">
              <a:latin typeface="Aptos" panose="020B0004020202020204" pitchFamily="34" charset="0"/>
            </a:endParaRPr>
          </a:p>
        </p:txBody>
      </p:sp>
      <p:sp>
        <p:nvSpPr>
          <p:cNvPr id="3" name="Segnaposto contenuto 2"/>
          <p:cNvSpPr>
            <a:spLocks noGrp="1"/>
          </p:cNvSpPr>
          <p:nvPr>
            <p:ph idx="1"/>
          </p:nvPr>
        </p:nvSpPr>
        <p:spPr/>
        <p:txBody>
          <a:bodyPr/>
          <a:lstStyle/>
          <a:p>
            <a:r>
              <a:rPr lang="en-GB" b="1" dirty="0">
                <a:latin typeface="Aptos" panose="020B0004020202020204" pitchFamily="34" charset="0"/>
              </a:rPr>
              <a:t>Client-server model: </a:t>
            </a:r>
            <a:r>
              <a:rPr lang="en-GB" dirty="0">
                <a:latin typeface="Aptos" panose="020B0004020202020204" pitchFamily="34" charset="0"/>
              </a:rPr>
              <a:t>a network structure that partitions tasks between the providers of a resource or service, called servers, and service requesters, called clients.</a:t>
            </a:r>
          </a:p>
          <a:p>
            <a:r>
              <a:rPr lang="en-GB" dirty="0">
                <a:latin typeface="Aptos" panose="020B0004020202020204" pitchFamily="34" charset="0"/>
              </a:rPr>
              <a:t>The server is often designed to operate as a centralized system that serves many clients. The computing power, memory and storage requirements of a server must be scaled appropriately to the expected workload. </a:t>
            </a:r>
          </a:p>
          <a:p>
            <a:endParaRPr lang="en-GB" dirty="0">
              <a:latin typeface="Aptos" panose="020B0004020202020204" pitchFamily="34" charset="0"/>
            </a:endParaRPr>
          </a:p>
        </p:txBody>
      </p:sp>
      <p:sp>
        <p:nvSpPr>
          <p:cNvPr id="4" name="Segnaposto numero diapositiva 3"/>
          <p:cNvSpPr>
            <a:spLocks noGrp="1"/>
          </p:cNvSpPr>
          <p:nvPr>
            <p:ph type="sldNum" sz="quarter" idx="12"/>
          </p:nvPr>
        </p:nvSpPr>
        <p:spPr/>
        <p:txBody>
          <a:bodyPr/>
          <a:lstStyle/>
          <a:p>
            <a:fld id="{31DE2C5B-556E-47B8-A792-024C2FCA4ACC}" type="slidenum">
              <a:rPr lang="en-GB" smtClean="0">
                <a:latin typeface="Aptos" panose="020B0004020202020204" pitchFamily="34" charset="0"/>
              </a:rPr>
              <a:t>3</a:t>
            </a:fld>
            <a:endParaRPr lang="en-GB">
              <a:latin typeface="Aptos" panose="020B0004020202020204" pitchFamily="34" charset="0"/>
            </a:endParaRPr>
          </a:p>
        </p:txBody>
      </p:sp>
      <p:pic>
        <p:nvPicPr>
          <p:cNvPr id="5" name="Immagine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25302" y="3624006"/>
            <a:ext cx="5962214" cy="3097469"/>
          </a:xfrm>
          <a:prstGeom prst="rect">
            <a:avLst/>
          </a:prstGeom>
        </p:spPr>
      </p:pic>
    </p:spTree>
    <p:extLst>
      <p:ext uri="{BB962C8B-B14F-4D97-AF65-F5344CB8AC3E}">
        <p14:creationId xmlns:p14="http://schemas.microsoft.com/office/powerpoint/2010/main" val="18781797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latin typeface="Aptos" panose="020B0004020202020204" pitchFamily="34" charset="0"/>
              </a:rPr>
              <a:t>Network software: </a:t>
            </a:r>
            <a:r>
              <a:rPr lang="it-IT" dirty="0" err="1">
                <a:latin typeface="Aptos" panose="020B0004020202020204" pitchFamily="34" charset="0"/>
              </a:rPr>
              <a:t>protocol</a:t>
            </a:r>
            <a:r>
              <a:rPr lang="it-IT" dirty="0">
                <a:latin typeface="Aptos" panose="020B0004020202020204" pitchFamily="34" charset="0"/>
              </a:rPr>
              <a:t> </a:t>
            </a:r>
            <a:r>
              <a:rPr lang="it-IT" dirty="0" err="1">
                <a:latin typeface="Aptos" panose="020B0004020202020204" pitchFamily="34" charset="0"/>
              </a:rPr>
              <a:t>hierarchies</a:t>
            </a:r>
            <a:endParaRPr lang="en-GB" dirty="0">
              <a:latin typeface="Aptos" panose="020B0004020202020204" pitchFamily="34" charset="0"/>
            </a:endParaRPr>
          </a:p>
        </p:txBody>
      </p:sp>
      <p:sp>
        <p:nvSpPr>
          <p:cNvPr id="3" name="Segnaposto contenuto 2"/>
          <p:cNvSpPr>
            <a:spLocks noGrp="1"/>
          </p:cNvSpPr>
          <p:nvPr>
            <p:ph idx="1"/>
          </p:nvPr>
        </p:nvSpPr>
        <p:spPr>
          <a:xfrm>
            <a:off x="428172" y="1554896"/>
            <a:ext cx="5561923" cy="4876901"/>
          </a:xfrm>
        </p:spPr>
        <p:txBody>
          <a:bodyPr>
            <a:normAutofit/>
          </a:bodyPr>
          <a:lstStyle/>
          <a:p>
            <a:r>
              <a:rPr lang="en-GB" dirty="0">
                <a:latin typeface="Aptos" panose="020B0004020202020204" pitchFamily="34" charset="0"/>
              </a:rPr>
              <a:t>To reduce their design complexity, most networks are organized as a stack of </a:t>
            </a:r>
            <a:r>
              <a:rPr lang="en-GB" b="1" dirty="0">
                <a:latin typeface="Aptos" panose="020B0004020202020204" pitchFamily="34" charset="0"/>
              </a:rPr>
              <a:t>layers </a:t>
            </a:r>
            <a:r>
              <a:rPr lang="en-GB" dirty="0">
                <a:latin typeface="Aptos" panose="020B0004020202020204" pitchFamily="34" charset="0"/>
              </a:rPr>
              <a:t>or </a:t>
            </a:r>
            <a:r>
              <a:rPr lang="en-GB" b="1" dirty="0">
                <a:latin typeface="Aptos" panose="020B0004020202020204" pitchFamily="34" charset="0"/>
              </a:rPr>
              <a:t>levels</a:t>
            </a:r>
            <a:r>
              <a:rPr lang="en-GB" dirty="0">
                <a:latin typeface="Aptos" panose="020B0004020202020204" pitchFamily="34" charset="0"/>
              </a:rPr>
              <a:t>, each one built upon the one below it.</a:t>
            </a:r>
          </a:p>
          <a:p>
            <a:r>
              <a:rPr lang="en-GB" dirty="0">
                <a:latin typeface="Aptos" panose="020B0004020202020204" pitchFamily="34" charset="0"/>
              </a:rPr>
              <a:t>The purpose of each layer is to offer certain services to the higher layers while shielding those layers from the details of how the offered services are actually implemented.</a:t>
            </a:r>
          </a:p>
        </p:txBody>
      </p:sp>
      <p:pic>
        <p:nvPicPr>
          <p:cNvPr id="4" name="Immagin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12603" y="1310491"/>
            <a:ext cx="5949632" cy="4959554"/>
          </a:xfrm>
          <a:prstGeom prst="rect">
            <a:avLst/>
          </a:prstGeom>
        </p:spPr>
      </p:pic>
      <p:sp>
        <p:nvSpPr>
          <p:cNvPr id="8" name="Segnaposto numero diapositiva 7"/>
          <p:cNvSpPr>
            <a:spLocks noGrp="1"/>
          </p:cNvSpPr>
          <p:nvPr>
            <p:ph type="sldNum" sz="quarter" idx="12"/>
          </p:nvPr>
        </p:nvSpPr>
        <p:spPr/>
        <p:txBody>
          <a:bodyPr/>
          <a:lstStyle/>
          <a:p>
            <a:fld id="{31DE2C5B-556E-47B8-A792-024C2FCA4ACC}" type="slidenum">
              <a:rPr lang="en-GB" smtClean="0">
                <a:latin typeface="Aptos" panose="020B0004020202020204" pitchFamily="34" charset="0"/>
              </a:rPr>
              <a:t>4</a:t>
            </a:fld>
            <a:endParaRPr lang="en-GB">
              <a:latin typeface="Aptos" panose="020B0004020202020204" pitchFamily="34" charset="0"/>
            </a:endParaRPr>
          </a:p>
        </p:txBody>
      </p:sp>
    </p:spTree>
    <p:extLst>
      <p:ext uri="{BB962C8B-B14F-4D97-AF65-F5344CB8AC3E}">
        <p14:creationId xmlns:p14="http://schemas.microsoft.com/office/powerpoint/2010/main" val="26688268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latin typeface="Aptos" panose="020B0004020202020204" pitchFamily="34" charset="0"/>
              </a:rPr>
              <a:t>Network software: </a:t>
            </a:r>
            <a:r>
              <a:rPr lang="it-IT" dirty="0" err="1">
                <a:latin typeface="Aptos" panose="020B0004020202020204" pitchFamily="34" charset="0"/>
              </a:rPr>
              <a:t>protocol</a:t>
            </a:r>
            <a:r>
              <a:rPr lang="it-IT" dirty="0">
                <a:latin typeface="Aptos" panose="020B0004020202020204" pitchFamily="34" charset="0"/>
              </a:rPr>
              <a:t> </a:t>
            </a:r>
            <a:r>
              <a:rPr lang="it-IT" dirty="0" err="1">
                <a:latin typeface="Aptos" panose="020B0004020202020204" pitchFamily="34" charset="0"/>
              </a:rPr>
              <a:t>hierarchies</a:t>
            </a:r>
            <a:endParaRPr lang="en-GB" dirty="0">
              <a:latin typeface="Aptos" panose="020B0004020202020204" pitchFamily="34" charset="0"/>
            </a:endParaRPr>
          </a:p>
        </p:txBody>
      </p:sp>
      <p:sp>
        <p:nvSpPr>
          <p:cNvPr id="3" name="Segnaposto contenuto 2"/>
          <p:cNvSpPr>
            <a:spLocks noGrp="1"/>
          </p:cNvSpPr>
          <p:nvPr>
            <p:ph idx="1"/>
          </p:nvPr>
        </p:nvSpPr>
        <p:spPr>
          <a:xfrm>
            <a:off x="428172" y="1554896"/>
            <a:ext cx="5561923" cy="4876901"/>
          </a:xfrm>
        </p:spPr>
        <p:txBody>
          <a:bodyPr>
            <a:normAutofit/>
          </a:bodyPr>
          <a:lstStyle/>
          <a:p>
            <a:r>
              <a:rPr lang="en-GB" dirty="0">
                <a:latin typeface="Aptos" panose="020B0004020202020204" pitchFamily="34" charset="0"/>
              </a:rPr>
              <a:t>Two entities of the same layer on different machines are called </a:t>
            </a:r>
            <a:r>
              <a:rPr lang="en-GB" b="1" dirty="0">
                <a:latin typeface="Aptos" panose="020B0004020202020204" pitchFamily="34" charset="0"/>
              </a:rPr>
              <a:t>peers.</a:t>
            </a:r>
            <a:endParaRPr lang="en-GB" dirty="0">
              <a:latin typeface="Aptos" panose="020B0004020202020204" pitchFamily="34" charset="0"/>
            </a:endParaRPr>
          </a:p>
          <a:p>
            <a:r>
              <a:rPr lang="en-GB" dirty="0">
                <a:latin typeface="Aptos" panose="020B0004020202020204" pitchFamily="34" charset="0"/>
              </a:rPr>
              <a:t>When two peers of layer </a:t>
            </a:r>
            <a:r>
              <a:rPr lang="en-GB" i="1" dirty="0">
                <a:latin typeface="Aptos" panose="020B0004020202020204" pitchFamily="34" charset="0"/>
              </a:rPr>
              <a:t>n</a:t>
            </a:r>
            <a:r>
              <a:rPr lang="en-GB" dirty="0">
                <a:latin typeface="Aptos" panose="020B0004020202020204" pitchFamily="34" charset="0"/>
              </a:rPr>
              <a:t> communicate, the rules and conventions used in this conversation constitute the layer </a:t>
            </a:r>
            <a:r>
              <a:rPr lang="en-GB" i="1" dirty="0">
                <a:latin typeface="Aptos" panose="020B0004020202020204" pitchFamily="34" charset="0"/>
              </a:rPr>
              <a:t>n</a:t>
            </a:r>
            <a:r>
              <a:rPr lang="en-GB" dirty="0">
                <a:latin typeface="Aptos" panose="020B0004020202020204" pitchFamily="34" charset="0"/>
              </a:rPr>
              <a:t> </a:t>
            </a:r>
            <a:r>
              <a:rPr lang="en-GB" b="1" dirty="0">
                <a:latin typeface="Aptos" panose="020B0004020202020204" pitchFamily="34" charset="0"/>
              </a:rPr>
              <a:t>protocol</a:t>
            </a:r>
            <a:r>
              <a:rPr lang="en-GB" dirty="0">
                <a:latin typeface="Aptos" panose="020B0004020202020204" pitchFamily="34" charset="0"/>
              </a:rPr>
              <a:t>.</a:t>
            </a:r>
          </a:p>
          <a:p>
            <a:r>
              <a:rPr lang="en-GB" b="1" dirty="0">
                <a:latin typeface="Aptos" panose="020B0004020202020204" pitchFamily="34" charset="0"/>
              </a:rPr>
              <a:t>Protocol: </a:t>
            </a:r>
            <a:r>
              <a:rPr lang="en-GB" dirty="0">
                <a:latin typeface="Aptos" panose="020B0004020202020204" pitchFamily="34" charset="0"/>
              </a:rPr>
              <a:t>agreement between the communicating parties on how communication must work.</a:t>
            </a:r>
          </a:p>
          <a:p>
            <a:r>
              <a:rPr lang="en-GB" dirty="0">
                <a:latin typeface="Aptos" panose="020B0004020202020204" pitchFamily="34" charset="0"/>
              </a:rPr>
              <a:t>Layers and protocols form the </a:t>
            </a:r>
            <a:r>
              <a:rPr lang="en-GB" b="1" dirty="0">
                <a:latin typeface="Aptos" panose="020B0004020202020204" pitchFamily="34" charset="0"/>
              </a:rPr>
              <a:t>network architecture</a:t>
            </a:r>
            <a:r>
              <a:rPr lang="en-GB" dirty="0">
                <a:latin typeface="Aptos" panose="020B0004020202020204" pitchFamily="34" charset="0"/>
              </a:rPr>
              <a:t>.</a:t>
            </a:r>
          </a:p>
        </p:txBody>
      </p:sp>
      <p:pic>
        <p:nvPicPr>
          <p:cNvPr id="4" name="Immagin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12603" y="1310491"/>
            <a:ext cx="5949632" cy="4959554"/>
          </a:xfrm>
          <a:prstGeom prst="rect">
            <a:avLst/>
          </a:prstGeom>
        </p:spPr>
      </p:pic>
      <p:sp>
        <p:nvSpPr>
          <p:cNvPr id="7" name="Cornice 6"/>
          <p:cNvSpPr/>
          <p:nvPr/>
        </p:nvSpPr>
        <p:spPr>
          <a:xfrm>
            <a:off x="7160217" y="3215899"/>
            <a:ext cx="4554784" cy="658678"/>
          </a:xfrm>
          <a:prstGeom prst="frame">
            <a:avLst>
              <a:gd name="adj1" fmla="val 6466"/>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latin typeface="Aptos" panose="020B0004020202020204" pitchFamily="34" charset="0"/>
            </a:endParaRPr>
          </a:p>
        </p:txBody>
      </p:sp>
      <p:sp>
        <p:nvSpPr>
          <p:cNvPr id="5" name="Segnaposto numero diapositiva 4"/>
          <p:cNvSpPr>
            <a:spLocks noGrp="1"/>
          </p:cNvSpPr>
          <p:nvPr>
            <p:ph type="sldNum" sz="quarter" idx="12"/>
          </p:nvPr>
        </p:nvSpPr>
        <p:spPr/>
        <p:txBody>
          <a:bodyPr/>
          <a:lstStyle/>
          <a:p>
            <a:fld id="{31DE2C5B-556E-47B8-A792-024C2FCA4ACC}" type="slidenum">
              <a:rPr lang="en-GB" smtClean="0">
                <a:latin typeface="Aptos" panose="020B0004020202020204" pitchFamily="34" charset="0"/>
              </a:rPr>
              <a:t>5</a:t>
            </a:fld>
            <a:endParaRPr lang="en-GB">
              <a:latin typeface="Aptos" panose="020B0004020202020204" pitchFamily="34" charset="0"/>
            </a:endParaRPr>
          </a:p>
        </p:txBody>
      </p:sp>
    </p:spTree>
    <p:extLst>
      <p:ext uri="{BB962C8B-B14F-4D97-AF65-F5344CB8AC3E}">
        <p14:creationId xmlns:p14="http://schemas.microsoft.com/office/powerpoint/2010/main" val="29391972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latin typeface="Aptos" panose="020B0004020202020204" pitchFamily="34" charset="0"/>
              </a:rPr>
              <a:t>Network software: </a:t>
            </a:r>
            <a:r>
              <a:rPr lang="it-IT" dirty="0" err="1">
                <a:latin typeface="Aptos" panose="020B0004020202020204" pitchFamily="34" charset="0"/>
              </a:rPr>
              <a:t>protocol</a:t>
            </a:r>
            <a:r>
              <a:rPr lang="it-IT" dirty="0">
                <a:latin typeface="Aptos" panose="020B0004020202020204" pitchFamily="34" charset="0"/>
              </a:rPr>
              <a:t> </a:t>
            </a:r>
            <a:r>
              <a:rPr lang="it-IT" dirty="0" err="1">
                <a:latin typeface="Aptos" panose="020B0004020202020204" pitchFamily="34" charset="0"/>
              </a:rPr>
              <a:t>hierarchies</a:t>
            </a:r>
            <a:endParaRPr lang="en-GB" dirty="0">
              <a:latin typeface="Aptos" panose="020B0004020202020204" pitchFamily="34" charset="0"/>
            </a:endParaRPr>
          </a:p>
        </p:txBody>
      </p:sp>
      <p:sp>
        <p:nvSpPr>
          <p:cNvPr id="3" name="Segnaposto contenuto 2"/>
          <p:cNvSpPr>
            <a:spLocks noGrp="1"/>
          </p:cNvSpPr>
          <p:nvPr>
            <p:ph idx="1"/>
          </p:nvPr>
        </p:nvSpPr>
        <p:spPr>
          <a:xfrm>
            <a:off x="428172" y="1554896"/>
            <a:ext cx="5561923" cy="5233362"/>
          </a:xfrm>
        </p:spPr>
        <p:txBody>
          <a:bodyPr>
            <a:normAutofit lnSpcReduction="10000"/>
          </a:bodyPr>
          <a:lstStyle/>
          <a:p>
            <a:r>
              <a:rPr lang="en-GB" dirty="0">
                <a:latin typeface="Aptos" panose="020B0004020202020204" pitchFamily="34" charset="0"/>
              </a:rPr>
              <a:t>In reality, no data are directly transferred from layer </a:t>
            </a:r>
            <a:r>
              <a:rPr lang="en-GB" i="1" dirty="0">
                <a:latin typeface="Aptos" panose="020B0004020202020204" pitchFamily="34" charset="0"/>
              </a:rPr>
              <a:t>n </a:t>
            </a:r>
            <a:r>
              <a:rPr lang="en-GB" dirty="0">
                <a:latin typeface="Aptos" panose="020B0004020202020204" pitchFamily="34" charset="0"/>
              </a:rPr>
              <a:t>on one machine to layer </a:t>
            </a:r>
            <a:r>
              <a:rPr lang="en-GB" i="1" dirty="0">
                <a:latin typeface="Aptos" panose="020B0004020202020204" pitchFamily="34" charset="0"/>
              </a:rPr>
              <a:t>n </a:t>
            </a:r>
            <a:r>
              <a:rPr lang="en-GB" dirty="0">
                <a:latin typeface="Aptos" panose="020B0004020202020204" pitchFamily="34" charset="0"/>
              </a:rPr>
              <a:t>on another machine.</a:t>
            </a:r>
          </a:p>
          <a:p>
            <a:r>
              <a:rPr lang="en-GB" dirty="0">
                <a:latin typeface="Aptos" panose="020B0004020202020204" pitchFamily="34" charset="0"/>
              </a:rPr>
              <a:t>Each layer passes data to the layer immediately below it, until the lowest layer is reached. </a:t>
            </a:r>
          </a:p>
          <a:p>
            <a:r>
              <a:rPr lang="en-GB" dirty="0">
                <a:latin typeface="Aptos" panose="020B0004020202020204" pitchFamily="34" charset="0"/>
              </a:rPr>
              <a:t>Layer 1 passes data to the </a:t>
            </a:r>
            <a:r>
              <a:rPr lang="en-GB" b="1" dirty="0">
                <a:latin typeface="Aptos" panose="020B0004020202020204" pitchFamily="34" charset="0"/>
              </a:rPr>
              <a:t>physical medium </a:t>
            </a:r>
            <a:r>
              <a:rPr lang="en-GB" dirty="0">
                <a:latin typeface="Aptos" panose="020B0004020202020204" pitchFamily="34" charset="0"/>
              </a:rPr>
              <a:t>through which actual communication occurs.</a:t>
            </a:r>
          </a:p>
          <a:p>
            <a:r>
              <a:rPr lang="en-GB" dirty="0">
                <a:latin typeface="Aptos" panose="020B0004020202020204" pitchFamily="34" charset="0"/>
              </a:rPr>
              <a:t>An </a:t>
            </a:r>
            <a:r>
              <a:rPr lang="en-GB" b="1" dirty="0">
                <a:latin typeface="Aptos" panose="020B0004020202020204" pitchFamily="34" charset="0"/>
              </a:rPr>
              <a:t>interface</a:t>
            </a:r>
            <a:r>
              <a:rPr lang="en-GB" dirty="0">
                <a:latin typeface="Aptos" panose="020B0004020202020204" pitchFamily="34" charset="0"/>
              </a:rPr>
              <a:t> between each pair of adjacent layers defines which primitive operations and services the lower layer makes available to the upper one.</a:t>
            </a:r>
          </a:p>
        </p:txBody>
      </p:sp>
      <p:pic>
        <p:nvPicPr>
          <p:cNvPr id="4" name="Immagin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12603" y="1310491"/>
            <a:ext cx="5949632" cy="4959554"/>
          </a:xfrm>
          <a:prstGeom prst="rect">
            <a:avLst/>
          </a:prstGeom>
        </p:spPr>
      </p:pic>
      <p:sp>
        <p:nvSpPr>
          <p:cNvPr id="5" name="Cornice 4"/>
          <p:cNvSpPr/>
          <p:nvPr/>
        </p:nvSpPr>
        <p:spPr>
          <a:xfrm>
            <a:off x="7683282" y="2086826"/>
            <a:ext cx="166609" cy="524638"/>
          </a:xfrm>
          <a:prstGeom prst="frame">
            <a:avLst>
              <a:gd name="adj1" fmla="val 6466"/>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latin typeface="Aptos" panose="020B0004020202020204" pitchFamily="34" charset="0"/>
            </a:endParaRPr>
          </a:p>
        </p:txBody>
      </p:sp>
      <p:sp>
        <p:nvSpPr>
          <p:cNvPr id="7" name="Rettangolo 6"/>
          <p:cNvSpPr/>
          <p:nvPr/>
        </p:nvSpPr>
        <p:spPr>
          <a:xfrm>
            <a:off x="5165872" y="1332476"/>
            <a:ext cx="1770680" cy="754350"/>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dirty="0" err="1">
                <a:latin typeface="Aptos" panose="020B0004020202020204" pitchFamily="34" charset="0"/>
              </a:rPr>
              <a:t>Physical</a:t>
            </a:r>
            <a:r>
              <a:rPr lang="it-IT" dirty="0">
                <a:latin typeface="Aptos" panose="020B0004020202020204" pitchFamily="34" charset="0"/>
              </a:rPr>
              <a:t> </a:t>
            </a:r>
            <a:r>
              <a:rPr lang="it-IT" dirty="0" err="1">
                <a:latin typeface="Aptos" panose="020B0004020202020204" pitchFamily="34" charset="0"/>
              </a:rPr>
              <a:t>communication</a:t>
            </a:r>
            <a:endParaRPr lang="en-GB" dirty="0">
              <a:latin typeface="Aptos" panose="020B0004020202020204" pitchFamily="34" charset="0"/>
            </a:endParaRPr>
          </a:p>
        </p:txBody>
      </p:sp>
      <p:sp>
        <p:nvSpPr>
          <p:cNvPr id="8" name="Cornice 7"/>
          <p:cNvSpPr/>
          <p:nvPr/>
        </p:nvSpPr>
        <p:spPr>
          <a:xfrm>
            <a:off x="8097864" y="1875295"/>
            <a:ext cx="2696705" cy="189546"/>
          </a:xfrm>
          <a:prstGeom prst="frame">
            <a:avLst>
              <a:gd name="adj1" fmla="val 6466"/>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latin typeface="Aptos" panose="020B0004020202020204" pitchFamily="34" charset="0"/>
            </a:endParaRPr>
          </a:p>
        </p:txBody>
      </p:sp>
      <p:sp>
        <p:nvSpPr>
          <p:cNvPr id="9" name="Rettangolo 8"/>
          <p:cNvSpPr/>
          <p:nvPr/>
        </p:nvSpPr>
        <p:spPr>
          <a:xfrm>
            <a:off x="10215737" y="592047"/>
            <a:ext cx="1770680" cy="754350"/>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dirty="0">
                <a:latin typeface="Aptos" panose="020B0004020202020204" pitchFamily="34" charset="0"/>
              </a:rPr>
              <a:t>Virtual </a:t>
            </a:r>
            <a:r>
              <a:rPr lang="it-IT" dirty="0" err="1">
                <a:latin typeface="Aptos" panose="020B0004020202020204" pitchFamily="34" charset="0"/>
              </a:rPr>
              <a:t>communication</a:t>
            </a:r>
            <a:endParaRPr lang="en-GB" dirty="0">
              <a:latin typeface="Aptos" panose="020B0004020202020204" pitchFamily="34" charset="0"/>
            </a:endParaRPr>
          </a:p>
        </p:txBody>
      </p:sp>
      <p:cxnSp>
        <p:nvCxnSpPr>
          <p:cNvPr id="11" name="Connettore 2 10"/>
          <p:cNvCxnSpPr/>
          <p:nvPr/>
        </p:nvCxnSpPr>
        <p:spPr>
          <a:xfrm>
            <a:off x="6954105" y="1952020"/>
            <a:ext cx="662550" cy="269611"/>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onnettore 2 11"/>
          <p:cNvCxnSpPr/>
          <p:nvPr/>
        </p:nvCxnSpPr>
        <p:spPr>
          <a:xfrm flipH="1">
            <a:off x="10215738" y="1352771"/>
            <a:ext cx="168126" cy="448292"/>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Segnaposto numero diapositiva 14"/>
          <p:cNvSpPr>
            <a:spLocks noGrp="1"/>
          </p:cNvSpPr>
          <p:nvPr>
            <p:ph type="sldNum" sz="quarter" idx="12"/>
          </p:nvPr>
        </p:nvSpPr>
        <p:spPr/>
        <p:txBody>
          <a:bodyPr/>
          <a:lstStyle/>
          <a:p>
            <a:fld id="{31DE2C5B-556E-47B8-A792-024C2FCA4ACC}" type="slidenum">
              <a:rPr lang="en-GB" smtClean="0">
                <a:latin typeface="Aptos" panose="020B0004020202020204" pitchFamily="34" charset="0"/>
              </a:rPr>
              <a:t>6</a:t>
            </a:fld>
            <a:endParaRPr lang="en-GB">
              <a:latin typeface="Aptos" panose="020B0004020202020204" pitchFamily="34" charset="0"/>
            </a:endParaRPr>
          </a:p>
        </p:txBody>
      </p:sp>
    </p:spTree>
    <p:extLst>
      <p:ext uri="{BB962C8B-B14F-4D97-AF65-F5344CB8AC3E}">
        <p14:creationId xmlns:p14="http://schemas.microsoft.com/office/powerpoint/2010/main" val="158856818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err="1">
                <a:latin typeface="Aptos" panose="020B0004020202020204" pitchFamily="34" charset="0"/>
              </a:rPr>
              <a:t>Example</a:t>
            </a:r>
            <a:r>
              <a:rPr lang="it-IT" dirty="0">
                <a:latin typeface="Aptos" panose="020B0004020202020204" pitchFamily="34" charset="0"/>
              </a:rPr>
              <a:t> of network </a:t>
            </a:r>
            <a:r>
              <a:rPr lang="it-IT" dirty="0" err="1">
                <a:latin typeface="Aptos" panose="020B0004020202020204" pitchFamily="34" charset="0"/>
              </a:rPr>
              <a:t>architecture</a:t>
            </a:r>
            <a:endParaRPr lang="en-GB" dirty="0">
              <a:latin typeface="Aptos" panose="020B0004020202020204" pitchFamily="34" charset="0"/>
            </a:endParaRPr>
          </a:p>
        </p:txBody>
      </p:sp>
      <p:sp>
        <p:nvSpPr>
          <p:cNvPr id="4" name="Segnaposto numero diapositiva 3"/>
          <p:cNvSpPr>
            <a:spLocks noGrp="1"/>
          </p:cNvSpPr>
          <p:nvPr>
            <p:ph type="sldNum" sz="quarter" idx="12"/>
          </p:nvPr>
        </p:nvSpPr>
        <p:spPr/>
        <p:txBody>
          <a:bodyPr/>
          <a:lstStyle/>
          <a:p>
            <a:fld id="{31DE2C5B-556E-47B8-A792-024C2FCA4ACC}" type="slidenum">
              <a:rPr lang="en-GB" smtClean="0">
                <a:latin typeface="Aptos" panose="020B0004020202020204" pitchFamily="34" charset="0"/>
              </a:rPr>
              <a:t>7</a:t>
            </a:fld>
            <a:endParaRPr lang="en-GB" dirty="0">
              <a:latin typeface="Aptos" panose="020B0004020202020204" pitchFamily="34" charset="0"/>
            </a:endParaRPr>
          </a:p>
        </p:txBody>
      </p:sp>
      <p:pic>
        <p:nvPicPr>
          <p:cNvPr id="5" name="Immagine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762545" y="1361167"/>
            <a:ext cx="8190193" cy="5097917"/>
          </a:xfrm>
          <a:prstGeom prst="rect">
            <a:avLst/>
          </a:prstGeom>
        </p:spPr>
      </p:pic>
      <p:graphicFrame>
        <p:nvGraphicFramePr>
          <p:cNvPr id="7" name="Tabella 6"/>
          <p:cNvGraphicFramePr>
            <a:graphicFrameLocks noGrp="1"/>
          </p:cNvGraphicFramePr>
          <p:nvPr>
            <p:extLst>
              <p:ext uri="{D42A27DB-BD31-4B8C-83A1-F6EECF244321}">
                <p14:modId xmlns:p14="http://schemas.microsoft.com/office/powerpoint/2010/main" val="2184364381"/>
              </p:ext>
            </p:extLst>
          </p:nvPr>
        </p:nvGraphicFramePr>
        <p:xfrm>
          <a:off x="271068" y="1361167"/>
          <a:ext cx="3330413" cy="4754880"/>
        </p:xfrm>
        <a:graphic>
          <a:graphicData uri="http://schemas.openxmlformats.org/drawingml/2006/table">
            <a:tbl>
              <a:tblPr firstRow="1" bandRow="1">
                <a:tableStyleId>{16D9F66E-5EB9-4882-86FB-DCBF35E3C3E4}</a:tableStyleId>
              </a:tblPr>
              <a:tblGrid>
                <a:gridCol w="3330413">
                  <a:extLst>
                    <a:ext uri="{9D8B030D-6E8A-4147-A177-3AD203B41FA5}">
                      <a16:colId xmlns:a16="http://schemas.microsoft.com/office/drawing/2014/main" val="679406831"/>
                    </a:ext>
                  </a:extLst>
                </a:gridCol>
              </a:tblGrid>
              <a:tr h="370840">
                <a:tc>
                  <a:txBody>
                    <a:bodyPr/>
                    <a:lstStyle/>
                    <a:p>
                      <a:r>
                        <a:rPr lang="en-US" b="0" noProof="0" dirty="0">
                          <a:latin typeface="Aptos" panose="020B0004020202020204" pitchFamily="34" charset="0"/>
                        </a:rPr>
                        <a:t>A message M is produced</a:t>
                      </a:r>
                      <a:r>
                        <a:rPr lang="en-US" b="0" baseline="0" noProof="0" dirty="0">
                          <a:latin typeface="Aptos" panose="020B0004020202020204" pitchFamily="34" charset="0"/>
                        </a:rPr>
                        <a:t> by an application running on layer 5 and given to layer 4 for transmission.</a:t>
                      </a:r>
                      <a:endParaRPr lang="en-US" b="0" noProof="0" dirty="0">
                        <a:latin typeface="Aptos" panose="020B0004020202020204" pitchFamily="34" charset="0"/>
                      </a:endParaRPr>
                    </a:p>
                  </a:txBody>
                  <a:tcPr/>
                </a:tc>
                <a:extLst>
                  <a:ext uri="{0D108BD9-81ED-4DB2-BD59-A6C34878D82A}">
                    <a16:rowId xmlns:a16="http://schemas.microsoft.com/office/drawing/2014/main" val="3002652260"/>
                  </a:ext>
                </a:extLst>
              </a:tr>
              <a:tr h="370840">
                <a:tc>
                  <a:txBody>
                    <a:bodyPr/>
                    <a:lstStyle/>
                    <a:p>
                      <a:r>
                        <a:rPr lang="en-US" b="0" noProof="0" dirty="0">
                          <a:latin typeface="Aptos" panose="020B0004020202020204" pitchFamily="34" charset="0"/>
                        </a:rPr>
                        <a:t>Layer 4 puts a header (e.g. address)</a:t>
                      </a:r>
                      <a:r>
                        <a:rPr lang="en-US" b="0" baseline="0" noProof="0" dirty="0">
                          <a:latin typeface="Aptos" panose="020B0004020202020204" pitchFamily="34" charset="0"/>
                        </a:rPr>
                        <a:t> </a:t>
                      </a:r>
                      <a:r>
                        <a:rPr lang="en-US" b="0" noProof="0" dirty="0">
                          <a:latin typeface="Aptos" panose="020B0004020202020204" pitchFamily="34" charset="0"/>
                        </a:rPr>
                        <a:t>in front</a:t>
                      </a:r>
                      <a:r>
                        <a:rPr lang="en-US" b="0" baseline="0" noProof="0" dirty="0">
                          <a:latin typeface="Aptos" panose="020B0004020202020204" pitchFamily="34" charset="0"/>
                        </a:rPr>
                        <a:t> of M to identify it and then pass it to layer 3.</a:t>
                      </a:r>
                    </a:p>
                  </a:txBody>
                  <a:tcPr/>
                </a:tc>
                <a:extLst>
                  <a:ext uri="{0D108BD9-81ED-4DB2-BD59-A6C34878D82A}">
                    <a16:rowId xmlns:a16="http://schemas.microsoft.com/office/drawing/2014/main" val="2879673925"/>
                  </a:ext>
                </a:extLst>
              </a:tr>
              <a:tr h="370840">
                <a:tc>
                  <a:txBody>
                    <a:bodyPr/>
                    <a:lstStyle/>
                    <a:p>
                      <a:r>
                        <a:rPr lang="en-US" b="0" noProof="0" dirty="0">
                          <a:latin typeface="Aptos" panose="020B0004020202020204" pitchFamily="34" charset="0"/>
                        </a:rPr>
                        <a:t>Layer 3 breaks</a:t>
                      </a:r>
                      <a:r>
                        <a:rPr lang="en-US" b="0" baseline="0" noProof="0" dirty="0">
                          <a:latin typeface="Aptos" panose="020B0004020202020204" pitchFamily="34" charset="0"/>
                        </a:rPr>
                        <a:t> M into smaller packets (M1 and M2) and add headers to each packet which are passed to layer 2.</a:t>
                      </a:r>
                      <a:endParaRPr lang="en-US" b="0" noProof="0" dirty="0">
                        <a:latin typeface="Aptos" panose="020B0004020202020204" pitchFamily="34" charset="0"/>
                      </a:endParaRPr>
                    </a:p>
                  </a:txBody>
                  <a:tcPr/>
                </a:tc>
                <a:extLst>
                  <a:ext uri="{0D108BD9-81ED-4DB2-BD59-A6C34878D82A}">
                    <a16:rowId xmlns:a16="http://schemas.microsoft.com/office/drawing/2014/main" val="3478019471"/>
                  </a:ext>
                </a:extLst>
              </a:tr>
              <a:tr h="370840">
                <a:tc>
                  <a:txBody>
                    <a:bodyPr/>
                    <a:lstStyle/>
                    <a:p>
                      <a:r>
                        <a:rPr lang="en-US" b="0" noProof="0" dirty="0">
                          <a:latin typeface="Aptos" panose="020B0004020202020204" pitchFamily="34" charset="0"/>
                        </a:rPr>
                        <a:t>Layer 2 adds</a:t>
                      </a:r>
                      <a:r>
                        <a:rPr lang="en-US" b="0" baseline="0" noProof="0" dirty="0">
                          <a:latin typeface="Aptos" panose="020B0004020202020204" pitchFamily="34" charset="0"/>
                        </a:rPr>
                        <a:t> a header and a trailer to each packet and then pass them to layer 1 for physical transmission to the destination machine. </a:t>
                      </a:r>
                      <a:endParaRPr lang="en-US" b="0" noProof="0" dirty="0">
                        <a:latin typeface="Aptos" panose="020B0004020202020204" pitchFamily="34" charset="0"/>
                      </a:endParaRPr>
                    </a:p>
                  </a:txBody>
                  <a:tcPr/>
                </a:tc>
                <a:extLst>
                  <a:ext uri="{0D108BD9-81ED-4DB2-BD59-A6C34878D82A}">
                    <a16:rowId xmlns:a16="http://schemas.microsoft.com/office/drawing/2014/main" val="2378358837"/>
                  </a:ext>
                </a:extLst>
              </a:tr>
            </a:tbl>
          </a:graphicData>
        </a:graphic>
      </p:graphicFrame>
      <p:sp>
        <p:nvSpPr>
          <p:cNvPr id="8" name="Rettangolo 7"/>
          <p:cNvSpPr/>
          <p:nvPr/>
        </p:nvSpPr>
        <p:spPr>
          <a:xfrm>
            <a:off x="8460000" y="5112973"/>
            <a:ext cx="3603402" cy="646331"/>
          </a:xfrm>
          <a:prstGeom prst="rect">
            <a:avLst/>
          </a:prstGeom>
          <a:solidFill>
            <a:srgbClr val="EBF1E9"/>
          </a:solidFill>
          <a:ln>
            <a:solidFill>
              <a:srgbClr val="70AD47"/>
            </a:solidFill>
          </a:ln>
        </p:spPr>
        <p:txBody>
          <a:bodyPr wrap="square">
            <a:spAutoFit/>
          </a:bodyPr>
          <a:lstStyle/>
          <a:p>
            <a:pPr algn="ctr"/>
            <a:r>
              <a:rPr lang="en-GB" dirty="0">
                <a:latin typeface="Aptos" panose="020B0004020202020204" pitchFamily="34" charset="0"/>
              </a:rPr>
              <a:t>None of the headers for layers below </a:t>
            </a:r>
            <a:r>
              <a:rPr lang="en-GB" i="1" dirty="0">
                <a:latin typeface="Aptos" panose="020B0004020202020204" pitchFamily="34" charset="0"/>
              </a:rPr>
              <a:t>n </a:t>
            </a:r>
            <a:r>
              <a:rPr lang="en-GB" dirty="0">
                <a:latin typeface="Aptos" panose="020B0004020202020204" pitchFamily="34" charset="0"/>
              </a:rPr>
              <a:t>are passed up to layer </a:t>
            </a:r>
            <a:r>
              <a:rPr lang="en-GB" i="1" dirty="0">
                <a:latin typeface="Aptos" panose="020B0004020202020204" pitchFamily="34" charset="0"/>
              </a:rPr>
              <a:t>n.</a:t>
            </a:r>
            <a:endParaRPr lang="en-GB" dirty="0">
              <a:latin typeface="Aptos" panose="020B0004020202020204" pitchFamily="34" charset="0"/>
            </a:endParaRPr>
          </a:p>
        </p:txBody>
      </p:sp>
    </p:spTree>
    <p:extLst>
      <p:ext uri="{BB962C8B-B14F-4D97-AF65-F5344CB8AC3E}">
        <p14:creationId xmlns:p14="http://schemas.microsoft.com/office/powerpoint/2010/main" val="11191308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latin typeface="Aptos" panose="020B0004020202020204" pitchFamily="34" charset="0"/>
              </a:rPr>
              <a:t>Services and </a:t>
            </a:r>
            <a:r>
              <a:rPr lang="it-IT" dirty="0" err="1">
                <a:latin typeface="Aptos" panose="020B0004020202020204" pitchFamily="34" charset="0"/>
              </a:rPr>
              <a:t>primitives</a:t>
            </a:r>
            <a:endParaRPr lang="en-GB" dirty="0">
              <a:latin typeface="Aptos" panose="020B0004020202020204" pitchFamily="34" charset="0"/>
            </a:endParaRPr>
          </a:p>
        </p:txBody>
      </p:sp>
      <p:sp>
        <p:nvSpPr>
          <p:cNvPr id="3" name="Segnaposto contenuto 2"/>
          <p:cNvSpPr>
            <a:spLocks noGrp="1"/>
          </p:cNvSpPr>
          <p:nvPr>
            <p:ph idx="1"/>
          </p:nvPr>
        </p:nvSpPr>
        <p:spPr/>
        <p:txBody>
          <a:bodyPr/>
          <a:lstStyle/>
          <a:p>
            <a:r>
              <a:rPr lang="en-GB" b="1" dirty="0">
                <a:latin typeface="Aptos" panose="020B0004020202020204" pitchFamily="34" charset="0"/>
              </a:rPr>
              <a:t>Service: </a:t>
            </a:r>
            <a:r>
              <a:rPr lang="en-GB" dirty="0">
                <a:latin typeface="Aptos" panose="020B0004020202020204" pitchFamily="34" charset="0"/>
              </a:rPr>
              <a:t>a set of primitives (operations) that a layer provides to the layer above.</a:t>
            </a:r>
          </a:p>
          <a:p>
            <a:pPr lvl="1"/>
            <a:r>
              <a:rPr lang="en-GB" dirty="0">
                <a:latin typeface="Aptos" panose="020B0004020202020204" pitchFamily="34" charset="0"/>
              </a:rPr>
              <a:t>What operations the layer is prepared to perform on behalf of its users</a:t>
            </a:r>
          </a:p>
          <a:p>
            <a:pPr lvl="1"/>
            <a:r>
              <a:rPr lang="en-GB" dirty="0">
                <a:latin typeface="Aptos" panose="020B0004020202020204" pitchFamily="34" charset="0"/>
              </a:rPr>
              <a:t>No information about how these operations are implemented. </a:t>
            </a:r>
          </a:p>
          <a:p>
            <a:pPr lvl="1"/>
            <a:r>
              <a:rPr lang="en-GB" dirty="0">
                <a:latin typeface="Aptos" panose="020B0004020202020204" pitchFamily="34" charset="0"/>
              </a:rPr>
              <a:t>It relates to an interface between two layers, with the lower layer being the service provider and the upper layer being the service user.</a:t>
            </a:r>
          </a:p>
        </p:txBody>
      </p:sp>
      <p:sp>
        <p:nvSpPr>
          <p:cNvPr id="4" name="Segnaposto numero diapositiva 3"/>
          <p:cNvSpPr>
            <a:spLocks noGrp="1"/>
          </p:cNvSpPr>
          <p:nvPr>
            <p:ph type="sldNum" sz="quarter" idx="12"/>
          </p:nvPr>
        </p:nvSpPr>
        <p:spPr/>
        <p:txBody>
          <a:bodyPr/>
          <a:lstStyle/>
          <a:p>
            <a:fld id="{31DE2C5B-556E-47B8-A792-024C2FCA4ACC}" type="slidenum">
              <a:rPr lang="en-GB" smtClean="0">
                <a:latin typeface="Aptos" panose="020B0004020202020204" pitchFamily="34" charset="0"/>
              </a:rPr>
              <a:t>8</a:t>
            </a:fld>
            <a:endParaRPr lang="en-GB">
              <a:latin typeface="Aptos" panose="020B0004020202020204" pitchFamily="34" charset="0"/>
            </a:endParaRPr>
          </a:p>
        </p:txBody>
      </p:sp>
      <p:graphicFrame>
        <p:nvGraphicFramePr>
          <p:cNvPr id="5" name="Tabella 4"/>
          <p:cNvGraphicFramePr>
            <a:graphicFrameLocks noGrp="1"/>
          </p:cNvGraphicFramePr>
          <p:nvPr>
            <p:extLst>
              <p:ext uri="{D42A27DB-BD31-4B8C-83A1-F6EECF244321}">
                <p14:modId xmlns:p14="http://schemas.microsoft.com/office/powerpoint/2010/main" val="2391186040"/>
              </p:ext>
            </p:extLst>
          </p:nvPr>
        </p:nvGraphicFramePr>
        <p:xfrm>
          <a:off x="2326099" y="3735182"/>
          <a:ext cx="7572457" cy="2773680"/>
        </p:xfrm>
        <a:graphic>
          <a:graphicData uri="http://schemas.openxmlformats.org/drawingml/2006/table">
            <a:tbl>
              <a:tblPr firstRow="1" bandRow="1">
                <a:tableStyleId>{93296810-A885-4BE3-A3E7-6D5BEEA58F35}</a:tableStyleId>
              </a:tblPr>
              <a:tblGrid>
                <a:gridCol w="2057511">
                  <a:extLst>
                    <a:ext uri="{9D8B030D-6E8A-4147-A177-3AD203B41FA5}">
                      <a16:colId xmlns:a16="http://schemas.microsoft.com/office/drawing/2014/main" val="2484700247"/>
                    </a:ext>
                  </a:extLst>
                </a:gridCol>
                <a:gridCol w="5514946">
                  <a:extLst>
                    <a:ext uri="{9D8B030D-6E8A-4147-A177-3AD203B41FA5}">
                      <a16:colId xmlns:a16="http://schemas.microsoft.com/office/drawing/2014/main" val="2495377281"/>
                    </a:ext>
                  </a:extLst>
                </a:gridCol>
              </a:tblGrid>
              <a:tr h="370840">
                <a:tc>
                  <a:txBody>
                    <a:bodyPr/>
                    <a:lstStyle/>
                    <a:p>
                      <a:pPr algn="ctr"/>
                      <a:r>
                        <a:rPr lang="it-IT" sz="2000" dirty="0">
                          <a:latin typeface="Aptos" panose="020B0004020202020204" pitchFamily="34" charset="0"/>
                        </a:rPr>
                        <a:t>Primitive</a:t>
                      </a:r>
                      <a:endParaRPr lang="en-GB" sz="2000" dirty="0">
                        <a:latin typeface="Aptos" panose="020B0004020202020204" pitchFamily="34" charset="0"/>
                      </a:endParaRPr>
                    </a:p>
                  </a:txBody>
                  <a:tcPr/>
                </a:tc>
                <a:tc>
                  <a:txBody>
                    <a:bodyPr/>
                    <a:lstStyle/>
                    <a:p>
                      <a:pPr algn="ctr"/>
                      <a:r>
                        <a:rPr lang="it-IT" sz="2000" dirty="0" err="1">
                          <a:latin typeface="Aptos" panose="020B0004020202020204" pitchFamily="34" charset="0"/>
                        </a:rPr>
                        <a:t>Meaning</a:t>
                      </a:r>
                      <a:endParaRPr lang="en-GB" sz="2000" dirty="0">
                        <a:latin typeface="Aptos" panose="020B0004020202020204" pitchFamily="34" charset="0"/>
                      </a:endParaRPr>
                    </a:p>
                  </a:txBody>
                  <a:tcPr/>
                </a:tc>
                <a:extLst>
                  <a:ext uri="{0D108BD9-81ED-4DB2-BD59-A6C34878D82A}">
                    <a16:rowId xmlns:a16="http://schemas.microsoft.com/office/drawing/2014/main" val="1473213367"/>
                  </a:ext>
                </a:extLst>
              </a:tr>
              <a:tr h="370840">
                <a:tc>
                  <a:txBody>
                    <a:bodyPr/>
                    <a:lstStyle/>
                    <a:p>
                      <a:r>
                        <a:rPr lang="it-IT" sz="2000" dirty="0">
                          <a:latin typeface="Aptos" panose="020B0004020202020204" pitchFamily="34" charset="0"/>
                        </a:rPr>
                        <a:t>LISTEN</a:t>
                      </a:r>
                      <a:endParaRPr lang="en-GB" sz="2000" dirty="0">
                        <a:latin typeface="Aptos" panose="020B0004020202020204" pitchFamily="34" charset="0"/>
                      </a:endParaRPr>
                    </a:p>
                  </a:txBody>
                  <a:tcPr/>
                </a:tc>
                <a:tc>
                  <a:txBody>
                    <a:bodyPr/>
                    <a:lstStyle/>
                    <a:p>
                      <a:r>
                        <a:rPr lang="en-GB" sz="2000" b="0" i="0" u="none" strike="noStrike" kern="1200" baseline="0" dirty="0">
                          <a:solidFill>
                            <a:schemeClr val="dk1"/>
                          </a:solidFill>
                          <a:latin typeface="Aptos" panose="020B0004020202020204" pitchFamily="34" charset="0"/>
                          <a:ea typeface="+mn-ea"/>
                          <a:cs typeface="+mn-cs"/>
                        </a:rPr>
                        <a:t>Block waiting for an incoming connection</a:t>
                      </a:r>
                      <a:endParaRPr lang="en-GB" sz="2000" dirty="0">
                        <a:latin typeface="Aptos" panose="020B0004020202020204" pitchFamily="34" charset="0"/>
                      </a:endParaRPr>
                    </a:p>
                  </a:txBody>
                  <a:tcPr/>
                </a:tc>
                <a:extLst>
                  <a:ext uri="{0D108BD9-81ED-4DB2-BD59-A6C34878D82A}">
                    <a16:rowId xmlns:a16="http://schemas.microsoft.com/office/drawing/2014/main" val="1044071627"/>
                  </a:ext>
                </a:extLst>
              </a:tr>
              <a:tr h="370840">
                <a:tc>
                  <a:txBody>
                    <a:bodyPr/>
                    <a:lstStyle/>
                    <a:p>
                      <a:r>
                        <a:rPr lang="it-IT" sz="2000" dirty="0">
                          <a:latin typeface="Aptos" panose="020B0004020202020204" pitchFamily="34" charset="0"/>
                        </a:rPr>
                        <a:t>CONNECT</a:t>
                      </a:r>
                      <a:endParaRPr lang="en-GB" sz="2000" dirty="0">
                        <a:latin typeface="Aptos" panose="020B0004020202020204" pitchFamily="34" charset="0"/>
                      </a:endParaRPr>
                    </a:p>
                  </a:txBody>
                  <a:tcPr/>
                </a:tc>
                <a:tc>
                  <a:txBody>
                    <a:bodyPr/>
                    <a:lstStyle/>
                    <a:p>
                      <a:r>
                        <a:rPr lang="en-GB" sz="2000" b="0" i="0" u="none" strike="noStrike" kern="1200" baseline="0" dirty="0">
                          <a:solidFill>
                            <a:schemeClr val="dk1"/>
                          </a:solidFill>
                          <a:latin typeface="Aptos" panose="020B0004020202020204" pitchFamily="34" charset="0"/>
                          <a:ea typeface="+mn-ea"/>
                          <a:cs typeface="+mn-cs"/>
                        </a:rPr>
                        <a:t>Establish a connection with a waiting peer</a:t>
                      </a:r>
                      <a:endParaRPr lang="en-GB" sz="2000" dirty="0">
                        <a:latin typeface="Aptos" panose="020B0004020202020204" pitchFamily="34" charset="0"/>
                      </a:endParaRPr>
                    </a:p>
                  </a:txBody>
                  <a:tcPr/>
                </a:tc>
                <a:extLst>
                  <a:ext uri="{0D108BD9-81ED-4DB2-BD59-A6C34878D82A}">
                    <a16:rowId xmlns:a16="http://schemas.microsoft.com/office/drawing/2014/main" val="1754100155"/>
                  </a:ext>
                </a:extLst>
              </a:tr>
              <a:tr h="370840">
                <a:tc>
                  <a:txBody>
                    <a:bodyPr/>
                    <a:lstStyle/>
                    <a:p>
                      <a:r>
                        <a:rPr lang="it-IT" sz="2000" dirty="0">
                          <a:latin typeface="Aptos" panose="020B0004020202020204" pitchFamily="34" charset="0"/>
                        </a:rPr>
                        <a:t>ACCEPT</a:t>
                      </a:r>
                      <a:endParaRPr lang="en-GB" sz="2000" dirty="0">
                        <a:latin typeface="Aptos" panose="020B0004020202020204" pitchFamily="34" charset="0"/>
                      </a:endParaRPr>
                    </a:p>
                  </a:txBody>
                  <a:tcPr/>
                </a:tc>
                <a:tc>
                  <a:txBody>
                    <a:bodyPr/>
                    <a:lstStyle/>
                    <a:p>
                      <a:r>
                        <a:rPr lang="en-GB" sz="2000" b="0" i="0" u="none" strike="noStrike" kern="1200" baseline="0" dirty="0">
                          <a:solidFill>
                            <a:schemeClr val="dk1"/>
                          </a:solidFill>
                          <a:latin typeface="Aptos" panose="020B0004020202020204" pitchFamily="34" charset="0"/>
                          <a:ea typeface="+mn-ea"/>
                          <a:cs typeface="+mn-cs"/>
                        </a:rPr>
                        <a:t>Accept an incoming connection from a peer</a:t>
                      </a:r>
                      <a:endParaRPr lang="en-GB" sz="2000" dirty="0">
                        <a:latin typeface="Aptos" panose="020B0004020202020204" pitchFamily="34" charset="0"/>
                      </a:endParaRPr>
                    </a:p>
                  </a:txBody>
                  <a:tcPr/>
                </a:tc>
                <a:extLst>
                  <a:ext uri="{0D108BD9-81ED-4DB2-BD59-A6C34878D82A}">
                    <a16:rowId xmlns:a16="http://schemas.microsoft.com/office/drawing/2014/main" val="2331133742"/>
                  </a:ext>
                </a:extLst>
              </a:tr>
              <a:tr h="370840">
                <a:tc>
                  <a:txBody>
                    <a:bodyPr/>
                    <a:lstStyle/>
                    <a:p>
                      <a:r>
                        <a:rPr lang="it-IT" sz="2000" dirty="0">
                          <a:latin typeface="Aptos" panose="020B0004020202020204" pitchFamily="34" charset="0"/>
                        </a:rPr>
                        <a:t>RECEIVE</a:t>
                      </a:r>
                      <a:endParaRPr lang="en-GB" sz="2000" dirty="0">
                        <a:latin typeface="Aptos" panose="020B0004020202020204" pitchFamily="34" charset="0"/>
                      </a:endParaRPr>
                    </a:p>
                  </a:txBody>
                  <a:tcPr/>
                </a:tc>
                <a:tc>
                  <a:txBody>
                    <a:bodyPr/>
                    <a:lstStyle/>
                    <a:p>
                      <a:r>
                        <a:rPr lang="en-GB" sz="2000" b="0" i="0" u="none" strike="noStrike" kern="1200" baseline="0" dirty="0">
                          <a:solidFill>
                            <a:schemeClr val="dk1"/>
                          </a:solidFill>
                          <a:latin typeface="Aptos" panose="020B0004020202020204" pitchFamily="34" charset="0"/>
                          <a:ea typeface="+mn-ea"/>
                          <a:cs typeface="+mn-cs"/>
                        </a:rPr>
                        <a:t>Block waiting for an incoming message</a:t>
                      </a:r>
                      <a:endParaRPr lang="en-GB" sz="2000" dirty="0">
                        <a:latin typeface="Aptos" panose="020B0004020202020204" pitchFamily="34" charset="0"/>
                      </a:endParaRPr>
                    </a:p>
                  </a:txBody>
                  <a:tcPr/>
                </a:tc>
                <a:extLst>
                  <a:ext uri="{0D108BD9-81ED-4DB2-BD59-A6C34878D82A}">
                    <a16:rowId xmlns:a16="http://schemas.microsoft.com/office/drawing/2014/main" val="2213472570"/>
                  </a:ext>
                </a:extLst>
              </a:tr>
              <a:tr h="370840">
                <a:tc>
                  <a:txBody>
                    <a:bodyPr/>
                    <a:lstStyle/>
                    <a:p>
                      <a:r>
                        <a:rPr lang="it-IT" sz="2000" dirty="0">
                          <a:latin typeface="Aptos" panose="020B0004020202020204" pitchFamily="34" charset="0"/>
                        </a:rPr>
                        <a:t>SEND</a:t>
                      </a:r>
                      <a:endParaRPr lang="en-GB" sz="2000" dirty="0">
                        <a:latin typeface="Aptos" panose="020B0004020202020204" pitchFamily="34" charset="0"/>
                      </a:endParaRPr>
                    </a:p>
                  </a:txBody>
                  <a:tcPr/>
                </a:tc>
                <a:tc>
                  <a:txBody>
                    <a:bodyPr/>
                    <a:lstStyle/>
                    <a:p>
                      <a:r>
                        <a:rPr lang="en-GB" sz="2000" b="0" i="0" u="none" strike="noStrike" kern="1200" baseline="0" dirty="0">
                          <a:solidFill>
                            <a:schemeClr val="dk1"/>
                          </a:solidFill>
                          <a:latin typeface="Aptos" panose="020B0004020202020204" pitchFamily="34" charset="0"/>
                          <a:ea typeface="+mn-ea"/>
                          <a:cs typeface="+mn-cs"/>
                        </a:rPr>
                        <a:t>Send a message to the peer</a:t>
                      </a:r>
                      <a:endParaRPr lang="en-GB" sz="2000" dirty="0">
                        <a:latin typeface="Aptos" panose="020B0004020202020204" pitchFamily="34" charset="0"/>
                      </a:endParaRPr>
                    </a:p>
                  </a:txBody>
                  <a:tcPr/>
                </a:tc>
                <a:extLst>
                  <a:ext uri="{0D108BD9-81ED-4DB2-BD59-A6C34878D82A}">
                    <a16:rowId xmlns:a16="http://schemas.microsoft.com/office/drawing/2014/main" val="1594829731"/>
                  </a:ext>
                </a:extLst>
              </a:tr>
              <a:tr h="370840">
                <a:tc>
                  <a:txBody>
                    <a:bodyPr/>
                    <a:lstStyle/>
                    <a:p>
                      <a:r>
                        <a:rPr lang="it-IT" sz="2000" dirty="0">
                          <a:latin typeface="Aptos" panose="020B0004020202020204" pitchFamily="34" charset="0"/>
                        </a:rPr>
                        <a:t>DISCONNECT</a:t>
                      </a:r>
                      <a:endParaRPr lang="en-GB" sz="2000" dirty="0">
                        <a:latin typeface="Aptos" panose="020B0004020202020204" pitchFamily="34" charset="0"/>
                      </a:endParaRPr>
                    </a:p>
                  </a:txBody>
                  <a:tcPr/>
                </a:tc>
                <a:tc>
                  <a:txBody>
                    <a:bodyPr/>
                    <a:lstStyle/>
                    <a:p>
                      <a:r>
                        <a:rPr lang="en-GB" sz="2000" b="0" i="0" u="none" strike="noStrike" kern="1200" baseline="0" dirty="0">
                          <a:solidFill>
                            <a:schemeClr val="dk1"/>
                          </a:solidFill>
                          <a:latin typeface="Aptos" panose="020B0004020202020204" pitchFamily="34" charset="0"/>
                          <a:ea typeface="+mn-ea"/>
                          <a:cs typeface="+mn-cs"/>
                        </a:rPr>
                        <a:t>Terminate a connection</a:t>
                      </a:r>
                      <a:endParaRPr lang="en-GB" sz="2000" dirty="0">
                        <a:latin typeface="Aptos" panose="020B0004020202020204" pitchFamily="34" charset="0"/>
                      </a:endParaRPr>
                    </a:p>
                  </a:txBody>
                  <a:tcPr/>
                </a:tc>
                <a:extLst>
                  <a:ext uri="{0D108BD9-81ED-4DB2-BD59-A6C34878D82A}">
                    <a16:rowId xmlns:a16="http://schemas.microsoft.com/office/drawing/2014/main" val="2518255275"/>
                  </a:ext>
                </a:extLst>
              </a:tr>
            </a:tbl>
          </a:graphicData>
        </a:graphic>
      </p:graphicFrame>
      <p:sp>
        <p:nvSpPr>
          <p:cNvPr id="6" name="CasellaDiTesto 5"/>
          <p:cNvSpPr txBox="1"/>
          <p:nvPr/>
        </p:nvSpPr>
        <p:spPr>
          <a:xfrm>
            <a:off x="2326099" y="3316909"/>
            <a:ext cx="7572457" cy="400110"/>
          </a:xfrm>
          <a:prstGeom prst="rect">
            <a:avLst/>
          </a:prstGeom>
          <a:noFill/>
        </p:spPr>
        <p:txBody>
          <a:bodyPr wrap="square" rtlCol="0">
            <a:spAutoFit/>
          </a:bodyPr>
          <a:lstStyle/>
          <a:p>
            <a:pPr algn="ctr"/>
            <a:r>
              <a:rPr lang="en-US" sz="2000" dirty="0">
                <a:latin typeface="Aptos" panose="020B0004020202020204" pitchFamily="34" charset="0"/>
              </a:rPr>
              <a:t>Examples of primitives for a simple connection-oriented service</a:t>
            </a:r>
          </a:p>
        </p:txBody>
      </p:sp>
    </p:spTree>
    <p:extLst>
      <p:ext uri="{BB962C8B-B14F-4D97-AF65-F5344CB8AC3E}">
        <p14:creationId xmlns:p14="http://schemas.microsoft.com/office/powerpoint/2010/main" val="138986256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latin typeface="Aptos" panose="020B0004020202020204" pitchFamily="34" charset="0"/>
              </a:rPr>
              <a:t>Connection-</a:t>
            </a:r>
            <a:r>
              <a:rPr lang="it-IT" dirty="0" err="1">
                <a:latin typeface="Aptos" panose="020B0004020202020204" pitchFamily="34" charset="0"/>
              </a:rPr>
              <a:t>oriented</a:t>
            </a:r>
            <a:r>
              <a:rPr lang="it-IT" dirty="0">
                <a:latin typeface="Aptos" panose="020B0004020202020204" pitchFamily="34" charset="0"/>
              </a:rPr>
              <a:t> vs </a:t>
            </a:r>
            <a:r>
              <a:rPr lang="it-IT" dirty="0" err="1">
                <a:latin typeface="Aptos" panose="020B0004020202020204" pitchFamily="34" charset="0"/>
              </a:rPr>
              <a:t>connectionless</a:t>
            </a:r>
            <a:r>
              <a:rPr lang="it-IT" dirty="0">
                <a:latin typeface="Aptos" panose="020B0004020202020204" pitchFamily="34" charset="0"/>
              </a:rPr>
              <a:t> </a:t>
            </a:r>
            <a:r>
              <a:rPr lang="it-IT" dirty="0" err="1">
                <a:latin typeface="Aptos" panose="020B0004020202020204" pitchFamily="34" charset="0"/>
              </a:rPr>
              <a:t>services</a:t>
            </a:r>
            <a:endParaRPr lang="en-GB" dirty="0">
              <a:latin typeface="Aptos" panose="020B0004020202020204" pitchFamily="34" charset="0"/>
            </a:endParaRPr>
          </a:p>
        </p:txBody>
      </p:sp>
      <p:sp>
        <p:nvSpPr>
          <p:cNvPr id="3" name="Segnaposto contenuto 2"/>
          <p:cNvSpPr>
            <a:spLocks noGrp="1"/>
          </p:cNvSpPr>
          <p:nvPr>
            <p:ph idx="1"/>
          </p:nvPr>
        </p:nvSpPr>
        <p:spPr>
          <a:xfrm>
            <a:off x="428172" y="1361167"/>
            <a:ext cx="11502160" cy="4858203"/>
          </a:xfrm>
        </p:spPr>
        <p:txBody>
          <a:bodyPr>
            <a:normAutofit/>
          </a:bodyPr>
          <a:lstStyle/>
          <a:p>
            <a:pPr marL="0" indent="0">
              <a:buNone/>
            </a:pPr>
            <a:r>
              <a:rPr lang="en-GB" b="1" dirty="0">
                <a:latin typeface="Aptos" panose="020B0004020202020204" pitchFamily="34" charset="0"/>
              </a:rPr>
              <a:t>Two types of service</a:t>
            </a:r>
            <a:r>
              <a:rPr lang="en-GB" dirty="0">
                <a:latin typeface="Aptos" panose="020B0004020202020204" pitchFamily="34" charset="0"/>
              </a:rPr>
              <a:t>:</a:t>
            </a:r>
          </a:p>
          <a:p>
            <a:pPr marL="0" indent="0">
              <a:buNone/>
            </a:pPr>
            <a:endParaRPr lang="en-GB" dirty="0">
              <a:latin typeface="Aptos" panose="020B0004020202020204" pitchFamily="34" charset="0"/>
            </a:endParaRPr>
          </a:p>
          <a:p>
            <a:r>
              <a:rPr lang="en-GB" b="1" dirty="0">
                <a:latin typeface="Aptos" panose="020B0004020202020204" pitchFamily="34" charset="0"/>
              </a:rPr>
              <a:t>Connection-oriented service: </a:t>
            </a:r>
            <a:r>
              <a:rPr lang="en-GB" dirty="0">
                <a:latin typeface="Aptos" panose="020B0004020202020204" pitchFamily="34" charset="0"/>
              </a:rPr>
              <a:t>the service user first establishes a connection with the receiver, then it uses the connection to send data, and finally it releases the connection (like in a telephone communication).</a:t>
            </a:r>
          </a:p>
          <a:p>
            <a:pPr lvl="1"/>
            <a:r>
              <a:rPr lang="en-GB" dirty="0">
                <a:latin typeface="Aptos" panose="020B0004020202020204" pitchFamily="34" charset="0"/>
              </a:rPr>
              <a:t>In most cases the order of data bits is preserved </a:t>
            </a:r>
            <a:r>
              <a:rPr lang="en-GB" dirty="0">
                <a:latin typeface="Aptos" panose="020B0004020202020204" pitchFamily="34" charset="0"/>
                <a:sym typeface="Wingdings" panose="05000000000000000000" pitchFamily="2" charset="2"/>
              </a:rPr>
              <a:t></a:t>
            </a:r>
            <a:r>
              <a:rPr lang="en-GB" dirty="0">
                <a:latin typeface="Aptos" panose="020B0004020202020204" pitchFamily="34" charset="0"/>
              </a:rPr>
              <a:t> bits arrive in the same order they were sent.</a:t>
            </a:r>
          </a:p>
          <a:p>
            <a:pPr lvl="1"/>
            <a:endParaRPr lang="en-GB" dirty="0">
              <a:latin typeface="Aptos" panose="020B0004020202020204" pitchFamily="34" charset="0"/>
            </a:endParaRPr>
          </a:p>
          <a:p>
            <a:r>
              <a:rPr lang="en-GB" b="1" dirty="0">
                <a:latin typeface="Aptos" panose="020B0004020202020204" pitchFamily="34" charset="0"/>
              </a:rPr>
              <a:t>Connectionless</a:t>
            </a:r>
            <a:r>
              <a:rPr lang="en-GB" dirty="0">
                <a:latin typeface="Aptos" panose="020B0004020202020204" pitchFamily="34" charset="0"/>
              </a:rPr>
              <a:t> </a:t>
            </a:r>
            <a:r>
              <a:rPr lang="en-GB" b="1" dirty="0">
                <a:latin typeface="Aptos" panose="020B0004020202020204" pitchFamily="34" charset="0"/>
              </a:rPr>
              <a:t>service</a:t>
            </a:r>
            <a:r>
              <a:rPr lang="en-GB" dirty="0">
                <a:latin typeface="Aptos" panose="020B0004020202020204" pitchFamily="34" charset="0"/>
              </a:rPr>
              <a:t>: each message carries the full destination address and each one is sent independently on the subsequent messages (like in postal system). </a:t>
            </a:r>
          </a:p>
          <a:p>
            <a:pPr lvl="1"/>
            <a:r>
              <a:rPr lang="en-GB" dirty="0">
                <a:latin typeface="Aptos" panose="020B0004020202020204" pitchFamily="34" charset="0"/>
              </a:rPr>
              <a:t>Normally, when two messages are sent to the same destination, the first one sent will be the first one to arrive. However, it is possible that the first one sent can be delayed so that the second one arrives first.</a:t>
            </a:r>
          </a:p>
          <a:p>
            <a:pPr lvl="1"/>
            <a:r>
              <a:rPr lang="it-IT" dirty="0">
                <a:latin typeface="Aptos" panose="020B0004020202020204" pitchFamily="34" charset="0"/>
              </a:rPr>
              <a:t>The </a:t>
            </a:r>
            <a:r>
              <a:rPr lang="it-IT" dirty="0" err="1">
                <a:latin typeface="Aptos" panose="020B0004020202020204" pitchFamily="34" charset="0"/>
              </a:rPr>
              <a:t>messages</a:t>
            </a:r>
            <a:r>
              <a:rPr lang="it-IT" dirty="0">
                <a:latin typeface="Aptos" panose="020B0004020202020204" pitchFamily="34" charset="0"/>
              </a:rPr>
              <a:t> in a </a:t>
            </a:r>
            <a:r>
              <a:rPr lang="it-IT" dirty="0" err="1">
                <a:latin typeface="Aptos" panose="020B0004020202020204" pitchFamily="34" charset="0"/>
              </a:rPr>
              <a:t>connectionless</a:t>
            </a:r>
            <a:r>
              <a:rPr lang="it-IT" dirty="0">
                <a:latin typeface="Aptos" panose="020B0004020202020204" pitchFamily="34" charset="0"/>
              </a:rPr>
              <a:t> service are </a:t>
            </a:r>
            <a:r>
              <a:rPr lang="it-IT" dirty="0" err="1">
                <a:latin typeface="Aptos" panose="020B0004020202020204" pitchFamily="34" charset="0"/>
              </a:rPr>
              <a:t>also</a:t>
            </a:r>
            <a:r>
              <a:rPr lang="it-IT" dirty="0">
                <a:latin typeface="Aptos" panose="020B0004020202020204" pitchFamily="34" charset="0"/>
              </a:rPr>
              <a:t> </a:t>
            </a:r>
            <a:r>
              <a:rPr lang="it-IT" dirty="0" err="1">
                <a:latin typeface="Aptos" panose="020B0004020202020204" pitchFamily="34" charset="0"/>
              </a:rPr>
              <a:t>called</a:t>
            </a:r>
            <a:r>
              <a:rPr lang="it-IT" dirty="0">
                <a:latin typeface="Aptos" panose="020B0004020202020204" pitchFamily="34" charset="0"/>
              </a:rPr>
              <a:t> </a:t>
            </a:r>
            <a:r>
              <a:rPr lang="it-IT" b="1" dirty="0" err="1">
                <a:latin typeface="Aptos" panose="020B0004020202020204" pitchFamily="34" charset="0"/>
              </a:rPr>
              <a:t>datagram</a:t>
            </a:r>
            <a:r>
              <a:rPr lang="it-IT" dirty="0">
                <a:latin typeface="Aptos" panose="020B0004020202020204" pitchFamily="34" charset="0"/>
              </a:rPr>
              <a:t>.</a:t>
            </a:r>
            <a:endParaRPr lang="en-GB" dirty="0">
              <a:latin typeface="Aptos" panose="020B0004020202020204" pitchFamily="34" charset="0"/>
            </a:endParaRPr>
          </a:p>
        </p:txBody>
      </p:sp>
      <p:sp>
        <p:nvSpPr>
          <p:cNvPr id="4" name="Segnaposto numero diapositiva 3"/>
          <p:cNvSpPr>
            <a:spLocks noGrp="1"/>
          </p:cNvSpPr>
          <p:nvPr>
            <p:ph type="sldNum" sz="quarter" idx="12"/>
          </p:nvPr>
        </p:nvSpPr>
        <p:spPr/>
        <p:txBody>
          <a:bodyPr/>
          <a:lstStyle/>
          <a:p>
            <a:fld id="{31DE2C5B-556E-47B8-A792-024C2FCA4ACC}" type="slidenum">
              <a:rPr lang="en-GB" smtClean="0">
                <a:latin typeface="Aptos" panose="020B0004020202020204" pitchFamily="34" charset="0"/>
              </a:rPr>
              <a:t>9</a:t>
            </a:fld>
            <a:endParaRPr lang="en-GB">
              <a:latin typeface="Aptos" panose="020B0004020202020204" pitchFamily="34" charset="0"/>
            </a:endParaRPr>
          </a:p>
        </p:txBody>
      </p:sp>
    </p:spTree>
    <p:extLst>
      <p:ext uri="{BB962C8B-B14F-4D97-AF65-F5344CB8AC3E}">
        <p14:creationId xmlns:p14="http://schemas.microsoft.com/office/powerpoint/2010/main" val="28970124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magine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653466" y="3429000"/>
            <a:ext cx="6085380" cy="3111322"/>
          </a:xfrm>
          <a:prstGeom prst="rect">
            <a:avLst/>
          </a:prstGeom>
        </p:spPr>
      </p:pic>
      <p:sp>
        <p:nvSpPr>
          <p:cNvPr id="2" name="Titolo 1"/>
          <p:cNvSpPr>
            <a:spLocks noGrp="1"/>
          </p:cNvSpPr>
          <p:nvPr>
            <p:ph type="title"/>
          </p:nvPr>
        </p:nvSpPr>
        <p:spPr/>
        <p:txBody>
          <a:bodyPr/>
          <a:lstStyle/>
          <a:p>
            <a:r>
              <a:rPr lang="it-IT" dirty="0" err="1">
                <a:latin typeface="Aptos" panose="020B0004020202020204" pitchFamily="34" charset="0"/>
              </a:rPr>
              <a:t>Reliable</a:t>
            </a:r>
            <a:r>
              <a:rPr lang="it-IT" dirty="0">
                <a:latin typeface="Aptos" panose="020B0004020202020204" pitchFamily="34" charset="0"/>
              </a:rPr>
              <a:t> vs. </a:t>
            </a:r>
            <a:r>
              <a:rPr lang="it-IT" dirty="0" err="1">
                <a:latin typeface="Aptos" panose="020B0004020202020204" pitchFamily="34" charset="0"/>
              </a:rPr>
              <a:t>unrealiable</a:t>
            </a:r>
            <a:r>
              <a:rPr lang="it-IT" dirty="0">
                <a:latin typeface="Aptos" panose="020B0004020202020204" pitchFamily="34" charset="0"/>
              </a:rPr>
              <a:t> </a:t>
            </a:r>
            <a:r>
              <a:rPr lang="it-IT" dirty="0" err="1">
                <a:latin typeface="Aptos" panose="020B0004020202020204" pitchFamily="34" charset="0"/>
              </a:rPr>
              <a:t>services</a:t>
            </a:r>
            <a:endParaRPr lang="en-GB" dirty="0">
              <a:latin typeface="Aptos" panose="020B0004020202020204" pitchFamily="34" charset="0"/>
            </a:endParaRPr>
          </a:p>
        </p:txBody>
      </p:sp>
      <p:sp>
        <p:nvSpPr>
          <p:cNvPr id="3" name="Segnaposto contenuto 2"/>
          <p:cNvSpPr>
            <a:spLocks noGrp="1"/>
          </p:cNvSpPr>
          <p:nvPr>
            <p:ph idx="1"/>
          </p:nvPr>
        </p:nvSpPr>
        <p:spPr>
          <a:xfrm>
            <a:off x="428172" y="1202739"/>
            <a:ext cx="11495028" cy="4858203"/>
          </a:xfrm>
        </p:spPr>
        <p:txBody>
          <a:bodyPr/>
          <a:lstStyle/>
          <a:p>
            <a:r>
              <a:rPr lang="it-IT" sz="2200" dirty="0">
                <a:latin typeface="Aptos" panose="020B0004020202020204" pitchFamily="34" charset="0"/>
              </a:rPr>
              <a:t>A </a:t>
            </a:r>
            <a:r>
              <a:rPr lang="it-IT" sz="2200" b="1" dirty="0" err="1">
                <a:latin typeface="Aptos" panose="020B0004020202020204" pitchFamily="34" charset="0"/>
              </a:rPr>
              <a:t>reliable</a:t>
            </a:r>
            <a:r>
              <a:rPr lang="it-IT" sz="2200" dirty="0">
                <a:latin typeface="Aptos" panose="020B0004020202020204" pitchFamily="34" charset="0"/>
              </a:rPr>
              <a:t> service </a:t>
            </a:r>
            <a:r>
              <a:rPr lang="it-IT" sz="2200" dirty="0" err="1">
                <a:latin typeface="Aptos" panose="020B0004020202020204" pitchFamily="34" charset="0"/>
              </a:rPr>
              <a:t>never</a:t>
            </a:r>
            <a:r>
              <a:rPr lang="it-IT" sz="2200" dirty="0">
                <a:latin typeface="Aptos" panose="020B0004020202020204" pitchFamily="34" charset="0"/>
              </a:rPr>
              <a:t> </a:t>
            </a:r>
            <a:r>
              <a:rPr lang="it-IT" sz="2200" dirty="0" err="1">
                <a:latin typeface="Aptos" panose="020B0004020202020204" pitchFamily="34" charset="0"/>
              </a:rPr>
              <a:t>looses</a:t>
            </a:r>
            <a:r>
              <a:rPr lang="it-IT" sz="2200" dirty="0">
                <a:latin typeface="Aptos" panose="020B0004020202020204" pitchFamily="34" charset="0"/>
              </a:rPr>
              <a:t> data: </a:t>
            </a:r>
            <a:r>
              <a:rPr lang="en-GB" sz="2200" dirty="0">
                <a:latin typeface="Aptos" panose="020B0004020202020204" pitchFamily="34" charset="0"/>
              </a:rPr>
              <a:t>the receiver acknowledges the receipt of each message so the sender is sure that it arrived. </a:t>
            </a:r>
          </a:p>
          <a:p>
            <a:r>
              <a:rPr lang="en-GB" sz="2200" dirty="0">
                <a:latin typeface="Aptos" panose="020B0004020202020204" pitchFamily="34" charset="0"/>
              </a:rPr>
              <a:t>The acknowledgement process introduces overhead and delays, sometimes undesirable.</a:t>
            </a:r>
          </a:p>
          <a:p>
            <a:pPr lvl="1"/>
            <a:r>
              <a:rPr lang="en-GB" dirty="0">
                <a:latin typeface="Aptos" panose="020B0004020202020204" pitchFamily="34" charset="0"/>
              </a:rPr>
              <a:t>E.g. in a telephone communication it is less disruptive to hear a bit of noise on the line from time to time than to experience a delay waiting for acknowledgements.</a:t>
            </a:r>
          </a:p>
          <a:p>
            <a:r>
              <a:rPr lang="it-IT" sz="2200" dirty="0">
                <a:latin typeface="Aptos" panose="020B0004020202020204" pitchFamily="34" charset="0"/>
              </a:rPr>
              <a:t>An </a:t>
            </a:r>
            <a:r>
              <a:rPr lang="it-IT" sz="2200" b="1" dirty="0" err="1">
                <a:latin typeface="Aptos" panose="020B0004020202020204" pitchFamily="34" charset="0"/>
              </a:rPr>
              <a:t>unreliable</a:t>
            </a:r>
            <a:r>
              <a:rPr lang="it-IT" sz="2200" dirty="0">
                <a:latin typeface="Aptos" panose="020B0004020202020204" pitchFamily="34" charset="0"/>
              </a:rPr>
              <a:t> service </a:t>
            </a:r>
            <a:r>
              <a:rPr lang="it-IT" sz="2200" dirty="0" err="1">
                <a:latin typeface="Aptos" panose="020B0004020202020204" pitchFamily="34" charset="0"/>
              </a:rPr>
              <a:t>does</a:t>
            </a:r>
            <a:r>
              <a:rPr lang="it-IT" sz="2200" dirty="0">
                <a:latin typeface="Aptos" panose="020B0004020202020204" pitchFamily="34" charset="0"/>
              </a:rPr>
              <a:t> </a:t>
            </a:r>
            <a:r>
              <a:rPr lang="it-IT" sz="2200" dirty="0" err="1">
                <a:latin typeface="Aptos" panose="020B0004020202020204" pitchFamily="34" charset="0"/>
              </a:rPr>
              <a:t>not</a:t>
            </a:r>
            <a:r>
              <a:rPr lang="it-IT" sz="2200" dirty="0">
                <a:latin typeface="Aptos" panose="020B0004020202020204" pitchFamily="34" charset="0"/>
              </a:rPr>
              <a:t> </a:t>
            </a:r>
            <a:r>
              <a:rPr lang="it-IT" sz="2200" dirty="0" err="1">
                <a:latin typeface="Aptos" panose="020B0004020202020204" pitchFamily="34" charset="0"/>
              </a:rPr>
              <a:t>return</a:t>
            </a:r>
            <a:r>
              <a:rPr lang="it-IT" sz="2200" dirty="0">
                <a:latin typeface="Aptos" panose="020B0004020202020204" pitchFamily="34" charset="0"/>
              </a:rPr>
              <a:t> an </a:t>
            </a:r>
            <a:r>
              <a:rPr lang="en-GB" sz="2200" dirty="0">
                <a:latin typeface="Aptos" panose="020B0004020202020204" pitchFamily="34" charset="0"/>
              </a:rPr>
              <a:t>acknowledgement to the sender</a:t>
            </a:r>
          </a:p>
        </p:txBody>
      </p:sp>
      <p:sp>
        <p:nvSpPr>
          <p:cNvPr id="4" name="Segnaposto numero diapositiva 3"/>
          <p:cNvSpPr>
            <a:spLocks noGrp="1"/>
          </p:cNvSpPr>
          <p:nvPr>
            <p:ph type="sldNum" sz="quarter" idx="12"/>
          </p:nvPr>
        </p:nvSpPr>
        <p:spPr/>
        <p:txBody>
          <a:bodyPr/>
          <a:lstStyle/>
          <a:p>
            <a:fld id="{31DE2C5B-556E-47B8-A792-024C2FCA4ACC}" type="slidenum">
              <a:rPr lang="en-GB" smtClean="0">
                <a:latin typeface="Aptos" panose="020B0004020202020204" pitchFamily="34" charset="0"/>
              </a:rPr>
              <a:t>10</a:t>
            </a:fld>
            <a:endParaRPr lang="en-GB">
              <a:latin typeface="Aptos" panose="020B0004020202020204" pitchFamily="34" charset="0"/>
            </a:endParaRPr>
          </a:p>
        </p:txBody>
      </p:sp>
    </p:spTree>
    <p:extLst>
      <p:ext uri="{BB962C8B-B14F-4D97-AF65-F5344CB8AC3E}">
        <p14:creationId xmlns:p14="http://schemas.microsoft.com/office/powerpoint/2010/main" val="6081182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en-GB" dirty="0">
                <a:latin typeface="Aptos" panose="020B0004020202020204" pitchFamily="34" charset="0"/>
              </a:rPr>
              <a:t>Protocol vs. service</a:t>
            </a:r>
          </a:p>
        </p:txBody>
      </p:sp>
      <p:sp>
        <p:nvSpPr>
          <p:cNvPr id="3" name="Segnaposto contenuto 2"/>
          <p:cNvSpPr>
            <a:spLocks noGrp="1"/>
          </p:cNvSpPr>
          <p:nvPr>
            <p:ph idx="1"/>
          </p:nvPr>
        </p:nvSpPr>
        <p:spPr/>
        <p:txBody>
          <a:bodyPr>
            <a:normAutofit/>
          </a:bodyPr>
          <a:lstStyle/>
          <a:p>
            <a:r>
              <a:rPr lang="it-IT" b="1" dirty="0" err="1">
                <a:latin typeface="Aptos" panose="020B0004020202020204" pitchFamily="34" charset="0"/>
              </a:rPr>
              <a:t>Protocol</a:t>
            </a:r>
            <a:r>
              <a:rPr lang="it-IT" dirty="0">
                <a:latin typeface="Aptos" panose="020B0004020202020204" pitchFamily="34" charset="0"/>
              </a:rPr>
              <a:t>: </a:t>
            </a:r>
            <a:r>
              <a:rPr lang="en-GB" dirty="0">
                <a:latin typeface="Aptos" panose="020B0004020202020204" pitchFamily="34" charset="0"/>
              </a:rPr>
              <a:t>The set of rules governing the format and meaning of the packets, or messages that are exchanged by the </a:t>
            </a:r>
            <a:r>
              <a:rPr lang="en-GB" u="sng" dirty="0">
                <a:latin typeface="Aptos" panose="020B0004020202020204" pitchFamily="34" charset="0"/>
              </a:rPr>
              <a:t>peer entities within a layer</a:t>
            </a:r>
            <a:r>
              <a:rPr lang="en-GB" dirty="0">
                <a:latin typeface="Aptos" panose="020B0004020202020204" pitchFamily="34" charset="0"/>
              </a:rPr>
              <a:t>.</a:t>
            </a:r>
          </a:p>
          <a:p>
            <a:r>
              <a:rPr lang="en-GB" b="1" dirty="0">
                <a:latin typeface="Aptos" panose="020B0004020202020204" pitchFamily="34" charset="0"/>
              </a:rPr>
              <a:t>Service:</a:t>
            </a:r>
            <a:r>
              <a:rPr lang="en-GB" i="1" dirty="0">
                <a:latin typeface="Aptos" panose="020B0004020202020204" pitchFamily="34" charset="0"/>
              </a:rPr>
              <a:t> </a:t>
            </a:r>
            <a:r>
              <a:rPr lang="en-GB" dirty="0">
                <a:latin typeface="Aptos" panose="020B0004020202020204" pitchFamily="34" charset="0"/>
              </a:rPr>
              <a:t>the set of primitives (operations) that a layer provides to the layer above it. They are related to the </a:t>
            </a:r>
            <a:r>
              <a:rPr lang="en-GB" u="sng" dirty="0">
                <a:latin typeface="Aptos" panose="020B0004020202020204" pitchFamily="34" charset="0"/>
              </a:rPr>
              <a:t>interfaces between layers</a:t>
            </a:r>
            <a:r>
              <a:rPr lang="en-GB" dirty="0">
                <a:latin typeface="Aptos" panose="020B0004020202020204" pitchFamily="34" charset="0"/>
              </a:rPr>
              <a:t>. </a:t>
            </a:r>
          </a:p>
          <a:p>
            <a:r>
              <a:rPr lang="en-GB" dirty="0">
                <a:latin typeface="Aptos" panose="020B0004020202020204" pitchFamily="34" charset="0"/>
              </a:rPr>
              <a:t>The protocol of layer k defines the implementation details of services which layer k provides to users of layer k+1; such details are not visible to users of layer k+1. </a:t>
            </a:r>
          </a:p>
        </p:txBody>
      </p:sp>
      <p:sp>
        <p:nvSpPr>
          <p:cNvPr id="4" name="Segnaposto numero diapositiva 3"/>
          <p:cNvSpPr>
            <a:spLocks noGrp="1"/>
          </p:cNvSpPr>
          <p:nvPr>
            <p:ph type="sldNum" sz="quarter" idx="12"/>
          </p:nvPr>
        </p:nvSpPr>
        <p:spPr/>
        <p:txBody>
          <a:bodyPr/>
          <a:lstStyle/>
          <a:p>
            <a:fld id="{31DE2C5B-556E-47B8-A792-024C2FCA4ACC}" type="slidenum">
              <a:rPr lang="en-GB" smtClean="0">
                <a:latin typeface="Aptos" panose="020B0004020202020204" pitchFamily="34" charset="0"/>
              </a:rPr>
              <a:t>11</a:t>
            </a:fld>
            <a:endParaRPr lang="en-GB">
              <a:latin typeface="Aptos" panose="020B0004020202020204" pitchFamily="34" charset="0"/>
            </a:endParaRPr>
          </a:p>
        </p:txBody>
      </p:sp>
      <p:pic>
        <p:nvPicPr>
          <p:cNvPr id="5" name="Immagine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938044" y="3790268"/>
            <a:ext cx="6348570" cy="2883600"/>
          </a:xfrm>
          <a:prstGeom prst="rect">
            <a:avLst/>
          </a:prstGeom>
        </p:spPr>
      </p:pic>
    </p:spTree>
    <p:extLst>
      <p:ext uri="{BB962C8B-B14F-4D97-AF65-F5344CB8AC3E}">
        <p14:creationId xmlns:p14="http://schemas.microsoft.com/office/powerpoint/2010/main" val="308295478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normAutofit/>
          </a:bodyPr>
          <a:lstStyle/>
          <a:p>
            <a:r>
              <a:rPr lang="it-IT" dirty="0">
                <a:latin typeface="Aptos" panose="020B0004020202020204" pitchFamily="34" charset="0"/>
              </a:rPr>
              <a:t>The TCP/IP </a:t>
            </a:r>
            <a:r>
              <a:rPr lang="it-IT" dirty="0" err="1">
                <a:latin typeface="Aptos" panose="020B0004020202020204" pitchFamily="34" charset="0"/>
              </a:rPr>
              <a:t>reference</a:t>
            </a:r>
            <a:r>
              <a:rPr lang="it-IT" dirty="0">
                <a:latin typeface="Aptos" panose="020B0004020202020204" pitchFamily="34" charset="0"/>
              </a:rPr>
              <a:t> model</a:t>
            </a:r>
            <a:endParaRPr lang="en-GB" dirty="0">
              <a:latin typeface="Aptos" panose="020B0004020202020204" pitchFamily="34" charset="0"/>
            </a:endParaRPr>
          </a:p>
        </p:txBody>
      </p:sp>
      <p:sp>
        <p:nvSpPr>
          <p:cNvPr id="3" name="Segnaposto contenuto 2"/>
          <p:cNvSpPr>
            <a:spLocks noGrp="1"/>
          </p:cNvSpPr>
          <p:nvPr>
            <p:ph idx="1"/>
          </p:nvPr>
        </p:nvSpPr>
        <p:spPr>
          <a:xfrm>
            <a:off x="3955473" y="2057152"/>
            <a:ext cx="7896431" cy="2802030"/>
          </a:xfrm>
        </p:spPr>
        <p:txBody>
          <a:bodyPr>
            <a:normAutofit/>
          </a:bodyPr>
          <a:lstStyle/>
          <a:p>
            <a:r>
              <a:rPr lang="en-GB" b="1" dirty="0">
                <a:latin typeface="Aptos" panose="020B0004020202020204" pitchFamily="34" charset="0"/>
              </a:rPr>
              <a:t>Worldwide Internet</a:t>
            </a:r>
            <a:r>
              <a:rPr lang="en-GB" dirty="0">
                <a:latin typeface="Aptos" panose="020B0004020202020204" pitchFamily="34" charset="0"/>
              </a:rPr>
              <a:t>: the global system of interconnected computer networks that uses the Internet protocol suite (TCP/IP) to communicate between networks and devices.</a:t>
            </a:r>
            <a:endParaRPr lang="it-IT" dirty="0">
              <a:latin typeface="Aptos" panose="020B0004020202020204" pitchFamily="34" charset="0"/>
            </a:endParaRPr>
          </a:p>
          <a:p>
            <a:r>
              <a:rPr lang="it-IT" dirty="0">
                <a:latin typeface="Aptos" panose="020B0004020202020204" pitchFamily="34" charset="0"/>
              </a:rPr>
              <a:t>The </a:t>
            </a:r>
            <a:r>
              <a:rPr lang="it-IT" dirty="0" err="1">
                <a:latin typeface="Aptos" panose="020B0004020202020204" pitchFamily="34" charset="0"/>
              </a:rPr>
              <a:t>reference</a:t>
            </a:r>
            <a:r>
              <a:rPr lang="it-IT" dirty="0">
                <a:latin typeface="Aptos" panose="020B0004020202020204" pitchFamily="34" charset="0"/>
              </a:rPr>
              <a:t> model </a:t>
            </a:r>
            <a:r>
              <a:rPr lang="it-IT" dirty="0" err="1">
                <a:latin typeface="Aptos" panose="020B0004020202020204" pitchFamily="34" charset="0"/>
              </a:rPr>
              <a:t>used</a:t>
            </a:r>
            <a:r>
              <a:rPr lang="it-IT" dirty="0">
                <a:latin typeface="Aptos" panose="020B0004020202020204" pitchFamily="34" charset="0"/>
              </a:rPr>
              <a:t> by the </a:t>
            </a:r>
            <a:r>
              <a:rPr lang="it-IT" dirty="0" err="1">
                <a:latin typeface="Aptos" panose="020B0004020202020204" pitchFamily="34" charset="0"/>
              </a:rPr>
              <a:t>worldwide</a:t>
            </a:r>
            <a:r>
              <a:rPr lang="it-IT" dirty="0">
                <a:latin typeface="Aptos" panose="020B0004020202020204" pitchFamily="34" charset="0"/>
              </a:rPr>
              <a:t> Internet </a:t>
            </a:r>
            <a:r>
              <a:rPr lang="it-IT" dirty="0" err="1">
                <a:latin typeface="Aptos" panose="020B0004020202020204" pitchFamily="34" charset="0"/>
              </a:rPr>
              <a:t>is</a:t>
            </a:r>
            <a:r>
              <a:rPr lang="it-IT" dirty="0">
                <a:latin typeface="Aptos" panose="020B0004020202020204" pitchFamily="34" charset="0"/>
              </a:rPr>
              <a:t> </a:t>
            </a:r>
            <a:r>
              <a:rPr lang="it-IT" dirty="0" err="1">
                <a:latin typeface="Aptos" panose="020B0004020202020204" pitchFamily="34" charset="0"/>
              </a:rPr>
              <a:t>called</a:t>
            </a:r>
            <a:r>
              <a:rPr lang="it-IT" dirty="0">
                <a:latin typeface="Aptos" panose="020B0004020202020204" pitchFamily="34" charset="0"/>
              </a:rPr>
              <a:t> </a:t>
            </a:r>
            <a:r>
              <a:rPr lang="it-IT" b="1" dirty="0">
                <a:latin typeface="Aptos" panose="020B0004020202020204" pitchFamily="34" charset="0"/>
              </a:rPr>
              <a:t>TCP/IP </a:t>
            </a:r>
            <a:r>
              <a:rPr lang="it-IT" b="1" dirty="0" err="1">
                <a:latin typeface="Aptos" panose="020B0004020202020204" pitchFamily="34" charset="0"/>
              </a:rPr>
              <a:t>reference</a:t>
            </a:r>
            <a:r>
              <a:rPr lang="it-IT" b="1" dirty="0">
                <a:latin typeface="Aptos" panose="020B0004020202020204" pitchFamily="34" charset="0"/>
              </a:rPr>
              <a:t> model </a:t>
            </a:r>
            <a:r>
              <a:rPr lang="it-IT" dirty="0">
                <a:latin typeface="Aptos" panose="020B0004020202020204" pitchFamily="34" charset="0"/>
              </a:rPr>
              <a:t>and </a:t>
            </a:r>
            <a:r>
              <a:rPr lang="it-IT" dirty="0" err="1">
                <a:latin typeface="Aptos" panose="020B0004020202020204" pitchFamily="34" charset="0"/>
              </a:rPr>
              <a:t>it</a:t>
            </a:r>
            <a:r>
              <a:rPr lang="it-IT" dirty="0">
                <a:latin typeface="Aptos" panose="020B0004020202020204" pitchFamily="34" charset="0"/>
              </a:rPr>
              <a:t> </a:t>
            </a:r>
            <a:r>
              <a:rPr lang="it-IT" dirty="0" err="1">
                <a:latin typeface="Aptos" panose="020B0004020202020204" pitchFamily="34" charset="0"/>
              </a:rPr>
              <a:t>was</a:t>
            </a:r>
            <a:r>
              <a:rPr lang="it-IT" dirty="0">
                <a:latin typeface="Aptos" panose="020B0004020202020204" pitchFamily="34" charset="0"/>
              </a:rPr>
              <a:t> </a:t>
            </a:r>
            <a:r>
              <a:rPr lang="it-IT" dirty="0" err="1">
                <a:latin typeface="Aptos" panose="020B0004020202020204" pitchFamily="34" charset="0"/>
              </a:rPr>
              <a:t>introduced</a:t>
            </a:r>
            <a:r>
              <a:rPr lang="it-IT" dirty="0">
                <a:latin typeface="Aptos" panose="020B0004020202020204" pitchFamily="34" charset="0"/>
              </a:rPr>
              <a:t> by </a:t>
            </a:r>
            <a:r>
              <a:rPr lang="en-GB" dirty="0">
                <a:latin typeface="Aptos" panose="020B0004020202020204" pitchFamily="34" charset="0"/>
              </a:rPr>
              <a:t>Cerf and Kahn in 1974.</a:t>
            </a:r>
          </a:p>
        </p:txBody>
      </p:sp>
      <p:sp>
        <p:nvSpPr>
          <p:cNvPr id="4" name="Segnaposto numero diapositiva 3"/>
          <p:cNvSpPr>
            <a:spLocks noGrp="1"/>
          </p:cNvSpPr>
          <p:nvPr>
            <p:ph type="sldNum" sz="quarter" idx="12"/>
          </p:nvPr>
        </p:nvSpPr>
        <p:spPr/>
        <p:txBody>
          <a:bodyPr/>
          <a:lstStyle/>
          <a:p>
            <a:fld id="{31DE2C5B-556E-47B8-A792-024C2FCA4ACC}" type="slidenum">
              <a:rPr lang="en-GB" smtClean="0">
                <a:latin typeface="Aptos" panose="020B0004020202020204" pitchFamily="34" charset="0"/>
              </a:rPr>
              <a:t>12</a:t>
            </a:fld>
            <a:endParaRPr lang="en-GB">
              <a:latin typeface="Aptos" panose="020B0004020202020204" pitchFamily="34" charset="0"/>
            </a:endParaRPr>
          </a:p>
        </p:txBody>
      </p:sp>
      <p:sp>
        <p:nvSpPr>
          <p:cNvPr id="5" name="Rettangolo arrotondato 4"/>
          <p:cNvSpPr/>
          <p:nvPr/>
        </p:nvSpPr>
        <p:spPr>
          <a:xfrm>
            <a:off x="525294" y="4279104"/>
            <a:ext cx="2780533" cy="691200"/>
          </a:xfrm>
          <a:prstGeom prst="round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it-IT" sz="2400" dirty="0">
                <a:solidFill>
                  <a:sysClr val="windowText" lastClr="000000"/>
                </a:solidFill>
                <a:latin typeface="Aptos" panose="020B0004020202020204" pitchFamily="34" charset="0"/>
              </a:rPr>
              <a:t>Link </a:t>
            </a:r>
            <a:r>
              <a:rPr lang="it-IT" sz="2400" dirty="0" err="1">
                <a:solidFill>
                  <a:sysClr val="windowText" lastClr="000000"/>
                </a:solidFill>
                <a:latin typeface="Aptos" panose="020B0004020202020204" pitchFamily="34" charset="0"/>
              </a:rPr>
              <a:t>layer</a:t>
            </a:r>
            <a:endParaRPr lang="en-GB" sz="2400" dirty="0">
              <a:solidFill>
                <a:sysClr val="windowText" lastClr="000000"/>
              </a:solidFill>
              <a:latin typeface="Aptos" panose="020B0004020202020204" pitchFamily="34" charset="0"/>
            </a:endParaRPr>
          </a:p>
        </p:txBody>
      </p:sp>
      <p:sp>
        <p:nvSpPr>
          <p:cNvPr id="6" name="Rettangolo arrotondato 5"/>
          <p:cNvSpPr/>
          <p:nvPr/>
        </p:nvSpPr>
        <p:spPr>
          <a:xfrm>
            <a:off x="525294" y="3385201"/>
            <a:ext cx="2758933" cy="691200"/>
          </a:xfrm>
          <a:prstGeom prst="round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it-IT" sz="2400" dirty="0">
                <a:solidFill>
                  <a:sysClr val="windowText" lastClr="000000"/>
                </a:solidFill>
                <a:latin typeface="Aptos" panose="020B0004020202020204" pitchFamily="34" charset="0"/>
              </a:rPr>
              <a:t>Network </a:t>
            </a:r>
            <a:r>
              <a:rPr lang="it-IT" sz="2400" dirty="0" err="1">
                <a:solidFill>
                  <a:sysClr val="windowText" lastClr="000000"/>
                </a:solidFill>
                <a:latin typeface="Aptos" panose="020B0004020202020204" pitchFamily="34" charset="0"/>
              </a:rPr>
              <a:t>layer</a:t>
            </a:r>
            <a:endParaRPr lang="en-GB" sz="2400" dirty="0">
              <a:solidFill>
                <a:sysClr val="windowText" lastClr="000000"/>
              </a:solidFill>
              <a:latin typeface="Aptos" panose="020B0004020202020204" pitchFamily="34" charset="0"/>
            </a:endParaRPr>
          </a:p>
        </p:txBody>
      </p:sp>
      <p:sp>
        <p:nvSpPr>
          <p:cNvPr id="7" name="Rettangolo arrotondato 6"/>
          <p:cNvSpPr/>
          <p:nvPr/>
        </p:nvSpPr>
        <p:spPr>
          <a:xfrm>
            <a:off x="525294" y="2480196"/>
            <a:ext cx="2766133" cy="691200"/>
          </a:xfrm>
          <a:prstGeom prst="round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it-IT" sz="2400" dirty="0" err="1">
                <a:solidFill>
                  <a:sysClr val="windowText" lastClr="000000"/>
                </a:solidFill>
                <a:latin typeface="Aptos" panose="020B0004020202020204" pitchFamily="34" charset="0"/>
              </a:rPr>
              <a:t>Transport</a:t>
            </a:r>
            <a:r>
              <a:rPr lang="it-IT" sz="2400" dirty="0">
                <a:solidFill>
                  <a:sysClr val="windowText" lastClr="000000"/>
                </a:solidFill>
                <a:latin typeface="Aptos" panose="020B0004020202020204" pitchFamily="34" charset="0"/>
              </a:rPr>
              <a:t> </a:t>
            </a:r>
            <a:r>
              <a:rPr lang="it-IT" sz="2400" dirty="0" err="1">
                <a:solidFill>
                  <a:sysClr val="windowText" lastClr="000000"/>
                </a:solidFill>
                <a:latin typeface="Aptos" panose="020B0004020202020204" pitchFamily="34" charset="0"/>
              </a:rPr>
              <a:t>layer</a:t>
            </a:r>
            <a:endParaRPr lang="en-GB" sz="2400" dirty="0">
              <a:solidFill>
                <a:sysClr val="windowText" lastClr="000000"/>
              </a:solidFill>
              <a:latin typeface="Aptos" panose="020B0004020202020204" pitchFamily="34" charset="0"/>
            </a:endParaRPr>
          </a:p>
        </p:txBody>
      </p:sp>
      <p:sp>
        <p:nvSpPr>
          <p:cNvPr id="8" name="Rettangolo arrotondato 7"/>
          <p:cNvSpPr/>
          <p:nvPr/>
        </p:nvSpPr>
        <p:spPr>
          <a:xfrm>
            <a:off x="525294" y="1574365"/>
            <a:ext cx="2766133" cy="691200"/>
          </a:xfrm>
          <a:prstGeom prst="round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it-IT" sz="2400" dirty="0">
                <a:solidFill>
                  <a:sysClr val="windowText" lastClr="000000"/>
                </a:solidFill>
                <a:latin typeface="Aptos" panose="020B0004020202020204" pitchFamily="34" charset="0"/>
              </a:rPr>
              <a:t>Application </a:t>
            </a:r>
            <a:r>
              <a:rPr lang="it-IT" sz="2400" dirty="0" err="1">
                <a:solidFill>
                  <a:sysClr val="windowText" lastClr="000000"/>
                </a:solidFill>
                <a:latin typeface="Aptos" panose="020B0004020202020204" pitchFamily="34" charset="0"/>
              </a:rPr>
              <a:t>layer</a:t>
            </a:r>
            <a:endParaRPr lang="en-GB" sz="2400" dirty="0">
              <a:solidFill>
                <a:sysClr val="windowText" lastClr="000000"/>
              </a:solidFill>
              <a:latin typeface="Aptos" panose="020B0004020202020204" pitchFamily="34" charset="0"/>
            </a:endParaRPr>
          </a:p>
        </p:txBody>
      </p:sp>
      <p:sp>
        <p:nvSpPr>
          <p:cNvPr id="13" name="Rettangolo arrotondato 12"/>
          <p:cNvSpPr/>
          <p:nvPr/>
        </p:nvSpPr>
        <p:spPr>
          <a:xfrm>
            <a:off x="525294" y="5173007"/>
            <a:ext cx="2766133" cy="691200"/>
          </a:xfrm>
          <a:prstGeom prst="round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it-IT" sz="2400" dirty="0" err="1">
                <a:solidFill>
                  <a:sysClr val="windowText" lastClr="000000"/>
                </a:solidFill>
                <a:latin typeface="Aptos" panose="020B0004020202020204" pitchFamily="34" charset="0"/>
              </a:rPr>
              <a:t>Physical</a:t>
            </a:r>
            <a:r>
              <a:rPr lang="it-IT" sz="2400" dirty="0">
                <a:solidFill>
                  <a:sysClr val="windowText" lastClr="000000"/>
                </a:solidFill>
                <a:latin typeface="Aptos" panose="020B0004020202020204" pitchFamily="34" charset="0"/>
              </a:rPr>
              <a:t> </a:t>
            </a:r>
            <a:r>
              <a:rPr lang="it-IT" sz="2400" dirty="0" err="1">
                <a:solidFill>
                  <a:sysClr val="windowText" lastClr="000000"/>
                </a:solidFill>
                <a:latin typeface="Aptos" panose="020B0004020202020204" pitchFamily="34" charset="0"/>
              </a:rPr>
              <a:t>layer</a:t>
            </a:r>
            <a:endParaRPr lang="en-GB" sz="2400" dirty="0">
              <a:solidFill>
                <a:sysClr val="windowText" lastClr="000000"/>
              </a:solidFill>
              <a:latin typeface="Aptos" panose="020B0004020202020204" pitchFamily="34" charset="0"/>
            </a:endParaRPr>
          </a:p>
        </p:txBody>
      </p:sp>
    </p:spTree>
    <p:extLst>
      <p:ext uri="{BB962C8B-B14F-4D97-AF65-F5344CB8AC3E}">
        <p14:creationId xmlns:p14="http://schemas.microsoft.com/office/powerpoint/2010/main" val="374756607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normAutofit/>
          </a:bodyPr>
          <a:lstStyle/>
          <a:p>
            <a:r>
              <a:rPr lang="it-IT" dirty="0">
                <a:latin typeface="Aptos" panose="020B0004020202020204" pitchFamily="34" charset="0"/>
              </a:rPr>
              <a:t>The TCP/IP </a:t>
            </a:r>
            <a:r>
              <a:rPr lang="it-IT" dirty="0" err="1">
                <a:latin typeface="Aptos" panose="020B0004020202020204" pitchFamily="34" charset="0"/>
              </a:rPr>
              <a:t>reference</a:t>
            </a:r>
            <a:r>
              <a:rPr lang="it-IT" dirty="0">
                <a:latin typeface="Aptos" panose="020B0004020202020204" pitchFamily="34" charset="0"/>
              </a:rPr>
              <a:t> model</a:t>
            </a:r>
            <a:endParaRPr lang="en-GB" dirty="0">
              <a:latin typeface="Aptos" panose="020B0004020202020204" pitchFamily="34" charset="0"/>
            </a:endParaRPr>
          </a:p>
        </p:txBody>
      </p:sp>
      <p:sp>
        <p:nvSpPr>
          <p:cNvPr id="4" name="Segnaposto numero diapositiva 3"/>
          <p:cNvSpPr>
            <a:spLocks noGrp="1"/>
          </p:cNvSpPr>
          <p:nvPr>
            <p:ph type="sldNum" sz="quarter" idx="12"/>
          </p:nvPr>
        </p:nvSpPr>
        <p:spPr/>
        <p:txBody>
          <a:bodyPr/>
          <a:lstStyle/>
          <a:p>
            <a:fld id="{31DE2C5B-556E-47B8-A792-024C2FCA4ACC}" type="slidenum">
              <a:rPr lang="en-GB" smtClean="0">
                <a:latin typeface="Aptos" panose="020B0004020202020204" pitchFamily="34" charset="0"/>
              </a:rPr>
              <a:t>13</a:t>
            </a:fld>
            <a:endParaRPr lang="en-GB">
              <a:latin typeface="Aptos" panose="020B0004020202020204" pitchFamily="34" charset="0"/>
            </a:endParaRPr>
          </a:p>
        </p:txBody>
      </p:sp>
      <p:sp>
        <p:nvSpPr>
          <p:cNvPr id="10" name="Rettangolo arrotondato 9"/>
          <p:cNvSpPr/>
          <p:nvPr/>
        </p:nvSpPr>
        <p:spPr>
          <a:xfrm>
            <a:off x="4495799" y="1574365"/>
            <a:ext cx="6830291" cy="2588926"/>
          </a:xfrm>
          <a:prstGeom prst="roundRect">
            <a:avLst/>
          </a:prstGeom>
          <a:ln w="38100">
            <a:solidFill>
              <a:srgbClr val="00B050"/>
            </a:solidFill>
          </a:ln>
        </p:spPr>
        <p:style>
          <a:lnRef idx="2">
            <a:schemeClr val="accent6"/>
          </a:lnRef>
          <a:fillRef idx="1">
            <a:schemeClr val="lt1"/>
          </a:fillRef>
          <a:effectRef idx="0">
            <a:schemeClr val="accent6"/>
          </a:effectRef>
          <a:fontRef idx="minor">
            <a:schemeClr val="dk1"/>
          </a:fontRef>
        </p:style>
        <p:txBody>
          <a:bodyPr rtlCol="0" anchor="ctr"/>
          <a:lstStyle/>
          <a:p>
            <a:pPr marL="285750" indent="-285750">
              <a:buClr>
                <a:srgbClr val="00B050"/>
              </a:buClr>
              <a:buFont typeface="Wingdings" panose="05000000000000000000" pitchFamily="2" charset="2"/>
              <a:buChar char="Ø"/>
            </a:pPr>
            <a:r>
              <a:rPr lang="en-GB" sz="2400" dirty="0">
                <a:solidFill>
                  <a:schemeClr val="tx1"/>
                </a:solidFill>
                <a:latin typeface="Aptos" panose="020B0004020202020204" pitchFamily="34" charset="0"/>
              </a:rPr>
              <a:t>It includes the protocols used by applications running on different hosts to communicate</a:t>
            </a:r>
            <a:endParaRPr lang="en-GB" sz="2400" dirty="0">
              <a:latin typeface="Aptos" panose="020B0004020202020204" pitchFamily="34" charset="0"/>
            </a:endParaRPr>
          </a:p>
          <a:p>
            <a:pPr marL="285750" indent="-285750">
              <a:buClr>
                <a:srgbClr val="00B050"/>
              </a:buClr>
              <a:buFont typeface="Wingdings" panose="05000000000000000000" pitchFamily="2" charset="2"/>
              <a:buChar char="Ø"/>
            </a:pPr>
            <a:r>
              <a:rPr lang="it-IT" sz="2400" dirty="0" err="1">
                <a:latin typeface="Aptos" panose="020B0004020202020204" pitchFamily="34" charset="0"/>
              </a:rPr>
              <a:t>Example</a:t>
            </a:r>
            <a:r>
              <a:rPr lang="it-IT" sz="2400" dirty="0">
                <a:latin typeface="Aptos" panose="020B0004020202020204" pitchFamily="34" charset="0"/>
              </a:rPr>
              <a:t>: A Web browser can </a:t>
            </a:r>
            <a:r>
              <a:rPr lang="it-IT" sz="2400" dirty="0" err="1">
                <a:latin typeface="Aptos" panose="020B0004020202020204" pitchFamily="34" charset="0"/>
              </a:rPr>
              <a:t>send</a:t>
            </a:r>
            <a:r>
              <a:rPr lang="it-IT" sz="2400" dirty="0">
                <a:latin typeface="Aptos" panose="020B0004020202020204" pitchFamily="34" charset="0"/>
              </a:rPr>
              <a:t> </a:t>
            </a:r>
            <a:r>
              <a:rPr lang="it-IT" sz="2400" dirty="0" err="1">
                <a:latin typeface="Aptos" panose="020B0004020202020204" pitchFamily="34" charset="0"/>
              </a:rPr>
              <a:t>requests</a:t>
            </a:r>
            <a:r>
              <a:rPr lang="it-IT" sz="2400" dirty="0">
                <a:latin typeface="Aptos" panose="020B0004020202020204" pitchFamily="34" charset="0"/>
              </a:rPr>
              <a:t> to a Web server </a:t>
            </a:r>
            <a:r>
              <a:rPr lang="it-IT" sz="2400" dirty="0" err="1">
                <a:latin typeface="Aptos" panose="020B0004020202020204" pitchFamily="34" charset="0"/>
              </a:rPr>
              <a:t>using</a:t>
            </a:r>
            <a:r>
              <a:rPr lang="it-IT" sz="2400" dirty="0">
                <a:latin typeface="Aptos" panose="020B0004020202020204" pitchFamily="34" charset="0"/>
              </a:rPr>
              <a:t> the </a:t>
            </a:r>
            <a:r>
              <a:rPr lang="it-IT" sz="2400" b="1" dirty="0">
                <a:latin typeface="Aptos" panose="020B0004020202020204" pitchFamily="34" charset="0"/>
              </a:rPr>
              <a:t>HTTP </a:t>
            </a:r>
            <a:r>
              <a:rPr lang="it-IT" sz="2400" b="1" dirty="0" err="1">
                <a:latin typeface="Aptos" panose="020B0004020202020204" pitchFamily="34" charset="0"/>
              </a:rPr>
              <a:t>protocol</a:t>
            </a:r>
            <a:r>
              <a:rPr lang="it-IT" sz="2400" dirty="0">
                <a:latin typeface="Aptos" panose="020B0004020202020204" pitchFamily="34" charset="0"/>
              </a:rPr>
              <a:t>, </a:t>
            </a:r>
            <a:r>
              <a:rPr lang="it-IT" sz="2400" dirty="0" err="1">
                <a:latin typeface="Aptos" panose="020B0004020202020204" pitchFamily="34" charset="0"/>
              </a:rPr>
              <a:t>which</a:t>
            </a:r>
            <a:r>
              <a:rPr lang="it-IT" sz="2400" dirty="0">
                <a:latin typeface="Aptos" panose="020B0004020202020204" pitchFamily="34" charset="0"/>
              </a:rPr>
              <a:t> </a:t>
            </a:r>
            <a:r>
              <a:rPr lang="it-IT" sz="2400" dirty="0" err="1">
                <a:latin typeface="Aptos" panose="020B0004020202020204" pitchFamily="34" charset="0"/>
              </a:rPr>
              <a:t>is</a:t>
            </a:r>
            <a:r>
              <a:rPr lang="it-IT" sz="2400" dirty="0">
                <a:latin typeface="Aptos" panose="020B0004020202020204" pitchFamily="34" charset="0"/>
              </a:rPr>
              <a:t> a </a:t>
            </a:r>
            <a:r>
              <a:rPr lang="it-IT" sz="2400" dirty="0" err="1">
                <a:latin typeface="Aptos" panose="020B0004020202020204" pitchFamily="34" charset="0"/>
              </a:rPr>
              <a:t>protocol</a:t>
            </a:r>
            <a:r>
              <a:rPr lang="it-IT" sz="2400" dirty="0">
                <a:latin typeface="Aptos" panose="020B0004020202020204" pitchFamily="34" charset="0"/>
              </a:rPr>
              <a:t> of the </a:t>
            </a:r>
            <a:r>
              <a:rPr lang="it-IT" sz="2400" dirty="0" err="1">
                <a:latin typeface="Aptos" panose="020B0004020202020204" pitchFamily="34" charset="0"/>
              </a:rPr>
              <a:t>application</a:t>
            </a:r>
            <a:r>
              <a:rPr lang="it-IT" sz="2400" dirty="0">
                <a:latin typeface="Aptos" panose="020B0004020202020204" pitchFamily="34" charset="0"/>
              </a:rPr>
              <a:t> </a:t>
            </a:r>
            <a:r>
              <a:rPr lang="it-IT" sz="2400" dirty="0" err="1">
                <a:latin typeface="Aptos" panose="020B0004020202020204" pitchFamily="34" charset="0"/>
              </a:rPr>
              <a:t>layer</a:t>
            </a:r>
            <a:endParaRPr lang="en-GB" sz="2400" dirty="0">
              <a:latin typeface="Aptos" panose="020B0004020202020204" pitchFamily="34" charset="0"/>
            </a:endParaRPr>
          </a:p>
        </p:txBody>
      </p:sp>
      <p:cxnSp>
        <p:nvCxnSpPr>
          <p:cNvPr id="14" name="Connettore 2 13"/>
          <p:cNvCxnSpPr/>
          <p:nvPr/>
        </p:nvCxnSpPr>
        <p:spPr>
          <a:xfrm>
            <a:off x="3373582" y="1919965"/>
            <a:ext cx="1011382" cy="0"/>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Rettangolo arrotondato 15"/>
          <p:cNvSpPr/>
          <p:nvPr/>
        </p:nvSpPr>
        <p:spPr>
          <a:xfrm>
            <a:off x="525294" y="4279104"/>
            <a:ext cx="2780533" cy="691200"/>
          </a:xfrm>
          <a:prstGeom prst="round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it-IT" sz="2400" dirty="0">
                <a:solidFill>
                  <a:sysClr val="windowText" lastClr="000000"/>
                </a:solidFill>
                <a:latin typeface="Aptos" panose="020B0004020202020204" pitchFamily="34" charset="0"/>
              </a:rPr>
              <a:t>Link </a:t>
            </a:r>
            <a:r>
              <a:rPr lang="it-IT" sz="2400" dirty="0" err="1">
                <a:solidFill>
                  <a:sysClr val="windowText" lastClr="000000"/>
                </a:solidFill>
                <a:latin typeface="Aptos" panose="020B0004020202020204" pitchFamily="34" charset="0"/>
              </a:rPr>
              <a:t>layer</a:t>
            </a:r>
            <a:endParaRPr lang="en-GB" sz="2400" dirty="0">
              <a:solidFill>
                <a:sysClr val="windowText" lastClr="000000"/>
              </a:solidFill>
              <a:latin typeface="Aptos" panose="020B0004020202020204" pitchFamily="34" charset="0"/>
            </a:endParaRPr>
          </a:p>
        </p:txBody>
      </p:sp>
      <p:sp>
        <p:nvSpPr>
          <p:cNvPr id="17" name="Rettangolo arrotondato 16"/>
          <p:cNvSpPr/>
          <p:nvPr/>
        </p:nvSpPr>
        <p:spPr>
          <a:xfrm>
            <a:off x="525294" y="3385201"/>
            <a:ext cx="2758933" cy="691200"/>
          </a:xfrm>
          <a:prstGeom prst="round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it-IT" sz="2400" dirty="0">
                <a:solidFill>
                  <a:sysClr val="windowText" lastClr="000000"/>
                </a:solidFill>
                <a:latin typeface="Aptos" panose="020B0004020202020204" pitchFamily="34" charset="0"/>
              </a:rPr>
              <a:t>Network </a:t>
            </a:r>
            <a:r>
              <a:rPr lang="it-IT" sz="2400" dirty="0" err="1">
                <a:solidFill>
                  <a:sysClr val="windowText" lastClr="000000"/>
                </a:solidFill>
                <a:latin typeface="Aptos" panose="020B0004020202020204" pitchFamily="34" charset="0"/>
              </a:rPr>
              <a:t>layer</a:t>
            </a:r>
            <a:endParaRPr lang="en-GB" sz="2400" dirty="0">
              <a:solidFill>
                <a:sysClr val="windowText" lastClr="000000"/>
              </a:solidFill>
              <a:latin typeface="Aptos" panose="020B0004020202020204" pitchFamily="34" charset="0"/>
            </a:endParaRPr>
          </a:p>
        </p:txBody>
      </p:sp>
      <p:sp>
        <p:nvSpPr>
          <p:cNvPr id="18" name="Rettangolo arrotondato 17"/>
          <p:cNvSpPr/>
          <p:nvPr/>
        </p:nvSpPr>
        <p:spPr>
          <a:xfrm>
            <a:off x="525294" y="2480196"/>
            <a:ext cx="2766133" cy="691200"/>
          </a:xfrm>
          <a:prstGeom prst="round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it-IT" sz="2400" dirty="0" err="1">
                <a:solidFill>
                  <a:sysClr val="windowText" lastClr="000000"/>
                </a:solidFill>
                <a:latin typeface="Aptos" panose="020B0004020202020204" pitchFamily="34" charset="0"/>
              </a:rPr>
              <a:t>Transport</a:t>
            </a:r>
            <a:r>
              <a:rPr lang="it-IT" sz="2400" dirty="0">
                <a:solidFill>
                  <a:sysClr val="windowText" lastClr="000000"/>
                </a:solidFill>
                <a:latin typeface="Aptos" panose="020B0004020202020204" pitchFamily="34" charset="0"/>
              </a:rPr>
              <a:t> </a:t>
            </a:r>
            <a:r>
              <a:rPr lang="it-IT" sz="2400" dirty="0" err="1">
                <a:solidFill>
                  <a:sysClr val="windowText" lastClr="000000"/>
                </a:solidFill>
                <a:latin typeface="Aptos" panose="020B0004020202020204" pitchFamily="34" charset="0"/>
              </a:rPr>
              <a:t>layer</a:t>
            </a:r>
            <a:endParaRPr lang="en-GB" sz="2400" dirty="0">
              <a:solidFill>
                <a:sysClr val="windowText" lastClr="000000"/>
              </a:solidFill>
              <a:latin typeface="Aptos" panose="020B0004020202020204" pitchFamily="34" charset="0"/>
            </a:endParaRPr>
          </a:p>
        </p:txBody>
      </p:sp>
      <p:sp>
        <p:nvSpPr>
          <p:cNvPr id="19" name="Rettangolo arrotondato 18"/>
          <p:cNvSpPr/>
          <p:nvPr/>
        </p:nvSpPr>
        <p:spPr>
          <a:xfrm>
            <a:off x="525294" y="1574365"/>
            <a:ext cx="2766133" cy="691200"/>
          </a:xfrm>
          <a:prstGeom prst="round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it-IT" sz="2400" b="1" dirty="0">
                <a:solidFill>
                  <a:sysClr val="windowText" lastClr="000000"/>
                </a:solidFill>
                <a:latin typeface="Aptos" panose="020B0004020202020204" pitchFamily="34" charset="0"/>
              </a:rPr>
              <a:t>Application </a:t>
            </a:r>
            <a:r>
              <a:rPr lang="it-IT" sz="2400" b="1" dirty="0" err="1">
                <a:solidFill>
                  <a:sysClr val="windowText" lastClr="000000"/>
                </a:solidFill>
                <a:latin typeface="Aptos" panose="020B0004020202020204" pitchFamily="34" charset="0"/>
              </a:rPr>
              <a:t>layer</a:t>
            </a:r>
            <a:endParaRPr lang="en-GB" sz="2400" b="1" dirty="0">
              <a:solidFill>
                <a:sysClr val="windowText" lastClr="000000"/>
              </a:solidFill>
              <a:latin typeface="Aptos" panose="020B0004020202020204" pitchFamily="34" charset="0"/>
            </a:endParaRPr>
          </a:p>
        </p:txBody>
      </p:sp>
      <p:sp>
        <p:nvSpPr>
          <p:cNvPr id="20" name="Rettangolo arrotondato 19"/>
          <p:cNvSpPr/>
          <p:nvPr/>
        </p:nvSpPr>
        <p:spPr>
          <a:xfrm>
            <a:off x="525294" y="5173007"/>
            <a:ext cx="2766133" cy="691200"/>
          </a:xfrm>
          <a:prstGeom prst="round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it-IT" sz="2400" dirty="0" err="1">
                <a:solidFill>
                  <a:sysClr val="windowText" lastClr="000000"/>
                </a:solidFill>
                <a:latin typeface="Aptos" panose="020B0004020202020204" pitchFamily="34" charset="0"/>
              </a:rPr>
              <a:t>Physical</a:t>
            </a:r>
            <a:r>
              <a:rPr lang="it-IT" sz="2400" dirty="0">
                <a:solidFill>
                  <a:sysClr val="windowText" lastClr="000000"/>
                </a:solidFill>
                <a:latin typeface="Aptos" panose="020B0004020202020204" pitchFamily="34" charset="0"/>
              </a:rPr>
              <a:t> </a:t>
            </a:r>
            <a:r>
              <a:rPr lang="it-IT" sz="2400" dirty="0" err="1">
                <a:solidFill>
                  <a:sysClr val="windowText" lastClr="000000"/>
                </a:solidFill>
                <a:latin typeface="Aptos" panose="020B0004020202020204" pitchFamily="34" charset="0"/>
              </a:rPr>
              <a:t>layer</a:t>
            </a:r>
            <a:endParaRPr lang="en-GB" sz="2400" dirty="0">
              <a:solidFill>
                <a:sysClr val="windowText" lastClr="000000"/>
              </a:solidFill>
              <a:latin typeface="Aptos" panose="020B0004020202020204" pitchFamily="34" charset="0"/>
            </a:endParaRPr>
          </a:p>
        </p:txBody>
      </p:sp>
    </p:spTree>
    <p:extLst>
      <p:ext uri="{BB962C8B-B14F-4D97-AF65-F5344CB8AC3E}">
        <p14:creationId xmlns:p14="http://schemas.microsoft.com/office/powerpoint/2010/main" val="271189879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ttangolo arrotondato 2"/>
          <p:cNvSpPr/>
          <p:nvPr/>
        </p:nvSpPr>
        <p:spPr>
          <a:xfrm>
            <a:off x="6984460" y="5760699"/>
            <a:ext cx="2879388" cy="778213"/>
          </a:xfrm>
          <a:prstGeom prst="roundRec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Aptos" panose="020B0004020202020204" pitchFamily="34" charset="0"/>
            </a:endParaRPr>
          </a:p>
        </p:txBody>
      </p:sp>
      <p:sp>
        <p:nvSpPr>
          <p:cNvPr id="2" name="Titolo 1"/>
          <p:cNvSpPr>
            <a:spLocks noGrp="1"/>
          </p:cNvSpPr>
          <p:nvPr>
            <p:ph type="title"/>
          </p:nvPr>
        </p:nvSpPr>
        <p:spPr/>
        <p:txBody>
          <a:bodyPr>
            <a:normAutofit/>
          </a:bodyPr>
          <a:lstStyle/>
          <a:p>
            <a:r>
              <a:rPr lang="it-IT" dirty="0">
                <a:latin typeface="Aptos" panose="020B0004020202020204" pitchFamily="34" charset="0"/>
              </a:rPr>
              <a:t>The TCP/IP </a:t>
            </a:r>
            <a:r>
              <a:rPr lang="it-IT" dirty="0" err="1">
                <a:latin typeface="Aptos" panose="020B0004020202020204" pitchFamily="34" charset="0"/>
              </a:rPr>
              <a:t>reference</a:t>
            </a:r>
            <a:r>
              <a:rPr lang="it-IT" dirty="0">
                <a:latin typeface="Aptos" panose="020B0004020202020204" pitchFamily="34" charset="0"/>
              </a:rPr>
              <a:t> model</a:t>
            </a:r>
            <a:endParaRPr lang="en-GB" dirty="0">
              <a:latin typeface="Aptos" panose="020B0004020202020204" pitchFamily="34" charset="0"/>
            </a:endParaRPr>
          </a:p>
        </p:txBody>
      </p:sp>
      <p:sp>
        <p:nvSpPr>
          <p:cNvPr id="4" name="Segnaposto numero diapositiva 3"/>
          <p:cNvSpPr>
            <a:spLocks noGrp="1"/>
          </p:cNvSpPr>
          <p:nvPr>
            <p:ph type="sldNum" sz="quarter" idx="12"/>
          </p:nvPr>
        </p:nvSpPr>
        <p:spPr/>
        <p:txBody>
          <a:bodyPr/>
          <a:lstStyle/>
          <a:p>
            <a:fld id="{31DE2C5B-556E-47B8-A792-024C2FCA4ACC}" type="slidenum">
              <a:rPr lang="en-GB" smtClean="0">
                <a:latin typeface="Aptos" panose="020B0004020202020204" pitchFamily="34" charset="0"/>
              </a:rPr>
              <a:t>14</a:t>
            </a:fld>
            <a:endParaRPr lang="en-GB">
              <a:latin typeface="Aptos" panose="020B0004020202020204" pitchFamily="34" charset="0"/>
            </a:endParaRPr>
          </a:p>
        </p:txBody>
      </p:sp>
      <p:sp>
        <p:nvSpPr>
          <p:cNvPr id="10" name="Rettangolo arrotondato 9"/>
          <p:cNvSpPr/>
          <p:nvPr/>
        </p:nvSpPr>
        <p:spPr>
          <a:xfrm>
            <a:off x="4494827" y="1265361"/>
            <a:ext cx="6830291" cy="4289842"/>
          </a:xfrm>
          <a:prstGeom prst="roundRect">
            <a:avLst/>
          </a:prstGeom>
          <a:ln w="38100">
            <a:solidFill>
              <a:srgbClr val="00B050"/>
            </a:solidFill>
          </a:ln>
        </p:spPr>
        <p:style>
          <a:lnRef idx="2">
            <a:schemeClr val="accent6"/>
          </a:lnRef>
          <a:fillRef idx="1">
            <a:schemeClr val="lt1"/>
          </a:fillRef>
          <a:effectRef idx="0">
            <a:schemeClr val="accent6"/>
          </a:effectRef>
          <a:fontRef idx="minor">
            <a:schemeClr val="dk1"/>
          </a:fontRef>
        </p:style>
        <p:txBody>
          <a:bodyPr rtlCol="0" anchor="ctr"/>
          <a:lstStyle/>
          <a:p>
            <a:pPr marL="285750" indent="-285750">
              <a:buClr>
                <a:srgbClr val="00B050"/>
              </a:buClr>
              <a:buFont typeface="Wingdings" panose="05000000000000000000" pitchFamily="2" charset="2"/>
              <a:buChar char="Ø"/>
            </a:pPr>
            <a:r>
              <a:rPr lang="en-GB" sz="2400" dirty="0">
                <a:solidFill>
                  <a:schemeClr val="tx1"/>
                </a:solidFill>
                <a:latin typeface="Aptos" panose="020B0004020202020204" pitchFamily="34" charset="0"/>
              </a:rPr>
              <a:t>It creates and maintain conversations between applications on two hosts</a:t>
            </a:r>
            <a:endParaRPr lang="en-GB" sz="2400" dirty="0">
              <a:latin typeface="Aptos" panose="020B0004020202020204" pitchFamily="34" charset="0"/>
            </a:endParaRPr>
          </a:p>
          <a:p>
            <a:pPr marL="285750" indent="-285750">
              <a:buClr>
                <a:srgbClr val="00B050"/>
              </a:buClr>
              <a:buFont typeface="Wingdings" panose="05000000000000000000" pitchFamily="2" charset="2"/>
              <a:buChar char="Ø"/>
            </a:pPr>
            <a:r>
              <a:rPr lang="it-IT" sz="2400" dirty="0" err="1">
                <a:latin typeface="Aptos" panose="020B0004020202020204" pitchFamily="34" charset="0"/>
              </a:rPr>
              <a:t>Two</a:t>
            </a:r>
            <a:r>
              <a:rPr lang="it-IT" sz="2400" dirty="0">
                <a:latin typeface="Aptos" panose="020B0004020202020204" pitchFamily="34" charset="0"/>
              </a:rPr>
              <a:t> </a:t>
            </a:r>
            <a:r>
              <a:rPr lang="it-IT" sz="2400" dirty="0" err="1">
                <a:latin typeface="Aptos" panose="020B0004020202020204" pitchFamily="34" charset="0"/>
              </a:rPr>
              <a:t>transport</a:t>
            </a:r>
            <a:r>
              <a:rPr lang="it-IT" sz="2400" dirty="0">
                <a:latin typeface="Aptos" panose="020B0004020202020204" pitchFamily="34" charset="0"/>
              </a:rPr>
              <a:t> </a:t>
            </a:r>
            <a:r>
              <a:rPr lang="it-IT" sz="2400" dirty="0" err="1">
                <a:latin typeface="Aptos" panose="020B0004020202020204" pitchFamily="34" charset="0"/>
              </a:rPr>
              <a:t>protocols</a:t>
            </a:r>
            <a:r>
              <a:rPr lang="it-IT" sz="2400" dirty="0">
                <a:latin typeface="Aptos" panose="020B0004020202020204" pitchFamily="34" charset="0"/>
              </a:rPr>
              <a:t> </a:t>
            </a:r>
            <a:r>
              <a:rPr lang="it-IT" sz="2400" dirty="0" err="1">
                <a:latin typeface="Aptos" panose="020B0004020202020204" pitchFamily="34" charset="0"/>
              </a:rPr>
              <a:t>have</a:t>
            </a:r>
            <a:r>
              <a:rPr lang="it-IT" sz="2400" dirty="0">
                <a:latin typeface="Aptos" panose="020B0004020202020204" pitchFamily="34" charset="0"/>
              </a:rPr>
              <a:t> </a:t>
            </a:r>
            <a:r>
              <a:rPr lang="it-IT" sz="2400" dirty="0" err="1">
                <a:latin typeface="Aptos" panose="020B0004020202020204" pitchFamily="34" charset="0"/>
              </a:rPr>
              <a:t>been</a:t>
            </a:r>
            <a:r>
              <a:rPr lang="it-IT" sz="2400" dirty="0">
                <a:latin typeface="Aptos" panose="020B0004020202020204" pitchFamily="34" charset="0"/>
              </a:rPr>
              <a:t> </a:t>
            </a:r>
            <a:r>
              <a:rPr lang="it-IT" sz="2400" dirty="0" err="1">
                <a:latin typeface="Aptos" panose="020B0004020202020204" pitchFamily="34" charset="0"/>
              </a:rPr>
              <a:t>defined</a:t>
            </a:r>
            <a:r>
              <a:rPr lang="it-IT" sz="2400" dirty="0">
                <a:latin typeface="Aptos" panose="020B0004020202020204" pitchFamily="34" charset="0"/>
              </a:rPr>
              <a:t>: </a:t>
            </a:r>
          </a:p>
          <a:p>
            <a:pPr marL="742950" lvl="1" indent="-285750">
              <a:buClr>
                <a:srgbClr val="00B050"/>
              </a:buClr>
              <a:buFont typeface="Wingdings" panose="05000000000000000000" pitchFamily="2" charset="2"/>
              <a:buChar char="Ø"/>
            </a:pPr>
            <a:r>
              <a:rPr lang="it-IT" sz="2200" b="1" dirty="0" err="1">
                <a:latin typeface="Aptos" panose="020B0004020202020204" pitchFamily="34" charset="0"/>
              </a:rPr>
              <a:t>Transmission</a:t>
            </a:r>
            <a:r>
              <a:rPr lang="it-IT" sz="2200" b="1" dirty="0">
                <a:latin typeface="Aptos" panose="020B0004020202020204" pitchFamily="34" charset="0"/>
              </a:rPr>
              <a:t> control </a:t>
            </a:r>
            <a:r>
              <a:rPr lang="it-IT" sz="2200" b="1" dirty="0" err="1">
                <a:latin typeface="Aptos" panose="020B0004020202020204" pitchFamily="34" charset="0"/>
              </a:rPr>
              <a:t>protocol</a:t>
            </a:r>
            <a:r>
              <a:rPr lang="it-IT" sz="2200" b="1" dirty="0">
                <a:latin typeface="Aptos" panose="020B0004020202020204" pitchFamily="34" charset="0"/>
              </a:rPr>
              <a:t> (TCP)</a:t>
            </a:r>
            <a:r>
              <a:rPr lang="it-IT" sz="2200" dirty="0">
                <a:latin typeface="Aptos" panose="020B0004020202020204" pitchFamily="34" charset="0"/>
              </a:rPr>
              <a:t>: </a:t>
            </a:r>
            <a:r>
              <a:rPr lang="en-GB" sz="2200" dirty="0">
                <a:latin typeface="Aptos" panose="020B0004020202020204" pitchFamily="34" charset="0"/>
              </a:rPr>
              <a:t>a reliable connection-oriented protocol that allows a byte stream delivery without </a:t>
            </a:r>
            <a:r>
              <a:rPr lang="en-GB" sz="2200" dirty="0">
                <a:solidFill>
                  <a:srgbClr val="FF0000"/>
                </a:solidFill>
                <a:latin typeface="Aptos" panose="020B0004020202020204" pitchFamily="34" charset="0"/>
              </a:rPr>
              <a:t>errors.</a:t>
            </a:r>
            <a:r>
              <a:rPr lang="it-IT" sz="2200" dirty="0">
                <a:latin typeface="Aptos" panose="020B0004020202020204" pitchFamily="34" charset="0"/>
              </a:rPr>
              <a:t> </a:t>
            </a:r>
          </a:p>
          <a:p>
            <a:pPr marL="742950" lvl="1" indent="-285750">
              <a:buClr>
                <a:srgbClr val="00B050"/>
              </a:buClr>
              <a:buFont typeface="Wingdings" panose="05000000000000000000" pitchFamily="2" charset="2"/>
              <a:buChar char="Ø"/>
            </a:pPr>
            <a:r>
              <a:rPr lang="en-GB" sz="2200" b="1" dirty="0">
                <a:latin typeface="Aptos" panose="020B0004020202020204" pitchFamily="34" charset="0"/>
              </a:rPr>
              <a:t>User Datagram Protocol (UDP)</a:t>
            </a:r>
            <a:r>
              <a:rPr lang="en-GB" sz="2200" dirty="0">
                <a:latin typeface="Aptos" panose="020B0004020202020204" pitchFamily="34" charset="0"/>
              </a:rPr>
              <a:t>: an unreliable, connectionless protocol for applications in which prompt delivery is more important than accurate delivery (e.g., speech or video).</a:t>
            </a:r>
            <a:endParaRPr lang="it-IT" sz="2200" dirty="0">
              <a:latin typeface="Aptos" panose="020B0004020202020204" pitchFamily="34" charset="0"/>
            </a:endParaRPr>
          </a:p>
        </p:txBody>
      </p:sp>
      <p:cxnSp>
        <p:nvCxnSpPr>
          <p:cNvPr id="14" name="Connettore 2 13"/>
          <p:cNvCxnSpPr/>
          <p:nvPr/>
        </p:nvCxnSpPr>
        <p:spPr>
          <a:xfrm>
            <a:off x="3387436" y="2841293"/>
            <a:ext cx="1011382" cy="0"/>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Rettangolo arrotondato 10"/>
          <p:cNvSpPr/>
          <p:nvPr/>
        </p:nvSpPr>
        <p:spPr>
          <a:xfrm>
            <a:off x="525294" y="4279104"/>
            <a:ext cx="2780533" cy="691200"/>
          </a:xfrm>
          <a:prstGeom prst="round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it-IT" sz="2400" dirty="0">
                <a:solidFill>
                  <a:sysClr val="windowText" lastClr="000000"/>
                </a:solidFill>
                <a:latin typeface="Aptos" panose="020B0004020202020204" pitchFamily="34" charset="0"/>
              </a:rPr>
              <a:t>Link </a:t>
            </a:r>
            <a:r>
              <a:rPr lang="it-IT" sz="2400" dirty="0" err="1">
                <a:solidFill>
                  <a:sysClr val="windowText" lastClr="000000"/>
                </a:solidFill>
                <a:latin typeface="Aptos" panose="020B0004020202020204" pitchFamily="34" charset="0"/>
              </a:rPr>
              <a:t>layer</a:t>
            </a:r>
            <a:endParaRPr lang="en-GB" sz="2400" dirty="0">
              <a:solidFill>
                <a:sysClr val="windowText" lastClr="000000"/>
              </a:solidFill>
              <a:latin typeface="Aptos" panose="020B0004020202020204" pitchFamily="34" charset="0"/>
            </a:endParaRPr>
          </a:p>
        </p:txBody>
      </p:sp>
      <p:sp>
        <p:nvSpPr>
          <p:cNvPr id="12" name="Rettangolo arrotondato 11"/>
          <p:cNvSpPr/>
          <p:nvPr/>
        </p:nvSpPr>
        <p:spPr>
          <a:xfrm>
            <a:off x="525294" y="3385201"/>
            <a:ext cx="2758933" cy="691200"/>
          </a:xfrm>
          <a:prstGeom prst="round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it-IT" sz="2400" dirty="0">
                <a:solidFill>
                  <a:sysClr val="windowText" lastClr="000000"/>
                </a:solidFill>
                <a:latin typeface="Aptos" panose="020B0004020202020204" pitchFamily="34" charset="0"/>
              </a:rPr>
              <a:t>Network </a:t>
            </a:r>
            <a:r>
              <a:rPr lang="it-IT" sz="2400" dirty="0" err="1">
                <a:solidFill>
                  <a:sysClr val="windowText" lastClr="000000"/>
                </a:solidFill>
                <a:latin typeface="Aptos" panose="020B0004020202020204" pitchFamily="34" charset="0"/>
              </a:rPr>
              <a:t>layer</a:t>
            </a:r>
            <a:endParaRPr lang="en-GB" sz="2400" dirty="0">
              <a:solidFill>
                <a:sysClr val="windowText" lastClr="000000"/>
              </a:solidFill>
              <a:latin typeface="Aptos" panose="020B0004020202020204" pitchFamily="34" charset="0"/>
            </a:endParaRPr>
          </a:p>
        </p:txBody>
      </p:sp>
      <p:sp>
        <p:nvSpPr>
          <p:cNvPr id="15" name="Rettangolo arrotondato 14"/>
          <p:cNvSpPr/>
          <p:nvPr/>
        </p:nvSpPr>
        <p:spPr>
          <a:xfrm>
            <a:off x="525294" y="2480196"/>
            <a:ext cx="2766133" cy="691200"/>
          </a:xfrm>
          <a:prstGeom prst="round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it-IT" sz="2400" b="1" dirty="0" err="1">
                <a:solidFill>
                  <a:sysClr val="windowText" lastClr="000000"/>
                </a:solidFill>
                <a:latin typeface="Aptos" panose="020B0004020202020204" pitchFamily="34" charset="0"/>
              </a:rPr>
              <a:t>Transport</a:t>
            </a:r>
            <a:r>
              <a:rPr lang="it-IT" sz="2400" b="1" dirty="0">
                <a:solidFill>
                  <a:sysClr val="windowText" lastClr="000000"/>
                </a:solidFill>
                <a:latin typeface="Aptos" panose="020B0004020202020204" pitchFamily="34" charset="0"/>
              </a:rPr>
              <a:t> </a:t>
            </a:r>
            <a:r>
              <a:rPr lang="it-IT" sz="2400" b="1" dirty="0" err="1">
                <a:solidFill>
                  <a:sysClr val="windowText" lastClr="000000"/>
                </a:solidFill>
                <a:latin typeface="Aptos" panose="020B0004020202020204" pitchFamily="34" charset="0"/>
              </a:rPr>
              <a:t>layer</a:t>
            </a:r>
            <a:endParaRPr lang="en-GB" sz="2400" b="1" dirty="0">
              <a:solidFill>
                <a:sysClr val="windowText" lastClr="000000"/>
              </a:solidFill>
              <a:latin typeface="Aptos" panose="020B0004020202020204" pitchFamily="34" charset="0"/>
            </a:endParaRPr>
          </a:p>
        </p:txBody>
      </p:sp>
      <p:sp>
        <p:nvSpPr>
          <p:cNvPr id="16" name="Rettangolo arrotondato 15"/>
          <p:cNvSpPr/>
          <p:nvPr/>
        </p:nvSpPr>
        <p:spPr>
          <a:xfrm>
            <a:off x="525294" y="1574365"/>
            <a:ext cx="2766133" cy="691200"/>
          </a:xfrm>
          <a:prstGeom prst="round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it-IT" sz="2400" dirty="0">
                <a:solidFill>
                  <a:sysClr val="windowText" lastClr="000000"/>
                </a:solidFill>
                <a:latin typeface="Aptos" panose="020B0004020202020204" pitchFamily="34" charset="0"/>
              </a:rPr>
              <a:t>Application </a:t>
            </a:r>
            <a:r>
              <a:rPr lang="it-IT" sz="2400" dirty="0" err="1">
                <a:solidFill>
                  <a:sysClr val="windowText" lastClr="000000"/>
                </a:solidFill>
                <a:latin typeface="Aptos" panose="020B0004020202020204" pitchFamily="34" charset="0"/>
              </a:rPr>
              <a:t>layer</a:t>
            </a:r>
            <a:endParaRPr lang="en-GB" sz="2400" dirty="0">
              <a:solidFill>
                <a:sysClr val="windowText" lastClr="000000"/>
              </a:solidFill>
              <a:latin typeface="Aptos" panose="020B0004020202020204" pitchFamily="34" charset="0"/>
            </a:endParaRPr>
          </a:p>
        </p:txBody>
      </p:sp>
      <p:sp>
        <p:nvSpPr>
          <p:cNvPr id="17" name="Rettangolo arrotondato 16"/>
          <p:cNvSpPr/>
          <p:nvPr/>
        </p:nvSpPr>
        <p:spPr>
          <a:xfrm>
            <a:off x="525294" y="5173007"/>
            <a:ext cx="2766133" cy="691200"/>
          </a:xfrm>
          <a:prstGeom prst="round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it-IT" sz="2400" dirty="0" err="1">
                <a:solidFill>
                  <a:sysClr val="windowText" lastClr="000000"/>
                </a:solidFill>
                <a:latin typeface="Aptos" panose="020B0004020202020204" pitchFamily="34" charset="0"/>
              </a:rPr>
              <a:t>Physical</a:t>
            </a:r>
            <a:r>
              <a:rPr lang="it-IT" sz="2400" dirty="0">
                <a:solidFill>
                  <a:sysClr val="windowText" lastClr="000000"/>
                </a:solidFill>
                <a:latin typeface="Aptos" panose="020B0004020202020204" pitchFamily="34" charset="0"/>
              </a:rPr>
              <a:t> </a:t>
            </a:r>
            <a:r>
              <a:rPr lang="it-IT" sz="2400" dirty="0" err="1">
                <a:solidFill>
                  <a:sysClr val="windowText" lastClr="000000"/>
                </a:solidFill>
                <a:latin typeface="Aptos" panose="020B0004020202020204" pitchFamily="34" charset="0"/>
              </a:rPr>
              <a:t>layer</a:t>
            </a:r>
            <a:endParaRPr lang="en-GB" sz="2400" dirty="0">
              <a:solidFill>
                <a:sysClr val="windowText" lastClr="000000"/>
              </a:solidFill>
              <a:latin typeface="Aptos" panose="020B0004020202020204" pitchFamily="34" charset="0"/>
            </a:endParaRPr>
          </a:p>
        </p:txBody>
      </p:sp>
      <p:sp>
        <p:nvSpPr>
          <p:cNvPr id="18" name="Rettangolo arrotondato 17"/>
          <p:cNvSpPr/>
          <p:nvPr/>
        </p:nvSpPr>
        <p:spPr>
          <a:xfrm>
            <a:off x="8424154" y="5864207"/>
            <a:ext cx="1352144" cy="528791"/>
          </a:xfrm>
          <a:prstGeom prst="roundRect">
            <a:avLst/>
          </a:prstGeom>
          <a:solidFill>
            <a:schemeClr val="accent6">
              <a:lumMod val="20000"/>
              <a:lumOff val="80000"/>
            </a:schemeClr>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it-IT" dirty="0">
                <a:latin typeface="Aptos" panose="020B0004020202020204" pitchFamily="34" charset="0"/>
              </a:rPr>
              <a:t>Data</a:t>
            </a:r>
            <a:endParaRPr lang="en-GB" dirty="0">
              <a:latin typeface="Aptos" panose="020B0004020202020204" pitchFamily="34" charset="0"/>
            </a:endParaRPr>
          </a:p>
        </p:txBody>
      </p:sp>
      <p:sp>
        <p:nvSpPr>
          <p:cNvPr id="19" name="Rettangolo arrotondato 18"/>
          <p:cNvSpPr/>
          <p:nvPr/>
        </p:nvSpPr>
        <p:spPr>
          <a:xfrm>
            <a:off x="7069724" y="5864207"/>
            <a:ext cx="1287147" cy="528791"/>
          </a:xfrm>
          <a:prstGeom prst="roundRect">
            <a:avLst/>
          </a:prstGeom>
          <a:solidFill>
            <a:schemeClr val="accent6">
              <a:lumMod val="20000"/>
              <a:lumOff val="80000"/>
            </a:schemeClr>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it-IT" dirty="0">
                <a:latin typeface="Aptos" panose="020B0004020202020204" pitchFamily="34" charset="0"/>
              </a:rPr>
              <a:t>TCP/UDP </a:t>
            </a:r>
            <a:r>
              <a:rPr lang="it-IT" dirty="0" err="1">
                <a:latin typeface="Aptos" panose="020B0004020202020204" pitchFamily="34" charset="0"/>
              </a:rPr>
              <a:t>header</a:t>
            </a:r>
            <a:endParaRPr lang="en-GB" dirty="0">
              <a:latin typeface="Aptos" panose="020B0004020202020204" pitchFamily="34" charset="0"/>
            </a:endParaRPr>
          </a:p>
        </p:txBody>
      </p:sp>
      <p:sp>
        <p:nvSpPr>
          <p:cNvPr id="9" name="CasellaDiTesto 8"/>
          <p:cNvSpPr txBox="1"/>
          <p:nvPr/>
        </p:nvSpPr>
        <p:spPr>
          <a:xfrm>
            <a:off x="5455228" y="6023666"/>
            <a:ext cx="1428050" cy="369332"/>
          </a:xfrm>
          <a:prstGeom prst="rect">
            <a:avLst/>
          </a:prstGeom>
          <a:noFill/>
        </p:spPr>
        <p:txBody>
          <a:bodyPr wrap="square" rtlCol="0">
            <a:spAutoFit/>
          </a:bodyPr>
          <a:lstStyle/>
          <a:p>
            <a:r>
              <a:rPr lang="it-IT" dirty="0">
                <a:latin typeface="Aptos" panose="020B0004020202020204" pitchFamily="34" charset="0"/>
              </a:rPr>
              <a:t>SEGMENT</a:t>
            </a:r>
            <a:endParaRPr lang="en-GB" dirty="0">
              <a:latin typeface="Aptos" panose="020B0004020202020204" pitchFamily="34" charset="0"/>
            </a:endParaRPr>
          </a:p>
        </p:txBody>
      </p:sp>
    </p:spTree>
    <p:extLst>
      <p:ext uri="{BB962C8B-B14F-4D97-AF65-F5344CB8AC3E}">
        <p14:creationId xmlns:p14="http://schemas.microsoft.com/office/powerpoint/2010/main" val="26542083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normAutofit/>
          </a:bodyPr>
          <a:lstStyle/>
          <a:p>
            <a:r>
              <a:rPr lang="it-IT" dirty="0">
                <a:latin typeface="Aptos" panose="020B0004020202020204" pitchFamily="34" charset="0"/>
              </a:rPr>
              <a:t>The TCP/IP </a:t>
            </a:r>
            <a:r>
              <a:rPr lang="it-IT" dirty="0" err="1">
                <a:latin typeface="Aptos" panose="020B0004020202020204" pitchFamily="34" charset="0"/>
              </a:rPr>
              <a:t>reference</a:t>
            </a:r>
            <a:r>
              <a:rPr lang="it-IT" dirty="0">
                <a:latin typeface="Aptos" panose="020B0004020202020204" pitchFamily="34" charset="0"/>
              </a:rPr>
              <a:t> model</a:t>
            </a:r>
            <a:endParaRPr lang="en-GB" dirty="0">
              <a:latin typeface="Aptos" panose="020B0004020202020204" pitchFamily="34" charset="0"/>
            </a:endParaRPr>
          </a:p>
        </p:txBody>
      </p:sp>
      <p:sp>
        <p:nvSpPr>
          <p:cNvPr id="4" name="Segnaposto numero diapositiva 3"/>
          <p:cNvSpPr>
            <a:spLocks noGrp="1"/>
          </p:cNvSpPr>
          <p:nvPr>
            <p:ph type="sldNum" sz="quarter" idx="12"/>
          </p:nvPr>
        </p:nvSpPr>
        <p:spPr/>
        <p:txBody>
          <a:bodyPr/>
          <a:lstStyle/>
          <a:p>
            <a:fld id="{31DE2C5B-556E-47B8-A792-024C2FCA4ACC}" type="slidenum">
              <a:rPr lang="en-GB" smtClean="0">
                <a:latin typeface="Aptos" panose="020B0004020202020204" pitchFamily="34" charset="0"/>
              </a:rPr>
              <a:t>15</a:t>
            </a:fld>
            <a:endParaRPr lang="en-GB" dirty="0">
              <a:latin typeface="Aptos" panose="020B0004020202020204" pitchFamily="34" charset="0"/>
            </a:endParaRPr>
          </a:p>
        </p:txBody>
      </p:sp>
      <p:sp>
        <p:nvSpPr>
          <p:cNvPr id="10" name="Rettangolo arrotondato 9"/>
          <p:cNvSpPr/>
          <p:nvPr/>
        </p:nvSpPr>
        <p:spPr>
          <a:xfrm>
            <a:off x="4478545" y="1548982"/>
            <a:ext cx="7397579" cy="4131792"/>
          </a:xfrm>
          <a:prstGeom prst="roundRect">
            <a:avLst>
              <a:gd name="adj" fmla="val 6798"/>
            </a:avLst>
          </a:prstGeom>
          <a:ln w="38100">
            <a:solidFill>
              <a:srgbClr val="00B050"/>
            </a:solidFill>
          </a:ln>
        </p:spPr>
        <p:style>
          <a:lnRef idx="2">
            <a:schemeClr val="accent6"/>
          </a:lnRef>
          <a:fillRef idx="1">
            <a:schemeClr val="lt1"/>
          </a:fillRef>
          <a:effectRef idx="0">
            <a:schemeClr val="accent6"/>
          </a:effectRef>
          <a:fontRef idx="minor">
            <a:schemeClr val="dk1"/>
          </a:fontRef>
        </p:style>
        <p:txBody>
          <a:bodyPr rtlCol="0" anchor="ctr"/>
          <a:lstStyle/>
          <a:p>
            <a:pPr marL="285750" indent="-285750">
              <a:buClr>
                <a:srgbClr val="00B050"/>
              </a:buClr>
              <a:buFont typeface="Wingdings" panose="05000000000000000000" pitchFamily="2" charset="2"/>
              <a:buChar char="Ø"/>
            </a:pPr>
            <a:r>
              <a:rPr lang="en-GB" sz="2400" dirty="0">
                <a:solidFill>
                  <a:schemeClr val="tx1"/>
                </a:solidFill>
                <a:latin typeface="Aptos" panose="020B0004020202020204" pitchFamily="34" charset="0"/>
              </a:rPr>
              <a:t>Finds the correct routing path, handles congestions and quality of service.</a:t>
            </a:r>
          </a:p>
          <a:p>
            <a:pPr marL="285750" indent="-285750">
              <a:buClr>
                <a:srgbClr val="00B050"/>
              </a:buClr>
              <a:buFont typeface="Wingdings" panose="05000000000000000000" pitchFamily="2" charset="2"/>
              <a:buChar char="Ø"/>
            </a:pPr>
            <a:r>
              <a:rPr lang="en-GB" sz="2400" dirty="0">
                <a:solidFill>
                  <a:schemeClr val="tx1"/>
                </a:solidFill>
                <a:latin typeface="Aptos" panose="020B0004020202020204" pitchFamily="34" charset="0"/>
              </a:rPr>
              <a:t>Packets are sent independently to the destination by a certain path. </a:t>
            </a:r>
          </a:p>
          <a:p>
            <a:pPr marL="285750" indent="-285750">
              <a:buClr>
                <a:srgbClr val="00B050"/>
              </a:buClr>
              <a:buFont typeface="Wingdings" panose="05000000000000000000" pitchFamily="2" charset="2"/>
              <a:buChar char="Ø"/>
            </a:pPr>
            <a:r>
              <a:rPr lang="en-US" sz="2400" dirty="0">
                <a:solidFill>
                  <a:schemeClr val="tx1"/>
                </a:solidFill>
                <a:latin typeface="Aptos" panose="020B0004020202020204" pitchFamily="34" charset="0"/>
              </a:rPr>
              <a:t>This layer works with two protocols: </a:t>
            </a:r>
          </a:p>
          <a:p>
            <a:pPr marL="742950" lvl="1" indent="-285750">
              <a:buClr>
                <a:srgbClr val="00B050"/>
              </a:buClr>
              <a:buFont typeface="Wingdings" panose="05000000000000000000" pitchFamily="2" charset="2"/>
              <a:buChar char="Ø"/>
            </a:pPr>
            <a:r>
              <a:rPr lang="en-US" sz="2400" b="1" dirty="0">
                <a:solidFill>
                  <a:schemeClr val="tx1"/>
                </a:solidFill>
                <a:latin typeface="Aptos" panose="020B0004020202020204" pitchFamily="34" charset="0"/>
              </a:rPr>
              <a:t>Internet protocol (IP): </a:t>
            </a:r>
            <a:r>
              <a:rPr lang="en-US" sz="2400" dirty="0">
                <a:solidFill>
                  <a:schemeClr val="tx1"/>
                </a:solidFill>
                <a:latin typeface="Aptos" panose="020B0004020202020204" pitchFamily="34" charset="0"/>
              </a:rPr>
              <a:t>it defines the IP addresses, </a:t>
            </a:r>
            <a:r>
              <a:rPr lang="en-US" sz="2400" dirty="0" err="1">
                <a:solidFill>
                  <a:schemeClr val="tx1"/>
                </a:solidFill>
                <a:latin typeface="Aptos" panose="020B0004020202020204" pitchFamily="34" charset="0"/>
              </a:rPr>
              <a:t>i.e</a:t>
            </a:r>
            <a:r>
              <a:rPr lang="en-US" sz="2400" dirty="0">
                <a:solidFill>
                  <a:schemeClr val="tx1"/>
                </a:solidFill>
                <a:latin typeface="Aptos" panose="020B0004020202020204" pitchFamily="34" charset="0"/>
              </a:rPr>
              <a:t>,. </a:t>
            </a:r>
            <a:r>
              <a:rPr lang="en-US" sz="2400" dirty="0">
                <a:solidFill>
                  <a:prstClr val="black"/>
                </a:solidFill>
                <a:latin typeface="Aptos" panose="020B0004020202020204" pitchFamily="34" charset="0"/>
              </a:rPr>
              <a:t>that label (e.g., 192.0.2.1) that uniquely identifies a host connected to a computer network using the IP protocol. </a:t>
            </a:r>
            <a:endParaRPr lang="en-US" sz="2400" dirty="0">
              <a:solidFill>
                <a:schemeClr val="tx1"/>
              </a:solidFill>
              <a:latin typeface="Aptos" panose="020B0004020202020204" pitchFamily="34" charset="0"/>
            </a:endParaRPr>
          </a:p>
          <a:p>
            <a:pPr marL="742950" lvl="1" indent="-285750">
              <a:buClr>
                <a:srgbClr val="00B050"/>
              </a:buClr>
              <a:buFont typeface="Wingdings" panose="05000000000000000000" pitchFamily="2" charset="2"/>
              <a:buChar char="Ø"/>
            </a:pPr>
            <a:r>
              <a:rPr lang="en-US" sz="2400" b="1" dirty="0">
                <a:solidFill>
                  <a:schemeClr val="tx1"/>
                </a:solidFill>
                <a:latin typeface="Aptos" panose="020B0004020202020204" pitchFamily="34" charset="0"/>
              </a:rPr>
              <a:t>Internet Control Message Protocol (ICMP)</a:t>
            </a:r>
            <a:r>
              <a:rPr lang="en-US" sz="2400" dirty="0">
                <a:solidFill>
                  <a:schemeClr val="tx1"/>
                </a:solidFill>
                <a:latin typeface="Aptos" panose="020B0004020202020204" pitchFamily="34" charset="0"/>
              </a:rPr>
              <a:t>: it sends error and control messages.</a:t>
            </a:r>
          </a:p>
        </p:txBody>
      </p:sp>
      <p:cxnSp>
        <p:nvCxnSpPr>
          <p:cNvPr id="14" name="Connettore 2 13"/>
          <p:cNvCxnSpPr/>
          <p:nvPr/>
        </p:nvCxnSpPr>
        <p:spPr>
          <a:xfrm>
            <a:off x="3305827" y="3741838"/>
            <a:ext cx="1011382" cy="0"/>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Rettangolo arrotondato 10"/>
          <p:cNvSpPr/>
          <p:nvPr/>
        </p:nvSpPr>
        <p:spPr>
          <a:xfrm>
            <a:off x="525294" y="4279104"/>
            <a:ext cx="2780533" cy="691200"/>
          </a:xfrm>
          <a:prstGeom prst="round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it-IT" sz="2400" dirty="0">
                <a:solidFill>
                  <a:sysClr val="windowText" lastClr="000000"/>
                </a:solidFill>
                <a:latin typeface="Aptos" panose="020B0004020202020204" pitchFamily="34" charset="0"/>
              </a:rPr>
              <a:t>Link </a:t>
            </a:r>
            <a:r>
              <a:rPr lang="it-IT" sz="2400" dirty="0" err="1">
                <a:solidFill>
                  <a:sysClr val="windowText" lastClr="000000"/>
                </a:solidFill>
                <a:latin typeface="Aptos" panose="020B0004020202020204" pitchFamily="34" charset="0"/>
              </a:rPr>
              <a:t>layer</a:t>
            </a:r>
            <a:endParaRPr lang="en-GB" sz="2400" dirty="0">
              <a:solidFill>
                <a:sysClr val="windowText" lastClr="000000"/>
              </a:solidFill>
              <a:latin typeface="Aptos" panose="020B0004020202020204" pitchFamily="34" charset="0"/>
            </a:endParaRPr>
          </a:p>
        </p:txBody>
      </p:sp>
      <p:sp>
        <p:nvSpPr>
          <p:cNvPr id="12" name="Rettangolo arrotondato 11"/>
          <p:cNvSpPr/>
          <p:nvPr/>
        </p:nvSpPr>
        <p:spPr>
          <a:xfrm>
            <a:off x="525294" y="3385201"/>
            <a:ext cx="2758933" cy="691200"/>
          </a:xfrm>
          <a:prstGeom prst="round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it-IT" sz="2400" b="1" dirty="0">
                <a:solidFill>
                  <a:sysClr val="windowText" lastClr="000000"/>
                </a:solidFill>
                <a:latin typeface="Aptos" panose="020B0004020202020204" pitchFamily="34" charset="0"/>
              </a:rPr>
              <a:t>Network </a:t>
            </a:r>
            <a:r>
              <a:rPr lang="it-IT" sz="2400" b="1" dirty="0" err="1">
                <a:solidFill>
                  <a:sysClr val="windowText" lastClr="000000"/>
                </a:solidFill>
                <a:latin typeface="Aptos" panose="020B0004020202020204" pitchFamily="34" charset="0"/>
              </a:rPr>
              <a:t>layer</a:t>
            </a:r>
            <a:endParaRPr lang="en-GB" sz="2400" b="1" dirty="0">
              <a:solidFill>
                <a:sysClr val="windowText" lastClr="000000"/>
              </a:solidFill>
              <a:latin typeface="Aptos" panose="020B0004020202020204" pitchFamily="34" charset="0"/>
            </a:endParaRPr>
          </a:p>
        </p:txBody>
      </p:sp>
      <p:sp>
        <p:nvSpPr>
          <p:cNvPr id="15" name="Rettangolo arrotondato 14"/>
          <p:cNvSpPr/>
          <p:nvPr/>
        </p:nvSpPr>
        <p:spPr>
          <a:xfrm>
            <a:off x="525294" y="2480196"/>
            <a:ext cx="2766133" cy="691200"/>
          </a:xfrm>
          <a:prstGeom prst="round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it-IT" sz="2400" dirty="0" err="1">
                <a:solidFill>
                  <a:sysClr val="windowText" lastClr="000000"/>
                </a:solidFill>
                <a:latin typeface="Aptos" panose="020B0004020202020204" pitchFamily="34" charset="0"/>
              </a:rPr>
              <a:t>Transport</a:t>
            </a:r>
            <a:r>
              <a:rPr lang="it-IT" sz="2400" dirty="0">
                <a:solidFill>
                  <a:sysClr val="windowText" lastClr="000000"/>
                </a:solidFill>
                <a:latin typeface="Aptos" panose="020B0004020202020204" pitchFamily="34" charset="0"/>
              </a:rPr>
              <a:t> </a:t>
            </a:r>
            <a:r>
              <a:rPr lang="it-IT" sz="2400" dirty="0" err="1">
                <a:solidFill>
                  <a:sysClr val="windowText" lastClr="000000"/>
                </a:solidFill>
                <a:latin typeface="Aptos" panose="020B0004020202020204" pitchFamily="34" charset="0"/>
              </a:rPr>
              <a:t>layer</a:t>
            </a:r>
            <a:endParaRPr lang="en-GB" sz="2400" dirty="0">
              <a:solidFill>
                <a:sysClr val="windowText" lastClr="000000"/>
              </a:solidFill>
              <a:latin typeface="Aptos" panose="020B0004020202020204" pitchFamily="34" charset="0"/>
            </a:endParaRPr>
          </a:p>
        </p:txBody>
      </p:sp>
      <p:sp>
        <p:nvSpPr>
          <p:cNvPr id="16" name="Rettangolo arrotondato 15"/>
          <p:cNvSpPr/>
          <p:nvPr/>
        </p:nvSpPr>
        <p:spPr>
          <a:xfrm>
            <a:off x="525294" y="1574365"/>
            <a:ext cx="2766133" cy="691200"/>
          </a:xfrm>
          <a:prstGeom prst="round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it-IT" sz="2400" dirty="0">
                <a:solidFill>
                  <a:sysClr val="windowText" lastClr="000000"/>
                </a:solidFill>
                <a:latin typeface="Aptos" panose="020B0004020202020204" pitchFamily="34" charset="0"/>
              </a:rPr>
              <a:t>Application </a:t>
            </a:r>
            <a:r>
              <a:rPr lang="it-IT" sz="2400" dirty="0" err="1">
                <a:solidFill>
                  <a:sysClr val="windowText" lastClr="000000"/>
                </a:solidFill>
                <a:latin typeface="Aptos" panose="020B0004020202020204" pitchFamily="34" charset="0"/>
              </a:rPr>
              <a:t>layer</a:t>
            </a:r>
            <a:endParaRPr lang="en-GB" sz="2400" dirty="0">
              <a:solidFill>
                <a:sysClr val="windowText" lastClr="000000"/>
              </a:solidFill>
              <a:latin typeface="Aptos" panose="020B0004020202020204" pitchFamily="34" charset="0"/>
            </a:endParaRPr>
          </a:p>
        </p:txBody>
      </p:sp>
      <p:sp>
        <p:nvSpPr>
          <p:cNvPr id="17" name="Rettangolo arrotondato 16"/>
          <p:cNvSpPr/>
          <p:nvPr/>
        </p:nvSpPr>
        <p:spPr>
          <a:xfrm>
            <a:off x="525294" y="5173007"/>
            <a:ext cx="2766133" cy="691200"/>
          </a:xfrm>
          <a:prstGeom prst="round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it-IT" sz="2400" dirty="0" err="1">
                <a:solidFill>
                  <a:sysClr val="windowText" lastClr="000000"/>
                </a:solidFill>
                <a:latin typeface="Aptos" panose="020B0004020202020204" pitchFamily="34" charset="0"/>
              </a:rPr>
              <a:t>Physical</a:t>
            </a:r>
            <a:r>
              <a:rPr lang="it-IT" sz="2400" dirty="0">
                <a:solidFill>
                  <a:sysClr val="windowText" lastClr="000000"/>
                </a:solidFill>
                <a:latin typeface="Aptos" panose="020B0004020202020204" pitchFamily="34" charset="0"/>
              </a:rPr>
              <a:t> </a:t>
            </a:r>
            <a:r>
              <a:rPr lang="it-IT" sz="2400" dirty="0" err="1">
                <a:solidFill>
                  <a:sysClr val="windowText" lastClr="000000"/>
                </a:solidFill>
                <a:latin typeface="Aptos" panose="020B0004020202020204" pitchFamily="34" charset="0"/>
              </a:rPr>
              <a:t>layer</a:t>
            </a:r>
            <a:endParaRPr lang="en-GB" sz="2400" dirty="0">
              <a:solidFill>
                <a:sysClr val="windowText" lastClr="000000"/>
              </a:solidFill>
              <a:latin typeface="Aptos" panose="020B0004020202020204" pitchFamily="34" charset="0"/>
            </a:endParaRPr>
          </a:p>
        </p:txBody>
      </p:sp>
      <p:sp>
        <p:nvSpPr>
          <p:cNvPr id="18" name="Rettangolo arrotondato 17"/>
          <p:cNvSpPr/>
          <p:nvPr/>
        </p:nvSpPr>
        <p:spPr>
          <a:xfrm>
            <a:off x="5963055" y="5967243"/>
            <a:ext cx="3871610" cy="778213"/>
          </a:xfrm>
          <a:prstGeom prst="roundRec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Aptos" panose="020B0004020202020204" pitchFamily="34" charset="0"/>
            </a:endParaRPr>
          </a:p>
        </p:txBody>
      </p:sp>
      <p:sp>
        <p:nvSpPr>
          <p:cNvPr id="19" name="Rettangolo arrotondato 18"/>
          <p:cNvSpPr/>
          <p:nvPr/>
        </p:nvSpPr>
        <p:spPr>
          <a:xfrm>
            <a:off x="8394971" y="6084297"/>
            <a:ext cx="1352144" cy="515245"/>
          </a:xfrm>
          <a:prstGeom prst="roundRect">
            <a:avLst/>
          </a:prstGeom>
          <a:solidFill>
            <a:schemeClr val="accent6">
              <a:lumMod val="20000"/>
              <a:lumOff val="80000"/>
            </a:schemeClr>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it-IT" dirty="0">
                <a:latin typeface="Aptos" panose="020B0004020202020204" pitchFamily="34" charset="0"/>
              </a:rPr>
              <a:t>Data</a:t>
            </a:r>
            <a:endParaRPr lang="en-GB" dirty="0">
              <a:latin typeface="Aptos" panose="020B0004020202020204" pitchFamily="34" charset="0"/>
            </a:endParaRPr>
          </a:p>
        </p:txBody>
      </p:sp>
      <p:sp>
        <p:nvSpPr>
          <p:cNvPr id="20" name="Rettangolo arrotondato 19"/>
          <p:cNvSpPr/>
          <p:nvPr/>
        </p:nvSpPr>
        <p:spPr>
          <a:xfrm>
            <a:off x="7052554" y="6084297"/>
            <a:ext cx="1304318" cy="515245"/>
          </a:xfrm>
          <a:prstGeom prst="roundRect">
            <a:avLst/>
          </a:prstGeom>
          <a:solidFill>
            <a:schemeClr val="accent6">
              <a:lumMod val="20000"/>
              <a:lumOff val="80000"/>
            </a:schemeClr>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it-IT" dirty="0">
                <a:latin typeface="Aptos" panose="020B0004020202020204" pitchFamily="34" charset="0"/>
              </a:rPr>
              <a:t>TCP/UDC </a:t>
            </a:r>
            <a:r>
              <a:rPr lang="it-IT" dirty="0" err="1">
                <a:latin typeface="Aptos" panose="020B0004020202020204" pitchFamily="34" charset="0"/>
              </a:rPr>
              <a:t>header</a:t>
            </a:r>
            <a:endParaRPr lang="en-GB" dirty="0">
              <a:latin typeface="Aptos" panose="020B0004020202020204" pitchFamily="34" charset="0"/>
            </a:endParaRPr>
          </a:p>
        </p:txBody>
      </p:sp>
      <p:sp>
        <p:nvSpPr>
          <p:cNvPr id="21" name="CasellaDiTesto 20"/>
          <p:cNvSpPr txBox="1"/>
          <p:nvPr/>
        </p:nvSpPr>
        <p:spPr>
          <a:xfrm>
            <a:off x="4827389" y="6230210"/>
            <a:ext cx="1428050" cy="369332"/>
          </a:xfrm>
          <a:prstGeom prst="rect">
            <a:avLst/>
          </a:prstGeom>
          <a:noFill/>
        </p:spPr>
        <p:txBody>
          <a:bodyPr wrap="square" rtlCol="0">
            <a:spAutoFit/>
          </a:bodyPr>
          <a:lstStyle/>
          <a:p>
            <a:r>
              <a:rPr lang="it-IT" dirty="0">
                <a:latin typeface="Aptos" panose="020B0004020202020204" pitchFamily="34" charset="0"/>
              </a:rPr>
              <a:t>PACKET</a:t>
            </a:r>
            <a:endParaRPr lang="en-GB" dirty="0">
              <a:latin typeface="Aptos" panose="020B0004020202020204" pitchFamily="34" charset="0"/>
            </a:endParaRPr>
          </a:p>
        </p:txBody>
      </p:sp>
      <p:sp>
        <p:nvSpPr>
          <p:cNvPr id="22" name="Rettangolo arrotondato 21"/>
          <p:cNvSpPr/>
          <p:nvPr/>
        </p:nvSpPr>
        <p:spPr>
          <a:xfrm>
            <a:off x="6040395" y="6084297"/>
            <a:ext cx="982975" cy="515244"/>
          </a:xfrm>
          <a:prstGeom prst="roundRect">
            <a:avLst/>
          </a:prstGeom>
          <a:solidFill>
            <a:schemeClr val="accent6">
              <a:lumMod val="20000"/>
              <a:lumOff val="80000"/>
            </a:schemeClr>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it-IT" dirty="0">
                <a:latin typeface="Aptos" panose="020B0004020202020204" pitchFamily="34" charset="0"/>
              </a:rPr>
              <a:t>IP </a:t>
            </a:r>
            <a:r>
              <a:rPr lang="it-IT" dirty="0" err="1">
                <a:latin typeface="Aptos" panose="020B0004020202020204" pitchFamily="34" charset="0"/>
              </a:rPr>
              <a:t>header</a:t>
            </a:r>
            <a:endParaRPr lang="en-GB" dirty="0">
              <a:latin typeface="Aptos" panose="020B0004020202020204" pitchFamily="34" charset="0"/>
            </a:endParaRPr>
          </a:p>
        </p:txBody>
      </p:sp>
    </p:spTree>
    <p:extLst>
      <p:ext uri="{BB962C8B-B14F-4D97-AF65-F5344CB8AC3E}">
        <p14:creationId xmlns:p14="http://schemas.microsoft.com/office/powerpoint/2010/main" val="355437430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normAutofit/>
          </a:bodyPr>
          <a:lstStyle/>
          <a:p>
            <a:r>
              <a:rPr lang="it-IT" dirty="0">
                <a:latin typeface="Aptos" panose="020B0004020202020204" pitchFamily="34" charset="0"/>
              </a:rPr>
              <a:t>The TCP/IP </a:t>
            </a:r>
            <a:r>
              <a:rPr lang="it-IT" dirty="0" err="1">
                <a:latin typeface="Aptos" panose="020B0004020202020204" pitchFamily="34" charset="0"/>
              </a:rPr>
              <a:t>reference</a:t>
            </a:r>
            <a:r>
              <a:rPr lang="it-IT" dirty="0">
                <a:latin typeface="Aptos" panose="020B0004020202020204" pitchFamily="34" charset="0"/>
              </a:rPr>
              <a:t> model</a:t>
            </a:r>
            <a:endParaRPr lang="en-GB" dirty="0">
              <a:latin typeface="Aptos" panose="020B0004020202020204" pitchFamily="34" charset="0"/>
            </a:endParaRPr>
          </a:p>
        </p:txBody>
      </p:sp>
      <p:sp>
        <p:nvSpPr>
          <p:cNvPr id="4" name="Segnaposto numero diapositiva 3"/>
          <p:cNvSpPr>
            <a:spLocks noGrp="1"/>
          </p:cNvSpPr>
          <p:nvPr>
            <p:ph type="sldNum" sz="quarter" idx="12"/>
          </p:nvPr>
        </p:nvSpPr>
        <p:spPr/>
        <p:txBody>
          <a:bodyPr/>
          <a:lstStyle/>
          <a:p>
            <a:fld id="{31DE2C5B-556E-47B8-A792-024C2FCA4ACC}" type="slidenum">
              <a:rPr lang="en-GB" smtClean="0">
                <a:latin typeface="Aptos" panose="020B0004020202020204" pitchFamily="34" charset="0"/>
              </a:rPr>
              <a:t>16</a:t>
            </a:fld>
            <a:endParaRPr lang="en-GB" dirty="0">
              <a:latin typeface="Aptos" panose="020B0004020202020204" pitchFamily="34" charset="0"/>
            </a:endParaRPr>
          </a:p>
        </p:txBody>
      </p:sp>
      <p:sp>
        <p:nvSpPr>
          <p:cNvPr id="10" name="Rettangolo arrotondato 9"/>
          <p:cNvSpPr/>
          <p:nvPr/>
        </p:nvSpPr>
        <p:spPr>
          <a:xfrm>
            <a:off x="4495799" y="3602181"/>
            <a:ext cx="7100456" cy="2445328"/>
          </a:xfrm>
          <a:prstGeom prst="roundRect">
            <a:avLst/>
          </a:prstGeom>
          <a:ln w="38100">
            <a:solidFill>
              <a:srgbClr val="00B050"/>
            </a:solidFill>
          </a:ln>
        </p:spPr>
        <p:style>
          <a:lnRef idx="2">
            <a:schemeClr val="accent6"/>
          </a:lnRef>
          <a:fillRef idx="1">
            <a:schemeClr val="lt1"/>
          </a:fillRef>
          <a:effectRef idx="0">
            <a:schemeClr val="accent6"/>
          </a:effectRef>
          <a:fontRef idx="minor">
            <a:schemeClr val="dk1"/>
          </a:fontRef>
        </p:style>
        <p:txBody>
          <a:bodyPr rtlCol="0" anchor="ctr"/>
          <a:lstStyle/>
          <a:p>
            <a:pPr marL="285750" indent="-285750">
              <a:buClr>
                <a:srgbClr val="00B050"/>
              </a:buClr>
              <a:buFont typeface="Wingdings" panose="05000000000000000000" pitchFamily="2" charset="2"/>
              <a:buChar char="Ø"/>
            </a:pPr>
            <a:r>
              <a:rPr lang="en-GB" sz="2400" dirty="0">
                <a:solidFill>
                  <a:schemeClr val="tx1"/>
                </a:solidFill>
                <a:latin typeface="Aptos" panose="020B0004020202020204" pitchFamily="34" charset="0"/>
              </a:rPr>
              <a:t>It moves packets between the network layer and the physical layer. </a:t>
            </a:r>
          </a:p>
          <a:p>
            <a:pPr marL="285750" indent="-285750">
              <a:buClr>
                <a:srgbClr val="00B050"/>
              </a:buClr>
              <a:buFont typeface="Wingdings" panose="05000000000000000000" pitchFamily="2" charset="2"/>
              <a:buChar char="Ø"/>
            </a:pPr>
            <a:r>
              <a:rPr lang="en-GB" sz="2400" dirty="0">
                <a:solidFill>
                  <a:schemeClr val="tx1"/>
                </a:solidFill>
                <a:latin typeface="Aptos" panose="020B0004020202020204" pitchFamily="34" charset="0"/>
              </a:rPr>
              <a:t>Not really a layer at all, but rather an interface between hosts and physical transmission links.</a:t>
            </a:r>
          </a:p>
        </p:txBody>
      </p:sp>
      <p:cxnSp>
        <p:nvCxnSpPr>
          <p:cNvPr id="14" name="Connettore 2 13"/>
          <p:cNvCxnSpPr/>
          <p:nvPr/>
        </p:nvCxnSpPr>
        <p:spPr>
          <a:xfrm>
            <a:off x="3395881" y="4628529"/>
            <a:ext cx="1011382" cy="0"/>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Rettangolo arrotondato 10"/>
          <p:cNvSpPr/>
          <p:nvPr/>
        </p:nvSpPr>
        <p:spPr>
          <a:xfrm>
            <a:off x="525294" y="4279104"/>
            <a:ext cx="2780533" cy="691200"/>
          </a:xfrm>
          <a:prstGeom prst="round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it-IT" sz="2400" b="1" dirty="0">
                <a:solidFill>
                  <a:sysClr val="windowText" lastClr="000000"/>
                </a:solidFill>
                <a:latin typeface="Aptos" panose="020B0004020202020204" pitchFamily="34" charset="0"/>
              </a:rPr>
              <a:t>Link </a:t>
            </a:r>
            <a:r>
              <a:rPr lang="it-IT" sz="2400" b="1" dirty="0" err="1">
                <a:solidFill>
                  <a:sysClr val="windowText" lastClr="000000"/>
                </a:solidFill>
                <a:latin typeface="Aptos" panose="020B0004020202020204" pitchFamily="34" charset="0"/>
              </a:rPr>
              <a:t>layer</a:t>
            </a:r>
            <a:endParaRPr lang="en-GB" sz="2400" b="1" dirty="0">
              <a:solidFill>
                <a:sysClr val="windowText" lastClr="000000"/>
              </a:solidFill>
              <a:latin typeface="Aptos" panose="020B0004020202020204" pitchFamily="34" charset="0"/>
            </a:endParaRPr>
          </a:p>
        </p:txBody>
      </p:sp>
      <p:sp>
        <p:nvSpPr>
          <p:cNvPr id="12" name="Rettangolo arrotondato 11"/>
          <p:cNvSpPr/>
          <p:nvPr/>
        </p:nvSpPr>
        <p:spPr>
          <a:xfrm>
            <a:off x="525294" y="3385201"/>
            <a:ext cx="2758933" cy="691200"/>
          </a:xfrm>
          <a:prstGeom prst="round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it-IT" sz="2400" dirty="0">
                <a:solidFill>
                  <a:sysClr val="windowText" lastClr="000000"/>
                </a:solidFill>
                <a:latin typeface="Aptos" panose="020B0004020202020204" pitchFamily="34" charset="0"/>
              </a:rPr>
              <a:t>Network </a:t>
            </a:r>
            <a:r>
              <a:rPr lang="it-IT" sz="2400" dirty="0" err="1">
                <a:solidFill>
                  <a:sysClr val="windowText" lastClr="000000"/>
                </a:solidFill>
                <a:latin typeface="Aptos" panose="020B0004020202020204" pitchFamily="34" charset="0"/>
              </a:rPr>
              <a:t>layer</a:t>
            </a:r>
            <a:endParaRPr lang="en-GB" sz="2400" dirty="0">
              <a:solidFill>
                <a:sysClr val="windowText" lastClr="000000"/>
              </a:solidFill>
              <a:latin typeface="Aptos" panose="020B0004020202020204" pitchFamily="34" charset="0"/>
            </a:endParaRPr>
          </a:p>
        </p:txBody>
      </p:sp>
      <p:sp>
        <p:nvSpPr>
          <p:cNvPr id="15" name="Rettangolo arrotondato 14"/>
          <p:cNvSpPr/>
          <p:nvPr/>
        </p:nvSpPr>
        <p:spPr>
          <a:xfrm>
            <a:off x="525294" y="2480196"/>
            <a:ext cx="2766133" cy="691200"/>
          </a:xfrm>
          <a:prstGeom prst="round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it-IT" sz="2400" dirty="0" err="1">
                <a:solidFill>
                  <a:sysClr val="windowText" lastClr="000000"/>
                </a:solidFill>
                <a:latin typeface="Aptos" panose="020B0004020202020204" pitchFamily="34" charset="0"/>
              </a:rPr>
              <a:t>Transport</a:t>
            </a:r>
            <a:r>
              <a:rPr lang="it-IT" sz="2400" dirty="0">
                <a:solidFill>
                  <a:sysClr val="windowText" lastClr="000000"/>
                </a:solidFill>
                <a:latin typeface="Aptos" panose="020B0004020202020204" pitchFamily="34" charset="0"/>
              </a:rPr>
              <a:t> </a:t>
            </a:r>
            <a:r>
              <a:rPr lang="it-IT" sz="2400" dirty="0" err="1">
                <a:solidFill>
                  <a:sysClr val="windowText" lastClr="000000"/>
                </a:solidFill>
                <a:latin typeface="Aptos" panose="020B0004020202020204" pitchFamily="34" charset="0"/>
              </a:rPr>
              <a:t>layer</a:t>
            </a:r>
            <a:endParaRPr lang="en-GB" sz="2400" dirty="0">
              <a:solidFill>
                <a:sysClr val="windowText" lastClr="000000"/>
              </a:solidFill>
              <a:latin typeface="Aptos" panose="020B0004020202020204" pitchFamily="34" charset="0"/>
            </a:endParaRPr>
          </a:p>
        </p:txBody>
      </p:sp>
      <p:sp>
        <p:nvSpPr>
          <p:cNvPr id="16" name="Rettangolo arrotondato 15"/>
          <p:cNvSpPr/>
          <p:nvPr/>
        </p:nvSpPr>
        <p:spPr>
          <a:xfrm>
            <a:off x="525294" y="1574365"/>
            <a:ext cx="2766133" cy="691200"/>
          </a:xfrm>
          <a:prstGeom prst="round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it-IT" sz="2400" dirty="0">
                <a:solidFill>
                  <a:sysClr val="windowText" lastClr="000000"/>
                </a:solidFill>
                <a:latin typeface="Aptos" panose="020B0004020202020204" pitchFamily="34" charset="0"/>
              </a:rPr>
              <a:t>Application </a:t>
            </a:r>
            <a:r>
              <a:rPr lang="it-IT" sz="2400" dirty="0" err="1">
                <a:solidFill>
                  <a:sysClr val="windowText" lastClr="000000"/>
                </a:solidFill>
                <a:latin typeface="Aptos" panose="020B0004020202020204" pitchFamily="34" charset="0"/>
              </a:rPr>
              <a:t>layer</a:t>
            </a:r>
            <a:endParaRPr lang="en-GB" sz="2400" dirty="0">
              <a:solidFill>
                <a:sysClr val="windowText" lastClr="000000"/>
              </a:solidFill>
              <a:latin typeface="Aptos" panose="020B0004020202020204" pitchFamily="34" charset="0"/>
            </a:endParaRPr>
          </a:p>
        </p:txBody>
      </p:sp>
      <p:sp>
        <p:nvSpPr>
          <p:cNvPr id="17" name="Rettangolo arrotondato 16"/>
          <p:cNvSpPr/>
          <p:nvPr/>
        </p:nvSpPr>
        <p:spPr>
          <a:xfrm>
            <a:off x="525294" y="5173007"/>
            <a:ext cx="2766133" cy="691200"/>
          </a:xfrm>
          <a:prstGeom prst="round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it-IT" sz="2400" dirty="0" err="1">
                <a:solidFill>
                  <a:sysClr val="windowText" lastClr="000000"/>
                </a:solidFill>
                <a:latin typeface="Aptos" panose="020B0004020202020204" pitchFamily="34" charset="0"/>
              </a:rPr>
              <a:t>Physical</a:t>
            </a:r>
            <a:r>
              <a:rPr lang="it-IT" sz="2400" dirty="0">
                <a:solidFill>
                  <a:sysClr val="windowText" lastClr="000000"/>
                </a:solidFill>
                <a:latin typeface="Aptos" panose="020B0004020202020204" pitchFamily="34" charset="0"/>
              </a:rPr>
              <a:t> </a:t>
            </a:r>
            <a:r>
              <a:rPr lang="it-IT" sz="2400" dirty="0" err="1">
                <a:solidFill>
                  <a:sysClr val="windowText" lastClr="000000"/>
                </a:solidFill>
                <a:latin typeface="Aptos" panose="020B0004020202020204" pitchFamily="34" charset="0"/>
              </a:rPr>
              <a:t>layer</a:t>
            </a:r>
            <a:endParaRPr lang="en-GB" sz="2400" dirty="0">
              <a:solidFill>
                <a:sysClr val="windowText" lastClr="000000"/>
              </a:solidFill>
              <a:latin typeface="Aptos" panose="020B0004020202020204" pitchFamily="34" charset="0"/>
            </a:endParaRPr>
          </a:p>
        </p:txBody>
      </p:sp>
      <p:sp>
        <p:nvSpPr>
          <p:cNvPr id="18" name="Rettangolo arrotondato 17"/>
          <p:cNvSpPr/>
          <p:nvPr/>
        </p:nvSpPr>
        <p:spPr>
          <a:xfrm>
            <a:off x="5038927" y="2319374"/>
            <a:ext cx="6147881" cy="778213"/>
          </a:xfrm>
          <a:prstGeom prst="roundRec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Aptos" panose="020B0004020202020204" pitchFamily="34" charset="0"/>
            </a:endParaRPr>
          </a:p>
        </p:txBody>
      </p:sp>
      <p:sp>
        <p:nvSpPr>
          <p:cNvPr id="19" name="Rettangolo arrotondato 18"/>
          <p:cNvSpPr/>
          <p:nvPr/>
        </p:nvSpPr>
        <p:spPr>
          <a:xfrm>
            <a:off x="8560341" y="2436428"/>
            <a:ext cx="1352144" cy="515245"/>
          </a:xfrm>
          <a:prstGeom prst="roundRect">
            <a:avLst/>
          </a:prstGeom>
          <a:solidFill>
            <a:schemeClr val="accent6">
              <a:lumMod val="20000"/>
              <a:lumOff val="80000"/>
            </a:schemeClr>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it-IT" dirty="0">
                <a:latin typeface="Aptos" panose="020B0004020202020204" pitchFamily="34" charset="0"/>
              </a:rPr>
              <a:t>Data</a:t>
            </a:r>
            <a:endParaRPr lang="en-GB" dirty="0">
              <a:latin typeface="Aptos" panose="020B0004020202020204" pitchFamily="34" charset="0"/>
            </a:endParaRPr>
          </a:p>
        </p:txBody>
      </p:sp>
      <p:sp>
        <p:nvSpPr>
          <p:cNvPr id="20" name="Rettangolo arrotondato 19"/>
          <p:cNvSpPr/>
          <p:nvPr/>
        </p:nvSpPr>
        <p:spPr>
          <a:xfrm>
            <a:off x="7211699" y="2435915"/>
            <a:ext cx="1325683" cy="515245"/>
          </a:xfrm>
          <a:prstGeom prst="roundRect">
            <a:avLst/>
          </a:prstGeom>
          <a:solidFill>
            <a:schemeClr val="accent6">
              <a:lumMod val="20000"/>
              <a:lumOff val="80000"/>
            </a:schemeClr>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it-IT" dirty="0">
                <a:latin typeface="Aptos" panose="020B0004020202020204" pitchFamily="34" charset="0"/>
              </a:rPr>
              <a:t>TCP/UDC </a:t>
            </a:r>
            <a:r>
              <a:rPr lang="it-IT" dirty="0" err="1">
                <a:latin typeface="Aptos" panose="020B0004020202020204" pitchFamily="34" charset="0"/>
              </a:rPr>
              <a:t>header</a:t>
            </a:r>
            <a:endParaRPr lang="en-GB" dirty="0">
              <a:latin typeface="Aptos" panose="020B0004020202020204" pitchFamily="34" charset="0"/>
            </a:endParaRPr>
          </a:p>
        </p:txBody>
      </p:sp>
      <p:sp>
        <p:nvSpPr>
          <p:cNvPr id="21" name="CasellaDiTesto 20"/>
          <p:cNvSpPr txBox="1"/>
          <p:nvPr/>
        </p:nvSpPr>
        <p:spPr>
          <a:xfrm>
            <a:off x="4019915" y="2543590"/>
            <a:ext cx="1428050" cy="369332"/>
          </a:xfrm>
          <a:prstGeom prst="rect">
            <a:avLst/>
          </a:prstGeom>
          <a:noFill/>
        </p:spPr>
        <p:txBody>
          <a:bodyPr wrap="square" rtlCol="0">
            <a:spAutoFit/>
          </a:bodyPr>
          <a:lstStyle/>
          <a:p>
            <a:r>
              <a:rPr lang="it-IT" dirty="0">
                <a:latin typeface="Aptos" panose="020B0004020202020204" pitchFamily="34" charset="0"/>
              </a:rPr>
              <a:t>FRAME</a:t>
            </a:r>
            <a:endParaRPr lang="en-GB" dirty="0">
              <a:latin typeface="Aptos" panose="020B0004020202020204" pitchFamily="34" charset="0"/>
            </a:endParaRPr>
          </a:p>
        </p:txBody>
      </p:sp>
      <p:sp>
        <p:nvSpPr>
          <p:cNvPr id="22" name="Rettangolo arrotondato 21"/>
          <p:cNvSpPr/>
          <p:nvPr/>
        </p:nvSpPr>
        <p:spPr>
          <a:xfrm>
            <a:off x="6205765" y="2436428"/>
            <a:ext cx="982975" cy="515244"/>
          </a:xfrm>
          <a:prstGeom prst="roundRect">
            <a:avLst/>
          </a:prstGeom>
          <a:solidFill>
            <a:schemeClr val="accent6">
              <a:lumMod val="20000"/>
              <a:lumOff val="80000"/>
            </a:schemeClr>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it-IT" dirty="0">
                <a:latin typeface="Aptos" panose="020B0004020202020204" pitchFamily="34" charset="0"/>
              </a:rPr>
              <a:t>IP </a:t>
            </a:r>
            <a:r>
              <a:rPr lang="it-IT" dirty="0" err="1">
                <a:latin typeface="Aptos" panose="020B0004020202020204" pitchFamily="34" charset="0"/>
              </a:rPr>
              <a:t>header</a:t>
            </a:r>
            <a:endParaRPr lang="en-GB" dirty="0">
              <a:latin typeface="Aptos" panose="020B0004020202020204" pitchFamily="34" charset="0"/>
            </a:endParaRPr>
          </a:p>
        </p:txBody>
      </p:sp>
      <p:sp>
        <p:nvSpPr>
          <p:cNvPr id="23" name="Rettangolo arrotondato 22"/>
          <p:cNvSpPr/>
          <p:nvPr/>
        </p:nvSpPr>
        <p:spPr>
          <a:xfrm>
            <a:off x="5165388" y="2450858"/>
            <a:ext cx="982975" cy="515244"/>
          </a:xfrm>
          <a:prstGeom prst="roundRect">
            <a:avLst/>
          </a:prstGeom>
          <a:solidFill>
            <a:schemeClr val="accent6">
              <a:lumMod val="20000"/>
              <a:lumOff val="80000"/>
            </a:schemeClr>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it-IT" dirty="0">
                <a:latin typeface="Aptos" panose="020B0004020202020204" pitchFamily="34" charset="0"/>
              </a:rPr>
              <a:t>Link </a:t>
            </a:r>
            <a:r>
              <a:rPr lang="it-IT" dirty="0" err="1">
                <a:latin typeface="Aptos" panose="020B0004020202020204" pitchFamily="34" charset="0"/>
              </a:rPr>
              <a:t>header</a:t>
            </a:r>
            <a:endParaRPr lang="en-GB" dirty="0">
              <a:latin typeface="Aptos" panose="020B0004020202020204" pitchFamily="34" charset="0"/>
            </a:endParaRPr>
          </a:p>
        </p:txBody>
      </p:sp>
      <p:sp>
        <p:nvSpPr>
          <p:cNvPr id="24" name="Rettangolo arrotondato 23"/>
          <p:cNvSpPr/>
          <p:nvPr/>
        </p:nvSpPr>
        <p:spPr>
          <a:xfrm>
            <a:off x="9979768" y="2436428"/>
            <a:ext cx="982975" cy="515244"/>
          </a:xfrm>
          <a:prstGeom prst="roundRect">
            <a:avLst/>
          </a:prstGeom>
          <a:solidFill>
            <a:schemeClr val="accent6">
              <a:lumMod val="20000"/>
              <a:lumOff val="80000"/>
            </a:schemeClr>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it-IT" dirty="0">
                <a:latin typeface="Aptos" panose="020B0004020202020204" pitchFamily="34" charset="0"/>
              </a:rPr>
              <a:t>Link trailer</a:t>
            </a:r>
            <a:endParaRPr lang="en-GB" dirty="0">
              <a:latin typeface="Aptos" panose="020B0004020202020204" pitchFamily="34" charset="0"/>
            </a:endParaRPr>
          </a:p>
        </p:txBody>
      </p:sp>
      <p:sp>
        <p:nvSpPr>
          <p:cNvPr id="25" name="CasellaDiTesto 24"/>
          <p:cNvSpPr txBox="1"/>
          <p:nvPr/>
        </p:nvSpPr>
        <p:spPr>
          <a:xfrm>
            <a:off x="9504070" y="1459714"/>
            <a:ext cx="1934370" cy="646331"/>
          </a:xfrm>
          <a:prstGeom prst="rect">
            <a:avLst/>
          </a:prstGeom>
          <a:noFill/>
        </p:spPr>
        <p:txBody>
          <a:bodyPr wrap="square" rtlCol="0">
            <a:spAutoFit/>
          </a:bodyPr>
          <a:lstStyle/>
          <a:p>
            <a:pPr algn="ctr"/>
            <a:r>
              <a:rPr lang="it-IT" dirty="0" err="1">
                <a:latin typeface="Aptos" panose="020B0004020202020204" pitchFamily="34" charset="0"/>
              </a:rPr>
              <a:t>Error</a:t>
            </a:r>
            <a:r>
              <a:rPr lang="it-IT" dirty="0">
                <a:latin typeface="Aptos" panose="020B0004020202020204" pitchFamily="34" charset="0"/>
              </a:rPr>
              <a:t> </a:t>
            </a:r>
            <a:r>
              <a:rPr lang="it-IT" dirty="0" err="1">
                <a:latin typeface="Aptos" panose="020B0004020202020204" pitchFamily="34" charset="0"/>
              </a:rPr>
              <a:t>checking</a:t>
            </a:r>
            <a:r>
              <a:rPr lang="it-IT" dirty="0">
                <a:latin typeface="Aptos" panose="020B0004020202020204" pitchFamily="34" charset="0"/>
              </a:rPr>
              <a:t> information</a:t>
            </a:r>
            <a:endParaRPr lang="en-GB" dirty="0">
              <a:latin typeface="Aptos" panose="020B0004020202020204" pitchFamily="34" charset="0"/>
            </a:endParaRPr>
          </a:p>
        </p:txBody>
      </p:sp>
      <p:sp>
        <p:nvSpPr>
          <p:cNvPr id="26" name="CasellaDiTesto 25"/>
          <p:cNvSpPr txBox="1"/>
          <p:nvPr/>
        </p:nvSpPr>
        <p:spPr>
          <a:xfrm>
            <a:off x="4350181" y="1182943"/>
            <a:ext cx="2604145" cy="923330"/>
          </a:xfrm>
          <a:prstGeom prst="rect">
            <a:avLst/>
          </a:prstGeom>
          <a:noFill/>
        </p:spPr>
        <p:txBody>
          <a:bodyPr wrap="square" rtlCol="0">
            <a:spAutoFit/>
          </a:bodyPr>
          <a:lstStyle/>
          <a:p>
            <a:pPr algn="ctr"/>
            <a:r>
              <a:rPr lang="it-IT" dirty="0">
                <a:latin typeface="Aptos" panose="020B0004020202020204" pitchFamily="34" charset="0"/>
              </a:rPr>
              <a:t>Source and </a:t>
            </a:r>
            <a:r>
              <a:rPr lang="it-IT" dirty="0" err="1">
                <a:latin typeface="Aptos" panose="020B0004020202020204" pitchFamily="34" charset="0"/>
              </a:rPr>
              <a:t>destination</a:t>
            </a:r>
            <a:r>
              <a:rPr lang="it-IT" dirty="0">
                <a:latin typeface="Aptos" panose="020B0004020202020204" pitchFamily="34" charset="0"/>
              </a:rPr>
              <a:t> MAC </a:t>
            </a:r>
            <a:r>
              <a:rPr lang="it-IT" dirty="0" err="1">
                <a:latin typeface="Aptos" panose="020B0004020202020204" pitchFamily="34" charset="0"/>
              </a:rPr>
              <a:t>address</a:t>
            </a:r>
            <a:r>
              <a:rPr lang="it-IT" dirty="0">
                <a:latin typeface="Aptos" panose="020B0004020202020204" pitchFamily="34" charset="0"/>
              </a:rPr>
              <a:t> (</a:t>
            </a:r>
            <a:r>
              <a:rPr lang="it-IT" dirty="0" err="1">
                <a:latin typeface="Aptos" panose="020B0004020202020204" pitchFamily="34" charset="0"/>
              </a:rPr>
              <a:t>local</a:t>
            </a:r>
            <a:r>
              <a:rPr lang="it-IT" dirty="0">
                <a:latin typeface="Aptos" panose="020B0004020202020204" pitchFamily="34" charset="0"/>
              </a:rPr>
              <a:t> </a:t>
            </a:r>
            <a:r>
              <a:rPr lang="it-IT" dirty="0" err="1">
                <a:latin typeface="Aptos" panose="020B0004020202020204" pitchFamily="34" charset="0"/>
              </a:rPr>
              <a:t>address</a:t>
            </a:r>
            <a:r>
              <a:rPr lang="it-IT" dirty="0">
                <a:latin typeface="Aptos" panose="020B0004020202020204" pitchFamily="34" charset="0"/>
              </a:rPr>
              <a:t> in a LAN)</a:t>
            </a:r>
            <a:endParaRPr lang="en-GB" dirty="0">
              <a:latin typeface="Aptos" panose="020B0004020202020204" pitchFamily="34" charset="0"/>
            </a:endParaRPr>
          </a:p>
        </p:txBody>
      </p:sp>
      <p:cxnSp>
        <p:nvCxnSpPr>
          <p:cNvPr id="9" name="Connettore 2 8"/>
          <p:cNvCxnSpPr>
            <a:stCxn id="26" idx="2"/>
            <a:endCxn id="23" idx="0"/>
          </p:cNvCxnSpPr>
          <p:nvPr/>
        </p:nvCxnSpPr>
        <p:spPr>
          <a:xfrm>
            <a:off x="5652254" y="2106273"/>
            <a:ext cx="4622" cy="344585"/>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Connettore 2 26"/>
          <p:cNvCxnSpPr/>
          <p:nvPr/>
        </p:nvCxnSpPr>
        <p:spPr>
          <a:xfrm>
            <a:off x="10471255" y="2052420"/>
            <a:ext cx="0" cy="213145"/>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809558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normAutofit/>
          </a:bodyPr>
          <a:lstStyle/>
          <a:p>
            <a:r>
              <a:rPr lang="it-IT" dirty="0">
                <a:latin typeface="Aptos" panose="020B0004020202020204" pitchFamily="34" charset="0"/>
              </a:rPr>
              <a:t>The TCP/IP </a:t>
            </a:r>
            <a:r>
              <a:rPr lang="it-IT" dirty="0" err="1">
                <a:latin typeface="Aptos" panose="020B0004020202020204" pitchFamily="34" charset="0"/>
              </a:rPr>
              <a:t>reference</a:t>
            </a:r>
            <a:r>
              <a:rPr lang="it-IT" dirty="0">
                <a:latin typeface="Aptos" panose="020B0004020202020204" pitchFamily="34" charset="0"/>
              </a:rPr>
              <a:t> model</a:t>
            </a:r>
            <a:endParaRPr lang="en-GB" dirty="0">
              <a:latin typeface="Aptos" panose="020B0004020202020204" pitchFamily="34" charset="0"/>
            </a:endParaRPr>
          </a:p>
        </p:txBody>
      </p:sp>
      <p:sp>
        <p:nvSpPr>
          <p:cNvPr id="4" name="Segnaposto numero diapositiva 3"/>
          <p:cNvSpPr>
            <a:spLocks noGrp="1"/>
          </p:cNvSpPr>
          <p:nvPr>
            <p:ph type="sldNum" sz="quarter" idx="12"/>
          </p:nvPr>
        </p:nvSpPr>
        <p:spPr/>
        <p:txBody>
          <a:bodyPr/>
          <a:lstStyle/>
          <a:p>
            <a:fld id="{31DE2C5B-556E-47B8-A792-024C2FCA4ACC}" type="slidenum">
              <a:rPr lang="en-GB" smtClean="0">
                <a:latin typeface="Aptos" panose="020B0004020202020204" pitchFamily="34" charset="0"/>
              </a:rPr>
              <a:t>17</a:t>
            </a:fld>
            <a:endParaRPr lang="en-GB" dirty="0">
              <a:latin typeface="Aptos" panose="020B0004020202020204" pitchFamily="34" charset="0"/>
            </a:endParaRPr>
          </a:p>
        </p:txBody>
      </p:sp>
      <p:sp>
        <p:nvSpPr>
          <p:cNvPr id="10" name="Rettangolo arrotondato 9"/>
          <p:cNvSpPr/>
          <p:nvPr/>
        </p:nvSpPr>
        <p:spPr>
          <a:xfrm>
            <a:off x="4497863" y="4414556"/>
            <a:ext cx="7100456" cy="2201327"/>
          </a:xfrm>
          <a:prstGeom prst="roundRect">
            <a:avLst/>
          </a:prstGeom>
          <a:ln w="38100">
            <a:solidFill>
              <a:srgbClr val="00B050"/>
            </a:solidFill>
          </a:ln>
        </p:spPr>
        <p:style>
          <a:lnRef idx="2">
            <a:schemeClr val="accent6"/>
          </a:lnRef>
          <a:fillRef idx="1">
            <a:schemeClr val="lt1"/>
          </a:fillRef>
          <a:effectRef idx="0">
            <a:schemeClr val="accent6"/>
          </a:effectRef>
          <a:fontRef idx="minor">
            <a:schemeClr val="dk1"/>
          </a:fontRef>
        </p:style>
        <p:txBody>
          <a:bodyPr rtlCol="0" anchor="ctr"/>
          <a:lstStyle/>
          <a:p>
            <a:pPr marL="342900" indent="-342900">
              <a:buClr>
                <a:srgbClr val="00B050"/>
              </a:buClr>
              <a:buFont typeface="Wingdings" panose="05000000000000000000" pitchFamily="2" charset="2"/>
              <a:buChar char="Ø"/>
            </a:pPr>
            <a:r>
              <a:rPr lang="it-IT" sz="2400" dirty="0" err="1">
                <a:solidFill>
                  <a:schemeClr val="tx1"/>
                </a:solidFill>
                <a:latin typeface="Aptos" panose="020B0004020202020204" pitchFamily="34" charset="0"/>
              </a:rPr>
              <a:t>It</a:t>
            </a:r>
            <a:r>
              <a:rPr lang="it-IT" sz="2400" dirty="0">
                <a:solidFill>
                  <a:schemeClr val="tx1"/>
                </a:solidFill>
                <a:latin typeface="Aptos" panose="020B0004020202020204" pitchFamily="34" charset="0"/>
              </a:rPr>
              <a:t> </a:t>
            </a:r>
            <a:r>
              <a:rPr lang="it-IT" sz="2400" dirty="0" err="1">
                <a:solidFill>
                  <a:schemeClr val="tx1"/>
                </a:solidFill>
                <a:latin typeface="Aptos" panose="020B0004020202020204" pitchFamily="34" charset="0"/>
              </a:rPr>
              <a:t>physically</a:t>
            </a:r>
            <a:r>
              <a:rPr lang="it-IT" sz="2400" dirty="0">
                <a:solidFill>
                  <a:schemeClr val="tx1"/>
                </a:solidFill>
                <a:latin typeface="Aptos" panose="020B0004020202020204" pitchFamily="34" charset="0"/>
              </a:rPr>
              <a:t> </a:t>
            </a:r>
            <a:r>
              <a:rPr lang="it-IT" sz="2400" dirty="0" err="1">
                <a:solidFill>
                  <a:schemeClr val="tx1"/>
                </a:solidFill>
                <a:latin typeface="Aptos" panose="020B0004020202020204" pitchFamily="34" charset="0"/>
              </a:rPr>
              <a:t>receives</a:t>
            </a:r>
            <a:r>
              <a:rPr lang="it-IT" sz="2400" dirty="0">
                <a:solidFill>
                  <a:schemeClr val="tx1"/>
                </a:solidFill>
                <a:latin typeface="Aptos" panose="020B0004020202020204" pitchFamily="34" charset="0"/>
              </a:rPr>
              <a:t> and </a:t>
            </a:r>
            <a:r>
              <a:rPr lang="it-IT" sz="2400" dirty="0" err="1">
                <a:solidFill>
                  <a:schemeClr val="tx1"/>
                </a:solidFill>
                <a:latin typeface="Aptos" panose="020B0004020202020204" pitchFamily="34" charset="0"/>
              </a:rPr>
              <a:t>transmit</a:t>
            </a:r>
            <a:r>
              <a:rPr lang="it-IT" sz="2400" dirty="0">
                <a:solidFill>
                  <a:schemeClr val="tx1"/>
                </a:solidFill>
                <a:latin typeface="Aptos" panose="020B0004020202020204" pitchFamily="34" charset="0"/>
              </a:rPr>
              <a:t> </a:t>
            </a:r>
            <a:r>
              <a:rPr lang="en-GB" sz="2400" dirty="0">
                <a:solidFill>
                  <a:schemeClr val="tx1"/>
                </a:solidFill>
                <a:latin typeface="Aptos" panose="020B0004020202020204" pitchFamily="34" charset="0"/>
              </a:rPr>
              <a:t>raw bits over a communication channel.</a:t>
            </a:r>
          </a:p>
          <a:p>
            <a:pPr marL="342900" indent="-342900">
              <a:buClr>
                <a:srgbClr val="00B050"/>
              </a:buClr>
              <a:buFont typeface="Wingdings" panose="05000000000000000000" pitchFamily="2" charset="2"/>
              <a:buChar char="Ø"/>
            </a:pPr>
            <a:r>
              <a:rPr lang="en-GB" sz="2400" dirty="0">
                <a:solidFill>
                  <a:schemeClr val="tx1"/>
                </a:solidFill>
                <a:latin typeface="Aptos" panose="020B0004020202020204" pitchFamily="34" charset="0"/>
              </a:rPr>
              <a:t>A standardized interface to the transmission medium (electrical, optical, or wireless communication).</a:t>
            </a:r>
          </a:p>
        </p:txBody>
      </p:sp>
      <p:cxnSp>
        <p:nvCxnSpPr>
          <p:cNvPr id="14" name="Connettore 2 13"/>
          <p:cNvCxnSpPr/>
          <p:nvPr/>
        </p:nvCxnSpPr>
        <p:spPr>
          <a:xfrm>
            <a:off x="3388954" y="5515220"/>
            <a:ext cx="1011382" cy="0"/>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Rettangolo arrotondato 10"/>
          <p:cNvSpPr/>
          <p:nvPr/>
        </p:nvSpPr>
        <p:spPr>
          <a:xfrm>
            <a:off x="525294" y="4279104"/>
            <a:ext cx="2780533" cy="691200"/>
          </a:xfrm>
          <a:prstGeom prst="round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it-IT" sz="2400" dirty="0">
                <a:solidFill>
                  <a:sysClr val="windowText" lastClr="000000"/>
                </a:solidFill>
                <a:latin typeface="Aptos" panose="020B0004020202020204" pitchFamily="34" charset="0"/>
              </a:rPr>
              <a:t>Link </a:t>
            </a:r>
            <a:r>
              <a:rPr lang="it-IT" sz="2400" dirty="0" err="1">
                <a:solidFill>
                  <a:sysClr val="windowText" lastClr="000000"/>
                </a:solidFill>
                <a:latin typeface="Aptos" panose="020B0004020202020204" pitchFamily="34" charset="0"/>
              </a:rPr>
              <a:t>layer</a:t>
            </a:r>
            <a:endParaRPr lang="en-GB" sz="2400" dirty="0">
              <a:solidFill>
                <a:sysClr val="windowText" lastClr="000000"/>
              </a:solidFill>
              <a:latin typeface="Aptos" panose="020B0004020202020204" pitchFamily="34" charset="0"/>
            </a:endParaRPr>
          </a:p>
        </p:txBody>
      </p:sp>
      <p:sp>
        <p:nvSpPr>
          <p:cNvPr id="12" name="Rettangolo arrotondato 11"/>
          <p:cNvSpPr/>
          <p:nvPr/>
        </p:nvSpPr>
        <p:spPr>
          <a:xfrm>
            <a:off x="525294" y="3385201"/>
            <a:ext cx="2758933" cy="691200"/>
          </a:xfrm>
          <a:prstGeom prst="round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it-IT" sz="2400" dirty="0">
                <a:solidFill>
                  <a:sysClr val="windowText" lastClr="000000"/>
                </a:solidFill>
                <a:latin typeface="Aptos" panose="020B0004020202020204" pitchFamily="34" charset="0"/>
              </a:rPr>
              <a:t>Network </a:t>
            </a:r>
            <a:r>
              <a:rPr lang="it-IT" sz="2400" dirty="0" err="1">
                <a:solidFill>
                  <a:sysClr val="windowText" lastClr="000000"/>
                </a:solidFill>
                <a:latin typeface="Aptos" panose="020B0004020202020204" pitchFamily="34" charset="0"/>
              </a:rPr>
              <a:t>layer</a:t>
            </a:r>
            <a:endParaRPr lang="en-GB" sz="2400" dirty="0">
              <a:solidFill>
                <a:sysClr val="windowText" lastClr="000000"/>
              </a:solidFill>
              <a:latin typeface="Aptos" panose="020B0004020202020204" pitchFamily="34" charset="0"/>
            </a:endParaRPr>
          </a:p>
        </p:txBody>
      </p:sp>
      <p:sp>
        <p:nvSpPr>
          <p:cNvPr id="15" name="Rettangolo arrotondato 14"/>
          <p:cNvSpPr/>
          <p:nvPr/>
        </p:nvSpPr>
        <p:spPr>
          <a:xfrm>
            <a:off x="525294" y="2480196"/>
            <a:ext cx="2766133" cy="691200"/>
          </a:xfrm>
          <a:prstGeom prst="round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it-IT" sz="2400" dirty="0" err="1">
                <a:solidFill>
                  <a:sysClr val="windowText" lastClr="000000"/>
                </a:solidFill>
                <a:latin typeface="Aptos" panose="020B0004020202020204" pitchFamily="34" charset="0"/>
              </a:rPr>
              <a:t>Transport</a:t>
            </a:r>
            <a:r>
              <a:rPr lang="it-IT" sz="2400" dirty="0">
                <a:solidFill>
                  <a:sysClr val="windowText" lastClr="000000"/>
                </a:solidFill>
                <a:latin typeface="Aptos" panose="020B0004020202020204" pitchFamily="34" charset="0"/>
              </a:rPr>
              <a:t> </a:t>
            </a:r>
            <a:r>
              <a:rPr lang="it-IT" sz="2400" dirty="0" err="1">
                <a:solidFill>
                  <a:sysClr val="windowText" lastClr="000000"/>
                </a:solidFill>
                <a:latin typeface="Aptos" panose="020B0004020202020204" pitchFamily="34" charset="0"/>
              </a:rPr>
              <a:t>layer</a:t>
            </a:r>
            <a:endParaRPr lang="en-GB" sz="2400" dirty="0">
              <a:solidFill>
                <a:sysClr val="windowText" lastClr="000000"/>
              </a:solidFill>
              <a:latin typeface="Aptos" panose="020B0004020202020204" pitchFamily="34" charset="0"/>
            </a:endParaRPr>
          </a:p>
        </p:txBody>
      </p:sp>
      <p:sp>
        <p:nvSpPr>
          <p:cNvPr id="16" name="Rettangolo arrotondato 15"/>
          <p:cNvSpPr/>
          <p:nvPr/>
        </p:nvSpPr>
        <p:spPr>
          <a:xfrm>
            <a:off x="525294" y="1574365"/>
            <a:ext cx="2766133" cy="691200"/>
          </a:xfrm>
          <a:prstGeom prst="round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it-IT" sz="2400" dirty="0">
                <a:solidFill>
                  <a:sysClr val="windowText" lastClr="000000"/>
                </a:solidFill>
                <a:latin typeface="Aptos" panose="020B0004020202020204" pitchFamily="34" charset="0"/>
              </a:rPr>
              <a:t>Application </a:t>
            </a:r>
            <a:r>
              <a:rPr lang="it-IT" sz="2400" dirty="0" err="1">
                <a:solidFill>
                  <a:sysClr val="windowText" lastClr="000000"/>
                </a:solidFill>
                <a:latin typeface="Aptos" panose="020B0004020202020204" pitchFamily="34" charset="0"/>
              </a:rPr>
              <a:t>layer</a:t>
            </a:r>
            <a:endParaRPr lang="en-GB" sz="2400" dirty="0">
              <a:solidFill>
                <a:sysClr val="windowText" lastClr="000000"/>
              </a:solidFill>
              <a:latin typeface="Aptos" panose="020B0004020202020204" pitchFamily="34" charset="0"/>
            </a:endParaRPr>
          </a:p>
        </p:txBody>
      </p:sp>
      <p:sp>
        <p:nvSpPr>
          <p:cNvPr id="17" name="Rettangolo arrotondato 16"/>
          <p:cNvSpPr/>
          <p:nvPr/>
        </p:nvSpPr>
        <p:spPr>
          <a:xfrm>
            <a:off x="525294" y="5173007"/>
            <a:ext cx="2766133" cy="691200"/>
          </a:xfrm>
          <a:prstGeom prst="round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it-IT" sz="2400" b="1" dirty="0" err="1">
                <a:solidFill>
                  <a:sysClr val="windowText" lastClr="000000"/>
                </a:solidFill>
                <a:latin typeface="Aptos" panose="020B0004020202020204" pitchFamily="34" charset="0"/>
              </a:rPr>
              <a:t>Physical</a:t>
            </a:r>
            <a:r>
              <a:rPr lang="it-IT" sz="2400" b="1" dirty="0">
                <a:solidFill>
                  <a:sysClr val="windowText" lastClr="000000"/>
                </a:solidFill>
                <a:latin typeface="Aptos" panose="020B0004020202020204" pitchFamily="34" charset="0"/>
              </a:rPr>
              <a:t> </a:t>
            </a:r>
            <a:r>
              <a:rPr lang="it-IT" sz="2400" b="1" dirty="0" err="1">
                <a:solidFill>
                  <a:sysClr val="windowText" lastClr="000000"/>
                </a:solidFill>
                <a:latin typeface="Aptos" panose="020B0004020202020204" pitchFamily="34" charset="0"/>
              </a:rPr>
              <a:t>layer</a:t>
            </a:r>
            <a:endParaRPr lang="en-GB" sz="2400" b="1" dirty="0">
              <a:solidFill>
                <a:sysClr val="windowText" lastClr="000000"/>
              </a:solidFill>
              <a:latin typeface="Aptos" panose="020B0004020202020204" pitchFamily="34" charset="0"/>
            </a:endParaRPr>
          </a:p>
        </p:txBody>
      </p:sp>
      <p:sp>
        <p:nvSpPr>
          <p:cNvPr id="18" name="Rettangolo arrotondato 17"/>
          <p:cNvSpPr/>
          <p:nvPr/>
        </p:nvSpPr>
        <p:spPr>
          <a:xfrm>
            <a:off x="5448773" y="3666515"/>
            <a:ext cx="5136205" cy="486740"/>
          </a:xfrm>
          <a:prstGeom prst="roundRec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Aptos" panose="020B0004020202020204" pitchFamily="34" charset="0"/>
            </a:endParaRPr>
          </a:p>
        </p:txBody>
      </p:sp>
      <p:sp>
        <p:nvSpPr>
          <p:cNvPr id="3" name="CasellaDiTesto 2"/>
          <p:cNvSpPr txBox="1"/>
          <p:nvPr/>
        </p:nvSpPr>
        <p:spPr>
          <a:xfrm>
            <a:off x="5448773" y="3709830"/>
            <a:ext cx="5029201" cy="707886"/>
          </a:xfrm>
          <a:prstGeom prst="rect">
            <a:avLst/>
          </a:prstGeom>
          <a:noFill/>
        </p:spPr>
        <p:txBody>
          <a:bodyPr wrap="square" rtlCol="0">
            <a:spAutoFit/>
          </a:bodyPr>
          <a:lstStyle/>
          <a:p>
            <a:pPr algn="ctr"/>
            <a:r>
              <a:rPr lang="it-IT" sz="2000" dirty="0">
                <a:solidFill>
                  <a:schemeClr val="bg1"/>
                </a:solidFill>
                <a:latin typeface="Aptos" panose="020B0004020202020204" pitchFamily="34" charset="0"/>
              </a:rPr>
              <a:t>00010101110110101001100110101111010101</a:t>
            </a:r>
            <a:endParaRPr lang="en-GB" sz="2000" dirty="0">
              <a:solidFill>
                <a:schemeClr val="bg1"/>
              </a:solidFill>
              <a:latin typeface="Aptos" panose="020B0004020202020204" pitchFamily="34" charset="0"/>
            </a:endParaRPr>
          </a:p>
        </p:txBody>
      </p:sp>
    </p:spTree>
    <p:extLst>
      <p:ext uri="{BB962C8B-B14F-4D97-AF65-F5344CB8AC3E}">
        <p14:creationId xmlns:p14="http://schemas.microsoft.com/office/powerpoint/2010/main" val="319650837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t>The </a:t>
            </a:r>
            <a:r>
              <a:rPr lang="it-IT" dirty="0" err="1"/>
              <a:t>HyperText</a:t>
            </a:r>
            <a:r>
              <a:rPr lang="it-IT" dirty="0"/>
              <a:t> Transfer </a:t>
            </a:r>
            <a:r>
              <a:rPr lang="it-IT" dirty="0" err="1"/>
              <a:t>Protocol</a:t>
            </a:r>
            <a:r>
              <a:rPr lang="it-IT" dirty="0"/>
              <a:t> (HTTP)</a:t>
            </a:r>
            <a:endParaRPr lang="en-GB" dirty="0"/>
          </a:p>
        </p:txBody>
      </p:sp>
      <p:sp>
        <p:nvSpPr>
          <p:cNvPr id="3" name="Segnaposto contenuto 2"/>
          <p:cNvSpPr>
            <a:spLocks noGrp="1"/>
          </p:cNvSpPr>
          <p:nvPr>
            <p:ph idx="1"/>
          </p:nvPr>
        </p:nvSpPr>
        <p:spPr>
          <a:xfrm>
            <a:off x="428171" y="1432287"/>
            <a:ext cx="11662229" cy="2823116"/>
          </a:xfrm>
        </p:spPr>
        <p:txBody>
          <a:bodyPr>
            <a:normAutofit/>
          </a:bodyPr>
          <a:lstStyle/>
          <a:p>
            <a:r>
              <a:rPr lang="en-US" b="1" dirty="0" err="1"/>
              <a:t>HyperText</a:t>
            </a:r>
            <a:r>
              <a:rPr lang="en-US" b="1" dirty="0"/>
              <a:t> Transfer Protocol (HTTP): </a:t>
            </a:r>
            <a:r>
              <a:rPr lang="en-US" dirty="0"/>
              <a:t>the main web communication protocol for exchanging information between servers and clients.</a:t>
            </a:r>
          </a:p>
          <a:p>
            <a:r>
              <a:rPr lang="en-US" dirty="0"/>
              <a:t>Simple </a:t>
            </a:r>
            <a:r>
              <a:rPr lang="en-US" b="1" dirty="0"/>
              <a:t>request-response protocol</a:t>
            </a:r>
            <a:r>
              <a:rPr lang="en-US" dirty="0"/>
              <a:t>, proper of the application layer,</a:t>
            </a:r>
            <a:r>
              <a:rPr lang="en-US" b="1" dirty="0"/>
              <a:t> </a:t>
            </a:r>
            <a:r>
              <a:rPr lang="en-US" dirty="0"/>
              <a:t>running over TCP. </a:t>
            </a:r>
          </a:p>
          <a:p>
            <a:r>
              <a:rPr lang="en-US" dirty="0"/>
              <a:t>It specifies what messages clients may send to servers and what responses they get back in return.</a:t>
            </a:r>
          </a:p>
          <a:p>
            <a:r>
              <a:rPr lang="en-US" dirty="0"/>
              <a:t>Most of Web currently use HTTP/1.1 and HTTP/2.0, which share the same syntax.</a:t>
            </a:r>
          </a:p>
        </p:txBody>
      </p:sp>
      <p:sp>
        <p:nvSpPr>
          <p:cNvPr id="5" name="Freccia a destra 4"/>
          <p:cNvSpPr/>
          <p:nvPr/>
        </p:nvSpPr>
        <p:spPr>
          <a:xfrm>
            <a:off x="1924792" y="5018578"/>
            <a:ext cx="8499763" cy="671946"/>
          </a:xfrm>
          <a:prstGeom prst="rightArrow">
            <a:avLst/>
          </a:prstGeom>
          <a:solidFill>
            <a:schemeClr val="accent6">
              <a:lumMod val="40000"/>
              <a:lumOff val="60000"/>
            </a:schemeClr>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Aptos" panose="020B0004020202020204" pitchFamily="34" charset="0"/>
            </a:endParaRPr>
          </a:p>
        </p:txBody>
      </p:sp>
      <p:sp>
        <p:nvSpPr>
          <p:cNvPr id="6" name="CasellaDiTesto 5"/>
          <p:cNvSpPr txBox="1"/>
          <p:nvPr/>
        </p:nvSpPr>
        <p:spPr>
          <a:xfrm>
            <a:off x="1599188" y="5719244"/>
            <a:ext cx="1221224" cy="369332"/>
          </a:xfrm>
          <a:prstGeom prst="rect">
            <a:avLst/>
          </a:prstGeom>
          <a:noFill/>
        </p:spPr>
        <p:txBody>
          <a:bodyPr wrap="square" rtlCol="0">
            <a:spAutoFit/>
          </a:bodyPr>
          <a:lstStyle/>
          <a:p>
            <a:r>
              <a:rPr lang="it-IT" dirty="0">
                <a:latin typeface="Aptos" panose="020B0004020202020204" pitchFamily="34" charset="0"/>
              </a:rPr>
              <a:t>HTTP/0.9</a:t>
            </a:r>
            <a:endParaRPr lang="en-GB" dirty="0">
              <a:latin typeface="Aptos" panose="020B0004020202020204" pitchFamily="34" charset="0"/>
            </a:endParaRPr>
          </a:p>
        </p:txBody>
      </p:sp>
      <p:sp>
        <p:nvSpPr>
          <p:cNvPr id="7" name="CasellaDiTesto 6"/>
          <p:cNvSpPr txBox="1"/>
          <p:nvPr/>
        </p:nvSpPr>
        <p:spPr>
          <a:xfrm>
            <a:off x="3546104" y="5643655"/>
            <a:ext cx="1221224" cy="369332"/>
          </a:xfrm>
          <a:prstGeom prst="rect">
            <a:avLst/>
          </a:prstGeom>
          <a:noFill/>
        </p:spPr>
        <p:txBody>
          <a:bodyPr wrap="square" rtlCol="0">
            <a:spAutoFit/>
          </a:bodyPr>
          <a:lstStyle/>
          <a:p>
            <a:r>
              <a:rPr lang="it-IT" dirty="0">
                <a:latin typeface="Aptos" panose="020B0004020202020204" pitchFamily="34" charset="0"/>
              </a:rPr>
              <a:t>HTTP/1.0</a:t>
            </a:r>
            <a:endParaRPr lang="en-GB" dirty="0">
              <a:latin typeface="Aptos" panose="020B0004020202020204" pitchFamily="34" charset="0"/>
            </a:endParaRPr>
          </a:p>
        </p:txBody>
      </p:sp>
      <p:sp>
        <p:nvSpPr>
          <p:cNvPr id="8" name="CasellaDiTesto 7"/>
          <p:cNvSpPr txBox="1"/>
          <p:nvPr/>
        </p:nvSpPr>
        <p:spPr>
          <a:xfrm>
            <a:off x="4152914" y="5955425"/>
            <a:ext cx="1221224" cy="369332"/>
          </a:xfrm>
          <a:prstGeom prst="rect">
            <a:avLst/>
          </a:prstGeom>
          <a:noFill/>
        </p:spPr>
        <p:txBody>
          <a:bodyPr wrap="square" rtlCol="0">
            <a:spAutoFit/>
          </a:bodyPr>
          <a:lstStyle/>
          <a:p>
            <a:r>
              <a:rPr lang="it-IT" dirty="0">
                <a:latin typeface="Aptos" panose="020B0004020202020204" pitchFamily="34" charset="0"/>
              </a:rPr>
              <a:t>HTTP/1.1</a:t>
            </a:r>
            <a:endParaRPr lang="en-GB" dirty="0">
              <a:latin typeface="Aptos" panose="020B0004020202020204" pitchFamily="34" charset="0"/>
            </a:endParaRPr>
          </a:p>
        </p:txBody>
      </p:sp>
      <p:sp>
        <p:nvSpPr>
          <p:cNvPr id="9" name="CasellaDiTesto 8"/>
          <p:cNvSpPr txBox="1"/>
          <p:nvPr/>
        </p:nvSpPr>
        <p:spPr>
          <a:xfrm>
            <a:off x="6985329" y="5695337"/>
            <a:ext cx="1221224" cy="369332"/>
          </a:xfrm>
          <a:prstGeom prst="rect">
            <a:avLst/>
          </a:prstGeom>
          <a:noFill/>
        </p:spPr>
        <p:txBody>
          <a:bodyPr wrap="square" rtlCol="0">
            <a:spAutoFit/>
          </a:bodyPr>
          <a:lstStyle/>
          <a:p>
            <a:r>
              <a:rPr lang="it-IT" dirty="0">
                <a:latin typeface="Aptos" panose="020B0004020202020204" pitchFamily="34" charset="0"/>
              </a:rPr>
              <a:t>HTTP/2.0</a:t>
            </a:r>
            <a:endParaRPr lang="en-GB" dirty="0">
              <a:latin typeface="Aptos" panose="020B0004020202020204" pitchFamily="34" charset="0"/>
            </a:endParaRPr>
          </a:p>
        </p:txBody>
      </p:sp>
      <p:sp>
        <p:nvSpPr>
          <p:cNvPr id="10" name="CasellaDiTesto 9"/>
          <p:cNvSpPr txBox="1"/>
          <p:nvPr/>
        </p:nvSpPr>
        <p:spPr>
          <a:xfrm>
            <a:off x="8594620" y="5689070"/>
            <a:ext cx="1221224" cy="369332"/>
          </a:xfrm>
          <a:prstGeom prst="rect">
            <a:avLst/>
          </a:prstGeom>
          <a:noFill/>
        </p:spPr>
        <p:txBody>
          <a:bodyPr wrap="square" rtlCol="0">
            <a:spAutoFit/>
          </a:bodyPr>
          <a:lstStyle/>
          <a:p>
            <a:r>
              <a:rPr lang="it-IT" dirty="0">
                <a:latin typeface="Aptos" panose="020B0004020202020204" pitchFamily="34" charset="0"/>
              </a:rPr>
              <a:t>HTTP/3.0</a:t>
            </a:r>
            <a:endParaRPr lang="en-GB" dirty="0">
              <a:latin typeface="Aptos" panose="020B0004020202020204" pitchFamily="34" charset="0"/>
            </a:endParaRPr>
          </a:p>
        </p:txBody>
      </p:sp>
      <p:cxnSp>
        <p:nvCxnSpPr>
          <p:cNvPr id="12" name="Connettore diritto 11"/>
          <p:cNvCxnSpPr/>
          <p:nvPr/>
        </p:nvCxnSpPr>
        <p:spPr>
          <a:xfrm>
            <a:off x="2209800" y="5032585"/>
            <a:ext cx="3802" cy="643932"/>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14" name="CasellaDiTesto 13"/>
          <p:cNvSpPr txBox="1"/>
          <p:nvPr/>
        </p:nvSpPr>
        <p:spPr>
          <a:xfrm>
            <a:off x="1924792" y="4716301"/>
            <a:ext cx="797648" cy="369332"/>
          </a:xfrm>
          <a:prstGeom prst="rect">
            <a:avLst/>
          </a:prstGeom>
          <a:noFill/>
        </p:spPr>
        <p:txBody>
          <a:bodyPr wrap="square" rtlCol="0">
            <a:spAutoFit/>
          </a:bodyPr>
          <a:lstStyle/>
          <a:p>
            <a:r>
              <a:rPr lang="it-IT" dirty="0">
                <a:latin typeface="Aptos" panose="020B0004020202020204" pitchFamily="34" charset="0"/>
              </a:rPr>
              <a:t>1991</a:t>
            </a:r>
            <a:endParaRPr lang="en-GB" dirty="0">
              <a:latin typeface="Aptos" panose="020B0004020202020204" pitchFamily="34" charset="0"/>
            </a:endParaRPr>
          </a:p>
        </p:txBody>
      </p:sp>
      <p:cxnSp>
        <p:nvCxnSpPr>
          <p:cNvPr id="15" name="Connettore diritto 14"/>
          <p:cNvCxnSpPr/>
          <p:nvPr/>
        </p:nvCxnSpPr>
        <p:spPr>
          <a:xfrm>
            <a:off x="4156716" y="5042316"/>
            <a:ext cx="3802" cy="643932"/>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CasellaDiTesto 15"/>
          <p:cNvSpPr txBox="1"/>
          <p:nvPr/>
        </p:nvSpPr>
        <p:spPr>
          <a:xfrm>
            <a:off x="3833969" y="4716301"/>
            <a:ext cx="797648" cy="369332"/>
          </a:xfrm>
          <a:prstGeom prst="rect">
            <a:avLst/>
          </a:prstGeom>
          <a:noFill/>
        </p:spPr>
        <p:txBody>
          <a:bodyPr wrap="square" rtlCol="0">
            <a:spAutoFit/>
          </a:bodyPr>
          <a:lstStyle/>
          <a:p>
            <a:r>
              <a:rPr lang="it-IT" dirty="0">
                <a:latin typeface="Aptos" panose="020B0004020202020204" pitchFamily="34" charset="0"/>
              </a:rPr>
              <a:t>1996</a:t>
            </a:r>
            <a:endParaRPr lang="en-GB" dirty="0">
              <a:latin typeface="Aptos" panose="020B0004020202020204" pitchFamily="34" charset="0"/>
            </a:endParaRPr>
          </a:p>
        </p:txBody>
      </p:sp>
      <p:cxnSp>
        <p:nvCxnSpPr>
          <p:cNvPr id="17" name="Connettore diritto 16"/>
          <p:cNvCxnSpPr>
            <a:endCxn id="8" idx="0"/>
          </p:cNvCxnSpPr>
          <p:nvPr/>
        </p:nvCxnSpPr>
        <p:spPr>
          <a:xfrm>
            <a:off x="4763526" y="5042316"/>
            <a:ext cx="0" cy="913109"/>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0" name="CasellaDiTesto 19"/>
          <p:cNvSpPr txBox="1"/>
          <p:nvPr/>
        </p:nvSpPr>
        <p:spPr>
          <a:xfrm>
            <a:off x="4422437" y="4729303"/>
            <a:ext cx="797648" cy="369332"/>
          </a:xfrm>
          <a:prstGeom prst="rect">
            <a:avLst/>
          </a:prstGeom>
          <a:noFill/>
        </p:spPr>
        <p:txBody>
          <a:bodyPr wrap="square" rtlCol="0">
            <a:spAutoFit/>
          </a:bodyPr>
          <a:lstStyle/>
          <a:p>
            <a:r>
              <a:rPr lang="it-IT" dirty="0">
                <a:latin typeface="Aptos" panose="020B0004020202020204" pitchFamily="34" charset="0"/>
              </a:rPr>
              <a:t>1997</a:t>
            </a:r>
            <a:endParaRPr lang="en-GB" dirty="0">
              <a:latin typeface="Aptos" panose="020B0004020202020204" pitchFamily="34" charset="0"/>
            </a:endParaRPr>
          </a:p>
        </p:txBody>
      </p:sp>
      <p:cxnSp>
        <p:nvCxnSpPr>
          <p:cNvPr id="22" name="Connettore diritto 21"/>
          <p:cNvCxnSpPr/>
          <p:nvPr/>
        </p:nvCxnSpPr>
        <p:spPr>
          <a:xfrm>
            <a:off x="7525193" y="5031113"/>
            <a:ext cx="3802" cy="643932"/>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Connettore diritto 22"/>
          <p:cNvCxnSpPr/>
          <p:nvPr/>
        </p:nvCxnSpPr>
        <p:spPr>
          <a:xfrm>
            <a:off x="9173884" y="5031113"/>
            <a:ext cx="3802" cy="643932"/>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4" name="CasellaDiTesto 23"/>
          <p:cNvSpPr txBox="1"/>
          <p:nvPr/>
        </p:nvSpPr>
        <p:spPr>
          <a:xfrm>
            <a:off x="7197117" y="4716301"/>
            <a:ext cx="797648" cy="369332"/>
          </a:xfrm>
          <a:prstGeom prst="rect">
            <a:avLst/>
          </a:prstGeom>
          <a:noFill/>
        </p:spPr>
        <p:txBody>
          <a:bodyPr wrap="square" rtlCol="0">
            <a:spAutoFit/>
          </a:bodyPr>
          <a:lstStyle/>
          <a:p>
            <a:r>
              <a:rPr lang="it-IT" dirty="0">
                <a:latin typeface="Aptos" panose="020B0004020202020204" pitchFamily="34" charset="0"/>
              </a:rPr>
              <a:t>2015</a:t>
            </a:r>
            <a:endParaRPr lang="en-GB" dirty="0">
              <a:latin typeface="Aptos" panose="020B0004020202020204" pitchFamily="34" charset="0"/>
            </a:endParaRPr>
          </a:p>
        </p:txBody>
      </p:sp>
      <p:sp>
        <p:nvSpPr>
          <p:cNvPr id="25" name="CasellaDiTesto 24"/>
          <p:cNvSpPr txBox="1"/>
          <p:nvPr/>
        </p:nvSpPr>
        <p:spPr>
          <a:xfrm>
            <a:off x="8869308" y="4729456"/>
            <a:ext cx="797648" cy="369332"/>
          </a:xfrm>
          <a:prstGeom prst="rect">
            <a:avLst/>
          </a:prstGeom>
          <a:noFill/>
        </p:spPr>
        <p:txBody>
          <a:bodyPr wrap="square" rtlCol="0">
            <a:spAutoFit/>
          </a:bodyPr>
          <a:lstStyle/>
          <a:p>
            <a:r>
              <a:rPr lang="it-IT" dirty="0">
                <a:latin typeface="Aptos" panose="020B0004020202020204" pitchFamily="34" charset="0"/>
              </a:rPr>
              <a:t>2020</a:t>
            </a:r>
            <a:endParaRPr lang="en-GB" dirty="0">
              <a:latin typeface="Aptos" panose="020B0004020202020204" pitchFamily="34" charset="0"/>
            </a:endParaRPr>
          </a:p>
        </p:txBody>
      </p:sp>
      <p:sp>
        <p:nvSpPr>
          <p:cNvPr id="4" name="Segnaposto numero diapositiva 3"/>
          <p:cNvSpPr>
            <a:spLocks noGrp="1"/>
          </p:cNvSpPr>
          <p:nvPr>
            <p:ph type="sldNum" sz="quarter" idx="12"/>
          </p:nvPr>
        </p:nvSpPr>
        <p:spPr/>
        <p:txBody>
          <a:bodyPr/>
          <a:lstStyle/>
          <a:p>
            <a:fld id="{31DE2C5B-556E-47B8-A792-024C2FCA4ACC}" type="slidenum">
              <a:rPr lang="en-GB" smtClean="0"/>
              <a:t>18</a:t>
            </a:fld>
            <a:endParaRPr lang="en-GB"/>
          </a:p>
        </p:txBody>
      </p:sp>
    </p:spTree>
    <p:extLst>
      <p:ext uri="{BB962C8B-B14F-4D97-AF65-F5344CB8AC3E}">
        <p14:creationId xmlns:p14="http://schemas.microsoft.com/office/powerpoint/2010/main" val="12508286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err="1"/>
              <a:t>Request</a:t>
            </a:r>
            <a:r>
              <a:rPr lang="it-IT" dirty="0"/>
              <a:t> </a:t>
            </a:r>
            <a:r>
              <a:rPr lang="it-IT" dirty="0" err="1"/>
              <a:t>structure</a:t>
            </a:r>
            <a:r>
              <a:rPr lang="it-IT" dirty="0"/>
              <a:t> (HTTP/1.1)</a:t>
            </a:r>
            <a:endParaRPr lang="en-GB" dirty="0"/>
          </a:p>
        </p:txBody>
      </p:sp>
      <p:sp>
        <p:nvSpPr>
          <p:cNvPr id="3" name="Segnaposto contenuto 2"/>
          <p:cNvSpPr>
            <a:spLocks noGrp="1"/>
          </p:cNvSpPr>
          <p:nvPr>
            <p:ph idx="1"/>
          </p:nvPr>
        </p:nvSpPr>
        <p:spPr>
          <a:xfrm>
            <a:off x="428172" y="1265805"/>
            <a:ext cx="11368314" cy="628971"/>
          </a:xfrm>
        </p:spPr>
        <p:txBody>
          <a:bodyPr/>
          <a:lstStyle/>
          <a:p>
            <a:r>
              <a:rPr lang="en-US" dirty="0"/>
              <a:t>Each </a:t>
            </a:r>
            <a:r>
              <a:rPr lang="en-US" b="1" dirty="0"/>
              <a:t>request</a:t>
            </a:r>
            <a:r>
              <a:rPr lang="en-US" dirty="0"/>
              <a:t> consists of one or more lines of ASCII text</a:t>
            </a:r>
          </a:p>
        </p:txBody>
      </p:sp>
      <p:sp>
        <p:nvSpPr>
          <p:cNvPr id="4" name="CasellaDiTesto 3"/>
          <p:cNvSpPr txBox="1"/>
          <p:nvPr/>
        </p:nvSpPr>
        <p:spPr>
          <a:xfrm>
            <a:off x="7474036" y="2792109"/>
            <a:ext cx="4717964" cy="707886"/>
          </a:xfrm>
          <a:prstGeom prst="rect">
            <a:avLst/>
          </a:prstGeom>
          <a:noFill/>
        </p:spPr>
        <p:txBody>
          <a:bodyPr wrap="square" rtlCol="0">
            <a:spAutoFit/>
          </a:bodyPr>
          <a:lstStyle/>
          <a:p>
            <a:r>
              <a:rPr lang="en-US" sz="2000" dirty="0">
                <a:latin typeface="Aptos" panose="020B0004020202020204" pitchFamily="34" charset="0"/>
              </a:rPr>
              <a:t>Name of the protocol version</a:t>
            </a:r>
          </a:p>
          <a:p>
            <a:r>
              <a:rPr lang="en-US" sz="2000" dirty="0">
                <a:latin typeface="Aptos" panose="020B0004020202020204" pitchFamily="34" charset="0"/>
              </a:rPr>
              <a:t>(e.g. HTTP/1.1)</a:t>
            </a:r>
          </a:p>
        </p:txBody>
      </p:sp>
      <p:sp>
        <p:nvSpPr>
          <p:cNvPr id="5" name="CasellaDiTesto 4"/>
          <p:cNvSpPr txBox="1"/>
          <p:nvPr/>
        </p:nvSpPr>
        <p:spPr>
          <a:xfrm>
            <a:off x="5492621" y="2432916"/>
            <a:ext cx="4565779" cy="400110"/>
          </a:xfrm>
          <a:prstGeom prst="rect">
            <a:avLst/>
          </a:prstGeom>
          <a:noFill/>
        </p:spPr>
        <p:txBody>
          <a:bodyPr wrap="square" rtlCol="0">
            <a:spAutoFit/>
          </a:bodyPr>
          <a:lstStyle/>
          <a:p>
            <a:r>
              <a:rPr lang="en-US" sz="2000" dirty="0">
                <a:latin typeface="Aptos" panose="020B0004020202020204" pitchFamily="34" charset="0"/>
              </a:rPr>
              <a:t>Name of the resource in the server</a:t>
            </a:r>
          </a:p>
        </p:txBody>
      </p:sp>
      <p:cxnSp>
        <p:nvCxnSpPr>
          <p:cNvPr id="6" name="Connettore 2 5"/>
          <p:cNvCxnSpPr/>
          <p:nvPr/>
        </p:nvCxnSpPr>
        <p:spPr>
          <a:xfrm flipV="1">
            <a:off x="4934973" y="2632561"/>
            <a:ext cx="586064" cy="245406"/>
          </a:xfrm>
          <a:prstGeom prst="straightConnector1">
            <a:avLst/>
          </a:prstGeom>
          <a:ln w="3810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nettore 2 6"/>
          <p:cNvCxnSpPr>
            <a:cxnSpLocks/>
          </p:cNvCxnSpPr>
          <p:nvPr/>
        </p:nvCxnSpPr>
        <p:spPr>
          <a:xfrm flipV="1">
            <a:off x="6623824" y="3038430"/>
            <a:ext cx="787866" cy="0"/>
          </a:xfrm>
          <a:prstGeom prst="straightConnector1">
            <a:avLst/>
          </a:prstGeom>
          <a:ln w="381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8" name="Rettangolo 7"/>
          <p:cNvSpPr/>
          <p:nvPr/>
        </p:nvSpPr>
        <p:spPr>
          <a:xfrm>
            <a:off x="2443302" y="2792109"/>
            <a:ext cx="4061689" cy="461665"/>
          </a:xfrm>
          <a:prstGeom prst="rect">
            <a:avLst/>
          </a:prstGeom>
        </p:spPr>
        <p:txBody>
          <a:bodyPr wrap="none">
            <a:spAutoFit/>
          </a:bodyPr>
          <a:lstStyle/>
          <a:p>
            <a:r>
              <a:rPr lang="en-US" sz="2400" b="1" dirty="0">
                <a:latin typeface="Aptos" panose="020B0004020202020204" pitchFamily="34" charset="0"/>
              </a:rPr>
              <a:t>METHOD resource protocol </a:t>
            </a:r>
          </a:p>
        </p:txBody>
      </p:sp>
      <p:sp>
        <p:nvSpPr>
          <p:cNvPr id="10" name="CasellaDiTesto 9"/>
          <p:cNvSpPr txBox="1"/>
          <p:nvPr/>
        </p:nvSpPr>
        <p:spPr>
          <a:xfrm>
            <a:off x="2740919" y="1800006"/>
            <a:ext cx="4180522" cy="707886"/>
          </a:xfrm>
          <a:prstGeom prst="rect">
            <a:avLst/>
          </a:prstGeom>
          <a:noFill/>
        </p:spPr>
        <p:txBody>
          <a:bodyPr wrap="square" rtlCol="0">
            <a:spAutoFit/>
          </a:bodyPr>
          <a:lstStyle/>
          <a:p>
            <a:r>
              <a:rPr lang="en-US" sz="2000" dirty="0">
                <a:latin typeface="Aptos" panose="020B0004020202020204" pitchFamily="34" charset="0"/>
              </a:rPr>
              <a:t>Case-sensitive name of the method (type of the request)</a:t>
            </a:r>
          </a:p>
        </p:txBody>
      </p:sp>
      <p:cxnSp>
        <p:nvCxnSpPr>
          <p:cNvPr id="11" name="Connettore 2 10"/>
          <p:cNvCxnSpPr/>
          <p:nvPr/>
        </p:nvCxnSpPr>
        <p:spPr>
          <a:xfrm flipV="1">
            <a:off x="3340180" y="2544009"/>
            <a:ext cx="76708" cy="274433"/>
          </a:xfrm>
          <a:prstGeom prst="straightConnector1">
            <a:avLst/>
          </a:prstGeom>
          <a:ln w="381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8" name="Rettangolo 17"/>
          <p:cNvSpPr/>
          <p:nvPr/>
        </p:nvSpPr>
        <p:spPr>
          <a:xfrm>
            <a:off x="2438777" y="3754721"/>
            <a:ext cx="2682850" cy="461665"/>
          </a:xfrm>
          <a:prstGeom prst="rect">
            <a:avLst/>
          </a:prstGeom>
        </p:spPr>
        <p:txBody>
          <a:bodyPr wrap="none">
            <a:spAutoFit/>
          </a:bodyPr>
          <a:lstStyle/>
          <a:p>
            <a:r>
              <a:rPr lang="en-US" sz="2400" b="1" dirty="0">
                <a:latin typeface="Aptos" panose="020B0004020202020204" pitchFamily="34" charset="0"/>
              </a:rPr>
              <a:t>Host: </a:t>
            </a:r>
            <a:r>
              <a:rPr lang="en-US" sz="2400" b="1" dirty="0" err="1">
                <a:latin typeface="Aptos" panose="020B0004020202020204" pitchFamily="34" charset="0"/>
              </a:rPr>
              <a:t>servername</a:t>
            </a:r>
            <a:endParaRPr lang="en-US" sz="2400" b="1" dirty="0">
              <a:latin typeface="Aptos" panose="020B0004020202020204" pitchFamily="34" charset="0"/>
            </a:endParaRPr>
          </a:p>
        </p:txBody>
      </p:sp>
      <p:sp>
        <p:nvSpPr>
          <p:cNvPr id="19" name="Rettangolo 18"/>
          <p:cNvSpPr/>
          <p:nvPr/>
        </p:nvSpPr>
        <p:spPr>
          <a:xfrm>
            <a:off x="746258" y="5689213"/>
            <a:ext cx="3863558" cy="461665"/>
          </a:xfrm>
          <a:prstGeom prst="rect">
            <a:avLst/>
          </a:prstGeom>
        </p:spPr>
        <p:txBody>
          <a:bodyPr wrap="none">
            <a:spAutoFit/>
          </a:bodyPr>
          <a:lstStyle/>
          <a:p>
            <a:pPr marL="342900" indent="-342900">
              <a:buFont typeface="Arial" panose="020B0604020202020204" pitchFamily="34" charset="0"/>
              <a:buChar char="•"/>
            </a:pPr>
            <a:r>
              <a:rPr lang="en-US" sz="2400" dirty="0">
                <a:latin typeface="Aptos" panose="020B0004020202020204" pitchFamily="34" charset="0"/>
              </a:rPr>
              <a:t>Request body (payload):</a:t>
            </a:r>
          </a:p>
        </p:txBody>
      </p:sp>
      <p:cxnSp>
        <p:nvCxnSpPr>
          <p:cNvPr id="22" name="Connettore 2 21"/>
          <p:cNvCxnSpPr>
            <a:cxnSpLocks/>
            <a:stCxn id="18" idx="3"/>
          </p:cNvCxnSpPr>
          <p:nvPr/>
        </p:nvCxnSpPr>
        <p:spPr>
          <a:xfrm flipV="1">
            <a:off x="5121627" y="3985553"/>
            <a:ext cx="601212" cy="1"/>
          </a:xfrm>
          <a:prstGeom prst="straightConnector1">
            <a:avLst/>
          </a:prstGeom>
          <a:ln w="381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23" name="CasellaDiTesto 22"/>
          <p:cNvSpPr txBox="1"/>
          <p:nvPr/>
        </p:nvSpPr>
        <p:spPr>
          <a:xfrm>
            <a:off x="5839199" y="3596365"/>
            <a:ext cx="5874819" cy="1015663"/>
          </a:xfrm>
          <a:prstGeom prst="rect">
            <a:avLst/>
          </a:prstGeom>
          <a:noFill/>
        </p:spPr>
        <p:txBody>
          <a:bodyPr wrap="square" rtlCol="0">
            <a:spAutoFit/>
          </a:bodyPr>
          <a:lstStyle/>
          <a:p>
            <a:r>
              <a:rPr lang="en-US" sz="2000" dirty="0">
                <a:latin typeface="Aptos" panose="020B0004020202020204" pitchFamily="34" charset="0"/>
              </a:rPr>
              <a:t>Additional information related to the request.</a:t>
            </a:r>
          </a:p>
          <a:p>
            <a:r>
              <a:rPr lang="en-US" sz="2000" dirty="0">
                <a:latin typeface="Aptos" panose="020B0004020202020204" pitchFamily="34" charset="0"/>
              </a:rPr>
              <a:t>In HTTP/1.1 there must be at least one header containing the DNS name of the server.</a:t>
            </a:r>
          </a:p>
        </p:txBody>
      </p:sp>
      <p:sp>
        <p:nvSpPr>
          <p:cNvPr id="24" name="Rettangolo 23"/>
          <p:cNvSpPr/>
          <p:nvPr/>
        </p:nvSpPr>
        <p:spPr>
          <a:xfrm>
            <a:off x="744663" y="2356777"/>
            <a:ext cx="1805302" cy="461665"/>
          </a:xfrm>
          <a:prstGeom prst="rect">
            <a:avLst/>
          </a:prstGeom>
        </p:spPr>
        <p:txBody>
          <a:bodyPr wrap="none">
            <a:spAutoFit/>
          </a:bodyPr>
          <a:lstStyle/>
          <a:p>
            <a:pPr marL="342900" indent="-342900">
              <a:buFont typeface="Arial" panose="020B0604020202020204" pitchFamily="34" charset="0"/>
              <a:buChar char="•"/>
            </a:pPr>
            <a:r>
              <a:rPr lang="en-US" sz="2400" dirty="0">
                <a:latin typeface="Aptos" panose="020B0004020202020204" pitchFamily="34" charset="0"/>
              </a:rPr>
              <a:t>First line:</a:t>
            </a:r>
          </a:p>
        </p:txBody>
      </p:sp>
      <p:sp>
        <p:nvSpPr>
          <p:cNvPr id="25" name="Rettangolo 24"/>
          <p:cNvSpPr/>
          <p:nvPr/>
        </p:nvSpPr>
        <p:spPr>
          <a:xfrm>
            <a:off x="746258" y="3251711"/>
            <a:ext cx="2842445" cy="461665"/>
          </a:xfrm>
          <a:prstGeom prst="rect">
            <a:avLst/>
          </a:prstGeom>
        </p:spPr>
        <p:txBody>
          <a:bodyPr wrap="none">
            <a:spAutoFit/>
          </a:bodyPr>
          <a:lstStyle/>
          <a:p>
            <a:pPr marL="342900" indent="-342900">
              <a:buFont typeface="Arial" panose="020B0604020202020204" pitchFamily="34" charset="0"/>
              <a:buChar char="•"/>
            </a:pPr>
            <a:r>
              <a:rPr lang="en-US" sz="2400" dirty="0">
                <a:latin typeface="Aptos" panose="020B0004020202020204" pitchFamily="34" charset="0"/>
              </a:rPr>
              <a:t>Request headers:</a:t>
            </a:r>
          </a:p>
        </p:txBody>
      </p:sp>
      <p:sp>
        <p:nvSpPr>
          <p:cNvPr id="27" name="Rettangolo 26"/>
          <p:cNvSpPr/>
          <p:nvPr/>
        </p:nvSpPr>
        <p:spPr>
          <a:xfrm>
            <a:off x="744663" y="4961796"/>
            <a:ext cx="1925527" cy="461665"/>
          </a:xfrm>
          <a:prstGeom prst="rect">
            <a:avLst/>
          </a:prstGeom>
        </p:spPr>
        <p:txBody>
          <a:bodyPr wrap="none">
            <a:spAutoFit/>
          </a:bodyPr>
          <a:lstStyle/>
          <a:p>
            <a:pPr marL="342900" indent="-342900">
              <a:buFont typeface="Arial" panose="020B0604020202020204" pitchFamily="34" charset="0"/>
              <a:buChar char="•"/>
            </a:pPr>
            <a:r>
              <a:rPr lang="en-US" sz="2400" dirty="0">
                <a:latin typeface="Aptos" panose="020B0004020202020204" pitchFamily="34" charset="0"/>
              </a:rPr>
              <a:t>Empty line</a:t>
            </a:r>
          </a:p>
        </p:txBody>
      </p:sp>
      <p:sp>
        <p:nvSpPr>
          <p:cNvPr id="28" name="Rettangolo 27"/>
          <p:cNvSpPr/>
          <p:nvPr/>
        </p:nvSpPr>
        <p:spPr>
          <a:xfrm>
            <a:off x="2438777" y="6192223"/>
            <a:ext cx="3603872" cy="461665"/>
          </a:xfrm>
          <a:prstGeom prst="rect">
            <a:avLst/>
          </a:prstGeom>
        </p:spPr>
        <p:txBody>
          <a:bodyPr wrap="none">
            <a:spAutoFit/>
          </a:bodyPr>
          <a:lstStyle/>
          <a:p>
            <a:r>
              <a:rPr lang="en-US" sz="2400" b="1" dirty="0">
                <a:latin typeface="Aptos" panose="020B0004020202020204" pitchFamily="34" charset="0"/>
              </a:rPr>
              <a:t>Optional message body</a:t>
            </a:r>
          </a:p>
        </p:txBody>
      </p:sp>
      <p:sp>
        <p:nvSpPr>
          <p:cNvPr id="29" name="Rettangolo 28"/>
          <p:cNvSpPr/>
          <p:nvPr/>
        </p:nvSpPr>
        <p:spPr>
          <a:xfrm>
            <a:off x="2434770" y="4420885"/>
            <a:ext cx="3509294" cy="461665"/>
          </a:xfrm>
          <a:prstGeom prst="rect">
            <a:avLst/>
          </a:prstGeom>
        </p:spPr>
        <p:txBody>
          <a:bodyPr wrap="none">
            <a:spAutoFit/>
          </a:bodyPr>
          <a:lstStyle/>
          <a:p>
            <a:r>
              <a:rPr lang="en-US" sz="2400" b="1" dirty="0">
                <a:latin typeface="Aptos" panose="020B0004020202020204" pitchFamily="34" charset="0"/>
              </a:rPr>
              <a:t>Other optional headers </a:t>
            </a:r>
          </a:p>
        </p:txBody>
      </p:sp>
      <p:sp>
        <p:nvSpPr>
          <p:cNvPr id="9" name="Segnaposto numero diapositiva 8"/>
          <p:cNvSpPr>
            <a:spLocks noGrp="1"/>
          </p:cNvSpPr>
          <p:nvPr>
            <p:ph type="sldNum" sz="quarter" idx="12"/>
          </p:nvPr>
        </p:nvSpPr>
        <p:spPr/>
        <p:txBody>
          <a:bodyPr/>
          <a:lstStyle/>
          <a:p>
            <a:fld id="{31DE2C5B-556E-47B8-A792-024C2FCA4ACC}" type="slidenum">
              <a:rPr lang="en-GB" smtClean="0"/>
              <a:t>19</a:t>
            </a:fld>
            <a:endParaRPr lang="en-GB"/>
          </a:p>
        </p:txBody>
      </p:sp>
    </p:spTree>
    <p:extLst>
      <p:ext uri="{BB962C8B-B14F-4D97-AF65-F5344CB8AC3E}">
        <p14:creationId xmlns:p14="http://schemas.microsoft.com/office/powerpoint/2010/main" val="350983451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t>HTTP </a:t>
            </a:r>
            <a:r>
              <a:rPr lang="it-IT" dirty="0" err="1"/>
              <a:t>methods</a:t>
            </a:r>
            <a:endParaRPr lang="en-GB" dirty="0"/>
          </a:p>
        </p:txBody>
      </p:sp>
      <p:sp>
        <p:nvSpPr>
          <p:cNvPr id="3" name="Segnaposto contenuto 2"/>
          <p:cNvSpPr>
            <a:spLocks noGrp="1"/>
          </p:cNvSpPr>
          <p:nvPr>
            <p:ph idx="1"/>
          </p:nvPr>
        </p:nvSpPr>
        <p:spPr>
          <a:xfrm>
            <a:off x="428172" y="1361168"/>
            <a:ext cx="11368314" cy="647742"/>
          </a:xfrm>
        </p:spPr>
        <p:txBody>
          <a:bodyPr/>
          <a:lstStyle/>
          <a:p>
            <a:r>
              <a:rPr lang="it-IT" dirty="0"/>
              <a:t>HTTP </a:t>
            </a:r>
            <a:r>
              <a:rPr lang="it-IT" dirty="0" err="1"/>
              <a:t>methods</a:t>
            </a:r>
            <a:r>
              <a:rPr lang="it-IT" dirty="0"/>
              <a:t> indicate the </a:t>
            </a:r>
            <a:r>
              <a:rPr lang="it-IT" b="1" dirty="0" err="1"/>
              <a:t>desired</a:t>
            </a:r>
            <a:r>
              <a:rPr lang="it-IT" b="1" dirty="0"/>
              <a:t> action </a:t>
            </a:r>
            <a:r>
              <a:rPr lang="it-IT" dirty="0"/>
              <a:t>to be </a:t>
            </a:r>
            <a:r>
              <a:rPr lang="it-IT" dirty="0" err="1"/>
              <a:t>performed</a:t>
            </a:r>
            <a:r>
              <a:rPr lang="it-IT" dirty="0"/>
              <a:t> for a </a:t>
            </a:r>
            <a:r>
              <a:rPr lang="it-IT" dirty="0" err="1"/>
              <a:t>given</a:t>
            </a:r>
            <a:r>
              <a:rPr lang="it-IT" dirty="0"/>
              <a:t> </a:t>
            </a:r>
            <a:r>
              <a:rPr lang="it-IT" dirty="0" err="1"/>
              <a:t>resource</a:t>
            </a:r>
            <a:endParaRPr lang="it-IT" dirty="0"/>
          </a:p>
          <a:p>
            <a:endParaRPr lang="en-GB" dirty="0"/>
          </a:p>
        </p:txBody>
      </p:sp>
      <p:graphicFrame>
        <p:nvGraphicFramePr>
          <p:cNvPr id="4" name="Tabella 3"/>
          <p:cNvGraphicFramePr>
            <a:graphicFrameLocks noGrp="1"/>
          </p:cNvGraphicFramePr>
          <p:nvPr/>
        </p:nvGraphicFramePr>
        <p:xfrm>
          <a:off x="815007" y="1845659"/>
          <a:ext cx="10315448" cy="4876800"/>
        </p:xfrm>
        <a:graphic>
          <a:graphicData uri="http://schemas.openxmlformats.org/drawingml/2006/table">
            <a:tbl>
              <a:tblPr firstRow="1" bandRow="1">
                <a:tableStyleId>{93296810-A885-4BE3-A3E7-6D5BEEA58F35}</a:tableStyleId>
              </a:tblPr>
              <a:tblGrid>
                <a:gridCol w="3960938">
                  <a:extLst>
                    <a:ext uri="{9D8B030D-6E8A-4147-A177-3AD203B41FA5}">
                      <a16:colId xmlns:a16="http://schemas.microsoft.com/office/drawing/2014/main" val="3915886180"/>
                    </a:ext>
                  </a:extLst>
                </a:gridCol>
                <a:gridCol w="6354510">
                  <a:extLst>
                    <a:ext uri="{9D8B030D-6E8A-4147-A177-3AD203B41FA5}">
                      <a16:colId xmlns:a16="http://schemas.microsoft.com/office/drawing/2014/main" val="1076490094"/>
                    </a:ext>
                  </a:extLst>
                </a:gridCol>
              </a:tblGrid>
              <a:tr h="370840">
                <a:tc>
                  <a:txBody>
                    <a:bodyPr/>
                    <a:lstStyle/>
                    <a:p>
                      <a:pPr algn="ctr"/>
                      <a:r>
                        <a:rPr lang="en-US" sz="2000" noProof="0" dirty="0">
                          <a:latin typeface="Aptos" panose="020B0004020202020204" pitchFamily="34" charset="0"/>
                        </a:rPr>
                        <a:t>Method</a:t>
                      </a:r>
                    </a:p>
                  </a:txBody>
                  <a:tcPr/>
                </a:tc>
                <a:tc>
                  <a:txBody>
                    <a:bodyPr/>
                    <a:lstStyle/>
                    <a:p>
                      <a:pPr algn="ctr"/>
                      <a:r>
                        <a:rPr lang="en-US" sz="2000" noProof="0" dirty="0">
                          <a:latin typeface="Aptos" panose="020B0004020202020204" pitchFamily="34" charset="0"/>
                        </a:rPr>
                        <a:t>Desired action</a:t>
                      </a:r>
                    </a:p>
                  </a:txBody>
                  <a:tcPr/>
                </a:tc>
                <a:extLst>
                  <a:ext uri="{0D108BD9-81ED-4DB2-BD59-A6C34878D82A}">
                    <a16:rowId xmlns:a16="http://schemas.microsoft.com/office/drawing/2014/main" val="2268543967"/>
                  </a:ext>
                </a:extLst>
              </a:tr>
              <a:tr h="370840">
                <a:tc>
                  <a:txBody>
                    <a:bodyPr/>
                    <a:lstStyle/>
                    <a:p>
                      <a:r>
                        <a:rPr lang="en-US" sz="2000" b="1" noProof="0" dirty="0">
                          <a:latin typeface="Aptos" panose="020B0004020202020204" pitchFamily="34" charset="0"/>
                        </a:rPr>
                        <a:t>GET</a:t>
                      </a:r>
                    </a:p>
                  </a:txBody>
                  <a:tcPr/>
                </a:tc>
                <a:tc>
                  <a:txBody>
                    <a:bodyPr/>
                    <a:lstStyle/>
                    <a:p>
                      <a:r>
                        <a:rPr lang="en-US" sz="2000" noProof="0" dirty="0">
                          <a:latin typeface="Aptos" panose="020B0004020202020204" pitchFamily="34" charset="0"/>
                        </a:rPr>
                        <a:t>Retrieves a resource</a:t>
                      </a:r>
                    </a:p>
                  </a:txBody>
                  <a:tcPr/>
                </a:tc>
                <a:extLst>
                  <a:ext uri="{0D108BD9-81ED-4DB2-BD59-A6C34878D82A}">
                    <a16:rowId xmlns:a16="http://schemas.microsoft.com/office/drawing/2014/main" val="2940816688"/>
                  </a:ext>
                </a:extLst>
              </a:tr>
              <a:tr h="370840">
                <a:tc>
                  <a:txBody>
                    <a:bodyPr/>
                    <a:lstStyle/>
                    <a:p>
                      <a:r>
                        <a:rPr lang="en-US" sz="2000" b="1" noProof="0" dirty="0">
                          <a:latin typeface="Aptos" panose="020B0004020202020204" pitchFamily="34" charset="0"/>
                        </a:rPr>
                        <a:t>HEAD</a:t>
                      </a:r>
                    </a:p>
                  </a:txBody>
                  <a:tcPr/>
                </a:tc>
                <a:tc>
                  <a:txBody>
                    <a:bodyPr/>
                    <a:lstStyle/>
                    <a:p>
                      <a:r>
                        <a:rPr lang="en-US" sz="2000" noProof="0" dirty="0">
                          <a:latin typeface="Aptos" panose="020B0004020202020204" pitchFamily="34" charset="0"/>
                        </a:rPr>
                        <a:t>Retrieves a resource header</a:t>
                      </a:r>
                    </a:p>
                  </a:txBody>
                  <a:tcPr/>
                </a:tc>
                <a:extLst>
                  <a:ext uri="{0D108BD9-81ED-4DB2-BD59-A6C34878D82A}">
                    <a16:rowId xmlns:a16="http://schemas.microsoft.com/office/drawing/2014/main" val="3106698758"/>
                  </a:ext>
                </a:extLst>
              </a:tr>
              <a:tr h="370840">
                <a:tc>
                  <a:txBody>
                    <a:bodyPr/>
                    <a:lstStyle/>
                    <a:p>
                      <a:r>
                        <a:rPr lang="en-US" sz="2000" b="1" noProof="0" dirty="0">
                          <a:latin typeface="Aptos" panose="020B0004020202020204" pitchFamily="34" charset="0"/>
                        </a:rPr>
                        <a:t>POST</a:t>
                      </a:r>
                    </a:p>
                  </a:txBody>
                  <a:tcPr/>
                </a:tc>
                <a:tc>
                  <a:txBody>
                    <a:bodyPr/>
                    <a:lstStyle/>
                    <a:p>
                      <a:r>
                        <a:rPr lang="en-US" sz="2000" noProof="0" dirty="0">
                          <a:latin typeface="Aptos" panose="020B0004020202020204" pitchFamily="34" charset="0"/>
                        </a:rPr>
                        <a:t>Submits an entity to the specified resource (causes a change of server state)</a:t>
                      </a:r>
                    </a:p>
                  </a:txBody>
                  <a:tcPr/>
                </a:tc>
                <a:extLst>
                  <a:ext uri="{0D108BD9-81ED-4DB2-BD59-A6C34878D82A}">
                    <a16:rowId xmlns:a16="http://schemas.microsoft.com/office/drawing/2014/main" val="1578774446"/>
                  </a:ext>
                </a:extLst>
              </a:tr>
              <a:tr h="370840">
                <a:tc>
                  <a:txBody>
                    <a:bodyPr/>
                    <a:lstStyle/>
                    <a:p>
                      <a:r>
                        <a:rPr lang="en-US" sz="2000" b="1" noProof="0" dirty="0">
                          <a:latin typeface="Aptos" panose="020B0004020202020204" pitchFamily="34" charset="0"/>
                        </a:rPr>
                        <a:t>PUT</a:t>
                      </a:r>
                    </a:p>
                  </a:txBody>
                  <a:tcPr/>
                </a:tc>
                <a:tc>
                  <a:txBody>
                    <a:bodyPr/>
                    <a:lstStyle/>
                    <a:p>
                      <a:r>
                        <a:rPr lang="en-US" sz="2000" baseline="0" noProof="0" dirty="0">
                          <a:latin typeface="Aptos" panose="020B0004020202020204" pitchFamily="34" charset="0"/>
                        </a:rPr>
                        <a:t>Replaces all current representations of the target resource with the request payload.</a:t>
                      </a:r>
                      <a:endParaRPr lang="en-US" sz="2000" noProof="0" dirty="0">
                        <a:latin typeface="Aptos" panose="020B0004020202020204" pitchFamily="34" charset="0"/>
                      </a:endParaRPr>
                    </a:p>
                  </a:txBody>
                  <a:tcPr/>
                </a:tc>
                <a:extLst>
                  <a:ext uri="{0D108BD9-81ED-4DB2-BD59-A6C34878D82A}">
                    <a16:rowId xmlns:a16="http://schemas.microsoft.com/office/drawing/2014/main" val="1498557482"/>
                  </a:ext>
                </a:extLst>
              </a:tr>
              <a:tr h="370840">
                <a:tc>
                  <a:txBody>
                    <a:bodyPr/>
                    <a:lstStyle/>
                    <a:p>
                      <a:r>
                        <a:rPr lang="en-US" sz="2000" b="1" noProof="0" dirty="0">
                          <a:latin typeface="Aptos" panose="020B0004020202020204" pitchFamily="34" charset="0"/>
                        </a:rPr>
                        <a:t>DELETE</a:t>
                      </a:r>
                    </a:p>
                  </a:txBody>
                  <a:tcPr/>
                </a:tc>
                <a:tc>
                  <a:txBody>
                    <a:bodyPr/>
                    <a:lstStyle/>
                    <a:p>
                      <a:r>
                        <a:rPr lang="en-US" sz="2000" noProof="0" dirty="0">
                          <a:latin typeface="Aptos" panose="020B0004020202020204" pitchFamily="34" charset="0"/>
                        </a:rPr>
                        <a:t>Deletes a resource</a:t>
                      </a:r>
                    </a:p>
                  </a:txBody>
                  <a:tcPr/>
                </a:tc>
                <a:extLst>
                  <a:ext uri="{0D108BD9-81ED-4DB2-BD59-A6C34878D82A}">
                    <a16:rowId xmlns:a16="http://schemas.microsoft.com/office/drawing/2014/main" val="3867014418"/>
                  </a:ext>
                </a:extLst>
              </a:tr>
              <a:tr h="370840">
                <a:tc>
                  <a:txBody>
                    <a:bodyPr/>
                    <a:lstStyle/>
                    <a:p>
                      <a:r>
                        <a:rPr lang="en-US" sz="2000" b="1" noProof="0" dirty="0">
                          <a:latin typeface="Aptos" panose="020B0004020202020204" pitchFamily="34" charset="0"/>
                        </a:rPr>
                        <a:t>TRACE</a:t>
                      </a:r>
                    </a:p>
                  </a:txBody>
                  <a:tcPr/>
                </a:tc>
                <a:tc>
                  <a:txBody>
                    <a:bodyPr/>
                    <a:lstStyle/>
                    <a:p>
                      <a:r>
                        <a:rPr lang="en-US" sz="2000" noProof="0" dirty="0">
                          <a:latin typeface="Aptos" panose="020B0004020202020204" pitchFamily="34" charset="0"/>
                        </a:rPr>
                        <a:t>Echoes the incoming</a:t>
                      </a:r>
                      <a:r>
                        <a:rPr lang="en-US" sz="2000" baseline="0" noProof="0" dirty="0">
                          <a:latin typeface="Aptos" panose="020B0004020202020204" pitchFamily="34" charset="0"/>
                        </a:rPr>
                        <a:t> request</a:t>
                      </a:r>
                      <a:endParaRPr lang="en-US" sz="2000" noProof="0" dirty="0">
                        <a:latin typeface="Aptos" panose="020B0004020202020204" pitchFamily="34" charset="0"/>
                      </a:endParaRPr>
                    </a:p>
                  </a:txBody>
                  <a:tcPr/>
                </a:tc>
                <a:extLst>
                  <a:ext uri="{0D108BD9-81ED-4DB2-BD59-A6C34878D82A}">
                    <a16:rowId xmlns:a16="http://schemas.microsoft.com/office/drawing/2014/main" val="758967149"/>
                  </a:ext>
                </a:extLst>
              </a:tr>
              <a:tr h="370840">
                <a:tc>
                  <a:txBody>
                    <a:bodyPr/>
                    <a:lstStyle/>
                    <a:p>
                      <a:r>
                        <a:rPr lang="en-US" sz="2000" b="1" noProof="0" dirty="0">
                          <a:latin typeface="Aptos" panose="020B0004020202020204" pitchFamily="34" charset="0"/>
                        </a:rPr>
                        <a:t>CONNECT</a:t>
                      </a:r>
                    </a:p>
                  </a:txBody>
                  <a:tcPr/>
                </a:tc>
                <a:tc>
                  <a:txBody>
                    <a:bodyPr/>
                    <a:lstStyle/>
                    <a:p>
                      <a:r>
                        <a:rPr lang="en-US" sz="2000" noProof="0" dirty="0">
                          <a:latin typeface="Aptos" panose="020B0004020202020204" pitchFamily="34" charset="0"/>
                        </a:rPr>
                        <a:t>Establishes a tunnel to the server identified by the target resource</a:t>
                      </a:r>
                    </a:p>
                  </a:txBody>
                  <a:tcPr/>
                </a:tc>
                <a:extLst>
                  <a:ext uri="{0D108BD9-81ED-4DB2-BD59-A6C34878D82A}">
                    <a16:rowId xmlns:a16="http://schemas.microsoft.com/office/drawing/2014/main" val="1316028594"/>
                  </a:ext>
                </a:extLst>
              </a:tr>
              <a:tr h="370840">
                <a:tc>
                  <a:txBody>
                    <a:bodyPr/>
                    <a:lstStyle/>
                    <a:p>
                      <a:r>
                        <a:rPr lang="en-US" sz="2000" b="1" noProof="0" dirty="0">
                          <a:latin typeface="Aptos" panose="020B0004020202020204" pitchFamily="34" charset="0"/>
                        </a:rPr>
                        <a:t>OPTIONS</a:t>
                      </a:r>
                    </a:p>
                  </a:txBody>
                  <a:tcPr/>
                </a:tc>
                <a:tc>
                  <a:txBody>
                    <a:bodyPr/>
                    <a:lstStyle/>
                    <a:p>
                      <a:r>
                        <a:rPr lang="en-US" sz="2000" noProof="0" dirty="0">
                          <a:latin typeface="Aptos" panose="020B0004020202020204" pitchFamily="34" charset="0"/>
                        </a:rPr>
                        <a:t>Describes the communication option for a resource</a:t>
                      </a:r>
                    </a:p>
                  </a:txBody>
                  <a:tcPr/>
                </a:tc>
                <a:extLst>
                  <a:ext uri="{0D108BD9-81ED-4DB2-BD59-A6C34878D82A}">
                    <a16:rowId xmlns:a16="http://schemas.microsoft.com/office/drawing/2014/main" val="4187592065"/>
                  </a:ext>
                </a:extLst>
              </a:tr>
              <a:tr h="370840">
                <a:tc>
                  <a:txBody>
                    <a:bodyPr/>
                    <a:lstStyle/>
                    <a:p>
                      <a:r>
                        <a:rPr lang="en-US" sz="2000" b="1" noProof="0" dirty="0">
                          <a:latin typeface="Aptos" panose="020B0004020202020204" pitchFamily="34" charset="0"/>
                        </a:rPr>
                        <a:t>PATCH</a:t>
                      </a:r>
                    </a:p>
                  </a:txBody>
                  <a:tcPr/>
                </a:tc>
                <a:tc>
                  <a:txBody>
                    <a:bodyPr/>
                    <a:lstStyle/>
                    <a:p>
                      <a:r>
                        <a:rPr lang="en-US" sz="2000" noProof="0" dirty="0">
                          <a:latin typeface="Aptos" panose="020B0004020202020204" pitchFamily="34" charset="0"/>
                        </a:rPr>
                        <a:t>Applies partial modifications to a resource</a:t>
                      </a:r>
                    </a:p>
                  </a:txBody>
                  <a:tcPr/>
                </a:tc>
                <a:extLst>
                  <a:ext uri="{0D108BD9-81ED-4DB2-BD59-A6C34878D82A}">
                    <a16:rowId xmlns:a16="http://schemas.microsoft.com/office/drawing/2014/main" val="1799293324"/>
                  </a:ext>
                </a:extLst>
              </a:tr>
            </a:tbl>
          </a:graphicData>
        </a:graphic>
      </p:graphicFrame>
      <p:sp>
        <p:nvSpPr>
          <p:cNvPr id="5" name="Segnaposto numero diapositiva 4"/>
          <p:cNvSpPr>
            <a:spLocks noGrp="1"/>
          </p:cNvSpPr>
          <p:nvPr>
            <p:ph type="sldNum" sz="quarter" idx="12"/>
          </p:nvPr>
        </p:nvSpPr>
        <p:spPr/>
        <p:txBody>
          <a:bodyPr/>
          <a:lstStyle/>
          <a:p>
            <a:fld id="{31DE2C5B-556E-47B8-A792-024C2FCA4ACC}" type="slidenum">
              <a:rPr lang="en-GB" smtClean="0"/>
              <a:t>20</a:t>
            </a:fld>
            <a:endParaRPr lang="en-GB"/>
          </a:p>
        </p:txBody>
      </p:sp>
    </p:spTree>
    <p:extLst>
      <p:ext uri="{BB962C8B-B14F-4D97-AF65-F5344CB8AC3E}">
        <p14:creationId xmlns:p14="http://schemas.microsoft.com/office/powerpoint/2010/main" val="405936345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err="1"/>
              <a:t>Examples</a:t>
            </a:r>
            <a:r>
              <a:rPr lang="it-IT" dirty="0"/>
              <a:t> of </a:t>
            </a:r>
            <a:r>
              <a:rPr lang="it-IT" dirty="0" err="1"/>
              <a:t>request</a:t>
            </a:r>
            <a:r>
              <a:rPr lang="it-IT" dirty="0"/>
              <a:t> </a:t>
            </a:r>
            <a:r>
              <a:rPr lang="it-IT" dirty="0" err="1"/>
              <a:t>headers</a:t>
            </a:r>
            <a:endParaRPr lang="en-GB" dirty="0"/>
          </a:p>
        </p:txBody>
      </p:sp>
      <p:sp>
        <p:nvSpPr>
          <p:cNvPr id="3" name="Segnaposto contenuto 2"/>
          <p:cNvSpPr>
            <a:spLocks noGrp="1"/>
          </p:cNvSpPr>
          <p:nvPr>
            <p:ph idx="1"/>
          </p:nvPr>
        </p:nvSpPr>
        <p:spPr/>
        <p:txBody>
          <a:bodyPr>
            <a:normAutofit/>
          </a:bodyPr>
          <a:lstStyle/>
          <a:p>
            <a:r>
              <a:rPr lang="en-US" i="1" dirty="0"/>
              <a:t>Host: </a:t>
            </a:r>
            <a:r>
              <a:rPr lang="en-US" dirty="0"/>
              <a:t>the server’s DNS name</a:t>
            </a:r>
            <a:endParaRPr lang="en-US" i="1" dirty="0"/>
          </a:p>
          <a:p>
            <a:r>
              <a:rPr lang="en-US" i="1" dirty="0"/>
              <a:t>Authorization</a:t>
            </a:r>
            <a:r>
              <a:rPr lang="en-US" dirty="0"/>
              <a:t>: needed for pages that are protected. The client might need to demonstrate it has the right to see the requested page.  </a:t>
            </a:r>
            <a:endParaRPr lang="en-GB" dirty="0"/>
          </a:p>
          <a:p>
            <a:r>
              <a:rPr lang="en-US" i="1" dirty="0"/>
              <a:t>Content-Type</a:t>
            </a:r>
            <a:r>
              <a:rPr lang="en-US" dirty="0"/>
              <a:t>: the type of the content in the request body. </a:t>
            </a:r>
          </a:p>
        </p:txBody>
      </p:sp>
      <p:sp>
        <p:nvSpPr>
          <p:cNvPr id="4" name="Segnaposto numero diapositiva 3"/>
          <p:cNvSpPr>
            <a:spLocks noGrp="1"/>
          </p:cNvSpPr>
          <p:nvPr>
            <p:ph type="sldNum" sz="quarter" idx="12"/>
          </p:nvPr>
        </p:nvSpPr>
        <p:spPr/>
        <p:txBody>
          <a:bodyPr/>
          <a:lstStyle/>
          <a:p>
            <a:fld id="{31DE2C5B-556E-47B8-A792-024C2FCA4ACC}" type="slidenum">
              <a:rPr lang="en-GB" smtClean="0"/>
              <a:t>21</a:t>
            </a:fld>
            <a:endParaRPr lang="en-GB"/>
          </a:p>
        </p:txBody>
      </p:sp>
    </p:spTree>
    <p:extLst>
      <p:ext uri="{BB962C8B-B14F-4D97-AF65-F5344CB8AC3E}">
        <p14:creationId xmlns:p14="http://schemas.microsoft.com/office/powerpoint/2010/main" val="30845874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4B9156-6FB1-1F52-CBB8-83FA8D64EBDC}"/>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31936708-6A95-7701-39B9-84A0CE15E67C}"/>
              </a:ext>
            </a:extLst>
          </p:cNvPr>
          <p:cNvSpPr>
            <a:spLocks noGrp="1"/>
          </p:cNvSpPr>
          <p:nvPr>
            <p:ph type="title"/>
          </p:nvPr>
        </p:nvSpPr>
        <p:spPr/>
        <p:txBody>
          <a:bodyPr/>
          <a:lstStyle/>
          <a:p>
            <a:r>
              <a:rPr lang="it-IT" dirty="0"/>
              <a:t>(</a:t>
            </a:r>
            <a:r>
              <a:rPr lang="it-IT" dirty="0" err="1"/>
              <a:t>Other</a:t>
            </a:r>
            <a:r>
              <a:rPr lang="it-IT" dirty="0"/>
              <a:t>) </a:t>
            </a:r>
            <a:r>
              <a:rPr lang="it-IT" dirty="0" err="1"/>
              <a:t>Examples</a:t>
            </a:r>
            <a:r>
              <a:rPr lang="it-IT" dirty="0"/>
              <a:t> of </a:t>
            </a:r>
            <a:r>
              <a:rPr lang="it-IT" dirty="0" err="1"/>
              <a:t>request</a:t>
            </a:r>
            <a:r>
              <a:rPr lang="it-IT" dirty="0"/>
              <a:t> </a:t>
            </a:r>
            <a:r>
              <a:rPr lang="it-IT" dirty="0" err="1"/>
              <a:t>headers</a:t>
            </a:r>
            <a:endParaRPr lang="en-GB" dirty="0"/>
          </a:p>
        </p:txBody>
      </p:sp>
      <p:sp>
        <p:nvSpPr>
          <p:cNvPr id="3" name="Segnaposto contenuto 2">
            <a:extLst>
              <a:ext uri="{FF2B5EF4-FFF2-40B4-BE49-F238E27FC236}">
                <a16:creationId xmlns:a16="http://schemas.microsoft.com/office/drawing/2014/main" id="{069EC828-48A7-0C03-E6D2-D08645948388}"/>
              </a:ext>
            </a:extLst>
          </p:cNvPr>
          <p:cNvSpPr>
            <a:spLocks noGrp="1"/>
          </p:cNvSpPr>
          <p:nvPr>
            <p:ph idx="1"/>
          </p:nvPr>
        </p:nvSpPr>
        <p:spPr/>
        <p:txBody>
          <a:bodyPr>
            <a:normAutofit/>
          </a:bodyPr>
          <a:lstStyle/>
          <a:p>
            <a:r>
              <a:rPr lang="en-US" i="1" dirty="0"/>
              <a:t>User-Agent</a:t>
            </a:r>
            <a:r>
              <a:rPr lang="en-US" dirty="0"/>
              <a:t>: it allows the client to inform the server about the user agent making the request, e.g., the browser implementation</a:t>
            </a:r>
          </a:p>
          <a:p>
            <a:r>
              <a:rPr lang="en-US" i="1" dirty="0"/>
              <a:t>Accept</a:t>
            </a:r>
            <a:r>
              <a:rPr lang="en-US" dirty="0"/>
              <a:t>: it allows to tell the server what the client is willing to accept </a:t>
            </a:r>
          </a:p>
          <a:p>
            <a:r>
              <a:rPr lang="en-US" i="1" dirty="0"/>
              <a:t>If-Modified-Since</a:t>
            </a:r>
            <a:r>
              <a:rPr lang="en-US" dirty="0"/>
              <a:t>: time and date of last page modification, it allows the client to check the validity of cached pages (the client stores recently requested contents in a cache memory, similarly to what the server does). </a:t>
            </a:r>
          </a:p>
          <a:p>
            <a:r>
              <a:rPr lang="en-US" i="1" dirty="0"/>
              <a:t>Cache-Control</a:t>
            </a:r>
            <a:r>
              <a:rPr lang="en-US" dirty="0"/>
              <a:t>: it </a:t>
            </a:r>
            <a:r>
              <a:rPr lang="en-GB" dirty="0"/>
              <a:t>specify directives that must be obeyed by all caching mechanisms along the request/response chain (e.g., </a:t>
            </a:r>
            <a:r>
              <a:rPr lang="en-GB" i="1" dirty="0"/>
              <a:t>no-cache</a:t>
            </a:r>
            <a:r>
              <a:rPr lang="en-GB" dirty="0"/>
              <a:t>).</a:t>
            </a:r>
          </a:p>
          <a:p>
            <a:r>
              <a:rPr lang="it-IT" dirty="0"/>
              <a:t>…</a:t>
            </a:r>
            <a:endParaRPr lang="en-GB" dirty="0"/>
          </a:p>
        </p:txBody>
      </p:sp>
      <p:sp>
        <p:nvSpPr>
          <p:cNvPr id="4" name="Segnaposto numero diapositiva 3">
            <a:extLst>
              <a:ext uri="{FF2B5EF4-FFF2-40B4-BE49-F238E27FC236}">
                <a16:creationId xmlns:a16="http://schemas.microsoft.com/office/drawing/2014/main" id="{A2908505-AC11-5F4B-AB15-1B0107308342}"/>
              </a:ext>
            </a:extLst>
          </p:cNvPr>
          <p:cNvSpPr>
            <a:spLocks noGrp="1"/>
          </p:cNvSpPr>
          <p:nvPr>
            <p:ph type="sldNum" sz="quarter" idx="12"/>
          </p:nvPr>
        </p:nvSpPr>
        <p:spPr/>
        <p:txBody>
          <a:bodyPr/>
          <a:lstStyle/>
          <a:p>
            <a:fld id="{31DE2C5B-556E-47B8-A792-024C2FCA4ACC}" type="slidenum">
              <a:rPr lang="en-GB" smtClean="0"/>
              <a:t>22</a:t>
            </a:fld>
            <a:endParaRPr lang="en-GB"/>
          </a:p>
        </p:txBody>
      </p:sp>
      <p:sp>
        <p:nvSpPr>
          <p:cNvPr id="5" name="Rectangle 4">
            <a:extLst>
              <a:ext uri="{FF2B5EF4-FFF2-40B4-BE49-F238E27FC236}">
                <a16:creationId xmlns:a16="http://schemas.microsoft.com/office/drawing/2014/main" id="{0439AAAC-1E23-5B95-BB98-4966F81D5677}"/>
              </a:ext>
            </a:extLst>
          </p:cNvPr>
          <p:cNvSpPr/>
          <p:nvPr/>
        </p:nvSpPr>
        <p:spPr>
          <a:xfrm>
            <a:off x="9900745" y="325821"/>
            <a:ext cx="1975945" cy="588579"/>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sz="2000" b="1" dirty="0">
                <a:solidFill>
                  <a:schemeClr val="bg1"/>
                </a:solidFill>
                <a:latin typeface="Aptos" panose="020B0004020202020204" pitchFamily="34" charset="0"/>
              </a:rPr>
              <a:t>BONUS</a:t>
            </a:r>
          </a:p>
        </p:txBody>
      </p:sp>
    </p:spTree>
    <p:extLst>
      <p:ext uri="{BB962C8B-B14F-4D97-AF65-F5344CB8AC3E}">
        <p14:creationId xmlns:p14="http://schemas.microsoft.com/office/powerpoint/2010/main" val="380679787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err="1"/>
              <a:t>Response</a:t>
            </a:r>
            <a:r>
              <a:rPr lang="it-IT" dirty="0"/>
              <a:t> </a:t>
            </a:r>
            <a:r>
              <a:rPr lang="it-IT" dirty="0" err="1"/>
              <a:t>structure</a:t>
            </a:r>
            <a:r>
              <a:rPr lang="it-IT" dirty="0"/>
              <a:t> (HTTP/1.1)</a:t>
            </a:r>
            <a:endParaRPr lang="en-GB" dirty="0"/>
          </a:p>
        </p:txBody>
      </p:sp>
      <p:sp>
        <p:nvSpPr>
          <p:cNvPr id="3" name="Segnaposto contenuto 2"/>
          <p:cNvSpPr>
            <a:spLocks noGrp="1"/>
          </p:cNvSpPr>
          <p:nvPr>
            <p:ph idx="1"/>
          </p:nvPr>
        </p:nvSpPr>
        <p:spPr/>
        <p:txBody>
          <a:bodyPr/>
          <a:lstStyle/>
          <a:p>
            <a:r>
              <a:rPr lang="en-GB" dirty="0"/>
              <a:t>A response message is sent by a server to a client as a reply to its former request message.</a:t>
            </a:r>
          </a:p>
          <a:p>
            <a:endParaRPr lang="en-GB" dirty="0"/>
          </a:p>
        </p:txBody>
      </p:sp>
      <p:sp>
        <p:nvSpPr>
          <p:cNvPr id="4" name="Rettangolo 3"/>
          <p:cNvSpPr/>
          <p:nvPr/>
        </p:nvSpPr>
        <p:spPr>
          <a:xfrm>
            <a:off x="744663" y="2356777"/>
            <a:ext cx="2024913" cy="461665"/>
          </a:xfrm>
          <a:prstGeom prst="rect">
            <a:avLst/>
          </a:prstGeom>
        </p:spPr>
        <p:txBody>
          <a:bodyPr wrap="none">
            <a:spAutoFit/>
          </a:bodyPr>
          <a:lstStyle/>
          <a:p>
            <a:pPr marL="342900" indent="-342900">
              <a:buFont typeface="Arial" panose="020B0604020202020204" pitchFamily="34" charset="0"/>
              <a:buChar char="•"/>
            </a:pPr>
            <a:r>
              <a:rPr lang="en-US" sz="2400" dirty="0">
                <a:latin typeface="Aptos" panose="020B0004020202020204" pitchFamily="34" charset="0"/>
              </a:rPr>
              <a:t>Status line:</a:t>
            </a:r>
          </a:p>
        </p:txBody>
      </p:sp>
      <p:sp>
        <p:nvSpPr>
          <p:cNvPr id="5" name="Rettangolo 4"/>
          <p:cNvSpPr/>
          <p:nvPr/>
        </p:nvSpPr>
        <p:spPr>
          <a:xfrm>
            <a:off x="744662" y="3559435"/>
            <a:ext cx="3081485" cy="461665"/>
          </a:xfrm>
          <a:prstGeom prst="rect">
            <a:avLst/>
          </a:prstGeom>
        </p:spPr>
        <p:txBody>
          <a:bodyPr wrap="none">
            <a:spAutoFit/>
          </a:bodyPr>
          <a:lstStyle/>
          <a:p>
            <a:pPr marL="342900" indent="-342900">
              <a:buFont typeface="Arial" panose="020B0604020202020204" pitchFamily="34" charset="0"/>
              <a:buChar char="•"/>
            </a:pPr>
            <a:r>
              <a:rPr lang="en-US" sz="2400" dirty="0">
                <a:latin typeface="Aptos" panose="020B0004020202020204" pitchFamily="34" charset="0"/>
              </a:rPr>
              <a:t>Response headers:</a:t>
            </a:r>
          </a:p>
        </p:txBody>
      </p:sp>
      <p:sp>
        <p:nvSpPr>
          <p:cNvPr id="6" name="Rettangolo 5"/>
          <p:cNvSpPr/>
          <p:nvPr/>
        </p:nvSpPr>
        <p:spPr>
          <a:xfrm>
            <a:off x="746258" y="5689213"/>
            <a:ext cx="3863558" cy="461665"/>
          </a:xfrm>
          <a:prstGeom prst="rect">
            <a:avLst/>
          </a:prstGeom>
        </p:spPr>
        <p:txBody>
          <a:bodyPr wrap="none">
            <a:spAutoFit/>
          </a:bodyPr>
          <a:lstStyle/>
          <a:p>
            <a:pPr marL="342900" indent="-342900">
              <a:buFont typeface="Arial" panose="020B0604020202020204" pitchFamily="34" charset="0"/>
              <a:buChar char="•"/>
            </a:pPr>
            <a:r>
              <a:rPr lang="en-US" sz="2400" dirty="0">
                <a:latin typeface="Aptos" panose="020B0004020202020204" pitchFamily="34" charset="0"/>
              </a:rPr>
              <a:t>Request body (payload):</a:t>
            </a:r>
          </a:p>
        </p:txBody>
      </p:sp>
      <p:sp>
        <p:nvSpPr>
          <p:cNvPr id="7" name="Rettangolo 6"/>
          <p:cNvSpPr/>
          <p:nvPr/>
        </p:nvSpPr>
        <p:spPr>
          <a:xfrm>
            <a:off x="744663" y="4961796"/>
            <a:ext cx="1925527" cy="461665"/>
          </a:xfrm>
          <a:prstGeom prst="rect">
            <a:avLst/>
          </a:prstGeom>
        </p:spPr>
        <p:txBody>
          <a:bodyPr wrap="none">
            <a:spAutoFit/>
          </a:bodyPr>
          <a:lstStyle/>
          <a:p>
            <a:pPr marL="342900" indent="-342900">
              <a:buFont typeface="Arial" panose="020B0604020202020204" pitchFamily="34" charset="0"/>
              <a:buChar char="•"/>
            </a:pPr>
            <a:r>
              <a:rPr lang="en-US" sz="2400" dirty="0">
                <a:latin typeface="Aptos" panose="020B0004020202020204" pitchFamily="34" charset="0"/>
              </a:rPr>
              <a:t>Empty line</a:t>
            </a:r>
          </a:p>
        </p:txBody>
      </p:sp>
      <p:sp>
        <p:nvSpPr>
          <p:cNvPr id="8" name="Rettangolo 7"/>
          <p:cNvSpPr/>
          <p:nvPr/>
        </p:nvSpPr>
        <p:spPr>
          <a:xfrm>
            <a:off x="1509192" y="6228954"/>
            <a:ext cx="3501280" cy="461665"/>
          </a:xfrm>
          <a:prstGeom prst="rect">
            <a:avLst/>
          </a:prstGeom>
        </p:spPr>
        <p:txBody>
          <a:bodyPr wrap="none">
            <a:spAutoFit/>
          </a:bodyPr>
          <a:lstStyle/>
          <a:p>
            <a:r>
              <a:rPr lang="en-US" sz="2400" b="1" dirty="0">
                <a:latin typeface="Aptos" panose="020B0004020202020204" pitchFamily="34" charset="0"/>
              </a:rPr>
              <a:t>Optional message body</a:t>
            </a:r>
          </a:p>
        </p:txBody>
      </p:sp>
      <p:sp>
        <p:nvSpPr>
          <p:cNvPr id="9" name="Rettangolo 8"/>
          <p:cNvSpPr/>
          <p:nvPr/>
        </p:nvSpPr>
        <p:spPr>
          <a:xfrm>
            <a:off x="1509192" y="4178717"/>
            <a:ext cx="2619628" cy="461665"/>
          </a:xfrm>
          <a:prstGeom prst="rect">
            <a:avLst/>
          </a:prstGeom>
        </p:spPr>
        <p:txBody>
          <a:bodyPr wrap="none">
            <a:spAutoFit/>
          </a:bodyPr>
          <a:lstStyle/>
          <a:p>
            <a:r>
              <a:rPr lang="en-US" sz="2400" b="1" dirty="0">
                <a:latin typeface="Aptos" panose="020B0004020202020204" pitchFamily="34" charset="0"/>
              </a:rPr>
              <a:t>Optional headers</a:t>
            </a:r>
          </a:p>
        </p:txBody>
      </p:sp>
      <p:sp>
        <p:nvSpPr>
          <p:cNvPr id="10" name="Rettangolo 9"/>
          <p:cNvSpPr/>
          <p:nvPr/>
        </p:nvSpPr>
        <p:spPr>
          <a:xfrm>
            <a:off x="1509192" y="2841600"/>
            <a:ext cx="5287153" cy="461665"/>
          </a:xfrm>
          <a:prstGeom prst="rect">
            <a:avLst/>
          </a:prstGeom>
        </p:spPr>
        <p:txBody>
          <a:bodyPr wrap="none">
            <a:spAutoFit/>
          </a:bodyPr>
          <a:lstStyle/>
          <a:p>
            <a:r>
              <a:rPr lang="en-US" sz="2400" b="1" dirty="0">
                <a:latin typeface="Aptos" panose="020B0004020202020204" pitchFamily="34" charset="0"/>
              </a:rPr>
              <a:t>Protocol </a:t>
            </a:r>
            <a:r>
              <a:rPr lang="en-US" sz="2400" b="1" dirty="0" err="1">
                <a:latin typeface="Aptos" panose="020B0004020202020204" pitchFamily="34" charset="0"/>
              </a:rPr>
              <a:t>status_code</a:t>
            </a:r>
            <a:r>
              <a:rPr lang="en-US" sz="2400" b="1" dirty="0">
                <a:latin typeface="Aptos" panose="020B0004020202020204" pitchFamily="34" charset="0"/>
              </a:rPr>
              <a:t> </a:t>
            </a:r>
            <a:r>
              <a:rPr lang="en-US" sz="2400" b="1" dirty="0" err="1">
                <a:latin typeface="Aptos" panose="020B0004020202020204" pitchFamily="34" charset="0"/>
              </a:rPr>
              <a:t>reason_phrase</a:t>
            </a:r>
            <a:endParaRPr lang="en-US" sz="2400" b="1" dirty="0">
              <a:latin typeface="Aptos" panose="020B0004020202020204" pitchFamily="34" charset="0"/>
            </a:endParaRPr>
          </a:p>
        </p:txBody>
      </p:sp>
      <p:sp>
        <p:nvSpPr>
          <p:cNvPr id="11" name="Rettangolo 10"/>
          <p:cNvSpPr/>
          <p:nvPr/>
        </p:nvSpPr>
        <p:spPr>
          <a:xfrm>
            <a:off x="3259832" y="1872871"/>
            <a:ext cx="6096000" cy="646331"/>
          </a:xfrm>
          <a:prstGeom prst="rect">
            <a:avLst/>
          </a:prstGeom>
        </p:spPr>
        <p:txBody>
          <a:bodyPr>
            <a:spAutoFit/>
          </a:bodyPr>
          <a:lstStyle/>
          <a:p>
            <a:r>
              <a:rPr lang="en-GB" dirty="0">
                <a:solidFill>
                  <a:srgbClr val="202122"/>
                </a:solidFill>
                <a:latin typeface="Aptos" panose="020B0004020202020204" pitchFamily="34" charset="0"/>
              </a:rPr>
              <a:t>Three-digit integer code representing the result of the server's attempt to understand and satisfy the request.</a:t>
            </a:r>
            <a:endParaRPr lang="en-GB" dirty="0">
              <a:latin typeface="Aptos" panose="020B0004020202020204" pitchFamily="34" charset="0"/>
            </a:endParaRPr>
          </a:p>
        </p:txBody>
      </p:sp>
      <p:cxnSp>
        <p:nvCxnSpPr>
          <p:cNvPr id="12" name="Connettore 2 11"/>
          <p:cNvCxnSpPr/>
          <p:nvPr/>
        </p:nvCxnSpPr>
        <p:spPr>
          <a:xfrm flipV="1">
            <a:off x="3773888" y="2480338"/>
            <a:ext cx="464271" cy="413730"/>
          </a:xfrm>
          <a:prstGeom prst="straightConnector1">
            <a:avLst/>
          </a:prstGeom>
          <a:ln w="3810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Connettore 2 13"/>
          <p:cNvCxnSpPr/>
          <p:nvPr/>
        </p:nvCxnSpPr>
        <p:spPr>
          <a:xfrm>
            <a:off x="6616879" y="3072432"/>
            <a:ext cx="462442" cy="2093"/>
          </a:xfrm>
          <a:prstGeom prst="straightConnector1">
            <a:avLst/>
          </a:prstGeom>
          <a:ln w="381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7" name="Rettangolo 16"/>
          <p:cNvSpPr/>
          <p:nvPr/>
        </p:nvSpPr>
        <p:spPr>
          <a:xfrm>
            <a:off x="7109404" y="2560187"/>
            <a:ext cx="5082596" cy="923330"/>
          </a:xfrm>
          <a:prstGeom prst="rect">
            <a:avLst/>
          </a:prstGeom>
        </p:spPr>
        <p:txBody>
          <a:bodyPr wrap="square">
            <a:spAutoFit/>
          </a:bodyPr>
          <a:lstStyle/>
          <a:p>
            <a:r>
              <a:rPr lang="en-GB" dirty="0">
                <a:solidFill>
                  <a:srgbClr val="202122"/>
                </a:solidFill>
                <a:latin typeface="Aptos" panose="020B0004020202020204" pitchFamily="34" charset="0"/>
              </a:rPr>
              <a:t>Optional. If the status code indicated a problem, the </a:t>
            </a:r>
            <a:r>
              <a:rPr lang="en-GB" i="1" dirty="0">
                <a:solidFill>
                  <a:srgbClr val="202122"/>
                </a:solidFill>
                <a:latin typeface="Aptos" panose="020B0004020202020204" pitchFamily="34" charset="0"/>
              </a:rPr>
              <a:t>reason phrase</a:t>
            </a:r>
            <a:r>
              <a:rPr lang="en-GB" dirty="0">
                <a:solidFill>
                  <a:srgbClr val="202122"/>
                </a:solidFill>
                <a:latin typeface="Aptos" panose="020B0004020202020204" pitchFamily="34" charset="0"/>
              </a:rPr>
              <a:t> might displayed the further information about the nature of the problem. </a:t>
            </a:r>
            <a:endParaRPr lang="en-GB" dirty="0">
              <a:latin typeface="Aptos" panose="020B0004020202020204" pitchFamily="34" charset="0"/>
            </a:endParaRPr>
          </a:p>
        </p:txBody>
      </p:sp>
      <p:graphicFrame>
        <p:nvGraphicFramePr>
          <p:cNvPr id="20" name="Tabella 19"/>
          <p:cNvGraphicFramePr>
            <a:graphicFrameLocks noGrp="1"/>
          </p:cNvGraphicFramePr>
          <p:nvPr>
            <p:extLst>
              <p:ext uri="{D42A27DB-BD31-4B8C-83A1-F6EECF244321}">
                <p14:modId xmlns:p14="http://schemas.microsoft.com/office/powerpoint/2010/main" val="1650550200"/>
              </p:ext>
            </p:extLst>
          </p:nvPr>
        </p:nvGraphicFramePr>
        <p:xfrm>
          <a:off x="5531459" y="3568033"/>
          <a:ext cx="6023459" cy="3230880"/>
        </p:xfrm>
        <a:graphic>
          <a:graphicData uri="http://schemas.openxmlformats.org/drawingml/2006/table">
            <a:tbl>
              <a:tblPr firstRow="1" bandRow="1">
                <a:tableStyleId>{93296810-A885-4BE3-A3E7-6D5BEEA58F35}</a:tableStyleId>
              </a:tblPr>
              <a:tblGrid>
                <a:gridCol w="1293912">
                  <a:extLst>
                    <a:ext uri="{9D8B030D-6E8A-4147-A177-3AD203B41FA5}">
                      <a16:colId xmlns:a16="http://schemas.microsoft.com/office/drawing/2014/main" val="3915886180"/>
                    </a:ext>
                  </a:extLst>
                </a:gridCol>
                <a:gridCol w="4729547">
                  <a:extLst>
                    <a:ext uri="{9D8B030D-6E8A-4147-A177-3AD203B41FA5}">
                      <a16:colId xmlns:a16="http://schemas.microsoft.com/office/drawing/2014/main" val="1076490094"/>
                    </a:ext>
                  </a:extLst>
                </a:gridCol>
              </a:tblGrid>
              <a:tr h="308174">
                <a:tc>
                  <a:txBody>
                    <a:bodyPr/>
                    <a:lstStyle/>
                    <a:p>
                      <a:pPr algn="ctr"/>
                      <a:r>
                        <a:rPr lang="en-US" sz="1600" noProof="0" dirty="0">
                          <a:latin typeface="Aptos" panose="020B0004020202020204" pitchFamily="34" charset="0"/>
                        </a:rPr>
                        <a:t>Status code</a:t>
                      </a:r>
                    </a:p>
                  </a:txBody>
                  <a:tcPr/>
                </a:tc>
                <a:tc>
                  <a:txBody>
                    <a:bodyPr/>
                    <a:lstStyle/>
                    <a:p>
                      <a:pPr algn="ctr"/>
                      <a:r>
                        <a:rPr lang="en-US" sz="1600" noProof="0" dirty="0">
                          <a:latin typeface="Aptos" panose="020B0004020202020204" pitchFamily="34" charset="0"/>
                        </a:rPr>
                        <a:t>Description</a:t>
                      </a:r>
                    </a:p>
                  </a:txBody>
                  <a:tcPr/>
                </a:tc>
                <a:extLst>
                  <a:ext uri="{0D108BD9-81ED-4DB2-BD59-A6C34878D82A}">
                    <a16:rowId xmlns:a16="http://schemas.microsoft.com/office/drawing/2014/main" val="2268543967"/>
                  </a:ext>
                </a:extLst>
              </a:tr>
              <a:tr h="532301">
                <a:tc>
                  <a:txBody>
                    <a:bodyPr/>
                    <a:lstStyle/>
                    <a:p>
                      <a:r>
                        <a:rPr lang="en-US" sz="1600" b="1" noProof="0" dirty="0">
                          <a:latin typeface="Aptos" panose="020B0004020202020204" pitchFamily="34" charset="0"/>
                        </a:rPr>
                        <a:t>1xx</a:t>
                      </a:r>
                    </a:p>
                  </a:txBody>
                  <a:tcPr/>
                </a:tc>
                <a:tc>
                  <a:txBody>
                    <a:bodyPr/>
                    <a:lstStyle/>
                    <a:p>
                      <a:r>
                        <a:rPr lang="en-US" sz="1600" b="1" noProof="0" dirty="0">
                          <a:latin typeface="Aptos" panose="020B0004020202020204" pitchFamily="34" charset="0"/>
                        </a:rPr>
                        <a:t>Informational</a:t>
                      </a:r>
                      <a:r>
                        <a:rPr lang="en-US" sz="1600" noProof="0" dirty="0">
                          <a:latin typeface="Aptos" panose="020B0004020202020204" pitchFamily="34" charset="0"/>
                        </a:rPr>
                        <a:t>:</a:t>
                      </a:r>
                      <a:r>
                        <a:rPr lang="en-US" sz="1600" baseline="0" noProof="0" dirty="0">
                          <a:latin typeface="Aptos" panose="020B0004020202020204" pitchFamily="34" charset="0"/>
                        </a:rPr>
                        <a:t> the request was received and is being processed,</a:t>
                      </a:r>
                      <a:endParaRPr lang="en-US" sz="1600" noProof="0" dirty="0">
                        <a:latin typeface="Aptos" panose="020B0004020202020204" pitchFamily="34" charset="0"/>
                      </a:endParaRPr>
                    </a:p>
                  </a:txBody>
                  <a:tcPr/>
                </a:tc>
                <a:extLst>
                  <a:ext uri="{0D108BD9-81ED-4DB2-BD59-A6C34878D82A}">
                    <a16:rowId xmlns:a16="http://schemas.microsoft.com/office/drawing/2014/main" val="2940816688"/>
                  </a:ext>
                </a:extLst>
              </a:tr>
              <a:tr h="532301">
                <a:tc>
                  <a:txBody>
                    <a:bodyPr/>
                    <a:lstStyle/>
                    <a:p>
                      <a:r>
                        <a:rPr lang="en-US" sz="1600" b="1" noProof="0" dirty="0">
                          <a:latin typeface="Aptos" panose="020B0004020202020204" pitchFamily="34" charset="0"/>
                        </a:rPr>
                        <a:t>2xx</a:t>
                      </a:r>
                    </a:p>
                  </a:txBody>
                  <a:tcPr/>
                </a:tc>
                <a:tc>
                  <a:txBody>
                    <a:bodyPr/>
                    <a:lstStyle/>
                    <a:p>
                      <a:r>
                        <a:rPr lang="en-US" sz="1600" b="1" noProof="0" dirty="0">
                          <a:latin typeface="Aptos" panose="020B0004020202020204" pitchFamily="34" charset="0"/>
                        </a:rPr>
                        <a:t>Successful</a:t>
                      </a:r>
                      <a:r>
                        <a:rPr lang="en-US" sz="1600" noProof="0" dirty="0">
                          <a:latin typeface="Aptos" panose="020B0004020202020204" pitchFamily="34" charset="0"/>
                        </a:rPr>
                        <a:t>: </a:t>
                      </a:r>
                      <a:r>
                        <a:rPr lang="en-GB" sz="1600" noProof="0" dirty="0">
                          <a:latin typeface="Aptos" panose="020B0004020202020204" pitchFamily="34" charset="0"/>
                        </a:rPr>
                        <a:t>the request was successfully received, understood, and accepted.</a:t>
                      </a:r>
                      <a:endParaRPr lang="en-US" sz="1600" noProof="0" dirty="0">
                        <a:latin typeface="Aptos" panose="020B0004020202020204" pitchFamily="34" charset="0"/>
                      </a:endParaRPr>
                    </a:p>
                  </a:txBody>
                  <a:tcPr/>
                </a:tc>
                <a:extLst>
                  <a:ext uri="{0D108BD9-81ED-4DB2-BD59-A6C34878D82A}">
                    <a16:rowId xmlns:a16="http://schemas.microsoft.com/office/drawing/2014/main" val="3106698758"/>
                  </a:ext>
                </a:extLst>
              </a:tr>
              <a:tr h="532301">
                <a:tc>
                  <a:txBody>
                    <a:bodyPr/>
                    <a:lstStyle/>
                    <a:p>
                      <a:r>
                        <a:rPr lang="en-US" sz="1600" b="1" noProof="0" dirty="0">
                          <a:latin typeface="Aptos" panose="020B0004020202020204" pitchFamily="34" charset="0"/>
                        </a:rPr>
                        <a:t>3xx</a:t>
                      </a:r>
                    </a:p>
                  </a:txBody>
                  <a:tcPr/>
                </a:tc>
                <a:tc>
                  <a:txBody>
                    <a:bodyPr/>
                    <a:lstStyle/>
                    <a:p>
                      <a:r>
                        <a:rPr lang="en-US" sz="1600" b="1" noProof="0" dirty="0">
                          <a:latin typeface="Aptos" panose="020B0004020202020204" pitchFamily="34" charset="0"/>
                        </a:rPr>
                        <a:t>Redirecting</a:t>
                      </a:r>
                      <a:r>
                        <a:rPr lang="en-US" sz="1600" noProof="0" dirty="0">
                          <a:latin typeface="Aptos" panose="020B0004020202020204" pitchFamily="34" charset="0"/>
                        </a:rPr>
                        <a:t>: </a:t>
                      </a:r>
                      <a:r>
                        <a:rPr lang="en-GB" sz="1600" noProof="0" dirty="0">
                          <a:latin typeface="Aptos" panose="020B0004020202020204" pitchFamily="34" charset="0"/>
                        </a:rPr>
                        <a:t>further action needs to be taken in order to complete the request.</a:t>
                      </a:r>
                      <a:endParaRPr lang="en-US" sz="1600" noProof="0" dirty="0">
                        <a:latin typeface="Aptos" panose="020B0004020202020204" pitchFamily="34" charset="0"/>
                      </a:endParaRPr>
                    </a:p>
                  </a:txBody>
                  <a:tcPr/>
                </a:tc>
                <a:extLst>
                  <a:ext uri="{0D108BD9-81ED-4DB2-BD59-A6C34878D82A}">
                    <a16:rowId xmlns:a16="http://schemas.microsoft.com/office/drawing/2014/main" val="1578774446"/>
                  </a:ext>
                </a:extLst>
              </a:tr>
              <a:tr h="532301">
                <a:tc>
                  <a:txBody>
                    <a:bodyPr/>
                    <a:lstStyle/>
                    <a:p>
                      <a:r>
                        <a:rPr lang="en-US" sz="1600" b="1" noProof="0" dirty="0">
                          <a:latin typeface="Aptos" panose="020B0004020202020204" pitchFamily="34" charset="0"/>
                        </a:rPr>
                        <a:t>4xx</a:t>
                      </a:r>
                    </a:p>
                  </a:txBody>
                  <a:tcPr/>
                </a:tc>
                <a:tc>
                  <a:txBody>
                    <a:bodyPr/>
                    <a:lstStyle/>
                    <a:p>
                      <a:r>
                        <a:rPr lang="en-US" sz="1600" b="1" noProof="0" dirty="0">
                          <a:latin typeface="Aptos" panose="020B0004020202020204" pitchFamily="34" charset="0"/>
                        </a:rPr>
                        <a:t>Client</a:t>
                      </a:r>
                      <a:r>
                        <a:rPr lang="en-US" sz="1600" baseline="0" noProof="0" dirty="0">
                          <a:latin typeface="Aptos" panose="020B0004020202020204" pitchFamily="34" charset="0"/>
                        </a:rPr>
                        <a:t> </a:t>
                      </a:r>
                      <a:r>
                        <a:rPr lang="en-US" sz="1600" b="1" baseline="0" noProof="0" dirty="0">
                          <a:latin typeface="Aptos" panose="020B0004020202020204" pitchFamily="34" charset="0"/>
                        </a:rPr>
                        <a:t>error</a:t>
                      </a:r>
                      <a:r>
                        <a:rPr lang="en-US" sz="1600" baseline="0" noProof="0" dirty="0">
                          <a:latin typeface="Aptos" panose="020B0004020202020204" pitchFamily="34" charset="0"/>
                        </a:rPr>
                        <a:t>: </a:t>
                      </a:r>
                      <a:r>
                        <a:rPr lang="en-GB" sz="1600" baseline="0" noProof="0" dirty="0">
                          <a:latin typeface="Aptos" panose="020B0004020202020204" pitchFamily="34" charset="0"/>
                        </a:rPr>
                        <a:t>the request contains bad syntax or cannot be fulfilled.</a:t>
                      </a:r>
                      <a:endParaRPr lang="en-US" sz="1600" noProof="0" dirty="0">
                        <a:latin typeface="Aptos" panose="020B0004020202020204" pitchFamily="34" charset="0"/>
                      </a:endParaRPr>
                    </a:p>
                  </a:txBody>
                  <a:tcPr/>
                </a:tc>
                <a:extLst>
                  <a:ext uri="{0D108BD9-81ED-4DB2-BD59-A6C34878D82A}">
                    <a16:rowId xmlns:a16="http://schemas.microsoft.com/office/drawing/2014/main" val="1498557482"/>
                  </a:ext>
                </a:extLst>
              </a:tr>
              <a:tr h="532301">
                <a:tc>
                  <a:txBody>
                    <a:bodyPr/>
                    <a:lstStyle/>
                    <a:p>
                      <a:r>
                        <a:rPr lang="en-US" sz="1600" b="1" noProof="0" dirty="0">
                          <a:latin typeface="Aptos" panose="020B0004020202020204" pitchFamily="34" charset="0"/>
                        </a:rPr>
                        <a:t>5xx</a:t>
                      </a:r>
                    </a:p>
                  </a:txBody>
                  <a:tcPr/>
                </a:tc>
                <a:tc>
                  <a:txBody>
                    <a:bodyPr/>
                    <a:lstStyle/>
                    <a:p>
                      <a:r>
                        <a:rPr lang="en-US" sz="1600" b="1" noProof="0" dirty="0">
                          <a:latin typeface="Aptos" panose="020B0004020202020204" pitchFamily="34" charset="0"/>
                        </a:rPr>
                        <a:t>Server</a:t>
                      </a:r>
                      <a:r>
                        <a:rPr lang="en-US" sz="1600" noProof="0" dirty="0">
                          <a:latin typeface="Aptos" panose="020B0004020202020204" pitchFamily="34" charset="0"/>
                        </a:rPr>
                        <a:t> </a:t>
                      </a:r>
                      <a:r>
                        <a:rPr lang="en-US" sz="1600" b="1" noProof="0" dirty="0">
                          <a:latin typeface="Aptos" panose="020B0004020202020204" pitchFamily="34" charset="0"/>
                        </a:rPr>
                        <a:t>error</a:t>
                      </a:r>
                      <a:r>
                        <a:rPr lang="en-US" sz="1600" noProof="0" dirty="0">
                          <a:latin typeface="Aptos" panose="020B0004020202020204" pitchFamily="34" charset="0"/>
                        </a:rPr>
                        <a:t>:</a:t>
                      </a:r>
                      <a:r>
                        <a:rPr lang="en-US" sz="1600" baseline="0" noProof="0" dirty="0">
                          <a:latin typeface="Aptos" panose="020B0004020202020204" pitchFamily="34" charset="0"/>
                        </a:rPr>
                        <a:t> </a:t>
                      </a:r>
                      <a:r>
                        <a:rPr lang="en-GB" sz="1600" baseline="0" noProof="0" dirty="0">
                          <a:latin typeface="Aptos" panose="020B0004020202020204" pitchFamily="34" charset="0"/>
                        </a:rPr>
                        <a:t>The server failed to </a:t>
                      </a:r>
                      <a:r>
                        <a:rPr lang="en-GB" sz="1600" baseline="0" noProof="0" dirty="0" err="1">
                          <a:latin typeface="Aptos" panose="020B0004020202020204" pitchFamily="34" charset="0"/>
                        </a:rPr>
                        <a:t>fulfill</a:t>
                      </a:r>
                      <a:r>
                        <a:rPr lang="en-GB" sz="1600" baseline="0" noProof="0" dirty="0">
                          <a:latin typeface="Aptos" panose="020B0004020202020204" pitchFamily="34" charset="0"/>
                        </a:rPr>
                        <a:t> an apparently valid request.</a:t>
                      </a:r>
                      <a:endParaRPr lang="en-US" sz="1600" noProof="0" dirty="0">
                        <a:latin typeface="Aptos" panose="020B0004020202020204" pitchFamily="34" charset="0"/>
                      </a:endParaRPr>
                    </a:p>
                  </a:txBody>
                  <a:tcPr/>
                </a:tc>
                <a:extLst>
                  <a:ext uri="{0D108BD9-81ED-4DB2-BD59-A6C34878D82A}">
                    <a16:rowId xmlns:a16="http://schemas.microsoft.com/office/drawing/2014/main" val="3867014418"/>
                  </a:ext>
                </a:extLst>
              </a:tr>
            </a:tbl>
          </a:graphicData>
        </a:graphic>
      </p:graphicFrame>
      <p:sp>
        <p:nvSpPr>
          <p:cNvPr id="13" name="Segnaposto numero diapositiva 12"/>
          <p:cNvSpPr>
            <a:spLocks noGrp="1"/>
          </p:cNvSpPr>
          <p:nvPr>
            <p:ph type="sldNum" sz="quarter" idx="12"/>
          </p:nvPr>
        </p:nvSpPr>
        <p:spPr/>
        <p:txBody>
          <a:bodyPr/>
          <a:lstStyle/>
          <a:p>
            <a:fld id="{31DE2C5B-556E-47B8-A792-024C2FCA4ACC}" type="slidenum">
              <a:rPr lang="en-GB" smtClean="0"/>
              <a:t>23</a:t>
            </a:fld>
            <a:endParaRPr lang="en-GB"/>
          </a:p>
        </p:txBody>
      </p:sp>
    </p:spTree>
    <p:extLst>
      <p:ext uri="{BB962C8B-B14F-4D97-AF65-F5344CB8AC3E}">
        <p14:creationId xmlns:p14="http://schemas.microsoft.com/office/powerpoint/2010/main" val="55676235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err="1"/>
              <a:t>Examples</a:t>
            </a:r>
            <a:r>
              <a:rPr lang="it-IT" dirty="0"/>
              <a:t> of </a:t>
            </a:r>
            <a:r>
              <a:rPr lang="it-IT" dirty="0" err="1"/>
              <a:t>response</a:t>
            </a:r>
            <a:r>
              <a:rPr lang="it-IT" dirty="0"/>
              <a:t> </a:t>
            </a:r>
            <a:r>
              <a:rPr lang="it-IT" dirty="0" err="1"/>
              <a:t>headers</a:t>
            </a:r>
            <a:endParaRPr lang="en-GB" dirty="0"/>
          </a:p>
        </p:txBody>
      </p:sp>
      <p:sp>
        <p:nvSpPr>
          <p:cNvPr id="3" name="Segnaposto contenuto 2"/>
          <p:cNvSpPr>
            <a:spLocks noGrp="1"/>
          </p:cNvSpPr>
          <p:nvPr>
            <p:ph idx="1"/>
          </p:nvPr>
        </p:nvSpPr>
        <p:spPr/>
        <p:txBody>
          <a:bodyPr/>
          <a:lstStyle/>
          <a:p>
            <a:r>
              <a:rPr lang="en-US" i="1" dirty="0"/>
              <a:t>Date</a:t>
            </a:r>
            <a:r>
              <a:rPr lang="en-US" dirty="0"/>
              <a:t>: date and time the message was sent</a:t>
            </a:r>
          </a:p>
          <a:p>
            <a:r>
              <a:rPr lang="en-US" i="1" dirty="0"/>
              <a:t>Content-Type</a:t>
            </a:r>
            <a:r>
              <a:rPr lang="en-US" dirty="0"/>
              <a:t>: the type of the returned content (e.g., HTML, image, plain text, …)</a:t>
            </a:r>
          </a:p>
          <a:p>
            <a:r>
              <a:rPr lang="en-US" i="1" dirty="0"/>
              <a:t>Content-Length</a:t>
            </a:r>
            <a:r>
              <a:rPr lang="en-US" dirty="0"/>
              <a:t>: the content length in bytes</a:t>
            </a:r>
          </a:p>
          <a:p>
            <a:r>
              <a:rPr lang="en-US" i="1" dirty="0"/>
              <a:t>Last-Modified</a:t>
            </a:r>
            <a:r>
              <a:rPr lang="en-US" dirty="0"/>
              <a:t>: </a:t>
            </a:r>
            <a:r>
              <a:rPr lang="en-GB" dirty="0"/>
              <a:t>time and date the page was last changed</a:t>
            </a:r>
          </a:p>
          <a:p>
            <a:r>
              <a:rPr lang="it-IT" dirty="0"/>
              <a:t>…</a:t>
            </a:r>
            <a:endParaRPr lang="en-US" dirty="0"/>
          </a:p>
        </p:txBody>
      </p:sp>
      <p:sp>
        <p:nvSpPr>
          <p:cNvPr id="4" name="Segnaposto numero diapositiva 3"/>
          <p:cNvSpPr>
            <a:spLocks noGrp="1"/>
          </p:cNvSpPr>
          <p:nvPr>
            <p:ph type="sldNum" sz="quarter" idx="12"/>
          </p:nvPr>
        </p:nvSpPr>
        <p:spPr/>
        <p:txBody>
          <a:bodyPr/>
          <a:lstStyle/>
          <a:p>
            <a:fld id="{31DE2C5B-556E-47B8-A792-024C2FCA4ACC}" type="slidenum">
              <a:rPr lang="en-GB" smtClean="0"/>
              <a:t>24</a:t>
            </a:fld>
            <a:endParaRPr lang="en-GB"/>
          </a:p>
        </p:txBody>
      </p:sp>
    </p:spTree>
    <p:extLst>
      <p:ext uri="{BB962C8B-B14F-4D97-AF65-F5344CB8AC3E}">
        <p14:creationId xmlns:p14="http://schemas.microsoft.com/office/powerpoint/2010/main" val="8141295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E0CE7A-1693-09DA-FD9F-E0965E6CC173}"/>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1E73E35A-1259-1E64-8E6F-D8DDDB89D984}"/>
              </a:ext>
            </a:extLst>
          </p:cNvPr>
          <p:cNvSpPr>
            <a:spLocks noGrp="1"/>
          </p:cNvSpPr>
          <p:nvPr>
            <p:ph type="title"/>
          </p:nvPr>
        </p:nvSpPr>
        <p:spPr/>
        <p:txBody>
          <a:bodyPr/>
          <a:lstStyle/>
          <a:p>
            <a:r>
              <a:rPr lang="it-IT" dirty="0"/>
              <a:t>(</a:t>
            </a:r>
            <a:r>
              <a:rPr lang="it-IT" dirty="0" err="1"/>
              <a:t>Other</a:t>
            </a:r>
            <a:r>
              <a:rPr lang="it-IT" dirty="0"/>
              <a:t>) </a:t>
            </a:r>
            <a:r>
              <a:rPr lang="it-IT" dirty="0" err="1"/>
              <a:t>Examples</a:t>
            </a:r>
            <a:r>
              <a:rPr lang="it-IT" dirty="0"/>
              <a:t> of </a:t>
            </a:r>
            <a:r>
              <a:rPr lang="it-IT" dirty="0" err="1"/>
              <a:t>response</a:t>
            </a:r>
            <a:r>
              <a:rPr lang="it-IT" dirty="0"/>
              <a:t> </a:t>
            </a:r>
            <a:r>
              <a:rPr lang="it-IT" dirty="0" err="1"/>
              <a:t>headers</a:t>
            </a:r>
            <a:endParaRPr lang="en-GB" dirty="0"/>
          </a:p>
        </p:txBody>
      </p:sp>
      <p:sp>
        <p:nvSpPr>
          <p:cNvPr id="3" name="Segnaposto contenuto 2">
            <a:extLst>
              <a:ext uri="{FF2B5EF4-FFF2-40B4-BE49-F238E27FC236}">
                <a16:creationId xmlns:a16="http://schemas.microsoft.com/office/drawing/2014/main" id="{2E9D6CE8-5D87-A7C7-E9B5-5BA0196527AD}"/>
              </a:ext>
            </a:extLst>
          </p:cNvPr>
          <p:cNvSpPr>
            <a:spLocks noGrp="1"/>
          </p:cNvSpPr>
          <p:nvPr>
            <p:ph idx="1"/>
          </p:nvPr>
        </p:nvSpPr>
        <p:spPr/>
        <p:txBody>
          <a:bodyPr/>
          <a:lstStyle/>
          <a:p>
            <a:r>
              <a:rPr lang="en-US" i="1" dirty="0"/>
              <a:t>Content-Language</a:t>
            </a:r>
            <a:r>
              <a:rPr lang="en-US" dirty="0"/>
              <a:t>: the natural language used in the page</a:t>
            </a:r>
          </a:p>
          <a:p>
            <a:r>
              <a:rPr lang="en-US" i="1" dirty="0"/>
              <a:t>Expires</a:t>
            </a:r>
            <a:r>
              <a:rPr lang="en-US" dirty="0"/>
              <a:t>: </a:t>
            </a:r>
            <a:r>
              <a:rPr lang="en-GB" dirty="0"/>
              <a:t>Time and date when the page stops being valid</a:t>
            </a:r>
          </a:p>
          <a:p>
            <a:r>
              <a:rPr lang="it-IT" i="1" dirty="0" err="1"/>
              <a:t>ETag</a:t>
            </a:r>
            <a:r>
              <a:rPr lang="it-IT" dirty="0"/>
              <a:t>: </a:t>
            </a:r>
            <a:r>
              <a:rPr lang="it-IT" dirty="0" err="1"/>
              <a:t>tag</a:t>
            </a:r>
            <a:r>
              <a:rPr lang="it-IT" dirty="0"/>
              <a:t> for the </a:t>
            </a:r>
            <a:r>
              <a:rPr lang="it-IT" dirty="0" err="1"/>
              <a:t>content</a:t>
            </a:r>
            <a:r>
              <a:rPr lang="it-IT" dirty="0"/>
              <a:t> of the page (</a:t>
            </a:r>
            <a:r>
              <a:rPr lang="it-IT" dirty="0" err="1"/>
              <a:t>used</a:t>
            </a:r>
            <a:r>
              <a:rPr lang="it-IT" dirty="0"/>
              <a:t> for </a:t>
            </a:r>
            <a:r>
              <a:rPr lang="it-IT" dirty="0" err="1"/>
              <a:t>caching</a:t>
            </a:r>
            <a:r>
              <a:rPr lang="it-IT" dirty="0"/>
              <a:t>)</a:t>
            </a:r>
          </a:p>
          <a:p>
            <a:pPr algn="just"/>
            <a:r>
              <a:rPr lang="it-IT" i="1" dirty="0"/>
              <a:t>Location</a:t>
            </a:r>
            <a:r>
              <a:rPr lang="it-IT" dirty="0"/>
              <a:t>: </a:t>
            </a:r>
            <a:r>
              <a:rPr lang="en-GB" dirty="0"/>
              <a:t>redirect the recipient to a location other than the requested URL for completion of the request or identification of a new resource</a:t>
            </a:r>
            <a:endParaRPr lang="it-IT" dirty="0"/>
          </a:p>
          <a:p>
            <a:r>
              <a:rPr lang="it-IT" dirty="0"/>
              <a:t>…</a:t>
            </a:r>
            <a:endParaRPr lang="en-US" dirty="0"/>
          </a:p>
        </p:txBody>
      </p:sp>
      <p:sp>
        <p:nvSpPr>
          <p:cNvPr id="4" name="Segnaposto numero diapositiva 3">
            <a:extLst>
              <a:ext uri="{FF2B5EF4-FFF2-40B4-BE49-F238E27FC236}">
                <a16:creationId xmlns:a16="http://schemas.microsoft.com/office/drawing/2014/main" id="{25E833CF-2D11-478E-4948-14B6502403C6}"/>
              </a:ext>
            </a:extLst>
          </p:cNvPr>
          <p:cNvSpPr>
            <a:spLocks noGrp="1"/>
          </p:cNvSpPr>
          <p:nvPr>
            <p:ph type="sldNum" sz="quarter" idx="12"/>
          </p:nvPr>
        </p:nvSpPr>
        <p:spPr/>
        <p:txBody>
          <a:bodyPr/>
          <a:lstStyle/>
          <a:p>
            <a:fld id="{31DE2C5B-556E-47B8-A792-024C2FCA4ACC}" type="slidenum">
              <a:rPr lang="en-GB" smtClean="0"/>
              <a:t>25</a:t>
            </a:fld>
            <a:endParaRPr lang="en-GB"/>
          </a:p>
        </p:txBody>
      </p:sp>
      <p:sp>
        <p:nvSpPr>
          <p:cNvPr id="5" name="Rectangle 4">
            <a:extLst>
              <a:ext uri="{FF2B5EF4-FFF2-40B4-BE49-F238E27FC236}">
                <a16:creationId xmlns:a16="http://schemas.microsoft.com/office/drawing/2014/main" id="{9CBCBDD3-2ED5-B054-5365-6FCAF7BDD46A}"/>
              </a:ext>
            </a:extLst>
          </p:cNvPr>
          <p:cNvSpPr/>
          <p:nvPr/>
        </p:nvSpPr>
        <p:spPr>
          <a:xfrm>
            <a:off x="10059772" y="297757"/>
            <a:ext cx="1975945" cy="588579"/>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sz="2000" b="1" dirty="0">
                <a:solidFill>
                  <a:schemeClr val="bg1"/>
                </a:solidFill>
                <a:latin typeface="Aptos" panose="020B0004020202020204" pitchFamily="34" charset="0"/>
              </a:rPr>
              <a:t>BONUS</a:t>
            </a:r>
          </a:p>
        </p:txBody>
      </p:sp>
    </p:spTree>
    <p:extLst>
      <p:ext uri="{BB962C8B-B14F-4D97-AF65-F5344CB8AC3E}">
        <p14:creationId xmlns:p14="http://schemas.microsoft.com/office/powerpoint/2010/main" val="84499560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t>GET</a:t>
            </a:r>
            <a:endParaRPr lang="en-GB" dirty="0"/>
          </a:p>
        </p:txBody>
      </p:sp>
      <p:sp>
        <p:nvSpPr>
          <p:cNvPr id="3" name="Segnaposto contenuto 2"/>
          <p:cNvSpPr>
            <a:spLocks noGrp="1"/>
          </p:cNvSpPr>
          <p:nvPr>
            <p:ph idx="1"/>
          </p:nvPr>
        </p:nvSpPr>
        <p:spPr>
          <a:xfrm>
            <a:off x="428172" y="1361167"/>
            <a:ext cx="11368314" cy="4954574"/>
          </a:xfrm>
        </p:spPr>
        <p:txBody>
          <a:bodyPr>
            <a:normAutofit/>
          </a:bodyPr>
          <a:lstStyle/>
          <a:p>
            <a:r>
              <a:rPr lang="en-US" b="1" dirty="0"/>
              <a:t>GET</a:t>
            </a:r>
            <a:r>
              <a:rPr lang="en-US" dirty="0"/>
              <a:t>: </a:t>
            </a:r>
            <a:r>
              <a:rPr lang="en-US" sz="2400" noProof="0" dirty="0"/>
              <a:t>Retrieves a resource</a:t>
            </a:r>
            <a:r>
              <a:rPr lang="en-US" dirty="0"/>
              <a:t>.</a:t>
            </a:r>
          </a:p>
          <a:p>
            <a:pPr marL="0" indent="0">
              <a:buNone/>
            </a:pPr>
            <a:r>
              <a:rPr lang="en-US" dirty="0"/>
              <a:t>			GET / HTTP/1.1 </a:t>
            </a:r>
          </a:p>
          <a:p>
            <a:pPr marL="0" indent="0">
              <a:buNone/>
            </a:pPr>
            <a:r>
              <a:rPr lang="en-US" dirty="0"/>
              <a:t>			Host: </a:t>
            </a:r>
            <a:r>
              <a:rPr lang="en-US" dirty="0" err="1"/>
              <a:t>www.example.com</a:t>
            </a:r>
            <a:endParaRPr lang="en-US" dirty="0"/>
          </a:p>
          <a:p>
            <a:pPr marL="0" indent="0">
              <a:buNone/>
            </a:pPr>
            <a:r>
              <a:rPr lang="en-US" dirty="0"/>
              <a:t>			Accept-Language: </a:t>
            </a:r>
            <a:r>
              <a:rPr lang="en-US" dirty="0" err="1"/>
              <a:t>en</a:t>
            </a:r>
            <a:endParaRPr lang="en-US" dirty="0"/>
          </a:p>
        </p:txBody>
      </p:sp>
      <p:pic>
        <p:nvPicPr>
          <p:cNvPr id="14" name="Immagine 1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186152" y="3415958"/>
            <a:ext cx="4549534" cy="3238781"/>
          </a:xfrm>
          <a:prstGeom prst="rect">
            <a:avLst/>
          </a:prstGeom>
        </p:spPr>
      </p:pic>
      <p:pic>
        <p:nvPicPr>
          <p:cNvPr id="15" name="Immagine 1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9698" y="4093722"/>
            <a:ext cx="6535678" cy="1208217"/>
          </a:xfrm>
          <a:prstGeom prst="rect">
            <a:avLst/>
          </a:prstGeom>
        </p:spPr>
      </p:pic>
      <p:sp>
        <p:nvSpPr>
          <p:cNvPr id="16" name="Rettangolo 15"/>
          <p:cNvSpPr/>
          <p:nvPr/>
        </p:nvSpPr>
        <p:spPr>
          <a:xfrm>
            <a:off x="155313" y="3693612"/>
            <a:ext cx="2284472" cy="400110"/>
          </a:xfrm>
          <a:prstGeom prst="rect">
            <a:avLst/>
          </a:prstGeom>
        </p:spPr>
        <p:txBody>
          <a:bodyPr wrap="none">
            <a:spAutoFit/>
          </a:bodyPr>
          <a:lstStyle/>
          <a:p>
            <a:r>
              <a:rPr lang="en-US" sz="2000" b="1" dirty="0">
                <a:latin typeface="Aptos" panose="020B0004020202020204" pitchFamily="34" charset="0"/>
              </a:rPr>
              <a:t>Request example:</a:t>
            </a:r>
          </a:p>
        </p:txBody>
      </p:sp>
      <p:sp>
        <p:nvSpPr>
          <p:cNvPr id="17" name="Rettangolo 16"/>
          <p:cNvSpPr/>
          <p:nvPr/>
        </p:nvSpPr>
        <p:spPr>
          <a:xfrm>
            <a:off x="7041667" y="2975239"/>
            <a:ext cx="2475742" cy="400110"/>
          </a:xfrm>
          <a:prstGeom prst="rect">
            <a:avLst/>
          </a:prstGeom>
        </p:spPr>
        <p:txBody>
          <a:bodyPr wrap="none">
            <a:spAutoFit/>
          </a:bodyPr>
          <a:lstStyle/>
          <a:p>
            <a:r>
              <a:rPr lang="en-US" sz="2000" b="1" dirty="0">
                <a:latin typeface="Aptos" panose="020B0004020202020204" pitchFamily="34" charset="0"/>
              </a:rPr>
              <a:t>Response example:</a:t>
            </a:r>
          </a:p>
        </p:txBody>
      </p:sp>
      <p:sp>
        <p:nvSpPr>
          <p:cNvPr id="4" name="Segnaposto numero diapositiva 3"/>
          <p:cNvSpPr>
            <a:spLocks noGrp="1"/>
          </p:cNvSpPr>
          <p:nvPr>
            <p:ph type="sldNum" sz="quarter" idx="12"/>
          </p:nvPr>
        </p:nvSpPr>
        <p:spPr/>
        <p:txBody>
          <a:bodyPr/>
          <a:lstStyle/>
          <a:p>
            <a:fld id="{31DE2C5B-556E-47B8-A792-024C2FCA4ACC}" type="slidenum">
              <a:rPr lang="en-GB" smtClean="0"/>
              <a:t>26</a:t>
            </a:fld>
            <a:endParaRPr lang="en-GB"/>
          </a:p>
        </p:txBody>
      </p:sp>
    </p:spTree>
    <p:extLst>
      <p:ext uri="{BB962C8B-B14F-4D97-AF65-F5344CB8AC3E}">
        <p14:creationId xmlns:p14="http://schemas.microsoft.com/office/powerpoint/2010/main" val="101157513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t>POST</a:t>
            </a:r>
            <a:endParaRPr lang="en-GB" dirty="0"/>
          </a:p>
        </p:txBody>
      </p:sp>
      <p:sp>
        <p:nvSpPr>
          <p:cNvPr id="3" name="Segnaposto contenuto 2"/>
          <p:cNvSpPr>
            <a:spLocks noGrp="1"/>
          </p:cNvSpPr>
          <p:nvPr>
            <p:ph idx="1"/>
          </p:nvPr>
        </p:nvSpPr>
        <p:spPr/>
        <p:txBody>
          <a:bodyPr/>
          <a:lstStyle/>
          <a:p>
            <a:r>
              <a:rPr lang="it-IT" sz="2200" b="1" dirty="0"/>
              <a:t>POST</a:t>
            </a:r>
            <a:r>
              <a:rPr lang="it-IT" sz="2200" dirty="0"/>
              <a:t>: </a:t>
            </a:r>
            <a:r>
              <a:rPr lang="en-US" dirty="0"/>
              <a:t>Submits an entity to the specified resource. Can be used for creating a resource.</a:t>
            </a:r>
          </a:p>
          <a:p>
            <a:pPr lvl="1"/>
            <a:r>
              <a:rPr lang="it-IT" dirty="0" err="1"/>
              <a:t>If</a:t>
            </a:r>
            <a:r>
              <a:rPr lang="it-IT" dirty="0"/>
              <a:t> the </a:t>
            </a:r>
            <a:r>
              <a:rPr lang="it-IT" dirty="0" err="1"/>
              <a:t>request</a:t>
            </a:r>
            <a:r>
              <a:rPr lang="it-IT" dirty="0"/>
              <a:t> </a:t>
            </a:r>
            <a:r>
              <a:rPr lang="it-IT" dirty="0" err="1"/>
              <a:t>is</a:t>
            </a:r>
            <a:r>
              <a:rPr lang="it-IT" dirty="0"/>
              <a:t> </a:t>
            </a:r>
            <a:r>
              <a:rPr lang="it-IT" dirty="0" err="1"/>
              <a:t>accepted</a:t>
            </a:r>
            <a:r>
              <a:rPr lang="it-IT" dirty="0"/>
              <a:t>, </a:t>
            </a:r>
            <a:r>
              <a:rPr lang="it-IT" dirty="0" err="1"/>
              <a:t>then</a:t>
            </a:r>
            <a:r>
              <a:rPr lang="it-IT" dirty="0"/>
              <a:t> the </a:t>
            </a:r>
            <a:r>
              <a:rPr lang="en-GB" dirty="0"/>
              <a:t>server does something with the data that depends on the URL, and send a response page indicating the result. </a:t>
            </a:r>
          </a:p>
          <a:p>
            <a:pPr lvl="1"/>
            <a:r>
              <a:rPr lang="en-GB" dirty="0"/>
              <a:t>POST is commonly used when forms are submitted, or when uploading files to servers, e.g., to extend a database appending some new data.  </a:t>
            </a:r>
          </a:p>
          <a:p>
            <a:endParaRPr lang="en-GB" dirty="0"/>
          </a:p>
        </p:txBody>
      </p:sp>
      <p:pic>
        <p:nvPicPr>
          <p:cNvPr id="5" name="Immagine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50930" y="3811241"/>
            <a:ext cx="4801016" cy="1417443"/>
          </a:xfrm>
          <a:prstGeom prst="rect">
            <a:avLst/>
          </a:prstGeom>
        </p:spPr>
      </p:pic>
      <p:pic>
        <p:nvPicPr>
          <p:cNvPr id="6" name="Immagin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819934" y="3811241"/>
            <a:ext cx="4732430" cy="2408129"/>
          </a:xfrm>
          <a:prstGeom prst="rect">
            <a:avLst/>
          </a:prstGeom>
        </p:spPr>
      </p:pic>
      <p:sp>
        <p:nvSpPr>
          <p:cNvPr id="4" name="Segnaposto numero diapositiva 3"/>
          <p:cNvSpPr>
            <a:spLocks noGrp="1"/>
          </p:cNvSpPr>
          <p:nvPr>
            <p:ph type="sldNum" sz="quarter" idx="12"/>
          </p:nvPr>
        </p:nvSpPr>
        <p:spPr/>
        <p:txBody>
          <a:bodyPr/>
          <a:lstStyle/>
          <a:p>
            <a:fld id="{31DE2C5B-556E-47B8-A792-024C2FCA4ACC}" type="slidenum">
              <a:rPr lang="en-GB" smtClean="0"/>
              <a:t>27</a:t>
            </a:fld>
            <a:endParaRPr lang="en-GB"/>
          </a:p>
        </p:txBody>
      </p:sp>
    </p:spTree>
    <p:extLst>
      <p:ext uri="{BB962C8B-B14F-4D97-AF65-F5344CB8AC3E}">
        <p14:creationId xmlns:p14="http://schemas.microsoft.com/office/powerpoint/2010/main" val="20744680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err="1"/>
              <a:t>Other</a:t>
            </a:r>
            <a:r>
              <a:rPr lang="it-IT" dirty="0"/>
              <a:t> </a:t>
            </a:r>
            <a:r>
              <a:rPr lang="it-IT" dirty="0" err="1"/>
              <a:t>important</a:t>
            </a:r>
            <a:r>
              <a:rPr lang="it-IT" dirty="0"/>
              <a:t> </a:t>
            </a:r>
            <a:r>
              <a:rPr lang="it-IT" dirty="0" err="1"/>
              <a:t>methods</a:t>
            </a:r>
            <a:endParaRPr lang="en-GB" dirty="0"/>
          </a:p>
        </p:txBody>
      </p:sp>
      <p:sp>
        <p:nvSpPr>
          <p:cNvPr id="3" name="Segnaposto contenuto 2"/>
          <p:cNvSpPr>
            <a:spLocks noGrp="1"/>
          </p:cNvSpPr>
          <p:nvPr>
            <p:ph idx="1"/>
          </p:nvPr>
        </p:nvSpPr>
        <p:spPr>
          <a:xfrm>
            <a:off x="428172" y="1361167"/>
            <a:ext cx="11368314" cy="5264716"/>
          </a:xfrm>
        </p:spPr>
        <p:txBody>
          <a:bodyPr>
            <a:normAutofit/>
          </a:bodyPr>
          <a:lstStyle/>
          <a:p>
            <a:r>
              <a:rPr lang="en-US" b="1" dirty="0"/>
              <a:t>PUT</a:t>
            </a:r>
            <a:r>
              <a:rPr lang="en-US" dirty="0"/>
              <a:t>: Replaces all current representations of the target resource with the request payload. Can be used for updating/modifying a resource.</a:t>
            </a:r>
          </a:p>
          <a:p>
            <a:endParaRPr lang="en-US" dirty="0"/>
          </a:p>
          <a:p>
            <a:r>
              <a:rPr lang="en-US" b="1" dirty="0"/>
              <a:t>DELETE</a:t>
            </a:r>
            <a:r>
              <a:rPr lang="en-US" dirty="0"/>
              <a:t>: Deletes a resource.</a:t>
            </a:r>
          </a:p>
          <a:p>
            <a:endParaRPr lang="en-US" b="1" dirty="0"/>
          </a:p>
          <a:p>
            <a:r>
              <a:rPr lang="en-US" b="1" dirty="0"/>
              <a:t>PATCH</a:t>
            </a:r>
            <a:r>
              <a:rPr lang="en-US" dirty="0"/>
              <a:t>: Applies partial modifications to a resource.</a:t>
            </a:r>
          </a:p>
          <a:p>
            <a:endParaRPr lang="en-US" dirty="0"/>
          </a:p>
          <a:p>
            <a:r>
              <a:rPr lang="en-GB" b="1" dirty="0"/>
              <a:t>HEAD</a:t>
            </a:r>
            <a:r>
              <a:rPr lang="en-GB" dirty="0"/>
              <a:t>:</a:t>
            </a:r>
            <a:r>
              <a:rPr lang="en-GB" i="1" dirty="0"/>
              <a:t> </a:t>
            </a:r>
            <a:r>
              <a:rPr lang="en-GB" dirty="0"/>
              <a:t>it just asks for the message header, without the actual content. It can be used to collect information for indexing purposes, or to test a resource for validity.</a:t>
            </a:r>
          </a:p>
          <a:p>
            <a:endParaRPr lang="en-US" dirty="0"/>
          </a:p>
        </p:txBody>
      </p:sp>
      <p:sp>
        <p:nvSpPr>
          <p:cNvPr id="4" name="Segnaposto numero diapositiva 3"/>
          <p:cNvSpPr>
            <a:spLocks noGrp="1"/>
          </p:cNvSpPr>
          <p:nvPr>
            <p:ph type="sldNum" sz="quarter" idx="12"/>
          </p:nvPr>
        </p:nvSpPr>
        <p:spPr/>
        <p:txBody>
          <a:bodyPr/>
          <a:lstStyle/>
          <a:p>
            <a:fld id="{31DE2C5B-556E-47B8-A792-024C2FCA4ACC}" type="slidenum">
              <a:rPr lang="en-GB" smtClean="0"/>
              <a:t>28</a:t>
            </a:fld>
            <a:endParaRPr lang="en-GB"/>
          </a:p>
        </p:txBody>
      </p:sp>
    </p:spTree>
    <p:extLst>
      <p:ext uri="{BB962C8B-B14F-4D97-AF65-F5344CB8AC3E}">
        <p14:creationId xmlns:p14="http://schemas.microsoft.com/office/powerpoint/2010/main" val="35346155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t>POST vs PUT vs PATCH</a:t>
            </a:r>
            <a:endParaRPr lang="en-GB" dirty="0"/>
          </a:p>
        </p:txBody>
      </p:sp>
      <p:sp>
        <p:nvSpPr>
          <p:cNvPr id="3" name="Segnaposto contenuto 2"/>
          <p:cNvSpPr>
            <a:spLocks noGrp="1"/>
          </p:cNvSpPr>
          <p:nvPr>
            <p:ph idx="1"/>
          </p:nvPr>
        </p:nvSpPr>
        <p:spPr>
          <a:xfrm>
            <a:off x="428172" y="1361167"/>
            <a:ext cx="11076256" cy="4858203"/>
          </a:xfrm>
        </p:spPr>
        <p:txBody>
          <a:bodyPr>
            <a:normAutofit/>
          </a:bodyPr>
          <a:lstStyle/>
          <a:p>
            <a:r>
              <a:rPr lang="en-US" dirty="0"/>
              <a:t>Difference between POST and PUT?</a:t>
            </a:r>
          </a:p>
          <a:p>
            <a:pPr lvl="1"/>
            <a:r>
              <a:rPr lang="en-US" sz="2400" b="1" dirty="0"/>
              <a:t>POST</a:t>
            </a:r>
            <a:r>
              <a:rPr lang="en-US" sz="2400" dirty="0"/>
              <a:t>: the client asks to the server to accept the entity enclosed in the request as a new subordinate of the resource identified by the request URL. </a:t>
            </a:r>
          </a:p>
          <a:p>
            <a:pPr lvl="1"/>
            <a:r>
              <a:rPr lang="en-US" sz="2400" b="1" dirty="0"/>
              <a:t>PUT</a:t>
            </a:r>
            <a:r>
              <a:rPr lang="en-US" sz="2400" dirty="0"/>
              <a:t>: the client asks to the server to store the enclosed entity under the request URL. </a:t>
            </a:r>
            <a:r>
              <a:rPr lang="en-US" sz="2400" dirty="0">
                <a:sym typeface="Wingdings" panose="05000000000000000000" pitchFamily="2" charset="2"/>
              </a:rPr>
              <a:t></a:t>
            </a:r>
            <a:r>
              <a:rPr lang="en-US" sz="2400" dirty="0"/>
              <a:t> If the request URL refers to an already existing resource, the server replaces the existing entity with the new enclosed entity. If the URL does not point to an existing resource, the server can create the resource with that URL.</a:t>
            </a:r>
          </a:p>
          <a:p>
            <a:r>
              <a:rPr lang="en-US" dirty="0"/>
              <a:t>Difference between PUT and PATCH? </a:t>
            </a:r>
          </a:p>
          <a:p>
            <a:pPr lvl="1"/>
            <a:r>
              <a:rPr lang="en-US" sz="2400" b="1" dirty="0"/>
              <a:t>PUT</a:t>
            </a:r>
            <a:r>
              <a:rPr lang="en-US" sz="2400" dirty="0"/>
              <a:t> supplies a modified version of the resource to be allocated at the request URL.</a:t>
            </a:r>
          </a:p>
          <a:p>
            <a:pPr lvl="1"/>
            <a:r>
              <a:rPr lang="en-US" sz="2400" b="1" dirty="0"/>
              <a:t>PATCH</a:t>
            </a:r>
            <a:r>
              <a:rPr lang="en-US" sz="2400" dirty="0"/>
              <a:t> supplies a set of instructions to modify the resource at the requested URL.</a:t>
            </a:r>
          </a:p>
          <a:p>
            <a:pPr lvl="1"/>
            <a:endParaRPr lang="it-IT" dirty="0"/>
          </a:p>
          <a:p>
            <a:endParaRPr lang="en-GB" dirty="0"/>
          </a:p>
        </p:txBody>
      </p:sp>
      <p:sp>
        <p:nvSpPr>
          <p:cNvPr id="4" name="Segnaposto numero diapositiva 3"/>
          <p:cNvSpPr>
            <a:spLocks noGrp="1"/>
          </p:cNvSpPr>
          <p:nvPr>
            <p:ph type="sldNum" sz="quarter" idx="12"/>
          </p:nvPr>
        </p:nvSpPr>
        <p:spPr/>
        <p:txBody>
          <a:bodyPr/>
          <a:lstStyle/>
          <a:p>
            <a:fld id="{31DE2C5B-556E-47B8-A792-024C2FCA4ACC}" type="slidenum">
              <a:rPr lang="en-GB" smtClean="0"/>
              <a:t>29</a:t>
            </a:fld>
            <a:endParaRPr lang="en-GB"/>
          </a:p>
        </p:txBody>
      </p:sp>
    </p:spTree>
    <p:extLst>
      <p:ext uri="{BB962C8B-B14F-4D97-AF65-F5344CB8AC3E}">
        <p14:creationId xmlns:p14="http://schemas.microsoft.com/office/powerpoint/2010/main" val="2859475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725B01-4A54-45B4-4F38-AE02F4245BF7}"/>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A73CBEF8-CA7C-78E7-D77B-DFF556046EC8}"/>
              </a:ext>
            </a:extLst>
          </p:cNvPr>
          <p:cNvSpPr>
            <a:spLocks noGrp="1"/>
          </p:cNvSpPr>
          <p:nvPr>
            <p:ph type="title"/>
          </p:nvPr>
        </p:nvSpPr>
        <p:spPr/>
        <p:txBody>
          <a:bodyPr/>
          <a:lstStyle/>
          <a:p>
            <a:r>
              <a:rPr lang="it-IT" dirty="0" err="1"/>
              <a:t>Other</a:t>
            </a:r>
            <a:r>
              <a:rPr lang="it-IT" dirty="0"/>
              <a:t> (</a:t>
            </a:r>
            <a:r>
              <a:rPr lang="it-IT" dirty="0" err="1"/>
              <a:t>less</a:t>
            </a:r>
            <a:r>
              <a:rPr lang="it-IT" dirty="0"/>
              <a:t>) </a:t>
            </a:r>
            <a:r>
              <a:rPr lang="it-IT" dirty="0" err="1"/>
              <a:t>important</a:t>
            </a:r>
            <a:r>
              <a:rPr lang="it-IT" dirty="0"/>
              <a:t> </a:t>
            </a:r>
            <a:r>
              <a:rPr lang="it-IT" dirty="0" err="1"/>
              <a:t>methods</a:t>
            </a:r>
            <a:endParaRPr lang="en-GB" dirty="0"/>
          </a:p>
        </p:txBody>
      </p:sp>
      <p:sp>
        <p:nvSpPr>
          <p:cNvPr id="3" name="Segnaposto contenuto 2">
            <a:extLst>
              <a:ext uri="{FF2B5EF4-FFF2-40B4-BE49-F238E27FC236}">
                <a16:creationId xmlns:a16="http://schemas.microsoft.com/office/drawing/2014/main" id="{5B8E520D-E91A-48BA-F6D2-7559DB371100}"/>
              </a:ext>
            </a:extLst>
          </p:cNvPr>
          <p:cNvSpPr>
            <a:spLocks noGrp="1"/>
          </p:cNvSpPr>
          <p:nvPr>
            <p:ph idx="1"/>
          </p:nvPr>
        </p:nvSpPr>
        <p:spPr>
          <a:xfrm>
            <a:off x="428172" y="1361167"/>
            <a:ext cx="11368314" cy="5264716"/>
          </a:xfrm>
        </p:spPr>
        <p:txBody>
          <a:bodyPr>
            <a:normAutofit/>
          </a:bodyPr>
          <a:lstStyle/>
          <a:p>
            <a:r>
              <a:rPr lang="en-US" b="1" dirty="0"/>
              <a:t>TRACE</a:t>
            </a:r>
            <a:r>
              <a:rPr lang="en-US" dirty="0"/>
              <a:t>: it asks the server to send back the request. Useful when requests are not processed correctly to check what the server received. </a:t>
            </a:r>
          </a:p>
          <a:p>
            <a:endParaRPr lang="en-US" dirty="0"/>
          </a:p>
          <a:p>
            <a:r>
              <a:rPr lang="en-US" b="1" dirty="0"/>
              <a:t>CONNECT</a:t>
            </a:r>
            <a:r>
              <a:rPr lang="en-US" dirty="0"/>
              <a:t>: it lets a user make a connection to a Web server through an intermediate device, such as a Web cache.</a:t>
            </a:r>
          </a:p>
          <a:p>
            <a:endParaRPr lang="en-US" dirty="0"/>
          </a:p>
          <a:p>
            <a:r>
              <a:rPr lang="en-US" b="1" dirty="0"/>
              <a:t>OPTIONS</a:t>
            </a:r>
            <a:r>
              <a:rPr lang="en-US" dirty="0"/>
              <a:t>: it queries the server for a resource and obtain the methods and headers that can be used with that resource.</a:t>
            </a:r>
          </a:p>
        </p:txBody>
      </p:sp>
      <p:sp>
        <p:nvSpPr>
          <p:cNvPr id="4" name="Segnaposto numero diapositiva 3">
            <a:extLst>
              <a:ext uri="{FF2B5EF4-FFF2-40B4-BE49-F238E27FC236}">
                <a16:creationId xmlns:a16="http://schemas.microsoft.com/office/drawing/2014/main" id="{68B5EBA0-6F09-2676-205C-10B6F73A7CE9}"/>
              </a:ext>
            </a:extLst>
          </p:cNvPr>
          <p:cNvSpPr>
            <a:spLocks noGrp="1"/>
          </p:cNvSpPr>
          <p:nvPr>
            <p:ph type="sldNum" sz="quarter" idx="12"/>
          </p:nvPr>
        </p:nvSpPr>
        <p:spPr/>
        <p:txBody>
          <a:bodyPr/>
          <a:lstStyle/>
          <a:p>
            <a:fld id="{31DE2C5B-556E-47B8-A792-024C2FCA4ACC}" type="slidenum">
              <a:rPr lang="en-GB" smtClean="0"/>
              <a:t>30</a:t>
            </a:fld>
            <a:endParaRPr lang="en-GB"/>
          </a:p>
        </p:txBody>
      </p:sp>
      <p:sp>
        <p:nvSpPr>
          <p:cNvPr id="5" name="Rectangle 4">
            <a:extLst>
              <a:ext uri="{FF2B5EF4-FFF2-40B4-BE49-F238E27FC236}">
                <a16:creationId xmlns:a16="http://schemas.microsoft.com/office/drawing/2014/main" id="{C94147AD-3108-6F2A-FEF7-05B721928DF0}"/>
              </a:ext>
            </a:extLst>
          </p:cNvPr>
          <p:cNvSpPr/>
          <p:nvPr/>
        </p:nvSpPr>
        <p:spPr>
          <a:xfrm>
            <a:off x="9900745" y="325821"/>
            <a:ext cx="1975945" cy="588579"/>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sz="2000" b="1" dirty="0">
                <a:solidFill>
                  <a:schemeClr val="bg1"/>
                </a:solidFill>
                <a:latin typeface="Aptos" panose="020B0004020202020204" pitchFamily="34" charset="0"/>
              </a:rPr>
              <a:t>BONUS</a:t>
            </a:r>
          </a:p>
        </p:txBody>
      </p:sp>
    </p:spTree>
    <p:extLst>
      <p:ext uri="{BB962C8B-B14F-4D97-AF65-F5344CB8AC3E}">
        <p14:creationId xmlns:p14="http://schemas.microsoft.com/office/powerpoint/2010/main" val="16348308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err="1"/>
              <a:t>Properties</a:t>
            </a:r>
            <a:r>
              <a:rPr lang="it-IT" dirty="0"/>
              <a:t> of the HTTP </a:t>
            </a:r>
            <a:r>
              <a:rPr lang="it-IT" dirty="0" err="1"/>
              <a:t>methods</a:t>
            </a:r>
            <a:endParaRPr lang="en-GB" dirty="0"/>
          </a:p>
        </p:txBody>
      </p:sp>
      <p:sp>
        <p:nvSpPr>
          <p:cNvPr id="3" name="Segnaposto contenuto 2"/>
          <p:cNvSpPr>
            <a:spLocks noGrp="1"/>
          </p:cNvSpPr>
          <p:nvPr>
            <p:ph idx="1"/>
          </p:nvPr>
        </p:nvSpPr>
        <p:spPr>
          <a:xfrm>
            <a:off x="428172" y="1361167"/>
            <a:ext cx="11605332" cy="5323168"/>
          </a:xfrm>
        </p:spPr>
        <p:txBody>
          <a:bodyPr>
            <a:normAutofit/>
          </a:bodyPr>
          <a:lstStyle/>
          <a:p>
            <a:r>
              <a:rPr lang="en-US" b="1" dirty="0"/>
              <a:t>Safe methods</a:t>
            </a:r>
            <a:r>
              <a:rPr lang="en-US" dirty="0"/>
              <a:t>: A request method is safe if a request with that method has no intended effect on the server. </a:t>
            </a:r>
          </a:p>
          <a:p>
            <a:pPr lvl="1"/>
            <a:r>
              <a:rPr lang="en-US" sz="2200" dirty="0"/>
              <a:t>GET, HEAD, OPTIONS, and TRACE are safe, since they only read data from the server.</a:t>
            </a:r>
          </a:p>
          <a:p>
            <a:pPr lvl="1"/>
            <a:r>
              <a:rPr lang="en-US" sz="2200" dirty="0"/>
              <a:t>POST, PUT, DELETE, PATCH, CONNECT are not safe, since they may modify the server state.</a:t>
            </a:r>
          </a:p>
          <a:p>
            <a:r>
              <a:rPr lang="en-US" b="1" dirty="0"/>
              <a:t>Idempotent methods</a:t>
            </a:r>
            <a:r>
              <a:rPr lang="en-US" dirty="0"/>
              <a:t>: A request method is idempotent if multiple identical requests with that method have the same intended effect as a single such request.</a:t>
            </a:r>
          </a:p>
          <a:p>
            <a:pPr lvl="1"/>
            <a:r>
              <a:rPr lang="en-US" sz="2200" dirty="0"/>
              <a:t>PUT and DELETE, and safe methods are idempotent.</a:t>
            </a:r>
          </a:p>
          <a:p>
            <a:pPr lvl="1"/>
            <a:r>
              <a:rPr lang="en-US" sz="2200" dirty="0"/>
              <a:t>POST, PATCH and CONNECT are not necessarily idempotent. Sending an identical POST request multiple times may further modify the state of the server.</a:t>
            </a:r>
          </a:p>
          <a:p>
            <a:r>
              <a:rPr lang="en-US" b="1" dirty="0"/>
              <a:t>Cacheable methods</a:t>
            </a:r>
            <a:r>
              <a:rPr lang="en-US" dirty="0"/>
              <a:t>: A request method is cacheable if responses to requests with that method may be stored by the client in the cache for future reuse. </a:t>
            </a:r>
          </a:p>
          <a:p>
            <a:pPr lvl="1"/>
            <a:r>
              <a:rPr lang="en-GB" sz="2200" dirty="0"/>
              <a:t>Only GET, HEAD, and POST are cacheable.</a:t>
            </a:r>
            <a:endParaRPr lang="en-US" sz="2200" dirty="0"/>
          </a:p>
        </p:txBody>
      </p:sp>
      <p:sp>
        <p:nvSpPr>
          <p:cNvPr id="4" name="Segnaposto numero diapositiva 3"/>
          <p:cNvSpPr>
            <a:spLocks noGrp="1"/>
          </p:cNvSpPr>
          <p:nvPr>
            <p:ph type="sldNum" sz="quarter" idx="12"/>
          </p:nvPr>
        </p:nvSpPr>
        <p:spPr/>
        <p:txBody>
          <a:bodyPr/>
          <a:lstStyle/>
          <a:p>
            <a:fld id="{31DE2C5B-556E-47B8-A792-024C2FCA4ACC}" type="slidenum">
              <a:rPr lang="en-GB" smtClean="0"/>
              <a:t>31</a:t>
            </a:fld>
            <a:endParaRPr lang="en-GB"/>
          </a:p>
        </p:txBody>
      </p:sp>
    </p:spTree>
    <p:extLst>
      <p:ext uri="{BB962C8B-B14F-4D97-AF65-F5344CB8AC3E}">
        <p14:creationId xmlns:p14="http://schemas.microsoft.com/office/powerpoint/2010/main" val="1757366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err="1"/>
              <a:t>Summary</a:t>
            </a:r>
            <a:r>
              <a:rPr lang="it-IT" dirty="0"/>
              <a:t> of </a:t>
            </a:r>
            <a:r>
              <a:rPr lang="it-IT" dirty="0" err="1"/>
              <a:t>properties</a:t>
            </a:r>
            <a:r>
              <a:rPr lang="it-IT" dirty="0"/>
              <a:t> of the HTTP </a:t>
            </a:r>
            <a:r>
              <a:rPr lang="it-IT" dirty="0" err="1"/>
              <a:t>methods</a:t>
            </a:r>
            <a:endParaRPr lang="en-GB" dirty="0"/>
          </a:p>
        </p:txBody>
      </p:sp>
      <p:graphicFrame>
        <p:nvGraphicFramePr>
          <p:cNvPr id="4" name="Tabella 3"/>
          <p:cNvGraphicFramePr>
            <a:graphicFrameLocks noGrp="1"/>
          </p:cNvGraphicFramePr>
          <p:nvPr/>
        </p:nvGraphicFramePr>
        <p:xfrm>
          <a:off x="564969" y="1527386"/>
          <a:ext cx="11094720" cy="4772664"/>
        </p:xfrm>
        <a:graphic>
          <a:graphicData uri="http://schemas.openxmlformats.org/drawingml/2006/table">
            <a:tbl>
              <a:tblPr firstRow="1" bandRow="1">
                <a:tableStyleId>{93296810-A885-4BE3-A3E7-6D5BEEA58F35}</a:tableStyleId>
              </a:tblPr>
              <a:tblGrid>
                <a:gridCol w="1849120">
                  <a:extLst>
                    <a:ext uri="{9D8B030D-6E8A-4147-A177-3AD203B41FA5}">
                      <a16:colId xmlns:a16="http://schemas.microsoft.com/office/drawing/2014/main" val="3708325493"/>
                    </a:ext>
                  </a:extLst>
                </a:gridCol>
                <a:gridCol w="1849120">
                  <a:extLst>
                    <a:ext uri="{9D8B030D-6E8A-4147-A177-3AD203B41FA5}">
                      <a16:colId xmlns:a16="http://schemas.microsoft.com/office/drawing/2014/main" val="4172576060"/>
                    </a:ext>
                  </a:extLst>
                </a:gridCol>
                <a:gridCol w="1849120">
                  <a:extLst>
                    <a:ext uri="{9D8B030D-6E8A-4147-A177-3AD203B41FA5}">
                      <a16:colId xmlns:a16="http://schemas.microsoft.com/office/drawing/2014/main" val="1146723596"/>
                    </a:ext>
                  </a:extLst>
                </a:gridCol>
                <a:gridCol w="1849120">
                  <a:extLst>
                    <a:ext uri="{9D8B030D-6E8A-4147-A177-3AD203B41FA5}">
                      <a16:colId xmlns:a16="http://schemas.microsoft.com/office/drawing/2014/main" val="3906255285"/>
                    </a:ext>
                  </a:extLst>
                </a:gridCol>
                <a:gridCol w="1849120">
                  <a:extLst>
                    <a:ext uri="{9D8B030D-6E8A-4147-A177-3AD203B41FA5}">
                      <a16:colId xmlns:a16="http://schemas.microsoft.com/office/drawing/2014/main" val="1212402813"/>
                    </a:ext>
                  </a:extLst>
                </a:gridCol>
                <a:gridCol w="1849120">
                  <a:extLst>
                    <a:ext uri="{9D8B030D-6E8A-4147-A177-3AD203B41FA5}">
                      <a16:colId xmlns:a16="http://schemas.microsoft.com/office/drawing/2014/main" val="3124377294"/>
                    </a:ext>
                  </a:extLst>
                </a:gridCol>
              </a:tblGrid>
              <a:tr h="459176">
                <a:tc>
                  <a:txBody>
                    <a:bodyPr/>
                    <a:lstStyle/>
                    <a:p>
                      <a:pPr algn="ctr"/>
                      <a:r>
                        <a:rPr lang="it-IT" sz="1800" b="1" dirty="0">
                          <a:latin typeface="Aptos" panose="020B0004020202020204" pitchFamily="34" charset="0"/>
                        </a:rPr>
                        <a:t>METHOD</a:t>
                      </a:r>
                      <a:endParaRPr lang="en-GB" sz="1800" b="1" dirty="0">
                        <a:latin typeface="Aptos" panose="020B0004020202020204" pitchFamily="34" charset="0"/>
                      </a:endParaRPr>
                    </a:p>
                  </a:txBody>
                  <a:tcPr anchor="ctr"/>
                </a:tc>
                <a:tc>
                  <a:txBody>
                    <a:bodyPr/>
                    <a:lstStyle/>
                    <a:p>
                      <a:pPr algn="ctr"/>
                      <a:r>
                        <a:rPr lang="it-IT" sz="1800" b="1" dirty="0">
                          <a:latin typeface="Aptos" panose="020B0004020202020204" pitchFamily="34" charset="0"/>
                        </a:rPr>
                        <a:t>REQUEST HAS BODY</a:t>
                      </a:r>
                      <a:endParaRPr lang="en-GB" sz="1800" b="1" dirty="0">
                        <a:latin typeface="Aptos" panose="020B0004020202020204" pitchFamily="34" charset="0"/>
                      </a:endParaRPr>
                    </a:p>
                  </a:txBody>
                  <a:tcPr anchor="ctr"/>
                </a:tc>
                <a:tc>
                  <a:txBody>
                    <a:bodyPr/>
                    <a:lstStyle/>
                    <a:p>
                      <a:pPr algn="ctr"/>
                      <a:r>
                        <a:rPr lang="it-IT" sz="1800" b="1" dirty="0">
                          <a:latin typeface="Aptos" panose="020B0004020202020204" pitchFamily="34" charset="0"/>
                        </a:rPr>
                        <a:t>RESPONSE HAS BODY</a:t>
                      </a:r>
                      <a:endParaRPr lang="en-GB" sz="1800" b="1" dirty="0">
                        <a:latin typeface="Aptos" panose="020B0004020202020204" pitchFamily="34" charset="0"/>
                      </a:endParaRPr>
                    </a:p>
                  </a:txBody>
                  <a:tcPr anchor="ctr"/>
                </a:tc>
                <a:tc>
                  <a:txBody>
                    <a:bodyPr/>
                    <a:lstStyle/>
                    <a:p>
                      <a:pPr algn="ctr"/>
                      <a:r>
                        <a:rPr lang="it-IT" sz="1800" b="1" dirty="0">
                          <a:latin typeface="Aptos" panose="020B0004020202020204" pitchFamily="34" charset="0"/>
                        </a:rPr>
                        <a:t>IS SAFE</a:t>
                      </a:r>
                      <a:endParaRPr lang="en-GB" sz="1800" b="1" dirty="0">
                        <a:latin typeface="Aptos" panose="020B0004020202020204" pitchFamily="34" charset="0"/>
                      </a:endParaRPr>
                    </a:p>
                  </a:txBody>
                  <a:tcPr anchor="ctr"/>
                </a:tc>
                <a:tc>
                  <a:txBody>
                    <a:bodyPr/>
                    <a:lstStyle/>
                    <a:p>
                      <a:pPr algn="ctr"/>
                      <a:r>
                        <a:rPr lang="it-IT" sz="1800" b="1" dirty="0">
                          <a:latin typeface="Aptos" panose="020B0004020202020204" pitchFamily="34" charset="0"/>
                        </a:rPr>
                        <a:t>IS IDEMPOTENT</a:t>
                      </a:r>
                      <a:endParaRPr lang="en-GB" sz="1800" b="1" dirty="0">
                        <a:latin typeface="Aptos" panose="020B0004020202020204" pitchFamily="34" charset="0"/>
                      </a:endParaRPr>
                    </a:p>
                  </a:txBody>
                  <a:tcPr anchor="ctr"/>
                </a:tc>
                <a:tc>
                  <a:txBody>
                    <a:bodyPr/>
                    <a:lstStyle/>
                    <a:p>
                      <a:pPr algn="ctr"/>
                      <a:r>
                        <a:rPr lang="it-IT" sz="1800" b="1" dirty="0">
                          <a:latin typeface="Aptos" panose="020B0004020202020204" pitchFamily="34" charset="0"/>
                        </a:rPr>
                        <a:t>IS CACHEABLE</a:t>
                      </a:r>
                      <a:endParaRPr lang="en-GB" sz="1800" b="1" dirty="0">
                        <a:latin typeface="Aptos" panose="020B0004020202020204" pitchFamily="34" charset="0"/>
                      </a:endParaRPr>
                    </a:p>
                  </a:txBody>
                  <a:tcPr anchor="ctr"/>
                </a:tc>
                <a:extLst>
                  <a:ext uri="{0D108BD9-81ED-4DB2-BD59-A6C34878D82A}">
                    <a16:rowId xmlns:a16="http://schemas.microsoft.com/office/drawing/2014/main" val="638877614"/>
                  </a:ext>
                </a:extLst>
              </a:tr>
              <a:tr h="459176">
                <a:tc>
                  <a:txBody>
                    <a:bodyPr/>
                    <a:lstStyle/>
                    <a:p>
                      <a:r>
                        <a:rPr lang="en-US" sz="1800" b="1" noProof="0" dirty="0">
                          <a:latin typeface="Aptos" panose="020B0004020202020204" pitchFamily="34" charset="0"/>
                        </a:rPr>
                        <a:t>GET</a:t>
                      </a:r>
                    </a:p>
                  </a:txBody>
                  <a:tcPr anchor="ctr"/>
                </a:tc>
                <a:tc>
                  <a:txBody>
                    <a:bodyPr/>
                    <a:lstStyle/>
                    <a:p>
                      <a:pPr algn="ctr"/>
                      <a:r>
                        <a:rPr lang="it-IT" sz="1800" dirty="0">
                          <a:latin typeface="Aptos" panose="020B0004020202020204" pitchFamily="34" charset="0"/>
                        </a:rPr>
                        <a:t>Optional</a:t>
                      </a:r>
                      <a:endParaRPr lang="en-GB" sz="1800" dirty="0">
                        <a:latin typeface="Aptos" panose="020B0004020202020204" pitchFamily="34" charset="0"/>
                      </a:endParaRPr>
                    </a:p>
                  </a:txBody>
                  <a:tcPr anchor="ctr"/>
                </a:tc>
                <a:tc>
                  <a:txBody>
                    <a:bodyPr/>
                    <a:lstStyle/>
                    <a:p>
                      <a:pPr algn="ctr"/>
                      <a:r>
                        <a:rPr lang="it-IT" sz="1800" dirty="0">
                          <a:latin typeface="Aptos" panose="020B0004020202020204" pitchFamily="34" charset="0"/>
                        </a:rPr>
                        <a:t>Yes</a:t>
                      </a:r>
                      <a:endParaRPr lang="en-GB" sz="1800" dirty="0">
                        <a:latin typeface="Aptos" panose="020B0004020202020204" pitchFamily="34" charset="0"/>
                      </a:endParaRPr>
                    </a:p>
                  </a:txBody>
                  <a:tcPr anchor="ctr"/>
                </a:tc>
                <a:tc>
                  <a:txBody>
                    <a:bodyPr/>
                    <a:lstStyle/>
                    <a:p>
                      <a:pPr algn="ctr"/>
                      <a:r>
                        <a:rPr lang="it-IT" sz="1800" dirty="0">
                          <a:latin typeface="Aptos" panose="020B0004020202020204" pitchFamily="34" charset="0"/>
                        </a:rPr>
                        <a:t>Yes</a:t>
                      </a:r>
                      <a:endParaRPr lang="en-GB" sz="1800" dirty="0">
                        <a:latin typeface="Aptos" panose="020B0004020202020204" pitchFamily="34" charset="0"/>
                      </a:endParaRPr>
                    </a:p>
                  </a:txBody>
                  <a:tcPr anchor="ctr"/>
                </a:tc>
                <a:tc>
                  <a:txBody>
                    <a:bodyPr/>
                    <a:lstStyle/>
                    <a:p>
                      <a:pPr algn="ctr"/>
                      <a:r>
                        <a:rPr lang="it-IT" sz="1800" dirty="0">
                          <a:latin typeface="Aptos" panose="020B0004020202020204" pitchFamily="34" charset="0"/>
                        </a:rPr>
                        <a:t>Yes</a:t>
                      </a:r>
                      <a:endParaRPr lang="en-GB" sz="1800" dirty="0">
                        <a:latin typeface="Aptos" panose="020B0004020202020204" pitchFamily="34" charset="0"/>
                      </a:endParaRPr>
                    </a:p>
                  </a:txBody>
                  <a:tcPr anchor="ctr"/>
                </a:tc>
                <a:tc>
                  <a:txBody>
                    <a:bodyPr/>
                    <a:lstStyle/>
                    <a:p>
                      <a:pPr algn="ctr"/>
                      <a:r>
                        <a:rPr lang="it-IT" sz="1800" dirty="0">
                          <a:latin typeface="Aptos" panose="020B0004020202020204" pitchFamily="34" charset="0"/>
                        </a:rPr>
                        <a:t>Yes</a:t>
                      </a:r>
                      <a:endParaRPr lang="en-GB" sz="1800" dirty="0">
                        <a:latin typeface="Aptos" panose="020B0004020202020204" pitchFamily="34" charset="0"/>
                      </a:endParaRPr>
                    </a:p>
                  </a:txBody>
                  <a:tcPr anchor="ctr"/>
                </a:tc>
                <a:extLst>
                  <a:ext uri="{0D108BD9-81ED-4DB2-BD59-A6C34878D82A}">
                    <a16:rowId xmlns:a16="http://schemas.microsoft.com/office/drawing/2014/main" val="425733752"/>
                  </a:ext>
                </a:extLst>
              </a:tr>
              <a:tr h="459176">
                <a:tc>
                  <a:txBody>
                    <a:bodyPr/>
                    <a:lstStyle/>
                    <a:p>
                      <a:r>
                        <a:rPr lang="en-US" sz="1800" b="1" noProof="0" dirty="0">
                          <a:latin typeface="Aptos" panose="020B0004020202020204" pitchFamily="34" charset="0"/>
                        </a:rPr>
                        <a:t>HEAD</a:t>
                      </a:r>
                    </a:p>
                  </a:txBody>
                  <a:tcPr anchor="ctr"/>
                </a:tc>
                <a:tc>
                  <a:txBody>
                    <a:bodyPr/>
                    <a:lstStyle/>
                    <a:p>
                      <a:pPr algn="ctr"/>
                      <a:r>
                        <a:rPr lang="it-IT" sz="1800" dirty="0">
                          <a:latin typeface="Aptos" panose="020B0004020202020204" pitchFamily="34" charset="0"/>
                        </a:rPr>
                        <a:t>Optional</a:t>
                      </a:r>
                      <a:endParaRPr lang="en-GB" sz="1800" dirty="0">
                        <a:latin typeface="Aptos" panose="020B0004020202020204" pitchFamily="34" charset="0"/>
                      </a:endParaRPr>
                    </a:p>
                  </a:txBody>
                  <a:tcPr anchor="ctr"/>
                </a:tc>
                <a:tc>
                  <a:txBody>
                    <a:bodyPr/>
                    <a:lstStyle/>
                    <a:p>
                      <a:pPr algn="ctr"/>
                      <a:r>
                        <a:rPr lang="it-IT" sz="1800" dirty="0">
                          <a:latin typeface="Aptos" panose="020B0004020202020204" pitchFamily="34" charset="0"/>
                        </a:rPr>
                        <a:t>No</a:t>
                      </a:r>
                      <a:endParaRPr lang="en-GB" sz="1800" dirty="0">
                        <a:latin typeface="Aptos" panose="020B0004020202020204" pitchFamily="34" charset="0"/>
                      </a:endParaRPr>
                    </a:p>
                  </a:txBody>
                  <a:tcPr anchor="ctr"/>
                </a:tc>
                <a:tc>
                  <a:txBody>
                    <a:bodyPr/>
                    <a:lstStyle/>
                    <a:p>
                      <a:pPr algn="ctr"/>
                      <a:r>
                        <a:rPr lang="it-IT" sz="1800" dirty="0">
                          <a:latin typeface="Aptos" panose="020B0004020202020204" pitchFamily="34" charset="0"/>
                        </a:rPr>
                        <a:t>Yes</a:t>
                      </a:r>
                      <a:endParaRPr lang="en-GB" sz="1800" dirty="0">
                        <a:latin typeface="Aptos" panose="020B0004020202020204" pitchFamily="34" charset="0"/>
                      </a:endParaRPr>
                    </a:p>
                  </a:txBody>
                  <a:tcPr anchor="ctr"/>
                </a:tc>
                <a:tc>
                  <a:txBody>
                    <a:bodyPr/>
                    <a:lstStyle/>
                    <a:p>
                      <a:pPr algn="ctr"/>
                      <a:r>
                        <a:rPr lang="it-IT" sz="1800" dirty="0">
                          <a:latin typeface="Aptos" panose="020B0004020202020204" pitchFamily="34" charset="0"/>
                        </a:rPr>
                        <a:t>Yes</a:t>
                      </a:r>
                      <a:endParaRPr lang="en-GB" sz="1800" dirty="0">
                        <a:latin typeface="Aptos" panose="020B0004020202020204" pitchFamily="34" charset="0"/>
                      </a:endParaRPr>
                    </a:p>
                  </a:txBody>
                  <a:tcPr anchor="ctr"/>
                </a:tc>
                <a:tc>
                  <a:txBody>
                    <a:bodyPr/>
                    <a:lstStyle/>
                    <a:p>
                      <a:pPr algn="ctr"/>
                      <a:r>
                        <a:rPr lang="it-IT" sz="1800" dirty="0">
                          <a:latin typeface="Aptos" panose="020B0004020202020204" pitchFamily="34" charset="0"/>
                        </a:rPr>
                        <a:t>Yes</a:t>
                      </a:r>
                      <a:endParaRPr lang="en-GB" sz="1800" dirty="0">
                        <a:latin typeface="Aptos" panose="020B0004020202020204" pitchFamily="34" charset="0"/>
                      </a:endParaRPr>
                    </a:p>
                  </a:txBody>
                  <a:tcPr anchor="ctr"/>
                </a:tc>
                <a:extLst>
                  <a:ext uri="{0D108BD9-81ED-4DB2-BD59-A6C34878D82A}">
                    <a16:rowId xmlns:a16="http://schemas.microsoft.com/office/drawing/2014/main" val="844572959"/>
                  </a:ext>
                </a:extLst>
              </a:tr>
              <a:tr h="459176">
                <a:tc>
                  <a:txBody>
                    <a:bodyPr/>
                    <a:lstStyle/>
                    <a:p>
                      <a:r>
                        <a:rPr lang="en-US" sz="1800" b="1" noProof="0" dirty="0">
                          <a:latin typeface="Aptos" panose="020B0004020202020204" pitchFamily="34" charset="0"/>
                        </a:rPr>
                        <a:t>POST</a:t>
                      </a:r>
                    </a:p>
                  </a:txBody>
                  <a:tcPr anchor="ctr"/>
                </a:tc>
                <a:tc>
                  <a:txBody>
                    <a:bodyPr/>
                    <a:lstStyle/>
                    <a:p>
                      <a:pPr algn="ctr"/>
                      <a:r>
                        <a:rPr lang="it-IT" sz="1800" dirty="0">
                          <a:latin typeface="Aptos" panose="020B0004020202020204" pitchFamily="34" charset="0"/>
                        </a:rPr>
                        <a:t>Yes</a:t>
                      </a:r>
                      <a:endParaRPr lang="en-GB" sz="1800" dirty="0">
                        <a:latin typeface="Aptos" panose="020B0004020202020204" pitchFamily="34" charset="0"/>
                      </a:endParaRPr>
                    </a:p>
                  </a:txBody>
                  <a:tcPr anchor="ctr"/>
                </a:tc>
                <a:tc>
                  <a:txBody>
                    <a:bodyPr/>
                    <a:lstStyle/>
                    <a:p>
                      <a:pPr algn="ctr"/>
                      <a:r>
                        <a:rPr lang="it-IT" sz="1800" dirty="0">
                          <a:latin typeface="Aptos" panose="020B0004020202020204" pitchFamily="34" charset="0"/>
                        </a:rPr>
                        <a:t>Yes</a:t>
                      </a:r>
                      <a:endParaRPr lang="en-GB" sz="1800" dirty="0">
                        <a:latin typeface="Aptos" panose="020B0004020202020204" pitchFamily="34" charset="0"/>
                      </a:endParaRPr>
                    </a:p>
                  </a:txBody>
                  <a:tcPr anchor="ctr"/>
                </a:tc>
                <a:tc>
                  <a:txBody>
                    <a:bodyPr/>
                    <a:lstStyle/>
                    <a:p>
                      <a:pPr algn="ctr"/>
                      <a:r>
                        <a:rPr lang="it-IT" sz="1800" dirty="0">
                          <a:latin typeface="Aptos" panose="020B0004020202020204" pitchFamily="34" charset="0"/>
                        </a:rPr>
                        <a:t>No</a:t>
                      </a:r>
                      <a:endParaRPr lang="en-GB" sz="1800" dirty="0">
                        <a:latin typeface="Aptos" panose="020B0004020202020204" pitchFamily="34" charset="0"/>
                      </a:endParaRPr>
                    </a:p>
                  </a:txBody>
                  <a:tcPr anchor="ctr"/>
                </a:tc>
                <a:tc>
                  <a:txBody>
                    <a:bodyPr/>
                    <a:lstStyle/>
                    <a:p>
                      <a:pPr algn="ctr"/>
                      <a:r>
                        <a:rPr lang="it-IT" sz="1800" dirty="0">
                          <a:latin typeface="Aptos" panose="020B0004020202020204" pitchFamily="34" charset="0"/>
                        </a:rPr>
                        <a:t>No</a:t>
                      </a:r>
                      <a:endParaRPr lang="en-GB" sz="1800" dirty="0">
                        <a:latin typeface="Aptos" panose="020B0004020202020204" pitchFamily="34" charset="0"/>
                      </a:endParaRPr>
                    </a:p>
                  </a:txBody>
                  <a:tcPr anchor="ctr"/>
                </a:tc>
                <a:tc>
                  <a:txBody>
                    <a:bodyPr/>
                    <a:lstStyle/>
                    <a:p>
                      <a:pPr algn="ctr"/>
                      <a:r>
                        <a:rPr lang="it-IT" sz="1800" dirty="0">
                          <a:latin typeface="Aptos" panose="020B0004020202020204" pitchFamily="34" charset="0"/>
                        </a:rPr>
                        <a:t>Yes</a:t>
                      </a:r>
                      <a:endParaRPr lang="en-GB" sz="1800" dirty="0">
                        <a:latin typeface="Aptos" panose="020B0004020202020204" pitchFamily="34" charset="0"/>
                      </a:endParaRPr>
                    </a:p>
                  </a:txBody>
                  <a:tcPr anchor="ctr"/>
                </a:tc>
                <a:extLst>
                  <a:ext uri="{0D108BD9-81ED-4DB2-BD59-A6C34878D82A}">
                    <a16:rowId xmlns:a16="http://schemas.microsoft.com/office/drawing/2014/main" val="2287754822"/>
                  </a:ext>
                </a:extLst>
              </a:tr>
              <a:tr h="459176">
                <a:tc>
                  <a:txBody>
                    <a:bodyPr/>
                    <a:lstStyle/>
                    <a:p>
                      <a:r>
                        <a:rPr lang="en-US" sz="1800" b="1" noProof="0" dirty="0">
                          <a:latin typeface="Aptos" panose="020B0004020202020204" pitchFamily="34" charset="0"/>
                        </a:rPr>
                        <a:t>PUT</a:t>
                      </a:r>
                    </a:p>
                  </a:txBody>
                  <a:tcPr anchor="ctr"/>
                </a:tc>
                <a:tc>
                  <a:txBody>
                    <a:bodyPr/>
                    <a:lstStyle/>
                    <a:p>
                      <a:pPr algn="ctr"/>
                      <a:r>
                        <a:rPr lang="it-IT" sz="1800" dirty="0">
                          <a:latin typeface="Aptos" panose="020B0004020202020204" pitchFamily="34" charset="0"/>
                        </a:rPr>
                        <a:t>Yes</a:t>
                      </a:r>
                      <a:endParaRPr lang="en-GB" sz="1800" dirty="0">
                        <a:latin typeface="Aptos" panose="020B0004020202020204" pitchFamily="34" charset="0"/>
                      </a:endParaRPr>
                    </a:p>
                  </a:txBody>
                  <a:tcPr anchor="ctr"/>
                </a:tc>
                <a:tc>
                  <a:txBody>
                    <a:bodyPr/>
                    <a:lstStyle/>
                    <a:p>
                      <a:pPr algn="ctr"/>
                      <a:r>
                        <a:rPr lang="it-IT" sz="1800" dirty="0">
                          <a:latin typeface="Aptos" panose="020B0004020202020204" pitchFamily="34" charset="0"/>
                        </a:rPr>
                        <a:t>Yes</a:t>
                      </a:r>
                      <a:endParaRPr lang="en-GB" sz="1800" dirty="0">
                        <a:latin typeface="Aptos" panose="020B0004020202020204" pitchFamily="34" charset="0"/>
                      </a:endParaRPr>
                    </a:p>
                  </a:txBody>
                  <a:tcPr anchor="ctr"/>
                </a:tc>
                <a:tc>
                  <a:txBody>
                    <a:bodyPr/>
                    <a:lstStyle/>
                    <a:p>
                      <a:pPr algn="ctr"/>
                      <a:r>
                        <a:rPr lang="it-IT" sz="1800" dirty="0">
                          <a:latin typeface="Aptos" panose="020B0004020202020204" pitchFamily="34" charset="0"/>
                        </a:rPr>
                        <a:t>No</a:t>
                      </a:r>
                      <a:endParaRPr lang="en-GB" sz="1800" dirty="0">
                        <a:latin typeface="Aptos" panose="020B0004020202020204" pitchFamily="34" charset="0"/>
                      </a:endParaRPr>
                    </a:p>
                  </a:txBody>
                  <a:tcPr anchor="ctr"/>
                </a:tc>
                <a:tc>
                  <a:txBody>
                    <a:bodyPr/>
                    <a:lstStyle/>
                    <a:p>
                      <a:pPr algn="ctr"/>
                      <a:r>
                        <a:rPr lang="it-IT" sz="1800" dirty="0">
                          <a:latin typeface="Aptos" panose="020B0004020202020204" pitchFamily="34" charset="0"/>
                        </a:rPr>
                        <a:t>Yes</a:t>
                      </a:r>
                      <a:endParaRPr lang="en-GB" sz="1800" dirty="0">
                        <a:latin typeface="Aptos" panose="020B0004020202020204" pitchFamily="34" charset="0"/>
                      </a:endParaRPr>
                    </a:p>
                  </a:txBody>
                  <a:tcPr anchor="ctr"/>
                </a:tc>
                <a:tc>
                  <a:txBody>
                    <a:bodyPr/>
                    <a:lstStyle/>
                    <a:p>
                      <a:pPr algn="ctr"/>
                      <a:r>
                        <a:rPr lang="it-IT" sz="1800" dirty="0">
                          <a:latin typeface="Aptos" panose="020B0004020202020204" pitchFamily="34" charset="0"/>
                        </a:rPr>
                        <a:t>No</a:t>
                      </a:r>
                      <a:endParaRPr lang="en-GB" sz="1800" dirty="0">
                        <a:latin typeface="Aptos" panose="020B0004020202020204" pitchFamily="34" charset="0"/>
                      </a:endParaRPr>
                    </a:p>
                  </a:txBody>
                  <a:tcPr anchor="ctr"/>
                </a:tc>
                <a:extLst>
                  <a:ext uri="{0D108BD9-81ED-4DB2-BD59-A6C34878D82A}">
                    <a16:rowId xmlns:a16="http://schemas.microsoft.com/office/drawing/2014/main" val="3409320816"/>
                  </a:ext>
                </a:extLst>
              </a:tr>
              <a:tr h="459176">
                <a:tc>
                  <a:txBody>
                    <a:bodyPr/>
                    <a:lstStyle/>
                    <a:p>
                      <a:r>
                        <a:rPr lang="en-US" sz="1800" b="1" noProof="0" dirty="0">
                          <a:latin typeface="Aptos" panose="020B0004020202020204" pitchFamily="34" charset="0"/>
                        </a:rPr>
                        <a:t>DELETE</a:t>
                      </a:r>
                    </a:p>
                  </a:txBody>
                  <a:tcPr anchor="ctr"/>
                </a:tc>
                <a:tc>
                  <a:txBody>
                    <a:bodyPr/>
                    <a:lstStyle/>
                    <a:p>
                      <a:pPr algn="ctr"/>
                      <a:r>
                        <a:rPr lang="it-IT" sz="1800" dirty="0">
                          <a:latin typeface="Aptos" panose="020B0004020202020204" pitchFamily="34" charset="0"/>
                        </a:rPr>
                        <a:t>Optional</a:t>
                      </a:r>
                      <a:endParaRPr lang="en-GB" sz="1800" dirty="0">
                        <a:latin typeface="Aptos" panose="020B0004020202020204" pitchFamily="34" charset="0"/>
                      </a:endParaRPr>
                    </a:p>
                  </a:txBody>
                  <a:tcPr anchor="ctr"/>
                </a:tc>
                <a:tc>
                  <a:txBody>
                    <a:bodyPr/>
                    <a:lstStyle/>
                    <a:p>
                      <a:pPr algn="ctr"/>
                      <a:r>
                        <a:rPr lang="it-IT" sz="1800" dirty="0">
                          <a:latin typeface="Aptos" panose="020B0004020202020204" pitchFamily="34" charset="0"/>
                        </a:rPr>
                        <a:t>Yes</a:t>
                      </a:r>
                      <a:endParaRPr lang="en-GB" sz="1800" dirty="0">
                        <a:latin typeface="Aptos" panose="020B0004020202020204" pitchFamily="34" charset="0"/>
                      </a:endParaRPr>
                    </a:p>
                  </a:txBody>
                  <a:tcPr anchor="ctr"/>
                </a:tc>
                <a:tc>
                  <a:txBody>
                    <a:bodyPr/>
                    <a:lstStyle/>
                    <a:p>
                      <a:pPr algn="ctr"/>
                      <a:r>
                        <a:rPr lang="it-IT" sz="1800" dirty="0">
                          <a:latin typeface="Aptos" panose="020B0004020202020204" pitchFamily="34" charset="0"/>
                        </a:rPr>
                        <a:t>No</a:t>
                      </a:r>
                      <a:endParaRPr lang="en-GB" sz="1800" dirty="0">
                        <a:latin typeface="Aptos" panose="020B0004020202020204" pitchFamily="34" charset="0"/>
                      </a:endParaRPr>
                    </a:p>
                  </a:txBody>
                  <a:tcPr anchor="ctr"/>
                </a:tc>
                <a:tc>
                  <a:txBody>
                    <a:bodyPr/>
                    <a:lstStyle/>
                    <a:p>
                      <a:pPr algn="ctr"/>
                      <a:r>
                        <a:rPr lang="it-IT" sz="1800" dirty="0">
                          <a:latin typeface="Aptos" panose="020B0004020202020204" pitchFamily="34" charset="0"/>
                        </a:rPr>
                        <a:t>Yes</a:t>
                      </a:r>
                      <a:endParaRPr lang="en-GB" sz="1800" dirty="0">
                        <a:latin typeface="Aptos" panose="020B0004020202020204" pitchFamily="34" charset="0"/>
                      </a:endParaRPr>
                    </a:p>
                  </a:txBody>
                  <a:tcPr anchor="ctr"/>
                </a:tc>
                <a:tc>
                  <a:txBody>
                    <a:bodyPr/>
                    <a:lstStyle/>
                    <a:p>
                      <a:pPr algn="ctr"/>
                      <a:r>
                        <a:rPr lang="it-IT" sz="1800" dirty="0">
                          <a:latin typeface="Aptos" panose="020B0004020202020204" pitchFamily="34" charset="0"/>
                        </a:rPr>
                        <a:t>No</a:t>
                      </a:r>
                      <a:endParaRPr lang="en-GB" sz="1800" dirty="0">
                        <a:latin typeface="Aptos" panose="020B0004020202020204" pitchFamily="34" charset="0"/>
                      </a:endParaRPr>
                    </a:p>
                  </a:txBody>
                  <a:tcPr anchor="ctr"/>
                </a:tc>
                <a:extLst>
                  <a:ext uri="{0D108BD9-81ED-4DB2-BD59-A6C34878D82A}">
                    <a16:rowId xmlns:a16="http://schemas.microsoft.com/office/drawing/2014/main" val="2271686304"/>
                  </a:ext>
                </a:extLst>
              </a:tr>
              <a:tr h="459176">
                <a:tc>
                  <a:txBody>
                    <a:bodyPr/>
                    <a:lstStyle/>
                    <a:p>
                      <a:r>
                        <a:rPr lang="en-US" sz="1800" b="1" noProof="0" dirty="0">
                          <a:latin typeface="Aptos" panose="020B0004020202020204" pitchFamily="34" charset="0"/>
                        </a:rPr>
                        <a:t>TRACE</a:t>
                      </a:r>
                    </a:p>
                  </a:txBody>
                  <a:tcPr anchor="ctr"/>
                </a:tc>
                <a:tc>
                  <a:txBody>
                    <a:bodyPr/>
                    <a:lstStyle/>
                    <a:p>
                      <a:pPr algn="ctr"/>
                      <a:r>
                        <a:rPr lang="it-IT" sz="1800" dirty="0">
                          <a:latin typeface="Aptos" panose="020B0004020202020204" pitchFamily="34" charset="0"/>
                        </a:rPr>
                        <a:t>No</a:t>
                      </a:r>
                      <a:endParaRPr lang="en-GB" sz="1800" dirty="0">
                        <a:latin typeface="Aptos" panose="020B0004020202020204" pitchFamily="34" charset="0"/>
                      </a:endParaRPr>
                    </a:p>
                  </a:txBody>
                  <a:tcPr anchor="ctr"/>
                </a:tc>
                <a:tc>
                  <a:txBody>
                    <a:bodyPr/>
                    <a:lstStyle/>
                    <a:p>
                      <a:pPr algn="ctr"/>
                      <a:r>
                        <a:rPr lang="it-IT" sz="1800" dirty="0">
                          <a:latin typeface="Aptos" panose="020B0004020202020204" pitchFamily="34" charset="0"/>
                        </a:rPr>
                        <a:t>Yes</a:t>
                      </a:r>
                      <a:endParaRPr lang="en-GB" sz="1800" dirty="0">
                        <a:latin typeface="Aptos" panose="020B0004020202020204" pitchFamily="34" charset="0"/>
                      </a:endParaRPr>
                    </a:p>
                  </a:txBody>
                  <a:tcPr anchor="ctr"/>
                </a:tc>
                <a:tc>
                  <a:txBody>
                    <a:bodyPr/>
                    <a:lstStyle/>
                    <a:p>
                      <a:pPr algn="ctr"/>
                      <a:r>
                        <a:rPr lang="it-IT" sz="1800" dirty="0">
                          <a:latin typeface="Aptos" panose="020B0004020202020204" pitchFamily="34" charset="0"/>
                        </a:rPr>
                        <a:t>Yes</a:t>
                      </a:r>
                      <a:endParaRPr lang="en-GB" sz="1800" dirty="0">
                        <a:latin typeface="Aptos" panose="020B0004020202020204" pitchFamily="34" charset="0"/>
                      </a:endParaRPr>
                    </a:p>
                  </a:txBody>
                  <a:tcPr anchor="ctr"/>
                </a:tc>
                <a:tc>
                  <a:txBody>
                    <a:bodyPr/>
                    <a:lstStyle/>
                    <a:p>
                      <a:pPr algn="ctr"/>
                      <a:r>
                        <a:rPr lang="it-IT" sz="1800" dirty="0">
                          <a:latin typeface="Aptos" panose="020B0004020202020204" pitchFamily="34" charset="0"/>
                        </a:rPr>
                        <a:t>Yes</a:t>
                      </a:r>
                      <a:endParaRPr lang="en-GB" sz="1800" dirty="0">
                        <a:latin typeface="Aptos" panose="020B0004020202020204" pitchFamily="34" charset="0"/>
                      </a:endParaRPr>
                    </a:p>
                  </a:txBody>
                  <a:tcPr anchor="ctr"/>
                </a:tc>
                <a:tc>
                  <a:txBody>
                    <a:bodyPr/>
                    <a:lstStyle/>
                    <a:p>
                      <a:pPr algn="ctr"/>
                      <a:r>
                        <a:rPr lang="it-IT" sz="1800" dirty="0">
                          <a:latin typeface="Aptos" panose="020B0004020202020204" pitchFamily="34" charset="0"/>
                        </a:rPr>
                        <a:t>No</a:t>
                      </a:r>
                      <a:endParaRPr lang="en-GB" sz="1800" dirty="0">
                        <a:latin typeface="Aptos" panose="020B0004020202020204" pitchFamily="34" charset="0"/>
                      </a:endParaRPr>
                    </a:p>
                  </a:txBody>
                  <a:tcPr anchor="ctr"/>
                </a:tc>
                <a:extLst>
                  <a:ext uri="{0D108BD9-81ED-4DB2-BD59-A6C34878D82A}">
                    <a16:rowId xmlns:a16="http://schemas.microsoft.com/office/drawing/2014/main" val="4180929885"/>
                  </a:ext>
                </a:extLst>
              </a:tr>
              <a:tr h="459176">
                <a:tc>
                  <a:txBody>
                    <a:bodyPr/>
                    <a:lstStyle/>
                    <a:p>
                      <a:r>
                        <a:rPr lang="en-US" sz="1800" b="1" noProof="0" dirty="0">
                          <a:latin typeface="Aptos" panose="020B0004020202020204" pitchFamily="34" charset="0"/>
                        </a:rPr>
                        <a:t>CONNECT</a:t>
                      </a:r>
                    </a:p>
                  </a:txBody>
                  <a:tcPr anchor="ctr"/>
                </a:tc>
                <a:tc>
                  <a:txBody>
                    <a:bodyPr/>
                    <a:lstStyle/>
                    <a:p>
                      <a:pPr algn="ctr"/>
                      <a:r>
                        <a:rPr lang="it-IT" sz="1800" dirty="0">
                          <a:latin typeface="Aptos" panose="020B0004020202020204" pitchFamily="34" charset="0"/>
                        </a:rPr>
                        <a:t>Optional</a:t>
                      </a:r>
                      <a:endParaRPr lang="en-GB" sz="1800" dirty="0">
                        <a:latin typeface="Aptos" panose="020B0004020202020204" pitchFamily="34" charset="0"/>
                      </a:endParaRPr>
                    </a:p>
                  </a:txBody>
                  <a:tcPr anchor="ctr"/>
                </a:tc>
                <a:tc>
                  <a:txBody>
                    <a:bodyPr/>
                    <a:lstStyle/>
                    <a:p>
                      <a:pPr algn="ctr"/>
                      <a:r>
                        <a:rPr lang="it-IT" sz="1800" dirty="0">
                          <a:latin typeface="Aptos" panose="020B0004020202020204" pitchFamily="34" charset="0"/>
                        </a:rPr>
                        <a:t>Yes</a:t>
                      </a:r>
                      <a:endParaRPr lang="en-GB" sz="1800" dirty="0">
                        <a:latin typeface="Aptos" panose="020B0004020202020204" pitchFamily="34" charset="0"/>
                      </a:endParaRPr>
                    </a:p>
                  </a:txBody>
                  <a:tcPr anchor="ctr"/>
                </a:tc>
                <a:tc>
                  <a:txBody>
                    <a:bodyPr/>
                    <a:lstStyle/>
                    <a:p>
                      <a:pPr algn="ctr"/>
                      <a:r>
                        <a:rPr lang="it-IT" sz="1800" dirty="0">
                          <a:latin typeface="Aptos" panose="020B0004020202020204" pitchFamily="34" charset="0"/>
                        </a:rPr>
                        <a:t>No</a:t>
                      </a:r>
                      <a:endParaRPr lang="en-GB" sz="1800" dirty="0">
                        <a:latin typeface="Aptos" panose="020B0004020202020204" pitchFamily="34" charset="0"/>
                      </a:endParaRPr>
                    </a:p>
                  </a:txBody>
                  <a:tcPr anchor="ctr"/>
                </a:tc>
                <a:tc>
                  <a:txBody>
                    <a:bodyPr/>
                    <a:lstStyle/>
                    <a:p>
                      <a:pPr algn="ctr"/>
                      <a:r>
                        <a:rPr lang="it-IT" sz="1800" dirty="0">
                          <a:latin typeface="Aptos" panose="020B0004020202020204" pitchFamily="34" charset="0"/>
                        </a:rPr>
                        <a:t>No</a:t>
                      </a:r>
                      <a:endParaRPr lang="en-GB" sz="1800" dirty="0">
                        <a:latin typeface="Aptos" panose="020B0004020202020204" pitchFamily="34" charset="0"/>
                      </a:endParaRPr>
                    </a:p>
                  </a:txBody>
                  <a:tcPr anchor="ctr"/>
                </a:tc>
                <a:tc>
                  <a:txBody>
                    <a:bodyPr/>
                    <a:lstStyle/>
                    <a:p>
                      <a:pPr algn="ctr"/>
                      <a:r>
                        <a:rPr lang="it-IT" sz="1800" dirty="0">
                          <a:latin typeface="Aptos" panose="020B0004020202020204" pitchFamily="34" charset="0"/>
                        </a:rPr>
                        <a:t>No</a:t>
                      </a:r>
                      <a:endParaRPr lang="en-GB" sz="1800" dirty="0">
                        <a:latin typeface="Aptos" panose="020B0004020202020204" pitchFamily="34" charset="0"/>
                      </a:endParaRPr>
                    </a:p>
                  </a:txBody>
                  <a:tcPr anchor="ctr"/>
                </a:tc>
                <a:extLst>
                  <a:ext uri="{0D108BD9-81ED-4DB2-BD59-A6C34878D82A}">
                    <a16:rowId xmlns:a16="http://schemas.microsoft.com/office/drawing/2014/main" val="2973035925"/>
                  </a:ext>
                </a:extLst>
              </a:tr>
              <a:tr h="459176">
                <a:tc>
                  <a:txBody>
                    <a:bodyPr/>
                    <a:lstStyle/>
                    <a:p>
                      <a:r>
                        <a:rPr lang="en-US" sz="1800" b="1" noProof="0" dirty="0">
                          <a:latin typeface="Aptos" panose="020B0004020202020204" pitchFamily="34" charset="0"/>
                        </a:rPr>
                        <a:t>OPTIONS</a:t>
                      </a:r>
                    </a:p>
                  </a:txBody>
                  <a:tcPr anchor="ctr"/>
                </a:tc>
                <a:tc>
                  <a:txBody>
                    <a:bodyPr/>
                    <a:lstStyle/>
                    <a:p>
                      <a:pPr algn="ctr"/>
                      <a:r>
                        <a:rPr lang="it-IT" sz="1800" dirty="0">
                          <a:latin typeface="Aptos" panose="020B0004020202020204" pitchFamily="34" charset="0"/>
                        </a:rPr>
                        <a:t>Optional</a:t>
                      </a:r>
                      <a:endParaRPr lang="en-GB" sz="1800" dirty="0">
                        <a:latin typeface="Aptos" panose="020B0004020202020204" pitchFamily="34" charset="0"/>
                      </a:endParaRPr>
                    </a:p>
                  </a:txBody>
                  <a:tcPr anchor="ctr"/>
                </a:tc>
                <a:tc>
                  <a:txBody>
                    <a:bodyPr/>
                    <a:lstStyle/>
                    <a:p>
                      <a:pPr algn="ctr"/>
                      <a:r>
                        <a:rPr lang="it-IT" sz="1800" dirty="0">
                          <a:latin typeface="Aptos" panose="020B0004020202020204" pitchFamily="34" charset="0"/>
                        </a:rPr>
                        <a:t>Yes</a:t>
                      </a:r>
                      <a:endParaRPr lang="en-GB" sz="1800" dirty="0">
                        <a:latin typeface="Aptos" panose="020B0004020202020204" pitchFamily="34" charset="0"/>
                      </a:endParaRPr>
                    </a:p>
                  </a:txBody>
                  <a:tcPr anchor="ctr"/>
                </a:tc>
                <a:tc>
                  <a:txBody>
                    <a:bodyPr/>
                    <a:lstStyle/>
                    <a:p>
                      <a:pPr algn="ctr"/>
                      <a:r>
                        <a:rPr lang="it-IT" sz="1800" dirty="0">
                          <a:latin typeface="Aptos" panose="020B0004020202020204" pitchFamily="34" charset="0"/>
                        </a:rPr>
                        <a:t>Yes</a:t>
                      </a:r>
                      <a:endParaRPr lang="en-GB" sz="1800" dirty="0">
                        <a:latin typeface="Aptos" panose="020B0004020202020204" pitchFamily="34" charset="0"/>
                      </a:endParaRPr>
                    </a:p>
                  </a:txBody>
                  <a:tcPr anchor="ctr"/>
                </a:tc>
                <a:tc>
                  <a:txBody>
                    <a:bodyPr/>
                    <a:lstStyle/>
                    <a:p>
                      <a:pPr algn="ctr"/>
                      <a:r>
                        <a:rPr lang="it-IT" sz="1800" dirty="0">
                          <a:latin typeface="Aptos" panose="020B0004020202020204" pitchFamily="34" charset="0"/>
                        </a:rPr>
                        <a:t>Yes</a:t>
                      </a:r>
                      <a:endParaRPr lang="en-GB" sz="1800" dirty="0">
                        <a:latin typeface="Aptos" panose="020B0004020202020204" pitchFamily="34" charset="0"/>
                      </a:endParaRPr>
                    </a:p>
                  </a:txBody>
                  <a:tcPr anchor="ctr"/>
                </a:tc>
                <a:tc>
                  <a:txBody>
                    <a:bodyPr/>
                    <a:lstStyle/>
                    <a:p>
                      <a:pPr algn="ctr"/>
                      <a:r>
                        <a:rPr lang="it-IT" sz="1800" dirty="0">
                          <a:latin typeface="Aptos" panose="020B0004020202020204" pitchFamily="34" charset="0"/>
                        </a:rPr>
                        <a:t>No</a:t>
                      </a:r>
                      <a:endParaRPr lang="en-GB" sz="1800" dirty="0">
                        <a:latin typeface="Aptos" panose="020B0004020202020204" pitchFamily="34" charset="0"/>
                      </a:endParaRPr>
                    </a:p>
                  </a:txBody>
                  <a:tcPr anchor="ctr"/>
                </a:tc>
                <a:extLst>
                  <a:ext uri="{0D108BD9-81ED-4DB2-BD59-A6C34878D82A}">
                    <a16:rowId xmlns:a16="http://schemas.microsoft.com/office/drawing/2014/main" val="1379424557"/>
                  </a:ext>
                </a:extLst>
              </a:tr>
              <a:tr h="459176">
                <a:tc>
                  <a:txBody>
                    <a:bodyPr/>
                    <a:lstStyle/>
                    <a:p>
                      <a:r>
                        <a:rPr lang="en-US" sz="1800" b="1" noProof="0" dirty="0">
                          <a:latin typeface="Aptos" panose="020B0004020202020204" pitchFamily="34" charset="0"/>
                        </a:rPr>
                        <a:t>PATCH</a:t>
                      </a:r>
                    </a:p>
                  </a:txBody>
                  <a:tcPr anchor="ctr"/>
                </a:tc>
                <a:tc>
                  <a:txBody>
                    <a:bodyPr/>
                    <a:lstStyle/>
                    <a:p>
                      <a:pPr algn="ctr"/>
                      <a:r>
                        <a:rPr lang="it-IT" sz="1800" dirty="0">
                          <a:latin typeface="Aptos" panose="020B0004020202020204" pitchFamily="34" charset="0"/>
                        </a:rPr>
                        <a:t>Yes</a:t>
                      </a:r>
                      <a:endParaRPr lang="en-GB" sz="1800" dirty="0">
                        <a:latin typeface="Aptos" panose="020B0004020202020204" pitchFamily="34" charset="0"/>
                      </a:endParaRPr>
                    </a:p>
                  </a:txBody>
                  <a:tcPr anchor="ctr"/>
                </a:tc>
                <a:tc>
                  <a:txBody>
                    <a:bodyPr/>
                    <a:lstStyle/>
                    <a:p>
                      <a:pPr algn="ctr"/>
                      <a:r>
                        <a:rPr lang="it-IT" sz="1800" dirty="0">
                          <a:latin typeface="Aptos" panose="020B0004020202020204" pitchFamily="34" charset="0"/>
                        </a:rPr>
                        <a:t>Yes</a:t>
                      </a:r>
                      <a:endParaRPr lang="en-GB" sz="1800" dirty="0">
                        <a:latin typeface="Aptos" panose="020B0004020202020204" pitchFamily="34" charset="0"/>
                      </a:endParaRPr>
                    </a:p>
                  </a:txBody>
                  <a:tcPr anchor="ctr"/>
                </a:tc>
                <a:tc>
                  <a:txBody>
                    <a:bodyPr/>
                    <a:lstStyle/>
                    <a:p>
                      <a:pPr algn="ctr"/>
                      <a:r>
                        <a:rPr lang="it-IT" sz="1800" dirty="0">
                          <a:latin typeface="Aptos" panose="020B0004020202020204" pitchFamily="34" charset="0"/>
                        </a:rPr>
                        <a:t>No</a:t>
                      </a:r>
                      <a:endParaRPr lang="en-GB" sz="1800" dirty="0">
                        <a:latin typeface="Aptos" panose="020B0004020202020204" pitchFamily="34" charset="0"/>
                      </a:endParaRPr>
                    </a:p>
                  </a:txBody>
                  <a:tcPr anchor="ctr"/>
                </a:tc>
                <a:tc>
                  <a:txBody>
                    <a:bodyPr/>
                    <a:lstStyle/>
                    <a:p>
                      <a:pPr algn="ctr"/>
                      <a:r>
                        <a:rPr lang="it-IT" sz="1800" dirty="0">
                          <a:latin typeface="Aptos" panose="020B0004020202020204" pitchFamily="34" charset="0"/>
                        </a:rPr>
                        <a:t>No</a:t>
                      </a:r>
                      <a:endParaRPr lang="en-GB" sz="1800" dirty="0">
                        <a:latin typeface="Aptos" panose="020B0004020202020204" pitchFamily="34" charset="0"/>
                      </a:endParaRPr>
                    </a:p>
                  </a:txBody>
                  <a:tcPr anchor="ctr"/>
                </a:tc>
                <a:tc>
                  <a:txBody>
                    <a:bodyPr/>
                    <a:lstStyle/>
                    <a:p>
                      <a:pPr algn="ctr"/>
                      <a:r>
                        <a:rPr lang="it-IT" sz="1800" dirty="0">
                          <a:latin typeface="Aptos" panose="020B0004020202020204" pitchFamily="34" charset="0"/>
                        </a:rPr>
                        <a:t>No</a:t>
                      </a:r>
                      <a:endParaRPr lang="en-GB" sz="1800" dirty="0">
                        <a:latin typeface="Aptos" panose="020B0004020202020204" pitchFamily="34" charset="0"/>
                      </a:endParaRPr>
                    </a:p>
                  </a:txBody>
                  <a:tcPr anchor="ctr"/>
                </a:tc>
                <a:extLst>
                  <a:ext uri="{0D108BD9-81ED-4DB2-BD59-A6C34878D82A}">
                    <a16:rowId xmlns:a16="http://schemas.microsoft.com/office/drawing/2014/main" val="2358825739"/>
                  </a:ext>
                </a:extLst>
              </a:tr>
            </a:tbl>
          </a:graphicData>
        </a:graphic>
      </p:graphicFrame>
      <p:sp>
        <p:nvSpPr>
          <p:cNvPr id="3" name="Segnaposto numero diapositiva 2"/>
          <p:cNvSpPr>
            <a:spLocks noGrp="1"/>
          </p:cNvSpPr>
          <p:nvPr>
            <p:ph type="sldNum" sz="quarter" idx="12"/>
          </p:nvPr>
        </p:nvSpPr>
        <p:spPr/>
        <p:txBody>
          <a:bodyPr/>
          <a:lstStyle/>
          <a:p>
            <a:fld id="{31DE2C5B-556E-47B8-A792-024C2FCA4ACC}" type="slidenum">
              <a:rPr lang="en-GB" smtClean="0"/>
              <a:t>32</a:t>
            </a:fld>
            <a:endParaRPr lang="en-GB"/>
          </a:p>
        </p:txBody>
      </p:sp>
    </p:spTree>
    <p:extLst>
      <p:ext uri="{BB962C8B-B14F-4D97-AF65-F5344CB8AC3E}">
        <p14:creationId xmlns:p14="http://schemas.microsoft.com/office/powerpoint/2010/main" val="219498425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screenshot of a computer&#10;&#10;Description automatically generated">
            <a:extLst>
              <a:ext uri="{FF2B5EF4-FFF2-40B4-BE49-F238E27FC236}">
                <a16:creationId xmlns:a16="http://schemas.microsoft.com/office/drawing/2014/main" id="{33AE7F34-F7BC-4F38-EEE8-B61339CA5E3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3118" y="1025270"/>
            <a:ext cx="11856616" cy="5422899"/>
          </a:xfrm>
          <a:prstGeom prst="rect">
            <a:avLst/>
          </a:prstGeom>
        </p:spPr>
      </p:pic>
      <p:sp>
        <p:nvSpPr>
          <p:cNvPr id="2" name="Titolo 1"/>
          <p:cNvSpPr>
            <a:spLocks noGrp="1"/>
          </p:cNvSpPr>
          <p:nvPr>
            <p:ph type="title"/>
          </p:nvPr>
        </p:nvSpPr>
        <p:spPr/>
        <p:txBody>
          <a:bodyPr/>
          <a:lstStyle/>
          <a:p>
            <a:r>
              <a:rPr lang="it-IT" dirty="0" err="1"/>
              <a:t>Example</a:t>
            </a:r>
            <a:r>
              <a:rPr lang="it-IT" dirty="0"/>
              <a:t>: </a:t>
            </a:r>
            <a:r>
              <a:rPr lang="it-IT" dirty="0" err="1"/>
              <a:t>inspecting</a:t>
            </a:r>
            <a:r>
              <a:rPr lang="it-IT" dirty="0"/>
              <a:t> the HTTP </a:t>
            </a:r>
            <a:r>
              <a:rPr lang="it-IT" dirty="0" err="1"/>
              <a:t>requests</a:t>
            </a:r>
            <a:r>
              <a:rPr lang="it-IT" dirty="0"/>
              <a:t> in Chrome</a:t>
            </a:r>
            <a:endParaRPr lang="en-GB" dirty="0"/>
          </a:p>
        </p:txBody>
      </p:sp>
      <p:sp>
        <p:nvSpPr>
          <p:cNvPr id="3" name="Segnaposto numero diapositiva 2"/>
          <p:cNvSpPr>
            <a:spLocks noGrp="1"/>
          </p:cNvSpPr>
          <p:nvPr>
            <p:ph type="sldNum" sz="quarter" idx="12"/>
          </p:nvPr>
        </p:nvSpPr>
        <p:spPr/>
        <p:txBody>
          <a:bodyPr/>
          <a:lstStyle/>
          <a:p>
            <a:fld id="{31DE2C5B-556E-47B8-A792-024C2FCA4ACC}" type="slidenum">
              <a:rPr lang="en-GB" smtClean="0"/>
              <a:t>33</a:t>
            </a:fld>
            <a:endParaRPr lang="en-GB"/>
          </a:p>
        </p:txBody>
      </p:sp>
      <p:cxnSp>
        <p:nvCxnSpPr>
          <p:cNvPr id="8" name="Connettore 2 7">
            <a:extLst>
              <a:ext uri="{FF2B5EF4-FFF2-40B4-BE49-F238E27FC236}">
                <a16:creationId xmlns:a16="http://schemas.microsoft.com/office/drawing/2014/main" id="{62FDC8E2-9B76-E0DE-5ECF-B8FAEA8DD669}"/>
              </a:ext>
            </a:extLst>
          </p:cNvPr>
          <p:cNvCxnSpPr>
            <a:cxnSpLocks/>
          </p:cNvCxnSpPr>
          <p:nvPr/>
        </p:nvCxnSpPr>
        <p:spPr>
          <a:xfrm flipH="1">
            <a:off x="6373368" y="4427145"/>
            <a:ext cx="1992034" cy="912951"/>
          </a:xfrm>
          <a:prstGeom prst="straightConnector1">
            <a:avLst/>
          </a:prstGeom>
          <a:ln w="571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9" name="Connettore 2 8">
            <a:extLst>
              <a:ext uri="{FF2B5EF4-FFF2-40B4-BE49-F238E27FC236}">
                <a16:creationId xmlns:a16="http://schemas.microsoft.com/office/drawing/2014/main" id="{FBE74967-CB24-850B-7EA8-655B53B3E5E9}"/>
              </a:ext>
            </a:extLst>
          </p:cNvPr>
          <p:cNvCxnSpPr>
            <a:cxnSpLocks/>
            <a:endCxn id="14" idx="3"/>
          </p:cNvCxnSpPr>
          <p:nvPr/>
        </p:nvCxnSpPr>
        <p:spPr>
          <a:xfrm flipH="1" flipV="1">
            <a:off x="7696162" y="2558950"/>
            <a:ext cx="2018206" cy="1177769"/>
          </a:xfrm>
          <a:prstGeom prst="straightConnector1">
            <a:avLst/>
          </a:prstGeom>
          <a:ln w="571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onnettore 2 11">
            <a:extLst>
              <a:ext uri="{FF2B5EF4-FFF2-40B4-BE49-F238E27FC236}">
                <a16:creationId xmlns:a16="http://schemas.microsoft.com/office/drawing/2014/main" id="{926F7D33-01E9-5238-4299-F06AE097EE00}"/>
              </a:ext>
            </a:extLst>
          </p:cNvPr>
          <p:cNvCxnSpPr>
            <a:cxnSpLocks/>
            <a:endCxn id="15" idx="3"/>
          </p:cNvCxnSpPr>
          <p:nvPr/>
        </p:nvCxnSpPr>
        <p:spPr>
          <a:xfrm flipH="1">
            <a:off x="9492123" y="6002448"/>
            <a:ext cx="897317" cy="345601"/>
          </a:xfrm>
          <a:prstGeom prst="straightConnector1">
            <a:avLst/>
          </a:prstGeom>
          <a:ln w="5715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3" name="Rettangolo 12">
            <a:extLst>
              <a:ext uri="{FF2B5EF4-FFF2-40B4-BE49-F238E27FC236}">
                <a16:creationId xmlns:a16="http://schemas.microsoft.com/office/drawing/2014/main" id="{49BFF38C-B97D-9F71-7271-409A50A9028E}"/>
              </a:ext>
            </a:extLst>
          </p:cNvPr>
          <p:cNvSpPr/>
          <p:nvPr/>
        </p:nvSpPr>
        <p:spPr>
          <a:xfrm>
            <a:off x="5404104" y="5340096"/>
            <a:ext cx="1956816" cy="860243"/>
          </a:xfrm>
          <a:prstGeom prst="rect">
            <a:avLst/>
          </a:prstGeom>
          <a:solidFill>
            <a:schemeClr val="bg1"/>
          </a:solidFill>
          <a:ln w="3810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dirty="0" err="1">
                <a:solidFill>
                  <a:schemeClr val="tx1"/>
                </a:solidFill>
                <a:latin typeface="Aptos" panose="020B0004020202020204" pitchFamily="34" charset="0"/>
              </a:rPr>
              <a:t>Requested</a:t>
            </a:r>
            <a:r>
              <a:rPr lang="it-IT" dirty="0">
                <a:solidFill>
                  <a:schemeClr val="tx1"/>
                </a:solidFill>
                <a:latin typeface="Aptos" panose="020B0004020202020204" pitchFamily="34" charset="0"/>
              </a:rPr>
              <a:t> page and </a:t>
            </a:r>
            <a:r>
              <a:rPr lang="it-IT" dirty="0" err="1">
                <a:solidFill>
                  <a:schemeClr val="tx1"/>
                </a:solidFill>
                <a:latin typeface="Aptos" panose="020B0004020202020204" pitchFamily="34" charset="0"/>
              </a:rPr>
              <a:t>contents</a:t>
            </a:r>
            <a:endParaRPr lang="it-IT" dirty="0">
              <a:solidFill>
                <a:schemeClr val="tx1"/>
              </a:solidFill>
              <a:latin typeface="Aptos" panose="020B0004020202020204" pitchFamily="34" charset="0"/>
            </a:endParaRPr>
          </a:p>
        </p:txBody>
      </p:sp>
      <p:sp>
        <p:nvSpPr>
          <p:cNvPr id="14" name="Rettangolo 13">
            <a:extLst>
              <a:ext uri="{FF2B5EF4-FFF2-40B4-BE49-F238E27FC236}">
                <a16:creationId xmlns:a16="http://schemas.microsoft.com/office/drawing/2014/main" id="{DC220031-8923-FEB6-C9D2-EDB60819750B}"/>
              </a:ext>
            </a:extLst>
          </p:cNvPr>
          <p:cNvSpPr/>
          <p:nvPr/>
        </p:nvSpPr>
        <p:spPr>
          <a:xfrm>
            <a:off x="5646620" y="2128828"/>
            <a:ext cx="2049542" cy="860243"/>
          </a:xfrm>
          <a:prstGeom prst="rect">
            <a:avLst/>
          </a:prstGeom>
          <a:solidFill>
            <a:schemeClr val="bg1"/>
          </a:solidFill>
          <a:ln w="3810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dirty="0" err="1">
                <a:solidFill>
                  <a:schemeClr val="tx1"/>
                </a:solidFill>
                <a:latin typeface="Aptos" panose="020B0004020202020204" pitchFamily="34" charset="0"/>
              </a:rPr>
              <a:t>Request</a:t>
            </a:r>
            <a:r>
              <a:rPr lang="it-IT" dirty="0">
                <a:solidFill>
                  <a:schemeClr val="tx1"/>
                </a:solidFill>
                <a:latin typeface="Aptos" panose="020B0004020202020204" pitchFamily="34" charset="0"/>
              </a:rPr>
              <a:t> </a:t>
            </a:r>
            <a:r>
              <a:rPr lang="it-IT" dirty="0" err="1">
                <a:solidFill>
                  <a:schemeClr val="tx1"/>
                </a:solidFill>
                <a:latin typeface="Aptos" panose="020B0004020202020204" pitchFamily="34" charset="0"/>
              </a:rPr>
              <a:t>headers</a:t>
            </a:r>
            <a:endParaRPr lang="it-IT" dirty="0">
              <a:solidFill>
                <a:schemeClr val="tx1"/>
              </a:solidFill>
              <a:latin typeface="Aptos" panose="020B0004020202020204" pitchFamily="34" charset="0"/>
            </a:endParaRPr>
          </a:p>
        </p:txBody>
      </p:sp>
      <p:sp>
        <p:nvSpPr>
          <p:cNvPr id="15" name="Rettangolo 14">
            <a:extLst>
              <a:ext uri="{FF2B5EF4-FFF2-40B4-BE49-F238E27FC236}">
                <a16:creationId xmlns:a16="http://schemas.microsoft.com/office/drawing/2014/main" id="{F0AB8F04-EF11-F195-BE3B-70F53C31081C}"/>
              </a:ext>
            </a:extLst>
          </p:cNvPr>
          <p:cNvSpPr/>
          <p:nvPr/>
        </p:nvSpPr>
        <p:spPr>
          <a:xfrm>
            <a:off x="7442581" y="5917927"/>
            <a:ext cx="2049542" cy="860243"/>
          </a:xfrm>
          <a:prstGeom prst="rect">
            <a:avLst/>
          </a:prstGeom>
          <a:solidFill>
            <a:schemeClr val="bg1"/>
          </a:solidFill>
          <a:ln w="3810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dirty="0" err="1">
                <a:solidFill>
                  <a:schemeClr val="tx1"/>
                </a:solidFill>
                <a:latin typeface="Aptos" panose="020B0004020202020204" pitchFamily="34" charset="0"/>
              </a:rPr>
              <a:t>Response</a:t>
            </a:r>
            <a:r>
              <a:rPr lang="it-IT" dirty="0">
                <a:solidFill>
                  <a:schemeClr val="tx1"/>
                </a:solidFill>
                <a:latin typeface="Aptos" panose="020B0004020202020204" pitchFamily="34" charset="0"/>
              </a:rPr>
              <a:t> </a:t>
            </a:r>
            <a:r>
              <a:rPr lang="it-IT" dirty="0" err="1">
                <a:solidFill>
                  <a:schemeClr val="tx1"/>
                </a:solidFill>
                <a:latin typeface="Aptos" panose="020B0004020202020204" pitchFamily="34" charset="0"/>
              </a:rPr>
              <a:t>headers</a:t>
            </a:r>
            <a:endParaRPr lang="it-IT" dirty="0">
              <a:solidFill>
                <a:schemeClr val="tx1"/>
              </a:solidFill>
              <a:latin typeface="Aptos" panose="020B0004020202020204" pitchFamily="34" charset="0"/>
            </a:endParaRPr>
          </a:p>
        </p:txBody>
      </p:sp>
      <p:sp>
        <p:nvSpPr>
          <p:cNvPr id="16" name="Ovale 15">
            <a:extLst>
              <a:ext uri="{FF2B5EF4-FFF2-40B4-BE49-F238E27FC236}">
                <a16:creationId xmlns:a16="http://schemas.microsoft.com/office/drawing/2014/main" id="{B8D8D148-F2D0-57C1-2B02-DFF12A3CEE71}"/>
              </a:ext>
            </a:extLst>
          </p:cNvPr>
          <p:cNvSpPr/>
          <p:nvPr/>
        </p:nvSpPr>
        <p:spPr>
          <a:xfrm>
            <a:off x="9936812" y="1734656"/>
            <a:ext cx="905256" cy="394172"/>
          </a:xfrm>
          <a:prstGeom prst="ellipse">
            <a:avLst/>
          </a:prstGeom>
          <a:noFill/>
          <a:ln w="3810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latin typeface="Aptos" panose="020B0004020202020204" pitchFamily="34" charset="0"/>
            </a:endParaRPr>
          </a:p>
        </p:txBody>
      </p:sp>
      <p:sp>
        <p:nvSpPr>
          <p:cNvPr id="17" name="Ovale 16">
            <a:extLst>
              <a:ext uri="{FF2B5EF4-FFF2-40B4-BE49-F238E27FC236}">
                <a16:creationId xmlns:a16="http://schemas.microsoft.com/office/drawing/2014/main" id="{6961FC5C-D579-453F-3B68-2F8DB2F63963}"/>
              </a:ext>
            </a:extLst>
          </p:cNvPr>
          <p:cNvSpPr/>
          <p:nvPr/>
        </p:nvSpPr>
        <p:spPr>
          <a:xfrm>
            <a:off x="9621137" y="2999586"/>
            <a:ext cx="905256" cy="394172"/>
          </a:xfrm>
          <a:prstGeom prst="ellipse">
            <a:avLst/>
          </a:prstGeom>
          <a:noFill/>
          <a:ln w="3810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latin typeface="Aptos" panose="020B0004020202020204" pitchFamily="34" charset="0"/>
            </a:endParaRPr>
          </a:p>
        </p:txBody>
      </p:sp>
      <p:sp>
        <p:nvSpPr>
          <p:cNvPr id="7" name="Ovale 16">
            <a:extLst>
              <a:ext uri="{FF2B5EF4-FFF2-40B4-BE49-F238E27FC236}">
                <a16:creationId xmlns:a16="http://schemas.microsoft.com/office/drawing/2014/main" id="{793DFDE7-FF88-B563-BFFE-F076C715E809}"/>
              </a:ext>
            </a:extLst>
          </p:cNvPr>
          <p:cNvSpPr/>
          <p:nvPr/>
        </p:nvSpPr>
        <p:spPr>
          <a:xfrm>
            <a:off x="8157972" y="3250194"/>
            <a:ext cx="905256" cy="233960"/>
          </a:xfrm>
          <a:prstGeom prst="ellipse">
            <a:avLst/>
          </a:prstGeom>
          <a:noFill/>
          <a:ln w="3810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latin typeface="Aptos" panose="020B0004020202020204" pitchFamily="34" charset="0"/>
            </a:endParaRPr>
          </a:p>
        </p:txBody>
      </p:sp>
    </p:spTree>
    <p:extLst>
      <p:ext uri="{BB962C8B-B14F-4D97-AF65-F5344CB8AC3E}">
        <p14:creationId xmlns:p14="http://schemas.microsoft.com/office/powerpoint/2010/main" val="61956085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t>Web </a:t>
            </a:r>
            <a:r>
              <a:rPr lang="it-IT" dirty="0" err="1"/>
              <a:t>application</a:t>
            </a:r>
            <a:endParaRPr lang="en-GB" dirty="0"/>
          </a:p>
        </p:txBody>
      </p:sp>
      <p:pic>
        <p:nvPicPr>
          <p:cNvPr id="4" name="Segnaposto contenuto 3"/>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510363" y="3941245"/>
            <a:ext cx="8282451" cy="2631587"/>
          </a:xfrm>
        </p:spPr>
      </p:pic>
      <p:sp>
        <p:nvSpPr>
          <p:cNvPr id="6" name="CasellaDiTesto 5"/>
          <p:cNvSpPr txBox="1"/>
          <p:nvPr/>
        </p:nvSpPr>
        <p:spPr>
          <a:xfrm>
            <a:off x="428172" y="1392114"/>
            <a:ext cx="11422933" cy="2471446"/>
          </a:xfrm>
          <a:prstGeom prst="rect">
            <a:avLst/>
          </a:prstGeom>
          <a:noFill/>
        </p:spPr>
        <p:txBody>
          <a:bodyPr wrap="square" rtlCol="0">
            <a:spAutoFit/>
          </a:bodyPr>
          <a:lstStyle/>
          <a:p>
            <a:pPr marL="342900" lvl="1" indent="-342900">
              <a:lnSpc>
                <a:spcPct val="90000"/>
              </a:lnSpc>
              <a:spcBef>
                <a:spcPts val="1000"/>
              </a:spcBef>
              <a:buClr>
                <a:srgbClr val="00B050"/>
              </a:buClr>
              <a:buFont typeface="Wingdings" panose="05000000000000000000" pitchFamily="2" charset="2"/>
              <a:buChar char="Ø"/>
            </a:pPr>
            <a:r>
              <a:rPr lang="en-US" b="1" dirty="0">
                <a:latin typeface="Aptos" panose="020B0004020202020204" pitchFamily="34" charset="0"/>
              </a:rPr>
              <a:t>Web application</a:t>
            </a:r>
            <a:r>
              <a:rPr lang="en-US" dirty="0">
                <a:latin typeface="Aptos" panose="020B0004020202020204" pitchFamily="34" charset="0"/>
              </a:rPr>
              <a:t>:</a:t>
            </a:r>
            <a:r>
              <a:rPr lang="en-GB" dirty="0">
                <a:latin typeface="Aptos" panose="020B0004020202020204" pitchFamily="34" charset="0"/>
              </a:rPr>
              <a:t> a Web page or a collection of Web pages, delivered over HTTP, which use server-side or client-side processing, i.e., programs, to provide an "application-like" experience within a Web browser.</a:t>
            </a:r>
            <a:r>
              <a:rPr lang="en-US" dirty="0">
                <a:latin typeface="Aptos" panose="020B0004020202020204" pitchFamily="34" charset="0"/>
              </a:rPr>
              <a:t> </a:t>
            </a:r>
          </a:p>
          <a:p>
            <a:pPr marL="342900" lvl="1" indent="-342900">
              <a:lnSpc>
                <a:spcPct val="90000"/>
              </a:lnSpc>
              <a:spcBef>
                <a:spcPts val="1000"/>
              </a:spcBef>
              <a:buClr>
                <a:srgbClr val="00B050"/>
              </a:buClr>
              <a:buFont typeface="Wingdings" panose="05000000000000000000" pitchFamily="2" charset="2"/>
              <a:buChar char="Ø"/>
            </a:pPr>
            <a:r>
              <a:rPr lang="en-US" dirty="0">
                <a:latin typeface="Aptos" panose="020B0004020202020204" pitchFamily="34" charset="0"/>
              </a:rPr>
              <a:t>Web applications access data that are stored in databases in the server and use Web protocols (e.g., HTTP) to exchange data with the client. They use the Web browser to display a user interface by which the user can use the app (making queries, inserting data, view retrieved data, etc.).</a:t>
            </a:r>
          </a:p>
          <a:p>
            <a:pPr marL="342900" lvl="1" indent="-342900">
              <a:lnSpc>
                <a:spcPct val="90000"/>
              </a:lnSpc>
              <a:spcBef>
                <a:spcPts val="1000"/>
              </a:spcBef>
              <a:buClr>
                <a:srgbClr val="00B050"/>
              </a:buClr>
              <a:buFont typeface="Wingdings" panose="05000000000000000000" pitchFamily="2" charset="2"/>
              <a:buChar char="Ø"/>
            </a:pPr>
            <a:r>
              <a:rPr lang="en-US" u="sng" dirty="0">
                <a:latin typeface="Aptos" panose="020B0004020202020204" pitchFamily="34" charset="0"/>
              </a:rPr>
              <a:t>Advantage of Web applications</a:t>
            </a:r>
            <a:r>
              <a:rPr lang="en-US" dirty="0">
                <a:latin typeface="Aptos" panose="020B0004020202020204" pitchFamily="34" charset="0"/>
              </a:rPr>
              <a:t>: The users do not need to install separate application programs, and data can be accessed from different computers and backed up by the service operator.</a:t>
            </a:r>
          </a:p>
          <a:p>
            <a:pPr marL="342900" lvl="1" indent="-342900">
              <a:lnSpc>
                <a:spcPct val="90000"/>
              </a:lnSpc>
              <a:spcBef>
                <a:spcPts val="1000"/>
              </a:spcBef>
              <a:buClr>
                <a:srgbClr val="00B050"/>
              </a:buClr>
              <a:buFont typeface="Wingdings" panose="05000000000000000000" pitchFamily="2" charset="2"/>
              <a:buChar char="Ø"/>
            </a:pPr>
            <a:r>
              <a:rPr lang="en-US" dirty="0">
                <a:latin typeface="Aptos" panose="020B0004020202020204" pitchFamily="34" charset="0"/>
              </a:rPr>
              <a:t>Examples of Web apps: Gmail, Google Docs, Trello, online banking apps, online retail sales apps, …</a:t>
            </a:r>
          </a:p>
        </p:txBody>
      </p:sp>
      <p:sp>
        <p:nvSpPr>
          <p:cNvPr id="3" name="Rettangolo 2"/>
          <p:cNvSpPr/>
          <p:nvPr/>
        </p:nvSpPr>
        <p:spPr>
          <a:xfrm>
            <a:off x="8792814" y="4658807"/>
            <a:ext cx="3236152" cy="1089529"/>
          </a:xfrm>
          <a:prstGeom prst="rect">
            <a:avLst/>
          </a:prstGeom>
          <a:ln w="28575">
            <a:solidFill>
              <a:srgbClr val="00B050"/>
            </a:solidFill>
          </a:ln>
        </p:spPr>
        <p:txBody>
          <a:bodyPr wrap="square">
            <a:spAutoFit/>
          </a:bodyPr>
          <a:lstStyle/>
          <a:p>
            <a:pPr marL="0" lvl="1" algn="ctr">
              <a:lnSpc>
                <a:spcPct val="90000"/>
              </a:lnSpc>
              <a:spcBef>
                <a:spcPts val="1000"/>
              </a:spcBef>
              <a:buClr>
                <a:srgbClr val="00B050"/>
              </a:buClr>
            </a:pPr>
            <a:r>
              <a:rPr lang="en-GB" dirty="0">
                <a:latin typeface="Aptos" panose="020B0004020202020204" pitchFamily="34" charset="0"/>
              </a:rPr>
              <a:t>To act as applications, Web pages can no longer be static, but they need to generate </a:t>
            </a:r>
            <a:r>
              <a:rPr lang="en-GB" b="1" dirty="0">
                <a:latin typeface="Aptos" panose="020B0004020202020204" pitchFamily="34" charset="0"/>
              </a:rPr>
              <a:t>dynamic content</a:t>
            </a:r>
            <a:r>
              <a:rPr lang="en-GB" dirty="0">
                <a:latin typeface="Aptos" panose="020B0004020202020204" pitchFamily="34" charset="0"/>
              </a:rPr>
              <a:t>. </a:t>
            </a:r>
          </a:p>
        </p:txBody>
      </p:sp>
      <p:sp>
        <p:nvSpPr>
          <p:cNvPr id="5" name="Segnaposto numero diapositiva 4"/>
          <p:cNvSpPr>
            <a:spLocks noGrp="1"/>
          </p:cNvSpPr>
          <p:nvPr>
            <p:ph type="sldNum" sz="quarter" idx="12"/>
          </p:nvPr>
        </p:nvSpPr>
        <p:spPr/>
        <p:txBody>
          <a:bodyPr/>
          <a:lstStyle/>
          <a:p>
            <a:fld id="{31DE2C5B-556E-47B8-A792-024C2FCA4ACC}" type="slidenum">
              <a:rPr lang="en-GB" smtClean="0"/>
              <a:t>34</a:t>
            </a:fld>
            <a:endParaRPr lang="en-GB"/>
          </a:p>
        </p:txBody>
      </p:sp>
    </p:spTree>
    <p:extLst>
      <p:ext uri="{BB962C8B-B14F-4D97-AF65-F5344CB8AC3E}">
        <p14:creationId xmlns:p14="http://schemas.microsoft.com/office/powerpoint/2010/main" val="295408212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err="1"/>
              <a:t>Example</a:t>
            </a:r>
            <a:r>
              <a:rPr lang="it-IT" dirty="0"/>
              <a:t> of a Web </a:t>
            </a:r>
            <a:r>
              <a:rPr lang="it-IT" dirty="0" err="1"/>
              <a:t>application</a:t>
            </a:r>
            <a:r>
              <a:rPr lang="it-IT" dirty="0"/>
              <a:t> </a:t>
            </a:r>
            <a:r>
              <a:rPr lang="it-IT" dirty="0" err="1"/>
              <a:t>architecture</a:t>
            </a:r>
            <a:endParaRPr lang="en-GB" dirty="0"/>
          </a:p>
        </p:txBody>
      </p:sp>
      <p:sp>
        <p:nvSpPr>
          <p:cNvPr id="4" name="Rettangolo 3"/>
          <p:cNvSpPr/>
          <p:nvPr/>
        </p:nvSpPr>
        <p:spPr>
          <a:xfrm>
            <a:off x="1062051" y="2293793"/>
            <a:ext cx="3565451" cy="3586969"/>
          </a:xfrm>
          <a:prstGeom prst="rect">
            <a:avLst/>
          </a:prstGeom>
          <a:ln w="28575">
            <a:solidFill>
              <a:srgbClr val="00B05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GB" dirty="0">
              <a:latin typeface="Aptos" panose="020B0004020202020204" pitchFamily="34" charset="0"/>
            </a:endParaRPr>
          </a:p>
        </p:txBody>
      </p:sp>
      <p:sp>
        <p:nvSpPr>
          <p:cNvPr id="5" name="Rettangolo 4"/>
          <p:cNvSpPr/>
          <p:nvPr/>
        </p:nvSpPr>
        <p:spPr>
          <a:xfrm>
            <a:off x="6766994" y="2288479"/>
            <a:ext cx="4624587" cy="3264197"/>
          </a:xfrm>
          <a:prstGeom prst="rect">
            <a:avLst/>
          </a:prstGeom>
          <a:ln w="28575">
            <a:solidFill>
              <a:srgbClr val="00B05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GB">
              <a:latin typeface="Aptos" panose="020B0004020202020204" pitchFamily="34" charset="0"/>
            </a:endParaRPr>
          </a:p>
        </p:txBody>
      </p:sp>
      <p:sp>
        <p:nvSpPr>
          <p:cNvPr id="6" name="CasellaDiTesto 5"/>
          <p:cNvSpPr txBox="1"/>
          <p:nvPr/>
        </p:nvSpPr>
        <p:spPr>
          <a:xfrm>
            <a:off x="1909111" y="1766774"/>
            <a:ext cx="1871330" cy="461665"/>
          </a:xfrm>
          <a:prstGeom prst="rect">
            <a:avLst/>
          </a:prstGeom>
          <a:noFill/>
        </p:spPr>
        <p:txBody>
          <a:bodyPr wrap="square" rtlCol="0">
            <a:spAutoFit/>
          </a:bodyPr>
          <a:lstStyle/>
          <a:p>
            <a:pPr algn="ctr"/>
            <a:r>
              <a:rPr lang="it-IT" sz="2400" dirty="0">
                <a:latin typeface="Aptos" panose="020B0004020202020204" pitchFamily="34" charset="0"/>
              </a:rPr>
              <a:t>Client</a:t>
            </a:r>
            <a:endParaRPr lang="en-GB" sz="2400" dirty="0">
              <a:latin typeface="Aptos" panose="020B0004020202020204" pitchFamily="34" charset="0"/>
            </a:endParaRPr>
          </a:p>
        </p:txBody>
      </p:sp>
      <p:sp>
        <p:nvSpPr>
          <p:cNvPr id="7" name="CasellaDiTesto 6"/>
          <p:cNvSpPr txBox="1"/>
          <p:nvPr/>
        </p:nvSpPr>
        <p:spPr>
          <a:xfrm>
            <a:off x="7912962" y="1826814"/>
            <a:ext cx="1871330" cy="461665"/>
          </a:xfrm>
          <a:prstGeom prst="rect">
            <a:avLst/>
          </a:prstGeom>
          <a:noFill/>
        </p:spPr>
        <p:txBody>
          <a:bodyPr wrap="square" rtlCol="0">
            <a:spAutoFit/>
          </a:bodyPr>
          <a:lstStyle/>
          <a:p>
            <a:pPr algn="ctr"/>
            <a:r>
              <a:rPr lang="it-IT" sz="2400" dirty="0">
                <a:latin typeface="Aptos" panose="020B0004020202020204" pitchFamily="34" charset="0"/>
              </a:rPr>
              <a:t>Server</a:t>
            </a:r>
            <a:endParaRPr lang="en-GB" sz="2400" dirty="0">
              <a:latin typeface="Aptos" panose="020B0004020202020204" pitchFamily="34" charset="0"/>
            </a:endParaRPr>
          </a:p>
        </p:txBody>
      </p:sp>
      <p:sp>
        <p:nvSpPr>
          <p:cNvPr id="8" name="Rettangolo 7"/>
          <p:cNvSpPr/>
          <p:nvPr/>
        </p:nvSpPr>
        <p:spPr>
          <a:xfrm>
            <a:off x="1476720" y="2932284"/>
            <a:ext cx="2736112" cy="2620392"/>
          </a:xfrm>
          <a:prstGeom prst="rect">
            <a:avLst/>
          </a:prstGeom>
          <a:ln w="28575">
            <a:solidFill>
              <a:srgbClr val="00B05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GB" dirty="0">
              <a:latin typeface="Aptos" panose="020B0004020202020204" pitchFamily="34" charset="0"/>
            </a:endParaRPr>
          </a:p>
        </p:txBody>
      </p:sp>
      <p:sp>
        <p:nvSpPr>
          <p:cNvPr id="9" name="CasellaDiTesto 8"/>
          <p:cNvSpPr txBox="1"/>
          <p:nvPr/>
        </p:nvSpPr>
        <p:spPr>
          <a:xfrm>
            <a:off x="1909111" y="2544957"/>
            <a:ext cx="1871330" cy="400110"/>
          </a:xfrm>
          <a:prstGeom prst="rect">
            <a:avLst/>
          </a:prstGeom>
          <a:noFill/>
        </p:spPr>
        <p:txBody>
          <a:bodyPr wrap="square" rtlCol="0">
            <a:spAutoFit/>
          </a:bodyPr>
          <a:lstStyle/>
          <a:p>
            <a:pPr algn="ctr"/>
            <a:r>
              <a:rPr lang="it-IT" sz="2000" dirty="0">
                <a:latin typeface="Aptos" panose="020B0004020202020204" pitchFamily="34" charset="0"/>
              </a:rPr>
              <a:t>Web browser</a:t>
            </a:r>
            <a:endParaRPr lang="en-GB" sz="2000" dirty="0">
              <a:latin typeface="Aptos" panose="020B0004020202020204" pitchFamily="34" charset="0"/>
            </a:endParaRPr>
          </a:p>
        </p:txBody>
      </p:sp>
      <p:sp>
        <p:nvSpPr>
          <p:cNvPr id="10" name="Rettangolo 9"/>
          <p:cNvSpPr/>
          <p:nvPr/>
        </p:nvSpPr>
        <p:spPr>
          <a:xfrm>
            <a:off x="1639754" y="3109110"/>
            <a:ext cx="2417134" cy="446567"/>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it-IT" dirty="0">
                <a:latin typeface="Aptos" panose="020B0004020202020204" pitchFamily="34" charset="0"/>
              </a:rPr>
              <a:t>HTML </a:t>
            </a:r>
            <a:r>
              <a:rPr lang="it-IT" dirty="0" err="1">
                <a:latin typeface="Aptos" panose="020B0004020202020204" pitchFamily="34" charset="0"/>
              </a:rPr>
              <a:t>interpreter</a:t>
            </a:r>
            <a:endParaRPr lang="en-GB" dirty="0">
              <a:latin typeface="Aptos" panose="020B0004020202020204" pitchFamily="34" charset="0"/>
            </a:endParaRPr>
          </a:p>
        </p:txBody>
      </p:sp>
      <p:sp>
        <p:nvSpPr>
          <p:cNvPr id="11" name="Rettangolo 10"/>
          <p:cNvSpPr/>
          <p:nvPr/>
        </p:nvSpPr>
        <p:spPr>
          <a:xfrm>
            <a:off x="1639754" y="3703666"/>
            <a:ext cx="2417134" cy="634978"/>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it-IT" dirty="0">
                <a:latin typeface="Aptos" panose="020B0004020202020204" pitchFamily="34" charset="0"/>
              </a:rPr>
              <a:t>Client-side </a:t>
            </a:r>
            <a:r>
              <a:rPr lang="it-IT" dirty="0" err="1">
                <a:latin typeface="Aptos" panose="020B0004020202020204" pitchFamily="34" charset="0"/>
              </a:rPr>
              <a:t>language</a:t>
            </a:r>
            <a:r>
              <a:rPr lang="it-IT" dirty="0">
                <a:latin typeface="Aptos" panose="020B0004020202020204" pitchFamily="34" charset="0"/>
              </a:rPr>
              <a:t> </a:t>
            </a:r>
            <a:r>
              <a:rPr lang="it-IT" dirty="0" err="1">
                <a:latin typeface="Aptos" panose="020B0004020202020204" pitchFamily="34" charset="0"/>
              </a:rPr>
              <a:t>interpreter</a:t>
            </a:r>
            <a:endParaRPr lang="en-GB" dirty="0">
              <a:latin typeface="Aptos" panose="020B0004020202020204" pitchFamily="34" charset="0"/>
            </a:endParaRPr>
          </a:p>
        </p:txBody>
      </p:sp>
      <p:sp>
        <p:nvSpPr>
          <p:cNvPr id="12" name="Rettangolo 11"/>
          <p:cNvSpPr/>
          <p:nvPr/>
        </p:nvSpPr>
        <p:spPr>
          <a:xfrm>
            <a:off x="1639754" y="4524594"/>
            <a:ext cx="1049078" cy="446567"/>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it-IT" dirty="0" err="1">
                <a:latin typeface="Aptos" panose="020B0004020202020204" pitchFamily="34" charset="0"/>
              </a:rPr>
              <a:t>Plugs-in</a:t>
            </a:r>
            <a:endParaRPr lang="en-GB" dirty="0">
              <a:latin typeface="Aptos" panose="020B0004020202020204" pitchFamily="34" charset="0"/>
            </a:endParaRPr>
          </a:p>
        </p:txBody>
      </p:sp>
      <p:sp>
        <p:nvSpPr>
          <p:cNvPr id="13" name="CasellaDiTesto 12"/>
          <p:cNvSpPr txBox="1"/>
          <p:nvPr/>
        </p:nvSpPr>
        <p:spPr>
          <a:xfrm>
            <a:off x="2014100" y="4939157"/>
            <a:ext cx="1871330" cy="400110"/>
          </a:xfrm>
          <a:prstGeom prst="rect">
            <a:avLst/>
          </a:prstGeom>
          <a:noFill/>
        </p:spPr>
        <p:txBody>
          <a:bodyPr wrap="square" rtlCol="0">
            <a:spAutoFit/>
          </a:bodyPr>
          <a:lstStyle/>
          <a:p>
            <a:pPr algn="ctr"/>
            <a:r>
              <a:rPr lang="it-IT" sz="2000" dirty="0">
                <a:latin typeface="Aptos" panose="020B0004020202020204" pitchFamily="34" charset="0"/>
              </a:rPr>
              <a:t>…</a:t>
            </a:r>
            <a:endParaRPr lang="en-GB" sz="2000" dirty="0">
              <a:latin typeface="Aptos" panose="020B0004020202020204" pitchFamily="34" charset="0"/>
            </a:endParaRPr>
          </a:p>
        </p:txBody>
      </p:sp>
      <p:sp>
        <p:nvSpPr>
          <p:cNvPr id="15" name="Rettangolo 14"/>
          <p:cNvSpPr/>
          <p:nvPr/>
        </p:nvSpPr>
        <p:spPr>
          <a:xfrm>
            <a:off x="7300157" y="2545862"/>
            <a:ext cx="1933354" cy="1033177"/>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it-IT" dirty="0">
                <a:latin typeface="Aptos" panose="020B0004020202020204" pitchFamily="34" charset="0"/>
              </a:rPr>
              <a:t>Server-side </a:t>
            </a:r>
            <a:r>
              <a:rPr lang="it-IT" dirty="0" err="1">
                <a:latin typeface="Aptos" panose="020B0004020202020204" pitchFamily="34" charset="0"/>
              </a:rPr>
              <a:t>language</a:t>
            </a:r>
            <a:r>
              <a:rPr lang="it-IT" dirty="0">
                <a:latin typeface="Aptos" panose="020B0004020202020204" pitchFamily="34" charset="0"/>
              </a:rPr>
              <a:t>  </a:t>
            </a:r>
            <a:r>
              <a:rPr lang="it-IT" dirty="0" err="1">
                <a:latin typeface="Aptos" panose="020B0004020202020204" pitchFamily="34" charset="0"/>
              </a:rPr>
              <a:t>interpreter</a:t>
            </a:r>
            <a:endParaRPr lang="en-GB" dirty="0">
              <a:latin typeface="Aptos" panose="020B0004020202020204" pitchFamily="34" charset="0"/>
            </a:endParaRPr>
          </a:p>
        </p:txBody>
      </p:sp>
      <p:sp>
        <p:nvSpPr>
          <p:cNvPr id="17" name="Rettangolo 16"/>
          <p:cNvSpPr/>
          <p:nvPr/>
        </p:nvSpPr>
        <p:spPr>
          <a:xfrm>
            <a:off x="9036469" y="4700776"/>
            <a:ext cx="1625011" cy="613860"/>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it-IT" dirty="0">
                <a:latin typeface="Aptos" panose="020B0004020202020204" pitchFamily="34" charset="0"/>
              </a:rPr>
              <a:t>Back-end </a:t>
            </a:r>
            <a:r>
              <a:rPr lang="it-IT" dirty="0" err="1">
                <a:latin typeface="Aptos" panose="020B0004020202020204" pitchFamily="34" charset="0"/>
              </a:rPr>
              <a:t>programs</a:t>
            </a:r>
            <a:r>
              <a:rPr lang="it-IT" dirty="0">
                <a:latin typeface="Aptos" panose="020B0004020202020204" pitchFamily="34" charset="0"/>
              </a:rPr>
              <a:t> # 2</a:t>
            </a:r>
            <a:endParaRPr lang="en-GB" dirty="0">
              <a:latin typeface="Aptos" panose="020B0004020202020204" pitchFamily="34" charset="0"/>
            </a:endParaRPr>
          </a:p>
        </p:txBody>
      </p:sp>
      <p:sp>
        <p:nvSpPr>
          <p:cNvPr id="18" name="Cilindro 17"/>
          <p:cNvSpPr/>
          <p:nvPr/>
        </p:nvSpPr>
        <p:spPr>
          <a:xfrm>
            <a:off x="9878213" y="3265193"/>
            <a:ext cx="1247553" cy="876945"/>
          </a:xfrm>
          <a:prstGeom prst="can">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it-IT" dirty="0">
                <a:latin typeface="Aptos" panose="020B0004020202020204" pitchFamily="34" charset="0"/>
              </a:rPr>
              <a:t>Database</a:t>
            </a:r>
            <a:endParaRPr lang="en-GB" dirty="0">
              <a:latin typeface="Aptos" panose="020B0004020202020204" pitchFamily="34" charset="0"/>
            </a:endParaRPr>
          </a:p>
        </p:txBody>
      </p:sp>
      <p:cxnSp>
        <p:nvCxnSpPr>
          <p:cNvPr id="20" name="Connettore 2 19"/>
          <p:cNvCxnSpPr/>
          <p:nvPr/>
        </p:nvCxnSpPr>
        <p:spPr>
          <a:xfrm>
            <a:off x="4735601" y="3155520"/>
            <a:ext cx="1980000"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CasellaDiTesto 22"/>
          <p:cNvSpPr txBox="1"/>
          <p:nvPr/>
        </p:nvSpPr>
        <p:spPr>
          <a:xfrm>
            <a:off x="5038029" y="2568493"/>
            <a:ext cx="1375144" cy="461665"/>
          </a:xfrm>
          <a:prstGeom prst="rect">
            <a:avLst/>
          </a:prstGeom>
          <a:noFill/>
        </p:spPr>
        <p:txBody>
          <a:bodyPr wrap="square" rtlCol="0">
            <a:spAutoFit/>
          </a:bodyPr>
          <a:lstStyle/>
          <a:p>
            <a:pPr algn="ctr"/>
            <a:r>
              <a:rPr lang="it-IT" sz="2400" dirty="0">
                <a:latin typeface="Aptos" panose="020B0004020202020204" pitchFamily="34" charset="0"/>
              </a:rPr>
              <a:t>HTTP</a:t>
            </a:r>
            <a:endParaRPr lang="en-GB" sz="2400" dirty="0">
              <a:latin typeface="Aptos" panose="020B0004020202020204" pitchFamily="34" charset="0"/>
            </a:endParaRPr>
          </a:p>
        </p:txBody>
      </p:sp>
      <p:cxnSp>
        <p:nvCxnSpPr>
          <p:cNvPr id="25" name="Connettore 2 24"/>
          <p:cNvCxnSpPr/>
          <p:nvPr/>
        </p:nvCxnSpPr>
        <p:spPr>
          <a:xfrm>
            <a:off x="9373168" y="3211742"/>
            <a:ext cx="411124" cy="198474"/>
          </a:xfrm>
          <a:prstGeom prst="straightConnector1">
            <a:avLst/>
          </a:prstGeom>
          <a:ln w="38100">
            <a:solidFill>
              <a:schemeClr val="tx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nettore 2 29"/>
          <p:cNvCxnSpPr/>
          <p:nvPr/>
        </p:nvCxnSpPr>
        <p:spPr>
          <a:xfrm flipH="1">
            <a:off x="10393890" y="4187494"/>
            <a:ext cx="0" cy="463616"/>
          </a:xfrm>
          <a:prstGeom prst="straightConnector1">
            <a:avLst/>
          </a:prstGeom>
          <a:ln w="38100">
            <a:solidFill>
              <a:schemeClr val="tx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2" name="Connettore 2 31"/>
          <p:cNvCxnSpPr/>
          <p:nvPr/>
        </p:nvCxnSpPr>
        <p:spPr>
          <a:xfrm>
            <a:off x="6843813" y="3155520"/>
            <a:ext cx="411124" cy="0"/>
          </a:xfrm>
          <a:prstGeom prst="straightConnector1">
            <a:avLst/>
          </a:prstGeom>
          <a:ln w="38100">
            <a:solidFill>
              <a:schemeClr val="tx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 name="Segnaposto numero diapositiva 2"/>
          <p:cNvSpPr>
            <a:spLocks noGrp="1"/>
          </p:cNvSpPr>
          <p:nvPr>
            <p:ph type="sldNum" sz="quarter" idx="12"/>
          </p:nvPr>
        </p:nvSpPr>
        <p:spPr/>
        <p:txBody>
          <a:bodyPr/>
          <a:lstStyle/>
          <a:p>
            <a:fld id="{31DE2C5B-556E-47B8-A792-024C2FCA4ACC}" type="slidenum">
              <a:rPr lang="en-GB" smtClean="0"/>
              <a:t>35</a:t>
            </a:fld>
            <a:endParaRPr lang="en-GB"/>
          </a:p>
        </p:txBody>
      </p:sp>
      <p:sp>
        <p:nvSpPr>
          <p:cNvPr id="14" name="Rettangolo 16">
            <a:extLst>
              <a:ext uri="{FF2B5EF4-FFF2-40B4-BE49-F238E27FC236}">
                <a16:creationId xmlns:a16="http://schemas.microsoft.com/office/drawing/2014/main" id="{BC01BE50-F8B9-36F6-A824-7D32D35A100A}"/>
              </a:ext>
            </a:extLst>
          </p:cNvPr>
          <p:cNvSpPr/>
          <p:nvPr/>
        </p:nvSpPr>
        <p:spPr>
          <a:xfrm>
            <a:off x="7214757" y="4446080"/>
            <a:ext cx="1625011" cy="613860"/>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it-IT" dirty="0">
                <a:latin typeface="Aptos" panose="020B0004020202020204" pitchFamily="34" charset="0"/>
              </a:rPr>
              <a:t>Back-end </a:t>
            </a:r>
            <a:r>
              <a:rPr lang="it-IT" dirty="0" err="1">
                <a:latin typeface="Aptos" panose="020B0004020202020204" pitchFamily="34" charset="0"/>
              </a:rPr>
              <a:t>program</a:t>
            </a:r>
            <a:r>
              <a:rPr lang="it-IT" dirty="0">
                <a:latin typeface="Aptos" panose="020B0004020202020204" pitchFamily="34" charset="0"/>
              </a:rPr>
              <a:t> # 1</a:t>
            </a:r>
            <a:endParaRPr lang="en-GB" dirty="0">
              <a:latin typeface="Aptos" panose="020B0004020202020204" pitchFamily="34" charset="0"/>
            </a:endParaRPr>
          </a:p>
        </p:txBody>
      </p:sp>
      <p:cxnSp>
        <p:nvCxnSpPr>
          <p:cNvPr id="19" name="Connettore 2 29">
            <a:extLst>
              <a:ext uri="{FF2B5EF4-FFF2-40B4-BE49-F238E27FC236}">
                <a16:creationId xmlns:a16="http://schemas.microsoft.com/office/drawing/2014/main" id="{57DED65E-1E99-73D4-3C18-BB6CD5904AA7}"/>
              </a:ext>
            </a:extLst>
          </p:cNvPr>
          <p:cNvCxnSpPr>
            <a:cxnSpLocks/>
          </p:cNvCxnSpPr>
          <p:nvPr/>
        </p:nvCxnSpPr>
        <p:spPr>
          <a:xfrm>
            <a:off x="8149931" y="3623661"/>
            <a:ext cx="0" cy="714983"/>
          </a:xfrm>
          <a:prstGeom prst="straightConnector1">
            <a:avLst/>
          </a:prstGeom>
          <a:ln w="38100">
            <a:solidFill>
              <a:schemeClr val="tx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4" name="CasellaDiTesto 12">
            <a:extLst>
              <a:ext uri="{FF2B5EF4-FFF2-40B4-BE49-F238E27FC236}">
                <a16:creationId xmlns:a16="http://schemas.microsoft.com/office/drawing/2014/main" id="{BEC558DF-C63E-7105-9A53-179F853B4522}"/>
              </a:ext>
            </a:extLst>
          </p:cNvPr>
          <p:cNvSpPr txBox="1"/>
          <p:nvPr/>
        </p:nvSpPr>
        <p:spPr>
          <a:xfrm>
            <a:off x="7501838" y="5078570"/>
            <a:ext cx="1871330" cy="400110"/>
          </a:xfrm>
          <a:prstGeom prst="rect">
            <a:avLst/>
          </a:prstGeom>
          <a:noFill/>
        </p:spPr>
        <p:txBody>
          <a:bodyPr wrap="square" rtlCol="0">
            <a:spAutoFit/>
          </a:bodyPr>
          <a:lstStyle/>
          <a:p>
            <a:pPr algn="ctr"/>
            <a:r>
              <a:rPr lang="it-IT" sz="2000" dirty="0">
                <a:latin typeface="Aptos" panose="020B0004020202020204" pitchFamily="34" charset="0"/>
              </a:rPr>
              <a:t>…</a:t>
            </a:r>
            <a:endParaRPr lang="en-GB" sz="2000" dirty="0">
              <a:latin typeface="Aptos" panose="020B0004020202020204" pitchFamily="34" charset="0"/>
            </a:endParaRPr>
          </a:p>
        </p:txBody>
      </p:sp>
    </p:spTree>
    <p:extLst>
      <p:ext uri="{BB962C8B-B14F-4D97-AF65-F5344CB8AC3E}">
        <p14:creationId xmlns:p14="http://schemas.microsoft.com/office/powerpoint/2010/main" val="83918264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en-US" dirty="0"/>
              <a:t>Structured data formats</a:t>
            </a:r>
          </a:p>
        </p:txBody>
      </p:sp>
      <p:sp>
        <p:nvSpPr>
          <p:cNvPr id="3" name="Segnaposto contenuto 2"/>
          <p:cNvSpPr>
            <a:spLocks noGrp="1"/>
          </p:cNvSpPr>
          <p:nvPr>
            <p:ph idx="1"/>
          </p:nvPr>
        </p:nvSpPr>
        <p:spPr>
          <a:xfrm>
            <a:off x="666306" y="1361167"/>
            <a:ext cx="10866475" cy="3069066"/>
          </a:xfrm>
        </p:spPr>
        <p:txBody>
          <a:bodyPr>
            <a:normAutofit lnSpcReduction="10000"/>
          </a:bodyPr>
          <a:lstStyle/>
          <a:p>
            <a:r>
              <a:rPr lang="en-US" dirty="0"/>
              <a:t>Web applications need to exchange data with the server.</a:t>
            </a:r>
          </a:p>
          <a:p>
            <a:r>
              <a:rPr lang="en-US" dirty="0"/>
              <a:t>HTML is not suitable for representing data because it mixes content with formatting. It is indeed concerned about the presentation of the content. </a:t>
            </a:r>
          </a:p>
          <a:p>
            <a:pPr lvl="1"/>
            <a:r>
              <a:rPr lang="en-US" sz="2400" dirty="0"/>
              <a:t>It is difficult to automatically retrieve data within an HTML file</a:t>
            </a:r>
          </a:p>
          <a:p>
            <a:r>
              <a:rPr lang="en-US" dirty="0"/>
              <a:t>Two popular structured data formats that facilitate the automatic structured data processing: </a:t>
            </a:r>
          </a:p>
          <a:p>
            <a:pPr lvl="1"/>
            <a:r>
              <a:rPr lang="en-GB" sz="2400" dirty="0"/>
              <a:t>Extensible </a:t>
            </a:r>
            <a:r>
              <a:rPr lang="en-GB" sz="2400" dirty="0" err="1"/>
              <a:t>Markup</a:t>
            </a:r>
            <a:r>
              <a:rPr lang="en-GB" sz="2400" dirty="0"/>
              <a:t> Language (XML)</a:t>
            </a:r>
          </a:p>
          <a:p>
            <a:pPr lvl="1"/>
            <a:r>
              <a:rPr lang="it-IT" sz="2400" dirty="0"/>
              <a:t>JavaScript Object </a:t>
            </a:r>
            <a:r>
              <a:rPr lang="it-IT" sz="2400" dirty="0" err="1"/>
              <a:t>Notation</a:t>
            </a:r>
            <a:r>
              <a:rPr lang="it-IT" sz="2400" dirty="0"/>
              <a:t> (JSON)</a:t>
            </a:r>
            <a:endParaRPr lang="en-GB" sz="2400" dirty="0"/>
          </a:p>
          <a:p>
            <a:pPr lvl="1"/>
            <a:endParaRPr lang="en-US" dirty="0"/>
          </a:p>
        </p:txBody>
      </p:sp>
      <p:sp>
        <p:nvSpPr>
          <p:cNvPr id="4" name="Segnaposto numero diapositiva 3"/>
          <p:cNvSpPr>
            <a:spLocks noGrp="1"/>
          </p:cNvSpPr>
          <p:nvPr>
            <p:ph type="sldNum" sz="quarter" idx="12"/>
          </p:nvPr>
        </p:nvSpPr>
        <p:spPr/>
        <p:txBody>
          <a:bodyPr/>
          <a:lstStyle/>
          <a:p>
            <a:fld id="{31DE2C5B-556E-47B8-A792-024C2FCA4ACC}" type="slidenum">
              <a:rPr lang="en-GB" smtClean="0"/>
              <a:t>36</a:t>
            </a:fld>
            <a:endParaRPr lang="en-GB"/>
          </a:p>
        </p:txBody>
      </p:sp>
    </p:spTree>
    <p:extLst>
      <p:ext uri="{BB962C8B-B14F-4D97-AF65-F5344CB8AC3E}">
        <p14:creationId xmlns:p14="http://schemas.microsoft.com/office/powerpoint/2010/main" val="210841661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en-GB" dirty="0"/>
              <a:t>Extensible </a:t>
            </a:r>
            <a:r>
              <a:rPr lang="en-GB" dirty="0" err="1"/>
              <a:t>Markup</a:t>
            </a:r>
            <a:r>
              <a:rPr lang="en-GB" dirty="0"/>
              <a:t> Language (XML)</a:t>
            </a:r>
          </a:p>
        </p:txBody>
      </p:sp>
      <p:sp>
        <p:nvSpPr>
          <p:cNvPr id="3" name="Segnaposto contenuto 2"/>
          <p:cNvSpPr>
            <a:spLocks noGrp="1"/>
          </p:cNvSpPr>
          <p:nvPr>
            <p:ph idx="1"/>
          </p:nvPr>
        </p:nvSpPr>
        <p:spPr>
          <a:xfrm>
            <a:off x="428172" y="1679189"/>
            <a:ext cx="5830861" cy="4303397"/>
          </a:xfrm>
        </p:spPr>
        <p:txBody>
          <a:bodyPr>
            <a:normAutofit/>
          </a:bodyPr>
          <a:lstStyle/>
          <a:p>
            <a:r>
              <a:rPr lang="en-US" dirty="0"/>
              <a:t>A language for specifying structured content.</a:t>
            </a:r>
          </a:p>
          <a:p>
            <a:r>
              <a:rPr lang="en-US" dirty="0"/>
              <a:t>Introduced in 1998.</a:t>
            </a:r>
          </a:p>
          <a:p>
            <a:r>
              <a:rPr lang="en-US" dirty="0"/>
              <a:t>It defines a set of rules for encoding documents in a format that is both human-readable and machine-readable.</a:t>
            </a:r>
          </a:p>
          <a:p>
            <a:r>
              <a:rPr lang="en-US" dirty="0"/>
              <a:t>Unlike HTML, there are no defined tags for XML. Each user can define their own tags.</a:t>
            </a:r>
          </a:p>
          <a:p>
            <a:r>
              <a:rPr lang="en-US" dirty="0"/>
              <a:t>Extension .xml</a:t>
            </a:r>
          </a:p>
          <a:p>
            <a:endParaRPr lang="en-GB" dirty="0"/>
          </a:p>
        </p:txBody>
      </p:sp>
      <p:sp>
        <p:nvSpPr>
          <p:cNvPr id="4" name="Rettangolo 3"/>
          <p:cNvSpPr/>
          <p:nvPr/>
        </p:nvSpPr>
        <p:spPr>
          <a:xfrm>
            <a:off x="6457507" y="1955637"/>
            <a:ext cx="5174511" cy="4185761"/>
          </a:xfrm>
          <a:prstGeom prst="rect">
            <a:avLst/>
          </a:prstGeom>
          <a:ln w="19050">
            <a:solidFill>
              <a:srgbClr val="00B050"/>
            </a:solidFill>
          </a:ln>
        </p:spPr>
        <p:txBody>
          <a:bodyPr wrap="square">
            <a:spAutoFit/>
          </a:bodyPr>
          <a:lstStyle/>
          <a:p>
            <a:r>
              <a:rPr lang="en-GB" sz="1400" dirty="0">
                <a:latin typeface="Aptos" panose="020B0004020202020204" pitchFamily="34" charset="0"/>
              </a:rPr>
              <a:t>&lt;?xml version="1.0" ?&gt;</a:t>
            </a:r>
          </a:p>
          <a:p>
            <a:r>
              <a:rPr lang="en-GB" sz="1400" dirty="0">
                <a:latin typeface="Aptos" panose="020B0004020202020204" pitchFamily="34" charset="0"/>
              </a:rPr>
              <a:t>&lt;book list&gt;</a:t>
            </a:r>
          </a:p>
          <a:p>
            <a:r>
              <a:rPr lang="en-GB" sz="1400" dirty="0">
                <a:latin typeface="Aptos" panose="020B0004020202020204" pitchFamily="34" charset="0"/>
              </a:rPr>
              <a:t>&lt;book&gt;</a:t>
            </a:r>
          </a:p>
          <a:p>
            <a:r>
              <a:rPr lang="en-GB" sz="1400" dirty="0">
                <a:latin typeface="Aptos" panose="020B0004020202020204" pitchFamily="34" charset="0"/>
              </a:rPr>
              <a:t>&lt;title&gt; Human </a:t>
            </a:r>
            <a:r>
              <a:rPr lang="en-GB" sz="1400" dirty="0" err="1">
                <a:latin typeface="Aptos" panose="020B0004020202020204" pitchFamily="34" charset="0"/>
              </a:rPr>
              <a:t>Behavior</a:t>
            </a:r>
            <a:r>
              <a:rPr lang="en-GB" sz="1400" dirty="0">
                <a:latin typeface="Aptos" panose="020B0004020202020204" pitchFamily="34" charset="0"/>
              </a:rPr>
              <a:t> and the Principle of Least Effort &lt;/title&gt;</a:t>
            </a:r>
          </a:p>
          <a:p>
            <a:r>
              <a:rPr lang="en-GB" sz="1400" dirty="0">
                <a:latin typeface="Aptos" panose="020B0004020202020204" pitchFamily="34" charset="0"/>
              </a:rPr>
              <a:t>&lt;author&gt; George </a:t>
            </a:r>
            <a:r>
              <a:rPr lang="en-GB" sz="1400" dirty="0" err="1">
                <a:latin typeface="Aptos" panose="020B0004020202020204" pitchFamily="34" charset="0"/>
              </a:rPr>
              <a:t>Zipf</a:t>
            </a:r>
            <a:r>
              <a:rPr lang="en-GB" sz="1400" dirty="0">
                <a:latin typeface="Aptos" panose="020B0004020202020204" pitchFamily="34" charset="0"/>
              </a:rPr>
              <a:t> &lt;/author&gt;</a:t>
            </a:r>
          </a:p>
          <a:p>
            <a:r>
              <a:rPr lang="en-GB" sz="1400" dirty="0">
                <a:latin typeface="Aptos" panose="020B0004020202020204" pitchFamily="34" charset="0"/>
              </a:rPr>
              <a:t>&lt;year&gt; 1949 &lt;/year&gt;</a:t>
            </a:r>
          </a:p>
          <a:p>
            <a:r>
              <a:rPr lang="en-GB" sz="1400" dirty="0">
                <a:latin typeface="Aptos" panose="020B0004020202020204" pitchFamily="34" charset="0"/>
              </a:rPr>
              <a:t>&lt;/book&gt;</a:t>
            </a:r>
          </a:p>
          <a:p>
            <a:r>
              <a:rPr lang="en-GB" sz="1400" dirty="0">
                <a:latin typeface="Aptos" panose="020B0004020202020204" pitchFamily="34" charset="0"/>
              </a:rPr>
              <a:t>&lt;book&gt;</a:t>
            </a:r>
          </a:p>
          <a:p>
            <a:r>
              <a:rPr lang="en-GB" sz="1400" dirty="0">
                <a:latin typeface="Aptos" panose="020B0004020202020204" pitchFamily="34" charset="0"/>
              </a:rPr>
              <a:t>&lt;title&gt; The Mathematical Theory of Communication &lt;/title&gt;</a:t>
            </a:r>
          </a:p>
          <a:p>
            <a:r>
              <a:rPr lang="en-GB" sz="1400" dirty="0">
                <a:latin typeface="Aptos" panose="020B0004020202020204" pitchFamily="34" charset="0"/>
              </a:rPr>
              <a:t>&lt;author&gt; Claude E. Shannon &lt;/author&gt;</a:t>
            </a:r>
          </a:p>
          <a:p>
            <a:r>
              <a:rPr lang="en-GB" sz="1400" dirty="0">
                <a:latin typeface="Aptos" panose="020B0004020202020204" pitchFamily="34" charset="0"/>
              </a:rPr>
              <a:t>&lt;author&gt; Warren Weaver &lt;/author&gt;</a:t>
            </a:r>
          </a:p>
          <a:p>
            <a:r>
              <a:rPr lang="en-GB" sz="1400" dirty="0">
                <a:latin typeface="Aptos" panose="020B0004020202020204" pitchFamily="34" charset="0"/>
              </a:rPr>
              <a:t>&lt;year&gt; 1949 &lt;/year&gt;</a:t>
            </a:r>
          </a:p>
          <a:p>
            <a:r>
              <a:rPr lang="en-GB" sz="1400" dirty="0">
                <a:latin typeface="Aptos" panose="020B0004020202020204" pitchFamily="34" charset="0"/>
              </a:rPr>
              <a:t>&lt;/book&gt;</a:t>
            </a:r>
          </a:p>
          <a:p>
            <a:r>
              <a:rPr lang="en-GB" sz="1400" dirty="0">
                <a:latin typeface="Aptos" panose="020B0004020202020204" pitchFamily="34" charset="0"/>
              </a:rPr>
              <a:t>&lt;book&gt;</a:t>
            </a:r>
          </a:p>
          <a:p>
            <a:r>
              <a:rPr lang="en-GB" sz="1400" dirty="0">
                <a:latin typeface="Aptos" panose="020B0004020202020204" pitchFamily="34" charset="0"/>
              </a:rPr>
              <a:t>&lt;title&gt; Nineteen Eighty-Four &lt;/title&gt;</a:t>
            </a:r>
          </a:p>
          <a:p>
            <a:r>
              <a:rPr lang="en-GB" sz="1400" dirty="0">
                <a:latin typeface="Aptos" panose="020B0004020202020204" pitchFamily="34" charset="0"/>
              </a:rPr>
              <a:t>&lt;author&gt; George Orwell &lt;/author&gt;</a:t>
            </a:r>
          </a:p>
          <a:p>
            <a:r>
              <a:rPr lang="en-GB" sz="1400" dirty="0">
                <a:latin typeface="Aptos" panose="020B0004020202020204" pitchFamily="34" charset="0"/>
              </a:rPr>
              <a:t>&lt;year&gt; 1949 &lt;/year&gt;</a:t>
            </a:r>
          </a:p>
          <a:p>
            <a:r>
              <a:rPr lang="en-GB" sz="1400" dirty="0">
                <a:latin typeface="Aptos" panose="020B0004020202020204" pitchFamily="34" charset="0"/>
              </a:rPr>
              <a:t>&lt;/book&gt;</a:t>
            </a:r>
          </a:p>
          <a:p>
            <a:r>
              <a:rPr lang="en-GB" sz="1400" dirty="0">
                <a:latin typeface="Aptos" panose="020B0004020202020204" pitchFamily="34" charset="0"/>
              </a:rPr>
              <a:t>&lt;/book list&gt;</a:t>
            </a:r>
          </a:p>
        </p:txBody>
      </p:sp>
      <p:sp>
        <p:nvSpPr>
          <p:cNvPr id="5" name="CasellaDiTesto 4"/>
          <p:cNvSpPr txBox="1"/>
          <p:nvPr/>
        </p:nvSpPr>
        <p:spPr>
          <a:xfrm>
            <a:off x="6712689" y="1494524"/>
            <a:ext cx="4798828" cy="369332"/>
          </a:xfrm>
          <a:prstGeom prst="rect">
            <a:avLst/>
          </a:prstGeom>
          <a:noFill/>
        </p:spPr>
        <p:txBody>
          <a:bodyPr wrap="square" rtlCol="0">
            <a:spAutoFit/>
          </a:bodyPr>
          <a:lstStyle/>
          <a:p>
            <a:r>
              <a:rPr lang="it-IT" dirty="0" err="1">
                <a:latin typeface="Aptos" panose="020B0004020202020204" pitchFamily="34" charset="0"/>
              </a:rPr>
              <a:t>Example</a:t>
            </a:r>
            <a:r>
              <a:rPr lang="it-IT" dirty="0">
                <a:latin typeface="Aptos" panose="020B0004020202020204" pitchFamily="34" charset="0"/>
              </a:rPr>
              <a:t> of XML code </a:t>
            </a:r>
            <a:r>
              <a:rPr lang="it-IT" dirty="0" err="1">
                <a:latin typeface="Aptos" panose="020B0004020202020204" pitchFamily="34" charset="0"/>
              </a:rPr>
              <a:t>that</a:t>
            </a:r>
            <a:r>
              <a:rPr lang="it-IT" dirty="0">
                <a:latin typeface="Aptos" panose="020B0004020202020204" pitchFamily="34" charset="0"/>
              </a:rPr>
              <a:t> </a:t>
            </a:r>
            <a:r>
              <a:rPr lang="it-IT" dirty="0" err="1">
                <a:latin typeface="Aptos" panose="020B0004020202020204" pitchFamily="34" charset="0"/>
              </a:rPr>
              <a:t>define</a:t>
            </a:r>
            <a:r>
              <a:rPr lang="it-IT" dirty="0">
                <a:latin typeface="Aptos" panose="020B0004020202020204" pitchFamily="34" charset="0"/>
              </a:rPr>
              <a:t> a book list</a:t>
            </a:r>
            <a:endParaRPr lang="en-GB" dirty="0">
              <a:latin typeface="Aptos" panose="020B0004020202020204" pitchFamily="34" charset="0"/>
            </a:endParaRPr>
          </a:p>
        </p:txBody>
      </p:sp>
      <p:sp>
        <p:nvSpPr>
          <p:cNvPr id="6" name="Segnaposto numero diapositiva 5"/>
          <p:cNvSpPr>
            <a:spLocks noGrp="1"/>
          </p:cNvSpPr>
          <p:nvPr>
            <p:ph type="sldNum" sz="quarter" idx="12"/>
          </p:nvPr>
        </p:nvSpPr>
        <p:spPr/>
        <p:txBody>
          <a:bodyPr/>
          <a:lstStyle/>
          <a:p>
            <a:fld id="{31DE2C5B-556E-47B8-A792-024C2FCA4ACC}" type="slidenum">
              <a:rPr lang="en-GB" smtClean="0"/>
              <a:t>37</a:t>
            </a:fld>
            <a:endParaRPr lang="en-GB"/>
          </a:p>
        </p:txBody>
      </p:sp>
    </p:spTree>
    <p:extLst>
      <p:ext uri="{BB962C8B-B14F-4D97-AF65-F5344CB8AC3E}">
        <p14:creationId xmlns:p14="http://schemas.microsoft.com/office/powerpoint/2010/main" val="34117647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t>JavaScript Object </a:t>
            </a:r>
            <a:r>
              <a:rPr lang="it-IT" dirty="0" err="1"/>
              <a:t>Notation</a:t>
            </a:r>
            <a:r>
              <a:rPr lang="it-IT" dirty="0"/>
              <a:t> (JSON)</a:t>
            </a:r>
            <a:endParaRPr lang="en-GB" dirty="0"/>
          </a:p>
        </p:txBody>
      </p:sp>
      <p:sp>
        <p:nvSpPr>
          <p:cNvPr id="3" name="Segnaposto contenuto 2"/>
          <p:cNvSpPr>
            <a:spLocks noGrp="1"/>
          </p:cNvSpPr>
          <p:nvPr>
            <p:ph idx="1"/>
          </p:nvPr>
        </p:nvSpPr>
        <p:spPr/>
        <p:txBody>
          <a:bodyPr>
            <a:normAutofit/>
          </a:bodyPr>
          <a:lstStyle/>
          <a:p>
            <a:r>
              <a:rPr lang="en-US" dirty="0"/>
              <a:t>A format that uses human-readable text to store and transmit data objects consisting of attribute–value pairs and arrays.</a:t>
            </a:r>
          </a:p>
          <a:p>
            <a:r>
              <a:rPr lang="en-US" dirty="0"/>
              <a:t>Introduced in 2001.</a:t>
            </a:r>
          </a:p>
          <a:p>
            <a:r>
              <a:rPr lang="en-US" dirty="0"/>
              <a:t>JSON is language-independent. It was derived from JavaScript, but many modern programming languages include code to generate and parse JSON-format data.</a:t>
            </a:r>
          </a:p>
          <a:p>
            <a:r>
              <a:rPr lang="en-US" dirty="0"/>
              <a:t>Extension .</a:t>
            </a:r>
            <a:r>
              <a:rPr lang="en-US" dirty="0" err="1"/>
              <a:t>json</a:t>
            </a:r>
            <a:endParaRPr lang="en-US" dirty="0"/>
          </a:p>
          <a:p>
            <a:r>
              <a:rPr lang="en-US" dirty="0"/>
              <a:t>JSON data types: number, string, Boolean, null (empty value)</a:t>
            </a:r>
          </a:p>
          <a:p>
            <a:r>
              <a:rPr lang="en-US" dirty="0"/>
              <a:t>JSON data structures</a:t>
            </a:r>
          </a:p>
          <a:p>
            <a:pPr lvl="1"/>
            <a:r>
              <a:rPr lang="en-US" sz="2400" dirty="0"/>
              <a:t>Object</a:t>
            </a:r>
          </a:p>
          <a:p>
            <a:pPr lvl="1"/>
            <a:r>
              <a:rPr lang="en-US" sz="2400" dirty="0"/>
              <a:t>Array</a:t>
            </a:r>
          </a:p>
          <a:p>
            <a:pPr lvl="1"/>
            <a:endParaRPr lang="it-IT" dirty="0"/>
          </a:p>
          <a:p>
            <a:endParaRPr lang="en-GB" dirty="0"/>
          </a:p>
        </p:txBody>
      </p:sp>
      <p:sp>
        <p:nvSpPr>
          <p:cNvPr id="4" name="Segnaposto numero diapositiva 3"/>
          <p:cNvSpPr>
            <a:spLocks noGrp="1"/>
          </p:cNvSpPr>
          <p:nvPr>
            <p:ph type="sldNum" sz="quarter" idx="12"/>
          </p:nvPr>
        </p:nvSpPr>
        <p:spPr/>
        <p:txBody>
          <a:bodyPr/>
          <a:lstStyle/>
          <a:p>
            <a:fld id="{31DE2C5B-556E-47B8-A792-024C2FCA4ACC}" type="slidenum">
              <a:rPr lang="en-GB" smtClean="0"/>
              <a:t>38</a:t>
            </a:fld>
            <a:endParaRPr lang="en-GB"/>
          </a:p>
        </p:txBody>
      </p:sp>
    </p:spTree>
    <p:extLst>
      <p:ext uri="{BB962C8B-B14F-4D97-AF65-F5344CB8AC3E}">
        <p14:creationId xmlns:p14="http://schemas.microsoft.com/office/powerpoint/2010/main" val="314476039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t>JSON data </a:t>
            </a:r>
            <a:r>
              <a:rPr lang="it-IT" dirty="0" err="1"/>
              <a:t>structures</a:t>
            </a:r>
            <a:endParaRPr lang="en-GB" dirty="0"/>
          </a:p>
        </p:txBody>
      </p:sp>
      <p:pic>
        <p:nvPicPr>
          <p:cNvPr id="5" name="Segnaposto contenuto 4"/>
          <p:cNvPicPr>
            <a:picLocks noGrp="1" noChangeAspect="1"/>
          </p:cNvPicPr>
          <p:nvPr>
            <p:ph idx="1"/>
          </p:nvPr>
        </p:nvPicPr>
        <p:blipFill rotWithShape="1">
          <a:blip r:embed="rId2">
            <a:extLst>
              <a:ext uri="{28A0092B-C50C-407E-A947-70E740481C1C}">
                <a14:useLocalDpi xmlns:a14="http://schemas.microsoft.com/office/drawing/2010/main" val="0"/>
              </a:ext>
            </a:extLst>
          </a:blip>
          <a:srcRect t="37061"/>
          <a:stretch/>
        </p:blipFill>
        <p:spPr>
          <a:xfrm>
            <a:off x="8164878" y="2636875"/>
            <a:ext cx="2595271" cy="4043695"/>
          </a:xfrm>
        </p:spPr>
      </p:pic>
      <p:pic>
        <p:nvPicPr>
          <p:cNvPr id="6" name="Segnaposto contenuto 4"/>
          <p:cNvPicPr>
            <a:picLocks noChangeAspect="1"/>
          </p:cNvPicPr>
          <p:nvPr/>
        </p:nvPicPr>
        <p:blipFill rotWithShape="1">
          <a:blip r:embed="rId2">
            <a:extLst>
              <a:ext uri="{28A0092B-C50C-407E-A947-70E740481C1C}">
                <a14:useLocalDpi xmlns:a14="http://schemas.microsoft.com/office/drawing/2010/main" val="0"/>
              </a:ext>
            </a:extLst>
          </a:blip>
          <a:srcRect t="5772" b="68846"/>
          <a:stretch/>
        </p:blipFill>
        <p:spPr>
          <a:xfrm>
            <a:off x="1201116" y="2721934"/>
            <a:ext cx="3801725" cy="2388781"/>
          </a:xfrm>
          <a:prstGeom prst="rect">
            <a:avLst/>
          </a:prstGeom>
        </p:spPr>
      </p:pic>
      <p:sp>
        <p:nvSpPr>
          <p:cNvPr id="7" name="CasellaDiTesto 6"/>
          <p:cNvSpPr txBox="1"/>
          <p:nvPr/>
        </p:nvSpPr>
        <p:spPr>
          <a:xfrm>
            <a:off x="0" y="1350708"/>
            <a:ext cx="6203959" cy="1514261"/>
          </a:xfrm>
          <a:prstGeom prst="rect">
            <a:avLst/>
          </a:prstGeom>
          <a:noFill/>
        </p:spPr>
        <p:txBody>
          <a:bodyPr wrap="square" rtlCol="0">
            <a:spAutoFit/>
          </a:bodyPr>
          <a:lstStyle/>
          <a:p>
            <a:pPr marL="800100" lvl="1" indent="-342900">
              <a:lnSpc>
                <a:spcPct val="90000"/>
              </a:lnSpc>
              <a:spcBef>
                <a:spcPts val="500"/>
              </a:spcBef>
              <a:buClr>
                <a:srgbClr val="00B050"/>
              </a:buClr>
              <a:buFont typeface="Wingdings" panose="05000000000000000000" pitchFamily="2" charset="2"/>
              <a:buChar char="Ø"/>
            </a:pPr>
            <a:r>
              <a:rPr lang="it-IT" sz="1900" b="1" dirty="0">
                <a:latin typeface="Aptos" panose="020B0004020202020204" pitchFamily="34" charset="0"/>
              </a:rPr>
              <a:t>JSON </a:t>
            </a:r>
            <a:r>
              <a:rPr lang="it-IT" sz="1900" b="1" dirty="0" err="1">
                <a:latin typeface="Aptos" panose="020B0004020202020204" pitchFamily="34" charset="0"/>
              </a:rPr>
              <a:t>object</a:t>
            </a:r>
            <a:r>
              <a:rPr lang="it-IT" sz="1900" dirty="0">
                <a:latin typeface="Aptos" panose="020B0004020202020204" pitchFamily="34" charset="0"/>
              </a:rPr>
              <a:t>: </a:t>
            </a:r>
            <a:r>
              <a:rPr lang="en-US" sz="1900" dirty="0">
                <a:solidFill>
                  <a:prstClr val="black"/>
                </a:solidFill>
                <a:latin typeface="Aptos" panose="020B0004020202020204" pitchFamily="34" charset="0"/>
              </a:rPr>
              <a:t>a collection of name–value pairs where the names (also called keys) are strings. The order of pairs is not relevant. The object is surrounded by curly braces. </a:t>
            </a:r>
          </a:p>
          <a:p>
            <a:pPr algn="ctr"/>
            <a:endParaRPr lang="en-GB" sz="2400" dirty="0">
              <a:latin typeface="Aptos" panose="020B0004020202020204" pitchFamily="34" charset="0"/>
            </a:endParaRPr>
          </a:p>
        </p:txBody>
      </p:sp>
      <p:sp>
        <p:nvSpPr>
          <p:cNvPr id="8" name="CasellaDiTesto 7"/>
          <p:cNvSpPr txBox="1"/>
          <p:nvPr/>
        </p:nvSpPr>
        <p:spPr>
          <a:xfrm>
            <a:off x="6203959" y="1350708"/>
            <a:ext cx="5654609" cy="1144929"/>
          </a:xfrm>
          <a:prstGeom prst="rect">
            <a:avLst/>
          </a:prstGeom>
          <a:noFill/>
        </p:spPr>
        <p:txBody>
          <a:bodyPr wrap="square" rtlCol="0">
            <a:spAutoFit/>
          </a:bodyPr>
          <a:lstStyle/>
          <a:p>
            <a:pPr marL="800100" lvl="1" indent="-342900">
              <a:lnSpc>
                <a:spcPct val="90000"/>
              </a:lnSpc>
              <a:spcBef>
                <a:spcPts val="500"/>
              </a:spcBef>
              <a:buClr>
                <a:srgbClr val="00B050"/>
              </a:buClr>
              <a:buFont typeface="Wingdings" panose="05000000000000000000" pitchFamily="2" charset="2"/>
              <a:buChar char="Ø"/>
            </a:pPr>
            <a:r>
              <a:rPr lang="it-IT" sz="1900" b="1" dirty="0">
                <a:latin typeface="Aptos" panose="020B0004020202020204" pitchFamily="34" charset="0"/>
              </a:rPr>
              <a:t>JSON array: </a:t>
            </a:r>
            <a:r>
              <a:rPr lang="en-US" sz="1900" dirty="0">
                <a:latin typeface="Aptos" panose="020B0004020202020204" pitchFamily="34" charset="0"/>
              </a:rPr>
              <a:t>an ordered list of zero or more elements, each of which may be of any type. Arrays use square bracket notation with comma-separated elements.</a:t>
            </a:r>
            <a:endParaRPr lang="en-GB" sz="1900" dirty="0">
              <a:latin typeface="Aptos" panose="020B0004020202020204" pitchFamily="34" charset="0"/>
            </a:endParaRPr>
          </a:p>
        </p:txBody>
      </p:sp>
      <p:sp>
        <p:nvSpPr>
          <p:cNvPr id="4" name="Rettangolo 3"/>
          <p:cNvSpPr/>
          <p:nvPr/>
        </p:nvSpPr>
        <p:spPr>
          <a:xfrm>
            <a:off x="839777" y="5507292"/>
            <a:ext cx="6571030" cy="400110"/>
          </a:xfrm>
          <a:prstGeom prst="rect">
            <a:avLst/>
          </a:prstGeom>
        </p:spPr>
        <p:txBody>
          <a:bodyPr wrap="none">
            <a:spAutoFit/>
          </a:bodyPr>
          <a:lstStyle/>
          <a:p>
            <a:r>
              <a:rPr lang="en-US" sz="2000" dirty="0">
                <a:latin typeface="Aptos" panose="020B0004020202020204" pitchFamily="34" charset="0"/>
              </a:rPr>
              <a:t>Objects can contain array and arrays can contain objects.</a:t>
            </a:r>
          </a:p>
        </p:txBody>
      </p:sp>
      <p:sp>
        <p:nvSpPr>
          <p:cNvPr id="9" name="Segnaposto numero diapositiva 8"/>
          <p:cNvSpPr>
            <a:spLocks noGrp="1"/>
          </p:cNvSpPr>
          <p:nvPr>
            <p:ph type="sldNum" sz="quarter" idx="12"/>
          </p:nvPr>
        </p:nvSpPr>
        <p:spPr/>
        <p:txBody>
          <a:bodyPr/>
          <a:lstStyle/>
          <a:p>
            <a:fld id="{31DE2C5B-556E-47B8-A792-024C2FCA4ACC}" type="slidenum">
              <a:rPr lang="en-GB" smtClean="0"/>
              <a:t>39</a:t>
            </a:fld>
            <a:endParaRPr lang="en-GB"/>
          </a:p>
        </p:txBody>
      </p:sp>
    </p:spTree>
    <p:extLst>
      <p:ext uri="{BB962C8B-B14F-4D97-AF65-F5344CB8AC3E}">
        <p14:creationId xmlns:p14="http://schemas.microsoft.com/office/powerpoint/2010/main" val="290151362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err="1"/>
              <a:t>Why</a:t>
            </a:r>
            <a:r>
              <a:rPr lang="it-IT" dirty="0"/>
              <a:t> JSON are </a:t>
            </a:r>
            <a:r>
              <a:rPr lang="it-IT" dirty="0" err="1"/>
              <a:t>important</a:t>
            </a:r>
            <a:r>
              <a:rPr lang="it-IT" dirty="0"/>
              <a:t> </a:t>
            </a:r>
            <a:r>
              <a:rPr lang="it-IT" dirty="0" err="1"/>
              <a:t>here</a:t>
            </a:r>
            <a:r>
              <a:rPr lang="it-IT" dirty="0"/>
              <a:t>? </a:t>
            </a:r>
            <a:r>
              <a:rPr lang="it-IT" dirty="0" err="1"/>
              <a:t>What</a:t>
            </a:r>
            <a:r>
              <a:rPr lang="it-IT" dirty="0"/>
              <a:t> </a:t>
            </a:r>
            <a:r>
              <a:rPr lang="it-IT" dirty="0" err="1"/>
              <a:t>we</a:t>
            </a:r>
            <a:r>
              <a:rPr lang="it-IT" dirty="0"/>
              <a:t> </a:t>
            </a:r>
            <a:r>
              <a:rPr lang="it-IT" dirty="0" err="1"/>
              <a:t>need</a:t>
            </a:r>
            <a:r>
              <a:rPr lang="it-IT" dirty="0"/>
              <a:t>?</a:t>
            </a:r>
            <a:endParaRPr lang="en-GB" dirty="0"/>
          </a:p>
        </p:txBody>
      </p:sp>
      <p:sp>
        <p:nvSpPr>
          <p:cNvPr id="9" name="Segnaposto numero diapositiva 8"/>
          <p:cNvSpPr>
            <a:spLocks noGrp="1"/>
          </p:cNvSpPr>
          <p:nvPr>
            <p:ph type="sldNum" sz="quarter" idx="12"/>
          </p:nvPr>
        </p:nvSpPr>
        <p:spPr/>
        <p:txBody>
          <a:bodyPr/>
          <a:lstStyle/>
          <a:p>
            <a:fld id="{31DE2C5B-556E-47B8-A792-024C2FCA4ACC}" type="slidenum">
              <a:rPr lang="en-GB" smtClean="0"/>
              <a:t>40</a:t>
            </a:fld>
            <a:endParaRPr lang="en-GB"/>
          </a:p>
        </p:txBody>
      </p:sp>
      <p:sp>
        <p:nvSpPr>
          <p:cNvPr id="11" name="Segnaposto contenuto 2">
            <a:extLst>
              <a:ext uri="{FF2B5EF4-FFF2-40B4-BE49-F238E27FC236}">
                <a16:creationId xmlns:a16="http://schemas.microsoft.com/office/drawing/2014/main" id="{A174B2A5-9A7E-B006-6E94-EB7D88FEBC7B}"/>
              </a:ext>
            </a:extLst>
          </p:cNvPr>
          <p:cNvSpPr>
            <a:spLocks noGrp="1"/>
          </p:cNvSpPr>
          <p:nvPr>
            <p:ph idx="1"/>
          </p:nvPr>
        </p:nvSpPr>
        <p:spPr>
          <a:xfrm>
            <a:off x="428171" y="1679189"/>
            <a:ext cx="11522087" cy="1414827"/>
          </a:xfrm>
        </p:spPr>
        <p:txBody>
          <a:bodyPr>
            <a:normAutofit/>
          </a:bodyPr>
          <a:lstStyle/>
          <a:p>
            <a:r>
              <a:rPr lang="en-US" dirty="0"/>
              <a:t>The Fitbit data you will need to develop your project (stored in the IMPACT server are stored in a JSON format</a:t>
            </a:r>
          </a:p>
          <a:p>
            <a:r>
              <a:rPr lang="en-US" dirty="0"/>
              <a:t>We need to learn how to make and ”debug” our requests!</a:t>
            </a:r>
            <a:endParaRPr lang="en-GB" dirty="0"/>
          </a:p>
        </p:txBody>
      </p:sp>
      <p:pic>
        <p:nvPicPr>
          <p:cNvPr id="13" name="Picture 12">
            <a:extLst>
              <a:ext uri="{FF2B5EF4-FFF2-40B4-BE49-F238E27FC236}">
                <a16:creationId xmlns:a16="http://schemas.microsoft.com/office/drawing/2014/main" id="{6B51E6AB-2E76-2139-19E5-F85C0D24C984}"/>
              </a:ext>
            </a:extLst>
          </p:cNvPr>
          <p:cNvPicPr>
            <a:picLocks noChangeAspect="1"/>
          </p:cNvPicPr>
          <p:nvPr/>
        </p:nvPicPr>
        <p:blipFill>
          <a:blip r:embed="rId2"/>
          <a:stretch>
            <a:fillRect/>
          </a:stretch>
        </p:blipFill>
        <p:spPr>
          <a:xfrm>
            <a:off x="5774766" y="5402103"/>
            <a:ext cx="1049011" cy="1106755"/>
          </a:xfrm>
          <a:prstGeom prst="rect">
            <a:avLst/>
          </a:prstGeom>
        </p:spPr>
      </p:pic>
      <p:sp>
        <p:nvSpPr>
          <p:cNvPr id="14" name="TextBox 13">
            <a:extLst>
              <a:ext uri="{FF2B5EF4-FFF2-40B4-BE49-F238E27FC236}">
                <a16:creationId xmlns:a16="http://schemas.microsoft.com/office/drawing/2014/main" id="{DB4448B8-8D9E-6F3C-723D-97090E6B664B}"/>
              </a:ext>
            </a:extLst>
          </p:cNvPr>
          <p:cNvSpPr txBox="1"/>
          <p:nvPr/>
        </p:nvSpPr>
        <p:spPr>
          <a:xfrm>
            <a:off x="3632454" y="3470907"/>
            <a:ext cx="4162351" cy="2862322"/>
          </a:xfrm>
          <a:prstGeom prst="rect">
            <a:avLst/>
          </a:prstGeom>
          <a:noFill/>
        </p:spPr>
        <p:txBody>
          <a:bodyPr wrap="square">
            <a:spAutoFit/>
          </a:bodyPr>
          <a:lstStyle/>
          <a:p>
            <a:r>
              <a:rPr lang="en-GB" sz="1000" b="0" dirty="0">
                <a:effectLst/>
                <a:latin typeface="Aptos" panose="020B0004020202020204" pitchFamily="34" charset="0"/>
              </a:rPr>
              <a:t>[</a:t>
            </a:r>
          </a:p>
          <a:p>
            <a:r>
              <a:rPr lang="en-GB" sz="1000" b="0" dirty="0">
                <a:effectLst/>
                <a:latin typeface="Aptos" panose="020B0004020202020204" pitchFamily="34" charset="0"/>
              </a:rPr>
              <a:t>     {</a:t>
            </a:r>
          </a:p>
          <a:p>
            <a:r>
              <a:rPr lang="en-GB" sz="1000" b="0" dirty="0">
                <a:effectLst/>
                <a:latin typeface="Aptos" panose="020B0004020202020204" pitchFamily="34" charset="0"/>
              </a:rPr>
              <a:t>        "time": "03:10:19",</a:t>
            </a:r>
          </a:p>
          <a:p>
            <a:r>
              <a:rPr lang="en-GB" sz="1000" b="0" dirty="0">
                <a:effectLst/>
                <a:latin typeface="Aptos" panose="020B0004020202020204" pitchFamily="34" charset="0"/>
              </a:rPr>
              <a:t>        "value": 58,</a:t>
            </a:r>
          </a:p>
          <a:p>
            <a:r>
              <a:rPr lang="en-GB" sz="1000" b="0" dirty="0">
                <a:effectLst/>
                <a:latin typeface="Aptos" panose="020B0004020202020204" pitchFamily="34" charset="0"/>
              </a:rPr>
              <a:t>        "confidence": 1</a:t>
            </a:r>
          </a:p>
          <a:p>
            <a:r>
              <a:rPr lang="en-GB" sz="1000" b="0" dirty="0">
                <a:effectLst/>
                <a:latin typeface="Aptos" panose="020B0004020202020204" pitchFamily="34" charset="0"/>
              </a:rPr>
              <a:t>    },</a:t>
            </a:r>
          </a:p>
          <a:p>
            <a:r>
              <a:rPr lang="en-GB" sz="1000" b="0" dirty="0">
                <a:effectLst/>
                <a:latin typeface="Aptos" panose="020B0004020202020204" pitchFamily="34" charset="0"/>
              </a:rPr>
              <a:t>    {</a:t>
            </a:r>
          </a:p>
          <a:p>
            <a:r>
              <a:rPr lang="en-GB" sz="1000" b="0" dirty="0">
                <a:effectLst/>
                <a:latin typeface="Aptos" panose="020B0004020202020204" pitchFamily="34" charset="0"/>
              </a:rPr>
              <a:t>        "time": "03:10:24",</a:t>
            </a:r>
          </a:p>
          <a:p>
            <a:r>
              <a:rPr lang="en-GB" sz="1000" b="0" dirty="0">
                <a:effectLst/>
                <a:latin typeface="Aptos" panose="020B0004020202020204" pitchFamily="34" charset="0"/>
              </a:rPr>
              <a:t>        "value": 54,</a:t>
            </a:r>
          </a:p>
          <a:p>
            <a:r>
              <a:rPr lang="en-GB" sz="1000" b="0" dirty="0">
                <a:effectLst/>
                <a:latin typeface="Aptos" panose="020B0004020202020204" pitchFamily="34" charset="0"/>
              </a:rPr>
              <a:t>        "confidence": 3</a:t>
            </a:r>
          </a:p>
          <a:p>
            <a:r>
              <a:rPr lang="en-GB" sz="1000" b="0" dirty="0">
                <a:effectLst/>
                <a:latin typeface="Aptos" panose="020B0004020202020204" pitchFamily="34" charset="0"/>
              </a:rPr>
              <a:t>    },</a:t>
            </a:r>
          </a:p>
          <a:p>
            <a:r>
              <a:rPr lang="en-GB" sz="1000" b="0" dirty="0">
                <a:effectLst/>
                <a:latin typeface="Aptos" panose="020B0004020202020204" pitchFamily="34" charset="0"/>
              </a:rPr>
              <a:t>    {</a:t>
            </a:r>
          </a:p>
          <a:p>
            <a:r>
              <a:rPr lang="en-GB" sz="1000" b="0" dirty="0">
                <a:effectLst/>
                <a:latin typeface="Aptos" panose="020B0004020202020204" pitchFamily="34" charset="0"/>
              </a:rPr>
              <a:t>        "time": "03:10:29",</a:t>
            </a:r>
          </a:p>
          <a:p>
            <a:r>
              <a:rPr lang="en-GB" sz="1000" b="0" dirty="0">
                <a:effectLst/>
                <a:latin typeface="Aptos" panose="020B0004020202020204" pitchFamily="34" charset="0"/>
              </a:rPr>
              <a:t>        "value": 52,</a:t>
            </a:r>
          </a:p>
          <a:p>
            <a:r>
              <a:rPr lang="en-GB" sz="1000" b="0" dirty="0">
                <a:effectLst/>
                <a:latin typeface="Aptos" panose="020B0004020202020204" pitchFamily="34" charset="0"/>
              </a:rPr>
              <a:t>        "confidence": 3</a:t>
            </a:r>
          </a:p>
          <a:p>
            <a:r>
              <a:rPr lang="en-GB" sz="1000" b="0" dirty="0">
                <a:effectLst/>
                <a:latin typeface="Aptos" panose="020B0004020202020204" pitchFamily="34" charset="0"/>
              </a:rPr>
              <a:t>    },</a:t>
            </a:r>
            <a:br>
              <a:rPr lang="en-GB" sz="1000" b="0" dirty="0">
                <a:effectLst/>
                <a:latin typeface="Aptos" panose="020B0004020202020204" pitchFamily="34" charset="0"/>
              </a:rPr>
            </a:br>
            <a:r>
              <a:rPr lang="en-GB" sz="1000" b="0" dirty="0">
                <a:effectLst/>
                <a:latin typeface="Aptos" panose="020B0004020202020204" pitchFamily="34" charset="0"/>
              </a:rPr>
              <a:t>    </a:t>
            </a:r>
            <a:r>
              <a:rPr lang="en-GB" sz="1000" dirty="0">
                <a:latin typeface="Aptos" panose="020B0004020202020204" pitchFamily="34" charset="0"/>
              </a:rPr>
              <a:t>...</a:t>
            </a:r>
          </a:p>
          <a:p>
            <a:r>
              <a:rPr lang="en-GB" sz="1000" b="0" dirty="0">
                <a:effectLst/>
                <a:latin typeface="Aptos" panose="020B0004020202020204" pitchFamily="34" charset="0"/>
              </a:rPr>
              <a:t>]</a:t>
            </a:r>
          </a:p>
        </p:txBody>
      </p:sp>
      <p:cxnSp>
        <p:nvCxnSpPr>
          <p:cNvPr id="15" name="Straight Arrow Connector 14">
            <a:extLst>
              <a:ext uri="{FF2B5EF4-FFF2-40B4-BE49-F238E27FC236}">
                <a16:creationId xmlns:a16="http://schemas.microsoft.com/office/drawing/2014/main" id="{C09ECB14-6466-9D43-4944-BFE8541950AD}"/>
              </a:ext>
            </a:extLst>
          </p:cNvPr>
          <p:cNvCxnSpPr>
            <a:cxnSpLocks/>
          </p:cNvCxnSpPr>
          <p:nvPr/>
        </p:nvCxnSpPr>
        <p:spPr>
          <a:xfrm>
            <a:off x="7315200" y="4579343"/>
            <a:ext cx="1037118"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grpSp>
        <p:nvGrpSpPr>
          <p:cNvPr id="18" name="Group 17">
            <a:extLst>
              <a:ext uri="{FF2B5EF4-FFF2-40B4-BE49-F238E27FC236}">
                <a16:creationId xmlns:a16="http://schemas.microsoft.com/office/drawing/2014/main" id="{7664F556-4D73-8BD0-6FFA-9AC093CDB9EF}"/>
              </a:ext>
            </a:extLst>
          </p:cNvPr>
          <p:cNvGrpSpPr/>
          <p:nvPr/>
        </p:nvGrpSpPr>
        <p:grpSpPr>
          <a:xfrm>
            <a:off x="290607" y="3988637"/>
            <a:ext cx="2102029" cy="2102029"/>
            <a:chOff x="0" y="1584963"/>
            <a:chExt cx="2102029" cy="2102029"/>
          </a:xfrm>
        </p:grpSpPr>
        <p:pic>
          <p:nvPicPr>
            <p:cNvPr id="19" name="Graphic 18" descr="Smart Phone outline">
              <a:extLst>
                <a:ext uri="{FF2B5EF4-FFF2-40B4-BE49-F238E27FC236}">
                  <a16:creationId xmlns:a16="http://schemas.microsoft.com/office/drawing/2014/main" id="{ECB9C29A-4F8A-08AE-1E10-9724B6389B97}"/>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0" y="1584963"/>
              <a:ext cx="2102029" cy="2102029"/>
            </a:xfrm>
            <a:prstGeom prst="rect">
              <a:avLst/>
            </a:prstGeom>
          </p:spPr>
        </p:pic>
        <p:pic>
          <p:nvPicPr>
            <p:cNvPr id="20" name="Picture 19">
              <a:extLst>
                <a:ext uri="{FF2B5EF4-FFF2-40B4-BE49-F238E27FC236}">
                  <a16:creationId xmlns:a16="http://schemas.microsoft.com/office/drawing/2014/main" id="{07516868-3932-33A2-A22A-3800EEF4A112}"/>
                </a:ext>
              </a:extLst>
            </p:cNvPr>
            <p:cNvPicPr>
              <a:picLocks noChangeAspect="1"/>
            </p:cNvPicPr>
            <p:nvPr/>
          </p:nvPicPr>
          <p:blipFill>
            <a:blip r:embed="rId5"/>
            <a:stretch>
              <a:fillRect/>
            </a:stretch>
          </p:blipFill>
          <p:spPr>
            <a:xfrm>
              <a:off x="735199" y="2175669"/>
              <a:ext cx="623644" cy="920618"/>
            </a:xfrm>
            <a:prstGeom prst="rect">
              <a:avLst/>
            </a:prstGeom>
          </p:spPr>
        </p:pic>
      </p:grpSp>
      <p:sp>
        <p:nvSpPr>
          <p:cNvPr id="21" name="Content Placeholder 2">
            <a:extLst>
              <a:ext uri="{FF2B5EF4-FFF2-40B4-BE49-F238E27FC236}">
                <a16:creationId xmlns:a16="http://schemas.microsoft.com/office/drawing/2014/main" id="{EA32CC81-EBC4-D66D-762C-4A5BCB192794}"/>
              </a:ext>
            </a:extLst>
          </p:cNvPr>
          <p:cNvSpPr txBox="1">
            <a:spLocks/>
          </p:cNvSpPr>
          <p:nvPr/>
        </p:nvSpPr>
        <p:spPr>
          <a:xfrm>
            <a:off x="402688" y="6124801"/>
            <a:ext cx="1869879" cy="554632"/>
          </a:xfrm>
          <a:prstGeom prst="rect">
            <a:avLst/>
          </a:prstGeom>
        </p:spPr>
        <p:txBody>
          <a:bodyPr vert="horz" lIns="91440" tIns="45720" rIns="91440" bIns="45720" rtlCol="0">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Wingdings" panose="05000000000000000000" pitchFamily="2" charset="2"/>
              <a:buNone/>
            </a:pPr>
            <a:r>
              <a:rPr lang="en-IT" sz="1400" dirty="0">
                <a:latin typeface="Aptos" panose="020B0004020202020204" pitchFamily="34" charset="0"/>
              </a:rPr>
              <a:t>Your app</a:t>
            </a:r>
          </a:p>
        </p:txBody>
      </p:sp>
      <p:pic>
        <p:nvPicPr>
          <p:cNvPr id="22" name="Picture 21" descr="A picture containing text&#10;&#10;Description automatically generated">
            <a:extLst>
              <a:ext uri="{FF2B5EF4-FFF2-40B4-BE49-F238E27FC236}">
                <a16:creationId xmlns:a16="http://schemas.microsoft.com/office/drawing/2014/main" id="{76A8FDF3-EB8F-012C-E6A0-96E84CEFC81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951992" y="3988637"/>
            <a:ext cx="2435304" cy="1718017"/>
          </a:xfrm>
          <a:prstGeom prst="rect">
            <a:avLst/>
          </a:prstGeom>
          <a:ln w="38100">
            <a:solidFill>
              <a:srgbClr val="C00000"/>
            </a:solidFill>
          </a:ln>
        </p:spPr>
      </p:pic>
      <p:sp>
        <p:nvSpPr>
          <p:cNvPr id="23" name="Content Placeholder 2">
            <a:extLst>
              <a:ext uri="{FF2B5EF4-FFF2-40B4-BE49-F238E27FC236}">
                <a16:creationId xmlns:a16="http://schemas.microsoft.com/office/drawing/2014/main" id="{F0C14931-83C3-AB68-1FB2-C86277CDD6E7}"/>
              </a:ext>
            </a:extLst>
          </p:cNvPr>
          <p:cNvSpPr txBox="1">
            <a:spLocks/>
          </p:cNvSpPr>
          <p:nvPr/>
        </p:nvSpPr>
        <p:spPr>
          <a:xfrm>
            <a:off x="8459696" y="5848478"/>
            <a:ext cx="3329616" cy="465985"/>
          </a:xfrm>
          <a:prstGeom prst="rect">
            <a:avLst/>
          </a:prstGeom>
        </p:spPr>
        <p:txBody>
          <a:bodyPr vert="horz" lIns="91440" tIns="45720" rIns="91440" bIns="45720" rtlCol="0">
            <a:normAutofit fontScale="92500"/>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Wingdings" panose="05000000000000000000" pitchFamily="2" charset="2"/>
              <a:buNone/>
            </a:pPr>
            <a:r>
              <a:rPr lang="en-IT" sz="1600" b="1" dirty="0">
                <a:solidFill>
                  <a:srgbClr val="C00000"/>
                </a:solidFill>
                <a:latin typeface="Aptos" panose="020B0004020202020204" pitchFamily="34" charset="0"/>
              </a:rPr>
              <a:t>https://impact.dei.unipd.it/bwthw/</a:t>
            </a:r>
          </a:p>
        </p:txBody>
      </p:sp>
      <p:cxnSp>
        <p:nvCxnSpPr>
          <p:cNvPr id="25" name="Straight Arrow Connector 24">
            <a:extLst>
              <a:ext uri="{FF2B5EF4-FFF2-40B4-BE49-F238E27FC236}">
                <a16:creationId xmlns:a16="http://schemas.microsoft.com/office/drawing/2014/main" id="{49A2C820-A2EC-C4D7-04EE-09461B09917A}"/>
              </a:ext>
            </a:extLst>
          </p:cNvPr>
          <p:cNvCxnSpPr>
            <a:cxnSpLocks/>
          </p:cNvCxnSpPr>
          <p:nvPr/>
        </p:nvCxnSpPr>
        <p:spPr>
          <a:xfrm>
            <a:off x="2392636" y="4570920"/>
            <a:ext cx="1037118"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6" name="Straight Arrow Connector 25">
            <a:extLst>
              <a:ext uri="{FF2B5EF4-FFF2-40B4-BE49-F238E27FC236}">
                <a16:creationId xmlns:a16="http://schemas.microsoft.com/office/drawing/2014/main" id="{C1B594AD-FA7D-D7CD-D0A5-8DD7EFDB3DEA}"/>
              </a:ext>
            </a:extLst>
          </p:cNvPr>
          <p:cNvCxnSpPr>
            <a:cxnSpLocks/>
          </p:cNvCxnSpPr>
          <p:nvPr/>
        </p:nvCxnSpPr>
        <p:spPr>
          <a:xfrm flipH="1">
            <a:off x="2392636" y="5102696"/>
            <a:ext cx="1037118"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DB41B0C1-D2BE-2F7B-E9E9-1633011566CF}"/>
              </a:ext>
            </a:extLst>
          </p:cNvPr>
          <p:cNvCxnSpPr>
            <a:cxnSpLocks/>
          </p:cNvCxnSpPr>
          <p:nvPr/>
        </p:nvCxnSpPr>
        <p:spPr>
          <a:xfrm flipH="1">
            <a:off x="7315200" y="5098521"/>
            <a:ext cx="1037118"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60101544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t>POSTMAN</a:t>
            </a:r>
            <a:endParaRPr lang="en-GB" dirty="0"/>
          </a:p>
        </p:txBody>
      </p:sp>
      <p:sp>
        <p:nvSpPr>
          <p:cNvPr id="9" name="Segnaposto numero diapositiva 8"/>
          <p:cNvSpPr>
            <a:spLocks noGrp="1"/>
          </p:cNvSpPr>
          <p:nvPr>
            <p:ph type="sldNum" sz="quarter" idx="12"/>
          </p:nvPr>
        </p:nvSpPr>
        <p:spPr/>
        <p:txBody>
          <a:bodyPr/>
          <a:lstStyle/>
          <a:p>
            <a:fld id="{31DE2C5B-556E-47B8-A792-024C2FCA4ACC}" type="slidenum">
              <a:rPr lang="en-GB" smtClean="0"/>
              <a:t>41</a:t>
            </a:fld>
            <a:endParaRPr lang="en-GB"/>
          </a:p>
        </p:txBody>
      </p:sp>
      <p:sp>
        <p:nvSpPr>
          <p:cNvPr id="11" name="Segnaposto contenuto 2">
            <a:extLst>
              <a:ext uri="{FF2B5EF4-FFF2-40B4-BE49-F238E27FC236}">
                <a16:creationId xmlns:a16="http://schemas.microsoft.com/office/drawing/2014/main" id="{A174B2A5-9A7E-B006-6E94-EB7D88FEBC7B}"/>
              </a:ext>
            </a:extLst>
          </p:cNvPr>
          <p:cNvSpPr>
            <a:spLocks noGrp="1"/>
          </p:cNvSpPr>
          <p:nvPr>
            <p:ph idx="1"/>
          </p:nvPr>
        </p:nvSpPr>
        <p:spPr>
          <a:xfrm>
            <a:off x="428172" y="1679189"/>
            <a:ext cx="7727856" cy="5042286"/>
          </a:xfrm>
        </p:spPr>
        <p:txBody>
          <a:bodyPr>
            <a:normAutofit/>
          </a:bodyPr>
          <a:lstStyle/>
          <a:p>
            <a:r>
              <a:rPr lang="en-US" dirty="0"/>
              <a:t>We saw that using a browser we are actually visualizing the response of an HTTP request using the GET method.</a:t>
            </a:r>
          </a:p>
          <a:p>
            <a:endParaRPr lang="en-US" dirty="0"/>
          </a:p>
          <a:p>
            <a:r>
              <a:rPr lang="en-US" dirty="0"/>
              <a:t>What if we need to make an authenticated request? What if we need to make a POST request?</a:t>
            </a:r>
          </a:p>
          <a:p>
            <a:endParaRPr lang="en-US" dirty="0"/>
          </a:p>
          <a:p>
            <a:r>
              <a:rPr lang="en-US" dirty="0"/>
              <a:t>POSTMAN can help us here: </a:t>
            </a:r>
            <a:r>
              <a:rPr lang="en-US" dirty="0">
                <a:solidFill>
                  <a:srgbClr val="C00000"/>
                </a:solidFill>
                <a:hlinkClick r:id="rId2">
                  <a:extLst>
                    <a:ext uri="{A12FA001-AC4F-418D-AE19-62706E023703}">
                      <ahyp:hlinkClr xmlns:ahyp="http://schemas.microsoft.com/office/drawing/2018/hyperlinkcolor" val="tx"/>
                    </a:ext>
                  </a:extLst>
                </a:hlinkClick>
              </a:rPr>
              <a:t>https://www.postman.com</a:t>
            </a:r>
            <a:r>
              <a:rPr lang="en-US" dirty="0">
                <a:solidFill>
                  <a:srgbClr val="C00000"/>
                </a:solidFill>
              </a:rPr>
              <a:t> </a:t>
            </a:r>
          </a:p>
          <a:p>
            <a:endParaRPr lang="en-US" dirty="0">
              <a:solidFill>
                <a:srgbClr val="C00000"/>
              </a:solidFill>
            </a:endParaRPr>
          </a:p>
          <a:p>
            <a:r>
              <a:rPr lang="en-US" dirty="0"/>
              <a:t>We will use it during the theory lessons to try what we learn</a:t>
            </a:r>
          </a:p>
          <a:p>
            <a:endParaRPr lang="en-US" dirty="0">
              <a:solidFill>
                <a:srgbClr val="C00000"/>
              </a:solidFill>
            </a:endParaRPr>
          </a:p>
        </p:txBody>
      </p:sp>
      <p:pic>
        <p:nvPicPr>
          <p:cNvPr id="12" name="Picture 11">
            <a:extLst>
              <a:ext uri="{FF2B5EF4-FFF2-40B4-BE49-F238E27FC236}">
                <a16:creationId xmlns:a16="http://schemas.microsoft.com/office/drawing/2014/main" id="{B6776B5D-5A2B-15C7-C387-A4A6B247373B}"/>
              </a:ext>
            </a:extLst>
          </p:cNvPr>
          <p:cNvPicPr>
            <a:picLocks noChangeAspect="1"/>
          </p:cNvPicPr>
          <p:nvPr/>
        </p:nvPicPr>
        <p:blipFill>
          <a:blip r:embed="rId3"/>
          <a:stretch>
            <a:fillRect/>
          </a:stretch>
        </p:blipFill>
        <p:spPr>
          <a:xfrm>
            <a:off x="7608800" y="2334967"/>
            <a:ext cx="4187686" cy="2188066"/>
          </a:xfrm>
          <a:prstGeom prst="rect">
            <a:avLst/>
          </a:prstGeom>
        </p:spPr>
      </p:pic>
    </p:spTree>
    <p:extLst>
      <p:ext uri="{BB962C8B-B14F-4D97-AF65-F5344CB8AC3E}">
        <p14:creationId xmlns:p14="http://schemas.microsoft.com/office/powerpoint/2010/main" val="116210505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t>Hello IMPACT</a:t>
            </a:r>
            <a:endParaRPr lang="en-GB" dirty="0"/>
          </a:p>
        </p:txBody>
      </p:sp>
      <p:sp>
        <p:nvSpPr>
          <p:cNvPr id="9" name="Segnaposto numero diapositiva 8"/>
          <p:cNvSpPr>
            <a:spLocks noGrp="1"/>
          </p:cNvSpPr>
          <p:nvPr>
            <p:ph type="sldNum" sz="quarter" idx="12"/>
          </p:nvPr>
        </p:nvSpPr>
        <p:spPr/>
        <p:txBody>
          <a:bodyPr/>
          <a:lstStyle/>
          <a:p>
            <a:fld id="{31DE2C5B-556E-47B8-A792-024C2FCA4ACC}" type="slidenum">
              <a:rPr lang="en-GB" smtClean="0"/>
              <a:t>42</a:t>
            </a:fld>
            <a:endParaRPr lang="en-GB"/>
          </a:p>
        </p:txBody>
      </p:sp>
      <p:sp>
        <p:nvSpPr>
          <p:cNvPr id="11" name="Segnaposto contenuto 2">
            <a:extLst>
              <a:ext uri="{FF2B5EF4-FFF2-40B4-BE49-F238E27FC236}">
                <a16:creationId xmlns:a16="http://schemas.microsoft.com/office/drawing/2014/main" id="{A174B2A5-9A7E-B006-6E94-EB7D88FEBC7B}"/>
              </a:ext>
            </a:extLst>
          </p:cNvPr>
          <p:cNvSpPr>
            <a:spLocks noGrp="1"/>
          </p:cNvSpPr>
          <p:nvPr>
            <p:ph idx="1"/>
          </p:nvPr>
        </p:nvSpPr>
        <p:spPr>
          <a:xfrm>
            <a:off x="428172" y="1679189"/>
            <a:ext cx="5426090" cy="5042286"/>
          </a:xfrm>
        </p:spPr>
        <p:txBody>
          <a:bodyPr>
            <a:normAutofit/>
          </a:bodyPr>
          <a:lstStyle/>
          <a:p>
            <a:r>
              <a:rPr lang="en-US" dirty="0"/>
              <a:t>At </a:t>
            </a:r>
            <a:r>
              <a:rPr lang="en-US" dirty="0">
                <a:solidFill>
                  <a:srgbClr val="C00000"/>
                </a:solidFill>
                <a:hlinkClick r:id="rId2">
                  <a:extLst>
                    <a:ext uri="{A12FA001-AC4F-418D-AE19-62706E023703}">
                      <ahyp:hlinkClr xmlns:ahyp="http://schemas.microsoft.com/office/drawing/2018/hyperlinkcolor" val="tx"/>
                    </a:ext>
                  </a:extLst>
                </a:hlinkClick>
              </a:rPr>
              <a:t>https://impact.dei.unipd.it</a:t>
            </a:r>
            <a:r>
              <a:rPr lang="en-US" dirty="0">
                <a:solidFill>
                  <a:srgbClr val="C00000"/>
                </a:solidFill>
              </a:rPr>
              <a:t>/ </a:t>
            </a:r>
            <a:r>
              <a:rPr lang="en-US" dirty="0"/>
              <a:t>you will obtain the following</a:t>
            </a:r>
          </a:p>
          <a:p>
            <a:endParaRPr lang="en-US" dirty="0"/>
          </a:p>
          <a:p>
            <a:r>
              <a:rPr lang="en-US" dirty="0"/>
              <a:t>Let’s replicate it in POSTMAN</a:t>
            </a:r>
          </a:p>
          <a:p>
            <a:endParaRPr lang="en-US" dirty="0">
              <a:solidFill>
                <a:srgbClr val="C00000"/>
              </a:solidFill>
            </a:endParaRPr>
          </a:p>
        </p:txBody>
      </p:sp>
      <p:pic>
        <p:nvPicPr>
          <p:cNvPr id="3" name="Picture 2" descr="A screenshot of a computer&#10;&#10;Description automatically generated">
            <a:extLst>
              <a:ext uri="{FF2B5EF4-FFF2-40B4-BE49-F238E27FC236}">
                <a16:creationId xmlns:a16="http://schemas.microsoft.com/office/drawing/2014/main" id="{886F2DE8-60A5-CA0A-F84E-73FE3F22A50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96000" y="1822611"/>
            <a:ext cx="5165271" cy="3823003"/>
          </a:xfrm>
          <a:prstGeom prst="rect">
            <a:avLst/>
          </a:prstGeom>
          <a:ln>
            <a:solidFill>
              <a:srgbClr val="C00000"/>
            </a:solidFill>
          </a:ln>
        </p:spPr>
      </p:pic>
    </p:spTree>
    <p:extLst>
      <p:ext uri="{BB962C8B-B14F-4D97-AF65-F5344CB8AC3E}">
        <p14:creationId xmlns:p14="http://schemas.microsoft.com/office/powerpoint/2010/main" val="46515636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t>Hello IMPACT </a:t>
            </a:r>
            <a:endParaRPr lang="en-GB" dirty="0"/>
          </a:p>
        </p:txBody>
      </p:sp>
      <p:sp>
        <p:nvSpPr>
          <p:cNvPr id="9" name="Segnaposto numero diapositiva 8"/>
          <p:cNvSpPr>
            <a:spLocks noGrp="1"/>
          </p:cNvSpPr>
          <p:nvPr>
            <p:ph type="sldNum" sz="quarter" idx="12"/>
          </p:nvPr>
        </p:nvSpPr>
        <p:spPr/>
        <p:txBody>
          <a:bodyPr/>
          <a:lstStyle/>
          <a:p>
            <a:fld id="{31DE2C5B-556E-47B8-A792-024C2FCA4ACC}" type="slidenum">
              <a:rPr lang="en-GB" smtClean="0"/>
              <a:t>43</a:t>
            </a:fld>
            <a:endParaRPr lang="en-GB"/>
          </a:p>
        </p:txBody>
      </p:sp>
      <p:pic>
        <p:nvPicPr>
          <p:cNvPr id="15" name="Picture 14" descr="A screenshot of a computer&#10;&#10;Description automatically generated">
            <a:extLst>
              <a:ext uri="{FF2B5EF4-FFF2-40B4-BE49-F238E27FC236}">
                <a16:creationId xmlns:a16="http://schemas.microsoft.com/office/drawing/2014/main" id="{0F121317-668D-0D47-789D-CDBFF81A405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581401" y="1323871"/>
            <a:ext cx="7772400" cy="5372203"/>
          </a:xfrm>
          <a:prstGeom prst="rect">
            <a:avLst/>
          </a:prstGeom>
        </p:spPr>
      </p:pic>
      <p:sp>
        <p:nvSpPr>
          <p:cNvPr id="3" name="Segnaposto contenuto 2">
            <a:extLst>
              <a:ext uri="{FF2B5EF4-FFF2-40B4-BE49-F238E27FC236}">
                <a16:creationId xmlns:a16="http://schemas.microsoft.com/office/drawing/2014/main" id="{EFD273E2-DA8E-8B88-F658-F9A99F8A9B56}"/>
              </a:ext>
            </a:extLst>
          </p:cNvPr>
          <p:cNvSpPr>
            <a:spLocks noGrp="1"/>
          </p:cNvSpPr>
          <p:nvPr>
            <p:ph idx="1"/>
          </p:nvPr>
        </p:nvSpPr>
        <p:spPr>
          <a:xfrm>
            <a:off x="428172" y="1679189"/>
            <a:ext cx="2556766" cy="5042286"/>
          </a:xfrm>
        </p:spPr>
        <p:txBody>
          <a:bodyPr>
            <a:normAutofit fontScale="92500" lnSpcReduction="10000"/>
          </a:bodyPr>
          <a:lstStyle/>
          <a:p>
            <a:r>
              <a:rPr lang="en-US" dirty="0"/>
              <a:t>This is the POSTMAN interface</a:t>
            </a:r>
          </a:p>
          <a:p>
            <a:endParaRPr lang="en-US" dirty="0"/>
          </a:p>
          <a:p>
            <a:r>
              <a:rPr lang="en-US" dirty="0"/>
              <a:t>Many things can be done (e.g., automatic debugging, writing custom scripts, </a:t>
            </a:r>
            <a:r>
              <a:rPr lang="en-US" dirty="0" err="1"/>
              <a:t>etc</a:t>
            </a:r>
            <a:r>
              <a:rPr lang="en-US" dirty="0"/>
              <a:t>…</a:t>
            </a:r>
          </a:p>
          <a:p>
            <a:endParaRPr lang="en-US" dirty="0"/>
          </a:p>
          <a:p>
            <a:r>
              <a:rPr lang="en-US" dirty="0"/>
              <a:t>We will limit to create and organize a collection of HTTP requests</a:t>
            </a:r>
          </a:p>
        </p:txBody>
      </p:sp>
    </p:spTree>
    <p:extLst>
      <p:ext uri="{BB962C8B-B14F-4D97-AF65-F5344CB8AC3E}">
        <p14:creationId xmlns:p14="http://schemas.microsoft.com/office/powerpoint/2010/main" val="62296254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t>Hello IMPACT </a:t>
            </a:r>
            <a:endParaRPr lang="en-GB" dirty="0"/>
          </a:p>
        </p:txBody>
      </p:sp>
      <p:sp>
        <p:nvSpPr>
          <p:cNvPr id="9" name="Segnaposto numero diapositiva 8"/>
          <p:cNvSpPr>
            <a:spLocks noGrp="1"/>
          </p:cNvSpPr>
          <p:nvPr>
            <p:ph type="sldNum" sz="quarter" idx="12"/>
          </p:nvPr>
        </p:nvSpPr>
        <p:spPr/>
        <p:txBody>
          <a:bodyPr/>
          <a:lstStyle/>
          <a:p>
            <a:fld id="{31DE2C5B-556E-47B8-A792-024C2FCA4ACC}" type="slidenum">
              <a:rPr lang="en-GB" smtClean="0"/>
              <a:t>44</a:t>
            </a:fld>
            <a:endParaRPr lang="en-GB"/>
          </a:p>
        </p:txBody>
      </p:sp>
      <p:pic>
        <p:nvPicPr>
          <p:cNvPr id="17" name="Picture 16" descr="A screenshot of a computer&#10;&#10;Description automatically generated">
            <a:extLst>
              <a:ext uri="{FF2B5EF4-FFF2-40B4-BE49-F238E27FC236}">
                <a16:creationId xmlns:a16="http://schemas.microsoft.com/office/drawing/2014/main" id="{7DE24D4D-C390-473A-D3A5-CBA89E87589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581401" y="1313283"/>
            <a:ext cx="7772400" cy="5374908"/>
          </a:xfrm>
          <a:prstGeom prst="rect">
            <a:avLst/>
          </a:prstGeom>
        </p:spPr>
      </p:pic>
      <p:sp>
        <p:nvSpPr>
          <p:cNvPr id="3" name="Segnaposto contenuto 2">
            <a:extLst>
              <a:ext uri="{FF2B5EF4-FFF2-40B4-BE49-F238E27FC236}">
                <a16:creationId xmlns:a16="http://schemas.microsoft.com/office/drawing/2014/main" id="{8852861C-74D4-8558-4F0C-B8C5BF1CB3E7}"/>
              </a:ext>
            </a:extLst>
          </p:cNvPr>
          <p:cNvSpPr>
            <a:spLocks noGrp="1"/>
          </p:cNvSpPr>
          <p:nvPr>
            <p:ph idx="1"/>
          </p:nvPr>
        </p:nvSpPr>
        <p:spPr>
          <a:xfrm>
            <a:off x="428172" y="1679189"/>
            <a:ext cx="2556766" cy="5042286"/>
          </a:xfrm>
        </p:spPr>
        <p:txBody>
          <a:bodyPr>
            <a:normAutofit fontScale="92500" lnSpcReduction="20000"/>
          </a:bodyPr>
          <a:lstStyle/>
          <a:p>
            <a:r>
              <a:rPr lang="en-US" dirty="0"/>
              <a:t>Go to the ”Collections” tab </a:t>
            </a:r>
          </a:p>
          <a:p>
            <a:endParaRPr lang="en-US" dirty="0"/>
          </a:p>
          <a:p>
            <a:r>
              <a:rPr lang="en-US" dirty="0"/>
              <a:t>Press the “+” button </a:t>
            </a:r>
          </a:p>
          <a:p>
            <a:endParaRPr lang="en-US" dirty="0"/>
          </a:p>
          <a:p>
            <a:r>
              <a:rPr lang="en-US" dirty="0"/>
              <a:t>Create a “Blank collection”</a:t>
            </a:r>
          </a:p>
          <a:p>
            <a:endParaRPr lang="en-US" dirty="0"/>
          </a:p>
          <a:p>
            <a:r>
              <a:rPr lang="en-US" dirty="0"/>
              <a:t>Call it “Examples”: here we will collect all the theory lessons examples</a:t>
            </a:r>
          </a:p>
        </p:txBody>
      </p:sp>
    </p:spTree>
    <p:extLst>
      <p:ext uri="{BB962C8B-B14F-4D97-AF65-F5344CB8AC3E}">
        <p14:creationId xmlns:p14="http://schemas.microsoft.com/office/powerpoint/2010/main" val="127682884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t>Hello IMPACT </a:t>
            </a:r>
            <a:endParaRPr lang="en-GB" dirty="0"/>
          </a:p>
        </p:txBody>
      </p:sp>
      <p:sp>
        <p:nvSpPr>
          <p:cNvPr id="9" name="Segnaposto numero diapositiva 8"/>
          <p:cNvSpPr>
            <a:spLocks noGrp="1"/>
          </p:cNvSpPr>
          <p:nvPr>
            <p:ph type="sldNum" sz="quarter" idx="12"/>
          </p:nvPr>
        </p:nvSpPr>
        <p:spPr/>
        <p:txBody>
          <a:bodyPr/>
          <a:lstStyle/>
          <a:p>
            <a:fld id="{31DE2C5B-556E-47B8-A792-024C2FCA4ACC}" type="slidenum">
              <a:rPr lang="en-GB" smtClean="0"/>
              <a:t>45</a:t>
            </a:fld>
            <a:endParaRPr lang="en-GB"/>
          </a:p>
        </p:txBody>
      </p:sp>
      <p:sp>
        <p:nvSpPr>
          <p:cNvPr id="3" name="Segnaposto contenuto 2">
            <a:extLst>
              <a:ext uri="{FF2B5EF4-FFF2-40B4-BE49-F238E27FC236}">
                <a16:creationId xmlns:a16="http://schemas.microsoft.com/office/drawing/2014/main" id="{BA781B13-13A7-FC78-1680-E6CA650403F2}"/>
              </a:ext>
            </a:extLst>
          </p:cNvPr>
          <p:cNvSpPr>
            <a:spLocks noGrp="1"/>
          </p:cNvSpPr>
          <p:nvPr>
            <p:ph idx="1"/>
          </p:nvPr>
        </p:nvSpPr>
        <p:spPr>
          <a:xfrm>
            <a:off x="428172" y="1679189"/>
            <a:ext cx="2861566" cy="5042286"/>
          </a:xfrm>
        </p:spPr>
        <p:txBody>
          <a:bodyPr>
            <a:normAutofit/>
          </a:bodyPr>
          <a:lstStyle/>
          <a:p>
            <a:r>
              <a:rPr lang="en-US" dirty="0"/>
              <a:t>Right click the “Examples” collection</a:t>
            </a:r>
          </a:p>
          <a:p>
            <a:endParaRPr lang="en-US" dirty="0"/>
          </a:p>
          <a:p>
            <a:r>
              <a:rPr lang="en-US" dirty="0"/>
              <a:t>Select “Add folder”</a:t>
            </a:r>
          </a:p>
          <a:p>
            <a:endParaRPr lang="en-US" dirty="0"/>
          </a:p>
          <a:p>
            <a:r>
              <a:rPr lang="en-US" dirty="0"/>
              <a:t>Call it as you want, e.g.: “lesson_13” </a:t>
            </a:r>
          </a:p>
          <a:p>
            <a:endParaRPr lang="en-US" dirty="0"/>
          </a:p>
        </p:txBody>
      </p:sp>
      <p:pic>
        <p:nvPicPr>
          <p:cNvPr id="10" name="Picture 9" descr="A screenshot of a computer&#10;&#10;AI-generated content may be incorrect.">
            <a:extLst>
              <a:ext uri="{FF2B5EF4-FFF2-40B4-BE49-F238E27FC236}">
                <a16:creationId xmlns:a16="http://schemas.microsoft.com/office/drawing/2014/main" id="{A859BA94-B406-7001-C044-C59C08947BC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581401" y="1343784"/>
            <a:ext cx="7772400" cy="5195128"/>
          </a:xfrm>
          <a:prstGeom prst="rect">
            <a:avLst/>
          </a:prstGeom>
        </p:spPr>
      </p:pic>
    </p:spTree>
    <p:extLst>
      <p:ext uri="{BB962C8B-B14F-4D97-AF65-F5344CB8AC3E}">
        <p14:creationId xmlns:p14="http://schemas.microsoft.com/office/powerpoint/2010/main" val="361099215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t>Hello IMPACT </a:t>
            </a:r>
            <a:endParaRPr lang="en-GB" dirty="0"/>
          </a:p>
        </p:txBody>
      </p:sp>
      <p:sp>
        <p:nvSpPr>
          <p:cNvPr id="9" name="Segnaposto numero diapositiva 8"/>
          <p:cNvSpPr>
            <a:spLocks noGrp="1"/>
          </p:cNvSpPr>
          <p:nvPr>
            <p:ph type="sldNum" sz="quarter" idx="12"/>
          </p:nvPr>
        </p:nvSpPr>
        <p:spPr/>
        <p:txBody>
          <a:bodyPr/>
          <a:lstStyle/>
          <a:p>
            <a:fld id="{31DE2C5B-556E-47B8-A792-024C2FCA4ACC}" type="slidenum">
              <a:rPr lang="en-GB" smtClean="0"/>
              <a:t>46</a:t>
            </a:fld>
            <a:endParaRPr lang="en-GB"/>
          </a:p>
        </p:txBody>
      </p:sp>
      <p:sp>
        <p:nvSpPr>
          <p:cNvPr id="3" name="Segnaposto contenuto 2">
            <a:extLst>
              <a:ext uri="{FF2B5EF4-FFF2-40B4-BE49-F238E27FC236}">
                <a16:creationId xmlns:a16="http://schemas.microsoft.com/office/drawing/2014/main" id="{C1184A74-FE2A-8ADF-9594-D89EA060F3C1}"/>
              </a:ext>
            </a:extLst>
          </p:cNvPr>
          <p:cNvSpPr>
            <a:spLocks noGrp="1"/>
          </p:cNvSpPr>
          <p:nvPr>
            <p:ph idx="1"/>
          </p:nvPr>
        </p:nvSpPr>
        <p:spPr>
          <a:xfrm>
            <a:off x="428172" y="1679189"/>
            <a:ext cx="2861566" cy="5042286"/>
          </a:xfrm>
        </p:spPr>
        <p:txBody>
          <a:bodyPr>
            <a:normAutofit fontScale="85000" lnSpcReduction="20000"/>
          </a:bodyPr>
          <a:lstStyle/>
          <a:p>
            <a:r>
              <a:rPr lang="en-US" dirty="0"/>
              <a:t>Right click the folder and choose “Add request”</a:t>
            </a:r>
          </a:p>
          <a:p>
            <a:endParaRPr lang="en-US" dirty="0"/>
          </a:p>
          <a:p>
            <a:r>
              <a:rPr lang="en-US" dirty="0"/>
              <a:t>Call it as you want, e.g., “Hello IMPACT”</a:t>
            </a:r>
          </a:p>
          <a:p>
            <a:endParaRPr lang="en-US" dirty="0"/>
          </a:p>
          <a:p>
            <a:r>
              <a:rPr lang="en-US" dirty="0"/>
              <a:t>Choose the GET method</a:t>
            </a:r>
          </a:p>
          <a:p>
            <a:endParaRPr lang="en-US" dirty="0"/>
          </a:p>
          <a:p>
            <a:r>
              <a:rPr lang="en-US" dirty="0"/>
              <a:t>And write the IMPACT home URL, i.e., </a:t>
            </a:r>
            <a:r>
              <a:rPr lang="en-US" dirty="0">
                <a:hlinkClick r:id="rId2"/>
              </a:rPr>
              <a:t>https://impact.dei.unipd.it/</a:t>
            </a:r>
            <a:endParaRPr lang="en-US" dirty="0"/>
          </a:p>
          <a:p>
            <a:endParaRPr lang="en-US" dirty="0"/>
          </a:p>
          <a:p>
            <a:r>
              <a:rPr lang="en-US" dirty="0"/>
              <a:t>Click “Send” and inspect the response</a:t>
            </a:r>
          </a:p>
          <a:p>
            <a:endParaRPr lang="en-US" dirty="0"/>
          </a:p>
        </p:txBody>
      </p:sp>
      <p:pic>
        <p:nvPicPr>
          <p:cNvPr id="5" name="Picture 4" descr="A screenshot of a computer&#10;&#10;AI-generated content may be incorrect.">
            <a:extLst>
              <a:ext uri="{FF2B5EF4-FFF2-40B4-BE49-F238E27FC236}">
                <a16:creationId xmlns:a16="http://schemas.microsoft.com/office/drawing/2014/main" id="{69F2D57F-2EA2-7910-1873-CD26A3E4C69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27938" y="1334181"/>
            <a:ext cx="6829838" cy="5204731"/>
          </a:xfrm>
          <a:prstGeom prst="rect">
            <a:avLst/>
          </a:prstGeom>
        </p:spPr>
      </p:pic>
    </p:spTree>
    <p:extLst>
      <p:ext uri="{BB962C8B-B14F-4D97-AF65-F5344CB8AC3E}">
        <p14:creationId xmlns:p14="http://schemas.microsoft.com/office/powerpoint/2010/main" val="166544513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65B1650A-B0F6-0260-478B-27CAD850F860}"/>
              </a:ext>
            </a:extLst>
          </p:cNvPr>
          <p:cNvSpPr>
            <a:spLocks noGrp="1"/>
          </p:cNvSpPr>
          <p:nvPr>
            <p:ph type="title"/>
          </p:nvPr>
        </p:nvSpPr>
        <p:spPr/>
        <p:txBody>
          <a:bodyPr/>
          <a:lstStyle/>
          <a:p>
            <a:r>
              <a:rPr lang="it-IT" dirty="0" err="1"/>
              <a:t>References</a:t>
            </a:r>
            <a:endParaRPr lang="it-IT" dirty="0"/>
          </a:p>
        </p:txBody>
      </p:sp>
      <p:sp>
        <p:nvSpPr>
          <p:cNvPr id="3" name="Segnaposto contenuto 2">
            <a:extLst>
              <a:ext uri="{FF2B5EF4-FFF2-40B4-BE49-F238E27FC236}">
                <a16:creationId xmlns:a16="http://schemas.microsoft.com/office/drawing/2014/main" id="{6C1D07FB-D04D-BBA0-6A07-ADE183374612}"/>
              </a:ext>
            </a:extLst>
          </p:cNvPr>
          <p:cNvSpPr>
            <a:spLocks noGrp="1"/>
          </p:cNvSpPr>
          <p:nvPr>
            <p:ph idx="1"/>
          </p:nvPr>
        </p:nvSpPr>
        <p:spPr/>
        <p:txBody>
          <a:bodyPr/>
          <a:lstStyle/>
          <a:p>
            <a:r>
              <a:rPr lang="it-IT" dirty="0" err="1"/>
              <a:t>Tanenbaum</a:t>
            </a:r>
            <a:r>
              <a:rPr lang="it-IT" dirty="0"/>
              <a:t>, </a:t>
            </a:r>
            <a:r>
              <a:rPr lang="it-IT" dirty="0" err="1"/>
              <a:t>Wetherall</a:t>
            </a:r>
            <a:r>
              <a:rPr lang="it-IT" dirty="0"/>
              <a:t> – Computer Networks – Fifth Edition</a:t>
            </a:r>
          </a:p>
          <a:p>
            <a:pPr lvl="1"/>
            <a:r>
              <a:rPr lang="it-IT" dirty="0" err="1"/>
              <a:t>Chapter</a:t>
            </a:r>
            <a:r>
              <a:rPr lang="it-IT" dirty="0"/>
              <a:t> 1 – </a:t>
            </a:r>
            <a:r>
              <a:rPr lang="it-IT" dirty="0" err="1"/>
              <a:t>Introduction</a:t>
            </a:r>
            <a:endParaRPr lang="it-IT" dirty="0"/>
          </a:p>
          <a:p>
            <a:pPr lvl="1"/>
            <a:r>
              <a:rPr lang="it-IT" dirty="0" err="1"/>
              <a:t>Chapter</a:t>
            </a:r>
            <a:r>
              <a:rPr lang="it-IT" dirty="0"/>
              <a:t> 7 – The </a:t>
            </a:r>
            <a:r>
              <a:rPr lang="it-IT" dirty="0" err="1"/>
              <a:t>application</a:t>
            </a:r>
            <a:r>
              <a:rPr lang="it-IT" dirty="0"/>
              <a:t> </a:t>
            </a:r>
            <a:r>
              <a:rPr lang="it-IT" dirty="0" err="1"/>
              <a:t>layer</a:t>
            </a:r>
            <a:r>
              <a:rPr lang="it-IT" dirty="0"/>
              <a:t> </a:t>
            </a:r>
          </a:p>
          <a:p>
            <a:pPr lvl="1"/>
            <a:endParaRPr lang="it-IT" dirty="0"/>
          </a:p>
          <a:p>
            <a:r>
              <a:rPr lang="it-IT" dirty="0"/>
              <a:t>POSTMAN: </a:t>
            </a:r>
            <a:r>
              <a:rPr lang="it-IT" dirty="0">
                <a:solidFill>
                  <a:srgbClr val="C00000"/>
                </a:solidFill>
              </a:rPr>
              <a:t>https://</a:t>
            </a:r>
            <a:r>
              <a:rPr lang="it-IT" dirty="0" err="1">
                <a:solidFill>
                  <a:srgbClr val="C00000"/>
                </a:solidFill>
              </a:rPr>
              <a:t>www.postman.com</a:t>
            </a:r>
            <a:r>
              <a:rPr lang="it-IT" dirty="0">
                <a:solidFill>
                  <a:srgbClr val="C00000"/>
                </a:solidFill>
              </a:rPr>
              <a:t> </a:t>
            </a:r>
          </a:p>
        </p:txBody>
      </p:sp>
      <p:sp>
        <p:nvSpPr>
          <p:cNvPr id="4" name="Segnaposto numero diapositiva 3">
            <a:extLst>
              <a:ext uri="{FF2B5EF4-FFF2-40B4-BE49-F238E27FC236}">
                <a16:creationId xmlns:a16="http://schemas.microsoft.com/office/drawing/2014/main" id="{D834FA17-4C0A-0A4C-E1C2-7E54E83EEA68}"/>
              </a:ext>
            </a:extLst>
          </p:cNvPr>
          <p:cNvSpPr>
            <a:spLocks noGrp="1"/>
          </p:cNvSpPr>
          <p:nvPr>
            <p:ph type="sldNum" sz="quarter" idx="12"/>
          </p:nvPr>
        </p:nvSpPr>
        <p:spPr/>
        <p:txBody>
          <a:bodyPr/>
          <a:lstStyle/>
          <a:p>
            <a:fld id="{31DE2C5B-556E-47B8-A792-024C2FCA4ACC}" type="slidenum">
              <a:rPr lang="en-GB" smtClean="0"/>
              <a:t>47</a:t>
            </a:fld>
            <a:endParaRPr lang="en-GB"/>
          </a:p>
        </p:txBody>
      </p:sp>
    </p:spTree>
    <p:extLst>
      <p:ext uri="{BB962C8B-B14F-4D97-AF65-F5344CB8AC3E}">
        <p14:creationId xmlns:p14="http://schemas.microsoft.com/office/powerpoint/2010/main" val="1110314294"/>
      </p:ext>
    </p:extLst>
  </p:cSld>
  <p:clrMapOvr>
    <a:masterClrMapping/>
  </p:clrMapOvr>
</p:sld>
</file>

<file path=ppt/theme/theme1.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597</TotalTime>
  <Words>3871</Words>
  <Application>Microsoft Macintosh PowerPoint</Application>
  <PresentationFormat>Widescreen</PresentationFormat>
  <Paragraphs>545</Paragraphs>
  <Slides>47</Slides>
  <Notes>16</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47</vt:i4>
      </vt:variant>
    </vt:vector>
  </HeadingPairs>
  <TitlesOfParts>
    <vt:vector size="54" baseType="lpstr">
      <vt:lpstr>Aptos</vt:lpstr>
      <vt:lpstr>Arial</vt:lpstr>
      <vt:lpstr>Calibri</vt:lpstr>
      <vt:lpstr>Courier New</vt:lpstr>
      <vt:lpstr>Times New Roman</vt:lpstr>
      <vt:lpstr>Wingdings</vt:lpstr>
      <vt:lpstr>Tema di Office</vt:lpstr>
      <vt:lpstr>PowerPoint Presentation</vt:lpstr>
      <vt:lpstr>Computer networks</vt:lpstr>
      <vt:lpstr>Client-server model</vt:lpstr>
      <vt:lpstr>Network software: protocol hierarchies</vt:lpstr>
      <vt:lpstr>Network software: protocol hierarchies</vt:lpstr>
      <vt:lpstr>Network software: protocol hierarchies</vt:lpstr>
      <vt:lpstr>Example of network architecture</vt:lpstr>
      <vt:lpstr>Services and primitives</vt:lpstr>
      <vt:lpstr>Connection-oriented vs connectionless services</vt:lpstr>
      <vt:lpstr>Reliable vs. unrealiable services</vt:lpstr>
      <vt:lpstr>Protocol vs. service</vt:lpstr>
      <vt:lpstr>The TCP/IP reference model</vt:lpstr>
      <vt:lpstr>The TCP/IP reference model</vt:lpstr>
      <vt:lpstr>The TCP/IP reference model</vt:lpstr>
      <vt:lpstr>The TCP/IP reference model</vt:lpstr>
      <vt:lpstr>The TCP/IP reference model</vt:lpstr>
      <vt:lpstr>The TCP/IP reference model</vt:lpstr>
      <vt:lpstr>The HyperText Transfer Protocol (HTTP)</vt:lpstr>
      <vt:lpstr>Request structure (HTTP/1.1)</vt:lpstr>
      <vt:lpstr>HTTP methods</vt:lpstr>
      <vt:lpstr>Examples of request headers</vt:lpstr>
      <vt:lpstr>(Other) Examples of request headers</vt:lpstr>
      <vt:lpstr>Response structure (HTTP/1.1)</vt:lpstr>
      <vt:lpstr>Examples of response headers</vt:lpstr>
      <vt:lpstr>(Other) Examples of response headers</vt:lpstr>
      <vt:lpstr>GET</vt:lpstr>
      <vt:lpstr>POST</vt:lpstr>
      <vt:lpstr>Other important methods</vt:lpstr>
      <vt:lpstr>POST vs PUT vs PATCH</vt:lpstr>
      <vt:lpstr>Other (less) important methods</vt:lpstr>
      <vt:lpstr>Properties of the HTTP methods</vt:lpstr>
      <vt:lpstr>Summary of properties of the HTTP methods</vt:lpstr>
      <vt:lpstr>Example: inspecting the HTTP requests in Chrome</vt:lpstr>
      <vt:lpstr>Web application</vt:lpstr>
      <vt:lpstr>Example of a Web application architecture</vt:lpstr>
      <vt:lpstr>Structured data formats</vt:lpstr>
      <vt:lpstr>Extensible Markup Language (XML)</vt:lpstr>
      <vt:lpstr>JavaScript Object Notation (JSON)</vt:lpstr>
      <vt:lpstr>JSON data structures</vt:lpstr>
      <vt:lpstr>Why JSON are important here? What we need?</vt:lpstr>
      <vt:lpstr>POSTMAN</vt:lpstr>
      <vt:lpstr>Hello IMPACT</vt:lpstr>
      <vt:lpstr>Hello IMPACT </vt:lpstr>
      <vt:lpstr>Hello IMPACT </vt:lpstr>
      <vt:lpstr>Hello IMPACT </vt:lpstr>
      <vt:lpstr>Hello IMPACT </vt:lpstr>
      <vt:lpstr>References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Presentazione standard di PowerPoint</dc:title>
  <dc:creator>Martina</dc:creator>
  <cp:lastModifiedBy>Giacomo Cappon</cp:lastModifiedBy>
  <cp:revision>329</cp:revision>
  <cp:lastPrinted>2026-02-10T15:36:02Z</cp:lastPrinted>
  <dcterms:created xsi:type="dcterms:W3CDTF">2021-07-19T09:08:13Z</dcterms:created>
  <dcterms:modified xsi:type="dcterms:W3CDTF">2026-02-19T10:34:15Z</dcterms:modified>
</cp:coreProperties>
</file>