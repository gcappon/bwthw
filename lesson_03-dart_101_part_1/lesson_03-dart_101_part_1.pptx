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9" r:id="rId2"/>
    <p:sldId id="370" r:id="rId3"/>
    <p:sldId id="288" r:id="rId4"/>
    <p:sldId id="304" r:id="rId5"/>
    <p:sldId id="305" r:id="rId6"/>
    <p:sldId id="306" r:id="rId7"/>
    <p:sldId id="345" r:id="rId8"/>
    <p:sldId id="307" r:id="rId9"/>
    <p:sldId id="346" r:id="rId10"/>
    <p:sldId id="309" r:id="rId11"/>
    <p:sldId id="347" r:id="rId12"/>
    <p:sldId id="310" r:id="rId13"/>
    <p:sldId id="311" r:id="rId14"/>
    <p:sldId id="313" r:id="rId15"/>
    <p:sldId id="314" r:id="rId16"/>
    <p:sldId id="315" r:id="rId17"/>
    <p:sldId id="316" r:id="rId18"/>
    <p:sldId id="371" r:id="rId19"/>
    <p:sldId id="317" r:id="rId20"/>
    <p:sldId id="348" r:id="rId21"/>
    <p:sldId id="318" r:id="rId22"/>
    <p:sldId id="319" r:id="rId23"/>
    <p:sldId id="320" r:id="rId24"/>
    <p:sldId id="321" r:id="rId25"/>
    <p:sldId id="322" r:id="rId26"/>
    <p:sldId id="355" r:id="rId27"/>
    <p:sldId id="323" r:id="rId28"/>
    <p:sldId id="325" r:id="rId29"/>
    <p:sldId id="326" r:id="rId30"/>
    <p:sldId id="327" r:id="rId31"/>
    <p:sldId id="328" r:id="rId32"/>
    <p:sldId id="329" r:id="rId33"/>
    <p:sldId id="354" r:id="rId34"/>
    <p:sldId id="330" r:id="rId35"/>
    <p:sldId id="332" r:id="rId36"/>
    <p:sldId id="333" r:id="rId37"/>
    <p:sldId id="334" r:id="rId38"/>
    <p:sldId id="335" r:id="rId39"/>
    <p:sldId id="338" r:id="rId40"/>
    <p:sldId id="339" r:id="rId41"/>
    <p:sldId id="337" r:id="rId42"/>
    <p:sldId id="340" r:id="rId43"/>
    <p:sldId id="351" r:id="rId44"/>
    <p:sldId id="303" r:id="rId45"/>
    <p:sldId id="342" r:id="rId46"/>
    <p:sldId id="343" r:id="rId47"/>
    <p:sldId id="352" r:id="rId48"/>
    <p:sldId id="341" r:id="rId49"/>
    <p:sldId id="353" r:id="rId50"/>
    <p:sldId id="312"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06" autoAdjust="0"/>
    <p:restoredTop sz="86531"/>
  </p:normalViewPr>
  <p:slideViewPr>
    <p:cSldViewPr snapToGrid="0">
      <p:cViewPr varScale="1">
        <p:scale>
          <a:sx n="110" d="100"/>
          <a:sy n="110" d="100"/>
        </p:scale>
        <p:origin x="1816" y="17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C4B3FE-0320-8142-8396-5C3025C019EC}" type="datetimeFigureOut">
              <a:rPr lang="en-IT" smtClean="0"/>
              <a:t>2/19/26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F43FB-3F33-3F4B-9768-2FBED988F992}" type="slidenum">
              <a:rPr lang="en-IT" smtClean="0"/>
              <a:t>‹#›</a:t>
            </a:fld>
            <a:endParaRPr lang="en-IT"/>
          </a:p>
        </p:txBody>
      </p:sp>
    </p:spTree>
    <p:extLst>
      <p:ext uri="{BB962C8B-B14F-4D97-AF65-F5344CB8AC3E}">
        <p14:creationId xmlns:p14="http://schemas.microsoft.com/office/powerpoint/2010/main" val="92949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a:t>
            </a:fld>
            <a:endParaRPr lang="en-IT"/>
          </a:p>
        </p:txBody>
      </p:sp>
    </p:spTree>
    <p:extLst>
      <p:ext uri="{BB962C8B-B14F-4D97-AF65-F5344CB8AC3E}">
        <p14:creationId xmlns:p14="http://schemas.microsoft.com/office/powerpoint/2010/main" val="3010581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a:t>
            </a:fld>
            <a:endParaRPr lang="en-IT"/>
          </a:p>
        </p:txBody>
      </p:sp>
    </p:spTree>
    <p:extLst>
      <p:ext uri="{BB962C8B-B14F-4D97-AF65-F5344CB8AC3E}">
        <p14:creationId xmlns:p14="http://schemas.microsoft.com/office/powerpoint/2010/main" val="3941390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a:t>
            </a:fld>
            <a:endParaRPr lang="en-IT"/>
          </a:p>
        </p:txBody>
      </p:sp>
    </p:spTree>
    <p:extLst>
      <p:ext uri="{BB962C8B-B14F-4D97-AF65-F5344CB8AC3E}">
        <p14:creationId xmlns:p14="http://schemas.microsoft.com/office/powerpoint/2010/main" val="548012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a:t>
            </a:fld>
            <a:endParaRPr lang="en-IT"/>
          </a:p>
        </p:txBody>
      </p:sp>
    </p:spTree>
    <p:extLst>
      <p:ext uri="{BB962C8B-B14F-4D97-AF65-F5344CB8AC3E}">
        <p14:creationId xmlns:p14="http://schemas.microsoft.com/office/powerpoint/2010/main" val="1490808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6</a:t>
            </a:fld>
            <a:endParaRPr lang="en-IT"/>
          </a:p>
        </p:txBody>
      </p:sp>
    </p:spTree>
    <p:extLst>
      <p:ext uri="{BB962C8B-B14F-4D97-AF65-F5344CB8AC3E}">
        <p14:creationId xmlns:p14="http://schemas.microsoft.com/office/powerpoint/2010/main" val="2500961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8</a:t>
            </a:fld>
            <a:endParaRPr lang="en-IT"/>
          </a:p>
        </p:txBody>
      </p:sp>
    </p:spTree>
    <p:extLst>
      <p:ext uri="{BB962C8B-B14F-4D97-AF65-F5344CB8AC3E}">
        <p14:creationId xmlns:p14="http://schemas.microsoft.com/office/powerpoint/2010/main" val="2224677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10</a:t>
            </a:fld>
            <a:endParaRPr lang="en-IT"/>
          </a:p>
        </p:txBody>
      </p:sp>
    </p:spTree>
    <p:extLst>
      <p:ext uri="{BB962C8B-B14F-4D97-AF65-F5344CB8AC3E}">
        <p14:creationId xmlns:p14="http://schemas.microsoft.com/office/powerpoint/2010/main" val="4155492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12</a:t>
            </a:fld>
            <a:endParaRPr lang="en-IT"/>
          </a:p>
        </p:txBody>
      </p:sp>
    </p:spTree>
    <p:extLst>
      <p:ext uri="{BB962C8B-B14F-4D97-AF65-F5344CB8AC3E}">
        <p14:creationId xmlns:p14="http://schemas.microsoft.com/office/powerpoint/2010/main" val="3941701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13</a:t>
            </a:fld>
            <a:endParaRPr lang="en-IT"/>
          </a:p>
        </p:txBody>
      </p:sp>
    </p:spTree>
    <p:extLst>
      <p:ext uri="{BB962C8B-B14F-4D97-AF65-F5344CB8AC3E}">
        <p14:creationId xmlns:p14="http://schemas.microsoft.com/office/powerpoint/2010/main" val="1418254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14</a:t>
            </a:fld>
            <a:endParaRPr lang="en-IT"/>
          </a:p>
        </p:txBody>
      </p:sp>
    </p:spTree>
    <p:extLst>
      <p:ext uri="{BB962C8B-B14F-4D97-AF65-F5344CB8AC3E}">
        <p14:creationId xmlns:p14="http://schemas.microsoft.com/office/powerpoint/2010/main" val="1899213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15</a:t>
            </a:fld>
            <a:endParaRPr lang="en-IT"/>
          </a:p>
        </p:txBody>
      </p:sp>
    </p:spTree>
    <p:extLst>
      <p:ext uri="{BB962C8B-B14F-4D97-AF65-F5344CB8AC3E}">
        <p14:creationId xmlns:p14="http://schemas.microsoft.com/office/powerpoint/2010/main" val="1618822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16</a:t>
            </a:fld>
            <a:endParaRPr lang="en-IT"/>
          </a:p>
        </p:txBody>
      </p:sp>
    </p:spTree>
    <p:extLst>
      <p:ext uri="{BB962C8B-B14F-4D97-AF65-F5344CB8AC3E}">
        <p14:creationId xmlns:p14="http://schemas.microsoft.com/office/powerpoint/2010/main" val="841918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17</a:t>
            </a:fld>
            <a:endParaRPr lang="en-IT"/>
          </a:p>
        </p:txBody>
      </p:sp>
    </p:spTree>
    <p:extLst>
      <p:ext uri="{BB962C8B-B14F-4D97-AF65-F5344CB8AC3E}">
        <p14:creationId xmlns:p14="http://schemas.microsoft.com/office/powerpoint/2010/main" val="3622407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18</a:t>
            </a:fld>
            <a:endParaRPr lang="en-IT"/>
          </a:p>
        </p:txBody>
      </p:sp>
    </p:spTree>
    <p:extLst>
      <p:ext uri="{BB962C8B-B14F-4D97-AF65-F5344CB8AC3E}">
        <p14:creationId xmlns:p14="http://schemas.microsoft.com/office/powerpoint/2010/main" val="290875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19</a:t>
            </a:fld>
            <a:endParaRPr lang="en-IT"/>
          </a:p>
        </p:txBody>
      </p:sp>
    </p:spTree>
    <p:extLst>
      <p:ext uri="{BB962C8B-B14F-4D97-AF65-F5344CB8AC3E}">
        <p14:creationId xmlns:p14="http://schemas.microsoft.com/office/powerpoint/2010/main" val="1085865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21</a:t>
            </a:fld>
            <a:endParaRPr lang="en-IT"/>
          </a:p>
        </p:txBody>
      </p:sp>
    </p:spTree>
    <p:extLst>
      <p:ext uri="{BB962C8B-B14F-4D97-AF65-F5344CB8AC3E}">
        <p14:creationId xmlns:p14="http://schemas.microsoft.com/office/powerpoint/2010/main" val="2312799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22</a:t>
            </a:fld>
            <a:endParaRPr lang="en-IT"/>
          </a:p>
        </p:txBody>
      </p:sp>
    </p:spTree>
    <p:extLst>
      <p:ext uri="{BB962C8B-B14F-4D97-AF65-F5344CB8AC3E}">
        <p14:creationId xmlns:p14="http://schemas.microsoft.com/office/powerpoint/2010/main" val="4213976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23</a:t>
            </a:fld>
            <a:endParaRPr lang="en-IT"/>
          </a:p>
        </p:txBody>
      </p:sp>
    </p:spTree>
    <p:extLst>
      <p:ext uri="{BB962C8B-B14F-4D97-AF65-F5344CB8AC3E}">
        <p14:creationId xmlns:p14="http://schemas.microsoft.com/office/powerpoint/2010/main" val="3997117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24</a:t>
            </a:fld>
            <a:endParaRPr lang="en-IT"/>
          </a:p>
        </p:txBody>
      </p:sp>
    </p:spTree>
    <p:extLst>
      <p:ext uri="{BB962C8B-B14F-4D97-AF65-F5344CB8AC3E}">
        <p14:creationId xmlns:p14="http://schemas.microsoft.com/office/powerpoint/2010/main" val="35196994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25</a:t>
            </a:fld>
            <a:endParaRPr lang="en-IT"/>
          </a:p>
        </p:txBody>
      </p:sp>
    </p:spTree>
    <p:extLst>
      <p:ext uri="{BB962C8B-B14F-4D97-AF65-F5344CB8AC3E}">
        <p14:creationId xmlns:p14="http://schemas.microsoft.com/office/powerpoint/2010/main" val="1796680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27</a:t>
            </a:fld>
            <a:endParaRPr lang="en-IT"/>
          </a:p>
        </p:txBody>
      </p:sp>
    </p:spTree>
    <p:extLst>
      <p:ext uri="{BB962C8B-B14F-4D97-AF65-F5344CB8AC3E}">
        <p14:creationId xmlns:p14="http://schemas.microsoft.com/office/powerpoint/2010/main" val="3394443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28</a:t>
            </a:fld>
            <a:endParaRPr lang="en-IT"/>
          </a:p>
        </p:txBody>
      </p:sp>
    </p:spTree>
    <p:extLst>
      <p:ext uri="{BB962C8B-B14F-4D97-AF65-F5344CB8AC3E}">
        <p14:creationId xmlns:p14="http://schemas.microsoft.com/office/powerpoint/2010/main" val="32044438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29</a:t>
            </a:fld>
            <a:endParaRPr lang="en-IT"/>
          </a:p>
        </p:txBody>
      </p:sp>
    </p:spTree>
    <p:extLst>
      <p:ext uri="{BB962C8B-B14F-4D97-AF65-F5344CB8AC3E}">
        <p14:creationId xmlns:p14="http://schemas.microsoft.com/office/powerpoint/2010/main" val="486172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30</a:t>
            </a:fld>
            <a:endParaRPr lang="en-IT"/>
          </a:p>
        </p:txBody>
      </p:sp>
    </p:spTree>
    <p:extLst>
      <p:ext uri="{BB962C8B-B14F-4D97-AF65-F5344CB8AC3E}">
        <p14:creationId xmlns:p14="http://schemas.microsoft.com/office/powerpoint/2010/main" val="4276526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31</a:t>
            </a:fld>
            <a:endParaRPr lang="en-IT"/>
          </a:p>
        </p:txBody>
      </p:sp>
    </p:spTree>
    <p:extLst>
      <p:ext uri="{BB962C8B-B14F-4D97-AF65-F5344CB8AC3E}">
        <p14:creationId xmlns:p14="http://schemas.microsoft.com/office/powerpoint/2010/main" val="2276426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32</a:t>
            </a:fld>
            <a:endParaRPr lang="en-IT"/>
          </a:p>
        </p:txBody>
      </p:sp>
    </p:spTree>
    <p:extLst>
      <p:ext uri="{BB962C8B-B14F-4D97-AF65-F5344CB8AC3E}">
        <p14:creationId xmlns:p14="http://schemas.microsoft.com/office/powerpoint/2010/main" val="934996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34</a:t>
            </a:fld>
            <a:endParaRPr lang="en-IT"/>
          </a:p>
        </p:txBody>
      </p:sp>
    </p:spTree>
    <p:extLst>
      <p:ext uri="{BB962C8B-B14F-4D97-AF65-F5344CB8AC3E}">
        <p14:creationId xmlns:p14="http://schemas.microsoft.com/office/powerpoint/2010/main" val="14020293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35</a:t>
            </a:fld>
            <a:endParaRPr lang="en-IT"/>
          </a:p>
        </p:txBody>
      </p:sp>
    </p:spTree>
    <p:extLst>
      <p:ext uri="{BB962C8B-B14F-4D97-AF65-F5344CB8AC3E}">
        <p14:creationId xmlns:p14="http://schemas.microsoft.com/office/powerpoint/2010/main" val="32484880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36</a:t>
            </a:fld>
            <a:endParaRPr lang="en-IT"/>
          </a:p>
        </p:txBody>
      </p:sp>
    </p:spTree>
    <p:extLst>
      <p:ext uri="{BB962C8B-B14F-4D97-AF65-F5344CB8AC3E}">
        <p14:creationId xmlns:p14="http://schemas.microsoft.com/office/powerpoint/2010/main" val="35763105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37</a:t>
            </a:fld>
            <a:endParaRPr lang="en-IT"/>
          </a:p>
        </p:txBody>
      </p:sp>
    </p:spTree>
    <p:extLst>
      <p:ext uri="{BB962C8B-B14F-4D97-AF65-F5344CB8AC3E}">
        <p14:creationId xmlns:p14="http://schemas.microsoft.com/office/powerpoint/2010/main" val="32599326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38</a:t>
            </a:fld>
            <a:endParaRPr lang="en-IT"/>
          </a:p>
        </p:txBody>
      </p:sp>
    </p:spTree>
    <p:extLst>
      <p:ext uri="{BB962C8B-B14F-4D97-AF65-F5344CB8AC3E}">
        <p14:creationId xmlns:p14="http://schemas.microsoft.com/office/powerpoint/2010/main" val="40363116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39</a:t>
            </a:fld>
            <a:endParaRPr lang="en-IT"/>
          </a:p>
        </p:txBody>
      </p:sp>
    </p:spTree>
    <p:extLst>
      <p:ext uri="{BB962C8B-B14F-4D97-AF65-F5344CB8AC3E}">
        <p14:creationId xmlns:p14="http://schemas.microsoft.com/office/powerpoint/2010/main" val="25527226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40</a:t>
            </a:fld>
            <a:endParaRPr lang="en-IT"/>
          </a:p>
        </p:txBody>
      </p:sp>
    </p:spTree>
    <p:extLst>
      <p:ext uri="{BB962C8B-B14F-4D97-AF65-F5344CB8AC3E}">
        <p14:creationId xmlns:p14="http://schemas.microsoft.com/office/powerpoint/2010/main" val="35732914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41</a:t>
            </a:fld>
            <a:endParaRPr lang="en-IT"/>
          </a:p>
        </p:txBody>
      </p:sp>
    </p:spTree>
    <p:extLst>
      <p:ext uri="{BB962C8B-B14F-4D97-AF65-F5344CB8AC3E}">
        <p14:creationId xmlns:p14="http://schemas.microsoft.com/office/powerpoint/2010/main" val="1386581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42</a:t>
            </a:fld>
            <a:endParaRPr lang="en-IT"/>
          </a:p>
        </p:txBody>
      </p:sp>
    </p:spTree>
    <p:extLst>
      <p:ext uri="{BB962C8B-B14F-4D97-AF65-F5344CB8AC3E}">
        <p14:creationId xmlns:p14="http://schemas.microsoft.com/office/powerpoint/2010/main" val="2737440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62399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
        <p:nvSpPr>
          <p:cNvPr id="2" name="Title 1">
            <a:extLst>
              <a:ext uri="{FF2B5EF4-FFF2-40B4-BE49-F238E27FC236}">
                <a16:creationId xmlns:a16="http://schemas.microsoft.com/office/drawing/2014/main" id="{E296487F-10E0-114E-8185-2B9A87D777D9}"/>
              </a:ext>
            </a:extLst>
          </p:cNvPr>
          <p:cNvSpPr>
            <a:spLocks noGrp="1"/>
          </p:cNvSpPr>
          <p:nvPr>
            <p:ph type="title" hasCustomPrompt="1"/>
          </p:nvPr>
        </p:nvSpPr>
        <p:spPr>
          <a:xfrm>
            <a:off x="3957534" y="4986716"/>
            <a:ext cx="4393045" cy="919388"/>
          </a:xfrm>
        </p:spPr>
        <p:txBody>
          <a:bodyPr>
            <a:normAutofit/>
          </a:bodyPr>
          <a:lstStyle>
            <a:lvl1pPr>
              <a:defRPr sz="3200">
                <a:latin typeface="Aptos" panose="020B0004020202020204" pitchFamily="34" charset="0"/>
              </a:defRPr>
            </a:lvl1pPr>
          </a:lstStyle>
          <a:p>
            <a:r>
              <a:rPr lang="en-IT" dirty="0"/>
              <a:t>Name Surname</a:t>
            </a:r>
          </a:p>
        </p:txBody>
      </p:sp>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ft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dart.dev/guides/language/language-tour" TargetMode="External"/><Relationship Id="rId2" Type="http://schemas.openxmlformats.org/officeDocument/2006/relationships/hyperlink" Target="https://github.com/gcappon/bwthw/tree/master/lesson_03-dart_101_part_1" TargetMode="External"/><Relationship Id="rId1" Type="http://schemas.openxmlformats.org/officeDocument/2006/relationships/slideLayout" Target="../slideLayouts/slideLayout1.xml"/><Relationship Id="rId4" Type="http://schemas.openxmlformats.org/officeDocument/2006/relationships/hyperlink" Target="https://dart.dev/samp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7E0323C-B2D5-E147-A405-326B19A39E7A}"/>
              </a:ext>
            </a:extLst>
          </p:cNvPr>
          <p:cNvSpPr>
            <a:spLocks noGrp="1"/>
          </p:cNvSpPr>
          <p:nvPr>
            <p:ph type="subTitle" idx="1"/>
          </p:nvPr>
        </p:nvSpPr>
        <p:spPr/>
        <p:txBody>
          <a:bodyPr/>
          <a:lstStyle/>
          <a:p>
            <a:r>
              <a:rPr lang="en-IT" dirty="0"/>
              <a:t>Dart 101 – Part 1</a:t>
            </a:r>
          </a:p>
        </p:txBody>
      </p:sp>
      <p:sp>
        <p:nvSpPr>
          <p:cNvPr id="3" name="Title 2">
            <a:extLst>
              <a:ext uri="{FF2B5EF4-FFF2-40B4-BE49-F238E27FC236}">
                <a16:creationId xmlns:a16="http://schemas.microsoft.com/office/drawing/2014/main" id="{7EB437F2-B298-5D42-A17B-E5DDC218403A}"/>
              </a:ext>
            </a:extLst>
          </p:cNvPr>
          <p:cNvSpPr>
            <a:spLocks noGrp="1"/>
          </p:cNvSpPr>
          <p:nvPr>
            <p:ph type="title"/>
          </p:nvPr>
        </p:nvSpPr>
        <p:spPr/>
        <p:txBody>
          <a:bodyPr/>
          <a:lstStyle/>
          <a:p>
            <a:r>
              <a:rPr lang="en-IT"/>
              <a:t>Giacomo Cappon</a:t>
            </a:r>
            <a:endParaRPr lang="en-IT" dirty="0"/>
          </a:p>
        </p:txBody>
      </p:sp>
    </p:spTree>
    <p:extLst>
      <p:ext uri="{BB962C8B-B14F-4D97-AF65-F5344CB8AC3E}">
        <p14:creationId xmlns:p14="http://schemas.microsoft.com/office/powerpoint/2010/main" val="1184054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b="1" dirty="0"/>
              <a:t>Dart &amp; Hello, world!</a:t>
            </a:r>
          </a:p>
          <a:p>
            <a:r>
              <a:rPr lang="en-IT" dirty="0">
                <a:solidFill>
                  <a:schemeClr val="bg1">
                    <a:lumMod val="75000"/>
                  </a:schemeClr>
                </a:solidFill>
              </a:rPr>
              <a:t>Variables</a:t>
            </a:r>
          </a:p>
          <a:p>
            <a:r>
              <a:rPr lang="en-IT" dirty="0">
                <a:solidFill>
                  <a:schemeClr val="bg1">
                    <a:lumMod val="75000"/>
                  </a:schemeClr>
                </a:solidFill>
              </a:rPr>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2D27B8B9-D4F5-7745-B179-D7C2ECF10E9F}"/>
              </a:ext>
            </a:extLst>
          </p:cNvPr>
          <p:cNvSpPr>
            <a:spLocks noGrp="1"/>
          </p:cNvSpPr>
          <p:nvPr>
            <p:ph type="sldNum" sz="quarter" idx="12"/>
          </p:nvPr>
        </p:nvSpPr>
        <p:spPr/>
        <p:txBody>
          <a:bodyPr/>
          <a:lstStyle/>
          <a:p>
            <a:fld id="{31DE2C5B-556E-47B8-A792-024C2FCA4ACC}" type="slidenum">
              <a:rPr lang="en-GB" smtClean="0"/>
              <a:t>2</a:t>
            </a:fld>
            <a:endParaRPr lang="en-GB"/>
          </a:p>
        </p:txBody>
      </p:sp>
    </p:spTree>
    <p:extLst>
      <p:ext uri="{BB962C8B-B14F-4D97-AF65-F5344CB8AC3E}">
        <p14:creationId xmlns:p14="http://schemas.microsoft.com/office/powerpoint/2010/main" val="4173773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Dart</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101679" cy="5334907"/>
          </a:xfrm>
        </p:spPr>
        <p:txBody>
          <a:bodyPr>
            <a:normAutofit/>
          </a:bodyPr>
          <a:lstStyle/>
          <a:p>
            <a:r>
              <a:rPr lang="en-IT" dirty="0"/>
              <a:t>What is Dart?</a:t>
            </a:r>
          </a:p>
          <a:p>
            <a:pPr lvl="1"/>
            <a:r>
              <a:rPr lang="en-IT" dirty="0"/>
              <a:t>Dart is a object-oriented, open source language</a:t>
            </a:r>
          </a:p>
          <a:p>
            <a:pPr lvl="1"/>
            <a:r>
              <a:rPr lang="en-IT" dirty="0"/>
              <a:t>It is pretty new (2011)</a:t>
            </a:r>
          </a:p>
          <a:p>
            <a:pPr lvl="1"/>
            <a:r>
              <a:rPr lang="en-IT" dirty="0"/>
              <a:t>Cross-platform oriented</a:t>
            </a:r>
          </a:p>
          <a:p>
            <a:pPr marL="0" indent="0">
              <a:buNone/>
            </a:pPr>
            <a:endParaRPr lang="en-IT" dirty="0"/>
          </a:p>
          <a:p>
            <a:r>
              <a:rPr lang="en-IT" dirty="0"/>
              <a:t>Why this choice?</a:t>
            </a:r>
          </a:p>
          <a:p>
            <a:pPr lvl="1"/>
            <a:r>
              <a:rPr lang="en-IT" dirty="0"/>
              <a:t>State-of-the-art and Google-maintained</a:t>
            </a:r>
          </a:p>
          <a:p>
            <a:pPr lvl="1"/>
            <a:r>
              <a:rPr lang="en-IT" dirty="0"/>
              <a:t>Single codebase for iOS and Android (and Mac, Windows, Web)</a:t>
            </a:r>
          </a:p>
          <a:p>
            <a:pPr lvl="1"/>
            <a:r>
              <a:rPr lang="en-IT" dirty="0"/>
              <a:t>Relatively easy to learn</a:t>
            </a:r>
          </a:p>
          <a:p>
            <a:pPr lvl="1"/>
            <a:r>
              <a:rPr lang="en-IT" dirty="0"/>
              <a:t>Lots of examples</a:t>
            </a:r>
          </a:p>
          <a:p>
            <a:pPr lvl="1"/>
            <a:r>
              <a:rPr lang="en-IT" dirty="0"/>
              <a:t>Fastly growing job market</a:t>
            </a:r>
          </a:p>
          <a:p>
            <a:pPr lvl="1"/>
            <a:r>
              <a:rPr lang="en-IT" dirty="0"/>
              <a:t>Nice hot reload feature</a:t>
            </a:r>
          </a:p>
          <a:p>
            <a:endParaRPr lang="en-IT" dirty="0"/>
          </a:p>
        </p:txBody>
      </p:sp>
      <p:pic>
        <p:nvPicPr>
          <p:cNvPr id="7" name="Picture 6">
            <a:extLst>
              <a:ext uri="{FF2B5EF4-FFF2-40B4-BE49-F238E27FC236}">
                <a16:creationId xmlns:a16="http://schemas.microsoft.com/office/drawing/2014/main" id="{375A7340-CF7C-B343-814F-4F23BD78912E}"/>
              </a:ext>
            </a:extLst>
          </p:cNvPr>
          <p:cNvPicPr>
            <a:picLocks noChangeAspect="1"/>
          </p:cNvPicPr>
          <p:nvPr/>
        </p:nvPicPr>
        <p:blipFill>
          <a:blip r:embed="rId3"/>
          <a:stretch>
            <a:fillRect/>
          </a:stretch>
        </p:blipFill>
        <p:spPr>
          <a:xfrm>
            <a:off x="10030207" y="1554442"/>
            <a:ext cx="1266567" cy="1266567"/>
          </a:xfrm>
          <a:prstGeom prst="rect">
            <a:avLst/>
          </a:prstGeom>
        </p:spPr>
      </p:pic>
      <p:sp>
        <p:nvSpPr>
          <p:cNvPr id="4" name="Slide Number Placeholder 3">
            <a:extLst>
              <a:ext uri="{FF2B5EF4-FFF2-40B4-BE49-F238E27FC236}">
                <a16:creationId xmlns:a16="http://schemas.microsoft.com/office/drawing/2014/main" id="{8781255F-8B2C-9F49-BF4E-C33D297DED47}"/>
              </a:ext>
            </a:extLst>
          </p:cNvPr>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4011543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Hello, world!</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101679" cy="5334907"/>
          </a:xfrm>
        </p:spPr>
        <p:txBody>
          <a:bodyPr>
            <a:normAutofit lnSpcReduction="10000"/>
          </a:bodyPr>
          <a:lstStyle/>
          <a:p>
            <a:r>
              <a:rPr lang="en-IT" dirty="0"/>
              <a:t>Let’s start with the classic “Hello, world!” program.</a:t>
            </a:r>
          </a:p>
          <a:p>
            <a:endParaRPr lang="en-IT" dirty="0"/>
          </a:p>
          <a:p>
            <a:r>
              <a:rPr lang="en-IT" dirty="0"/>
              <a:t>Preliminary steps:</a:t>
            </a:r>
          </a:p>
          <a:p>
            <a:pPr lvl="1"/>
            <a:r>
              <a:rPr lang="en-IT" dirty="0"/>
              <a:t>Create a folder</a:t>
            </a:r>
          </a:p>
          <a:p>
            <a:pPr lvl="1"/>
            <a:r>
              <a:rPr lang="en-IT" dirty="0"/>
              <a:t>Open VS Code and navigate to that folder</a:t>
            </a:r>
          </a:p>
          <a:p>
            <a:pPr lvl="1"/>
            <a:r>
              <a:rPr lang="en-IT" dirty="0"/>
              <a:t>Create a new file called “01-hello_world.dart”</a:t>
            </a:r>
          </a:p>
          <a:p>
            <a:pPr lvl="1"/>
            <a:endParaRPr lang="en-IT" dirty="0"/>
          </a:p>
          <a:p>
            <a:r>
              <a:rPr lang="en-IT" dirty="0"/>
              <a:t>Write the snippet of code on the right</a:t>
            </a:r>
          </a:p>
          <a:p>
            <a:endParaRPr lang="en-IT" dirty="0"/>
          </a:p>
          <a:p>
            <a:r>
              <a:rPr lang="en-IT" dirty="0"/>
              <a:t>Run it!</a:t>
            </a:r>
          </a:p>
          <a:p>
            <a:pPr lvl="1"/>
            <a:r>
              <a:rPr lang="en-IT" dirty="0"/>
              <a:t>Option 1: Go to the upper menu and click the ”Run &gt; Start Debugging”</a:t>
            </a:r>
          </a:p>
          <a:p>
            <a:pPr lvl="1"/>
            <a:r>
              <a:rPr lang="en-IT" dirty="0"/>
              <a:t>Option 2: Open a terminal, cd to the folder</a:t>
            </a:r>
            <a:br>
              <a:rPr lang="en-IT" dirty="0"/>
            </a:br>
            <a:r>
              <a:rPr lang="en-IT" dirty="0"/>
              <a:t>containing “01-hello_world.dart”, and type</a:t>
            </a:r>
            <a:br>
              <a:rPr lang="en-IT" dirty="0"/>
            </a:br>
            <a:r>
              <a:rPr lang="en-IT" dirty="0">
                <a:latin typeface="Courier" pitchFamily="2" charset="0"/>
              </a:rPr>
              <a:t>dart 01-hello_world.dart </a:t>
            </a:r>
          </a:p>
        </p:txBody>
      </p:sp>
      <p:pic>
        <p:nvPicPr>
          <p:cNvPr id="5" name="Picture 4" descr="Graphical user interface, text, application&#10;&#10;Description automatically generated">
            <a:extLst>
              <a:ext uri="{FF2B5EF4-FFF2-40B4-BE49-F238E27FC236}">
                <a16:creationId xmlns:a16="http://schemas.microsoft.com/office/drawing/2014/main" id="{03150A16-3250-924A-BAC1-E6730D3ECA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5763" y="2395310"/>
            <a:ext cx="5178787" cy="2067380"/>
          </a:xfrm>
          <a:prstGeom prst="rect">
            <a:avLst/>
          </a:prstGeom>
        </p:spPr>
      </p:pic>
      <p:sp>
        <p:nvSpPr>
          <p:cNvPr id="4" name="Slide Number Placeholder 3">
            <a:extLst>
              <a:ext uri="{FF2B5EF4-FFF2-40B4-BE49-F238E27FC236}">
                <a16:creationId xmlns:a16="http://schemas.microsoft.com/office/drawing/2014/main" id="{455DAB93-AFC3-B14E-A0C4-4E8E1C670323}"/>
              </a:ext>
            </a:extLst>
          </p:cNvPr>
          <p:cNvSpPr>
            <a:spLocks noGrp="1"/>
          </p:cNvSpPr>
          <p:nvPr>
            <p:ph type="sldNum" sz="quarter" idx="12"/>
          </p:nvPr>
        </p:nvSpPr>
        <p:spPr/>
        <p:txBody>
          <a:bodyPr/>
          <a:lstStyle/>
          <a:p>
            <a:fld id="{31DE2C5B-556E-47B8-A792-024C2FCA4ACC}" type="slidenum">
              <a:rPr lang="en-GB" smtClean="0"/>
              <a:t>4</a:t>
            </a:fld>
            <a:endParaRPr lang="en-GB"/>
          </a:p>
        </p:txBody>
      </p:sp>
    </p:spTree>
    <p:extLst>
      <p:ext uri="{BB962C8B-B14F-4D97-AF65-F5344CB8AC3E}">
        <p14:creationId xmlns:p14="http://schemas.microsoft.com/office/powerpoint/2010/main" val="1194315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Hello, world!</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101679" cy="5334907"/>
          </a:xfrm>
        </p:spPr>
        <p:txBody>
          <a:bodyPr>
            <a:normAutofit/>
          </a:bodyPr>
          <a:lstStyle/>
          <a:p>
            <a:r>
              <a:rPr lang="en-IT" dirty="0">
                <a:ea typeface="Palatino" pitchFamily="2" charset="77"/>
              </a:rPr>
              <a:t>You will see something like</a:t>
            </a:r>
          </a:p>
          <a:p>
            <a:endParaRPr lang="en-IT" dirty="0">
              <a:ea typeface="Palatino" pitchFamily="2" charset="77"/>
            </a:endParaRPr>
          </a:p>
          <a:p>
            <a:r>
              <a:rPr lang="en-IT" dirty="0">
                <a:ea typeface="Palatino" pitchFamily="2" charset="77"/>
              </a:rPr>
              <a:t>Option 1:</a:t>
            </a:r>
          </a:p>
          <a:p>
            <a:endParaRPr lang="en-IT" dirty="0">
              <a:ea typeface="Palatino" pitchFamily="2" charset="77"/>
            </a:endParaRPr>
          </a:p>
          <a:p>
            <a:endParaRPr lang="en-IT" dirty="0">
              <a:ea typeface="Palatino" pitchFamily="2" charset="77"/>
            </a:endParaRPr>
          </a:p>
          <a:p>
            <a:endParaRPr lang="en-IT" dirty="0">
              <a:ea typeface="Palatino" pitchFamily="2" charset="77"/>
            </a:endParaRPr>
          </a:p>
          <a:p>
            <a:endParaRPr lang="en-IT" dirty="0">
              <a:ea typeface="Palatino" pitchFamily="2" charset="77"/>
            </a:endParaRPr>
          </a:p>
          <a:p>
            <a:r>
              <a:rPr lang="en-IT" dirty="0">
                <a:ea typeface="Palatino" pitchFamily="2" charset="77"/>
              </a:rPr>
              <a:t>Option 2:</a:t>
            </a:r>
          </a:p>
          <a:p>
            <a:endParaRPr lang="en-IT" dirty="0">
              <a:ea typeface="Palatino" pitchFamily="2" charset="77"/>
            </a:endParaRPr>
          </a:p>
        </p:txBody>
      </p:sp>
      <p:pic>
        <p:nvPicPr>
          <p:cNvPr id="10" name="Picture 9" descr="Graphical user interface, text, application&#10;&#10;Description automatically generated">
            <a:extLst>
              <a:ext uri="{FF2B5EF4-FFF2-40B4-BE49-F238E27FC236}">
                <a16:creationId xmlns:a16="http://schemas.microsoft.com/office/drawing/2014/main" id="{834D20E1-22DE-924D-81D3-71854B0C70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1695" y="2786088"/>
            <a:ext cx="5932055" cy="1400112"/>
          </a:xfrm>
          <a:prstGeom prst="rect">
            <a:avLst/>
          </a:prstGeom>
        </p:spPr>
      </p:pic>
      <p:pic>
        <p:nvPicPr>
          <p:cNvPr id="12" name="Picture 11" descr="Text&#10;&#10;Description automatically generated">
            <a:extLst>
              <a:ext uri="{FF2B5EF4-FFF2-40B4-BE49-F238E27FC236}">
                <a16:creationId xmlns:a16="http://schemas.microsoft.com/office/drawing/2014/main" id="{3C6A0571-DDA2-574B-BA22-FE842825C0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01695" y="4525198"/>
            <a:ext cx="4584700" cy="1397000"/>
          </a:xfrm>
          <a:prstGeom prst="rect">
            <a:avLst/>
          </a:prstGeom>
        </p:spPr>
      </p:pic>
      <p:sp>
        <p:nvSpPr>
          <p:cNvPr id="4" name="Slide Number Placeholder 3">
            <a:extLst>
              <a:ext uri="{FF2B5EF4-FFF2-40B4-BE49-F238E27FC236}">
                <a16:creationId xmlns:a16="http://schemas.microsoft.com/office/drawing/2014/main" id="{1573ADB8-3B0F-F84B-AA01-6DC29C0A6B64}"/>
              </a:ext>
            </a:extLst>
          </p:cNvPr>
          <p:cNvSpPr>
            <a:spLocks noGrp="1"/>
          </p:cNvSpPr>
          <p:nvPr>
            <p:ph type="sldNum" sz="quarter" idx="12"/>
          </p:nvPr>
        </p:nvSpPr>
        <p:spPr/>
        <p:txBody>
          <a:bodyPr/>
          <a:lstStyle/>
          <a:p>
            <a:fld id="{31DE2C5B-556E-47B8-A792-024C2FCA4ACC}" type="slidenum">
              <a:rPr lang="en-GB" smtClean="0"/>
              <a:t>5</a:t>
            </a:fld>
            <a:endParaRPr lang="en-GB"/>
          </a:p>
        </p:txBody>
      </p:sp>
    </p:spTree>
    <p:extLst>
      <p:ext uri="{BB962C8B-B14F-4D97-AF65-F5344CB8AC3E}">
        <p14:creationId xmlns:p14="http://schemas.microsoft.com/office/powerpoint/2010/main" val="2632617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Hello, world!</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312426" y="1214728"/>
            <a:ext cx="5949480" cy="5334907"/>
          </a:xfrm>
        </p:spPr>
        <p:txBody>
          <a:bodyPr>
            <a:normAutofit/>
          </a:bodyPr>
          <a:lstStyle/>
          <a:p>
            <a:r>
              <a:rPr lang="en-IT" dirty="0">
                <a:ea typeface="Palatino" pitchFamily="2" charset="77"/>
              </a:rPr>
              <a:t>Let’s break it down:</a:t>
            </a:r>
          </a:p>
          <a:p>
            <a:endParaRPr lang="en-IT" dirty="0">
              <a:ea typeface="Palatino" pitchFamily="2" charset="77"/>
            </a:endParaRPr>
          </a:p>
          <a:p>
            <a:pPr lvl="1"/>
            <a:r>
              <a:rPr lang="en-US" dirty="0">
                <a:latin typeface="Menlo" panose="020B0609030804020204" pitchFamily="49" charset="0"/>
                <a:ea typeface="Menlo" panose="020B0609030804020204" pitchFamily="49" charset="0"/>
                <a:cs typeface="Menlo" panose="020B0609030804020204" pitchFamily="49" charset="0"/>
              </a:rPr>
              <a:t>ma</a:t>
            </a:r>
            <a:r>
              <a:rPr lang="en-IT">
                <a:latin typeface="Menlo" panose="020B0609030804020204" pitchFamily="49" charset="0"/>
                <a:ea typeface="Menlo" panose="020B0609030804020204" pitchFamily="49" charset="0"/>
                <a:cs typeface="Menlo" panose="020B0609030804020204" pitchFamily="49" charset="0"/>
              </a:rPr>
              <a:t>in</a:t>
            </a:r>
            <a:r>
              <a:rPr lang="en-IT">
                <a:latin typeface="Courier" pitchFamily="2" charset="0"/>
                <a:ea typeface="Palatino" pitchFamily="2" charset="77"/>
              </a:rPr>
              <a:t> </a:t>
            </a:r>
            <a:r>
              <a:rPr lang="en-IT" dirty="0">
                <a:ea typeface="Palatino" pitchFamily="2" charset="77"/>
              </a:rPr>
              <a:t>is the starting point</a:t>
            </a:r>
          </a:p>
          <a:p>
            <a:pPr lvl="1"/>
            <a:endParaRPr lang="en-IT" dirty="0">
              <a:ea typeface="Palatino" pitchFamily="2" charset="77"/>
            </a:endParaRPr>
          </a:p>
          <a:p>
            <a:pPr lvl="1"/>
            <a:r>
              <a:rPr lang="en-US" dirty="0">
                <a:latin typeface="Menlo" panose="020B0609030804020204" pitchFamily="49" charset="0"/>
                <a:ea typeface="Menlo" panose="020B0609030804020204" pitchFamily="49" charset="0"/>
                <a:cs typeface="Menlo" panose="020B0609030804020204" pitchFamily="49" charset="0"/>
              </a:rPr>
              <a:t>ma</a:t>
            </a:r>
            <a:r>
              <a:rPr lang="en-IT">
                <a:latin typeface="Menlo" panose="020B0609030804020204" pitchFamily="49" charset="0"/>
                <a:ea typeface="Menlo" panose="020B0609030804020204" pitchFamily="49" charset="0"/>
                <a:cs typeface="Menlo" panose="020B0609030804020204" pitchFamily="49" charset="0"/>
              </a:rPr>
              <a:t>in</a:t>
            </a:r>
            <a:r>
              <a:rPr lang="en-IT">
                <a:latin typeface="Courier" pitchFamily="2" charset="0"/>
                <a:ea typeface="Palatino" pitchFamily="2" charset="77"/>
              </a:rPr>
              <a:t> </a:t>
            </a:r>
            <a:r>
              <a:rPr lang="en-IT" dirty="0">
                <a:ea typeface="Palatino" pitchFamily="2" charset="77"/>
              </a:rPr>
              <a:t>is a function an accepts </a:t>
            </a:r>
            <a:r>
              <a:rPr lang="en-IT">
                <a:ea typeface="Palatino" pitchFamily="2" charset="77"/>
              </a:rPr>
              <a:t>a </a:t>
            </a:r>
            <a:r>
              <a:rPr lang="en-IT" dirty="0">
                <a:latin typeface="Menlo" panose="020B0609030804020204" pitchFamily="49" charset="0"/>
                <a:ea typeface="Menlo" panose="020B0609030804020204" pitchFamily="49" charset="0"/>
                <a:cs typeface="Menlo" panose="020B0609030804020204" pitchFamily="49" charset="0"/>
              </a:rPr>
              <a:t>List</a:t>
            </a:r>
            <a:r>
              <a:rPr lang="en-IT">
                <a:ea typeface="Palatino" pitchFamily="2" charset="77"/>
              </a:rPr>
              <a:t> </a:t>
            </a:r>
            <a:r>
              <a:rPr lang="en-IT" dirty="0">
                <a:ea typeface="Palatino" pitchFamily="2" charset="77"/>
              </a:rPr>
              <a:t>of strings</a:t>
            </a:r>
          </a:p>
          <a:p>
            <a:pPr marL="457200" lvl="1" indent="0">
              <a:buNone/>
            </a:pPr>
            <a:endParaRPr lang="en-IT" dirty="0">
              <a:ea typeface="Palatino" pitchFamily="2" charset="77"/>
            </a:endParaRPr>
          </a:p>
          <a:p>
            <a:pPr lvl="1"/>
            <a:r>
              <a:rPr lang="en-IT" dirty="0">
                <a:ea typeface="Palatino" pitchFamily="2" charset="77"/>
              </a:rPr>
              <a:t>; is necessary at the EOL</a:t>
            </a:r>
          </a:p>
          <a:p>
            <a:endParaRPr lang="en-IT" dirty="0">
              <a:ea typeface="Palatino" pitchFamily="2" charset="77"/>
            </a:endParaRPr>
          </a:p>
          <a:p>
            <a:pPr lvl="1"/>
            <a:r>
              <a:rPr lang="en-IT" dirty="0">
                <a:ea typeface="Palatino" pitchFamily="2" charset="77"/>
              </a:rPr>
              <a:t>It all starts from </a:t>
            </a:r>
            <a:r>
              <a:rPr lang="en-IT">
                <a:ea typeface="Palatino" pitchFamily="2" charset="77"/>
              </a:rPr>
              <a:t>a </a:t>
            </a:r>
            <a:r>
              <a:rPr lang="en-IT" dirty="0">
                <a:latin typeface="Menlo" panose="020B0609030804020204" pitchFamily="49" charset="0"/>
                <a:ea typeface="Menlo" panose="020B0609030804020204" pitchFamily="49" charset="0"/>
                <a:cs typeface="Menlo" panose="020B0609030804020204" pitchFamily="49" charset="0"/>
              </a:rPr>
              <a:t>main</a:t>
            </a:r>
          </a:p>
          <a:p>
            <a:pPr marL="457200" lvl="1" indent="0">
              <a:buNone/>
            </a:pPr>
            <a:endParaRPr lang="en-IT" dirty="0">
              <a:ea typeface="Palatino" pitchFamily="2" charset="77"/>
            </a:endParaRPr>
          </a:p>
          <a:p>
            <a:pPr lvl="1"/>
            <a:r>
              <a:rPr lang="en-GB" dirty="0">
                <a:latin typeface="Menlo" panose="020B0609030804020204" pitchFamily="49" charset="0"/>
                <a:ea typeface="Menlo" panose="020B0609030804020204" pitchFamily="49" charset="0"/>
                <a:cs typeface="Menlo" panose="020B0609030804020204" pitchFamily="49" charset="0"/>
              </a:rPr>
              <a:t>print() </a:t>
            </a:r>
            <a:r>
              <a:rPr lang="en-GB" dirty="0">
                <a:ea typeface="Palatino" pitchFamily="2" charset="77"/>
              </a:rPr>
              <a:t>is an handy function to display output</a:t>
            </a:r>
          </a:p>
          <a:p>
            <a:pPr lvl="1"/>
            <a:endParaRPr lang="en-GB" dirty="0">
              <a:ea typeface="Palatino" pitchFamily="2" charset="77"/>
            </a:endParaRPr>
          </a:p>
          <a:p>
            <a:pPr lvl="1"/>
            <a:r>
              <a:rPr lang="en-GB" dirty="0">
                <a:latin typeface="Menlo" panose="020B0609030804020204" pitchFamily="49" charset="0"/>
                <a:ea typeface="Menlo" panose="020B0609030804020204" pitchFamily="49" charset="0"/>
                <a:cs typeface="Menlo" panose="020B0609030804020204" pitchFamily="49" charset="0"/>
              </a:rPr>
              <a:t>// This is a comment</a:t>
            </a:r>
            <a:r>
              <a:rPr lang="en-IT" dirty="0">
                <a:latin typeface="Menlo" panose="020B0609030804020204" pitchFamily="49" charset="0"/>
                <a:ea typeface="Menlo" panose="020B0609030804020204" pitchFamily="49" charset="0"/>
                <a:cs typeface="Menlo" panose="020B0609030804020204" pitchFamily="49" charset="0"/>
              </a:rPr>
              <a:t> </a:t>
            </a:r>
          </a:p>
          <a:p>
            <a:endParaRPr lang="en-IT" dirty="0">
              <a:ea typeface="Palatino" pitchFamily="2" charset="77"/>
            </a:endParaRPr>
          </a:p>
          <a:p>
            <a:endParaRPr lang="en-IT" dirty="0">
              <a:ea typeface="Palatino" pitchFamily="2" charset="77"/>
            </a:endParaRPr>
          </a:p>
        </p:txBody>
      </p:sp>
      <p:pic>
        <p:nvPicPr>
          <p:cNvPr id="6" name="Picture 5" descr="Graphical user interface, text, application&#10;&#10;Description automatically generated">
            <a:extLst>
              <a:ext uri="{FF2B5EF4-FFF2-40B4-BE49-F238E27FC236}">
                <a16:creationId xmlns:a16="http://schemas.microsoft.com/office/drawing/2014/main" id="{DC0C264F-EF24-9E46-9E6A-22F67EBD5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3585" y="2055278"/>
            <a:ext cx="5702901" cy="2276607"/>
          </a:xfrm>
          <a:prstGeom prst="rect">
            <a:avLst/>
          </a:prstGeom>
        </p:spPr>
      </p:pic>
      <p:sp>
        <p:nvSpPr>
          <p:cNvPr id="7" name="Content Placeholder 2">
            <a:extLst>
              <a:ext uri="{FF2B5EF4-FFF2-40B4-BE49-F238E27FC236}">
                <a16:creationId xmlns:a16="http://schemas.microsoft.com/office/drawing/2014/main" id="{7BC174E6-9743-6241-BACB-973DAA2F9390}"/>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a:t>
            </a:r>
            <a:r>
              <a:rPr lang="en-US" sz="1600" dirty="0">
                <a:latin typeface="Aptos" panose="020B0004020202020204" pitchFamily="34" charset="0"/>
                <a:ea typeface="Palatino" pitchFamily="2" charset="77"/>
              </a:rPr>
              <a:t>esson_03</a:t>
            </a:r>
            <a:r>
              <a:rPr lang="en-IT" sz="1600">
                <a:latin typeface="Aptos" panose="020B0004020202020204" pitchFamily="34" charset="0"/>
                <a:ea typeface="Palatino" pitchFamily="2" charset="77"/>
              </a:rPr>
              <a:t>-dart</a:t>
            </a:r>
            <a:r>
              <a:rPr lang="en-IT" sz="1600" dirty="0">
                <a:latin typeface="Aptos" panose="020B0004020202020204" pitchFamily="34" charset="0"/>
                <a:ea typeface="Palatino" pitchFamily="2" charset="77"/>
              </a:rPr>
              <a:t>_101_part_1/01-hello_world.dart</a:t>
            </a:r>
          </a:p>
        </p:txBody>
      </p:sp>
      <p:sp>
        <p:nvSpPr>
          <p:cNvPr id="4" name="Slide Number Placeholder 3">
            <a:extLst>
              <a:ext uri="{FF2B5EF4-FFF2-40B4-BE49-F238E27FC236}">
                <a16:creationId xmlns:a16="http://schemas.microsoft.com/office/drawing/2014/main" id="{1C09FA88-A3C8-C340-BEBF-1E93CC20B119}"/>
              </a:ext>
            </a:extLst>
          </p:cNvPr>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253064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r>
              <a:rPr lang="en-IT" b="1" dirty="0"/>
              <a:t>Variables</a:t>
            </a:r>
          </a:p>
          <a:p>
            <a:r>
              <a:rPr lang="en-IT" dirty="0">
                <a:solidFill>
                  <a:schemeClr val="bg1">
                    <a:lumMod val="75000"/>
                  </a:schemeClr>
                </a:solidFill>
              </a:rPr>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3F2BCCFA-494C-2B4D-9C41-48C33BF63537}"/>
              </a:ext>
            </a:extLst>
          </p:cNvPr>
          <p:cNvSpPr>
            <a:spLocks noGrp="1"/>
          </p:cNvSpPr>
          <p:nvPr>
            <p:ph type="sldNum" sz="quarter" idx="12"/>
          </p:nvPr>
        </p:nvSpPr>
        <p:spPr/>
        <p:txBody>
          <a:bodyPr/>
          <a:lstStyle/>
          <a:p>
            <a:fld id="{31DE2C5B-556E-47B8-A792-024C2FCA4ACC}" type="slidenum">
              <a:rPr lang="en-GB" smtClean="0"/>
              <a:t>7</a:t>
            </a:fld>
            <a:endParaRPr lang="en-GB"/>
          </a:p>
        </p:txBody>
      </p:sp>
    </p:spTree>
    <p:extLst>
      <p:ext uri="{BB962C8B-B14F-4D97-AF65-F5344CB8AC3E}">
        <p14:creationId xmlns:p14="http://schemas.microsoft.com/office/powerpoint/2010/main" val="723129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Variables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579353" cy="5334907"/>
          </a:xfrm>
        </p:spPr>
        <p:txBody>
          <a:bodyPr>
            <a:normAutofit/>
          </a:bodyPr>
          <a:lstStyle/>
          <a:p>
            <a:r>
              <a:rPr lang="en-GB" b="1" dirty="0">
                <a:latin typeface="Menlo" panose="020B0609030804020204" pitchFamily="49" charset="0"/>
                <a:ea typeface="Menlo" panose="020B0609030804020204" pitchFamily="49" charset="0"/>
                <a:cs typeface="Menlo" panose="020B0609030804020204" pitchFamily="49" charset="0"/>
              </a:rPr>
              <a:t>var</a:t>
            </a:r>
            <a:r>
              <a:rPr lang="en-GB" dirty="0">
                <a:latin typeface="Courier" pitchFamily="2" charset="0"/>
              </a:rPr>
              <a:t> </a:t>
            </a:r>
            <a:r>
              <a:rPr lang="en-GB" dirty="0"/>
              <a:t>can be used to create and initialize a variable:</a:t>
            </a:r>
          </a:p>
          <a:p>
            <a:pPr lvl="1"/>
            <a:r>
              <a:rPr lang="en-GB" dirty="0">
                <a:latin typeface="Menlo" panose="020B0609030804020204" pitchFamily="49" charset="0"/>
                <a:ea typeface="Menlo" panose="020B0609030804020204" pitchFamily="49" charset="0"/>
                <a:cs typeface="Menlo" panose="020B0609030804020204" pitchFamily="49" charset="0"/>
              </a:rPr>
              <a:t>var number = 42; // number contains a </a:t>
            </a:r>
            <a:r>
              <a:rPr lang="en-GB" b="1" dirty="0">
                <a:latin typeface="Menlo" panose="020B0609030804020204" pitchFamily="49" charset="0"/>
                <a:ea typeface="Menlo" panose="020B0609030804020204" pitchFamily="49" charset="0"/>
                <a:cs typeface="Menlo" panose="020B0609030804020204" pitchFamily="49" charset="0"/>
              </a:rPr>
              <a:t>reference</a:t>
            </a:r>
            <a:r>
              <a:rPr lang="en-GB" dirty="0">
                <a:latin typeface="Menlo" panose="020B0609030804020204" pitchFamily="49" charset="0"/>
                <a:ea typeface="Menlo" panose="020B0609030804020204" pitchFamily="49" charset="0"/>
                <a:cs typeface="Menlo" panose="020B0609030804020204" pitchFamily="49" charset="0"/>
              </a:rPr>
              <a:t> to a number object with value 42</a:t>
            </a:r>
          </a:p>
          <a:p>
            <a:r>
              <a:rPr lang="en-GB" b="1" dirty="0">
                <a:latin typeface="Menlo" panose="020B0609030804020204" pitchFamily="49" charset="0"/>
                <a:ea typeface="Menlo" panose="020B0609030804020204" pitchFamily="49" charset="0"/>
                <a:cs typeface="Menlo" panose="020B0609030804020204" pitchFamily="49" charset="0"/>
              </a:rPr>
              <a:t>final</a:t>
            </a:r>
            <a:r>
              <a:rPr lang="en-GB" dirty="0"/>
              <a:t> can be used to create and initialize a constant (run-time):</a:t>
            </a:r>
          </a:p>
          <a:p>
            <a:pPr lvl="1"/>
            <a:r>
              <a:rPr lang="en-GB" dirty="0">
                <a:latin typeface="Menlo" panose="020B0609030804020204" pitchFamily="49" charset="0"/>
                <a:ea typeface="Menlo" panose="020B0609030804020204" pitchFamily="49" charset="0"/>
                <a:cs typeface="Menlo" panose="020B0609030804020204" pitchFamily="49" charset="0"/>
              </a:rPr>
              <a:t>final name = 'Bob';</a:t>
            </a:r>
          </a:p>
          <a:p>
            <a:r>
              <a:rPr lang="en-GB" b="1" dirty="0" err="1">
                <a:latin typeface="Menlo" panose="020B0609030804020204" pitchFamily="49" charset="0"/>
                <a:ea typeface="Menlo" panose="020B0609030804020204" pitchFamily="49" charset="0"/>
                <a:cs typeface="Menlo" panose="020B0609030804020204" pitchFamily="49" charset="0"/>
              </a:rPr>
              <a:t>const</a:t>
            </a:r>
            <a:r>
              <a:rPr lang="en-GB" dirty="0"/>
              <a:t> can be used to create and initialize a constant (compile-time):</a:t>
            </a:r>
          </a:p>
          <a:p>
            <a:pPr lvl="1"/>
            <a:r>
              <a:rPr lang="en-GB" dirty="0" err="1">
                <a:latin typeface="Menlo" panose="020B0609030804020204" pitchFamily="49" charset="0"/>
                <a:ea typeface="Menlo" panose="020B0609030804020204" pitchFamily="49" charset="0"/>
                <a:cs typeface="Menlo" panose="020B0609030804020204" pitchFamily="49" charset="0"/>
              </a:rPr>
              <a:t>const</a:t>
            </a:r>
            <a:r>
              <a:rPr lang="en-GB" dirty="0">
                <a:latin typeface="Menlo" panose="020B0609030804020204" pitchFamily="49" charset="0"/>
                <a:ea typeface="Menlo" panose="020B0609030804020204" pitchFamily="49" charset="0"/>
                <a:cs typeface="Menlo" panose="020B0609030804020204" pitchFamily="49" charset="0"/>
              </a:rPr>
              <a:t> pi = 3.14;</a:t>
            </a:r>
          </a:p>
          <a:p>
            <a:pPr lvl="1"/>
            <a:endParaRPr lang="en-GB" dirty="0"/>
          </a:p>
          <a:p>
            <a:r>
              <a:rPr lang="en-GB" dirty="0"/>
              <a:t>Note that, the </a:t>
            </a:r>
            <a:r>
              <a:rPr lang="en-GB" b="1" dirty="0"/>
              <a:t>type</a:t>
            </a:r>
            <a:r>
              <a:rPr lang="en-GB" dirty="0"/>
              <a:t> of variables was inferred! </a:t>
            </a:r>
          </a:p>
          <a:p>
            <a:r>
              <a:rPr lang="en-GB" dirty="0"/>
              <a:t>Of course, type can be also specified:</a:t>
            </a:r>
          </a:p>
          <a:p>
            <a:pPr lvl="1"/>
            <a:r>
              <a:rPr lang="en-GB" dirty="0">
                <a:latin typeface="Menlo" panose="020B0609030804020204" pitchFamily="49" charset="0"/>
                <a:ea typeface="Menlo" panose="020B0609030804020204" pitchFamily="49" charset="0"/>
                <a:cs typeface="Menlo" panose="020B0609030804020204" pitchFamily="49" charset="0"/>
              </a:rPr>
              <a:t>final String </a:t>
            </a:r>
            <a:r>
              <a:rPr lang="en-GB" dirty="0" err="1">
                <a:latin typeface="Menlo" panose="020B0609030804020204" pitchFamily="49" charset="0"/>
                <a:ea typeface="Menlo" panose="020B0609030804020204" pitchFamily="49" charset="0"/>
                <a:cs typeface="Menlo" panose="020B0609030804020204" pitchFamily="49" charset="0"/>
              </a:rPr>
              <a:t>anotherName</a:t>
            </a:r>
            <a:r>
              <a:rPr lang="en-GB" dirty="0">
                <a:latin typeface="Menlo" panose="020B0609030804020204" pitchFamily="49" charset="0"/>
                <a:ea typeface="Menlo" panose="020B0609030804020204" pitchFamily="49" charset="0"/>
                <a:cs typeface="Menlo" panose="020B0609030804020204" pitchFamily="49" charset="0"/>
              </a:rPr>
              <a:t> = 'Jack'; //This will be a constant String</a:t>
            </a:r>
          </a:p>
        </p:txBody>
      </p:sp>
      <p:sp>
        <p:nvSpPr>
          <p:cNvPr id="5" name="Content Placeholder 2">
            <a:extLst>
              <a:ext uri="{FF2B5EF4-FFF2-40B4-BE49-F238E27FC236}">
                <a16:creationId xmlns:a16="http://schemas.microsoft.com/office/drawing/2014/main" id="{01ED296F-BDB0-C14F-9845-F1306F011114}"/>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a:t>
            </a:r>
            <a:r>
              <a:rPr lang="en-US" sz="1600" dirty="0" err="1">
                <a:latin typeface="Aptos" panose="020B0004020202020204" pitchFamily="34" charset="0"/>
                <a:ea typeface="Palatino" pitchFamily="2" charset="77"/>
              </a:rPr>
              <a:t>esson</a:t>
            </a:r>
            <a:r>
              <a:rPr lang="en-IT" sz="1600">
                <a:latin typeface="Aptos" panose="020B0004020202020204" pitchFamily="34" charset="0"/>
                <a:ea typeface="Palatino" pitchFamily="2" charset="77"/>
              </a:rPr>
              <a:t>_0</a:t>
            </a:r>
            <a:r>
              <a:rPr lang="en-US" sz="1600" dirty="0">
                <a:latin typeface="Aptos" panose="020B0004020202020204" pitchFamily="34" charset="0"/>
                <a:ea typeface="Palatino" pitchFamily="2" charset="77"/>
              </a:rPr>
              <a:t>3</a:t>
            </a:r>
            <a:r>
              <a:rPr lang="en-IT" sz="1600">
                <a:latin typeface="Aptos" panose="020B0004020202020204" pitchFamily="34" charset="0"/>
                <a:ea typeface="Palatino" pitchFamily="2" charset="77"/>
              </a:rPr>
              <a:t>-dart</a:t>
            </a:r>
            <a:r>
              <a:rPr lang="en-IT" sz="1600" dirty="0">
                <a:latin typeface="Aptos" panose="020B0004020202020204" pitchFamily="34" charset="0"/>
                <a:ea typeface="Palatino" pitchFamily="2" charset="77"/>
              </a:rPr>
              <a:t>_101_part_1/02-variables.dart</a:t>
            </a:r>
          </a:p>
        </p:txBody>
      </p:sp>
      <p:sp>
        <p:nvSpPr>
          <p:cNvPr id="4" name="Slide Number Placeholder 3">
            <a:extLst>
              <a:ext uri="{FF2B5EF4-FFF2-40B4-BE49-F238E27FC236}">
                <a16:creationId xmlns:a16="http://schemas.microsoft.com/office/drawing/2014/main" id="{94CF5BD5-C700-BD42-A5B3-84DE63FD4BAA}"/>
              </a:ext>
            </a:extLst>
          </p:cNvPr>
          <p:cNvSpPr>
            <a:spLocks noGrp="1"/>
          </p:cNvSpPr>
          <p:nvPr>
            <p:ph type="sldNum" sz="quarter" idx="12"/>
          </p:nvPr>
        </p:nvSpPr>
        <p:spPr/>
        <p:txBody>
          <a:bodyPr/>
          <a:lstStyle/>
          <a:p>
            <a:fld id="{31DE2C5B-556E-47B8-A792-024C2FCA4ACC}" type="slidenum">
              <a:rPr lang="en-GB" smtClean="0"/>
              <a:t>8</a:t>
            </a:fld>
            <a:endParaRPr lang="en-GB"/>
          </a:p>
        </p:txBody>
      </p:sp>
    </p:spTree>
    <p:extLst>
      <p:ext uri="{BB962C8B-B14F-4D97-AF65-F5344CB8AC3E}">
        <p14:creationId xmlns:p14="http://schemas.microsoft.com/office/powerpoint/2010/main" val="4189616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pPr>
              <a:lnSpc>
                <a:spcPct val="100000"/>
              </a:lnSpc>
            </a:pPr>
            <a:r>
              <a:rPr lang="en-IT" dirty="0">
                <a:solidFill>
                  <a:schemeClr val="bg1">
                    <a:lumMod val="75000"/>
                  </a:schemeClr>
                </a:solidFill>
              </a:rPr>
              <a:t>Variables</a:t>
            </a:r>
          </a:p>
          <a:p>
            <a:r>
              <a:rPr lang="en-IT" b="1" dirty="0"/>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7C540093-B8A8-D74A-9B70-11E2AC21AD93}"/>
              </a:ext>
            </a:extLst>
          </p:cNvPr>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1505608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Null safety</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101679" cy="5334907"/>
          </a:xfrm>
        </p:spPr>
        <p:txBody>
          <a:bodyPr>
            <a:normAutofit lnSpcReduction="10000"/>
          </a:bodyPr>
          <a:lstStyle/>
          <a:p>
            <a:r>
              <a:rPr lang="en-GB" dirty="0"/>
              <a:t>In Dart, every variable has a nullable type</a:t>
            </a:r>
          </a:p>
          <a:p>
            <a:pPr lvl="1"/>
            <a:r>
              <a:rPr lang="en-GB" dirty="0">
                <a:latin typeface="Menlo" panose="020B0609030804020204" pitchFamily="49" charset="0"/>
                <a:ea typeface="Menlo" panose="020B0609030804020204" pitchFamily="49" charset="0"/>
                <a:cs typeface="Menlo" panose="020B0609030804020204" pitchFamily="49" charset="0"/>
              </a:rPr>
              <a:t>int a; //Non-nullable int type</a:t>
            </a:r>
          </a:p>
          <a:p>
            <a:pPr lvl="1"/>
            <a:r>
              <a:rPr lang="en-GB" dirty="0">
                <a:latin typeface="Menlo" panose="020B0609030804020204" pitchFamily="49" charset="0"/>
                <a:ea typeface="Menlo" panose="020B0609030804020204" pitchFamily="49" charset="0"/>
                <a:cs typeface="Menlo" panose="020B0609030804020204" pitchFamily="49" charset="0"/>
              </a:rPr>
              <a:t>int? b; //Nullable int type</a:t>
            </a:r>
          </a:p>
          <a:p>
            <a:r>
              <a:rPr lang="en-GB" dirty="0"/>
              <a:t>Un-initialized non-nullable typed variables must be assigned before they can be used.</a:t>
            </a:r>
          </a:p>
          <a:p>
            <a:r>
              <a:rPr lang="en-GB" dirty="0"/>
              <a:t>On the other hand, un-initialized nullable typed variables can (they have </a:t>
            </a:r>
            <a:r>
              <a:rPr lang="en-GB" b="1" dirty="0"/>
              <a:t>null value by default</a:t>
            </a:r>
            <a:r>
              <a:rPr lang="en-GB" dirty="0"/>
              <a:t>).</a:t>
            </a:r>
          </a:p>
          <a:p>
            <a:r>
              <a:rPr lang="en-GB" dirty="0"/>
              <a:t>This system, known as </a:t>
            </a:r>
            <a:r>
              <a:rPr lang="en-GB" b="1" dirty="0"/>
              <a:t>null-safety</a:t>
            </a:r>
            <a:r>
              <a:rPr lang="en-GB" dirty="0"/>
              <a:t> allows to be 100% sure whether an expression can be null or not at some point of the code.</a:t>
            </a:r>
          </a:p>
          <a:p>
            <a:r>
              <a:rPr lang="en-GB" dirty="0"/>
              <a:t>If you want to assign a value to a non-nullable variable using a nullable expression (that you know for sure that it is not null in that specific moment), you can add a </a:t>
            </a:r>
            <a:r>
              <a:rPr lang="en-GB" dirty="0">
                <a:latin typeface="Courier" pitchFamily="2" charset="0"/>
              </a:rPr>
              <a:t>!</a:t>
            </a:r>
            <a:r>
              <a:rPr lang="en-GB" dirty="0"/>
              <a:t> to assert that it is not null. Runtime will throw an exception if you are wrong.</a:t>
            </a:r>
          </a:p>
          <a:p>
            <a:endParaRPr lang="en-GB" dirty="0"/>
          </a:p>
        </p:txBody>
      </p:sp>
      <p:sp>
        <p:nvSpPr>
          <p:cNvPr id="5" name="Content Placeholder 2">
            <a:extLst>
              <a:ext uri="{FF2B5EF4-FFF2-40B4-BE49-F238E27FC236}">
                <a16:creationId xmlns:a16="http://schemas.microsoft.com/office/drawing/2014/main" id="{01ED296F-BDB0-C14F-9845-F1306F011114}"/>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a:t>
            </a:r>
            <a:r>
              <a:rPr lang="en-US" sz="1600" dirty="0" err="1">
                <a:latin typeface="Aptos" panose="020B0004020202020204" pitchFamily="34" charset="0"/>
                <a:ea typeface="Palatino" pitchFamily="2" charset="77"/>
              </a:rPr>
              <a:t>esson</a:t>
            </a:r>
            <a:r>
              <a:rPr lang="en-IT" sz="1600">
                <a:latin typeface="Aptos" panose="020B0004020202020204" pitchFamily="34" charset="0"/>
                <a:ea typeface="Palatino" pitchFamily="2" charset="77"/>
              </a:rPr>
              <a:t>_0</a:t>
            </a:r>
            <a:r>
              <a:rPr lang="en-US" sz="1600" dirty="0">
                <a:latin typeface="Aptos" panose="020B0004020202020204" pitchFamily="34" charset="0"/>
                <a:ea typeface="Palatino" pitchFamily="2" charset="77"/>
              </a:rPr>
              <a:t>3</a:t>
            </a:r>
            <a:r>
              <a:rPr lang="en-IT" sz="1600">
                <a:latin typeface="Aptos" panose="020B0004020202020204" pitchFamily="34" charset="0"/>
                <a:ea typeface="Palatino" pitchFamily="2" charset="77"/>
              </a:rPr>
              <a:t>-dart</a:t>
            </a:r>
            <a:r>
              <a:rPr lang="en-IT" sz="1600" dirty="0">
                <a:latin typeface="Aptos" panose="020B0004020202020204" pitchFamily="34" charset="0"/>
                <a:ea typeface="Palatino" pitchFamily="2" charset="77"/>
              </a:rPr>
              <a:t>_101_part_1/03-null_safety.dart</a:t>
            </a:r>
          </a:p>
        </p:txBody>
      </p:sp>
      <p:sp>
        <p:nvSpPr>
          <p:cNvPr id="4" name="Slide Number Placeholder 3">
            <a:extLst>
              <a:ext uri="{FF2B5EF4-FFF2-40B4-BE49-F238E27FC236}">
                <a16:creationId xmlns:a16="http://schemas.microsoft.com/office/drawing/2014/main" id="{4EEF0B24-70D1-2446-840D-35A6D989DB45}"/>
              </a:ext>
            </a:extLst>
          </p:cNvPr>
          <p:cNvSpPr>
            <a:spLocks noGrp="1"/>
          </p:cNvSpPr>
          <p:nvPr>
            <p:ph type="sldNum" sz="quarter" idx="12"/>
          </p:nvPr>
        </p:nvSpPr>
        <p:spPr/>
        <p:txBody>
          <a:bodyPr/>
          <a:lstStyle/>
          <a:p>
            <a:fld id="{31DE2C5B-556E-47B8-A792-024C2FCA4ACC}" type="slidenum">
              <a:rPr lang="en-GB" smtClean="0"/>
              <a:t>10</a:t>
            </a:fld>
            <a:endParaRPr lang="en-GB"/>
          </a:p>
        </p:txBody>
      </p:sp>
    </p:spTree>
    <p:extLst>
      <p:ext uri="{BB962C8B-B14F-4D97-AF65-F5344CB8AC3E}">
        <p14:creationId xmlns:p14="http://schemas.microsoft.com/office/powerpoint/2010/main" val="165340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r>
              <a:rPr lang="en-IT" dirty="0">
                <a:solidFill>
                  <a:schemeClr val="bg1">
                    <a:lumMod val="75000"/>
                  </a:schemeClr>
                </a:solidFill>
              </a:rPr>
              <a:t>Variables</a:t>
            </a:r>
          </a:p>
          <a:p>
            <a:r>
              <a:rPr lang="en-IT" dirty="0">
                <a:solidFill>
                  <a:schemeClr val="bg1">
                    <a:lumMod val="75000"/>
                  </a:schemeClr>
                </a:solidFill>
              </a:rPr>
              <a:t>Null-safety</a:t>
            </a:r>
          </a:p>
          <a:p>
            <a:r>
              <a:rPr lang="en-IT" b="1" dirty="0"/>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F0D00AFB-DA97-084C-9388-DE84EEF3DC53}"/>
              </a:ext>
            </a:extLst>
          </p:cNvPr>
          <p:cNvSpPr>
            <a:spLocks noGrp="1"/>
          </p:cNvSpPr>
          <p:nvPr>
            <p:ph type="sldNum" sz="quarter" idx="12"/>
          </p:nvPr>
        </p:nvSpPr>
        <p:spPr/>
        <p:txBody>
          <a:bodyPr/>
          <a:lstStyle/>
          <a:p>
            <a:fld id="{31DE2C5B-556E-47B8-A792-024C2FCA4ACC}" type="slidenum">
              <a:rPr lang="en-GB" smtClean="0"/>
              <a:t>11</a:t>
            </a:fld>
            <a:endParaRPr lang="en-GB"/>
          </a:p>
        </p:txBody>
      </p:sp>
    </p:spTree>
    <p:extLst>
      <p:ext uri="{BB962C8B-B14F-4D97-AF65-F5344CB8AC3E}">
        <p14:creationId xmlns:p14="http://schemas.microsoft.com/office/powerpoint/2010/main" val="2499549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Built-in types - Numbers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634806" cy="5334907"/>
          </a:xfrm>
        </p:spPr>
        <p:txBody>
          <a:bodyPr>
            <a:normAutofit/>
          </a:bodyPr>
          <a:lstStyle/>
          <a:p>
            <a:r>
              <a:rPr lang="en-GB" dirty="0"/>
              <a:t>Integer numbers (64-bit):</a:t>
            </a:r>
          </a:p>
          <a:p>
            <a:pPr lvl="1"/>
            <a:r>
              <a:rPr lang="en-GB" dirty="0">
                <a:latin typeface="Menlo" panose="020B0609030804020204" pitchFamily="49" charset="0"/>
                <a:ea typeface="Menlo" panose="020B0609030804020204" pitchFamily="49" charset="0"/>
                <a:cs typeface="Menlo" panose="020B0609030804020204" pitchFamily="49" charset="0"/>
              </a:rPr>
              <a:t>int </a:t>
            </a:r>
            <a:r>
              <a:rPr lang="en-GB" dirty="0" err="1">
                <a:latin typeface="Menlo" panose="020B0609030804020204" pitchFamily="49" charset="0"/>
                <a:ea typeface="Menlo" panose="020B0609030804020204" pitchFamily="49" charset="0"/>
                <a:cs typeface="Menlo" panose="020B0609030804020204" pitchFamily="49" charset="0"/>
              </a:rPr>
              <a:t>anInteger</a:t>
            </a:r>
            <a:r>
              <a:rPr lang="en-GB" dirty="0">
                <a:latin typeface="Menlo" panose="020B0609030804020204" pitchFamily="49" charset="0"/>
                <a:ea typeface="Menlo" panose="020B0609030804020204" pitchFamily="49" charset="0"/>
                <a:cs typeface="Menlo" panose="020B0609030804020204" pitchFamily="49" charset="0"/>
              </a:rPr>
              <a:t> = 3; </a:t>
            </a:r>
          </a:p>
          <a:p>
            <a:r>
              <a:rPr lang="en-GB" dirty="0"/>
              <a:t>Floating point numbers (64-bit floating point - IEEE 754 standard):</a:t>
            </a:r>
          </a:p>
          <a:p>
            <a:pPr lvl="1"/>
            <a:r>
              <a:rPr lang="en-GB" dirty="0">
                <a:latin typeface="Menlo" panose="020B0609030804020204" pitchFamily="49" charset="0"/>
                <a:ea typeface="Menlo" panose="020B0609030804020204" pitchFamily="49" charset="0"/>
                <a:cs typeface="Menlo" panose="020B0609030804020204" pitchFamily="49" charset="0"/>
              </a:rPr>
              <a:t>double </a:t>
            </a:r>
            <a:r>
              <a:rPr lang="en-GB" dirty="0" err="1">
                <a:latin typeface="Menlo" panose="020B0609030804020204" pitchFamily="49" charset="0"/>
                <a:ea typeface="Menlo" panose="020B0609030804020204" pitchFamily="49" charset="0"/>
                <a:cs typeface="Menlo" panose="020B0609030804020204" pitchFamily="49" charset="0"/>
              </a:rPr>
              <a:t>aDouble</a:t>
            </a:r>
            <a:r>
              <a:rPr lang="en-GB" dirty="0">
                <a:latin typeface="Menlo" panose="020B0609030804020204" pitchFamily="49" charset="0"/>
                <a:ea typeface="Menlo" panose="020B0609030804020204" pitchFamily="49" charset="0"/>
                <a:cs typeface="Menlo" panose="020B0609030804020204" pitchFamily="49" charset="0"/>
              </a:rPr>
              <a:t> = 3.0; </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double.nan</a:t>
            </a:r>
            <a:r>
              <a:rPr lang="en-GB" dirty="0">
                <a:latin typeface="Menlo" panose="020B0609030804020204" pitchFamily="49" charset="0"/>
                <a:ea typeface="Menlo" panose="020B0609030804020204" pitchFamily="49" charset="0"/>
                <a:cs typeface="Menlo" panose="020B0609030804020204" pitchFamily="49" charset="0"/>
              </a:rPr>
              <a:t>); //Special constant 1: not-a-number</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double.negativeInfinity</a:t>
            </a:r>
            <a:r>
              <a:rPr lang="en-GB" dirty="0">
                <a:latin typeface="Menlo" panose="020B0609030804020204" pitchFamily="49" charset="0"/>
                <a:ea typeface="Menlo" panose="020B0609030804020204" pitchFamily="49" charset="0"/>
                <a:cs typeface="Menlo" panose="020B0609030804020204" pitchFamily="49" charset="0"/>
              </a:rPr>
              <a:t>); //Special constant 2: -inf</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double.infinity</a:t>
            </a:r>
            <a:r>
              <a:rPr lang="en-GB" dirty="0">
                <a:latin typeface="Menlo" panose="020B0609030804020204" pitchFamily="49" charset="0"/>
                <a:ea typeface="Menlo" panose="020B0609030804020204" pitchFamily="49" charset="0"/>
                <a:cs typeface="Menlo" panose="020B0609030804020204" pitchFamily="49" charset="0"/>
              </a:rPr>
              <a:t>); //Special constant 3: inf</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double.minPositive</a:t>
            </a:r>
            <a:r>
              <a:rPr lang="en-GB" dirty="0">
                <a:latin typeface="Menlo" panose="020B0609030804020204" pitchFamily="49" charset="0"/>
                <a:ea typeface="Menlo" panose="020B0609030804020204" pitchFamily="49" charset="0"/>
                <a:cs typeface="Menlo" panose="020B0609030804020204" pitchFamily="49" charset="0"/>
              </a:rPr>
              <a:t>); //Special constant 4: minimum representable number</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double.maxFinite</a:t>
            </a:r>
            <a:r>
              <a:rPr lang="en-GB" dirty="0">
                <a:latin typeface="Menlo" panose="020B0609030804020204" pitchFamily="49" charset="0"/>
                <a:ea typeface="Menlo" panose="020B0609030804020204" pitchFamily="49" charset="0"/>
                <a:cs typeface="Menlo" panose="020B0609030804020204" pitchFamily="49" charset="0"/>
              </a:rPr>
              <a:t>); //Special constant 5: maximum representable positive number</a:t>
            </a:r>
          </a:p>
          <a:p>
            <a:endParaRPr lang="en-GB" dirty="0"/>
          </a:p>
        </p:txBody>
      </p:sp>
      <p:sp>
        <p:nvSpPr>
          <p:cNvPr id="6" name="Content Placeholder 2">
            <a:extLst>
              <a:ext uri="{FF2B5EF4-FFF2-40B4-BE49-F238E27FC236}">
                <a16:creationId xmlns:a16="http://schemas.microsoft.com/office/drawing/2014/main" id="{3D7CBD75-53A1-4F42-8086-65CC6399BCA4}"/>
              </a:ext>
            </a:extLst>
          </p:cNvPr>
          <p:cNvSpPr txBox="1">
            <a:spLocks/>
          </p:cNvSpPr>
          <p:nvPr/>
        </p:nvSpPr>
        <p:spPr>
          <a:xfrm>
            <a:off x="9351818" y="4207489"/>
            <a:ext cx="1385455" cy="1860801"/>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Note</a:t>
            </a:r>
            <a:r>
              <a:rPr lang="en-IT" sz="1600" dirty="0">
                <a:latin typeface="Aptos" panose="020B0004020202020204" pitchFamily="34" charset="0"/>
                <a:ea typeface="Palatino" pitchFamily="2" charset="77"/>
              </a:rPr>
              <a:t>: No need to memorize these numbers!	</a:t>
            </a:r>
          </a:p>
        </p:txBody>
      </p:sp>
      <p:sp>
        <p:nvSpPr>
          <p:cNvPr id="4" name="Slide Number Placeholder 3">
            <a:extLst>
              <a:ext uri="{FF2B5EF4-FFF2-40B4-BE49-F238E27FC236}">
                <a16:creationId xmlns:a16="http://schemas.microsoft.com/office/drawing/2014/main" id="{F6BF8CE9-8079-654C-97C5-40699AE06A04}"/>
              </a:ext>
            </a:extLst>
          </p:cNvPr>
          <p:cNvSpPr>
            <a:spLocks noGrp="1"/>
          </p:cNvSpPr>
          <p:nvPr>
            <p:ph type="sldNum" sz="quarter" idx="12"/>
          </p:nvPr>
        </p:nvSpPr>
        <p:spPr/>
        <p:txBody>
          <a:bodyPr/>
          <a:lstStyle/>
          <a:p>
            <a:fld id="{31DE2C5B-556E-47B8-A792-024C2FCA4ACC}" type="slidenum">
              <a:rPr lang="en-GB" smtClean="0"/>
              <a:t>12</a:t>
            </a:fld>
            <a:endParaRPr lang="en-GB"/>
          </a:p>
        </p:txBody>
      </p:sp>
    </p:spTree>
    <p:extLst>
      <p:ext uri="{BB962C8B-B14F-4D97-AF65-F5344CB8AC3E}">
        <p14:creationId xmlns:p14="http://schemas.microsoft.com/office/powerpoint/2010/main" val="2760040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Built-in types - Numbers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970472" cy="5334907"/>
          </a:xfrm>
        </p:spPr>
        <p:txBody>
          <a:bodyPr vert="horz" lIns="91440" tIns="45720" rIns="91440" bIns="45720" rtlCol="0">
            <a:normAutofit/>
          </a:bodyPr>
          <a:lstStyle/>
          <a:p>
            <a:r>
              <a:rPr lang="en-GB" dirty="0"/>
              <a:t>Useful thing to know: how to parse numbers to strings and </a:t>
            </a:r>
            <a:r>
              <a:rPr lang="en-GB" dirty="0" err="1"/>
              <a:t>viceversa</a:t>
            </a:r>
            <a:endParaRPr lang="en-GB" dirty="0"/>
          </a:p>
          <a:p>
            <a:r>
              <a:rPr lang="en-GB" dirty="0"/>
              <a:t>Parse a String to an int</a:t>
            </a:r>
          </a:p>
          <a:p>
            <a:pPr lvl="1"/>
            <a:r>
              <a:rPr lang="en-GB" dirty="0">
                <a:latin typeface="Menlo" panose="020B0609030804020204" pitchFamily="49" charset="0"/>
                <a:ea typeface="Menlo" panose="020B0609030804020204" pitchFamily="49" charset="0"/>
                <a:cs typeface="Menlo" panose="020B0609030804020204" pitchFamily="49" charset="0"/>
              </a:rPr>
              <a:t>var one = </a:t>
            </a:r>
            <a:r>
              <a:rPr lang="en-GB" dirty="0" err="1">
                <a:latin typeface="Menlo" panose="020B0609030804020204" pitchFamily="49" charset="0"/>
                <a:ea typeface="Menlo" panose="020B0609030804020204" pitchFamily="49" charset="0"/>
                <a:cs typeface="Menlo" panose="020B0609030804020204" pitchFamily="49" charset="0"/>
              </a:rPr>
              <a:t>int.parse</a:t>
            </a:r>
            <a:r>
              <a:rPr lang="en-GB" dirty="0">
                <a:latin typeface="Menlo" panose="020B0609030804020204" pitchFamily="49" charset="0"/>
                <a:ea typeface="Menlo" panose="020B0609030804020204" pitchFamily="49" charset="0"/>
                <a:cs typeface="Menlo" panose="020B0609030804020204" pitchFamily="49" charset="0"/>
              </a:rPr>
              <a:t>('1');</a:t>
            </a:r>
          </a:p>
          <a:p>
            <a:r>
              <a:rPr lang="en-GB" dirty="0"/>
              <a:t>Parse a String to a double</a:t>
            </a:r>
          </a:p>
          <a:p>
            <a:pPr lvl="1"/>
            <a:r>
              <a:rPr lang="en-GB" dirty="0">
                <a:latin typeface="Menlo" panose="020B0609030804020204" pitchFamily="49" charset="0"/>
                <a:ea typeface="Menlo" panose="020B0609030804020204" pitchFamily="49" charset="0"/>
                <a:cs typeface="Menlo" panose="020B0609030804020204" pitchFamily="49" charset="0"/>
              </a:rPr>
              <a:t>var </a:t>
            </a:r>
            <a:r>
              <a:rPr lang="en-GB" dirty="0" err="1">
                <a:latin typeface="Menlo" panose="020B0609030804020204" pitchFamily="49" charset="0"/>
                <a:ea typeface="Menlo" panose="020B0609030804020204" pitchFamily="49" charset="0"/>
                <a:cs typeface="Menlo" panose="020B0609030804020204" pitchFamily="49" charset="0"/>
              </a:rPr>
              <a:t>onePointOne</a:t>
            </a:r>
            <a:r>
              <a:rPr lang="en-GB" dirty="0">
                <a:latin typeface="Menlo" panose="020B0609030804020204" pitchFamily="49" charset="0"/>
                <a:ea typeface="Menlo" panose="020B0609030804020204" pitchFamily="49" charset="0"/>
                <a:cs typeface="Menlo" panose="020B0609030804020204" pitchFamily="49" charset="0"/>
              </a:rPr>
              <a:t> = </a:t>
            </a:r>
            <a:r>
              <a:rPr lang="en-GB" dirty="0" err="1">
                <a:latin typeface="Menlo" panose="020B0609030804020204" pitchFamily="49" charset="0"/>
                <a:ea typeface="Menlo" panose="020B0609030804020204" pitchFamily="49" charset="0"/>
                <a:cs typeface="Menlo" panose="020B0609030804020204" pitchFamily="49" charset="0"/>
              </a:rPr>
              <a:t>double.parse</a:t>
            </a:r>
            <a:r>
              <a:rPr lang="en-GB" dirty="0">
                <a:latin typeface="Menlo" panose="020B0609030804020204" pitchFamily="49" charset="0"/>
                <a:ea typeface="Menlo" panose="020B0609030804020204" pitchFamily="49" charset="0"/>
                <a:cs typeface="Menlo" panose="020B0609030804020204" pitchFamily="49" charset="0"/>
              </a:rPr>
              <a:t>('1.1');</a:t>
            </a:r>
          </a:p>
          <a:p>
            <a:r>
              <a:rPr lang="en-GB" dirty="0"/>
              <a:t>Parse an int to a String</a:t>
            </a:r>
          </a:p>
          <a:p>
            <a:pPr lvl="1"/>
            <a:r>
              <a:rPr lang="en-GB" dirty="0">
                <a:latin typeface="Menlo" panose="020B0609030804020204" pitchFamily="49" charset="0"/>
                <a:ea typeface="Menlo" panose="020B0609030804020204" pitchFamily="49" charset="0"/>
                <a:cs typeface="Menlo" panose="020B0609030804020204" pitchFamily="49" charset="0"/>
              </a:rPr>
              <a:t>String </a:t>
            </a:r>
            <a:r>
              <a:rPr lang="en-GB" dirty="0" err="1">
                <a:latin typeface="Menlo" panose="020B0609030804020204" pitchFamily="49" charset="0"/>
                <a:ea typeface="Menlo" panose="020B0609030804020204" pitchFamily="49" charset="0"/>
                <a:cs typeface="Menlo" panose="020B0609030804020204" pitchFamily="49" charset="0"/>
              </a:rPr>
              <a:t>anIntegerAsString</a:t>
            </a:r>
            <a:r>
              <a:rPr lang="en-GB" dirty="0">
                <a:latin typeface="Menlo" panose="020B0609030804020204" pitchFamily="49" charset="0"/>
                <a:ea typeface="Menlo" panose="020B0609030804020204" pitchFamily="49" charset="0"/>
                <a:cs typeface="Menlo" panose="020B0609030804020204" pitchFamily="49" charset="0"/>
              </a:rPr>
              <a:t> = </a:t>
            </a:r>
            <a:r>
              <a:rPr lang="en-GB" dirty="0" err="1">
                <a:latin typeface="Menlo" panose="020B0609030804020204" pitchFamily="49" charset="0"/>
                <a:ea typeface="Menlo" panose="020B0609030804020204" pitchFamily="49" charset="0"/>
                <a:cs typeface="Menlo" panose="020B0609030804020204" pitchFamily="49" charset="0"/>
              </a:rPr>
              <a:t>anInteger.toString</a:t>
            </a:r>
            <a:r>
              <a:rPr lang="en-GB" dirty="0">
                <a:latin typeface="Menlo" panose="020B0609030804020204" pitchFamily="49" charset="0"/>
                <a:ea typeface="Menlo" panose="020B0609030804020204" pitchFamily="49" charset="0"/>
                <a:cs typeface="Menlo" panose="020B0609030804020204" pitchFamily="49" charset="0"/>
              </a:rPr>
              <a:t>();</a:t>
            </a:r>
          </a:p>
          <a:p>
            <a:r>
              <a:rPr lang="en-GB" dirty="0"/>
              <a:t>Parse double to a String</a:t>
            </a:r>
          </a:p>
          <a:p>
            <a:pPr lvl="1"/>
            <a:r>
              <a:rPr lang="en-GB" dirty="0">
                <a:latin typeface="Menlo" panose="020B0609030804020204" pitchFamily="49" charset="0"/>
                <a:ea typeface="Menlo" panose="020B0609030804020204" pitchFamily="49" charset="0"/>
                <a:cs typeface="Menlo" panose="020B0609030804020204" pitchFamily="49" charset="0"/>
              </a:rPr>
              <a:t>String </a:t>
            </a:r>
            <a:r>
              <a:rPr lang="en-GB" dirty="0" err="1">
                <a:latin typeface="Menlo" panose="020B0609030804020204" pitchFamily="49" charset="0"/>
                <a:ea typeface="Menlo" panose="020B0609030804020204" pitchFamily="49" charset="0"/>
                <a:cs typeface="Menlo" panose="020B0609030804020204" pitchFamily="49" charset="0"/>
              </a:rPr>
              <a:t>aDoubleAsString</a:t>
            </a:r>
            <a:r>
              <a:rPr lang="en-GB" dirty="0">
                <a:latin typeface="Menlo" panose="020B0609030804020204" pitchFamily="49" charset="0"/>
                <a:ea typeface="Menlo" panose="020B0609030804020204" pitchFamily="49" charset="0"/>
                <a:cs typeface="Menlo" panose="020B0609030804020204" pitchFamily="49" charset="0"/>
              </a:rPr>
              <a:t> = </a:t>
            </a:r>
            <a:r>
              <a:rPr lang="en-GB" dirty="0" err="1">
                <a:latin typeface="Menlo" panose="020B0609030804020204" pitchFamily="49" charset="0"/>
                <a:ea typeface="Menlo" panose="020B0609030804020204" pitchFamily="49" charset="0"/>
                <a:cs typeface="Menlo" panose="020B0609030804020204" pitchFamily="49" charset="0"/>
              </a:rPr>
              <a:t>aDouble.toString</a:t>
            </a:r>
            <a:r>
              <a:rPr lang="en-GB" dirty="0">
                <a:latin typeface="Menlo" panose="020B0609030804020204" pitchFamily="49" charset="0"/>
                <a:ea typeface="Menlo" panose="020B0609030804020204" pitchFamily="49" charset="0"/>
                <a:cs typeface="Menlo" panose="020B0609030804020204" pitchFamily="49" charset="0"/>
              </a:rPr>
              <a:t>();</a:t>
            </a:r>
          </a:p>
        </p:txBody>
      </p:sp>
      <p:sp>
        <p:nvSpPr>
          <p:cNvPr id="4" name="Slide Number Placeholder 3">
            <a:extLst>
              <a:ext uri="{FF2B5EF4-FFF2-40B4-BE49-F238E27FC236}">
                <a16:creationId xmlns:a16="http://schemas.microsoft.com/office/drawing/2014/main" id="{D475E824-581A-1843-8046-5333947583CE}"/>
              </a:ext>
            </a:extLst>
          </p:cNvPr>
          <p:cNvSpPr>
            <a:spLocks noGrp="1"/>
          </p:cNvSpPr>
          <p:nvPr>
            <p:ph type="sldNum" sz="quarter" idx="12"/>
          </p:nvPr>
        </p:nvSpPr>
        <p:spPr/>
        <p:txBody>
          <a:bodyPr/>
          <a:lstStyle/>
          <a:p>
            <a:fld id="{31DE2C5B-556E-47B8-A792-024C2FCA4ACC}" type="slidenum">
              <a:rPr lang="en-GB" smtClean="0"/>
              <a:t>13</a:t>
            </a:fld>
            <a:endParaRPr lang="en-GB"/>
          </a:p>
        </p:txBody>
      </p:sp>
    </p:spTree>
    <p:extLst>
      <p:ext uri="{BB962C8B-B14F-4D97-AF65-F5344CB8AC3E}">
        <p14:creationId xmlns:p14="http://schemas.microsoft.com/office/powerpoint/2010/main" val="2057372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Built-in types - Strings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572338" cy="5334907"/>
          </a:xfrm>
        </p:spPr>
        <p:txBody>
          <a:bodyPr>
            <a:normAutofit/>
          </a:bodyPr>
          <a:lstStyle/>
          <a:p>
            <a:r>
              <a:rPr lang="en-GB" dirty="0">
                <a:latin typeface="Menlo" panose="020B0609030804020204" pitchFamily="49" charset="0"/>
                <a:ea typeface="Menlo" panose="020B0609030804020204" pitchFamily="49" charset="0"/>
                <a:cs typeface="Menlo" panose="020B0609030804020204" pitchFamily="49" charset="0"/>
              </a:rPr>
              <a:t>var s1 = 'Single quotes work well for string literals.';</a:t>
            </a:r>
          </a:p>
          <a:p>
            <a:r>
              <a:rPr lang="en-GB" dirty="0">
                <a:latin typeface="Menlo" panose="020B0609030804020204" pitchFamily="49" charset="0"/>
                <a:ea typeface="Menlo" panose="020B0609030804020204" pitchFamily="49" charset="0"/>
                <a:cs typeface="Menlo" panose="020B0609030804020204" pitchFamily="49" charset="0"/>
              </a:rPr>
              <a:t>var s2 = "Double quotes work just as well.";</a:t>
            </a:r>
          </a:p>
          <a:p>
            <a:r>
              <a:rPr lang="en-GB" dirty="0">
                <a:latin typeface="Menlo" panose="020B0609030804020204" pitchFamily="49" charset="0"/>
                <a:ea typeface="Menlo" panose="020B0609030804020204" pitchFamily="49" charset="0"/>
                <a:cs typeface="Menlo" panose="020B0609030804020204" pitchFamily="49" charset="0"/>
              </a:rPr>
              <a:t>var s3 = 'It\'s easy to escape the string delimiter.';</a:t>
            </a:r>
          </a:p>
          <a:p>
            <a:r>
              <a:rPr lang="en-GB" dirty="0">
                <a:latin typeface="Menlo" panose="020B0609030804020204" pitchFamily="49" charset="0"/>
                <a:ea typeface="Menlo" panose="020B0609030804020204" pitchFamily="49" charset="0"/>
                <a:cs typeface="Menlo" panose="020B0609030804020204" pitchFamily="49" charset="0"/>
              </a:rPr>
              <a:t>var s4 = "It's even easier to use the other delimiter.";</a:t>
            </a:r>
          </a:p>
          <a:p>
            <a:endParaRPr lang="en-GB" dirty="0"/>
          </a:p>
          <a:p>
            <a:r>
              <a:rPr lang="en-GB" dirty="0"/>
              <a:t>It is possible to interpolate an expression inside a </a:t>
            </a:r>
            <a:r>
              <a:rPr lang="en-GB" dirty="0">
                <a:latin typeface="Menlo" panose="020B0609030804020204" pitchFamily="49" charset="0"/>
                <a:ea typeface="Menlo" panose="020B0609030804020204" pitchFamily="49" charset="0"/>
                <a:cs typeface="Menlo" panose="020B0609030804020204" pitchFamily="49" charset="0"/>
              </a:rPr>
              <a:t>String</a:t>
            </a:r>
            <a:r>
              <a:rPr lang="en-GB" dirty="0"/>
              <a:t> using </a:t>
            </a:r>
            <a:r>
              <a:rPr lang="en-GB" dirty="0">
                <a:latin typeface="Menlo" panose="020B0609030804020204" pitchFamily="49" charset="0"/>
                <a:ea typeface="Menlo" panose="020B0609030804020204" pitchFamily="49" charset="0"/>
                <a:cs typeface="Menlo" panose="020B0609030804020204" pitchFamily="49" charset="0"/>
              </a:rPr>
              <a:t>${expression}</a:t>
            </a:r>
          </a:p>
          <a:p>
            <a:pPr lvl="1"/>
            <a:r>
              <a:rPr lang="en-GB" dirty="0">
                <a:latin typeface="Menlo" panose="020B0609030804020204" pitchFamily="49" charset="0"/>
                <a:ea typeface="Menlo" panose="020B0609030804020204" pitchFamily="49" charset="0"/>
                <a:cs typeface="Menlo" panose="020B0609030804020204" pitchFamily="49" charset="0"/>
              </a:rPr>
              <a:t>int a = 4;</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int b = 3;</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print('a + b = ${</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a:t>
            </a:r>
          </a:p>
        </p:txBody>
      </p:sp>
      <p:sp>
        <p:nvSpPr>
          <p:cNvPr id="4" name="Slide Number Placeholder 3">
            <a:extLst>
              <a:ext uri="{FF2B5EF4-FFF2-40B4-BE49-F238E27FC236}">
                <a16:creationId xmlns:a16="http://schemas.microsoft.com/office/drawing/2014/main" id="{E37E19B1-432E-E240-96D0-2D4FC58106E0}"/>
              </a:ext>
            </a:extLst>
          </p:cNvPr>
          <p:cNvSpPr>
            <a:spLocks noGrp="1"/>
          </p:cNvSpPr>
          <p:nvPr>
            <p:ph type="sldNum" sz="quarter" idx="12"/>
          </p:nvPr>
        </p:nvSpPr>
        <p:spPr/>
        <p:txBody>
          <a:bodyPr/>
          <a:lstStyle/>
          <a:p>
            <a:fld id="{31DE2C5B-556E-47B8-A792-024C2FCA4ACC}" type="slidenum">
              <a:rPr lang="en-GB" smtClean="0"/>
              <a:t>14</a:t>
            </a:fld>
            <a:endParaRPr lang="en-GB"/>
          </a:p>
        </p:txBody>
      </p:sp>
    </p:spTree>
    <p:extLst>
      <p:ext uri="{BB962C8B-B14F-4D97-AF65-F5344CB8AC3E}">
        <p14:creationId xmlns:p14="http://schemas.microsoft.com/office/powerpoint/2010/main" val="328698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Built-in types - Strings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1368314" cy="5334907"/>
          </a:xfrm>
        </p:spPr>
        <p:txBody>
          <a:bodyPr>
            <a:normAutofit/>
          </a:bodyPr>
          <a:lstStyle/>
          <a:p>
            <a:r>
              <a:rPr lang="en-GB" dirty="0"/>
              <a:t>Strings can be concatenated using </a:t>
            </a:r>
            <a:r>
              <a:rPr lang="en-GB" dirty="0">
                <a:latin typeface="Courier" pitchFamily="2" charset="0"/>
              </a:rPr>
              <a:t>+</a:t>
            </a:r>
          </a:p>
          <a:p>
            <a:pPr lvl="1"/>
            <a:r>
              <a:rPr lang="en-GB" dirty="0">
                <a:latin typeface="Menlo" panose="020B0609030804020204" pitchFamily="49" charset="0"/>
                <a:ea typeface="Menlo" panose="020B0609030804020204" pitchFamily="49" charset="0"/>
                <a:cs typeface="Menlo" panose="020B0609030804020204" pitchFamily="49" charset="0"/>
              </a:rPr>
              <a:t>final hello = 'Hello’;</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final world = 'world’;</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print(hello + ' ' + world + '!');</a:t>
            </a:r>
          </a:p>
          <a:p>
            <a:r>
              <a:rPr lang="en-GB" dirty="0"/>
              <a:t>As you can imagine, the String class has many handy methods and variables. Here's some examples:</a:t>
            </a:r>
          </a:p>
          <a:p>
            <a:pPr lvl="1"/>
            <a:r>
              <a:rPr lang="en-GB" dirty="0">
                <a:latin typeface="Menlo" panose="020B0609030804020204" pitchFamily="49" charset="0"/>
                <a:ea typeface="Menlo" panose="020B0609030804020204" pitchFamily="49" charset="0"/>
                <a:cs typeface="Menlo" panose="020B0609030804020204" pitchFamily="49" charset="0"/>
              </a:rPr>
              <a:t>final str = 'test string’;</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str.length</a:t>
            </a:r>
            <a:r>
              <a:rPr lang="en-GB" dirty="0">
                <a:latin typeface="Menlo" panose="020B0609030804020204" pitchFamily="49" charset="0"/>
                <a:ea typeface="Menlo" panose="020B0609030804020204" pitchFamily="49" charset="0"/>
                <a:cs typeface="Menlo" panose="020B0609030804020204" pitchFamily="49" charset="0"/>
              </a:rPr>
              <a:t>); //Gets the length of a string</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str.toUpperCase</a:t>
            </a:r>
            <a:r>
              <a:rPr lang="en-GB" dirty="0">
                <a:latin typeface="Menlo" panose="020B0609030804020204" pitchFamily="49" charset="0"/>
                <a:ea typeface="Menlo" panose="020B0609030804020204" pitchFamily="49" charset="0"/>
                <a:cs typeface="Menlo" panose="020B0609030804020204" pitchFamily="49" charset="0"/>
              </a:rPr>
              <a:t>()); //Converts the whole string to upper case</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str.contains</a:t>
            </a:r>
            <a:r>
              <a:rPr lang="en-GB" dirty="0">
                <a:latin typeface="Menlo" panose="020B0609030804020204" pitchFamily="49" charset="0"/>
                <a:ea typeface="Menlo" panose="020B0609030804020204" pitchFamily="49" charset="0"/>
                <a:cs typeface="Menlo" panose="020B0609030804020204" pitchFamily="49" charset="0"/>
              </a:rPr>
              <a:t>('str')); //Checks if a string contains a pattern</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str.indexOf</a:t>
            </a:r>
            <a:r>
              <a:rPr lang="en-GB" dirty="0">
                <a:latin typeface="Menlo" panose="020B0609030804020204" pitchFamily="49" charset="0"/>
                <a:ea typeface="Menlo" panose="020B0609030804020204" pitchFamily="49" charset="0"/>
                <a:cs typeface="Menlo" panose="020B0609030804020204" pitchFamily="49" charset="0"/>
              </a:rPr>
              <a:t>('str')); //Tells where a pattern is within a string</a:t>
            </a:r>
          </a:p>
          <a:p>
            <a:r>
              <a:rPr lang="en-GB" dirty="0"/>
              <a:t>There’s a lot more…</a:t>
            </a:r>
          </a:p>
        </p:txBody>
      </p:sp>
      <p:sp>
        <p:nvSpPr>
          <p:cNvPr id="4" name="Slide Number Placeholder 3">
            <a:extLst>
              <a:ext uri="{FF2B5EF4-FFF2-40B4-BE49-F238E27FC236}">
                <a16:creationId xmlns:a16="http://schemas.microsoft.com/office/drawing/2014/main" id="{9F185BC9-A4E3-AB4A-AD7C-A6C3DDD39F2C}"/>
              </a:ext>
            </a:extLst>
          </p:cNvPr>
          <p:cNvSpPr>
            <a:spLocks noGrp="1"/>
          </p:cNvSpPr>
          <p:nvPr>
            <p:ph type="sldNum" sz="quarter" idx="12"/>
          </p:nvPr>
        </p:nvSpPr>
        <p:spPr/>
        <p:txBody>
          <a:bodyPr/>
          <a:lstStyle/>
          <a:p>
            <a:fld id="{31DE2C5B-556E-47B8-A792-024C2FCA4ACC}" type="slidenum">
              <a:rPr lang="en-GB" smtClean="0"/>
              <a:t>15</a:t>
            </a:fld>
            <a:endParaRPr lang="en-GB"/>
          </a:p>
        </p:txBody>
      </p:sp>
    </p:spTree>
    <p:extLst>
      <p:ext uri="{BB962C8B-B14F-4D97-AF65-F5344CB8AC3E}">
        <p14:creationId xmlns:p14="http://schemas.microsoft.com/office/powerpoint/2010/main" val="670349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Built-in types - Booleans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8101679" cy="5334907"/>
          </a:xfrm>
        </p:spPr>
        <p:txBody>
          <a:bodyPr>
            <a:normAutofit/>
          </a:bodyPr>
          <a:lstStyle/>
          <a:p>
            <a:r>
              <a:rPr lang="en-GB" dirty="0"/>
              <a:t>To represent </a:t>
            </a:r>
            <a:r>
              <a:rPr lang="en-GB" dirty="0" err="1"/>
              <a:t>booleans</a:t>
            </a:r>
            <a:r>
              <a:rPr lang="en-GB" dirty="0"/>
              <a:t>, Dart uses the </a:t>
            </a:r>
            <a:r>
              <a:rPr lang="en-GB" dirty="0">
                <a:latin typeface="Menlo" panose="020B0609030804020204" pitchFamily="49" charset="0"/>
                <a:ea typeface="Menlo" panose="020B0609030804020204" pitchFamily="49" charset="0"/>
                <a:cs typeface="Menlo" panose="020B0609030804020204" pitchFamily="49" charset="0"/>
              </a:rPr>
              <a:t>bool</a:t>
            </a:r>
            <a:r>
              <a:rPr lang="en-GB" dirty="0"/>
              <a:t> type</a:t>
            </a:r>
          </a:p>
          <a:p>
            <a:pPr lvl="1"/>
            <a:r>
              <a:rPr lang="en-GB" dirty="0">
                <a:latin typeface="Menlo" panose="020B0609030804020204" pitchFamily="49" charset="0"/>
                <a:ea typeface="Menlo" panose="020B0609030804020204" pitchFamily="49" charset="0"/>
                <a:cs typeface="Menlo" panose="020B0609030804020204" pitchFamily="49" charset="0"/>
              </a:rPr>
              <a:t>bool flag = true; //or false</a:t>
            </a:r>
          </a:p>
        </p:txBody>
      </p:sp>
      <p:sp>
        <p:nvSpPr>
          <p:cNvPr id="4" name="Slide Number Placeholder 3">
            <a:extLst>
              <a:ext uri="{FF2B5EF4-FFF2-40B4-BE49-F238E27FC236}">
                <a16:creationId xmlns:a16="http://schemas.microsoft.com/office/drawing/2014/main" id="{AA13A636-9B16-FA4B-8335-55BF06BCC234}"/>
              </a:ext>
            </a:extLst>
          </p:cNvPr>
          <p:cNvSpPr>
            <a:spLocks noGrp="1"/>
          </p:cNvSpPr>
          <p:nvPr>
            <p:ph type="sldNum" sz="quarter" idx="12"/>
          </p:nvPr>
        </p:nvSpPr>
        <p:spPr/>
        <p:txBody>
          <a:bodyPr/>
          <a:lstStyle/>
          <a:p>
            <a:fld id="{31DE2C5B-556E-47B8-A792-024C2FCA4ACC}" type="slidenum">
              <a:rPr lang="en-GB" smtClean="0"/>
              <a:t>16</a:t>
            </a:fld>
            <a:endParaRPr lang="en-GB"/>
          </a:p>
        </p:txBody>
      </p:sp>
    </p:spTree>
    <p:extLst>
      <p:ext uri="{BB962C8B-B14F-4D97-AF65-F5344CB8AC3E}">
        <p14:creationId xmlns:p14="http://schemas.microsoft.com/office/powerpoint/2010/main" val="1791606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Built-in types - Lists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0" y="1361167"/>
            <a:ext cx="11158087" cy="5334907"/>
          </a:xfrm>
        </p:spPr>
        <p:txBody>
          <a:bodyPr>
            <a:normAutofit fontScale="92500" lnSpcReduction="10000"/>
          </a:bodyPr>
          <a:lstStyle/>
          <a:p>
            <a:r>
              <a:rPr lang="en-GB" dirty="0"/>
              <a:t>Arrays, in Dart, are represented as </a:t>
            </a:r>
            <a:r>
              <a:rPr lang="en-GB" dirty="0">
                <a:latin typeface="Menlo" panose="020B0609030804020204" pitchFamily="49" charset="0"/>
                <a:ea typeface="Menlo" panose="020B0609030804020204" pitchFamily="49" charset="0"/>
                <a:cs typeface="Menlo" panose="020B0609030804020204" pitchFamily="49" charset="0"/>
              </a:rPr>
              <a:t>List</a:t>
            </a:r>
            <a:r>
              <a:rPr lang="en-GB" dirty="0"/>
              <a:t> objects.</a:t>
            </a:r>
          </a:p>
          <a:p>
            <a:pPr lvl="1"/>
            <a:r>
              <a:rPr lang="en-GB" dirty="0">
                <a:latin typeface="Menlo" panose="020B0609030804020204" pitchFamily="49" charset="0"/>
                <a:ea typeface="Menlo" panose="020B0609030804020204" pitchFamily="49" charset="0"/>
                <a:cs typeface="Menlo" panose="020B0609030804020204" pitchFamily="49" charset="0"/>
              </a:rPr>
              <a:t>var </a:t>
            </a:r>
            <a:r>
              <a:rPr lang="en-GB" dirty="0" err="1">
                <a:latin typeface="Menlo" panose="020B0609030804020204" pitchFamily="49" charset="0"/>
                <a:ea typeface="Menlo" panose="020B0609030804020204" pitchFamily="49" charset="0"/>
                <a:cs typeface="Menlo" panose="020B0609030804020204" pitchFamily="49" charset="0"/>
              </a:rPr>
              <a:t>listInferred</a:t>
            </a:r>
            <a:r>
              <a:rPr lang="en-GB" dirty="0">
                <a:latin typeface="Menlo" panose="020B0609030804020204" pitchFamily="49" charset="0"/>
                <a:ea typeface="Menlo" panose="020B0609030804020204" pitchFamily="49" charset="0"/>
                <a:cs typeface="Menlo" panose="020B0609030804020204" pitchFamily="49" charset="0"/>
              </a:rPr>
              <a:t> = [1,2,3]; //Type inferred</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List&lt;int&gt; </a:t>
            </a:r>
            <a:r>
              <a:rPr lang="en-GB" dirty="0" err="1">
                <a:latin typeface="Menlo" panose="020B0609030804020204" pitchFamily="49" charset="0"/>
                <a:ea typeface="Menlo" panose="020B0609030804020204" pitchFamily="49" charset="0"/>
                <a:cs typeface="Menlo" panose="020B0609030804020204" pitchFamily="49" charset="0"/>
              </a:rPr>
              <a:t>listNotInferred</a:t>
            </a:r>
            <a:r>
              <a:rPr lang="en-GB" dirty="0">
                <a:latin typeface="Menlo" panose="020B0609030804020204" pitchFamily="49" charset="0"/>
                <a:ea typeface="Menlo" panose="020B0609030804020204" pitchFamily="49" charset="0"/>
                <a:cs typeface="Menlo" panose="020B0609030804020204" pitchFamily="49" charset="0"/>
              </a:rPr>
              <a:t> = [1,2,3]; //Type </a:t>
            </a:r>
            <a:r>
              <a:rPr lang="en-GB" dirty="0" err="1">
                <a:latin typeface="Menlo" panose="020B0609030804020204" pitchFamily="49" charset="0"/>
                <a:ea typeface="Menlo" panose="020B0609030804020204" pitchFamily="49" charset="0"/>
                <a:cs typeface="Menlo" panose="020B0609030804020204" pitchFamily="49" charset="0"/>
              </a:rPr>
              <a:t>explicited</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assert(</a:t>
            </a:r>
            <a:r>
              <a:rPr lang="en-GB" dirty="0" err="1">
                <a:latin typeface="Menlo" panose="020B0609030804020204" pitchFamily="49" charset="0"/>
                <a:ea typeface="Menlo" panose="020B0609030804020204" pitchFamily="49" charset="0"/>
                <a:cs typeface="Menlo" panose="020B0609030804020204" pitchFamily="49" charset="0"/>
              </a:rPr>
              <a:t>listInferred</a:t>
            </a:r>
            <a:r>
              <a:rPr lang="en-GB" dirty="0">
                <a:latin typeface="Menlo" panose="020B0609030804020204" pitchFamily="49" charset="0"/>
                <a:ea typeface="Menlo" panose="020B0609030804020204" pitchFamily="49" charset="0"/>
                <a:cs typeface="Menlo" panose="020B0609030804020204" pitchFamily="49" charset="0"/>
              </a:rPr>
              <a:t> != </a:t>
            </a:r>
            <a:r>
              <a:rPr lang="en-GB" dirty="0" err="1">
                <a:latin typeface="Menlo" panose="020B0609030804020204" pitchFamily="49" charset="0"/>
                <a:ea typeface="Menlo" panose="020B0609030804020204" pitchFamily="49" charset="0"/>
                <a:cs typeface="Menlo" panose="020B0609030804020204" pitchFamily="49" charset="0"/>
              </a:rPr>
              <a:t>listNotInferred</a:t>
            </a:r>
            <a:r>
              <a:rPr lang="en-GB" dirty="0">
                <a:latin typeface="Menlo" panose="020B0609030804020204" pitchFamily="49" charset="0"/>
                <a:ea typeface="Menlo" panose="020B0609030804020204" pitchFamily="49" charset="0"/>
                <a:cs typeface="Menlo" panose="020B0609030804020204" pitchFamily="49" charset="0"/>
              </a:rPr>
              <a:t>); //However they are not equal!</a:t>
            </a:r>
          </a:p>
          <a:p>
            <a:r>
              <a:rPr lang="en-GB" dirty="0"/>
              <a:t>List elements can be accessed by index (they start from 0):</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listInferred</a:t>
            </a:r>
            <a:r>
              <a:rPr lang="en-GB" dirty="0">
                <a:latin typeface="Menlo" panose="020B0609030804020204" pitchFamily="49" charset="0"/>
                <a:ea typeface="Menlo" panose="020B0609030804020204" pitchFamily="49" charset="0"/>
                <a:cs typeface="Menlo" panose="020B0609030804020204" pitchFamily="49" charset="0"/>
              </a:rPr>
              <a:t>[1]); //This will print '2'</a:t>
            </a:r>
          </a:p>
          <a:p>
            <a:r>
              <a:rPr lang="en-GB" dirty="0"/>
              <a:t>Length of a list can be accessed via the length instance variable</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listInferred.length</a:t>
            </a:r>
            <a:r>
              <a:rPr lang="en-GB" dirty="0">
                <a:latin typeface="Menlo" panose="020B0609030804020204" pitchFamily="49" charset="0"/>
                <a:ea typeface="Menlo" panose="020B0609030804020204" pitchFamily="49" charset="0"/>
                <a:cs typeface="Menlo" panose="020B0609030804020204" pitchFamily="49" charset="0"/>
              </a:rPr>
              <a:t>); //This will print '3'</a:t>
            </a:r>
            <a:r>
              <a:rPr lang="en-GB" dirty="0">
                <a:latin typeface="Courier" pitchFamily="2" charset="0"/>
              </a:rPr>
              <a:t> </a:t>
            </a:r>
          </a:p>
          <a:p>
            <a:r>
              <a:rPr lang="en-GB" dirty="0"/>
              <a:t>As strings, Dart comes with handy features for lists</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listInferred.reversed</a:t>
            </a:r>
            <a:r>
              <a:rPr lang="en-GB" dirty="0">
                <a:latin typeface="Menlo" panose="020B0609030804020204" pitchFamily="49" charset="0"/>
                <a:ea typeface="Menlo" panose="020B0609030804020204" pitchFamily="49" charset="0"/>
                <a:cs typeface="Menlo" panose="020B0609030804020204" pitchFamily="49" charset="0"/>
              </a:rPr>
              <a:t>); //This will obtain the list in reversed order</a:t>
            </a:r>
          </a:p>
          <a:p>
            <a:pPr lvl="1"/>
            <a:r>
              <a:rPr lang="en-GB" dirty="0" err="1">
                <a:latin typeface="Menlo" panose="020B0609030804020204" pitchFamily="49" charset="0"/>
                <a:ea typeface="Menlo" panose="020B0609030804020204" pitchFamily="49" charset="0"/>
                <a:cs typeface="Menlo" panose="020B0609030804020204" pitchFamily="49" charset="0"/>
              </a:rPr>
              <a:t>listInferred.add</a:t>
            </a:r>
            <a:r>
              <a:rPr lang="en-GB" dirty="0">
                <a:latin typeface="Menlo" panose="020B0609030804020204" pitchFamily="49" charset="0"/>
                <a:ea typeface="Menlo" panose="020B0609030804020204" pitchFamily="49" charset="0"/>
                <a:cs typeface="Menlo" panose="020B0609030804020204" pitchFamily="49" charset="0"/>
              </a:rPr>
              <a:t>(4); //This will add a 4 to the tail of the list</a:t>
            </a:r>
          </a:p>
          <a:p>
            <a:pPr lvl="1"/>
            <a:r>
              <a:rPr lang="en-GB" dirty="0" err="1">
                <a:latin typeface="Menlo" panose="020B0609030804020204" pitchFamily="49" charset="0"/>
                <a:ea typeface="Menlo" panose="020B0609030804020204" pitchFamily="49" charset="0"/>
                <a:cs typeface="Menlo" panose="020B0609030804020204" pitchFamily="49" charset="0"/>
              </a:rPr>
              <a:t>listInferred</a:t>
            </a:r>
            <a:r>
              <a:rPr lang="en-GB" dirty="0">
                <a:latin typeface="Menlo" panose="020B0609030804020204" pitchFamily="49" charset="0"/>
                <a:ea typeface="Menlo" panose="020B0609030804020204" pitchFamily="49" charset="0"/>
                <a:cs typeface="Menlo" panose="020B0609030804020204" pitchFamily="49" charset="0"/>
              </a:rPr>
              <a:t> = [0, ...</a:t>
            </a:r>
            <a:r>
              <a:rPr lang="en-GB" dirty="0" err="1">
                <a:latin typeface="Menlo" panose="020B0609030804020204" pitchFamily="49" charset="0"/>
                <a:ea typeface="Menlo" panose="020B0609030804020204" pitchFamily="49" charset="0"/>
                <a:cs typeface="Menlo" panose="020B0609030804020204" pitchFamily="49" charset="0"/>
              </a:rPr>
              <a:t>listInferred</a:t>
            </a:r>
            <a:r>
              <a:rPr lang="en-GB" dirty="0">
                <a:latin typeface="Menlo" panose="020B0609030804020204" pitchFamily="49" charset="0"/>
                <a:ea typeface="Menlo" panose="020B0609030804020204" pitchFamily="49" charset="0"/>
                <a:cs typeface="Menlo" panose="020B0609030804020204" pitchFamily="49" charset="0"/>
              </a:rPr>
              <a:t>]; //This will add a 0 to the head of the list (using the spread operator ...)</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listInferred</a:t>
            </a:r>
            <a:r>
              <a:rPr lang="en-GB" dirty="0">
                <a:latin typeface="Menlo" panose="020B0609030804020204" pitchFamily="49" charset="0"/>
                <a:ea typeface="Menlo" panose="020B0609030804020204" pitchFamily="49" charset="0"/>
                <a:cs typeface="Menlo" panose="020B0609030804020204" pitchFamily="49" charset="0"/>
              </a:rPr>
              <a:t>);</a:t>
            </a:r>
          </a:p>
          <a:p>
            <a:r>
              <a:rPr lang="en-GB" dirty="0"/>
              <a:t>There’s a lot more…</a:t>
            </a:r>
          </a:p>
          <a:p>
            <a:pPr lvl="1"/>
            <a:endParaRPr lang="en-GB" dirty="0">
              <a:latin typeface="Courier" pitchFamily="2" charset="0"/>
            </a:endParaRPr>
          </a:p>
        </p:txBody>
      </p:sp>
      <p:sp>
        <p:nvSpPr>
          <p:cNvPr id="4" name="Slide Number Placeholder 3">
            <a:extLst>
              <a:ext uri="{FF2B5EF4-FFF2-40B4-BE49-F238E27FC236}">
                <a16:creationId xmlns:a16="http://schemas.microsoft.com/office/drawing/2014/main" id="{DD9C054E-38C2-814C-9411-23BC79AA0CA6}"/>
              </a:ext>
            </a:extLst>
          </p:cNvPr>
          <p:cNvSpPr>
            <a:spLocks noGrp="1"/>
          </p:cNvSpPr>
          <p:nvPr>
            <p:ph type="sldNum" sz="quarter" idx="12"/>
          </p:nvPr>
        </p:nvSpPr>
        <p:spPr/>
        <p:txBody>
          <a:bodyPr/>
          <a:lstStyle/>
          <a:p>
            <a:fld id="{31DE2C5B-556E-47B8-A792-024C2FCA4ACC}" type="slidenum">
              <a:rPr lang="en-GB" smtClean="0"/>
              <a:t>17</a:t>
            </a:fld>
            <a:endParaRPr lang="en-GB"/>
          </a:p>
        </p:txBody>
      </p:sp>
    </p:spTree>
    <p:extLst>
      <p:ext uri="{BB962C8B-B14F-4D97-AF65-F5344CB8AC3E}">
        <p14:creationId xmlns:p14="http://schemas.microsoft.com/office/powerpoint/2010/main" val="3595239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GB" dirty="0"/>
              <a:t>List - m</a:t>
            </a:r>
            <a:r>
              <a:rPr lang="en-IT"/>
              <a:t>ap</a:t>
            </a:r>
            <a:r>
              <a:rPr lang="en-IT" dirty="0"/>
              <a:t>() method</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8"/>
            <a:ext cx="10766302" cy="5072290"/>
          </a:xfrm>
        </p:spPr>
        <p:txBody>
          <a:bodyPr>
            <a:normAutofit/>
          </a:bodyPr>
          <a:lstStyle/>
          <a:p>
            <a:r>
              <a:rPr lang="en-GB" dirty="0"/>
              <a:t>A special ”functionality” of the </a:t>
            </a:r>
            <a:r>
              <a:rPr lang="en-GB" dirty="0">
                <a:latin typeface="Menlo" panose="020B0609030804020204" pitchFamily="49" charset="0"/>
                <a:ea typeface="Menlo" panose="020B0609030804020204" pitchFamily="49" charset="0"/>
                <a:cs typeface="Menlo" panose="020B0609030804020204" pitchFamily="49" charset="0"/>
              </a:rPr>
              <a:t>List</a:t>
            </a:r>
            <a:r>
              <a:rPr lang="en-GB" dirty="0"/>
              <a:t> type is the </a:t>
            </a:r>
            <a:r>
              <a:rPr lang="en-GB" dirty="0">
                <a:latin typeface="Menlo" panose="020B0609030804020204" pitchFamily="49" charset="0"/>
                <a:ea typeface="Menlo" panose="020B0609030804020204" pitchFamily="49" charset="0"/>
                <a:cs typeface="Menlo" panose="020B0609030804020204" pitchFamily="49" charset="0"/>
              </a:rPr>
              <a:t>map() </a:t>
            </a:r>
            <a:r>
              <a:rPr lang="en-GB" dirty="0"/>
              <a:t>method.</a:t>
            </a:r>
          </a:p>
          <a:p>
            <a:endParaRPr lang="en-GB" dirty="0"/>
          </a:p>
          <a:p>
            <a:r>
              <a:rPr lang="en-GB" dirty="0">
                <a:latin typeface="Menlo" panose="020B0609030804020204" pitchFamily="49" charset="0"/>
                <a:ea typeface="Menlo" panose="020B0609030804020204" pitchFamily="49" charset="0"/>
                <a:cs typeface="Menlo" panose="020B0609030804020204" pitchFamily="49" charset="0"/>
              </a:rPr>
              <a:t>map() </a:t>
            </a:r>
            <a:r>
              <a:rPr lang="en-GB" dirty="0"/>
              <a:t>takes as input a function that applies “something” element-by-element to the given </a:t>
            </a:r>
            <a:r>
              <a:rPr lang="en-GB" dirty="0">
                <a:latin typeface="Menlo" panose="020B0609030804020204" pitchFamily="49" charset="0"/>
                <a:ea typeface="Menlo" panose="020B0609030804020204" pitchFamily="49" charset="0"/>
                <a:cs typeface="Menlo" panose="020B0609030804020204" pitchFamily="49" charset="0"/>
              </a:rPr>
              <a:t>List</a:t>
            </a:r>
            <a:r>
              <a:rPr lang="en-GB" dirty="0">
                <a:latin typeface="Courier" pitchFamily="2" charset="0"/>
              </a:rPr>
              <a:t>:</a:t>
            </a:r>
          </a:p>
          <a:p>
            <a:pPr lvl="1"/>
            <a:r>
              <a:rPr lang="en-GB" dirty="0">
                <a:latin typeface="Menlo" panose="020B0609030804020204" pitchFamily="49" charset="0"/>
                <a:ea typeface="Menlo" panose="020B0609030804020204" pitchFamily="49" charset="0"/>
                <a:cs typeface="Menlo" panose="020B0609030804020204" pitchFamily="49" charset="0"/>
              </a:rPr>
              <a:t>final </a:t>
            </a:r>
            <a:r>
              <a:rPr lang="en-GB" dirty="0" err="1">
                <a:latin typeface="Menlo" panose="020B0609030804020204" pitchFamily="49" charset="0"/>
                <a:ea typeface="Menlo" panose="020B0609030804020204" pitchFamily="49" charset="0"/>
                <a:cs typeface="Menlo" panose="020B0609030804020204" pitchFamily="49" charset="0"/>
              </a:rPr>
              <a:t>mappedList</a:t>
            </a:r>
            <a:r>
              <a:rPr lang="en-GB" dirty="0">
                <a:latin typeface="Menlo" panose="020B0609030804020204" pitchFamily="49" charset="0"/>
                <a:ea typeface="Menlo" panose="020B0609030804020204" pitchFamily="49" charset="0"/>
                <a:cs typeface="Menlo" panose="020B0609030804020204" pitchFamily="49" charset="0"/>
              </a:rPr>
              <a:t> = [1,2,3].map((element)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return element * 2;</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mappedList</a:t>
            </a:r>
            <a:r>
              <a:rPr lang="en-GB" dirty="0">
                <a:latin typeface="Menlo" panose="020B0609030804020204" pitchFamily="49" charset="0"/>
                <a:ea typeface="Menlo" panose="020B0609030804020204" pitchFamily="49" charset="0"/>
                <a:cs typeface="Menlo" panose="020B0609030804020204" pitchFamily="49" charset="0"/>
              </a:rPr>
              <a:t>}’); //This will print [2,4,6]</a:t>
            </a:r>
          </a:p>
        </p:txBody>
      </p:sp>
      <p:sp>
        <p:nvSpPr>
          <p:cNvPr id="4" name="Slide Number Placeholder 3">
            <a:extLst>
              <a:ext uri="{FF2B5EF4-FFF2-40B4-BE49-F238E27FC236}">
                <a16:creationId xmlns:a16="http://schemas.microsoft.com/office/drawing/2014/main" id="{A0E6C0FE-FAD0-1D49-A25E-E3F0C4BC8587}"/>
              </a:ext>
            </a:extLst>
          </p:cNvPr>
          <p:cNvSpPr>
            <a:spLocks noGrp="1"/>
          </p:cNvSpPr>
          <p:nvPr>
            <p:ph type="sldNum" sz="quarter" idx="12"/>
          </p:nvPr>
        </p:nvSpPr>
        <p:spPr/>
        <p:txBody>
          <a:bodyPr/>
          <a:lstStyle/>
          <a:p>
            <a:fld id="{31DE2C5B-556E-47B8-A792-024C2FCA4ACC}" type="slidenum">
              <a:rPr lang="en-GB" smtClean="0"/>
              <a:t>18</a:t>
            </a:fld>
            <a:endParaRPr lang="en-GB"/>
          </a:p>
        </p:txBody>
      </p:sp>
    </p:spTree>
    <p:extLst>
      <p:ext uri="{BB962C8B-B14F-4D97-AF65-F5344CB8AC3E}">
        <p14:creationId xmlns:p14="http://schemas.microsoft.com/office/powerpoint/2010/main" val="3436622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Built-in types - Maps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fontScale="85000" lnSpcReduction="20000"/>
          </a:bodyPr>
          <a:lstStyle/>
          <a:p>
            <a:r>
              <a:rPr lang="en-GB" dirty="0"/>
              <a:t>A useful collection type in Dart is the </a:t>
            </a:r>
            <a:r>
              <a:rPr lang="en-GB" dirty="0">
                <a:latin typeface="Menlo" panose="020B0609030804020204" pitchFamily="49" charset="0"/>
                <a:ea typeface="Menlo" panose="020B0609030804020204" pitchFamily="49" charset="0"/>
                <a:cs typeface="Menlo" panose="020B0609030804020204" pitchFamily="49" charset="0"/>
              </a:rPr>
              <a:t>Map</a:t>
            </a:r>
            <a:r>
              <a:rPr lang="en-GB" dirty="0"/>
              <a:t> type. A </a:t>
            </a:r>
            <a:r>
              <a:rPr lang="en-GB" dirty="0">
                <a:latin typeface="Menlo" panose="020B0609030804020204" pitchFamily="49" charset="0"/>
                <a:ea typeface="Menlo" panose="020B0609030804020204" pitchFamily="49" charset="0"/>
                <a:cs typeface="Menlo" panose="020B0609030804020204" pitchFamily="49" charset="0"/>
              </a:rPr>
              <a:t>Map</a:t>
            </a:r>
            <a:r>
              <a:rPr lang="en-GB" dirty="0"/>
              <a:t> is an object that associates keys and values.</a:t>
            </a:r>
          </a:p>
          <a:p>
            <a:r>
              <a:rPr lang="en-GB" dirty="0"/>
              <a:t>Each key occurs only once; values can occur multiple times.</a:t>
            </a:r>
          </a:p>
          <a:p>
            <a:pPr lvl="1"/>
            <a:r>
              <a:rPr lang="en-GB" dirty="0">
                <a:latin typeface="Menlo" panose="020B0609030804020204" pitchFamily="49" charset="0"/>
                <a:ea typeface="Menlo" panose="020B0609030804020204" pitchFamily="49" charset="0"/>
                <a:cs typeface="Menlo" panose="020B0609030804020204" pitchFamily="49" charset="0"/>
              </a:rPr>
              <a:t>var </a:t>
            </a:r>
            <a:r>
              <a:rPr lang="en-GB" dirty="0" err="1">
                <a:latin typeface="Menlo" panose="020B0609030804020204" pitchFamily="49" charset="0"/>
                <a:ea typeface="Menlo" panose="020B0609030804020204" pitchFamily="49" charset="0"/>
                <a:cs typeface="Menlo" panose="020B0609030804020204" pitchFamily="49" charset="0"/>
              </a:rPr>
              <a:t>mapInferred</a:t>
            </a:r>
            <a:r>
              <a:rPr lang="en-GB" dirty="0">
                <a:latin typeface="Menlo" panose="020B0609030804020204" pitchFamily="49" charset="0"/>
                <a:ea typeface="Menlo" panose="020B0609030804020204" pitchFamily="49" charset="0"/>
                <a:cs typeface="Menlo" panose="020B0609030804020204" pitchFamily="49" charset="0"/>
              </a:rPr>
              <a:t> = {2: 'helium’, 10: 'neon’, 18: 'argon’}; //Type inferred</a:t>
            </a:r>
          </a:p>
          <a:p>
            <a:pPr lvl="1"/>
            <a:r>
              <a:rPr lang="en-GB" dirty="0">
                <a:latin typeface="Menlo" panose="020B0609030804020204" pitchFamily="49" charset="0"/>
                <a:ea typeface="Menlo" panose="020B0609030804020204" pitchFamily="49" charset="0"/>
                <a:cs typeface="Menlo" panose="020B0609030804020204" pitchFamily="49" charset="0"/>
              </a:rPr>
              <a:t>Map&lt;int, String&gt; </a:t>
            </a:r>
            <a:r>
              <a:rPr lang="en-GB" dirty="0" err="1">
                <a:latin typeface="Menlo" panose="020B0609030804020204" pitchFamily="49" charset="0"/>
                <a:ea typeface="Menlo" panose="020B0609030804020204" pitchFamily="49" charset="0"/>
                <a:cs typeface="Menlo" panose="020B0609030804020204" pitchFamily="49" charset="0"/>
              </a:rPr>
              <a:t>mapNotInferred</a:t>
            </a:r>
            <a:r>
              <a:rPr lang="en-GB" dirty="0">
                <a:latin typeface="Menlo" panose="020B0609030804020204" pitchFamily="49" charset="0"/>
                <a:ea typeface="Menlo" panose="020B0609030804020204" pitchFamily="49" charset="0"/>
                <a:cs typeface="Menlo" panose="020B0609030804020204" pitchFamily="49" charset="0"/>
              </a:rPr>
              <a:t> = {2: 'helium’, 10: 'neon’, 18: 'argon'}; //Type not inferred</a:t>
            </a:r>
          </a:p>
          <a:p>
            <a:pPr lvl="1"/>
            <a:r>
              <a:rPr lang="en-GB" dirty="0">
                <a:latin typeface="Menlo" panose="020B0609030804020204" pitchFamily="49" charset="0"/>
                <a:ea typeface="Menlo" panose="020B0609030804020204" pitchFamily="49" charset="0"/>
                <a:cs typeface="Menlo" panose="020B0609030804020204" pitchFamily="49" charset="0"/>
              </a:rPr>
              <a:t>assert(</a:t>
            </a:r>
            <a:r>
              <a:rPr lang="en-GB" dirty="0" err="1">
                <a:latin typeface="Menlo" panose="020B0609030804020204" pitchFamily="49" charset="0"/>
                <a:ea typeface="Menlo" panose="020B0609030804020204" pitchFamily="49" charset="0"/>
                <a:cs typeface="Menlo" panose="020B0609030804020204" pitchFamily="49" charset="0"/>
              </a:rPr>
              <a:t>mapInferred</a:t>
            </a:r>
            <a:r>
              <a:rPr lang="en-GB" dirty="0">
                <a:latin typeface="Menlo" panose="020B0609030804020204" pitchFamily="49" charset="0"/>
                <a:ea typeface="Menlo" panose="020B0609030804020204" pitchFamily="49" charset="0"/>
                <a:cs typeface="Menlo" panose="020B0609030804020204" pitchFamily="49" charset="0"/>
              </a:rPr>
              <a:t> != </a:t>
            </a:r>
            <a:r>
              <a:rPr lang="en-GB" dirty="0" err="1">
                <a:latin typeface="Menlo" panose="020B0609030804020204" pitchFamily="49" charset="0"/>
                <a:ea typeface="Menlo" panose="020B0609030804020204" pitchFamily="49" charset="0"/>
                <a:cs typeface="Menlo" panose="020B0609030804020204" pitchFamily="49" charset="0"/>
              </a:rPr>
              <a:t>mapNotInferred</a:t>
            </a:r>
            <a:r>
              <a:rPr lang="en-GB" dirty="0">
                <a:latin typeface="Menlo" panose="020B0609030804020204" pitchFamily="49" charset="0"/>
                <a:ea typeface="Menlo" panose="020B0609030804020204" pitchFamily="49" charset="0"/>
                <a:cs typeface="Menlo" panose="020B0609030804020204" pitchFamily="49" charset="0"/>
              </a:rPr>
              <a:t>); //Again they are not equal!</a:t>
            </a:r>
          </a:p>
          <a:p>
            <a:r>
              <a:rPr lang="en-GB" dirty="0"/>
              <a:t>Elements of a map can be accessed via the key.</a:t>
            </a:r>
          </a:p>
          <a:p>
            <a:pPr lvl="1"/>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mapInferred</a:t>
            </a:r>
            <a:r>
              <a:rPr lang="en-GB" dirty="0">
                <a:latin typeface="Menlo" panose="020B0609030804020204" pitchFamily="49" charset="0"/>
                <a:ea typeface="Menlo" panose="020B0609030804020204" pitchFamily="49" charset="0"/>
                <a:cs typeface="Menlo" panose="020B0609030804020204" pitchFamily="49" charset="0"/>
              </a:rPr>
              <a:t>[2]); //This will print 'helium'</a:t>
            </a:r>
          </a:p>
          <a:p>
            <a:r>
              <a:rPr lang="en-GB" dirty="0"/>
              <a:t>It is possible to add key-value pairs to the map by simply</a:t>
            </a:r>
          </a:p>
          <a:p>
            <a:pPr lvl="1"/>
            <a:r>
              <a:rPr lang="en-GB" dirty="0" err="1">
                <a:latin typeface="Menlo" panose="020B0609030804020204" pitchFamily="49" charset="0"/>
                <a:ea typeface="Menlo" panose="020B0609030804020204" pitchFamily="49" charset="0"/>
                <a:cs typeface="Menlo" panose="020B0609030804020204" pitchFamily="49" charset="0"/>
              </a:rPr>
              <a:t>mapInferred</a:t>
            </a:r>
            <a:r>
              <a:rPr lang="en-GB" dirty="0">
                <a:latin typeface="Menlo" panose="020B0609030804020204" pitchFamily="49" charset="0"/>
                <a:ea typeface="Menlo" panose="020B0609030804020204" pitchFamily="49" charset="0"/>
                <a:cs typeface="Menlo" panose="020B0609030804020204" pitchFamily="49" charset="0"/>
              </a:rPr>
              <a:t>[1] = 'hydrogen';</a:t>
            </a:r>
          </a:p>
          <a:p>
            <a:r>
              <a:rPr lang="en-GB" dirty="0"/>
              <a:t>Values of a map can be overwritten </a:t>
            </a:r>
          </a:p>
          <a:p>
            <a:pPr lvl="1"/>
            <a:r>
              <a:rPr lang="en-GB" dirty="0" err="1">
                <a:latin typeface="Menlo" panose="020B0609030804020204" pitchFamily="49" charset="0"/>
                <a:ea typeface="Menlo" panose="020B0609030804020204" pitchFamily="49" charset="0"/>
                <a:cs typeface="Menlo" panose="020B0609030804020204" pitchFamily="49" charset="0"/>
              </a:rPr>
              <a:t>mapInferred</a:t>
            </a:r>
            <a:r>
              <a:rPr lang="en-GB" dirty="0">
                <a:latin typeface="Menlo" panose="020B0609030804020204" pitchFamily="49" charset="0"/>
                <a:ea typeface="Menlo" panose="020B0609030804020204" pitchFamily="49" charset="0"/>
                <a:cs typeface="Menlo" panose="020B0609030804020204" pitchFamily="49" charset="0"/>
              </a:rPr>
              <a:t>[1] = 'H';</a:t>
            </a:r>
          </a:p>
          <a:p>
            <a:r>
              <a:rPr lang="en-GB" dirty="0"/>
              <a:t>Handy features are also present for maps</a:t>
            </a:r>
          </a:p>
          <a:p>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mapInferred.length</a:t>
            </a:r>
            <a:r>
              <a:rPr lang="en-GB" dirty="0">
                <a:latin typeface="Menlo" panose="020B0609030804020204" pitchFamily="49" charset="0"/>
                <a:ea typeface="Menlo" panose="020B0609030804020204" pitchFamily="49" charset="0"/>
                <a:cs typeface="Menlo" panose="020B0609030804020204" pitchFamily="49" charset="0"/>
              </a:rPr>
              <a:t>); //This will print the length of the Map</a:t>
            </a:r>
          </a:p>
          <a:p>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mapInferred.containsKey</a:t>
            </a:r>
            <a:r>
              <a:rPr lang="en-GB" dirty="0">
                <a:latin typeface="Menlo" panose="020B0609030804020204" pitchFamily="49" charset="0"/>
                <a:ea typeface="Menlo" panose="020B0609030804020204" pitchFamily="49" charset="0"/>
                <a:cs typeface="Menlo" panose="020B0609030804020204" pitchFamily="49" charset="0"/>
              </a:rPr>
              <a:t>(2)); //This will check is a key exists in the Map</a:t>
            </a:r>
          </a:p>
          <a:p>
            <a:r>
              <a:rPr lang="en-GB" dirty="0"/>
              <a:t>There’s a lot more…</a:t>
            </a:r>
          </a:p>
          <a:p>
            <a:pPr lvl="1"/>
            <a:endParaRPr lang="en-GB" dirty="0">
              <a:latin typeface="Courier" pitchFamily="2" charset="0"/>
            </a:endParaRPr>
          </a:p>
        </p:txBody>
      </p:sp>
      <p:sp>
        <p:nvSpPr>
          <p:cNvPr id="5" name="Content Placeholder 2">
            <a:extLst>
              <a:ext uri="{FF2B5EF4-FFF2-40B4-BE49-F238E27FC236}">
                <a16:creationId xmlns:a16="http://schemas.microsoft.com/office/drawing/2014/main" id="{01ED296F-BDB0-C14F-9845-F1306F011114}"/>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a:t>
            </a:r>
            <a:r>
              <a:rPr lang="en-US" sz="1600" dirty="0" err="1">
                <a:latin typeface="Aptos" panose="020B0004020202020204" pitchFamily="34" charset="0"/>
                <a:ea typeface="Palatino" pitchFamily="2" charset="77"/>
              </a:rPr>
              <a:t>esson</a:t>
            </a:r>
            <a:r>
              <a:rPr lang="en-IT" sz="1600">
                <a:latin typeface="Aptos" panose="020B0004020202020204" pitchFamily="34" charset="0"/>
                <a:ea typeface="Palatino" pitchFamily="2" charset="77"/>
              </a:rPr>
              <a:t>_0</a:t>
            </a:r>
            <a:r>
              <a:rPr lang="en-US" sz="1600" dirty="0">
                <a:latin typeface="Aptos" panose="020B0004020202020204" pitchFamily="34" charset="0"/>
                <a:ea typeface="Palatino" pitchFamily="2" charset="77"/>
              </a:rPr>
              <a:t>3</a:t>
            </a:r>
            <a:r>
              <a:rPr lang="en-IT" sz="1600">
                <a:latin typeface="Aptos" panose="020B0004020202020204" pitchFamily="34" charset="0"/>
                <a:ea typeface="Palatino" pitchFamily="2" charset="77"/>
              </a:rPr>
              <a:t>-dart</a:t>
            </a:r>
            <a:r>
              <a:rPr lang="en-IT" sz="1600" dirty="0">
                <a:latin typeface="Aptos" panose="020B0004020202020204" pitchFamily="34" charset="0"/>
                <a:ea typeface="Palatino" pitchFamily="2" charset="77"/>
              </a:rPr>
              <a:t>_101_part_1/04-built_in_types.dart</a:t>
            </a:r>
          </a:p>
        </p:txBody>
      </p:sp>
      <p:sp>
        <p:nvSpPr>
          <p:cNvPr id="4" name="Slide Number Placeholder 3">
            <a:extLst>
              <a:ext uri="{FF2B5EF4-FFF2-40B4-BE49-F238E27FC236}">
                <a16:creationId xmlns:a16="http://schemas.microsoft.com/office/drawing/2014/main" id="{DE9D4A91-64E0-5045-9B41-868F9612E804}"/>
              </a:ext>
            </a:extLst>
          </p:cNvPr>
          <p:cNvSpPr>
            <a:spLocks noGrp="1"/>
          </p:cNvSpPr>
          <p:nvPr>
            <p:ph type="sldNum" sz="quarter" idx="12"/>
          </p:nvPr>
        </p:nvSpPr>
        <p:spPr/>
        <p:txBody>
          <a:bodyPr/>
          <a:lstStyle/>
          <a:p>
            <a:fld id="{31DE2C5B-556E-47B8-A792-024C2FCA4ACC}" type="slidenum">
              <a:rPr lang="en-GB" smtClean="0"/>
              <a:t>19</a:t>
            </a:fld>
            <a:endParaRPr lang="en-GB"/>
          </a:p>
        </p:txBody>
      </p:sp>
    </p:spTree>
    <p:extLst>
      <p:ext uri="{BB962C8B-B14F-4D97-AF65-F5344CB8AC3E}">
        <p14:creationId xmlns:p14="http://schemas.microsoft.com/office/powerpoint/2010/main" val="2798084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r>
              <a:rPr lang="en-IT" dirty="0">
                <a:solidFill>
                  <a:schemeClr val="bg1">
                    <a:lumMod val="75000"/>
                  </a:schemeClr>
                </a:solidFill>
              </a:rPr>
              <a:t>Variables</a:t>
            </a:r>
          </a:p>
          <a:p>
            <a:r>
              <a:rPr lang="en-IT" dirty="0">
                <a:solidFill>
                  <a:schemeClr val="bg1">
                    <a:lumMod val="75000"/>
                  </a:schemeClr>
                </a:solidFill>
              </a:rPr>
              <a:t>Null-safety</a:t>
            </a:r>
          </a:p>
          <a:p>
            <a:r>
              <a:rPr lang="en-IT" dirty="0">
                <a:solidFill>
                  <a:schemeClr val="bg1">
                    <a:lumMod val="75000"/>
                  </a:schemeClr>
                </a:solidFill>
              </a:rPr>
              <a:t>Built-in types</a:t>
            </a:r>
          </a:p>
          <a:p>
            <a:r>
              <a:rPr lang="en-IT" b="1" dirty="0"/>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630DE8E9-2EC2-014A-9F1C-FE9A590F984F}"/>
              </a:ext>
            </a:extLst>
          </p:cNvPr>
          <p:cNvSpPr>
            <a:spLocks noGrp="1"/>
          </p:cNvSpPr>
          <p:nvPr>
            <p:ph type="sldNum" sz="quarter" idx="12"/>
          </p:nvPr>
        </p:nvSpPr>
        <p:spPr/>
        <p:txBody>
          <a:bodyPr/>
          <a:lstStyle/>
          <a:p>
            <a:fld id="{31DE2C5B-556E-47B8-A792-024C2FCA4ACC}" type="slidenum">
              <a:rPr lang="en-GB" smtClean="0"/>
              <a:t>20</a:t>
            </a:fld>
            <a:endParaRPr lang="en-GB"/>
          </a:p>
        </p:txBody>
      </p:sp>
    </p:spTree>
    <p:extLst>
      <p:ext uri="{BB962C8B-B14F-4D97-AF65-F5344CB8AC3E}">
        <p14:creationId xmlns:p14="http://schemas.microsoft.com/office/powerpoint/2010/main" val="3846592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Functions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fontScale="70000" lnSpcReduction="20000"/>
          </a:bodyPr>
          <a:lstStyle/>
          <a:p>
            <a:r>
              <a:rPr lang="en-GB" dirty="0"/>
              <a:t>To implement a function you can use the syntax</a:t>
            </a:r>
            <a:br>
              <a:rPr lang="en-GB" dirty="0"/>
            </a:br>
            <a:r>
              <a:rPr lang="en-GB" i="1" dirty="0" err="1">
                <a:latin typeface="Menlo" panose="020B0609030804020204" pitchFamily="49" charset="0"/>
                <a:ea typeface="Menlo" panose="020B0609030804020204" pitchFamily="49" charset="0"/>
                <a:cs typeface="Menlo" panose="020B0609030804020204" pitchFamily="49" charset="0"/>
              </a:rPr>
              <a:t>returnType</a:t>
            </a:r>
            <a:r>
              <a:rPr lang="en-GB" i="1" dirty="0">
                <a:latin typeface="Menlo" panose="020B0609030804020204" pitchFamily="49" charset="0"/>
                <a:ea typeface="Menlo" panose="020B0609030804020204" pitchFamily="49" charset="0"/>
                <a:cs typeface="Menlo" panose="020B0609030804020204" pitchFamily="49" charset="0"/>
              </a:rPr>
              <a:t> </a:t>
            </a:r>
            <a:r>
              <a:rPr lang="en-GB" i="1" dirty="0" err="1">
                <a:latin typeface="Menlo" panose="020B0609030804020204" pitchFamily="49" charset="0"/>
                <a:ea typeface="Menlo" panose="020B0609030804020204" pitchFamily="49" charset="0"/>
                <a:cs typeface="Menlo" panose="020B0609030804020204" pitchFamily="49" charset="0"/>
              </a:rPr>
              <a:t>functionName</a:t>
            </a:r>
            <a:r>
              <a:rPr lang="en-GB" i="1" dirty="0">
                <a:latin typeface="Menlo" panose="020B0609030804020204" pitchFamily="49" charset="0"/>
                <a:ea typeface="Menlo" panose="020B0609030804020204" pitchFamily="49" charset="0"/>
                <a:cs typeface="Menlo" panose="020B0609030804020204" pitchFamily="49" charset="0"/>
              </a:rPr>
              <a:t>(typeParam1 nameParam1, typeParam2 nameParam2,…){</a:t>
            </a:r>
            <a:r>
              <a:rPr lang="en-GB" i="1" dirty="0" err="1">
                <a:latin typeface="Menlo" panose="020B0609030804020204" pitchFamily="49" charset="0"/>
                <a:ea typeface="Menlo" panose="020B0609030804020204" pitchFamily="49" charset="0"/>
                <a:cs typeface="Menlo" panose="020B0609030804020204" pitchFamily="49" charset="0"/>
              </a:rPr>
              <a:t>functionBody</a:t>
            </a:r>
            <a:r>
              <a:rPr lang="en-GB" i="1" dirty="0">
                <a:latin typeface="Menlo" panose="020B0609030804020204" pitchFamily="49" charset="0"/>
                <a:ea typeface="Menlo" panose="020B0609030804020204" pitchFamily="49" charset="0"/>
                <a:cs typeface="Menlo" panose="020B0609030804020204" pitchFamily="49" charset="0"/>
              </a:rPr>
              <a:t>}</a:t>
            </a:r>
            <a:r>
              <a:rPr lang="en-GB" dirty="0">
                <a:latin typeface="Menlo" panose="020B0609030804020204" pitchFamily="49" charset="0"/>
                <a:ea typeface="Menlo" panose="020B0609030804020204" pitchFamily="49" charset="0"/>
                <a:cs typeface="Menlo" panose="020B0609030804020204" pitchFamily="49" charset="0"/>
              </a:rPr>
              <a:t>:</a:t>
            </a:r>
          </a:p>
          <a:p>
            <a:pPr lvl="1"/>
            <a:r>
              <a:rPr lang="en-GB" dirty="0">
                <a:latin typeface="Menlo" panose="020B0609030804020204" pitchFamily="49" charset="0"/>
                <a:ea typeface="Menlo" panose="020B0609030804020204" pitchFamily="49" charset="0"/>
                <a:cs typeface="Menlo" panose="020B0609030804020204" pitchFamily="49" charset="0"/>
              </a:rPr>
              <a:t>double </a:t>
            </a:r>
            <a:r>
              <a:rPr lang="en-GB" dirty="0" err="1">
                <a:latin typeface="Menlo" panose="020B0609030804020204" pitchFamily="49" charset="0"/>
                <a:ea typeface="Menlo" panose="020B0609030804020204" pitchFamily="49" charset="0"/>
                <a:cs typeface="Menlo" panose="020B0609030804020204" pitchFamily="49" charset="0"/>
              </a:rPr>
              <a:t>sumTwoNumbers</a:t>
            </a:r>
            <a:r>
              <a:rPr lang="en-GB" dirty="0">
                <a:latin typeface="Menlo" panose="020B0609030804020204" pitchFamily="49" charset="0"/>
                <a:ea typeface="Menlo" panose="020B0609030804020204" pitchFamily="49" charset="0"/>
                <a:cs typeface="Menlo" panose="020B0609030804020204" pitchFamily="49" charset="0"/>
              </a:rPr>
              <a:t>(double a, double b){</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return a + b;</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sumTwoNumbers</a:t>
            </a:r>
            <a:br>
              <a:rPr lang="en-GB" dirty="0">
                <a:latin typeface="Menlo" panose="020B0609030804020204" pitchFamily="49" charset="0"/>
                <a:ea typeface="Menlo" panose="020B0609030804020204" pitchFamily="49" charset="0"/>
                <a:cs typeface="Menlo" panose="020B0609030804020204" pitchFamily="49" charset="0"/>
              </a:rPr>
            </a:b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sumTwoNumbers</a:t>
            </a:r>
            <a:r>
              <a:rPr lang="en-GB" dirty="0">
                <a:latin typeface="Menlo" panose="020B0609030804020204" pitchFamily="49" charset="0"/>
                <a:ea typeface="Menlo" panose="020B0609030804020204" pitchFamily="49" charset="0"/>
                <a:cs typeface="Menlo" panose="020B0609030804020204" pitchFamily="49" charset="0"/>
              </a:rPr>
              <a:t>(3,4)); //This will print '7.0'</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pPr lvl="1"/>
            <a:endParaRPr lang="en-GB" dirty="0">
              <a:latin typeface="Courier" pitchFamily="2" charset="0"/>
            </a:endParaRPr>
          </a:p>
          <a:p>
            <a:r>
              <a:rPr lang="en-GB" dirty="0"/>
              <a:t>Dart is truly object-oriented: even functions are objects of type </a:t>
            </a:r>
            <a:r>
              <a:rPr lang="en-GB" dirty="0">
                <a:latin typeface="Menlo" panose="020B0609030804020204" pitchFamily="49" charset="0"/>
                <a:ea typeface="Menlo" panose="020B0609030804020204" pitchFamily="49" charset="0"/>
                <a:cs typeface="Menlo" panose="020B0609030804020204" pitchFamily="49" charset="0"/>
              </a:rPr>
              <a:t>Function</a:t>
            </a:r>
            <a:r>
              <a:rPr lang="en-GB" dirty="0"/>
              <a:t>. This means that they can be an input of another function:</a:t>
            </a:r>
          </a:p>
          <a:p>
            <a:pPr lvl="1"/>
            <a:r>
              <a:rPr lang="en-GB" dirty="0">
                <a:latin typeface="Menlo" panose="020B0609030804020204" pitchFamily="49" charset="0"/>
                <a:ea typeface="Menlo" panose="020B0609030804020204" pitchFamily="49" charset="0"/>
                <a:cs typeface="Menlo" panose="020B0609030804020204" pitchFamily="49" charset="0"/>
              </a:rPr>
              <a:t>double </a:t>
            </a:r>
            <a:r>
              <a:rPr lang="en-GB" dirty="0" err="1">
                <a:latin typeface="Menlo" panose="020B0609030804020204" pitchFamily="49" charset="0"/>
                <a:ea typeface="Menlo" panose="020B0609030804020204" pitchFamily="49" charset="0"/>
                <a:cs typeface="Menlo" panose="020B0609030804020204" pitchFamily="49" charset="0"/>
              </a:rPr>
              <a:t>doSomethingWithNumbers</a:t>
            </a:r>
            <a:r>
              <a:rPr lang="en-GB" dirty="0">
                <a:latin typeface="Menlo" panose="020B0609030804020204" pitchFamily="49" charset="0"/>
                <a:ea typeface="Menlo" panose="020B0609030804020204" pitchFamily="49" charset="0"/>
                <a:cs typeface="Menlo" panose="020B0609030804020204" pitchFamily="49" charset="0"/>
              </a:rPr>
              <a:t>(Function foo, double a, double b){</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return foo(</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doSomeThingWithNumbers</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doSomethingWithNumbers</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sumTwoNumbers</a:t>
            </a:r>
            <a:r>
              <a:rPr lang="en-GB" dirty="0">
                <a:latin typeface="Menlo" panose="020B0609030804020204" pitchFamily="49" charset="0"/>
                <a:ea typeface="Menlo" panose="020B0609030804020204" pitchFamily="49" charset="0"/>
                <a:cs typeface="Menlo" panose="020B0609030804020204" pitchFamily="49" charset="0"/>
              </a:rPr>
              <a:t>, 3, 4)); //This will print '7.0'</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br>
              <a:rPr lang="en-GB" dirty="0">
                <a:latin typeface="Menlo" panose="020B0609030804020204" pitchFamily="49" charset="0"/>
                <a:ea typeface="Menlo" panose="020B0609030804020204" pitchFamily="49" charset="0"/>
                <a:cs typeface="Menlo" panose="020B0609030804020204" pitchFamily="49" charset="0"/>
              </a:rPr>
            </a:br>
            <a:endParaRPr lang="en-GB" dirty="0">
              <a:latin typeface="Menlo" panose="020B0609030804020204" pitchFamily="49" charset="0"/>
              <a:ea typeface="Menlo" panose="020B0609030804020204" pitchFamily="49" charset="0"/>
              <a:cs typeface="Menlo" panose="020B0609030804020204" pitchFamily="49" charset="0"/>
            </a:endParaRPr>
          </a:p>
          <a:p>
            <a:r>
              <a:rPr lang="en-GB" dirty="0"/>
              <a:t>For functions that contain just one expression, you can use the 'arrow syntax’:</a:t>
            </a:r>
          </a:p>
          <a:p>
            <a:pPr lvl="1"/>
            <a:r>
              <a:rPr lang="en-GB" dirty="0">
                <a:latin typeface="Menlo" panose="020B0609030804020204" pitchFamily="49" charset="0"/>
                <a:ea typeface="Menlo" panose="020B0609030804020204" pitchFamily="49" charset="0"/>
                <a:cs typeface="Menlo" panose="020B0609030804020204" pitchFamily="49" charset="0"/>
              </a:rPr>
              <a:t>double </a:t>
            </a:r>
            <a:r>
              <a:rPr lang="en-GB" dirty="0" err="1">
                <a:latin typeface="Menlo" panose="020B0609030804020204" pitchFamily="49" charset="0"/>
                <a:ea typeface="Menlo" panose="020B0609030804020204" pitchFamily="49" charset="0"/>
                <a:cs typeface="Menlo" panose="020B0609030804020204" pitchFamily="49" charset="0"/>
              </a:rPr>
              <a:t>doSomethingWithNumbersArrow</a:t>
            </a:r>
            <a:r>
              <a:rPr lang="en-GB" dirty="0">
                <a:latin typeface="Menlo" panose="020B0609030804020204" pitchFamily="49" charset="0"/>
                <a:ea typeface="Menlo" panose="020B0609030804020204" pitchFamily="49" charset="0"/>
                <a:cs typeface="Menlo" panose="020B0609030804020204" pitchFamily="49" charset="0"/>
              </a:rPr>
              <a:t>(Function foo, double a, double b) =&gt; foo(</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doSomethingWithNumbersArrow</a:t>
            </a: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sumTwoNumbers</a:t>
            </a:r>
            <a:r>
              <a:rPr lang="en-GB" dirty="0">
                <a:latin typeface="Menlo" panose="020B0609030804020204" pitchFamily="49" charset="0"/>
                <a:ea typeface="Menlo" panose="020B0609030804020204" pitchFamily="49" charset="0"/>
                <a:cs typeface="Menlo" panose="020B0609030804020204" pitchFamily="49" charset="0"/>
              </a:rPr>
              <a:t>, 3, 4)); //This will print '7.0'</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p:txBody>
      </p:sp>
      <p:sp>
        <p:nvSpPr>
          <p:cNvPr id="4" name="Slide Number Placeholder 3">
            <a:extLst>
              <a:ext uri="{FF2B5EF4-FFF2-40B4-BE49-F238E27FC236}">
                <a16:creationId xmlns:a16="http://schemas.microsoft.com/office/drawing/2014/main" id="{F2925E69-0D1A-784A-9511-5D676F094E1A}"/>
              </a:ext>
            </a:extLst>
          </p:cNvPr>
          <p:cNvSpPr>
            <a:spLocks noGrp="1"/>
          </p:cNvSpPr>
          <p:nvPr>
            <p:ph type="sldNum" sz="quarter" idx="12"/>
          </p:nvPr>
        </p:nvSpPr>
        <p:spPr/>
        <p:txBody>
          <a:bodyPr/>
          <a:lstStyle/>
          <a:p>
            <a:fld id="{31DE2C5B-556E-47B8-A792-024C2FCA4ACC}" type="slidenum">
              <a:rPr lang="en-GB" smtClean="0"/>
              <a:t>21</a:t>
            </a:fld>
            <a:endParaRPr lang="en-GB"/>
          </a:p>
        </p:txBody>
      </p:sp>
    </p:spTree>
    <p:extLst>
      <p:ext uri="{BB962C8B-B14F-4D97-AF65-F5344CB8AC3E}">
        <p14:creationId xmlns:p14="http://schemas.microsoft.com/office/powerpoint/2010/main" val="783500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Functions – Parameters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r>
              <a:rPr lang="en-GB" dirty="0"/>
              <a:t>A function can have any number of </a:t>
            </a:r>
            <a:r>
              <a:rPr lang="en-GB" i="1" dirty="0"/>
              <a:t>required positional</a:t>
            </a:r>
            <a:r>
              <a:rPr lang="en-GB" dirty="0"/>
              <a:t> parameters. </a:t>
            </a:r>
          </a:p>
          <a:p>
            <a:endParaRPr lang="en-GB" dirty="0"/>
          </a:p>
          <a:p>
            <a:r>
              <a:rPr lang="en-GB" dirty="0"/>
              <a:t>These can be followed either by </a:t>
            </a:r>
            <a:r>
              <a:rPr lang="en-GB" i="1" dirty="0"/>
              <a:t>named</a:t>
            </a:r>
            <a:r>
              <a:rPr lang="en-GB" dirty="0"/>
              <a:t> parameters or by </a:t>
            </a:r>
            <a:r>
              <a:rPr lang="en-GB" i="1" dirty="0"/>
              <a:t>optional positional</a:t>
            </a:r>
            <a:r>
              <a:rPr lang="en-GB" dirty="0"/>
              <a:t> parameters (but not both).</a:t>
            </a:r>
          </a:p>
          <a:p>
            <a:endParaRPr lang="en-GB" dirty="0"/>
          </a:p>
          <a:p>
            <a:r>
              <a:rPr lang="en-GB" dirty="0"/>
              <a:t>Named parameters can be specified using </a:t>
            </a:r>
            <a:r>
              <a:rPr lang="en-GB" b="1" dirty="0"/>
              <a:t>braces {}</a:t>
            </a:r>
            <a:r>
              <a:rPr lang="en-GB" dirty="0"/>
              <a:t>:</a:t>
            </a:r>
            <a:br>
              <a:rPr lang="en-GB" dirty="0"/>
            </a:br>
            <a:r>
              <a:rPr lang="en-GB" i="1" dirty="0" err="1">
                <a:latin typeface="Menlo" panose="020B0609030804020204" pitchFamily="49" charset="0"/>
                <a:ea typeface="Menlo" panose="020B0609030804020204" pitchFamily="49" charset="0"/>
                <a:cs typeface="Menlo" panose="020B0609030804020204" pitchFamily="49" charset="0"/>
              </a:rPr>
              <a:t>returnType</a:t>
            </a:r>
            <a:r>
              <a:rPr lang="en-GB" i="1" dirty="0">
                <a:latin typeface="Menlo" panose="020B0609030804020204" pitchFamily="49" charset="0"/>
                <a:ea typeface="Menlo" panose="020B0609030804020204" pitchFamily="49" charset="0"/>
                <a:cs typeface="Menlo" panose="020B0609030804020204" pitchFamily="49" charset="0"/>
              </a:rPr>
              <a:t> </a:t>
            </a:r>
            <a:r>
              <a:rPr lang="en-GB" i="1" dirty="0" err="1">
                <a:latin typeface="Menlo" panose="020B0609030804020204" pitchFamily="49" charset="0"/>
                <a:ea typeface="Menlo" panose="020B0609030804020204" pitchFamily="49" charset="0"/>
                <a:cs typeface="Menlo" panose="020B0609030804020204" pitchFamily="49" charset="0"/>
              </a:rPr>
              <a:t>functionName</a:t>
            </a:r>
            <a:r>
              <a:rPr lang="en-GB" i="1" dirty="0">
                <a:latin typeface="Menlo" panose="020B0609030804020204" pitchFamily="49" charset="0"/>
                <a:ea typeface="Menlo" panose="020B0609030804020204" pitchFamily="49" charset="0"/>
                <a:cs typeface="Menlo" panose="020B0609030804020204" pitchFamily="49" charset="0"/>
              </a:rPr>
              <a:t>(typeParam1 nameParam1, typeParam2 nameParam2,…,</a:t>
            </a:r>
            <a:r>
              <a:rPr lang="en-GB" b="1" i="1" dirty="0">
                <a:latin typeface="Menlo" panose="020B0609030804020204" pitchFamily="49" charset="0"/>
                <a:ea typeface="Menlo" panose="020B0609030804020204" pitchFamily="49" charset="0"/>
                <a:cs typeface="Menlo" panose="020B0609030804020204" pitchFamily="49" charset="0"/>
              </a:rPr>
              <a:t>{</a:t>
            </a:r>
            <a:r>
              <a:rPr lang="en-GB" i="1" dirty="0">
                <a:latin typeface="Menlo" panose="020B0609030804020204" pitchFamily="49" charset="0"/>
                <a:ea typeface="Menlo" panose="020B0609030804020204" pitchFamily="49" charset="0"/>
                <a:cs typeface="Menlo" panose="020B0609030804020204" pitchFamily="49" charset="0"/>
              </a:rPr>
              <a:t>typeNamedParam1 nameNamedParam1,…</a:t>
            </a:r>
            <a:r>
              <a:rPr lang="en-GB" b="1" i="1" dirty="0">
                <a:latin typeface="Menlo" panose="020B0609030804020204" pitchFamily="49" charset="0"/>
                <a:ea typeface="Menlo" panose="020B0609030804020204" pitchFamily="49" charset="0"/>
                <a:cs typeface="Menlo" panose="020B0609030804020204" pitchFamily="49" charset="0"/>
              </a:rPr>
              <a:t>}</a:t>
            </a:r>
            <a:r>
              <a:rPr lang="en-GB" i="1" dirty="0">
                <a:latin typeface="Menlo" panose="020B0609030804020204" pitchFamily="49" charset="0"/>
                <a:ea typeface="Menlo" panose="020B0609030804020204" pitchFamily="49" charset="0"/>
                <a:cs typeface="Menlo" panose="020B0609030804020204" pitchFamily="49" charset="0"/>
              </a:rPr>
              <a:t>){</a:t>
            </a:r>
            <a:r>
              <a:rPr lang="en-GB" i="1" dirty="0" err="1">
                <a:latin typeface="Menlo" panose="020B0609030804020204" pitchFamily="49" charset="0"/>
                <a:ea typeface="Menlo" panose="020B0609030804020204" pitchFamily="49" charset="0"/>
                <a:cs typeface="Menlo" panose="020B0609030804020204" pitchFamily="49" charset="0"/>
              </a:rPr>
              <a:t>functionBody</a:t>
            </a:r>
            <a:r>
              <a:rPr lang="en-GB" i="1" dirty="0">
                <a:latin typeface="Menlo" panose="020B0609030804020204" pitchFamily="49" charset="0"/>
                <a:ea typeface="Menlo" panose="020B0609030804020204" pitchFamily="49" charset="0"/>
                <a:cs typeface="Menlo" panose="020B0609030804020204" pitchFamily="49" charset="0"/>
              </a:rPr>
              <a:t>}</a:t>
            </a:r>
            <a:endParaRPr lang="en-GB" dirty="0">
              <a:latin typeface="Menlo" panose="020B0609030804020204" pitchFamily="49" charset="0"/>
              <a:ea typeface="Menlo" panose="020B0609030804020204" pitchFamily="49" charset="0"/>
              <a:cs typeface="Menlo" panose="020B0609030804020204" pitchFamily="49" charset="0"/>
            </a:endParaRPr>
          </a:p>
          <a:p>
            <a:r>
              <a:rPr lang="en-GB" dirty="0"/>
              <a:t>Optional positional parameters can be specified using </a:t>
            </a:r>
            <a:r>
              <a:rPr lang="en-GB" b="1" dirty="0"/>
              <a:t>brackets []</a:t>
            </a:r>
            <a:r>
              <a:rPr lang="en-GB" dirty="0"/>
              <a:t>:</a:t>
            </a:r>
            <a:br>
              <a:rPr lang="en-GB" dirty="0"/>
            </a:br>
            <a:r>
              <a:rPr lang="en-GB" i="1" dirty="0" err="1">
                <a:latin typeface="Menlo" panose="020B0609030804020204" pitchFamily="49" charset="0"/>
                <a:ea typeface="Menlo" panose="020B0609030804020204" pitchFamily="49" charset="0"/>
                <a:cs typeface="Menlo" panose="020B0609030804020204" pitchFamily="49" charset="0"/>
              </a:rPr>
              <a:t>returnType</a:t>
            </a:r>
            <a:r>
              <a:rPr lang="en-GB" i="1" dirty="0">
                <a:latin typeface="Menlo" panose="020B0609030804020204" pitchFamily="49" charset="0"/>
                <a:ea typeface="Menlo" panose="020B0609030804020204" pitchFamily="49" charset="0"/>
                <a:cs typeface="Menlo" panose="020B0609030804020204" pitchFamily="49" charset="0"/>
              </a:rPr>
              <a:t> </a:t>
            </a:r>
            <a:r>
              <a:rPr lang="en-GB" i="1" dirty="0" err="1">
                <a:latin typeface="Menlo" panose="020B0609030804020204" pitchFamily="49" charset="0"/>
                <a:ea typeface="Menlo" panose="020B0609030804020204" pitchFamily="49" charset="0"/>
                <a:cs typeface="Menlo" panose="020B0609030804020204" pitchFamily="49" charset="0"/>
              </a:rPr>
              <a:t>functionName</a:t>
            </a:r>
            <a:r>
              <a:rPr lang="en-GB" i="1" dirty="0">
                <a:latin typeface="Menlo" panose="020B0609030804020204" pitchFamily="49" charset="0"/>
                <a:ea typeface="Menlo" panose="020B0609030804020204" pitchFamily="49" charset="0"/>
                <a:cs typeface="Menlo" panose="020B0609030804020204" pitchFamily="49" charset="0"/>
              </a:rPr>
              <a:t>(typeParam1 nameParam1, typeParam2 nameParam2,…,</a:t>
            </a:r>
            <a:r>
              <a:rPr lang="en-GB" b="1" i="1" dirty="0">
                <a:latin typeface="Menlo" panose="020B0609030804020204" pitchFamily="49" charset="0"/>
                <a:ea typeface="Menlo" panose="020B0609030804020204" pitchFamily="49" charset="0"/>
                <a:cs typeface="Menlo" panose="020B0609030804020204" pitchFamily="49" charset="0"/>
              </a:rPr>
              <a:t>[</a:t>
            </a:r>
            <a:r>
              <a:rPr lang="en-GB" i="1" dirty="0">
                <a:latin typeface="Menlo" panose="020B0609030804020204" pitchFamily="49" charset="0"/>
                <a:ea typeface="Menlo" panose="020B0609030804020204" pitchFamily="49" charset="0"/>
                <a:cs typeface="Menlo" panose="020B0609030804020204" pitchFamily="49" charset="0"/>
              </a:rPr>
              <a:t>typeOptPosParam1 nameOptPosParam1,…</a:t>
            </a:r>
            <a:r>
              <a:rPr lang="en-GB" b="1" i="1" dirty="0">
                <a:latin typeface="Menlo" panose="020B0609030804020204" pitchFamily="49" charset="0"/>
                <a:ea typeface="Menlo" panose="020B0609030804020204" pitchFamily="49" charset="0"/>
                <a:cs typeface="Menlo" panose="020B0609030804020204" pitchFamily="49" charset="0"/>
              </a:rPr>
              <a:t>]</a:t>
            </a:r>
            <a:r>
              <a:rPr lang="en-GB" i="1" dirty="0">
                <a:latin typeface="Menlo" panose="020B0609030804020204" pitchFamily="49" charset="0"/>
                <a:ea typeface="Menlo" panose="020B0609030804020204" pitchFamily="49" charset="0"/>
                <a:cs typeface="Menlo" panose="020B0609030804020204" pitchFamily="49" charset="0"/>
              </a:rPr>
              <a:t>){</a:t>
            </a:r>
            <a:r>
              <a:rPr lang="en-GB" i="1" dirty="0" err="1">
                <a:latin typeface="Menlo" panose="020B0609030804020204" pitchFamily="49" charset="0"/>
                <a:ea typeface="Menlo" panose="020B0609030804020204" pitchFamily="49" charset="0"/>
                <a:cs typeface="Menlo" panose="020B0609030804020204" pitchFamily="49" charset="0"/>
              </a:rPr>
              <a:t>functionBody</a:t>
            </a:r>
            <a:r>
              <a:rPr lang="en-GB" i="1" dirty="0">
                <a:latin typeface="Menlo" panose="020B0609030804020204" pitchFamily="49" charset="0"/>
                <a:ea typeface="Menlo" panose="020B0609030804020204" pitchFamily="49" charset="0"/>
                <a:cs typeface="Menlo" panose="020B0609030804020204" pitchFamily="49" charset="0"/>
              </a:rPr>
              <a:t>}</a:t>
            </a:r>
            <a:endParaRPr lang="en-GB" dirty="0">
              <a:latin typeface="Menlo" panose="020B0609030804020204" pitchFamily="49" charset="0"/>
              <a:ea typeface="Menlo" panose="020B0609030804020204" pitchFamily="49" charset="0"/>
              <a:cs typeface="Menlo" panose="020B0609030804020204" pitchFamily="49" charset="0"/>
            </a:endParaRPr>
          </a:p>
          <a:p>
            <a:endParaRPr lang="en-GB" dirty="0"/>
          </a:p>
        </p:txBody>
      </p:sp>
      <p:sp>
        <p:nvSpPr>
          <p:cNvPr id="4" name="Slide Number Placeholder 3">
            <a:extLst>
              <a:ext uri="{FF2B5EF4-FFF2-40B4-BE49-F238E27FC236}">
                <a16:creationId xmlns:a16="http://schemas.microsoft.com/office/drawing/2014/main" id="{96024B27-2666-034D-BBD9-46EB9A312904}"/>
              </a:ext>
            </a:extLst>
          </p:cNvPr>
          <p:cNvSpPr>
            <a:spLocks noGrp="1"/>
          </p:cNvSpPr>
          <p:nvPr>
            <p:ph type="sldNum" sz="quarter" idx="12"/>
          </p:nvPr>
        </p:nvSpPr>
        <p:spPr/>
        <p:txBody>
          <a:bodyPr/>
          <a:lstStyle/>
          <a:p>
            <a:fld id="{31DE2C5B-556E-47B8-A792-024C2FCA4ACC}" type="slidenum">
              <a:rPr lang="en-GB" smtClean="0"/>
              <a:t>22</a:t>
            </a:fld>
            <a:endParaRPr lang="en-GB"/>
          </a:p>
        </p:txBody>
      </p:sp>
    </p:spTree>
    <p:extLst>
      <p:ext uri="{BB962C8B-B14F-4D97-AF65-F5344CB8AC3E}">
        <p14:creationId xmlns:p14="http://schemas.microsoft.com/office/powerpoint/2010/main" val="1593661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Functions – Named parameters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lnSpcReduction="10000"/>
          </a:bodyPr>
          <a:lstStyle/>
          <a:p>
            <a:r>
              <a:rPr lang="en-GB" dirty="0"/>
              <a:t>Example of function with named parameters</a:t>
            </a:r>
          </a:p>
          <a:p>
            <a:pPr lvl="1"/>
            <a:r>
              <a:rPr lang="en-GB" dirty="0">
                <a:latin typeface="Menlo" panose="020B0609030804020204" pitchFamily="49" charset="0"/>
                <a:ea typeface="Menlo" panose="020B0609030804020204" pitchFamily="49" charset="0"/>
                <a:cs typeface="Menlo" panose="020B0609030804020204" pitchFamily="49" charset="0"/>
              </a:rPr>
              <a:t>double </a:t>
            </a:r>
            <a:r>
              <a:rPr lang="en-GB" dirty="0" err="1">
                <a:latin typeface="Menlo" panose="020B0609030804020204" pitchFamily="49" charset="0"/>
                <a:ea typeface="Menlo" panose="020B0609030804020204" pitchFamily="49" charset="0"/>
                <a:cs typeface="Menlo" panose="020B0609030804020204" pitchFamily="49" charset="0"/>
              </a:rPr>
              <a:t>doSomethingWithNumbersNamed</a:t>
            </a:r>
            <a:r>
              <a:rPr lang="en-GB" dirty="0">
                <a:latin typeface="Menlo" panose="020B0609030804020204" pitchFamily="49" charset="0"/>
                <a:ea typeface="Menlo" panose="020B0609030804020204" pitchFamily="49" charset="0"/>
                <a:cs typeface="Menlo" panose="020B0609030804020204" pitchFamily="49" charset="0"/>
              </a:rPr>
              <a:t>(Function foo, {double? a, double? b}) =&gt; foo(</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doSomethingWithNumbersNamed</a:t>
            </a:r>
            <a:r>
              <a:rPr lang="en-GB" dirty="0">
                <a:latin typeface="Menlo" panose="020B0609030804020204" pitchFamily="49" charset="0"/>
                <a:ea typeface="Menlo" panose="020B0609030804020204" pitchFamily="49" charset="0"/>
                <a:cs typeface="Menlo" panose="020B0609030804020204" pitchFamily="49" charset="0"/>
              </a:rPr>
              <a:t>(sumTwoNumbers,a:3, b:4)); // This will print '7.0’</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pPr lvl="1"/>
            <a:endParaRPr lang="en-GB" dirty="0"/>
          </a:p>
          <a:p>
            <a:r>
              <a:rPr lang="en-GB" dirty="0"/>
              <a:t>Note that the parameters are nullable because they are optional. So, if not specified, their default value is null. This means that the following will fail:</a:t>
            </a:r>
          </a:p>
          <a:p>
            <a:pPr lvl="1"/>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try{</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doSomethingWithNumbersNamed</a:t>
            </a:r>
            <a:r>
              <a:rPr lang="en-GB" dirty="0">
                <a:latin typeface="Menlo" panose="020B0609030804020204" pitchFamily="49" charset="0"/>
                <a:ea typeface="Menlo" panose="020B0609030804020204" pitchFamily="49" charset="0"/>
                <a:cs typeface="Menlo" panose="020B0609030804020204" pitchFamily="49" charset="0"/>
              </a:rPr>
              <a:t>(sumTwoNumbers,a:3)); // This fails</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}catch(e){</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print('This fails because the default value of b is null.’);</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}//catch</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343DF3DD-0726-EF4B-9A23-334AE1748E9A}"/>
              </a:ext>
            </a:extLst>
          </p:cNvPr>
          <p:cNvSpPr>
            <a:spLocks noGrp="1"/>
          </p:cNvSpPr>
          <p:nvPr>
            <p:ph type="sldNum" sz="quarter" idx="12"/>
          </p:nvPr>
        </p:nvSpPr>
        <p:spPr/>
        <p:txBody>
          <a:bodyPr/>
          <a:lstStyle/>
          <a:p>
            <a:fld id="{31DE2C5B-556E-47B8-A792-024C2FCA4ACC}" type="slidenum">
              <a:rPr lang="en-GB" smtClean="0"/>
              <a:t>23</a:t>
            </a:fld>
            <a:endParaRPr lang="en-GB"/>
          </a:p>
        </p:txBody>
      </p:sp>
    </p:spTree>
    <p:extLst>
      <p:ext uri="{BB962C8B-B14F-4D97-AF65-F5344CB8AC3E}">
        <p14:creationId xmlns:p14="http://schemas.microsoft.com/office/powerpoint/2010/main" val="3527017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Functions – Named parameters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r>
              <a:rPr lang="en-GB" dirty="0"/>
              <a:t>Named parameters can be marked as </a:t>
            </a:r>
            <a:r>
              <a:rPr lang="en-GB" dirty="0">
                <a:latin typeface="Menlo" panose="020B0609030804020204" pitchFamily="49" charset="0"/>
                <a:ea typeface="Menlo" panose="020B0609030804020204" pitchFamily="49" charset="0"/>
                <a:cs typeface="Menlo" panose="020B0609030804020204" pitchFamily="49" charset="0"/>
              </a:rPr>
              <a:t>required</a:t>
            </a:r>
            <a:r>
              <a:rPr lang="en-GB" dirty="0"/>
              <a:t> to avoid them to be optional.</a:t>
            </a:r>
          </a:p>
          <a:p>
            <a:pPr lvl="1"/>
            <a:r>
              <a:rPr lang="en-GB" dirty="0">
                <a:latin typeface="Menlo" panose="020B0609030804020204" pitchFamily="49" charset="0"/>
                <a:ea typeface="Menlo" panose="020B0609030804020204" pitchFamily="49" charset="0"/>
                <a:cs typeface="Menlo" panose="020B0609030804020204" pitchFamily="49" charset="0"/>
              </a:rPr>
              <a:t>double </a:t>
            </a:r>
            <a:r>
              <a:rPr lang="en-GB" dirty="0" err="1">
                <a:latin typeface="Menlo" panose="020B0609030804020204" pitchFamily="49" charset="0"/>
                <a:ea typeface="Menlo" panose="020B0609030804020204" pitchFamily="49" charset="0"/>
                <a:cs typeface="Menlo" panose="020B0609030804020204" pitchFamily="49" charset="0"/>
              </a:rPr>
              <a:t>sumTwoNumbersNamed</a:t>
            </a:r>
            <a:r>
              <a:rPr lang="en-GB" dirty="0">
                <a:latin typeface="Menlo" panose="020B0609030804020204" pitchFamily="49" charset="0"/>
                <a:ea typeface="Menlo" panose="020B0609030804020204" pitchFamily="49" charset="0"/>
                <a:cs typeface="Menlo" panose="020B0609030804020204" pitchFamily="49" charset="0"/>
              </a:rPr>
              <a:t>({required double a, required double b}) =&gt; </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sumTwoNumbersNamed</a:t>
            </a:r>
            <a:r>
              <a:rPr lang="en-GB" dirty="0">
                <a:latin typeface="Menlo" panose="020B0609030804020204" pitchFamily="49" charset="0"/>
                <a:ea typeface="Menlo" panose="020B0609030804020204" pitchFamily="49" charset="0"/>
                <a:cs typeface="Menlo" panose="020B0609030804020204" pitchFamily="49" charset="0"/>
              </a:rPr>
              <a:t>(a:3, b:4)); // This will print '7.0’</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r>
              <a:rPr lang="en-GB" dirty="0"/>
              <a:t>Note that we can remove the nullable type now.</a:t>
            </a:r>
          </a:p>
          <a:p>
            <a:r>
              <a:rPr lang="en-GB" dirty="0"/>
              <a:t>We can specify default values for named parameters:</a:t>
            </a:r>
          </a:p>
          <a:p>
            <a:pPr lvl="1"/>
            <a:r>
              <a:rPr lang="en-GB" dirty="0">
                <a:latin typeface="Menlo" panose="020B0609030804020204" pitchFamily="49" charset="0"/>
                <a:ea typeface="Menlo" panose="020B0609030804020204" pitchFamily="49" charset="0"/>
                <a:cs typeface="Menlo" panose="020B0609030804020204" pitchFamily="49" charset="0"/>
              </a:rPr>
              <a:t>double </a:t>
            </a:r>
            <a:r>
              <a:rPr lang="en-GB" dirty="0" err="1">
                <a:latin typeface="Menlo" panose="020B0609030804020204" pitchFamily="49" charset="0"/>
                <a:ea typeface="Menlo" panose="020B0609030804020204" pitchFamily="49" charset="0"/>
                <a:cs typeface="Menlo" panose="020B0609030804020204" pitchFamily="49" charset="0"/>
              </a:rPr>
              <a:t>sumTwoNumbersDefaultNamed</a:t>
            </a:r>
            <a:r>
              <a:rPr lang="en-GB" dirty="0">
                <a:latin typeface="Menlo" panose="020B0609030804020204" pitchFamily="49" charset="0"/>
                <a:ea typeface="Menlo" panose="020B0609030804020204" pitchFamily="49" charset="0"/>
                <a:cs typeface="Menlo" panose="020B0609030804020204" pitchFamily="49" charset="0"/>
              </a:rPr>
              <a:t>({required double a, double b = 0}) =&gt; </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sumTwoNumbersDefaultNamed</a:t>
            </a:r>
            <a:r>
              <a:rPr lang="en-GB" dirty="0">
                <a:latin typeface="Menlo" panose="020B0609030804020204" pitchFamily="49" charset="0"/>
                <a:ea typeface="Menlo" panose="020B0609030804020204" pitchFamily="49" charset="0"/>
                <a:cs typeface="Menlo" panose="020B0609030804020204" pitchFamily="49" charset="0"/>
              </a:rPr>
              <a:t>(a:3)); // This will print ‘3.0’</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pPr lvl="1"/>
            <a:endParaRPr lang="en-GB" dirty="0"/>
          </a:p>
          <a:p>
            <a:pPr marL="457200" lvl="1" indent="0">
              <a:buNone/>
            </a:pPr>
            <a:endParaRPr lang="en-GB" dirty="0"/>
          </a:p>
        </p:txBody>
      </p:sp>
      <p:sp>
        <p:nvSpPr>
          <p:cNvPr id="4" name="Slide Number Placeholder 3">
            <a:extLst>
              <a:ext uri="{FF2B5EF4-FFF2-40B4-BE49-F238E27FC236}">
                <a16:creationId xmlns:a16="http://schemas.microsoft.com/office/drawing/2014/main" id="{E0508864-C70F-9446-AAC8-209A21586357}"/>
              </a:ext>
            </a:extLst>
          </p:cNvPr>
          <p:cNvSpPr>
            <a:spLocks noGrp="1"/>
          </p:cNvSpPr>
          <p:nvPr>
            <p:ph type="sldNum" sz="quarter" idx="12"/>
          </p:nvPr>
        </p:nvSpPr>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2974220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Functions – Optional positional parameters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r>
              <a:rPr lang="en-GB" dirty="0"/>
              <a:t>As anticipated, it is possible to specify optional positional parameters:</a:t>
            </a:r>
          </a:p>
          <a:p>
            <a:pPr lvl="1"/>
            <a:r>
              <a:rPr lang="en-GB" dirty="0">
                <a:latin typeface="Menlo" panose="020B0609030804020204" pitchFamily="49" charset="0"/>
                <a:ea typeface="Menlo" panose="020B0609030804020204" pitchFamily="49" charset="0"/>
                <a:cs typeface="Menlo" panose="020B0609030804020204" pitchFamily="49" charset="0"/>
              </a:rPr>
              <a:t>String </a:t>
            </a:r>
            <a:r>
              <a:rPr lang="en-GB" dirty="0" err="1">
                <a:latin typeface="Menlo" panose="020B0609030804020204" pitchFamily="49" charset="0"/>
                <a:ea typeface="Menlo" panose="020B0609030804020204" pitchFamily="49" charset="0"/>
                <a:cs typeface="Menlo" panose="020B0609030804020204" pitchFamily="49" charset="0"/>
              </a:rPr>
              <a:t>sayHi</a:t>
            </a:r>
            <a:r>
              <a:rPr lang="en-GB" dirty="0">
                <a:latin typeface="Menlo" panose="020B0609030804020204" pitchFamily="49" charset="0"/>
                <a:ea typeface="Menlo" panose="020B0609030804020204" pitchFamily="49" charset="0"/>
                <a:cs typeface="Menlo" panose="020B0609030804020204" pitchFamily="49" charset="0"/>
              </a:rPr>
              <a:t>([String? name]){</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if(name != null){</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return 'Hi ' + name +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}//if</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return ‘Hi!’;</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a:t>
            </a:r>
            <a:r>
              <a:rPr lang="en-GB" dirty="0" err="1">
                <a:latin typeface="Menlo" panose="020B0609030804020204" pitchFamily="49" charset="0"/>
                <a:ea typeface="Menlo" panose="020B0609030804020204" pitchFamily="49" charset="0"/>
                <a:cs typeface="Menlo" panose="020B0609030804020204" pitchFamily="49" charset="0"/>
              </a:rPr>
              <a:t>sayHi</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sayHi</a:t>
            </a:r>
            <a:r>
              <a:rPr lang="en-GB" dirty="0">
                <a:latin typeface="Menlo" panose="020B0609030804020204" pitchFamily="49" charset="0"/>
                <a:ea typeface="Menlo" panose="020B0609030804020204" pitchFamily="49" charset="0"/>
                <a:cs typeface="Menlo" panose="020B0609030804020204" pitchFamily="49" charset="0"/>
              </a:rPr>
              <a:t>()); //This will print 'Hi!’</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sayHi</a:t>
            </a:r>
            <a:r>
              <a:rPr lang="en-GB" dirty="0">
                <a:latin typeface="Menlo" panose="020B0609030804020204" pitchFamily="49" charset="0"/>
                <a:ea typeface="Menlo" panose="020B0609030804020204" pitchFamily="49" charset="0"/>
                <a:cs typeface="Menlo" panose="020B0609030804020204" pitchFamily="49" charset="0"/>
              </a:rPr>
              <a:t>('Paul')); //This will print 'Hi Paul!'</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r>
              <a:rPr lang="en-GB" dirty="0"/>
              <a:t>We can specify default values for optional positional parameters:</a:t>
            </a:r>
          </a:p>
          <a:p>
            <a:pPr lvl="1"/>
            <a:r>
              <a:rPr lang="en-GB" dirty="0">
                <a:latin typeface="Menlo" panose="020B0609030804020204" pitchFamily="49" charset="0"/>
                <a:ea typeface="Menlo" panose="020B0609030804020204" pitchFamily="49" charset="0"/>
                <a:cs typeface="Menlo" panose="020B0609030804020204" pitchFamily="49" charset="0"/>
              </a:rPr>
              <a:t>String </a:t>
            </a:r>
            <a:r>
              <a:rPr lang="en-GB" dirty="0" err="1">
                <a:latin typeface="Menlo" panose="020B0609030804020204" pitchFamily="49" charset="0"/>
                <a:ea typeface="Menlo" panose="020B0609030804020204" pitchFamily="49" charset="0"/>
                <a:cs typeface="Menlo" panose="020B0609030804020204" pitchFamily="49" charset="0"/>
              </a:rPr>
              <a:t>sayHiDefault</a:t>
            </a:r>
            <a:r>
              <a:rPr lang="en-GB" dirty="0">
                <a:latin typeface="Menlo" panose="020B0609030804020204" pitchFamily="49" charset="0"/>
                <a:ea typeface="Menlo" panose="020B0609030804020204" pitchFamily="49" charset="0"/>
                <a:cs typeface="Menlo" panose="020B0609030804020204" pitchFamily="49" charset="0"/>
              </a:rPr>
              <a:t>([String name = ‘’]) =&gt; 'Hi ' + name;</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sayHiDefault</a:t>
            </a:r>
            <a:r>
              <a:rPr lang="en-GB" dirty="0">
                <a:latin typeface="Menlo" panose="020B0609030804020204" pitchFamily="49" charset="0"/>
                <a:ea typeface="Menlo" panose="020B0609030804020204" pitchFamily="49" charset="0"/>
                <a:cs typeface="Menlo" panose="020B0609030804020204" pitchFamily="49" charset="0"/>
              </a:rPr>
              <a:t>()); //This will print 'Hi’</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print(</a:t>
            </a:r>
            <a:r>
              <a:rPr lang="en-GB" dirty="0" err="1">
                <a:latin typeface="Menlo" panose="020B0609030804020204" pitchFamily="49" charset="0"/>
                <a:ea typeface="Menlo" panose="020B0609030804020204" pitchFamily="49" charset="0"/>
                <a:cs typeface="Menlo" panose="020B0609030804020204" pitchFamily="49" charset="0"/>
              </a:rPr>
              <a:t>sayHiDefault</a:t>
            </a:r>
            <a:r>
              <a:rPr lang="en-GB" dirty="0">
                <a:latin typeface="Menlo" panose="020B0609030804020204" pitchFamily="49" charset="0"/>
                <a:ea typeface="Menlo" panose="020B0609030804020204" pitchFamily="49" charset="0"/>
                <a:cs typeface="Menlo" panose="020B0609030804020204" pitchFamily="49" charset="0"/>
              </a:rPr>
              <a:t>('Paul')); //This will print 'Hi Paul'</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pPr marL="457200" lvl="1" indent="0">
              <a:buNone/>
            </a:pPr>
            <a:endParaRPr lang="en-GB" dirty="0">
              <a:latin typeface="Courier" pitchFamily="2" charset="0"/>
            </a:endParaRPr>
          </a:p>
          <a:p>
            <a:endParaRPr lang="en-GB" dirty="0"/>
          </a:p>
          <a:p>
            <a:pPr lvl="1"/>
            <a:endParaRPr lang="en-GB" dirty="0"/>
          </a:p>
        </p:txBody>
      </p:sp>
      <p:sp>
        <p:nvSpPr>
          <p:cNvPr id="5" name="Content Placeholder 2">
            <a:extLst>
              <a:ext uri="{FF2B5EF4-FFF2-40B4-BE49-F238E27FC236}">
                <a16:creationId xmlns:a16="http://schemas.microsoft.com/office/drawing/2014/main" id="{01ED296F-BDB0-C14F-9845-F1306F011114}"/>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a:t>
            </a:r>
            <a:r>
              <a:rPr lang="en-US" sz="1600" dirty="0" err="1">
                <a:latin typeface="Aptos" panose="020B0004020202020204" pitchFamily="34" charset="0"/>
                <a:ea typeface="Palatino" pitchFamily="2" charset="77"/>
              </a:rPr>
              <a:t>esson</a:t>
            </a:r>
            <a:r>
              <a:rPr lang="en-IT" sz="1600">
                <a:latin typeface="Aptos" panose="020B0004020202020204" pitchFamily="34" charset="0"/>
                <a:ea typeface="Palatino" pitchFamily="2" charset="77"/>
              </a:rPr>
              <a:t>_0</a:t>
            </a:r>
            <a:r>
              <a:rPr lang="en-US" sz="1600" dirty="0">
                <a:latin typeface="Aptos" panose="020B0004020202020204" pitchFamily="34" charset="0"/>
                <a:ea typeface="Palatino" pitchFamily="2" charset="77"/>
              </a:rPr>
              <a:t>3</a:t>
            </a:r>
            <a:r>
              <a:rPr lang="en-IT" sz="1600">
                <a:latin typeface="Aptos" panose="020B0004020202020204" pitchFamily="34" charset="0"/>
                <a:ea typeface="Palatino" pitchFamily="2" charset="77"/>
              </a:rPr>
              <a:t>-dart</a:t>
            </a:r>
            <a:r>
              <a:rPr lang="en-IT" sz="1600" dirty="0">
                <a:latin typeface="Aptos" panose="020B0004020202020204" pitchFamily="34" charset="0"/>
                <a:ea typeface="Palatino" pitchFamily="2" charset="77"/>
              </a:rPr>
              <a:t>_101_part_1/05-functions.dart</a:t>
            </a:r>
          </a:p>
        </p:txBody>
      </p:sp>
      <p:sp>
        <p:nvSpPr>
          <p:cNvPr id="4" name="Slide Number Placeholder 3">
            <a:extLst>
              <a:ext uri="{FF2B5EF4-FFF2-40B4-BE49-F238E27FC236}">
                <a16:creationId xmlns:a16="http://schemas.microsoft.com/office/drawing/2014/main" id="{16E389FC-0A0E-C042-9D86-FD68209876D7}"/>
              </a:ext>
            </a:extLst>
          </p:cNvPr>
          <p:cNvSpPr>
            <a:spLocks noGrp="1"/>
          </p:cNvSpPr>
          <p:nvPr>
            <p:ph type="sldNum" sz="quarter" idx="12"/>
          </p:nvPr>
        </p:nvSpPr>
        <p:spPr/>
        <p:txBody>
          <a:bodyPr/>
          <a:lstStyle/>
          <a:p>
            <a:fld id="{31DE2C5B-556E-47B8-A792-024C2FCA4ACC}" type="slidenum">
              <a:rPr lang="en-GB" smtClean="0"/>
              <a:t>25</a:t>
            </a:fld>
            <a:endParaRPr lang="en-GB"/>
          </a:p>
        </p:txBody>
      </p:sp>
      <p:sp>
        <p:nvSpPr>
          <p:cNvPr id="6" name="TextBox 5">
            <a:extLst>
              <a:ext uri="{FF2B5EF4-FFF2-40B4-BE49-F238E27FC236}">
                <a16:creationId xmlns:a16="http://schemas.microsoft.com/office/drawing/2014/main" id="{5F6EE5A3-3796-3A40-A78A-318869DC824A}"/>
              </a:ext>
            </a:extLst>
          </p:cNvPr>
          <p:cNvSpPr txBox="1"/>
          <p:nvPr/>
        </p:nvSpPr>
        <p:spPr>
          <a:xfrm>
            <a:off x="10714179"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3946618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pPr>
              <a:lnSpc>
                <a:spcPct val="110000"/>
              </a:lnSpc>
            </a:pPr>
            <a:r>
              <a:rPr lang="en-IT" dirty="0">
                <a:solidFill>
                  <a:schemeClr val="bg1">
                    <a:lumMod val="75000"/>
                  </a:schemeClr>
                </a:solidFill>
              </a:rPr>
              <a:t>Variables</a:t>
            </a:r>
          </a:p>
          <a:p>
            <a:pPr>
              <a:lnSpc>
                <a:spcPct val="110000"/>
              </a:lnSpc>
            </a:pPr>
            <a:r>
              <a:rPr lang="en-IT" dirty="0">
                <a:solidFill>
                  <a:schemeClr val="bg1">
                    <a:lumMod val="75000"/>
                  </a:schemeClr>
                </a:solidFill>
              </a:rPr>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b="1" dirty="0"/>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1EE0BDE6-2CA6-554E-AD78-320E9D0B5B81}"/>
              </a:ext>
            </a:extLst>
          </p:cNvPr>
          <p:cNvSpPr>
            <a:spLocks noGrp="1"/>
          </p:cNvSpPr>
          <p:nvPr>
            <p:ph type="sldNum" sz="quarter" idx="12"/>
          </p:nvPr>
        </p:nvSpPr>
        <p:spPr/>
        <p:txBody>
          <a:bodyPr/>
          <a:lstStyle/>
          <a:p>
            <a:fld id="{31DE2C5B-556E-47B8-A792-024C2FCA4ACC}" type="slidenum">
              <a:rPr lang="en-GB" smtClean="0"/>
              <a:t>26</a:t>
            </a:fld>
            <a:endParaRPr lang="en-GB"/>
          </a:p>
        </p:txBody>
      </p:sp>
    </p:spTree>
    <p:extLst>
      <p:ext uri="{BB962C8B-B14F-4D97-AF65-F5344CB8AC3E}">
        <p14:creationId xmlns:p14="http://schemas.microsoft.com/office/powerpoint/2010/main" val="1892419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Operators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r>
              <a:rPr lang="en-GB" dirty="0"/>
              <a:t>As any programming language, Dart has a set of operators:</a:t>
            </a:r>
          </a:p>
          <a:p>
            <a:pPr lvl="1"/>
            <a:r>
              <a:rPr lang="en-GB" dirty="0"/>
              <a:t>Arithmetic</a:t>
            </a:r>
          </a:p>
          <a:p>
            <a:pPr lvl="1"/>
            <a:r>
              <a:rPr lang="en-GB" dirty="0"/>
              <a:t>Prefix, postfix</a:t>
            </a:r>
          </a:p>
          <a:p>
            <a:pPr lvl="1"/>
            <a:r>
              <a:rPr lang="en-GB" dirty="0"/>
              <a:t>Relational</a:t>
            </a:r>
          </a:p>
          <a:p>
            <a:pPr lvl="1"/>
            <a:r>
              <a:rPr lang="en-GB" dirty="0"/>
              <a:t>Logical</a:t>
            </a:r>
          </a:p>
          <a:p>
            <a:pPr lvl="1"/>
            <a:r>
              <a:rPr lang="en-GB" dirty="0"/>
              <a:t>Type tester</a:t>
            </a:r>
          </a:p>
          <a:p>
            <a:pPr lvl="1"/>
            <a:r>
              <a:rPr lang="en-GB" dirty="0"/>
              <a:t>Many others…</a:t>
            </a:r>
          </a:p>
          <a:p>
            <a:pPr marL="457200" lvl="1" indent="0">
              <a:buNone/>
            </a:pPr>
            <a:endParaRPr lang="en-GB" dirty="0">
              <a:latin typeface="Courier" pitchFamily="2" charset="0"/>
            </a:endParaRPr>
          </a:p>
          <a:p>
            <a:endParaRPr lang="en-GB" dirty="0"/>
          </a:p>
          <a:p>
            <a:pPr lvl="1"/>
            <a:endParaRPr lang="en-GB" dirty="0"/>
          </a:p>
        </p:txBody>
      </p:sp>
      <p:sp>
        <p:nvSpPr>
          <p:cNvPr id="4" name="Slide Number Placeholder 3">
            <a:extLst>
              <a:ext uri="{FF2B5EF4-FFF2-40B4-BE49-F238E27FC236}">
                <a16:creationId xmlns:a16="http://schemas.microsoft.com/office/drawing/2014/main" id="{AB52FA4A-46CE-B445-969C-3E0EA6683889}"/>
              </a:ext>
            </a:extLst>
          </p:cNvPr>
          <p:cNvSpPr>
            <a:spLocks noGrp="1"/>
          </p:cNvSpPr>
          <p:nvPr>
            <p:ph type="sldNum" sz="quarter" idx="12"/>
          </p:nvPr>
        </p:nvSpPr>
        <p:spPr/>
        <p:txBody>
          <a:bodyPr/>
          <a:lstStyle/>
          <a:p>
            <a:fld id="{31DE2C5B-556E-47B8-A792-024C2FCA4ACC}" type="slidenum">
              <a:rPr lang="en-GB" smtClean="0"/>
              <a:t>27</a:t>
            </a:fld>
            <a:endParaRPr lang="en-GB"/>
          </a:p>
        </p:txBody>
      </p:sp>
    </p:spTree>
    <p:extLst>
      <p:ext uri="{BB962C8B-B14F-4D97-AF65-F5344CB8AC3E}">
        <p14:creationId xmlns:p14="http://schemas.microsoft.com/office/powerpoint/2010/main" val="1753404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Operators - Arithmetic</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fontScale="85000" lnSpcReduction="20000"/>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import '</a:t>
            </a:r>
            <a:r>
              <a:rPr lang="en-GB" dirty="0" err="1">
                <a:latin typeface="Menlo" panose="020B0609030804020204" pitchFamily="49" charset="0"/>
                <a:ea typeface="Menlo" panose="020B0609030804020204" pitchFamily="49" charset="0"/>
                <a:cs typeface="Menlo" panose="020B0609030804020204" pitchFamily="49" charset="0"/>
              </a:rPr>
              <a:t>dart:math</a:t>
            </a:r>
            <a:r>
              <a:rPr lang="en-GB" dirty="0">
                <a:latin typeface="Menlo" panose="020B0609030804020204" pitchFamily="49" charset="0"/>
                <a:ea typeface="Menlo" panose="020B0609030804020204" pitchFamily="49" charset="0"/>
                <a:cs typeface="Menlo" panose="020B0609030804020204" pitchFamily="49" charset="0"/>
              </a:rPr>
              <a:t>’;</a:t>
            </a:r>
            <a:br>
              <a:rPr lang="en-GB" dirty="0">
                <a:latin typeface="Menlo" panose="020B0609030804020204" pitchFamily="49" charset="0"/>
                <a:ea typeface="Menlo" panose="020B0609030804020204" pitchFamily="49" charset="0"/>
                <a:cs typeface="Menlo" panose="020B0609030804020204" pitchFamily="49" charset="0"/>
              </a:rPr>
            </a:b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double a = 4;</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double b = 5;</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 Arithmetic operators</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 //Add: this will print '9.0'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print(a-b); //Subtract: this will print '-1.0'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print(a*b); //Multiply: this will print '20.0'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print(a/b); //Divide: this will print '0.8'</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print(a~/b); //Integer division: this will print '0'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 //Remainder of the division: this will print '4.0'</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 Arithmetic operations using the </a:t>
            </a:r>
            <a:r>
              <a:rPr lang="en-GB" dirty="0" err="1">
                <a:latin typeface="Menlo" panose="020B0609030804020204" pitchFamily="49" charset="0"/>
                <a:ea typeface="Menlo" panose="020B0609030804020204" pitchFamily="49" charset="0"/>
                <a:cs typeface="Menlo" panose="020B0609030804020204" pitchFamily="49" charset="0"/>
              </a:rPr>
              <a:t>dart:math</a:t>
            </a:r>
            <a:r>
              <a:rPr lang="en-GB" dirty="0">
                <a:latin typeface="Menlo" panose="020B0609030804020204" pitchFamily="49" charset="0"/>
                <a:ea typeface="Menlo" panose="020B0609030804020204" pitchFamily="49" charset="0"/>
                <a:cs typeface="Menlo" panose="020B0609030804020204" pitchFamily="49" charset="0"/>
              </a:rPr>
              <a:t> library</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print(pow(</a:t>
            </a:r>
            <a:r>
              <a:rPr lang="en-GB" dirty="0" err="1">
                <a:latin typeface="Menlo" panose="020B0609030804020204" pitchFamily="49" charset="0"/>
                <a:ea typeface="Menlo" panose="020B0609030804020204" pitchFamily="49" charset="0"/>
                <a:cs typeface="Menlo" panose="020B0609030804020204" pitchFamily="49" charset="0"/>
              </a:rPr>
              <a:t>a,b</a:t>
            </a:r>
            <a:r>
              <a:rPr lang="en-GB" dirty="0">
                <a:latin typeface="Menlo" panose="020B0609030804020204" pitchFamily="49" charset="0"/>
                <a:ea typeface="Menlo" panose="020B0609030804020204" pitchFamily="49" charset="0"/>
                <a:cs typeface="Menlo" panose="020B0609030804020204" pitchFamily="49" charset="0"/>
              </a:rPr>
              <a:t>)); //Elevate: this will print '1024.0'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print(log(a)); //Logarithm: this will print '1.38...'</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print(pi); //This will print the PI constant</a:t>
            </a:r>
          </a:p>
          <a:p>
            <a:pPr marL="3429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Courier" pitchFamily="2" charset="0"/>
            </a:endParaRPr>
          </a:p>
        </p:txBody>
      </p:sp>
      <p:sp>
        <p:nvSpPr>
          <p:cNvPr id="4" name="Slide Number Placeholder 3">
            <a:extLst>
              <a:ext uri="{FF2B5EF4-FFF2-40B4-BE49-F238E27FC236}">
                <a16:creationId xmlns:a16="http://schemas.microsoft.com/office/drawing/2014/main" id="{A8375E24-0BBC-0445-897F-477A43E0B4CA}"/>
              </a:ext>
            </a:extLst>
          </p:cNvPr>
          <p:cNvSpPr>
            <a:spLocks noGrp="1"/>
          </p:cNvSpPr>
          <p:nvPr>
            <p:ph type="sldNum" sz="quarter" idx="12"/>
          </p:nvPr>
        </p:nvSpPr>
        <p:spPr/>
        <p:txBody>
          <a:bodyPr/>
          <a:lstStyle/>
          <a:p>
            <a:fld id="{31DE2C5B-556E-47B8-A792-024C2FCA4ACC}" type="slidenum">
              <a:rPr lang="en-GB" smtClean="0"/>
              <a:t>28</a:t>
            </a:fld>
            <a:endParaRPr lang="en-GB"/>
          </a:p>
        </p:txBody>
      </p:sp>
    </p:spTree>
    <p:extLst>
      <p:ext uri="{BB962C8B-B14F-4D97-AF65-F5344CB8AC3E}">
        <p14:creationId xmlns:p14="http://schemas.microsoft.com/office/powerpoint/2010/main" val="1625904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Operators – Prefix, postfix</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int m = 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int n = 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n = m++; //First assigns to n the value of m, then it increments m</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print(m); //This will print '1'</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print(n); //This will print '0'</a:t>
            </a:r>
          </a:p>
          <a:p>
            <a:pPr marL="3429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n = ++m; //First increments the value of m, then assigns to n the value of m</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print(m); //This will print '2'</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print(n); //This will print '2’</a:t>
            </a:r>
          </a:p>
          <a:p>
            <a:pPr marL="3429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9B5158FD-4999-0B4E-AA00-F12A9588A74D}"/>
              </a:ext>
            </a:extLst>
          </p:cNvPr>
          <p:cNvSpPr>
            <a:spLocks noGrp="1"/>
          </p:cNvSpPr>
          <p:nvPr>
            <p:ph type="sldNum" sz="quarter" idx="12"/>
          </p:nvPr>
        </p:nvSpPr>
        <p:spPr/>
        <p:txBody>
          <a:bodyPr/>
          <a:lstStyle/>
          <a:p>
            <a:fld id="{31DE2C5B-556E-47B8-A792-024C2FCA4ACC}" type="slidenum">
              <a:rPr lang="en-GB" smtClean="0"/>
              <a:t>29</a:t>
            </a:fld>
            <a:endParaRPr lang="en-GB"/>
          </a:p>
        </p:txBody>
      </p:sp>
    </p:spTree>
    <p:extLst>
      <p:ext uri="{BB962C8B-B14F-4D97-AF65-F5344CB8AC3E}">
        <p14:creationId xmlns:p14="http://schemas.microsoft.com/office/powerpoint/2010/main" val="1964111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Operators – Relational</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int x = 0;</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int y = 1;</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print(x == y); //This will print 'false'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print(x != y); //This will print 'true'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print(x &gt; y); //This will print 'false'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print(x &lt; y); //This will print 'true'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print(x &gt;= y); //This will print 'false'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print(x &lt;= y); //This will print 'true’</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C0CF7E93-CE88-A240-A6B3-5A5EA38F6BC0}"/>
              </a:ext>
            </a:extLst>
          </p:cNvPr>
          <p:cNvSpPr>
            <a:spLocks noGrp="1"/>
          </p:cNvSpPr>
          <p:nvPr>
            <p:ph type="sldNum" sz="quarter" idx="12"/>
          </p:nvPr>
        </p:nvSpPr>
        <p:spPr/>
        <p:txBody>
          <a:bodyPr/>
          <a:lstStyle/>
          <a:p>
            <a:fld id="{31DE2C5B-556E-47B8-A792-024C2FCA4ACC}" type="slidenum">
              <a:rPr lang="en-GB" smtClean="0"/>
              <a:t>30</a:t>
            </a:fld>
            <a:endParaRPr lang="en-GB"/>
          </a:p>
        </p:txBody>
      </p:sp>
    </p:spTree>
    <p:extLst>
      <p:ext uri="{BB962C8B-B14F-4D97-AF65-F5344CB8AC3E}">
        <p14:creationId xmlns:p14="http://schemas.microsoft.com/office/powerpoint/2010/main" val="2394794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Operators – Relational</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bool flag1 = true;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bool flag2 = false;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print(flag1 &amp;&amp; flag2); //AND: This will print 'false'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print(flag1 || flag2); //OR: This will print 'true'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print(!flag1); //NOT: This will print 'false'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print(flag1 ? 'Hello' : 'World'); //Ternary operator: 	This will print 'Hello’</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6ADD1CF8-0F1F-644C-AFC1-95D4E9D83136}"/>
              </a:ext>
            </a:extLst>
          </p:cNvPr>
          <p:cNvSpPr>
            <a:spLocks noGrp="1"/>
          </p:cNvSpPr>
          <p:nvPr>
            <p:ph type="sldNum" sz="quarter" idx="12"/>
          </p:nvPr>
        </p:nvSpPr>
        <p:spPr/>
        <p:txBody>
          <a:bodyPr/>
          <a:lstStyle/>
          <a:p>
            <a:fld id="{31DE2C5B-556E-47B8-A792-024C2FCA4ACC}" type="slidenum">
              <a:rPr lang="en-GB" smtClean="0"/>
              <a:t>31</a:t>
            </a:fld>
            <a:endParaRPr lang="en-GB"/>
          </a:p>
        </p:txBody>
      </p:sp>
    </p:spTree>
    <p:extLst>
      <p:ext uri="{BB962C8B-B14F-4D97-AF65-F5344CB8AC3E}">
        <p14:creationId xmlns:p14="http://schemas.microsoft.com/office/powerpoint/2010/main" val="3413106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Operators – Type tester</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double c = 0;</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print(c is double); //This will print ‘true'</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print(c is! double); //This will print ‘false’</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Content Placeholder 2">
            <a:extLst>
              <a:ext uri="{FF2B5EF4-FFF2-40B4-BE49-F238E27FC236}">
                <a16:creationId xmlns:a16="http://schemas.microsoft.com/office/drawing/2014/main" id="{B8EB6449-C6D0-7143-BAD2-011D42B6E490}"/>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a:t>
            </a:r>
            <a:r>
              <a:rPr lang="en-US" sz="1600" dirty="0" err="1">
                <a:latin typeface="Aptos" panose="020B0004020202020204" pitchFamily="34" charset="0"/>
                <a:ea typeface="Palatino" pitchFamily="2" charset="77"/>
              </a:rPr>
              <a:t>esson</a:t>
            </a:r>
            <a:r>
              <a:rPr lang="en-IT" sz="1600">
                <a:latin typeface="Aptos" panose="020B0004020202020204" pitchFamily="34" charset="0"/>
                <a:ea typeface="Palatino" pitchFamily="2" charset="77"/>
              </a:rPr>
              <a:t>_0</a:t>
            </a:r>
            <a:r>
              <a:rPr lang="en-US" sz="1600" dirty="0">
                <a:latin typeface="Aptos" panose="020B0004020202020204" pitchFamily="34" charset="0"/>
                <a:ea typeface="Palatino" pitchFamily="2" charset="77"/>
              </a:rPr>
              <a:t>3</a:t>
            </a:r>
            <a:r>
              <a:rPr lang="en-IT" sz="1600">
                <a:latin typeface="Aptos" panose="020B0004020202020204" pitchFamily="34" charset="0"/>
                <a:ea typeface="Palatino" pitchFamily="2" charset="77"/>
              </a:rPr>
              <a:t>-dart</a:t>
            </a:r>
            <a:r>
              <a:rPr lang="en-IT" sz="1600" dirty="0">
                <a:latin typeface="Aptos" panose="020B0004020202020204" pitchFamily="34" charset="0"/>
                <a:ea typeface="Palatino" pitchFamily="2" charset="77"/>
              </a:rPr>
              <a:t>_101_part_1/06-operators.dart</a:t>
            </a:r>
          </a:p>
        </p:txBody>
      </p:sp>
      <p:sp>
        <p:nvSpPr>
          <p:cNvPr id="5" name="Slide Number Placeholder 4">
            <a:extLst>
              <a:ext uri="{FF2B5EF4-FFF2-40B4-BE49-F238E27FC236}">
                <a16:creationId xmlns:a16="http://schemas.microsoft.com/office/drawing/2014/main" id="{BB5CBB1A-28B0-4044-BF9E-137B36037CCA}"/>
              </a:ext>
            </a:extLst>
          </p:cNvPr>
          <p:cNvSpPr>
            <a:spLocks noGrp="1"/>
          </p:cNvSpPr>
          <p:nvPr>
            <p:ph type="sldNum" sz="quarter" idx="12"/>
          </p:nvPr>
        </p:nvSpPr>
        <p:spPr/>
        <p:txBody>
          <a:bodyPr/>
          <a:lstStyle/>
          <a:p>
            <a:fld id="{31DE2C5B-556E-47B8-A792-024C2FCA4ACC}" type="slidenum">
              <a:rPr lang="en-GB" smtClean="0"/>
              <a:t>32</a:t>
            </a:fld>
            <a:endParaRPr lang="en-GB"/>
          </a:p>
        </p:txBody>
      </p:sp>
    </p:spTree>
    <p:extLst>
      <p:ext uri="{BB962C8B-B14F-4D97-AF65-F5344CB8AC3E}">
        <p14:creationId xmlns:p14="http://schemas.microsoft.com/office/powerpoint/2010/main" val="1684855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pPr>
              <a:lnSpc>
                <a:spcPct val="110000"/>
              </a:lnSpc>
            </a:pPr>
            <a:r>
              <a:rPr lang="en-IT" dirty="0">
                <a:solidFill>
                  <a:schemeClr val="bg1">
                    <a:lumMod val="75000"/>
                  </a:schemeClr>
                </a:solidFill>
              </a:rPr>
              <a:t>Variables</a:t>
            </a:r>
          </a:p>
          <a:p>
            <a:pPr>
              <a:lnSpc>
                <a:spcPct val="110000"/>
              </a:lnSpc>
            </a:pPr>
            <a:r>
              <a:rPr lang="en-IT" dirty="0">
                <a:solidFill>
                  <a:schemeClr val="bg1">
                    <a:lumMod val="75000"/>
                  </a:schemeClr>
                </a:solidFill>
              </a:rPr>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b="1" dirty="0"/>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54067CEB-06A9-884C-A3C0-4CC727DE42C9}"/>
              </a:ext>
            </a:extLst>
          </p:cNvPr>
          <p:cNvSpPr>
            <a:spLocks noGrp="1"/>
          </p:cNvSpPr>
          <p:nvPr>
            <p:ph type="sldNum" sz="quarter" idx="12"/>
          </p:nvPr>
        </p:nvSpPr>
        <p:spPr/>
        <p:txBody>
          <a:bodyPr/>
          <a:lstStyle/>
          <a:p>
            <a:fld id="{31DE2C5B-556E-47B8-A792-024C2FCA4ACC}" type="slidenum">
              <a:rPr lang="en-GB" smtClean="0"/>
              <a:t>33</a:t>
            </a:fld>
            <a:endParaRPr lang="en-GB"/>
          </a:p>
        </p:txBody>
      </p:sp>
    </p:spTree>
    <p:extLst>
      <p:ext uri="{BB962C8B-B14F-4D97-AF65-F5344CB8AC3E}">
        <p14:creationId xmlns:p14="http://schemas.microsoft.com/office/powerpoint/2010/main" val="2139569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r>
              <a:rPr lang="en-GB" dirty="0"/>
              <a:t>As any programming language, Dart has a set of constructs to control the program flow:</a:t>
            </a:r>
          </a:p>
          <a:p>
            <a:pPr lvl="1"/>
            <a:r>
              <a:rPr lang="en-GB" dirty="0"/>
              <a:t>If-Else</a:t>
            </a:r>
          </a:p>
          <a:p>
            <a:pPr lvl="1"/>
            <a:r>
              <a:rPr lang="en-GB" dirty="0"/>
              <a:t>For</a:t>
            </a:r>
          </a:p>
          <a:p>
            <a:pPr lvl="1"/>
            <a:r>
              <a:rPr lang="en-GB" dirty="0"/>
              <a:t>While</a:t>
            </a:r>
          </a:p>
          <a:p>
            <a:pPr lvl="1"/>
            <a:r>
              <a:rPr lang="en-GB" dirty="0"/>
              <a:t>Do-While</a:t>
            </a:r>
          </a:p>
          <a:p>
            <a:pPr lvl="1"/>
            <a:r>
              <a:rPr lang="en-GB" dirty="0"/>
              <a:t>Break</a:t>
            </a:r>
          </a:p>
          <a:p>
            <a:pPr lvl="1"/>
            <a:r>
              <a:rPr lang="en-GB" dirty="0"/>
              <a:t>Continue</a:t>
            </a:r>
          </a:p>
          <a:p>
            <a:pPr lvl="1"/>
            <a:r>
              <a:rPr lang="en-GB" dirty="0"/>
              <a:t>Switch-Case</a:t>
            </a:r>
          </a:p>
          <a:p>
            <a:pPr lvl="1"/>
            <a:r>
              <a:rPr lang="en-GB" dirty="0"/>
              <a:t>Try-Catch-Finally</a:t>
            </a:r>
          </a:p>
          <a:p>
            <a:endParaRPr lang="en-GB" dirty="0"/>
          </a:p>
          <a:p>
            <a:pPr marL="457200" lvl="1" indent="0">
              <a:buNone/>
            </a:pPr>
            <a:endParaRPr lang="en-GB" dirty="0">
              <a:latin typeface="Courier" pitchFamily="2" charset="0"/>
            </a:endParaRPr>
          </a:p>
        </p:txBody>
      </p:sp>
      <p:sp>
        <p:nvSpPr>
          <p:cNvPr id="4" name="Slide Number Placeholder 3">
            <a:extLst>
              <a:ext uri="{FF2B5EF4-FFF2-40B4-BE49-F238E27FC236}">
                <a16:creationId xmlns:a16="http://schemas.microsoft.com/office/drawing/2014/main" id="{1539A28E-754C-D941-8D26-0B93B86AA7DD}"/>
              </a:ext>
            </a:extLst>
          </p:cNvPr>
          <p:cNvSpPr>
            <a:spLocks noGrp="1"/>
          </p:cNvSpPr>
          <p:nvPr>
            <p:ph type="sldNum" sz="quarter" idx="12"/>
          </p:nvPr>
        </p:nvSpPr>
        <p:spPr/>
        <p:txBody>
          <a:bodyPr/>
          <a:lstStyle/>
          <a:p>
            <a:fld id="{31DE2C5B-556E-47B8-A792-024C2FCA4ACC}" type="slidenum">
              <a:rPr lang="en-GB" smtClean="0"/>
              <a:t>34</a:t>
            </a:fld>
            <a:endParaRPr lang="en-GB"/>
          </a:p>
        </p:txBody>
      </p:sp>
    </p:spTree>
    <p:extLst>
      <p:ext uri="{BB962C8B-B14F-4D97-AF65-F5344CB8AC3E}">
        <p14:creationId xmlns:p14="http://schemas.microsoft.com/office/powerpoint/2010/main" val="233025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If-Else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r>
              <a:rPr lang="en-GB" dirty="0">
                <a:latin typeface="Menlo" panose="020B0609030804020204" pitchFamily="49" charset="0"/>
                <a:ea typeface="Menlo" panose="020B0609030804020204" pitchFamily="49" charset="0"/>
                <a:cs typeface="Menlo" panose="020B0609030804020204" pitchFamily="49" charset="0"/>
              </a:rPr>
              <a:t>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//a has 0 value.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int a = 0;</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if(</a:t>
            </a:r>
            <a:r>
              <a:rPr lang="en-GB" dirty="0">
                <a:latin typeface="Menlo" panose="020B0609030804020204" pitchFamily="49" charset="0"/>
                <a:ea typeface="Menlo" panose="020B0609030804020204" pitchFamily="49" charset="0"/>
                <a:cs typeface="Menlo" panose="020B0609030804020204" pitchFamily="49" charset="0"/>
              </a:rPr>
              <a:t>a == 0</a:t>
            </a:r>
            <a:r>
              <a:rPr lang="en-GB" b="1" dirty="0">
                <a:latin typeface="Menlo" panose="020B0609030804020204" pitchFamily="49" charset="0"/>
                <a:ea typeface="Menlo" panose="020B0609030804020204" pitchFamily="49" charset="0"/>
                <a:cs typeface="Menlo" panose="020B0609030804020204" pitchFamily="49" charset="0"/>
              </a:rPr>
              <a: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print('a has 0 value.');</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 else if(</a:t>
            </a:r>
            <a:r>
              <a:rPr lang="en-GB" dirty="0">
                <a:latin typeface="Menlo" panose="020B0609030804020204" pitchFamily="49" charset="0"/>
                <a:ea typeface="Menlo" panose="020B0609030804020204" pitchFamily="49" charset="0"/>
                <a:cs typeface="Menlo" panose="020B0609030804020204" pitchFamily="49" charset="0"/>
              </a:rPr>
              <a:t>a &lt; 0</a:t>
            </a:r>
            <a:r>
              <a:rPr lang="en-GB" b="1" dirty="0">
                <a:latin typeface="Menlo" panose="020B0609030804020204" pitchFamily="49" charset="0"/>
                <a:ea typeface="Menlo" panose="020B0609030804020204" pitchFamily="49" charset="0"/>
                <a:cs typeface="Menlo" panose="020B0609030804020204" pitchFamily="49" charset="0"/>
              </a:rPr>
              <a: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print('a is negative.');</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 else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print('a is positive.');</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}//if-else</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Content Placeholder 2">
            <a:extLst>
              <a:ext uri="{FF2B5EF4-FFF2-40B4-BE49-F238E27FC236}">
                <a16:creationId xmlns:a16="http://schemas.microsoft.com/office/drawing/2014/main" id="{BE20AF15-975A-B94E-9578-111525B83118}"/>
              </a:ext>
            </a:extLst>
          </p:cNvPr>
          <p:cNvSpPr txBox="1">
            <a:spLocks/>
          </p:cNvSpPr>
          <p:nvPr/>
        </p:nvSpPr>
        <p:spPr>
          <a:xfrm>
            <a:off x="8101131" y="2063068"/>
            <a:ext cx="3340204" cy="3204178"/>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if(c1){</a:t>
            </a:r>
          </a:p>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  run this if c1 is true;</a:t>
            </a:r>
          </a:p>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 else if(c2){</a:t>
            </a:r>
          </a:p>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  run this if c2 is true;</a:t>
            </a:r>
          </a:p>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 else {</a:t>
            </a:r>
          </a:p>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  run this otherwise;</a:t>
            </a:r>
          </a:p>
          <a:p>
            <a:pPr marL="0" indent="0">
              <a:buNone/>
            </a:pPr>
            <a:r>
              <a:rPr lang="en-IT" sz="1600" b="1" dirty="0">
                <a:latin typeface="Menlo" panose="020B0609030804020204" pitchFamily="49" charset="0"/>
                <a:ea typeface="Menlo" panose="020B0609030804020204" pitchFamily="49" charset="0"/>
                <a:cs typeface="Menlo" panose="020B0609030804020204" pitchFamily="49" charset="0"/>
              </a:rPr>
              <a:t>}</a:t>
            </a:r>
            <a:endParaRPr lang="en-IT" sz="1600" dirty="0">
              <a:latin typeface="Menlo" panose="020B0609030804020204" pitchFamily="49" charset="0"/>
              <a:ea typeface="Menlo" panose="020B0609030804020204" pitchFamily="49" charset="0"/>
              <a:cs typeface="Menlo" panose="020B0609030804020204" pitchFamily="49" charset="0"/>
            </a:endParaRPr>
          </a:p>
        </p:txBody>
      </p:sp>
      <p:sp>
        <p:nvSpPr>
          <p:cNvPr id="5" name="Slide Number Placeholder 4">
            <a:extLst>
              <a:ext uri="{FF2B5EF4-FFF2-40B4-BE49-F238E27FC236}">
                <a16:creationId xmlns:a16="http://schemas.microsoft.com/office/drawing/2014/main" id="{62CA700A-4107-BE4E-AE77-59669944A9C3}"/>
              </a:ext>
            </a:extLst>
          </p:cNvPr>
          <p:cNvSpPr>
            <a:spLocks noGrp="1"/>
          </p:cNvSpPr>
          <p:nvPr>
            <p:ph type="sldNum" sz="quarter" idx="12"/>
          </p:nvPr>
        </p:nvSpPr>
        <p:spPr/>
        <p:txBody>
          <a:bodyPr/>
          <a:lstStyle/>
          <a:p>
            <a:fld id="{31DE2C5B-556E-47B8-A792-024C2FCA4ACC}" type="slidenum">
              <a:rPr lang="en-GB" smtClean="0"/>
              <a:t>35</a:t>
            </a:fld>
            <a:endParaRPr lang="en-GB"/>
          </a:p>
        </p:txBody>
      </p:sp>
    </p:spTree>
    <p:extLst>
      <p:ext uri="{BB962C8B-B14F-4D97-AF65-F5344CB8AC3E}">
        <p14:creationId xmlns:p14="http://schemas.microsoft.com/office/powerpoint/2010/main" val="1989395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For</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fontScale="77500" lnSpcReduction="20000"/>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//1</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//2</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//3</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var list = [1,2,3];</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for (</a:t>
            </a:r>
            <a:r>
              <a:rPr lang="en-GB" dirty="0">
                <a:latin typeface="Menlo" panose="020B0609030804020204" pitchFamily="49" charset="0"/>
                <a:ea typeface="Menlo" panose="020B0609030804020204" pitchFamily="49" charset="0"/>
                <a:cs typeface="Menlo" panose="020B0609030804020204" pitchFamily="49" charset="0"/>
              </a:rPr>
              <a:t>var </a:t>
            </a:r>
            <a:r>
              <a:rPr lang="en-GB" dirty="0" err="1">
                <a:latin typeface="Menlo" panose="020B0609030804020204" pitchFamily="49" charset="0"/>
                <a:ea typeface="Menlo" panose="020B0609030804020204" pitchFamily="49" charset="0"/>
                <a:cs typeface="Menlo" panose="020B0609030804020204" pitchFamily="49" charset="0"/>
              </a:rPr>
              <a:t>i</a:t>
            </a:r>
            <a:r>
              <a:rPr lang="en-GB" dirty="0">
                <a:latin typeface="Menlo" panose="020B0609030804020204" pitchFamily="49" charset="0"/>
                <a:ea typeface="Menlo" panose="020B0609030804020204" pitchFamily="49" charset="0"/>
                <a:cs typeface="Menlo" panose="020B0609030804020204" pitchFamily="49" charset="0"/>
              </a:rPr>
              <a:t> = 0; </a:t>
            </a:r>
            <a:r>
              <a:rPr lang="en-GB" dirty="0" err="1">
                <a:latin typeface="Menlo" panose="020B0609030804020204" pitchFamily="49" charset="0"/>
                <a:ea typeface="Menlo" panose="020B0609030804020204" pitchFamily="49" charset="0"/>
                <a:cs typeface="Menlo" panose="020B0609030804020204" pitchFamily="49" charset="0"/>
              </a:rPr>
              <a:t>i</a:t>
            </a:r>
            <a:r>
              <a:rPr lang="en-GB" dirty="0">
                <a:latin typeface="Menlo" panose="020B0609030804020204" pitchFamily="49" charset="0"/>
                <a:ea typeface="Menlo" panose="020B0609030804020204" pitchFamily="49" charset="0"/>
                <a:cs typeface="Menlo" panose="020B0609030804020204" pitchFamily="49" charset="0"/>
              </a:rPr>
              <a:t> &lt; </a:t>
            </a:r>
            <a:r>
              <a:rPr lang="en-GB" dirty="0" err="1">
                <a:latin typeface="Menlo" panose="020B0609030804020204" pitchFamily="49" charset="0"/>
                <a:ea typeface="Menlo" panose="020B0609030804020204" pitchFamily="49" charset="0"/>
                <a:cs typeface="Menlo" panose="020B0609030804020204" pitchFamily="49" charset="0"/>
              </a:rPr>
              <a:t>list.length</a:t>
            </a:r>
            <a:r>
              <a:rPr lang="en-GB" dirty="0">
                <a:latin typeface="Menlo" panose="020B0609030804020204" pitchFamily="49" charset="0"/>
                <a:ea typeface="Menlo" panose="020B0609030804020204" pitchFamily="49" charset="0"/>
                <a:cs typeface="Menlo" panose="020B0609030804020204" pitchFamily="49" charset="0"/>
              </a:rPr>
              <a:t>; </a:t>
            </a:r>
            <a:r>
              <a:rPr lang="en-GB" dirty="0" err="1">
                <a:latin typeface="Menlo" panose="020B0609030804020204" pitchFamily="49" charset="0"/>
                <a:ea typeface="Menlo" panose="020B0609030804020204" pitchFamily="49" charset="0"/>
                <a:cs typeface="Menlo" panose="020B0609030804020204" pitchFamily="49" charset="0"/>
              </a:rPr>
              <a:t>i</a:t>
            </a:r>
            <a:r>
              <a:rPr lang="en-GB" dirty="0">
                <a:latin typeface="Menlo" panose="020B0609030804020204" pitchFamily="49" charset="0"/>
                <a:ea typeface="Menlo" panose="020B0609030804020204" pitchFamily="49" charset="0"/>
                <a:cs typeface="Menlo" panose="020B0609030804020204" pitchFamily="49" charset="0"/>
              </a:rPr>
              <a:t>++</a:t>
            </a:r>
            <a:r>
              <a:rPr lang="en-GB" b="1" dirty="0">
                <a:latin typeface="Menlo" panose="020B0609030804020204" pitchFamily="49" charset="0"/>
                <a:ea typeface="Menlo" panose="020B0609030804020204" pitchFamily="49" charset="0"/>
                <a:cs typeface="Menlo" panose="020B0609030804020204" pitchFamily="49" charset="0"/>
              </a:rPr>
              <a:t>)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print(list[</a:t>
            </a:r>
            <a:r>
              <a:rPr lang="en-GB" dirty="0" err="1">
                <a:latin typeface="Menlo" panose="020B0609030804020204" pitchFamily="49" charset="0"/>
                <a:ea typeface="Menlo" panose="020B0609030804020204" pitchFamily="49" charset="0"/>
                <a:cs typeface="Menlo" panose="020B0609030804020204" pitchFamily="49" charset="0"/>
              </a:rPr>
              <a:t>i</a:t>
            </a:r>
            <a:r>
              <a:rPr lang="en-GB" dirty="0">
                <a:latin typeface="Menlo" panose="020B0609030804020204" pitchFamily="49" charset="0"/>
                <a:ea typeface="Menlo" panose="020B0609030804020204" pitchFamily="49" charset="0"/>
                <a:cs typeface="Menlo" panose="020B0609030804020204" pitchFamily="49" charset="0"/>
              </a:rPr>
              <a:t>]);</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}//for</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//1</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//2</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//3</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for (</a:t>
            </a:r>
            <a:r>
              <a:rPr lang="en-GB" dirty="0">
                <a:latin typeface="Menlo" panose="020B0609030804020204" pitchFamily="49" charset="0"/>
                <a:ea typeface="Menlo" panose="020B0609030804020204" pitchFamily="49" charset="0"/>
                <a:cs typeface="Menlo" panose="020B0609030804020204" pitchFamily="49" charset="0"/>
              </a:rPr>
              <a:t>var </a:t>
            </a:r>
            <a:r>
              <a:rPr lang="en-GB" b="1" dirty="0">
                <a:latin typeface="Menlo" panose="020B0609030804020204" pitchFamily="49" charset="0"/>
                <a:ea typeface="Menlo" panose="020B0609030804020204" pitchFamily="49" charset="0"/>
                <a:cs typeface="Menlo" panose="020B0609030804020204" pitchFamily="49" charset="0"/>
              </a:rPr>
              <a:t>item</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in</a:t>
            </a:r>
            <a:r>
              <a:rPr lang="en-GB" dirty="0">
                <a:latin typeface="Menlo" panose="020B0609030804020204" pitchFamily="49" charset="0"/>
                <a:ea typeface="Menlo" panose="020B0609030804020204" pitchFamily="49" charset="0"/>
                <a:cs typeface="Menlo" panose="020B0609030804020204" pitchFamily="49" charset="0"/>
              </a:rPr>
              <a:t> list</a:t>
            </a:r>
            <a:r>
              <a:rPr lang="en-GB" b="1" dirty="0">
                <a:latin typeface="Menlo" panose="020B0609030804020204" pitchFamily="49" charset="0"/>
                <a:ea typeface="Menlo" panose="020B0609030804020204" pitchFamily="49" charset="0"/>
                <a:cs typeface="Menlo" panose="020B0609030804020204" pitchFamily="49" charset="0"/>
              </a:rPr>
              <a:t>)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print(item);</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}//for</a:t>
            </a:r>
          </a:p>
          <a:p>
            <a:pPr marL="0" indent="0">
              <a:buNone/>
            </a:pPr>
            <a:br>
              <a:rPr lang="en-GB" dirty="0">
                <a:latin typeface="Menlo" panose="020B0609030804020204" pitchFamily="49" charset="0"/>
                <a:ea typeface="Menlo" panose="020B0609030804020204" pitchFamily="49" charset="0"/>
                <a:cs typeface="Menlo" panose="020B0609030804020204" pitchFamily="49" charset="0"/>
              </a:rPr>
            </a:b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7A07EAA4-B439-4A44-96C1-A2666C043A9A}"/>
              </a:ext>
            </a:extLst>
          </p:cNvPr>
          <p:cNvSpPr>
            <a:spLocks noGrp="1"/>
          </p:cNvSpPr>
          <p:nvPr>
            <p:ph type="sldNum" sz="quarter" idx="12"/>
          </p:nvPr>
        </p:nvSpPr>
        <p:spPr/>
        <p:txBody>
          <a:bodyPr/>
          <a:lstStyle/>
          <a:p>
            <a:fld id="{31DE2C5B-556E-47B8-A792-024C2FCA4ACC}" type="slidenum">
              <a:rPr lang="en-GB" smtClean="0"/>
              <a:t>36</a:t>
            </a:fld>
            <a:endParaRPr lang="en-GB"/>
          </a:p>
        </p:txBody>
      </p:sp>
    </p:spTree>
    <p:extLst>
      <p:ext uri="{BB962C8B-B14F-4D97-AF65-F5344CB8AC3E}">
        <p14:creationId xmlns:p14="http://schemas.microsoft.com/office/powerpoint/2010/main" val="1227117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While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//3</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//2</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//1</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var n = 3;</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while(</a:t>
            </a:r>
            <a:r>
              <a:rPr lang="en-GB" dirty="0">
                <a:latin typeface="Menlo" panose="020B0609030804020204" pitchFamily="49" charset="0"/>
                <a:ea typeface="Menlo" panose="020B0609030804020204" pitchFamily="49" charset="0"/>
                <a:cs typeface="Menlo" panose="020B0609030804020204" pitchFamily="49" charset="0"/>
              </a:rPr>
              <a:t>n&gt;0</a:t>
            </a:r>
            <a:r>
              <a:rPr lang="en-GB" b="1" dirty="0">
                <a:latin typeface="Menlo" panose="020B0609030804020204" pitchFamily="49" charset="0"/>
                <a:ea typeface="Menlo" panose="020B0609030804020204" pitchFamily="49" charset="0"/>
                <a:cs typeface="Menlo" panose="020B0609030804020204" pitchFamily="49" charset="0"/>
              </a:rPr>
              <a:t>){</a:t>
            </a:r>
          </a:p>
          <a:p>
            <a:pPr marL="800100" lvl="2" indent="0">
              <a:buNone/>
            </a:pPr>
            <a:r>
              <a:rPr lang="en-GB" dirty="0">
                <a:latin typeface="Menlo" panose="020B0609030804020204" pitchFamily="49" charset="0"/>
                <a:ea typeface="Menlo" panose="020B0609030804020204" pitchFamily="49" charset="0"/>
                <a:cs typeface="Menlo" panose="020B0609030804020204" pitchFamily="49" charset="0"/>
              </a:rPr>
              <a:t>print(n);</a:t>
            </a:r>
          </a:p>
          <a:p>
            <a:pPr marL="800100" lvl="2" indent="0">
              <a:buNone/>
            </a:pPr>
            <a:r>
              <a:rPr lang="en-GB" dirty="0">
                <a:latin typeface="Menlo" panose="020B0609030804020204" pitchFamily="49" charset="0"/>
                <a:ea typeface="Menlo" panose="020B0609030804020204" pitchFamily="49" charset="0"/>
                <a:cs typeface="Menlo" panose="020B0609030804020204" pitchFamily="49" charset="0"/>
              </a:rPr>
              <a:t>n--;</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}//while</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Content Placeholder 2">
            <a:extLst>
              <a:ext uri="{FF2B5EF4-FFF2-40B4-BE49-F238E27FC236}">
                <a16:creationId xmlns:a16="http://schemas.microsoft.com/office/drawing/2014/main" id="{B4DB932A-0BA2-4849-8DC7-F49066A07509}"/>
              </a:ext>
            </a:extLst>
          </p:cNvPr>
          <p:cNvSpPr txBox="1">
            <a:spLocks/>
          </p:cNvSpPr>
          <p:nvPr/>
        </p:nvSpPr>
        <p:spPr>
          <a:xfrm>
            <a:off x="7897092" y="1361167"/>
            <a:ext cx="3234406" cy="1269580"/>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Note:</a:t>
            </a:r>
            <a:r>
              <a:rPr lang="en-IT" sz="1600" dirty="0">
                <a:latin typeface="Aptos" panose="020B0004020202020204" pitchFamily="34" charset="0"/>
                <a:ea typeface="Palatino" pitchFamily="2" charset="77"/>
              </a:rPr>
              <a:t> Use for over while when you know how many iterations </a:t>
            </a:r>
            <a:r>
              <a:rPr lang="en-IT" sz="1600">
                <a:latin typeface="Aptos" panose="020B0004020202020204" pitchFamily="34" charset="0"/>
                <a:ea typeface="Palatino" pitchFamily="2" charset="77"/>
              </a:rPr>
              <a:t>are needed</a:t>
            </a:r>
            <a:endParaRPr lang="en-IT" sz="1600" dirty="0">
              <a:latin typeface="Aptos" panose="020B0004020202020204" pitchFamily="34" charset="0"/>
              <a:ea typeface="Palatino" pitchFamily="2" charset="77"/>
            </a:endParaRPr>
          </a:p>
        </p:txBody>
      </p:sp>
      <p:sp>
        <p:nvSpPr>
          <p:cNvPr id="5" name="Slide Number Placeholder 4">
            <a:extLst>
              <a:ext uri="{FF2B5EF4-FFF2-40B4-BE49-F238E27FC236}">
                <a16:creationId xmlns:a16="http://schemas.microsoft.com/office/drawing/2014/main" id="{0F31934B-9292-3545-B22C-116BD0563E6F}"/>
              </a:ext>
            </a:extLst>
          </p:cNvPr>
          <p:cNvSpPr>
            <a:spLocks noGrp="1"/>
          </p:cNvSpPr>
          <p:nvPr>
            <p:ph type="sldNum" sz="quarter" idx="12"/>
          </p:nvPr>
        </p:nvSpPr>
        <p:spPr/>
        <p:txBody>
          <a:bodyPr/>
          <a:lstStyle/>
          <a:p>
            <a:fld id="{31DE2C5B-556E-47B8-A792-024C2FCA4ACC}" type="slidenum">
              <a:rPr lang="en-GB" smtClean="0"/>
              <a:t>37</a:t>
            </a:fld>
            <a:endParaRPr lang="en-GB"/>
          </a:p>
        </p:txBody>
      </p:sp>
    </p:spTree>
    <p:extLst>
      <p:ext uri="{BB962C8B-B14F-4D97-AF65-F5344CB8AC3E}">
        <p14:creationId xmlns:p14="http://schemas.microsoft.com/office/powerpoint/2010/main" val="4111652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Do-While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//3</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//2</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//1</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var m = 3;</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do{</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print(m);</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m--;</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}while(</a:t>
            </a:r>
            <a:r>
              <a:rPr lang="en-GB" dirty="0">
                <a:latin typeface="Menlo" panose="020B0609030804020204" pitchFamily="49" charset="0"/>
                <a:ea typeface="Menlo" panose="020B0609030804020204" pitchFamily="49" charset="0"/>
                <a:cs typeface="Menlo" panose="020B0609030804020204" pitchFamily="49" charset="0"/>
              </a:rPr>
              <a:t>m&gt;0</a:t>
            </a:r>
            <a:r>
              <a:rPr lang="en-GB" b="1" dirty="0">
                <a:latin typeface="Menlo" panose="020B0609030804020204" pitchFamily="49" charset="0"/>
                <a:ea typeface="Menlo" panose="020B0609030804020204" pitchFamily="49" charset="0"/>
                <a:cs typeface="Menlo" panose="020B0609030804020204" pitchFamily="49" charset="0"/>
              </a:rPr>
              <a:t>);</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5" name="Content Placeholder 2">
            <a:extLst>
              <a:ext uri="{FF2B5EF4-FFF2-40B4-BE49-F238E27FC236}">
                <a16:creationId xmlns:a16="http://schemas.microsoft.com/office/drawing/2014/main" id="{8B423966-5766-2343-B146-40DCC3C53C44}"/>
              </a:ext>
            </a:extLst>
          </p:cNvPr>
          <p:cNvSpPr txBox="1">
            <a:spLocks/>
          </p:cNvSpPr>
          <p:nvPr/>
        </p:nvSpPr>
        <p:spPr>
          <a:xfrm>
            <a:off x="8101131" y="2063068"/>
            <a:ext cx="3234406" cy="1269580"/>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b="1" dirty="0">
                <a:latin typeface="Aptos" panose="020B0004020202020204" pitchFamily="34" charset="0"/>
                <a:ea typeface="Palatino" pitchFamily="2" charset="77"/>
              </a:rPr>
              <a:t>Note:</a:t>
            </a:r>
            <a:r>
              <a:rPr lang="en-IT" sz="1600" dirty="0">
                <a:latin typeface="Aptos" panose="020B0004020202020204" pitchFamily="34" charset="0"/>
                <a:ea typeface="Palatino" pitchFamily="2" charset="77"/>
              </a:rPr>
              <a:t> Use for over do-while when you know how many iterations </a:t>
            </a:r>
            <a:r>
              <a:rPr lang="en-IT" sz="1600">
                <a:latin typeface="Aptos" panose="020B0004020202020204" pitchFamily="34" charset="0"/>
                <a:ea typeface="Palatino" pitchFamily="2" charset="77"/>
              </a:rPr>
              <a:t>are needed</a:t>
            </a:r>
            <a:endParaRPr lang="en-IT" sz="1600" dirty="0">
              <a:latin typeface="Aptos" panose="020B0004020202020204" pitchFamily="34" charset="0"/>
              <a:ea typeface="Palatino" pitchFamily="2" charset="77"/>
            </a:endParaRPr>
          </a:p>
        </p:txBody>
      </p:sp>
      <p:sp>
        <p:nvSpPr>
          <p:cNvPr id="4" name="Slide Number Placeholder 3">
            <a:extLst>
              <a:ext uri="{FF2B5EF4-FFF2-40B4-BE49-F238E27FC236}">
                <a16:creationId xmlns:a16="http://schemas.microsoft.com/office/drawing/2014/main" id="{4578EB62-DA96-4D43-A492-B9725A1988CC}"/>
              </a:ext>
            </a:extLst>
          </p:cNvPr>
          <p:cNvSpPr>
            <a:spLocks noGrp="1"/>
          </p:cNvSpPr>
          <p:nvPr>
            <p:ph type="sldNum" sz="quarter" idx="12"/>
          </p:nvPr>
        </p:nvSpPr>
        <p:spPr/>
        <p:txBody>
          <a:bodyPr/>
          <a:lstStyle/>
          <a:p>
            <a:fld id="{31DE2C5B-556E-47B8-A792-024C2FCA4ACC}" type="slidenum">
              <a:rPr lang="en-GB" smtClean="0"/>
              <a:t>38</a:t>
            </a:fld>
            <a:endParaRPr lang="en-GB"/>
          </a:p>
        </p:txBody>
      </p:sp>
    </p:spTree>
    <p:extLst>
      <p:ext uri="{BB962C8B-B14F-4D97-AF65-F5344CB8AC3E}">
        <p14:creationId xmlns:p14="http://schemas.microsoft.com/office/powerpoint/2010/main" val="439550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Break</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//5</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//4</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var x = 5;</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while(x&gt;0){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print(x);</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x--;</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if(x == 3){</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break;</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}//if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}//while</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A2A3229E-9456-DB4A-869F-CD6789D1863A}"/>
              </a:ext>
            </a:extLst>
          </p:cNvPr>
          <p:cNvSpPr>
            <a:spLocks noGrp="1"/>
          </p:cNvSpPr>
          <p:nvPr>
            <p:ph type="sldNum" sz="quarter" idx="12"/>
          </p:nvPr>
        </p:nvSpPr>
        <p:spPr/>
        <p:txBody>
          <a:bodyPr/>
          <a:lstStyle/>
          <a:p>
            <a:fld id="{31DE2C5B-556E-47B8-A792-024C2FCA4ACC}" type="slidenum">
              <a:rPr lang="en-GB" smtClean="0"/>
              <a:t>39</a:t>
            </a:fld>
            <a:endParaRPr lang="en-GB"/>
          </a:p>
        </p:txBody>
      </p:sp>
    </p:spTree>
    <p:extLst>
      <p:ext uri="{BB962C8B-B14F-4D97-AF65-F5344CB8AC3E}">
        <p14:creationId xmlns:p14="http://schemas.microsoft.com/office/powerpoint/2010/main" val="4102600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Continue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fontScale="92500" lnSpcReduction="20000"/>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//5</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//3</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//1</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int y = 6;</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while(y&gt;0){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y--;</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	if(y % 2 == 0){</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continue;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}else{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print(y);</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}//if-else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}//while</a:t>
            </a:r>
          </a:p>
          <a:p>
            <a:pPr marL="3429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9355F629-1B67-324C-8686-5C42D6964802}"/>
              </a:ext>
            </a:extLst>
          </p:cNvPr>
          <p:cNvSpPr>
            <a:spLocks noGrp="1"/>
          </p:cNvSpPr>
          <p:nvPr>
            <p:ph type="sldNum" sz="quarter" idx="12"/>
          </p:nvPr>
        </p:nvSpPr>
        <p:spPr/>
        <p:txBody>
          <a:bodyPr/>
          <a:lstStyle/>
          <a:p>
            <a:fld id="{31DE2C5B-556E-47B8-A792-024C2FCA4ACC}" type="slidenum">
              <a:rPr lang="en-GB" smtClean="0"/>
              <a:t>40</a:t>
            </a:fld>
            <a:endParaRPr lang="en-GB"/>
          </a:p>
        </p:txBody>
      </p:sp>
    </p:spTree>
    <p:extLst>
      <p:ext uri="{BB962C8B-B14F-4D97-AF65-F5344CB8AC3E}">
        <p14:creationId xmlns:p14="http://schemas.microsoft.com/office/powerpoint/2010/main" val="2488524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Switch-Case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1" y="1361167"/>
            <a:ext cx="10766302" cy="5334907"/>
          </a:xfrm>
        </p:spPr>
        <p:txBody>
          <a:bodyPr>
            <a:normAutofit/>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//Open the gate!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var command = 'OPEN';</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switch (</a:t>
            </a:r>
            <a:r>
              <a:rPr lang="en-GB" dirty="0">
                <a:latin typeface="Menlo" panose="020B0609030804020204" pitchFamily="49" charset="0"/>
                <a:ea typeface="Menlo" panose="020B0609030804020204" pitchFamily="49" charset="0"/>
                <a:cs typeface="Menlo" panose="020B0609030804020204" pitchFamily="49" charset="0"/>
              </a:rPr>
              <a:t>command</a:t>
            </a:r>
            <a:r>
              <a:rPr lang="en-GB" b="1" dirty="0">
                <a:latin typeface="Menlo" panose="020B0609030804020204" pitchFamily="49" charset="0"/>
                <a:ea typeface="Menlo" panose="020B0609030804020204" pitchFamily="49" charset="0"/>
                <a:cs typeface="Menlo" panose="020B0609030804020204" pitchFamily="49" charset="0"/>
              </a:rPr>
              <a:t>)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case</a:t>
            </a:r>
            <a:r>
              <a:rPr lang="en-GB" dirty="0">
                <a:latin typeface="Menlo" panose="020B0609030804020204" pitchFamily="49" charset="0"/>
                <a:ea typeface="Menlo" panose="020B0609030804020204" pitchFamily="49" charset="0"/>
                <a:cs typeface="Menlo" panose="020B0609030804020204" pitchFamily="49" charset="0"/>
              </a:rPr>
              <a:t> 'OPEN’:</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print('Open the gate!’);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break;</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case</a:t>
            </a:r>
            <a:r>
              <a:rPr lang="en-GB" dirty="0">
                <a:latin typeface="Menlo" panose="020B0609030804020204" pitchFamily="49" charset="0"/>
                <a:ea typeface="Menlo" panose="020B0609030804020204" pitchFamily="49" charset="0"/>
                <a:cs typeface="Menlo" panose="020B0609030804020204" pitchFamily="49" charset="0"/>
              </a:rPr>
              <a:t> 'CLOSE’</a:t>
            </a:r>
            <a:r>
              <a:rPr lang="en-GB" b="1" dirty="0">
                <a:latin typeface="Menlo" panose="020B0609030804020204" pitchFamily="49" charset="0"/>
                <a:ea typeface="Menlo" panose="020B0609030804020204" pitchFamily="49" charset="0"/>
                <a:cs typeface="Menlo" panose="020B0609030804020204" pitchFamily="49" charset="0"/>
              </a:rPr>
              <a: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print('Close the gate!’);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break;</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}//switch-case</a:t>
            </a:r>
          </a:p>
          <a:p>
            <a:pPr marL="0"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06F64E72-42D0-A44A-8C6A-47BBC6B688B7}"/>
              </a:ext>
            </a:extLst>
          </p:cNvPr>
          <p:cNvSpPr>
            <a:spLocks noGrp="1"/>
          </p:cNvSpPr>
          <p:nvPr>
            <p:ph type="sldNum" sz="quarter" idx="12"/>
          </p:nvPr>
        </p:nvSpPr>
        <p:spPr/>
        <p:txBody>
          <a:bodyPr/>
          <a:lstStyle/>
          <a:p>
            <a:fld id="{31DE2C5B-556E-47B8-A792-024C2FCA4ACC}" type="slidenum">
              <a:rPr lang="en-GB" smtClean="0"/>
              <a:t>41</a:t>
            </a:fld>
            <a:endParaRPr lang="en-GB"/>
          </a:p>
        </p:txBody>
      </p:sp>
    </p:spTree>
    <p:extLst>
      <p:ext uri="{BB962C8B-B14F-4D97-AF65-F5344CB8AC3E}">
        <p14:creationId xmlns:p14="http://schemas.microsoft.com/office/powerpoint/2010/main" val="14768252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normAutofit/>
          </a:bodyPr>
          <a:lstStyle/>
          <a:p>
            <a:r>
              <a:rPr lang="en-IT" dirty="0"/>
              <a:t>Control flow – Try-Catch-Finally</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118085"/>
            <a:ext cx="10766302" cy="5334907"/>
          </a:xfrm>
        </p:spPr>
        <p:txBody>
          <a:bodyPr>
            <a:normAutofit fontScale="85000" lnSpcReduction="20000"/>
          </a:bodyPr>
          <a:lstStyle/>
          <a:p>
            <a:pPr marL="0" indent="0">
              <a:buNone/>
            </a:pPr>
            <a:r>
              <a:rPr lang="en-GB" dirty="0">
                <a:latin typeface="Menlo" panose="020B0609030804020204" pitchFamily="49" charset="0"/>
                <a:ea typeface="Menlo" panose="020B0609030804020204" pitchFamily="49" charset="0"/>
                <a:cs typeface="Menlo" panose="020B0609030804020204" pitchFamily="49" charset="0"/>
              </a:rPr>
              <a:t>void main(List&lt;String&gt; </a:t>
            </a:r>
            <a:r>
              <a:rPr lang="en-GB" dirty="0" err="1">
                <a:latin typeface="Menlo" panose="020B0609030804020204" pitchFamily="49" charset="0"/>
                <a:ea typeface="Menlo" panose="020B0609030804020204" pitchFamily="49" charset="0"/>
                <a:cs typeface="Menlo" panose="020B0609030804020204" pitchFamily="49" charset="0"/>
              </a:rPr>
              <a:t>args</a:t>
            </a:r>
            <a:r>
              <a:rPr lang="en-GB" dirty="0">
                <a:latin typeface="Menlo" panose="020B0609030804020204" pitchFamily="49" charset="0"/>
                <a:ea typeface="Menlo" panose="020B0609030804020204" pitchFamily="49" charset="0"/>
                <a:cs typeface="Menlo" panose="020B0609030804020204" pitchFamily="49" charset="0"/>
              </a:rPr>
              <a:t>) {</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 Exceptions, try-catch-finally</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//The following will print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//Impossible to parse!</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//Try to correct the code.</a:t>
            </a:r>
          </a:p>
          <a:p>
            <a:pPr marL="342900" lvl="1" indent="0">
              <a:buNone/>
            </a:pPr>
            <a:br>
              <a:rPr lang="en-GB" dirty="0">
                <a:latin typeface="Menlo" panose="020B0609030804020204" pitchFamily="49" charset="0"/>
                <a:ea typeface="Menlo" panose="020B0609030804020204" pitchFamily="49" charset="0"/>
                <a:cs typeface="Menlo" panose="020B0609030804020204" pitchFamily="49" charset="0"/>
              </a:rPr>
            </a:br>
            <a:r>
              <a:rPr lang="en-GB" dirty="0">
                <a:latin typeface="Menlo" panose="020B0609030804020204" pitchFamily="49" charset="0"/>
                <a:ea typeface="Menlo" panose="020B0609030804020204" pitchFamily="49" charset="0"/>
                <a:cs typeface="Menlo" panose="020B0609030804020204" pitchFamily="49" charset="0"/>
              </a:rPr>
              <a:t>String s = 'A string.';</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try{</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var n = </a:t>
            </a:r>
            <a:r>
              <a:rPr lang="en-GB" dirty="0" err="1">
                <a:latin typeface="Menlo" panose="020B0609030804020204" pitchFamily="49" charset="0"/>
                <a:ea typeface="Menlo" panose="020B0609030804020204" pitchFamily="49" charset="0"/>
                <a:cs typeface="Menlo" panose="020B0609030804020204" pitchFamily="49" charset="0"/>
              </a:rPr>
              <a:t>int.parse</a:t>
            </a:r>
            <a:r>
              <a:rPr lang="en-GB" dirty="0">
                <a:latin typeface="Menlo" panose="020B0609030804020204" pitchFamily="49" charset="0"/>
                <a:ea typeface="Menlo" panose="020B0609030804020204" pitchFamily="49" charset="0"/>
                <a:cs typeface="Menlo" panose="020B0609030804020204" pitchFamily="49" charset="0"/>
              </a:rPr>
              <a:t>(s);</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 on </a:t>
            </a:r>
            <a:r>
              <a:rPr lang="en-GB" dirty="0" err="1">
                <a:latin typeface="Menlo" panose="020B0609030804020204" pitchFamily="49" charset="0"/>
                <a:ea typeface="Menlo" panose="020B0609030804020204" pitchFamily="49" charset="0"/>
                <a:cs typeface="Menlo" panose="020B0609030804020204" pitchFamily="49" charset="0"/>
              </a:rPr>
              <a:t>FormatException</a:t>
            </a:r>
            <a:r>
              <a:rPr lang="en-GB" dirty="0">
                <a:latin typeface="Menlo" panose="020B0609030804020204" pitchFamily="49" charset="0"/>
                <a:ea typeface="Menlo" panose="020B0609030804020204" pitchFamily="49" charset="0"/>
                <a:cs typeface="Menlo" panose="020B0609030804020204" pitchFamily="49" charset="0"/>
              </a:rPr>
              <a:t> </a:t>
            </a:r>
            <a:r>
              <a:rPr lang="en-GB" b="1" dirty="0">
                <a:latin typeface="Menlo" panose="020B0609030804020204" pitchFamily="49" charset="0"/>
                <a:ea typeface="Menlo" panose="020B0609030804020204" pitchFamily="49" charset="0"/>
                <a:cs typeface="Menlo" panose="020B0609030804020204" pitchFamily="49" charset="0"/>
              </a:rPr>
              <a:t>catch (e)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print('Impossible to parse!');</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 catch (e)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 No specified type, handles all other than </a:t>
            </a:r>
            <a:r>
              <a:rPr lang="en-GB" dirty="0" err="1">
                <a:latin typeface="Menlo" panose="020B0609030804020204" pitchFamily="49" charset="0"/>
                <a:ea typeface="Menlo" panose="020B0609030804020204" pitchFamily="49" charset="0"/>
                <a:cs typeface="Menlo" panose="020B0609030804020204" pitchFamily="49" charset="0"/>
              </a:rPr>
              <a:t>FormatException</a:t>
            </a:r>
            <a:endParaRPr lang="en-GB" dirty="0">
              <a:latin typeface="Menlo" panose="020B0609030804020204" pitchFamily="49" charset="0"/>
              <a:ea typeface="Menlo" panose="020B0609030804020204" pitchFamily="49" charset="0"/>
              <a:cs typeface="Menlo" panose="020B0609030804020204" pitchFamily="49" charset="0"/>
            </a:endParaRP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print('Something really unknown: $e’);</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 finally {</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//This is run no matter what.</a:t>
            </a:r>
          </a:p>
          <a:p>
            <a:pPr marL="342900" lvl="1" indent="0">
              <a:buNone/>
            </a:pPr>
            <a:r>
              <a:rPr lang="en-GB" dirty="0">
                <a:latin typeface="Menlo" panose="020B0609030804020204" pitchFamily="49" charset="0"/>
                <a:ea typeface="Menlo" panose="020B0609030804020204" pitchFamily="49" charset="0"/>
                <a:cs typeface="Menlo" panose="020B0609030804020204" pitchFamily="49" charset="0"/>
              </a:rPr>
              <a:t>	print(Bye!');</a:t>
            </a:r>
          </a:p>
          <a:p>
            <a:pPr marL="342900" lvl="1" indent="0">
              <a:buNone/>
            </a:pPr>
            <a:r>
              <a:rPr lang="en-GB" b="1" dirty="0">
                <a:latin typeface="Menlo" panose="020B0609030804020204" pitchFamily="49" charset="0"/>
                <a:ea typeface="Menlo" panose="020B0609030804020204" pitchFamily="49" charset="0"/>
                <a:cs typeface="Menlo" panose="020B0609030804020204" pitchFamily="49" charset="0"/>
              </a:rPr>
              <a:t>}//try-catch-finally</a:t>
            </a:r>
          </a:p>
          <a:p>
            <a:pPr marL="342900" lvl="1"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0" indent="0">
              <a:buNone/>
            </a:pPr>
            <a:r>
              <a:rPr lang="en-GB" dirty="0">
                <a:latin typeface="Menlo" panose="020B0609030804020204" pitchFamily="49" charset="0"/>
                <a:ea typeface="Menlo" panose="020B0609030804020204" pitchFamily="49" charset="0"/>
                <a:cs typeface="Menlo" panose="020B0609030804020204" pitchFamily="49" charset="0"/>
              </a:rPr>
              <a:t>}//main</a:t>
            </a:r>
          </a:p>
          <a:p>
            <a:pPr marL="0" indent="0">
              <a:buNone/>
            </a:pPr>
            <a:endParaRPr lang="en-GB" dirty="0">
              <a:latin typeface="Menlo" panose="020B0609030804020204" pitchFamily="49" charset="0"/>
              <a:ea typeface="Menlo" panose="020B0609030804020204" pitchFamily="49" charset="0"/>
              <a:cs typeface="Menlo" panose="020B0609030804020204" pitchFamily="49" charset="0"/>
            </a:endParaRPr>
          </a:p>
          <a:p>
            <a:pPr marL="457200" lvl="1" indent="0">
              <a:buNone/>
            </a:pPr>
            <a:endParaRPr lang="en-GB" dirty="0">
              <a:latin typeface="Menlo" panose="020B0609030804020204" pitchFamily="49" charset="0"/>
              <a:ea typeface="Menlo" panose="020B0609030804020204" pitchFamily="49" charset="0"/>
              <a:cs typeface="Menlo" panose="020B0609030804020204" pitchFamily="49" charset="0"/>
            </a:endParaRPr>
          </a:p>
        </p:txBody>
      </p:sp>
      <p:sp>
        <p:nvSpPr>
          <p:cNvPr id="4" name="Content Placeholder 2">
            <a:extLst>
              <a:ext uri="{FF2B5EF4-FFF2-40B4-BE49-F238E27FC236}">
                <a16:creationId xmlns:a16="http://schemas.microsoft.com/office/drawing/2014/main" id="{D3F379F9-C26C-114F-9D34-E839CC8AB2CD}"/>
              </a:ext>
            </a:extLst>
          </p:cNvPr>
          <p:cNvSpPr txBox="1">
            <a:spLocks/>
          </p:cNvSpPr>
          <p:nvPr/>
        </p:nvSpPr>
        <p:spPr>
          <a:xfrm>
            <a:off x="0" y="6548909"/>
            <a:ext cx="12192000" cy="355436"/>
          </a:xfrm>
          <a:prstGeom prst="rect">
            <a:avLst/>
          </a:prstGeom>
          <a:solidFill>
            <a:schemeClr val="accent6">
              <a:lumMod val="20000"/>
              <a:lumOff val="80000"/>
            </a:schemeClr>
          </a:solidFill>
        </p:spPr>
        <p:txBody>
          <a:bodyPr vert="horz" lIns="91440" tIns="45720" rIns="91440" bIns="45720" rtlCol="0" anchor="ctr">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T" sz="1600" dirty="0">
                <a:latin typeface="Aptos" panose="020B0004020202020204" pitchFamily="34" charset="0"/>
                <a:ea typeface="Palatino" pitchFamily="2" charset="77"/>
              </a:rPr>
              <a:t>Full example </a:t>
            </a:r>
            <a:r>
              <a:rPr lang="en-IT" sz="1600">
                <a:latin typeface="Aptos" panose="020B0004020202020204" pitchFamily="34" charset="0"/>
                <a:ea typeface="Palatino" pitchFamily="2" charset="77"/>
              </a:rPr>
              <a:t>in l</a:t>
            </a:r>
            <a:r>
              <a:rPr lang="en-US" sz="1600" dirty="0" err="1">
                <a:latin typeface="Aptos" panose="020B0004020202020204" pitchFamily="34" charset="0"/>
                <a:ea typeface="Palatino" pitchFamily="2" charset="77"/>
              </a:rPr>
              <a:t>esson</a:t>
            </a:r>
            <a:r>
              <a:rPr lang="en-IT" sz="1600">
                <a:latin typeface="Aptos" panose="020B0004020202020204" pitchFamily="34" charset="0"/>
                <a:ea typeface="Palatino" pitchFamily="2" charset="77"/>
              </a:rPr>
              <a:t>_0</a:t>
            </a:r>
            <a:r>
              <a:rPr lang="en-US" sz="1600" dirty="0">
                <a:latin typeface="Aptos" panose="020B0004020202020204" pitchFamily="34" charset="0"/>
                <a:ea typeface="Palatino" pitchFamily="2" charset="77"/>
              </a:rPr>
              <a:t>3</a:t>
            </a:r>
            <a:r>
              <a:rPr lang="en-IT" sz="1600">
                <a:latin typeface="Aptos" panose="020B0004020202020204" pitchFamily="34" charset="0"/>
                <a:ea typeface="Palatino" pitchFamily="2" charset="77"/>
              </a:rPr>
              <a:t>-dart</a:t>
            </a:r>
            <a:r>
              <a:rPr lang="en-IT" sz="1600" dirty="0">
                <a:latin typeface="Aptos" panose="020B0004020202020204" pitchFamily="34" charset="0"/>
                <a:ea typeface="Palatino" pitchFamily="2" charset="77"/>
              </a:rPr>
              <a:t>_101_part_1/07-control_flow.dart</a:t>
            </a:r>
          </a:p>
        </p:txBody>
      </p:sp>
      <p:sp>
        <p:nvSpPr>
          <p:cNvPr id="5" name="Slide Number Placeholder 4">
            <a:extLst>
              <a:ext uri="{FF2B5EF4-FFF2-40B4-BE49-F238E27FC236}">
                <a16:creationId xmlns:a16="http://schemas.microsoft.com/office/drawing/2014/main" id="{F7298DC2-A3E0-0B4A-99B3-43787007E34E}"/>
              </a:ext>
            </a:extLst>
          </p:cNvPr>
          <p:cNvSpPr>
            <a:spLocks noGrp="1"/>
          </p:cNvSpPr>
          <p:nvPr>
            <p:ph type="sldNum" sz="quarter" idx="12"/>
          </p:nvPr>
        </p:nvSpPr>
        <p:spPr/>
        <p:txBody>
          <a:bodyPr/>
          <a:lstStyle/>
          <a:p>
            <a:fld id="{31DE2C5B-556E-47B8-A792-024C2FCA4ACC}" type="slidenum">
              <a:rPr lang="en-GB" smtClean="0"/>
              <a:t>42</a:t>
            </a:fld>
            <a:endParaRPr lang="en-GB"/>
          </a:p>
        </p:txBody>
      </p:sp>
    </p:spTree>
    <p:extLst>
      <p:ext uri="{BB962C8B-B14F-4D97-AF65-F5344CB8AC3E}">
        <p14:creationId xmlns:p14="http://schemas.microsoft.com/office/powerpoint/2010/main" val="25394330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pPr>
              <a:lnSpc>
                <a:spcPct val="110000"/>
              </a:lnSpc>
            </a:pPr>
            <a:r>
              <a:rPr lang="en-IT" dirty="0">
                <a:solidFill>
                  <a:schemeClr val="bg1">
                    <a:lumMod val="75000"/>
                  </a:schemeClr>
                </a:solidFill>
              </a:rPr>
              <a:t>Variables</a:t>
            </a:r>
          </a:p>
          <a:p>
            <a:pPr>
              <a:lnSpc>
                <a:spcPct val="110000"/>
              </a:lnSpc>
            </a:pPr>
            <a:r>
              <a:rPr lang="en-IT" dirty="0">
                <a:solidFill>
                  <a:schemeClr val="bg1">
                    <a:lumMod val="75000"/>
                  </a:schemeClr>
                </a:solidFill>
              </a:rPr>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b="1" dirty="0"/>
              <a:t>Exercises</a:t>
            </a:r>
          </a:p>
          <a:p>
            <a:r>
              <a:rPr lang="en-IT" dirty="0">
                <a:solidFill>
                  <a:schemeClr val="bg1">
                    <a:lumMod val="75000"/>
                  </a:schemeClr>
                </a:solidFill>
              </a:rPr>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941C4ADD-A77A-BE4A-A46E-024F2C4570EB}"/>
              </a:ext>
            </a:extLst>
          </p:cNvPr>
          <p:cNvSpPr>
            <a:spLocks noGrp="1"/>
          </p:cNvSpPr>
          <p:nvPr>
            <p:ph type="sldNum" sz="quarter" idx="12"/>
          </p:nvPr>
        </p:nvSpPr>
        <p:spPr/>
        <p:txBody>
          <a:bodyPr/>
          <a:lstStyle/>
          <a:p>
            <a:fld id="{31DE2C5B-556E-47B8-A792-024C2FCA4ACC}" type="slidenum">
              <a:rPr lang="en-GB" smtClean="0"/>
              <a:t>43</a:t>
            </a:fld>
            <a:endParaRPr lang="en-GB"/>
          </a:p>
        </p:txBody>
      </p:sp>
    </p:spTree>
    <p:extLst>
      <p:ext uri="{BB962C8B-B14F-4D97-AF65-F5344CB8AC3E}">
        <p14:creationId xmlns:p14="http://schemas.microsoft.com/office/powerpoint/2010/main" val="1082887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Exercises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85000" lnSpcReduction="20000"/>
          </a:bodyPr>
          <a:lstStyle/>
          <a:p>
            <a:r>
              <a:rPr lang="en-IT"/>
              <a:t>Exercise </a:t>
            </a:r>
            <a:r>
              <a:rPr lang="en-US" dirty="0"/>
              <a:t>0</a:t>
            </a:r>
            <a:r>
              <a:rPr lang="en-IT"/>
              <a:t>1</a:t>
            </a:r>
            <a:endParaRPr lang="en-IT" dirty="0"/>
          </a:p>
          <a:p>
            <a:pPr lvl="1"/>
            <a:r>
              <a:rPr lang="en-GB" dirty="0"/>
              <a:t>In the main function, given a number </a:t>
            </a:r>
            <a:r>
              <a:rPr lang="en-GB" i="1" dirty="0"/>
              <a:t>n</a:t>
            </a:r>
            <a:r>
              <a:rPr lang="en-GB" dirty="0"/>
              <a:t>, for all non-negative integers </a:t>
            </a:r>
            <a:r>
              <a:rPr lang="en-GB" i="1" dirty="0" err="1"/>
              <a:t>i</a:t>
            </a:r>
            <a:r>
              <a:rPr lang="en-GB" i="1" dirty="0"/>
              <a:t> &lt; n</a:t>
            </a:r>
            <a:r>
              <a:rPr lang="en-GB" dirty="0"/>
              <a:t>, print </a:t>
            </a:r>
            <a:r>
              <a:rPr lang="en-GB" i="1" dirty="0"/>
              <a:t>i^4</a:t>
            </a:r>
            <a:r>
              <a:rPr lang="en-GB" dirty="0"/>
              <a:t>. Do it using a for loop and a while loop.</a:t>
            </a:r>
          </a:p>
          <a:p>
            <a:r>
              <a:rPr lang="en-GB" dirty="0"/>
              <a:t>Exercise 02</a:t>
            </a:r>
          </a:p>
          <a:p>
            <a:pPr lvl="1"/>
            <a:r>
              <a:rPr lang="en-GB" dirty="0"/>
              <a:t>In the main function, given an integer number </a:t>
            </a:r>
            <a:r>
              <a:rPr lang="en-GB" i="1" dirty="0"/>
              <a:t>n</a:t>
            </a:r>
            <a:r>
              <a:rPr lang="en-GB" dirty="0"/>
              <a:t>, instantiate a list of </a:t>
            </a:r>
            <a:r>
              <a:rPr lang="en-GB" i="1" dirty="0"/>
              <a:t>n</a:t>
            </a:r>
            <a:r>
              <a:rPr lang="en-GB" dirty="0"/>
              <a:t> random integers, with possible maximum value 10. Then, for each element of the list, print it multiplied by 2. (Big hint: https://</a:t>
            </a:r>
            <a:r>
              <a:rPr lang="en-GB" dirty="0" err="1"/>
              <a:t>stackoverflow.com</a:t>
            </a:r>
            <a:r>
              <a:rPr lang="en-GB" dirty="0"/>
              <a:t>/questions/11674820/how-do-</a:t>
            </a:r>
            <a:r>
              <a:rPr lang="en-GB" dirty="0" err="1"/>
              <a:t>i</a:t>
            </a:r>
            <a:r>
              <a:rPr lang="en-GB" dirty="0"/>
              <a:t>-generate-random-numbers-in-dart)</a:t>
            </a:r>
          </a:p>
          <a:p>
            <a:r>
              <a:rPr lang="en-GB" dirty="0"/>
              <a:t>Exercise 03 </a:t>
            </a:r>
          </a:p>
          <a:p>
            <a:pPr lvl="1"/>
            <a:r>
              <a:rPr lang="en-GB" dirty="0"/>
              <a:t>Write a function that given a string, provided by the main function, returns the same text with swapped cases. Then print the result in the main function.</a:t>
            </a:r>
          </a:p>
          <a:p>
            <a:r>
              <a:rPr lang="en-GB" dirty="0"/>
              <a:t>Exercise 04</a:t>
            </a:r>
          </a:p>
          <a:p>
            <a:pPr lvl="1"/>
            <a:r>
              <a:rPr lang="en-GB" dirty="0"/>
              <a:t>Write a function with an optional named parameter </a:t>
            </a:r>
            <a:r>
              <a:rPr lang="en-GB" i="1" dirty="0"/>
              <a:t>up</a:t>
            </a:r>
            <a:r>
              <a:rPr lang="en-GB" dirty="0"/>
              <a:t>, that, for a given string, provided by the main function, make it upper case if </a:t>
            </a:r>
            <a:r>
              <a:rPr lang="en-GB" i="1" dirty="0"/>
              <a:t>up</a:t>
            </a:r>
            <a:r>
              <a:rPr lang="en-GB" dirty="0"/>
              <a:t> is true, lower case otherwise. By default, </a:t>
            </a:r>
            <a:r>
              <a:rPr lang="en-GB" i="1" dirty="0"/>
              <a:t>up</a:t>
            </a:r>
            <a:r>
              <a:rPr lang="en-GB" dirty="0"/>
              <a:t> is false. Then print the result in the main function.</a:t>
            </a:r>
          </a:p>
          <a:p>
            <a:r>
              <a:rPr lang="en-IT"/>
              <a:t>Exercise </a:t>
            </a:r>
            <a:r>
              <a:rPr lang="en-US" dirty="0"/>
              <a:t>05</a:t>
            </a:r>
            <a:endParaRPr lang="en-IT" dirty="0"/>
          </a:p>
          <a:p>
            <a:pPr lvl="1" fontAlgn="base"/>
            <a:r>
              <a:rPr lang="en-GB" dirty="0"/>
              <a:t>Given an integer, </a:t>
            </a:r>
            <a:r>
              <a:rPr lang="en-GB" i="1" dirty="0"/>
              <a:t>n</a:t>
            </a:r>
            <a:r>
              <a:rPr lang="en-GB" dirty="0"/>
              <a:t>, perform the following conditional actions:</a:t>
            </a:r>
          </a:p>
          <a:p>
            <a:pPr lvl="2" fontAlgn="base"/>
            <a:r>
              <a:rPr lang="en-GB" dirty="0"/>
              <a:t>If </a:t>
            </a:r>
            <a:r>
              <a:rPr lang="en-GB" i="1" dirty="0"/>
              <a:t>n</a:t>
            </a:r>
            <a:r>
              <a:rPr lang="en-GB" dirty="0"/>
              <a:t> is odd, print ’Odd’</a:t>
            </a:r>
          </a:p>
          <a:p>
            <a:pPr lvl="2" fontAlgn="base"/>
            <a:r>
              <a:rPr lang="en-GB" dirty="0"/>
              <a:t>If </a:t>
            </a:r>
            <a:r>
              <a:rPr lang="en-GB" i="1" dirty="0"/>
              <a:t>n</a:t>
            </a:r>
            <a:r>
              <a:rPr lang="en-GB" dirty="0"/>
              <a:t> is even and in the inclusive range of 2 to 5, print ’Small even’</a:t>
            </a:r>
          </a:p>
          <a:p>
            <a:pPr lvl="2" fontAlgn="base"/>
            <a:r>
              <a:rPr lang="en-GB" dirty="0"/>
              <a:t>If </a:t>
            </a:r>
            <a:r>
              <a:rPr lang="en-GB" i="1" dirty="0"/>
              <a:t>n</a:t>
            </a:r>
            <a:r>
              <a:rPr lang="en-GB" dirty="0"/>
              <a:t> is even and in the inclusive range of 6 to 20, print ’Medium even’</a:t>
            </a:r>
          </a:p>
          <a:p>
            <a:pPr lvl="2" fontAlgn="base"/>
            <a:r>
              <a:rPr lang="en-GB" dirty="0"/>
              <a:t>If </a:t>
            </a:r>
            <a:r>
              <a:rPr lang="en-GB" i="1" dirty="0"/>
              <a:t>n</a:t>
            </a:r>
            <a:r>
              <a:rPr lang="en-GB" dirty="0"/>
              <a:t> is even and greater than 20, print ’Big even’</a:t>
            </a:r>
            <a:endParaRPr lang="en-IT" dirty="0"/>
          </a:p>
        </p:txBody>
      </p:sp>
      <p:sp>
        <p:nvSpPr>
          <p:cNvPr id="4" name="Slide Number Placeholder 3">
            <a:extLst>
              <a:ext uri="{FF2B5EF4-FFF2-40B4-BE49-F238E27FC236}">
                <a16:creationId xmlns:a16="http://schemas.microsoft.com/office/drawing/2014/main" id="{BE6BBFB8-01A1-C64D-95EA-67EC470A64E4}"/>
              </a:ext>
            </a:extLst>
          </p:cNvPr>
          <p:cNvSpPr>
            <a:spLocks noGrp="1"/>
          </p:cNvSpPr>
          <p:nvPr>
            <p:ph type="sldNum" sz="quarter" idx="12"/>
          </p:nvPr>
        </p:nvSpPr>
        <p:spPr/>
        <p:txBody>
          <a:bodyPr/>
          <a:lstStyle/>
          <a:p>
            <a:fld id="{31DE2C5B-556E-47B8-A792-024C2FCA4ACC}" type="slidenum">
              <a:rPr lang="en-GB" smtClean="0"/>
              <a:t>44</a:t>
            </a:fld>
            <a:endParaRPr lang="en-GB"/>
          </a:p>
        </p:txBody>
      </p:sp>
    </p:spTree>
    <p:extLst>
      <p:ext uri="{BB962C8B-B14F-4D97-AF65-F5344CB8AC3E}">
        <p14:creationId xmlns:p14="http://schemas.microsoft.com/office/powerpoint/2010/main" val="8953784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Exercises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fontScale="92500" lnSpcReduction="10000"/>
          </a:bodyPr>
          <a:lstStyle/>
          <a:p>
            <a:r>
              <a:rPr lang="en-IT"/>
              <a:t>Exercise </a:t>
            </a:r>
            <a:r>
              <a:rPr lang="en-US" dirty="0"/>
              <a:t>06</a:t>
            </a:r>
            <a:endParaRPr lang="en-IT" dirty="0"/>
          </a:p>
          <a:p>
            <a:pPr lvl="1"/>
            <a:r>
              <a:rPr lang="en-GB" dirty="0"/>
              <a:t>Write a function that given a string provided by the main function, returns a </a:t>
            </a:r>
            <a:r>
              <a:rPr lang="en-GB" dirty="0" err="1"/>
              <a:t>boolean</a:t>
            </a:r>
            <a:r>
              <a:rPr lang="en-GB" dirty="0"/>
              <a:t> that is true if the string is palindrome. Then print the result in the main function.</a:t>
            </a:r>
          </a:p>
          <a:p>
            <a:r>
              <a:rPr lang="en-GB" dirty="0"/>
              <a:t>Exercise 07 </a:t>
            </a:r>
          </a:p>
          <a:p>
            <a:pPr lvl="1"/>
            <a:r>
              <a:rPr lang="en-GB" dirty="0"/>
              <a:t>Given a number </a:t>
            </a:r>
            <a:r>
              <a:rPr lang="en-GB" i="1" dirty="0"/>
              <a:t>n &gt; 0</a:t>
            </a:r>
            <a:r>
              <a:rPr lang="en-GB" dirty="0"/>
              <a:t>, print the first </a:t>
            </a:r>
            <a:r>
              <a:rPr lang="en-GB" i="1" dirty="0"/>
              <a:t>n</a:t>
            </a:r>
            <a:r>
              <a:rPr lang="en-GB" dirty="0"/>
              <a:t> numbers of the Fibonacci series. Bonus: do it recursively.</a:t>
            </a:r>
          </a:p>
          <a:p>
            <a:r>
              <a:rPr lang="en-GB" dirty="0"/>
              <a:t>Exercise 08 </a:t>
            </a:r>
          </a:p>
          <a:p>
            <a:pPr lvl="1"/>
            <a:r>
              <a:rPr lang="en-GB" dirty="0"/>
              <a:t>An Armstrong number is a number that is the sum of its own digits each raised to the power of the number of digits. For example:</a:t>
            </a:r>
          </a:p>
          <a:p>
            <a:pPr lvl="2"/>
            <a:r>
              <a:rPr lang="en-GB" dirty="0"/>
              <a:t>9 is an Armstrong number, because 9 = 9^1 = 9</a:t>
            </a:r>
          </a:p>
          <a:p>
            <a:pPr lvl="2"/>
            <a:r>
              <a:rPr lang="en-GB" dirty="0"/>
              <a:t>10 is not an Armstrong number, because 10 != 1^2 + 0^2 = 1</a:t>
            </a:r>
          </a:p>
          <a:p>
            <a:pPr lvl="2"/>
            <a:r>
              <a:rPr lang="en-GB" dirty="0"/>
              <a:t>153 is an Armstrong number, because: 153 = 1^3 + 5^3 + 3^3 = 1 + 125 + 27 = 153</a:t>
            </a:r>
          </a:p>
          <a:p>
            <a:pPr lvl="2"/>
            <a:r>
              <a:rPr lang="en-GB" dirty="0"/>
              <a:t>154 is not an Armstrong number, because: 154 != 1^3 + 5^3 + 4^3 = 1 + 125 + 64 = 190</a:t>
            </a:r>
          </a:p>
          <a:p>
            <a:pPr marL="457200" lvl="1" indent="0">
              <a:buNone/>
            </a:pPr>
            <a:r>
              <a:rPr lang="en-GB" dirty="0"/>
              <a:t>In the main function, write some code to determine whether a given number </a:t>
            </a:r>
            <a:r>
              <a:rPr lang="en-GB" i="1" dirty="0"/>
              <a:t>n</a:t>
            </a:r>
            <a:r>
              <a:rPr lang="en-GB" dirty="0"/>
              <a:t> is an Armstrong number.</a:t>
            </a:r>
          </a:p>
          <a:p>
            <a:r>
              <a:rPr lang="en-GB" dirty="0"/>
              <a:t>Exercise 09</a:t>
            </a:r>
          </a:p>
          <a:p>
            <a:pPr lvl="1"/>
            <a:r>
              <a:rPr lang="en-GB" dirty="0"/>
              <a:t>Write a function that given a string provided by the main function, converts that string to its acronym. Then print the result in the main function.</a:t>
            </a:r>
          </a:p>
          <a:p>
            <a:pPr lvl="2"/>
            <a:r>
              <a:rPr lang="en-GB" dirty="0"/>
              <a:t>For example:  Portable Network Graphics will generate PNG.</a:t>
            </a:r>
          </a:p>
          <a:p>
            <a:pPr lvl="1"/>
            <a:endParaRPr lang="en-GB" dirty="0"/>
          </a:p>
        </p:txBody>
      </p:sp>
      <p:sp>
        <p:nvSpPr>
          <p:cNvPr id="4" name="Slide Number Placeholder 3">
            <a:extLst>
              <a:ext uri="{FF2B5EF4-FFF2-40B4-BE49-F238E27FC236}">
                <a16:creationId xmlns:a16="http://schemas.microsoft.com/office/drawing/2014/main" id="{7AA564D9-769F-464F-B174-100BFDF5D748}"/>
              </a:ext>
            </a:extLst>
          </p:cNvPr>
          <p:cNvSpPr>
            <a:spLocks noGrp="1"/>
          </p:cNvSpPr>
          <p:nvPr>
            <p:ph type="sldNum" sz="quarter" idx="12"/>
          </p:nvPr>
        </p:nvSpPr>
        <p:spPr/>
        <p:txBody>
          <a:bodyPr/>
          <a:lstStyle/>
          <a:p>
            <a:fld id="{31DE2C5B-556E-47B8-A792-024C2FCA4ACC}" type="slidenum">
              <a:rPr lang="en-GB" smtClean="0"/>
              <a:t>45</a:t>
            </a:fld>
            <a:endParaRPr lang="en-GB"/>
          </a:p>
        </p:txBody>
      </p:sp>
    </p:spTree>
    <p:extLst>
      <p:ext uri="{BB962C8B-B14F-4D97-AF65-F5344CB8AC3E}">
        <p14:creationId xmlns:p14="http://schemas.microsoft.com/office/powerpoint/2010/main" val="686458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Exercises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a:bodyPr>
          <a:lstStyle/>
          <a:p>
            <a:r>
              <a:rPr lang="en-IT"/>
              <a:t>Exercise 10</a:t>
            </a:r>
            <a:endParaRPr lang="en-IT" dirty="0"/>
          </a:p>
          <a:p>
            <a:pPr lvl="1"/>
            <a:r>
              <a:rPr lang="en-GB" dirty="0"/>
              <a:t>Write a function that given a string provided by the main function containing brackets [], braces {}, parentheses (), or any combination thereof that follows the math expression rules, returns a </a:t>
            </a:r>
            <a:r>
              <a:rPr lang="en-GB" dirty="0" err="1"/>
              <a:t>boolean</a:t>
            </a:r>
            <a:r>
              <a:rPr lang="en-GB" dirty="0"/>
              <a:t> that is true if any and all pairs are matched and nested correctly. Suppose that only one pair of parentheses can be present for each type. Then print the result in the main function. For example:</a:t>
            </a:r>
          </a:p>
          <a:p>
            <a:pPr lvl="2"/>
            <a:r>
              <a:rPr lang="en-GB" dirty="0"/>
              <a:t>This is ok: {this[is(o)]}k</a:t>
            </a:r>
          </a:p>
          <a:p>
            <a:pPr lvl="2"/>
            <a:r>
              <a:rPr lang="en-GB" dirty="0"/>
              <a:t>This is not ok: T{hi[(sis)not}ok]</a:t>
            </a:r>
          </a:p>
          <a:p>
            <a:pPr lvl="2"/>
            <a:r>
              <a:rPr lang="en-GB" dirty="0"/>
              <a:t>This is not ok: {{this[is(</a:t>
            </a:r>
            <a:r>
              <a:rPr lang="en-GB" dirty="0" err="1"/>
              <a:t>notok</a:t>
            </a:r>
            <a:r>
              <a:rPr lang="en-GB" dirty="0"/>
              <a:t>)]}}</a:t>
            </a:r>
          </a:p>
          <a:p>
            <a:pPr lvl="2"/>
            <a:endParaRPr lang="en-GB" dirty="0"/>
          </a:p>
          <a:p>
            <a:pPr lvl="2"/>
            <a:endParaRPr lang="en-GB" dirty="0"/>
          </a:p>
          <a:p>
            <a:pPr lvl="1"/>
            <a:endParaRPr lang="en-GB" dirty="0"/>
          </a:p>
        </p:txBody>
      </p:sp>
      <p:sp>
        <p:nvSpPr>
          <p:cNvPr id="4" name="Slide Number Placeholder 3">
            <a:extLst>
              <a:ext uri="{FF2B5EF4-FFF2-40B4-BE49-F238E27FC236}">
                <a16:creationId xmlns:a16="http://schemas.microsoft.com/office/drawing/2014/main" id="{FF0C64B7-ED53-EB41-85A6-FB85D4421DC4}"/>
              </a:ext>
            </a:extLst>
          </p:cNvPr>
          <p:cNvSpPr>
            <a:spLocks noGrp="1"/>
          </p:cNvSpPr>
          <p:nvPr>
            <p:ph type="sldNum" sz="quarter" idx="12"/>
          </p:nvPr>
        </p:nvSpPr>
        <p:spPr/>
        <p:txBody>
          <a:bodyPr/>
          <a:lstStyle/>
          <a:p>
            <a:fld id="{31DE2C5B-556E-47B8-A792-024C2FCA4ACC}" type="slidenum">
              <a:rPr lang="en-GB" smtClean="0"/>
              <a:t>46</a:t>
            </a:fld>
            <a:endParaRPr lang="en-GB"/>
          </a:p>
        </p:txBody>
      </p:sp>
    </p:spTree>
    <p:extLst>
      <p:ext uri="{BB962C8B-B14F-4D97-AF65-F5344CB8AC3E}">
        <p14:creationId xmlns:p14="http://schemas.microsoft.com/office/powerpoint/2010/main" val="20761707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pPr>
              <a:lnSpc>
                <a:spcPct val="100000"/>
              </a:lnSpc>
            </a:pPr>
            <a:r>
              <a:rPr lang="en-IT" dirty="0">
                <a:solidFill>
                  <a:schemeClr val="bg1">
                    <a:lumMod val="75000"/>
                  </a:schemeClr>
                </a:solidFill>
              </a:rPr>
              <a:t>Dart &amp; Hello, world!</a:t>
            </a:r>
          </a:p>
          <a:p>
            <a:pPr>
              <a:lnSpc>
                <a:spcPct val="100000"/>
              </a:lnSpc>
            </a:pPr>
            <a:r>
              <a:rPr lang="en-IT" dirty="0">
                <a:solidFill>
                  <a:schemeClr val="bg1">
                    <a:lumMod val="75000"/>
                  </a:schemeClr>
                </a:solidFill>
              </a:rPr>
              <a:t>Variables</a:t>
            </a:r>
          </a:p>
          <a:p>
            <a:pPr>
              <a:lnSpc>
                <a:spcPct val="100000"/>
              </a:lnSpc>
            </a:pPr>
            <a:r>
              <a:rPr lang="en-IT" dirty="0">
                <a:solidFill>
                  <a:schemeClr val="bg1">
                    <a:lumMod val="75000"/>
                  </a:schemeClr>
                </a:solidFill>
              </a:rPr>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b="1" dirty="0"/>
              <a:t>Homework</a:t>
            </a:r>
          </a:p>
          <a:p>
            <a:r>
              <a:rPr lang="en-IT" dirty="0">
                <a:solidFill>
                  <a:schemeClr val="bg1">
                    <a:lumMod val="75000"/>
                  </a:schemeClr>
                </a:solidFill>
              </a:rPr>
              <a:t>Resources</a:t>
            </a:r>
          </a:p>
        </p:txBody>
      </p:sp>
      <p:sp>
        <p:nvSpPr>
          <p:cNvPr id="4" name="Slide Number Placeholder 3">
            <a:extLst>
              <a:ext uri="{FF2B5EF4-FFF2-40B4-BE49-F238E27FC236}">
                <a16:creationId xmlns:a16="http://schemas.microsoft.com/office/drawing/2014/main" id="{9337211E-CEC3-3B47-A1E4-55C2D8FAF15C}"/>
              </a:ext>
            </a:extLst>
          </p:cNvPr>
          <p:cNvSpPr>
            <a:spLocks noGrp="1"/>
          </p:cNvSpPr>
          <p:nvPr>
            <p:ph type="sldNum" sz="quarter" idx="12"/>
          </p:nvPr>
        </p:nvSpPr>
        <p:spPr/>
        <p:txBody>
          <a:bodyPr/>
          <a:lstStyle/>
          <a:p>
            <a:fld id="{31DE2C5B-556E-47B8-A792-024C2FCA4ACC}" type="slidenum">
              <a:rPr lang="en-GB" smtClean="0"/>
              <a:t>47</a:t>
            </a:fld>
            <a:endParaRPr lang="en-GB"/>
          </a:p>
        </p:txBody>
      </p:sp>
    </p:spTree>
    <p:extLst>
      <p:ext uri="{BB962C8B-B14F-4D97-AF65-F5344CB8AC3E}">
        <p14:creationId xmlns:p14="http://schemas.microsoft.com/office/powerpoint/2010/main" val="14833176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Homework </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a:bodyPr>
          <a:lstStyle/>
          <a:p>
            <a:r>
              <a:rPr lang="en-GB" dirty="0"/>
              <a:t>(At least try to) Do all the exercises</a:t>
            </a:r>
          </a:p>
          <a:p>
            <a:endParaRPr lang="en-GB" dirty="0"/>
          </a:p>
          <a:p>
            <a:r>
              <a:rPr lang="en-GB" dirty="0"/>
              <a:t>Get familiar with Dart 101 part 1</a:t>
            </a:r>
          </a:p>
          <a:p>
            <a:endParaRPr lang="en-GB" dirty="0"/>
          </a:p>
          <a:p>
            <a:r>
              <a:rPr lang="en-GB" b="1" dirty="0"/>
              <a:t>Aim</a:t>
            </a:r>
            <a:r>
              <a:rPr lang="en-GB" dirty="0"/>
              <a:t>: to be able to do the exercise without too much effort</a:t>
            </a:r>
            <a:endParaRPr lang="en-IT" dirty="0"/>
          </a:p>
        </p:txBody>
      </p:sp>
      <p:sp>
        <p:nvSpPr>
          <p:cNvPr id="4" name="Slide Number Placeholder 3">
            <a:extLst>
              <a:ext uri="{FF2B5EF4-FFF2-40B4-BE49-F238E27FC236}">
                <a16:creationId xmlns:a16="http://schemas.microsoft.com/office/drawing/2014/main" id="{84ECCF83-49B6-674C-B48C-4BE775945C02}"/>
              </a:ext>
            </a:extLst>
          </p:cNvPr>
          <p:cNvSpPr>
            <a:spLocks noGrp="1"/>
          </p:cNvSpPr>
          <p:nvPr>
            <p:ph type="sldNum" sz="quarter" idx="12"/>
          </p:nvPr>
        </p:nvSpPr>
        <p:spPr/>
        <p:txBody>
          <a:bodyPr/>
          <a:lstStyle/>
          <a:p>
            <a:fld id="{31DE2C5B-556E-47B8-A792-024C2FCA4ACC}" type="slidenum">
              <a:rPr lang="en-GB" smtClean="0"/>
              <a:t>48</a:t>
            </a:fld>
            <a:endParaRPr lang="en-GB"/>
          </a:p>
        </p:txBody>
      </p:sp>
    </p:spTree>
    <p:extLst>
      <p:ext uri="{BB962C8B-B14F-4D97-AF65-F5344CB8AC3E}">
        <p14:creationId xmlns:p14="http://schemas.microsoft.com/office/powerpoint/2010/main" val="1769563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lnSpcReduction="10000"/>
          </a:bodyPr>
          <a:lstStyle/>
          <a:p>
            <a:r>
              <a:rPr lang="en-IT" dirty="0">
                <a:solidFill>
                  <a:schemeClr val="bg1">
                    <a:lumMod val="75000"/>
                  </a:schemeClr>
                </a:solidFill>
              </a:rPr>
              <a:t>Dart &amp; Hello, world!</a:t>
            </a:r>
          </a:p>
          <a:p>
            <a:r>
              <a:rPr lang="en-IT" dirty="0">
                <a:solidFill>
                  <a:schemeClr val="bg1">
                    <a:lumMod val="75000"/>
                  </a:schemeClr>
                </a:solidFill>
              </a:rPr>
              <a:t>Variables</a:t>
            </a:r>
          </a:p>
          <a:p>
            <a:r>
              <a:rPr lang="en-IT" dirty="0">
                <a:solidFill>
                  <a:schemeClr val="bg1">
                    <a:lumMod val="75000"/>
                  </a:schemeClr>
                </a:solidFill>
              </a:rPr>
              <a:t>Null-safety</a:t>
            </a:r>
          </a:p>
          <a:p>
            <a:r>
              <a:rPr lang="en-IT" dirty="0">
                <a:solidFill>
                  <a:schemeClr val="bg1">
                    <a:lumMod val="75000"/>
                  </a:schemeClr>
                </a:solidFill>
              </a:rPr>
              <a:t>Built-in types</a:t>
            </a:r>
          </a:p>
          <a:p>
            <a:r>
              <a:rPr lang="en-IT" dirty="0">
                <a:solidFill>
                  <a:schemeClr val="bg1">
                    <a:lumMod val="75000"/>
                  </a:schemeClr>
                </a:solidFill>
              </a:rPr>
              <a:t>Functions</a:t>
            </a:r>
          </a:p>
          <a:p>
            <a:r>
              <a:rPr lang="en-IT" dirty="0">
                <a:solidFill>
                  <a:schemeClr val="bg1">
                    <a:lumMod val="75000"/>
                  </a:schemeClr>
                </a:solidFill>
              </a:rPr>
              <a:t>Operators</a:t>
            </a:r>
          </a:p>
          <a:p>
            <a:r>
              <a:rPr lang="en-IT" dirty="0">
                <a:solidFill>
                  <a:schemeClr val="bg1">
                    <a:lumMod val="75000"/>
                  </a:schemeClr>
                </a:solidFill>
              </a:rPr>
              <a:t>Control flow constructs</a:t>
            </a:r>
          </a:p>
          <a:p>
            <a:endParaRPr lang="en-IT" dirty="0">
              <a:solidFill>
                <a:schemeClr val="bg1">
                  <a:lumMod val="75000"/>
                </a:schemeClr>
              </a:solidFill>
            </a:endParaRPr>
          </a:p>
          <a:p>
            <a:r>
              <a:rPr lang="en-IT" dirty="0">
                <a:solidFill>
                  <a:schemeClr val="bg1">
                    <a:lumMod val="75000"/>
                  </a:schemeClr>
                </a:solidFill>
              </a:rPr>
              <a:t>Exercises</a:t>
            </a:r>
          </a:p>
          <a:p>
            <a:r>
              <a:rPr lang="en-IT" dirty="0">
                <a:solidFill>
                  <a:schemeClr val="bg1">
                    <a:lumMod val="75000"/>
                  </a:schemeClr>
                </a:solidFill>
              </a:rPr>
              <a:t>Homework</a:t>
            </a:r>
          </a:p>
          <a:p>
            <a:r>
              <a:rPr lang="en-IT" b="1" dirty="0"/>
              <a:t>Resources</a:t>
            </a:r>
          </a:p>
        </p:txBody>
      </p:sp>
      <p:sp>
        <p:nvSpPr>
          <p:cNvPr id="4" name="Slide Number Placeholder 3">
            <a:extLst>
              <a:ext uri="{FF2B5EF4-FFF2-40B4-BE49-F238E27FC236}">
                <a16:creationId xmlns:a16="http://schemas.microsoft.com/office/drawing/2014/main" id="{D0B96D8A-3784-9146-ACA7-128FB64CA8C8}"/>
              </a:ext>
            </a:extLst>
          </p:cNvPr>
          <p:cNvSpPr>
            <a:spLocks noGrp="1"/>
          </p:cNvSpPr>
          <p:nvPr>
            <p:ph type="sldNum" sz="quarter" idx="12"/>
          </p:nvPr>
        </p:nvSpPr>
        <p:spPr/>
        <p:txBody>
          <a:bodyPr/>
          <a:lstStyle/>
          <a:p>
            <a:fld id="{31DE2C5B-556E-47B8-A792-024C2FCA4ACC}" type="slidenum">
              <a:rPr lang="en-GB" smtClean="0"/>
              <a:t>49</a:t>
            </a:fld>
            <a:endParaRPr lang="en-GB"/>
          </a:p>
        </p:txBody>
      </p:sp>
    </p:spTree>
    <p:extLst>
      <p:ext uri="{BB962C8B-B14F-4D97-AF65-F5344CB8AC3E}">
        <p14:creationId xmlns:p14="http://schemas.microsoft.com/office/powerpoint/2010/main" val="31269596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Resources</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a:xfrm>
            <a:off x="428172" y="1361167"/>
            <a:ext cx="11213368" cy="5334907"/>
          </a:xfrm>
        </p:spPr>
        <p:txBody>
          <a:bodyPr>
            <a:normAutofit/>
          </a:bodyPr>
          <a:lstStyle/>
          <a:p>
            <a:r>
              <a:rPr lang="en-GB" dirty="0"/>
              <a:t>Code repository of today’s lesson and exercises solution</a:t>
            </a:r>
          </a:p>
          <a:p>
            <a:pPr lvl="1"/>
            <a:r>
              <a:rPr lang="en-GB" dirty="0">
                <a:hlinkClick r:id="rId2"/>
              </a:rPr>
              <a:t>https://github.com/gcappon/bwthw/tree/master/lesson_03-dart_101_part_1</a:t>
            </a:r>
            <a:br>
              <a:rPr lang="en-GB" dirty="0"/>
            </a:br>
            <a:endParaRPr lang="en-GB" dirty="0"/>
          </a:p>
          <a:p>
            <a:r>
              <a:rPr lang="en-GB" dirty="0"/>
              <a:t>Dart language tour</a:t>
            </a:r>
          </a:p>
          <a:p>
            <a:pPr lvl="1"/>
            <a:r>
              <a:rPr lang="en-GB" dirty="0">
                <a:hlinkClick r:id="rId3"/>
              </a:rPr>
              <a:t>https://dart.dev/guides/language/language-tour</a:t>
            </a:r>
            <a:endParaRPr lang="en-GB" dirty="0"/>
          </a:p>
          <a:p>
            <a:pPr marL="0" indent="0">
              <a:buNone/>
            </a:pPr>
            <a:endParaRPr lang="en-GB" dirty="0"/>
          </a:p>
          <a:p>
            <a:r>
              <a:rPr lang="en-GB" dirty="0"/>
              <a:t>Dart samples</a:t>
            </a:r>
          </a:p>
          <a:p>
            <a:pPr lvl="1"/>
            <a:r>
              <a:rPr lang="en-GB" dirty="0">
                <a:hlinkClick r:id="rId4"/>
              </a:rPr>
              <a:t>https://dart.dev/samples</a:t>
            </a:r>
            <a:r>
              <a:rPr lang="en-GB" dirty="0"/>
              <a:t> </a:t>
            </a:r>
          </a:p>
        </p:txBody>
      </p:sp>
      <p:sp>
        <p:nvSpPr>
          <p:cNvPr id="4" name="Slide Number Placeholder 3">
            <a:extLst>
              <a:ext uri="{FF2B5EF4-FFF2-40B4-BE49-F238E27FC236}">
                <a16:creationId xmlns:a16="http://schemas.microsoft.com/office/drawing/2014/main" id="{DDDB54FB-56E8-B246-AB08-A8920E24B127}"/>
              </a:ext>
            </a:extLst>
          </p:cNvPr>
          <p:cNvSpPr>
            <a:spLocks noGrp="1"/>
          </p:cNvSpPr>
          <p:nvPr>
            <p:ph type="sldNum" sz="quarter" idx="12"/>
          </p:nvPr>
        </p:nvSpPr>
        <p:spPr/>
        <p:txBody>
          <a:bodyPr/>
          <a:lstStyle/>
          <a:p>
            <a:fld id="{31DE2C5B-556E-47B8-A792-024C2FCA4ACC}" type="slidenum">
              <a:rPr lang="en-GB" smtClean="0"/>
              <a:t>50</a:t>
            </a:fld>
            <a:endParaRPr lang="en-GB"/>
          </a:p>
        </p:txBody>
      </p:sp>
    </p:spTree>
    <p:extLst>
      <p:ext uri="{BB962C8B-B14F-4D97-AF65-F5344CB8AC3E}">
        <p14:creationId xmlns:p14="http://schemas.microsoft.com/office/powerpoint/2010/main" val="5663269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8134</TotalTime>
  <Words>4390</Words>
  <Application>Microsoft Macintosh PowerPoint</Application>
  <PresentationFormat>Widescreen</PresentationFormat>
  <Paragraphs>656</Paragraphs>
  <Slides>50</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Aptos</vt:lpstr>
      <vt:lpstr>Arial</vt:lpstr>
      <vt:lpstr>Calibri</vt:lpstr>
      <vt:lpstr>Courier</vt:lpstr>
      <vt:lpstr>Courier New</vt:lpstr>
      <vt:lpstr>Menlo</vt:lpstr>
      <vt:lpstr>Palatino</vt:lpstr>
      <vt:lpstr>Times New Roman</vt:lpstr>
      <vt:lpstr>Wingdings</vt:lpstr>
      <vt:lpstr>Tema di Office</vt:lpstr>
      <vt:lpstr>Giacomo Cappon</vt:lpstr>
      <vt:lpstr>Outline</vt:lpstr>
      <vt:lpstr>Dart</vt:lpstr>
      <vt:lpstr>Hello, world!</vt:lpstr>
      <vt:lpstr>Hello, world!</vt:lpstr>
      <vt:lpstr>Hello, world!</vt:lpstr>
      <vt:lpstr>Outline</vt:lpstr>
      <vt:lpstr>Variables</vt:lpstr>
      <vt:lpstr>Outline</vt:lpstr>
      <vt:lpstr>Null safety</vt:lpstr>
      <vt:lpstr>Outline</vt:lpstr>
      <vt:lpstr>Built-in types - Numbers</vt:lpstr>
      <vt:lpstr>Built-in types - Numbers</vt:lpstr>
      <vt:lpstr>Built-in types - Strings</vt:lpstr>
      <vt:lpstr>Built-in types - Strings</vt:lpstr>
      <vt:lpstr>Built-in types - Booleans</vt:lpstr>
      <vt:lpstr>Built-in types - Lists</vt:lpstr>
      <vt:lpstr>List - map() method</vt:lpstr>
      <vt:lpstr>Built-in types - Maps</vt:lpstr>
      <vt:lpstr>Outline</vt:lpstr>
      <vt:lpstr>Functions</vt:lpstr>
      <vt:lpstr>Functions – Parameters</vt:lpstr>
      <vt:lpstr>Functions – Named parameters</vt:lpstr>
      <vt:lpstr>Functions – Named parameters</vt:lpstr>
      <vt:lpstr>Functions – Optional positional parameters</vt:lpstr>
      <vt:lpstr>Outline</vt:lpstr>
      <vt:lpstr>Operators</vt:lpstr>
      <vt:lpstr>Operators - Arithmetic</vt:lpstr>
      <vt:lpstr>Operators – Prefix, postfix</vt:lpstr>
      <vt:lpstr>Operators – Relational</vt:lpstr>
      <vt:lpstr>Operators – Relational</vt:lpstr>
      <vt:lpstr>Operators – Type tester</vt:lpstr>
      <vt:lpstr>Outline</vt:lpstr>
      <vt:lpstr>Control flow</vt:lpstr>
      <vt:lpstr>Control flow – If-Else</vt:lpstr>
      <vt:lpstr>Control flow – For</vt:lpstr>
      <vt:lpstr>Control flow – While</vt:lpstr>
      <vt:lpstr>Control flow – Do-While</vt:lpstr>
      <vt:lpstr>Control flow – Break</vt:lpstr>
      <vt:lpstr>Control flow – Continue</vt:lpstr>
      <vt:lpstr>Control flow – Switch-Case</vt:lpstr>
      <vt:lpstr>Control flow – Try-Catch-Finally</vt:lpstr>
      <vt:lpstr>Outline</vt:lpstr>
      <vt:lpstr>Exercises</vt:lpstr>
      <vt:lpstr>Exercises</vt:lpstr>
      <vt:lpstr>Exercises</vt:lpstr>
      <vt:lpstr>Outline</vt:lpstr>
      <vt:lpstr>Homework </vt:lpstr>
      <vt:lpstr>Outline</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157</cp:revision>
  <dcterms:created xsi:type="dcterms:W3CDTF">2021-07-19T09:08:13Z</dcterms:created>
  <dcterms:modified xsi:type="dcterms:W3CDTF">2026-02-19T09:42:38Z</dcterms:modified>
</cp:coreProperties>
</file>