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95" r:id="rId3"/>
    <p:sldId id="398" r:id="rId4"/>
    <p:sldId id="374" r:id="rId5"/>
    <p:sldId id="399" r:id="rId6"/>
    <p:sldId id="402" r:id="rId7"/>
    <p:sldId id="400" r:id="rId8"/>
    <p:sldId id="375" r:id="rId9"/>
    <p:sldId id="367" r:id="rId10"/>
    <p:sldId id="370" r:id="rId11"/>
    <p:sldId id="376" r:id="rId12"/>
    <p:sldId id="368" r:id="rId13"/>
    <p:sldId id="403" r:id="rId14"/>
    <p:sldId id="404" r:id="rId15"/>
    <p:sldId id="405" r:id="rId16"/>
    <p:sldId id="372" r:id="rId17"/>
    <p:sldId id="373" r:id="rId18"/>
    <p:sldId id="366" r:id="rId19"/>
    <p:sldId id="377" r:id="rId20"/>
    <p:sldId id="406" r:id="rId21"/>
    <p:sldId id="378" r:id="rId22"/>
    <p:sldId id="303" r:id="rId23"/>
    <p:sldId id="379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6" autoAdjust="0"/>
    <p:restoredTop sz="87703"/>
  </p:normalViewPr>
  <p:slideViewPr>
    <p:cSldViewPr snapToGrid="0">
      <p:cViewPr varScale="1">
        <p:scale>
          <a:sx n="182" d="100"/>
          <a:sy n="182" d="100"/>
        </p:scale>
        <p:origin x="191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5/5/25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601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26297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85243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1623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9547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4535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6651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05195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58081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7394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HTTP_status_codesm" TargetMode="External"/><Relationship Id="rId2" Type="http://schemas.openxmlformats.org/officeDocument/2006/relationships/hyperlink" Target="https://impact.dei.unipd.it/bwthw/docs/swagger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cookbook/networking/send-data" TargetMode="External"/><Relationship Id="rId4" Type="http://schemas.openxmlformats.org/officeDocument/2006/relationships/hyperlink" Target="https://docs.flutter.dev/cookbook/networking/fetch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Authentication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Recap: The 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9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10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(JWT) authorization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4887144" y="1311043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4892043" y="3162704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4892040" y="5014365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8958" y="2503170"/>
            <a:ext cx="4899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33855" y="4354831"/>
            <a:ext cx="2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48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“Obtaining data”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4887144" y="1311043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8187898" y="3492469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3"/>
            <a:endCxn id="25" idx="0"/>
          </p:cNvCxnSpPr>
          <p:nvPr/>
        </p:nvCxnSpPr>
        <p:spPr>
          <a:xfrm>
            <a:off x="7170772" y="1907107"/>
            <a:ext cx="2158941" cy="1585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50A92C6-B5C8-451A-CE86-D66D46E91A3E}"/>
              </a:ext>
            </a:extLst>
          </p:cNvPr>
          <p:cNvSpPr/>
          <p:nvPr/>
        </p:nvSpPr>
        <p:spPr>
          <a:xfrm>
            <a:off x="1889763" y="3162704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3D9F7A-4C84-9774-7FB9-A17228C28357}"/>
              </a:ext>
            </a:extLst>
          </p:cNvPr>
          <p:cNvCxnSpPr>
            <a:cxnSpLocks/>
            <a:stCxn id="23" idx="1"/>
            <a:endCxn id="3" idx="0"/>
          </p:cNvCxnSpPr>
          <p:nvPr/>
        </p:nvCxnSpPr>
        <p:spPr>
          <a:xfrm flipH="1">
            <a:off x="3031577" y="1907107"/>
            <a:ext cx="1855567" cy="125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DA27F1-66EF-AAF1-7639-006F111ECAF5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>
            <a:off x="3031577" y="4354831"/>
            <a:ext cx="2323957" cy="659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4C84C6-8651-5F91-1CBB-707CEF9C8DCF}"/>
              </a:ext>
            </a:extLst>
          </p:cNvPr>
          <p:cNvSpPr txBox="1">
            <a:spLocks/>
          </p:cNvSpPr>
          <p:nvPr/>
        </p:nvSpPr>
        <p:spPr>
          <a:xfrm>
            <a:off x="8098555" y="2242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43E17D8-AE1A-FB40-1585-F763C89F833B}"/>
              </a:ext>
            </a:extLst>
          </p:cNvPr>
          <p:cNvSpPr txBox="1">
            <a:spLocks/>
          </p:cNvSpPr>
          <p:nvPr/>
        </p:nvSpPr>
        <p:spPr>
          <a:xfrm>
            <a:off x="3189323" y="232841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368339-8A27-E9D4-7D86-14ACDB571D33}"/>
              </a:ext>
            </a:extLst>
          </p:cNvPr>
          <p:cNvSpPr txBox="1">
            <a:spLocks/>
          </p:cNvSpPr>
          <p:nvPr/>
        </p:nvSpPr>
        <p:spPr>
          <a:xfrm>
            <a:off x="747948" y="450203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44B3B-28B9-3486-91B4-CB868B0D7740}"/>
              </a:ext>
            </a:extLst>
          </p:cNvPr>
          <p:cNvSpPr/>
          <p:nvPr/>
        </p:nvSpPr>
        <p:spPr>
          <a:xfrm>
            <a:off x="578658" y="5014365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Redo authorization process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39CFC9-16AF-EEB9-1979-19B9A5898BF6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flipH="1">
            <a:off x="1720473" y="4354831"/>
            <a:ext cx="1311104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AAED4D7-608F-CE65-7BE9-3AD1FED3FCA3}"/>
              </a:ext>
            </a:extLst>
          </p:cNvPr>
          <p:cNvSpPr txBox="1">
            <a:spLocks/>
          </p:cNvSpPr>
          <p:nvPr/>
        </p:nvSpPr>
        <p:spPr>
          <a:xfrm>
            <a:off x="4342681" y="4502034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705D08-78A4-8D8A-A8C6-1F0EA2278C72}"/>
              </a:ext>
            </a:extLst>
          </p:cNvPr>
          <p:cNvSpPr/>
          <p:nvPr/>
        </p:nvSpPr>
        <p:spPr>
          <a:xfrm>
            <a:off x="4213719" y="5014364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1CE776-317A-8FD9-607D-6A8FD9DB031D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497348" y="4088533"/>
            <a:ext cx="1690550" cy="1521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5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entire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63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b="1" dirty="0"/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81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RESTful API in practice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F2BC2FF-C8A6-F94B-AB5A-6AD590A7F828}"/>
              </a:ext>
            </a:extLst>
          </p:cNvPr>
          <p:cNvSpPr txBox="1">
            <a:spLocks/>
          </p:cNvSpPr>
          <p:nvPr/>
        </p:nvSpPr>
        <p:spPr>
          <a:xfrm>
            <a:off x="214148" y="3554266"/>
            <a:ext cx="11549680" cy="237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&lt;METHOD&gt; &lt;HTTP or HTTPS&gt;://&lt;DOMAIN&gt;/&lt;ENDPOINT&gt;?&lt;PARAMETERS&gt; </a:t>
            </a:r>
          </a:p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+ </a:t>
            </a:r>
          </a:p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&lt;BODY&gt; and &lt;HEADERS&gt;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1213368" cy="2761253"/>
          </a:xfrm>
        </p:spPr>
        <p:txBody>
          <a:bodyPr>
            <a:normAutofit/>
          </a:bodyPr>
          <a:lstStyle/>
          <a:p>
            <a:r>
              <a:rPr lang="en-GB" dirty="0"/>
              <a:t>From the practical point of view, RESTful API can be used via http/https following three steps:</a:t>
            </a:r>
          </a:p>
          <a:p>
            <a:pPr lvl="1"/>
            <a:r>
              <a:rPr lang="en-GB" dirty="0"/>
              <a:t>Step 1: Send an http/https request to the RESTful API</a:t>
            </a:r>
          </a:p>
          <a:p>
            <a:pPr lvl="1"/>
            <a:r>
              <a:rPr lang="en-GB" dirty="0"/>
              <a:t>Step 2: Await for the response</a:t>
            </a:r>
          </a:p>
          <a:p>
            <a:pPr lvl="1"/>
            <a:r>
              <a:rPr lang="en-GB" dirty="0"/>
              <a:t>Step 3: Process the response (usually in a JSON format)</a:t>
            </a:r>
          </a:p>
          <a:p>
            <a:pPr lvl="1"/>
            <a:endParaRPr lang="en-GB" dirty="0"/>
          </a:p>
          <a:p>
            <a:r>
              <a:rPr lang="en-GB" dirty="0"/>
              <a:t>The http/https request has the following structure: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201FA3F-A09A-234D-AEF1-050D16E6F018}"/>
              </a:ext>
            </a:extLst>
          </p:cNvPr>
          <p:cNvSpPr txBox="1">
            <a:spLocks/>
          </p:cNvSpPr>
          <p:nvPr/>
        </p:nvSpPr>
        <p:spPr>
          <a:xfrm>
            <a:off x="428172" y="5610404"/>
            <a:ext cx="11817168" cy="1085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&lt;METHOD&gt; and &lt;ENDPOINT&gt; defines the so-called </a:t>
            </a:r>
            <a:r>
              <a:rPr lang="en-GB" b="1" dirty="0">
                <a:latin typeface="Aptos" panose="020B0004020202020204" pitchFamily="34" charset="0"/>
              </a:rPr>
              <a:t>route, e.g.:</a:t>
            </a:r>
          </a:p>
          <a:p>
            <a:pPr marL="0" indent="0">
              <a:buNone/>
            </a:pPr>
            <a:r>
              <a:rPr lang="en-GB" b="1" dirty="0">
                <a:latin typeface="Aptos" panose="020B0004020202020204" pitchFamily="34" charset="0"/>
              </a:rPr>
              <a:t>	GET /heartrate/today/</a:t>
            </a:r>
          </a:p>
          <a:p>
            <a:pPr marL="0" indent="0">
              <a:buNone/>
            </a:pPr>
            <a:r>
              <a:rPr lang="en-GB" b="1" dirty="0">
                <a:latin typeface="Aptos" panose="020B0004020202020204" pitchFamily="34" charset="0"/>
              </a:rPr>
              <a:t>	DELETE /user/1</a:t>
            </a:r>
          </a:p>
        </p:txBody>
      </p:sp>
    </p:spTree>
    <p:extLst>
      <p:ext uri="{BB962C8B-B14F-4D97-AF65-F5344CB8AC3E}">
        <p14:creationId xmlns:p14="http://schemas.microsoft.com/office/powerpoint/2010/main" val="246814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RESTful API in practice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1213368" cy="4883605"/>
          </a:xfrm>
        </p:spPr>
        <p:txBody>
          <a:bodyPr>
            <a:normAutofit/>
          </a:bodyPr>
          <a:lstStyle/>
          <a:p>
            <a:r>
              <a:rPr lang="en-GB" dirty="0"/>
              <a:t>Beside its content a response contains an </a:t>
            </a:r>
            <a:r>
              <a:rPr lang="en-GB" b="1" dirty="0"/>
              <a:t>HTTP status code</a:t>
            </a:r>
            <a:r>
              <a:rPr lang="en-GB" dirty="0"/>
              <a:t>, i.e., a special number that tells to the frond-end if the request is successful or, otherwise, why it is not successful. Here’s the most common:</a:t>
            </a:r>
          </a:p>
          <a:p>
            <a:endParaRPr lang="en-GB" dirty="0"/>
          </a:p>
          <a:p>
            <a:pPr lvl="1"/>
            <a:r>
              <a:rPr lang="en-GB" dirty="0"/>
              <a:t>200: OK</a:t>
            </a:r>
          </a:p>
          <a:p>
            <a:pPr lvl="1"/>
            <a:r>
              <a:rPr lang="en-GB" dirty="0"/>
              <a:t>401: UNAUTHORIZED</a:t>
            </a:r>
          </a:p>
          <a:p>
            <a:pPr lvl="1"/>
            <a:r>
              <a:rPr lang="en-GB" dirty="0"/>
              <a:t>403: FORBIDDEN</a:t>
            </a:r>
          </a:p>
          <a:p>
            <a:pPr lvl="1"/>
            <a:r>
              <a:rPr lang="en-GB" dirty="0"/>
              <a:t>404: NOT FOUND</a:t>
            </a:r>
          </a:p>
          <a:p>
            <a:pPr lvl="1"/>
            <a:r>
              <a:rPr lang="en-GB" dirty="0"/>
              <a:t>500: INTERNAL SERVER ERROR</a:t>
            </a:r>
          </a:p>
          <a:p>
            <a:pPr lvl="1"/>
            <a:endParaRPr lang="en-GB" dirty="0"/>
          </a:p>
          <a:p>
            <a:r>
              <a:rPr lang="en-GB" dirty="0"/>
              <a:t>Normally, the front-end developer has to manage these codes based on the API specifics</a:t>
            </a:r>
          </a:p>
        </p:txBody>
      </p:sp>
    </p:spTree>
    <p:extLst>
      <p:ext uri="{BB962C8B-B14F-4D97-AF65-F5344CB8AC3E}">
        <p14:creationId xmlns:p14="http://schemas.microsoft.com/office/powerpoint/2010/main" val="51881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b="1" dirty="0"/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2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Get the authorization: The IMPACT gate</a:t>
            </a:r>
          </a:p>
        </p:txBody>
      </p:sp>
      <p:pic>
        <p:nvPicPr>
          <p:cNvPr id="25" name="Picture 24" descr="A picture containing text, font, number, screenshot&#10;&#10;Description automatically generated">
            <a:extLst>
              <a:ext uri="{FF2B5EF4-FFF2-40B4-BE49-F238E27FC236}">
                <a16:creationId xmlns:a16="http://schemas.microsoft.com/office/drawing/2014/main" id="{936BA7AA-A185-DC18-A0DC-850EF432F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217"/>
            <a:ext cx="11796486" cy="3541909"/>
          </a:xfrm>
          <a:prstGeom prst="rect">
            <a:avLst/>
          </a:prstGeom>
        </p:spPr>
      </p:pic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ping</a:t>
            </a:r>
          </a:p>
        </p:txBody>
      </p:sp>
      <p:pic>
        <p:nvPicPr>
          <p:cNvPr id="14" name="Picture 13" descr="A screenshot of a login page&#10;&#10;Description automatically generated with low confidence">
            <a:extLst>
              <a:ext uri="{FF2B5EF4-FFF2-40B4-BE49-F238E27FC236}">
                <a16:creationId xmlns:a16="http://schemas.microsoft.com/office/drawing/2014/main" id="{386B4D0C-0DDC-D952-8E20-255383431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73" y="1071798"/>
            <a:ext cx="11496213" cy="56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8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token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94DBFBB-F85E-B3AE-79EE-F24CE044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37" y="1219776"/>
            <a:ext cx="8956295" cy="56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5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refresh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A659B9-91E3-4A14-547C-04FD991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22" y="1197382"/>
            <a:ext cx="9553955" cy="566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9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http package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9203508" cy="5334907"/>
          </a:xfrm>
        </p:spPr>
        <p:txBody>
          <a:bodyPr>
            <a:normAutofit/>
          </a:bodyPr>
          <a:lstStyle/>
          <a:p>
            <a:r>
              <a:rPr lang="en-GB" dirty="0"/>
              <a:t>To be able to make calls we will use the http package. This provides a simple web client to be used to make http calls.  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BF8BFAE-FC49-AC15-A39D-31649340E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155" y="2155192"/>
            <a:ext cx="5315690" cy="45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0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Android-specific action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605588" cy="533490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To be able to access to internet functionalities in Android you are required to provide a specific permission:</a:t>
            </a:r>
          </a:p>
          <a:p>
            <a:endParaRPr lang="en-GB" dirty="0"/>
          </a:p>
          <a:p>
            <a:r>
              <a:rPr lang="en-GB" dirty="0"/>
              <a:t>To do so, in the android&gt;app&gt;</a:t>
            </a:r>
            <a:r>
              <a:rPr lang="en-GB" dirty="0" err="1"/>
              <a:t>src</a:t>
            </a:r>
            <a:r>
              <a:rPr lang="en-GB" dirty="0"/>
              <a:t>&gt;main folder open the </a:t>
            </a:r>
            <a:r>
              <a:rPr lang="en-GB" dirty="0" err="1"/>
              <a:t>AndroidManifest.xml</a:t>
            </a:r>
            <a:r>
              <a:rPr lang="en-GB" dirty="0"/>
              <a:t> file, and add the following after the &lt;manifest …&gt; tag: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&lt;manifest </a:t>
            </a:r>
            <a:r>
              <a:rPr lang="en-GB" b="1" dirty="0" err="1"/>
              <a:t>xmlns:android</a:t>
            </a:r>
            <a:r>
              <a:rPr lang="en-GB" b="1" dirty="0"/>
              <a:t>...&gt;</a:t>
            </a:r>
          </a:p>
          <a:p>
            <a:pPr marL="0" indent="0">
              <a:buNone/>
            </a:pPr>
            <a:r>
              <a:rPr lang="en-GB" b="1" dirty="0"/>
              <a:t> ...</a:t>
            </a:r>
          </a:p>
          <a:p>
            <a:pPr marL="0" indent="0">
              <a:buNone/>
            </a:pPr>
            <a:r>
              <a:rPr lang="en-GB" b="1" dirty="0"/>
              <a:t> &lt;uses-permission </a:t>
            </a:r>
            <a:r>
              <a:rPr lang="en-GB" b="1" dirty="0" err="1"/>
              <a:t>android:name</a:t>
            </a:r>
            <a:r>
              <a:rPr lang="en-GB" b="1" dirty="0"/>
              <a:t>="</a:t>
            </a:r>
            <a:r>
              <a:rPr lang="en-GB" b="1" dirty="0" err="1"/>
              <a:t>android.permission.INTERNET</a:t>
            </a:r>
            <a:r>
              <a:rPr lang="en-GB" b="1" dirty="0"/>
              <a:t>" /&gt;</a:t>
            </a:r>
          </a:p>
          <a:p>
            <a:pPr marL="0" indent="0">
              <a:buNone/>
            </a:pPr>
            <a:r>
              <a:rPr lang="en-GB" b="1" dirty="0"/>
              <a:t> &lt;application ...</a:t>
            </a:r>
          </a:p>
          <a:p>
            <a:pPr marL="0" indent="0">
              <a:buNone/>
            </a:pPr>
            <a:r>
              <a:rPr lang="en-GB" b="1" dirty="0"/>
              <a:t>&lt;/manifest&gt;</a:t>
            </a:r>
          </a:p>
          <a:p>
            <a:endParaRPr lang="en-GB" dirty="0"/>
          </a:p>
          <a:p>
            <a:r>
              <a:rPr lang="en-GB" dirty="0"/>
              <a:t>No need to do this in iOS.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91675-2A72-5B7A-5194-44B2AC75CD8A}"/>
              </a:ext>
            </a:extLst>
          </p:cNvPr>
          <p:cNvSpPr/>
          <p:nvPr/>
        </p:nvSpPr>
        <p:spPr>
          <a:xfrm>
            <a:off x="8085495" y="5226250"/>
            <a:ext cx="3081615" cy="785929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Only if you are using your physical device</a:t>
            </a:r>
          </a:p>
        </p:txBody>
      </p:sp>
    </p:spTree>
    <p:extLst>
      <p:ext uri="{BB962C8B-B14F-4D97-AF65-F5344CB8AC3E}">
        <p14:creationId xmlns:p14="http://schemas.microsoft.com/office/powerpoint/2010/main" val="3269601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8148547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implement the operations required by the  authorization flow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lab_09-authorization/impact_authorization/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37ED55-94A1-79FD-E0F0-4EB93851700A}"/>
              </a:ext>
            </a:extLst>
          </p:cNvPr>
          <p:cNvSpPr/>
          <p:nvPr/>
        </p:nvSpPr>
        <p:spPr>
          <a:xfrm>
            <a:off x="1478955" y="27969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AFE7A0-7F36-4E0A-F73A-393D232B277B}"/>
              </a:ext>
            </a:extLst>
          </p:cNvPr>
          <p:cNvSpPr/>
          <p:nvPr/>
        </p:nvSpPr>
        <p:spPr>
          <a:xfrm>
            <a:off x="1478955" y="34420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3A3470-64A0-358F-BA3D-181B106A518B}"/>
              </a:ext>
            </a:extLst>
          </p:cNvPr>
          <p:cNvSpPr/>
          <p:nvPr/>
        </p:nvSpPr>
        <p:spPr>
          <a:xfrm>
            <a:off x="1478955" y="40146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6F3993-CDB8-6F91-04CB-E079F32E6BC3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4355680" y="31802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766121-FFCB-B676-58FE-F17139C467DA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355680" y="38253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E402003B-CBF9-2318-EFB8-3FFAC7E3A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350" y="680583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343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Try to integrate the authorization flow in your project </a:t>
            </a:r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023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http package</a:t>
            </a:r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879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32139"/>
            <a:ext cx="10913119" cy="5334907"/>
          </a:xfrm>
        </p:spPr>
        <p:txBody>
          <a:bodyPr>
            <a:normAutofit/>
          </a:bodyPr>
          <a:lstStyle/>
          <a:p>
            <a:endParaRPr lang="en-IT" dirty="0"/>
          </a:p>
          <a:p>
            <a:r>
              <a:rPr lang="en-IT" dirty="0"/>
              <a:t>IMPACT documentation</a:t>
            </a:r>
          </a:p>
          <a:p>
            <a:pPr lvl="1"/>
            <a:r>
              <a:rPr lang="en-GB" dirty="0">
                <a:hlinkClick r:id="rId2"/>
              </a:rPr>
              <a:t>https://impact.dei.unipd.it/bwthw/docs/swagger/</a:t>
            </a:r>
            <a:r>
              <a:rPr lang="en-IT" dirty="0"/>
              <a:t> </a:t>
            </a:r>
          </a:p>
          <a:p>
            <a:endParaRPr lang="en-IT" dirty="0"/>
          </a:p>
          <a:p>
            <a:r>
              <a:rPr lang="en-IT" dirty="0"/>
              <a:t>HTTP Status Codes</a:t>
            </a:r>
          </a:p>
          <a:p>
            <a:pPr lvl="1"/>
            <a:r>
              <a:rPr lang="en-GB" dirty="0">
                <a:hlinkClick r:id="rId3"/>
              </a:rPr>
              <a:t>https://en.wikipedia.org/wiki/List_of_HTTP_status_codes</a:t>
            </a:r>
            <a:endParaRPr lang="en-IT" dirty="0"/>
          </a:p>
          <a:p>
            <a:pPr marL="457200" lvl="1" indent="0">
              <a:buNone/>
            </a:pPr>
            <a:endParaRPr lang="en-GB" dirty="0"/>
          </a:p>
          <a:p>
            <a:r>
              <a:rPr lang="en-IT" dirty="0"/>
              <a:t>Fetch data from the internet. Cookbook by the Flutter community</a:t>
            </a:r>
          </a:p>
          <a:p>
            <a:pPr lvl="1"/>
            <a:r>
              <a:rPr lang="en-GB" dirty="0">
                <a:hlinkClick r:id="rId4"/>
              </a:rPr>
              <a:t>https://docs.flutter.dev/cookbook/networking/fetch-data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Send data to the internet. Cookbook by the Flutter community</a:t>
            </a:r>
          </a:p>
          <a:p>
            <a:pPr lvl="1"/>
            <a:r>
              <a:rPr lang="en-GB" dirty="0">
                <a:hlinkClick r:id="rId5"/>
              </a:rPr>
              <a:t>https://docs.flutter.dev/cookbook/networking/send-data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17757</TotalTime>
  <Words>805</Words>
  <Application>Microsoft Macintosh PowerPoint</Application>
  <PresentationFormat>Widescreen</PresentationFormat>
  <Paragraphs>193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Giacomo Cappon</vt:lpstr>
      <vt:lpstr>Outline</vt:lpstr>
      <vt:lpstr>Recap: The IMPACT backend</vt:lpstr>
      <vt:lpstr>Outline</vt:lpstr>
      <vt:lpstr>The (JWT) authorization flow in practice</vt:lpstr>
      <vt:lpstr>“Obtaining data” flow in practice</vt:lpstr>
      <vt:lpstr>The entire flow in practice</vt:lpstr>
      <vt:lpstr>Outline</vt:lpstr>
      <vt:lpstr>RESTful API in practice</vt:lpstr>
      <vt:lpstr>RESTful API in practice</vt:lpstr>
      <vt:lpstr>Outline</vt:lpstr>
      <vt:lpstr>Get the authorization: The IMPACT gate</vt:lpstr>
      <vt:lpstr>The IMPACT gate: ping</vt:lpstr>
      <vt:lpstr>The IMPACT gate: token</vt:lpstr>
      <vt:lpstr>The IMPACT gate: refresh</vt:lpstr>
      <vt:lpstr>http package</vt:lpstr>
      <vt:lpstr>Android-specific action</vt:lpstr>
      <vt:lpstr>Case of study - Live</vt:lpstr>
      <vt:lpstr>Outline</vt:lpstr>
      <vt:lpstr>Exercise 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207</cp:revision>
  <dcterms:created xsi:type="dcterms:W3CDTF">2021-07-19T09:08:13Z</dcterms:created>
  <dcterms:modified xsi:type="dcterms:W3CDTF">2025-05-05T08:53:47Z</dcterms:modified>
</cp:coreProperties>
</file>