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9" r:id="rId2"/>
    <p:sldId id="399" r:id="rId3"/>
    <p:sldId id="391" r:id="rId4"/>
    <p:sldId id="392" r:id="rId5"/>
    <p:sldId id="372" r:id="rId6"/>
    <p:sldId id="393" r:id="rId7"/>
    <p:sldId id="394" r:id="rId8"/>
    <p:sldId id="395" r:id="rId9"/>
    <p:sldId id="396" r:id="rId10"/>
    <p:sldId id="397" r:id="rId11"/>
    <p:sldId id="388" r:id="rId12"/>
    <p:sldId id="352" r:id="rId13"/>
    <p:sldId id="384" r:id="rId14"/>
    <p:sldId id="378" r:id="rId15"/>
    <p:sldId id="304" r:id="rId16"/>
    <p:sldId id="353" r:id="rId17"/>
    <p:sldId id="354" r:id="rId18"/>
    <p:sldId id="355" r:id="rId19"/>
    <p:sldId id="356" r:id="rId20"/>
    <p:sldId id="357" r:id="rId21"/>
    <p:sldId id="359" r:id="rId22"/>
    <p:sldId id="380" r:id="rId23"/>
    <p:sldId id="351" r:id="rId24"/>
    <p:sldId id="360" r:id="rId25"/>
    <p:sldId id="364" r:id="rId26"/>
    <p:sldId id="381" r:id="rId27"/>
    <p:sldId id="366" r:id="rId28"/>
    <p:sldId id="367" r:id="rId29"/>
    <p:sldId id="369" r:id="rId30"/>
    <p:sldId id="382" r:id="rId31"/>
    <p:sldId id="371" r:id="rId32"/>
    <p:sldId id="375" r:id="rId33"/>
    <p:sldId id="374" r:id="rId34"/>
    <p:sldId id="376" r:id="rId35"/>
    <p:sldId id="401" r:id="rId36"/>
    <p:sldId id="383" r:id="rId37"/>
    <p:sldId id="400" r:id="rId38"/>
    <p:sldId id="349" r:id="rId39"/>
    <p:sldId id="361" r:id="rId40"/>
    <p:sldId id="377" r:id="rId41"/>
    <p:sldId id="385" r:id="rId42"/>
    <p:sldId id="303" r:id="rId43"/>
    <p:sldId id="386" r:id="rId44"/>
    <p:sldId id="30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188" autoAdjust="0"/>
    <p:restoredTop sz="87760"/>
  </p:normalViewPr>
  <p:slideViewPr>
    <p:cSldViewPr snapToGrid="0">
      <p:cViewPr varScale="1">
        <p:scale>
          <a:sx n="195" d="100"/>
          <a:sy n="195" d="100"/>
        </p:scale>
        <p:origin x="232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4/7/25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08890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30992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70502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28824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7448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88498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27945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353045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245704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04034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53310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2024-2025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odemagic.io/flutter-navigator2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flutter.dev/cookbook/navigation/passing-data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dart.dev/codelabs/async-await" TargetMode="External"/><Relationship Id="rId2" Type="http://schemas.openxmlformats.org/officeDocument/2006/relationships/hyperlink" Target="https://github.com/gcappon/bwthw/tree/master/lab_06-navigation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flutter.dev/cookbook/navig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T" dirty="0"/>
              <a:t>Navigation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b="1" dirty="0"/>
              <a:t>Asynchrony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Navigator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Navigate to a new screen and back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Named routes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Passing argument to a route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Returning an argument from a route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9E2B7-20F7-1C47-8496-8F860DC27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162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New concept: asynchrony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A931C-E473-FE49-BB53-C08AAD603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T" dirty="0"/>
              <a:t>Let’s learn something (I believe) new.</a:t>
            </a:r>
          </a:p>
          <a:p>
            <a:endParaRPr lang="en-IT" dirty="0"/>
          </a:p>
          <a:p>
            <a:r>
              <a:rPr lang="en-IT" dirty="0"/>
              <a:t>Dart (and Flutter) is full of asynchronous functions: they return after doing </a:t>
            </a:r>
            <a:r>
              <a:rPr lang="en-IT" b="1" dirty="0"/>
              <a:t>something</a:t>
            </a:r>
            <a:r>
              <a:rPr lang="en-IT" dirty="0"/>
              <a:t> possibly time consuming without waiting for that </a:t>
            </a:r>
            <a:r>
              <a:rPr lang="en-IT" b="1" dirty="0"/>
              <a:t>something</a:t>
            </a:r>
            <a:r>
              <a:rPr lang="en-IT" dirty="0"/>
              <a:t> to complete</a:t>
            </a:r>
          </a:p>
          <a:p>
            <a:endParaRPr lang="en-IT" dirty="0"/>
          </a:p>
          <a:p>
            <a:r>
              <a:rPr lang="en-IT" dirty="0"/>
              <a:t>Common asynchronous operations:</a:t>
            </a:r>
          </a:p>
          <a:p>
            <a:pPr lvl="1"/>
            <a:r>
              <a:rPr lang="en-IT" dirty="0"/>
              <a:t>Fetching data over the net</a:t>
            </a:r>
          </a:p>
          <a:p>
            <a:pPr lvl="1"/>
            <a:r>
              <a:rPr lang="en-IT" dirty="0"/>
              <a:t>Writing/Reading data from a database</a:t>
            </a:r>
          </a:p>
          <a:p>
            <a:pPr lvl="1"/>
            <a:r>
              <a:rPr lang="en-IT" dirty="0"/>
              <a:t>Load and show an image stored within the phone</a:t>
            </a:r>
          </a:p>
          <a:p>
            <a:pPr lvl="1"/>
            <a:endParaRPr lang="en-IT" dirty="0"/>
          </a:p>
          <a:p>
            <a:r>
              <a:rPr lang="en-IT" dirty="0"/>
              <a:t>This is a problem because this</a:t>
            </a:r>
          </a:p>
          <a:p>
            <a:pPr lvl="1"/>
            <a:r>
              <a:rPr lang="en-IT" dirty="0">
                <a:latin typeface="Courier" pitchFamily="2" charset="0"/>
              </a:rPr>
              <a:t>fetchDataFromFacebook(); // &lt;-- asynchronous stuff</a:t>
            </a:r>
            <a:br>
              <a:rPr lang="en-IT" dirty="0">
                <a:latin typeface="Courier" pitchFamily="2" charset="0"/>
              </a:rPr>
            </a:br>
            <a:r>
              <a:rPr lang="en-IT" dirty="0">
                <a:latin typeface="Courier" pitchFamily="2" charset="0"/>
              </a:rPr>
              <a:t>print(‘Done’);</a:t>
            </a:r>
          </a:p>
          <a:p>
            <a:pPr marL="457200" lvl="1" indent="0">
              <a:buNone/>
            </a:pPr>
            <a:r>
              <a:rPr lang="en-IT" dirty="0"/>
              <a:t>Can possibly print ‘Done’ before actually finishing fetching data!</a:t>
            </a:r>
          </a:p>
          <a:p>
            <a:pPr lvl="1"/>
            <a:endParaRPr lang="en-IT" dirty="0"/>
          </a:p>
          <a:p>
            <a:r>
              <a:rPr lang="en-IT" dirty="0"/>
              <a:t>We need to learn how to manage asynchronous code in a synchronized fashion!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277764-36CE-4F4F-99FC-F2A27DF3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138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Key terms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A931C-E473-FE49-BB53-C08AAD603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synchronous operation</a:t>
            </a:r>
            <a:r>
              <a:rPr lang="en-GB" dirty="0"/>
              <a:t>: A synchronous operation blocks other operations from executing until it completes.</a:t>
            </a:r>
          </a:p>
          <a:p>
            <a:endParaRPr lang="en-GB" dirty="0"/>
          </a:p>
          <a:p>
            <a:r>
              <a:rPr lang="en-GB" b="1" dirty="0"/>
              <a:t>synchronous function</a:t>
            </a:r>
            <a:r>
              <a:rPr lang="en-GB" dirty="0"/>
              <a:t>: A synchronous function only performs synchronous operations.</a:t>
            </a:r>
          </a:p>
          <a:p>
            <a:endParaRPr lang="en-GB" dirty="0"/>
          </a:p>
          <a:p>
            <a:r>
              <a:rPr lang="en-GB" b="1" dirty="0"/>
              <a:t>asynchronous operation</a:t>
            </a:r>
            <a:r>
              <a:rPr lang="en-GB" dirty="0"/>
              <a:t>: Once initiated, an asynchronous operation allows other operations to execute before it completes.</a:t>
            </a:r>
          </a:p>
          <a:p>
            <a:endParaRPr lang="en-GB" dirty="0"/>
          </a:p>
          <a:p>
            <a:r>
              <a:rPr lang="en-GB" b="1" dirty="0"/>
              <a:t>asynchronous function</a:t>
            </a:r>
            <a:r>
              <a:rPr lang="en-GB" dirty="0"/>
              <a:t>: An asynchronous function performs at least one asynchronous operation and can also perform synchronous operations.</a:t>
            </a:r>
            <a:endParaRPr lang="en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CB4CCE-1D86-464D-84CA-9A1992A4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253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Future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A931C-E473-FE49-BB53-C08AAD60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334907"/>
          </a:xfrm>
        </p:spPr>
        <p:txBody>
          <a:bodyPr>
            <a:normAutofit lnSpcReduction="10000"/>
          </a:bodyPr>
          <a:lstStyle/>
          <a:p>
            <a:r>
              <a:rPr lang="en-IT" dirty="0"/>
              <a:t>Dart manages asynchrony using t</a:t>
            </a:r>
            <a:r>
              <a:rPr lang="en-GB" dirty="0"/>
              <a:t>he</a:t>
            </a:r>
            <a:r>
              <a:rPr lang="en-IT" dirty="0"/>
              <a:t> </a:t>
            </a:r>
            <a:r>
              <a:rPr lang="en-IT" b="1" dirty="0">
                <a:latin typeface="Courier" pitchFamily="2" charset="0"/>
              </a:rPr>
              <a:t>Future</a:t>
            </a:r>
            <a:r>
              <a:rPr lang="en-IT" dirty="0"/>
              <a:t> class</a:t>
            </a:r>
          </a:p>
          <a:p>
            <a:endParaRPr lang="en-IT" dirty="0"/>
          </a:p>
          <a:p>
            <a:r>
              <a:rPr lang="en-GB" dirty="0"/>
              <a:t>A future (lower case “f”) is an instance of the </a:t>
            </a:r>
            <a:r>
              <a:rPr lang="en-GB" dirty="0">
                <a:latin typeface="Courier" pitchFamily="2" charset="0"/>
              </a:rPr>
              <a:t>Future</a:t>
            </a:r>
            <a:r>
              <a:rPr lang="en-GB" dirty="0"/>
              <a:t> class. A future represents the result of an asynchronous operation, and can have two states: uncompleted or completed.</a:t>
            </a:r>
          </a:p>
          <a:p>
            <a:endParaRPr lang="en-IT" dirty="0"/>
          </a:p>
          <a:p>
            <a:pPr lvl="1"/>
            <a:r>
              <a:rPr lang="en-IT" b="1" dirty="0"/>
              <a:t>Uncompleted</a:t>
            </a:r>
            <a:r>
              <a:rPr lang="en-IT" dirty="0"/>
              <a:t>: </a:t>
            </a:r>
            <a:r>
              <a:rPr lang="en-GB" dirty="0"/>
              <a:t>When you call an asynchronous function, it returns an uncompleted future. That future is waiting for the function’s asynchronous operation to finish or to throw an error.</a:t>
            </a:r>
          </a:p>
          <a:p>
            <a:pPr lvl="1"/>
            <a:endParaRPr lang="en-IT" dirty="0"/>
          </a:p>
          <a:p>
            <a:pPr lvl="1"/>
            <a:r>
              <a:rPr lang="en-IT" b="1" dirty="0"/>
              <a:t>Completed</a:t>
            </a:r>
            <a:r>
              <a:rPr lang="en-IT" dirty="0"/>
              <a:t>:</a:t>
            </a:r>
          </a:p>
          <a:p>
            <a:pPr lvl="2"/>
            <a:r>
              <a:rPr lang="en-GB" b="1" dirty="0"/>
              <a:t>W</a:t>
            </a:r>
            <a:r>
              <a:rPr lang="en-IT" b="1" dirty="0"/>
              <a:t>ith a value</a:t>
            </a:r>
            <a:r>
              <a:rPr lang="en-IT" dirty="0"/>
              <a:t>: </a:t>
            </a:r>
            <a:r>
              <a:rPr lang="en-GB" dirty="0"/>
              <a:t>A future of type </a:t>
            </a:r>
            <a:r>
              <a:rPr lang="en-GB" dirty="0">
                <a:latin typeface="Courier" pitchFamily="2" charset="0"/>
              </a:rPr>
              <a:t>Future&lt;T&gt; </a:t>
            </a:r>
            <a:r>
              <a:rPr lang="en-GB" dirty="0"/>
              <a:t>completes with a value of type</a:t>
            </a:r>
            <a:r>
              <a:rPr lang="en-GB" dirty="0">
                <a:latin typeface="Courier" pitchFamily="2" charset="0"/>
              </a:rPr>
              <a:t> T</a:t>
            </a:r>
            <a:r>
              <a:rPr lang="en-GB" dirty="0"/>
              <a:t>. For example, a future with type </a:t>
            </a:r>
            <a:r>
              <a:rPr lang="en-GB" dirty="0">
                <a:latin typeface="Courier" pitchFamily="2" charset="0"/>
              </a:rPr>
              <a:t>Future&lt;String&gt; </a:t>
            </a:r>
            <a:r>
              <a:rPr lang="en-GB" dirty="0"/>
              <a:t>produces a string value. If a future doesn’t produce a usable value, then the future’s type is </a:t>
            </a:r>
            <a:r>
              <a:rPr lang="en-GB" dirty="0">
                <a:latin typeface="Courier" pitchFamily="2" charset="0"/>
              </a:rPr>
              <a:t>Future&lt;void&gt;</a:t>
            </a:r>
            <a:r>
              <a:rPr lang="en-GB" dirty="0"/>
              <a:t>.</a:t>
            </a:r>
          </a:p>
          <a:p>
            <a:pPr lvl="2"/>
            <a:endParaRPr lang="en-IT" dirty="0"/>
          </a:p>
          <a:p>
            <a:pPr lvl="2"/>
            <a:r>
              <a:rPr lang="en-IT" b="1" dirty="0"/>
              <a:t>With an error</a:t>
            </a:r>
            <a:r>
              <a:rPr lang="en-IT" dirty="0"/>
              <a:t>: </a:t>
            </a:r>
            <a:r>
              <a:rPr lang="en-GB" dirty="0"/>
              <a:t>If the asynchronous operation performed by the function fails for any reason, the future completes with an error.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16C8FB-6773-6A46-A681-9DA035F29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584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Future (wrong example)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A931C-E473-FE49-BB53-C08AAD60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701" y="1361167"/>
            <a:ext cx="7187970" cy="53349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>
                <a:latin typeface="Courier" pitchFamily="2" charset="0"/>
              </a:rPr>
              <a:t>void </a:t>
            </a:r>
            <a:r>
              <a:rPr lang="en-GB" sz="2000" dirty="0" err="1">
                <a:latin typeface="Courier" pitchFamily="2" charset="0"/>
              </a:rPr>
              <a:t>fetchUserOrder</a:t>
            </a:r>
            <a:r>
              <a:rPr lang="en-GB" sz="2000" dirty="0">
                <a:latin typeface="Courier" pitchFamily="2" charset="0"/>
              </a:rPr>
              <a:t>() {</a:t>
            </a:r>
          </a:p>
          <a:p>
            <a:pPr marL="0" indent="0">
              <a:buNone/>
            </a:pPr>
            <a:r>
              <a:rPr lang="en-GB" sz="2000" dirty="0">
                <a:latin typeface="Courier" pitchFamily="2" charset="0"/>
              </a:rPr>
              <a:t>  </a:t>
            </a:r>
            <a:r>
              <a:rPr lang="en-GB" sz="2000" b="1" dirty="0" err="1">
                <a:latin typeface="Courier" pitchFamily="2" charset="0"/>
              </a:rPr>
              <a:t>Future</a:t>
            </a:r>
            <a:r>
              <a:rPr lang="en-GB" sz="2000" dirty="0" err="1">
                <a:latin typeface="Courier" pitchFamily="2" charset="0"/>
              </a:rPr>
              <a:t>.delayed</a:t>
            </a:r>
            <a:r>
              <a:rPr lang="en-GB" sz="2000" dirty="0">
                <a:latin typeface="Courier" pitchFamily="2" charset="0"/>
              </a:rPr>
              <a:t>(</a:t>
            </a:r>
            <a:r>
              <a:rPr lang="en-GB" sz="2000" dirty="0" err="1">
                <a:latin typeface="Courier" pitchFamily="2" charset="0"/>
              </a:rPr>
              <a:t>const</a:t>
            </a:r>
            <a:r>
              <a:rPr lang="en-GB" sz="2000" dirty="0">
                <a:latin typeface="Courier" pitchFamily="2" charset="0"/>
              </a:rPr>
              <a:t> 	Duration(seconds: 2), () =&gt; print('Large Latte'));</a:t>
            </a:r>
          </a:p>
          <a:p>
            <a:pPr marL="0" indent="0">
              <a:buNone/>
            </a:pPr>
            <a:r>
              <a:rPr lang="en-GB" sz="2000" dirty="0">
                <a:latin typeface="Courier" pitchFamily="2" charset="0"/>
              </a:rPr>
              <a:t>}//</a:t>
            </a:r>
            <a:r>
              <a:rPr lang="en-GB" sz="2000" dirty="0" err="1">
                <a:latin typeface="Courier" pitchFamily="2" charset="0"/>
              </a:rPr>
              <a:t>fetchUserOrder</a:t>
            </a:r>
            <a:endParaRPr lang="en-GB" sz="2000" dirty="0">
              <a:latin typeface="Courier" pitchFamily="2" charset="0"/>
            </a:endParaRPr>
          </a:p>
          <a:p>
            <a:pPr marL="0" indent="0">
              <a:buNone/>
            </a:pPr>
            <a:br>
              <a:rPr lang="en-GB" sz="2000" dirty="0">
                <a:latin typeface="Courier" pitchFamily="2" charset="0"/>
              </a:rPr>
            </a:br>
            <a:r>
              <a:rPr lang="en-GB" sz="2000" dirty="0">
                <a:latin typeface="Courier" pitchFamily="2" charset="0"/>
              </a:rPr>
              <a:t>void main() {</a:t>
            </a:r>
          </a:p>
          <a:p>
            <a:pPr marL="0" indent="0">
              <a:buNone/>
            </a:pPr>
            <a:br>
              <a:rPr lang="en-GB" sz="2000" dirty="0">
                <a:latin typeface="Courier" pitchFamily="2" charset="0"/>
              </a:rPr>
            </a:br>
            <a:r>
              <a:rPr lang="en-GB" sz="2000" dirty="0">
                <a:latin typeface="Courier" pitchFamily="2" charset="0"/>
              </a:rPr>
              <a:t>  print('Fetching user order...’);</a:t>
            </a:r>
          </a:p>
          <a:p>
            <a:pPr marL="0" indent="0">
              <a:buNone/>
            </a:pPr>
            <a:r>
              <a:rPr lang="en-GB" sz="2000" dirty="0">
                <a:latin typeface="Courier" pitchFamily="2" charset="0"/>
              </a:rPr>
              <a:t>  </a:t>
            </a:r>
            <a:r>
              <a:rPr lang="en-GB" sz="2000" dirty="0" err="1">
                <a:latin typeface="Courier" pitchFamily="2" charset="0"/>
              </a:rPr>
              <a:t>fetchUserOrder</a:t>
            </a:r>
            <a:r>
              <a:rPr lang="en-GB" sz="2000" dirty="0">
                <a:latin typeface="Courier" pitchFamily="2" charset="0"/>
              </a:rPr>
              <a:t>();</a:t>
            </a:r>
          </a:p>
          <a:p>
            <a:pPr marL="0" indent="0">
              <a:buNone/>
            </a:pPr>
            <a:r>
              <a:rPr lang="en-GB" sz="2000" dirty="0">
                <a:latin typeface="Courier" pitchFamily="2" charset="0"/>
              </a:rPr>
              <a:t>  print('Done');</a:t>
            </a:r>
          </a:p>
          <a:p>
            <a:pPr marL="0" indent="0">
              <a:buNone/>
            </a:pPr>
            <a:br>
              <a:rPr lang="en-GB" sz="2000" dirty="0">
                <a:latin typeface="Courier" pitchFamily="2" charset="0"/>
              </a:rPr>
            </a:br>
            <a:r>
              <a:rPr lang="en-GB" sz="2000" dirty="0">
                <a:latin typeface="Courier" pitchFamily="2" charset="0"/>
              </a:rPr>
              <a:t>}//main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BDFAD6-B102-244F-A33F-943F158CF0A1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in lab_06-navigation/01-introducing_futures.dart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324755-9CDD-9544-BC56-BBCDBE7F3845}"/>
              </a:ext>
            </a:extLst>
          </p:cNvPr>
          <p:cNvSpPr/>
          <p:nvPr/>
        </p:nvSpPr>
        <p:spPr>
          <a:xfrm>
            <a:off x="8267961" y="1361167"/>
            <a:ext cx="33753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The function is doing some asynchronous stuff.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615AD4-39E3-F34B-9EA2-8300DA21DF57}"/>
              </a:ext>
            </a:extLst>
          </p:cNvPr>
          <p:cNvSpPr/>
          <p:nvPr/>
        </p:nvSpPr>
        <p:spPr>
          <a:xfrm>
            <a:off x="8267961" y="4250338"/>
            <a:ext cx="3164305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>
                <a:latin typeface="Aptos" panose="020B0004020202020204" pitchFamily="34" charset="0"/>
              </a:rPr>
              <a:t>Note</a:t>
            </a:r>
            <a:r>
              <a:rPr lang="en-GB" dirty="0">
                <a:latin typeface="Aptos" panose="020B0004020202020204" pitchFamily="34" charset="0"/>
              </a:rPr>
              <a:t>: ‘Done’ will be print before ‘Large latte’. How to fix this?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76FAD8-94BF-654A-B1FB-089A770469E3}"/>
              </a:ext>
            </a:extLst>
          </p:cNvPr>
          <p:cNvSpPr/>
          <p:nvPr/>
        </p:nvSpPr>
        <p:spPr>
          <a:xfrm>
            <a:off x="8246683" y="3101053"/>
            <a:ext cx="3164305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>
                <a:latin typeface="Aptos" panose="020B0004020202020204" pitchFamily="34" charset="0"/>
              </a:rPr>
              <a:t>Note</a:t>
            </a:r>
            <a:r>
              <a:rPr lang="en-GB" dirty="0">
                <a:latin typeface="Aptos" panose="020B0004020202020204" pitchFamily="34" charset="0"/>
              </a:rPr>
              <a:t>: main is an asynchronous function now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55200F9-BECA-8E4F-838F-2A4DE683DA3D}"/>
              </a:ext>
            </a:extLst>
          </p:cNvPr>
          <p:cNvCxnSpPr>
            <a:cxnSpLocks/>
          </p:cNvCxnSpPr>
          <p:nvPr/>
        </p:nvCxnSpPr>
        <p:spPr>
          <a:xfrm flipV="1">
            <a:off x="2407534" y="3424218"/>
            <a:ext cx="5590572" cy="201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052029-4E66-914A-9ABA-46BA11E44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C3D170D-DC6C-2C43-846F-F6AF57B87856}"/>
              </a:ext>
            </a:extLst>
          </p:cNvPr>
          <p:cNvCxnSpPr>
            <a:cxnSpLocks/>
          </p:cNvCxnSpPr>
          <p:nvPr/>
        </p:nvCxnSpPr>
        <p:spPr>
          <a:xfrm flipV="1">
            <a:off x="2825930" y="4573503"/>
            <a:ext cx="5253199" cy="521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4F9F446-AD64-4347-BC01-8B5DB2A19345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7342909" y="1684333"/>
            <a:ext cx="925052" cy="234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417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Async and Await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A931C-E473-FE49-BB53-C08AAD60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247977"/>
          </a:xfrm>
        </p:spPr>
        <p:txBody>
          <a:bodyPr>
            <a:normAutofit/>
          </a:bodyPr>
          <a:lstStyle/>
          <a:p>
            <a:r>
              <a:rPr lang="en-GB" dirty="0"/>
              <a:t>The </a:t>
            </a:r>
            <a:r>
              <a:rPr lang="en-GB" b="1" dirty="0">
                <a:latin typeface="Courier" pitchFamily="2" charset="0"/>
              </a:rPr>
              <a:t>async</a:t>
            </a:r>
            <a:r>
              <a:rPr lang="en-GB" dirty="0"/>
              <a:t> and </a:t>
            </a:r>
            <a:r>
              <a:rPr lang="en-GB" b="1" dirty="0">
                <a:latin typeface="Courier" pitchFamily="2" charset="0"/>
              </a:rPr>
              <a:t>await</a:t>
            </a:r>
            <a:r>
              <a:rPr lang="en-GB" dirty="0"/>
              <a:t> keywords provide a declarative way to define asynchronous functions and use their results. Remember these two basic guidelines when using </a:t>
            </a:r>
            <a:r>
              <a:rPr lang="en-GB" dirty="0">
                <a:latin typeface="Courier" pitchFamily="2" charset="0"/>
              </a:rPr>
              <a:t>async</a:t>
            </a:r>
            <a:r>
              <a:rPr lang="en-GB" dirty="0"/>
              <a:t> and </a:t>
            </a:r>
            <a:r>
              <a:rPr lang="en-GB" dirty="0">
                <a:latin typeface="Courier" pitchFamily="2" charset="0"/>
              </a:rPr>
              <a:t>await</a:t>
            </a:r>
            <a:r>
              <a:rPr lang="en-GB" dirty="0"/>
              <a:t>:</a:t>
            </a:r>
          </a:p>
          <a:p>
            <a:endParaRPr lang="en-GB" dirty="0"/>
          </a:p>
          <a:p>
            <a:endParaRPr lang="en-GB" dirty="0"/>
          </a:p>
          <a:p>
            <a:pPr marL="914400" lvl="1" indent="-457200">
              <a:buAutoNum type="arabicPeriod"/>
            </a:pPr>
            <a:r>
              <a:rPr lang="en-GB" dirty="0"/>
              <a:t>To define an asynchronous function, add </a:t>
            </a:r>
            <a:r>
              <a:rPr lang="en-GB" b="1" dirty="0">
                <a:latin typeface="Courier" pitchFamily="2" charset="0"/>
              </a:rPr>
              <a:t>async</a:t>
            </a:r>
            <a:r>
              <a:rPr lang="en-GB" dirty="0"/>
              <a:t> before the function body and wrap its return type in a </a:t>
            </a:r>
            <a:r>
              <a:rPr lang="en-GB" dirty="0">
                <a:latin typeface="Courier" pitchFamily="2" charset="0"/>
              </a:rPr>
              <a:t>Future</a:t>
            </a:r>
            <a:r>
              <a:rPr lang="en-GB" dirty="0"/>
              <a:t>.</a:t>
            </a:r>
          </a:p>
          <a:p>
            <a:pPr marL="914400" lvl="1" indent="-457200">
              <a:buAutoNum type="arabicPeriod"/>
            </a:pPr>
            <a:endParaRPr lang="en-GB" dirty="0"/>
          </a:p>
          <a:p>
            <a:pPr marL="914400" lvl="1" indent="-457200">
              <a:buAutoNum type="arabicPeriod"/>
            </a:pPr>
            <a:r>
              <a:rPr lang="en-GB" dirty="0"/>
              <a:t>The </a:t>
            </a:r>
            <a:r>
              <a:rPr lang="en-GB" b="1" dirty="0">
                <a:latin typeface="Courier" pitchFamily="2" charset="0"/>
              </a:rPr>
              <a:t>await</a:t>
            </a:r>
            <a:r>
              <a:rPr lang="en-GB" dirty="0"/>
              <a:t> keyword is used to wait for the result of an asynchronous function before going on and works only inside asynchronous functions.</a:t>
            </a:r>
          </a:p>
          <a:p>
            <a:pPr marL="0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IT" dirty="0"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AC16B1-A36E-D14C-82CD-2FE591FF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701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Fixing the main function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A931C-E473-FE49-BB53-C08AAD60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247977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Let’s then fix the main function:</a:t>
            </a:r>
          </a:p>
          <a:p>
            <a:endParaRPr lang="en-GB" dirty="0"/>
          </a:p>
          <a:p>
            <a:pPr lvl="1"/>
            <a:r>
              <a:rPr lang="en-GB" dirty="0"/>
              <a:t>First, add the </a:t>
            </a:r>
            <a:r>
              <a:rPr lang="en-GB" dirty="0">
                <a:latin typeface="Courier" pitchFamily="2" charset="0"/>
              </a:rPr>
              <a:t>async</a:t>
            </a:r>
            <a:r>
              <a:rPr lang="en-GB" dirty="0"/>
              <a:t> keyword before the function body</a:t>
            </a:r>
            <a:br>
              <a:rPr lang="en-GB" dirty="0"/>
            </a:br>
            <a:br>
              <a:rPr lang="en-GB" dirty="0"/>
            </a:br>
            <a:r>
              <a:rPr lang="en-GB" dirty="0"/>
              <a:t>	</a:t>
            </a:r>
            <a:r>
              <a:rPr lang="en-GB" dirty="0">
                <a:latin typeface="Courier" pitchFamily="2" charset="0"/>
              </a:rPr>
              <a:t>void main() </a:t>
            </a:r>
            <a:r>
              <a:rPr lang="en-GB" b="1" dirty="0">
                <a:latin typeface="Courier" pitchFamily="2" charset="0"/>
              </a:rPr>
              <a:t>async</a:t>
            </a:r>
            <a:r>
              <a:rPr lang="en-GB" dirty="0">
                <a:latin typeface="Courier" pitchFamily="2" charset="0"/>
              </a:rPr>
              <a:t> {}</a:t>
            </a:r>
          </a:p>
          <a:p>
            <a:pPr lvl="2"/>
            <a:endParaRPr lang="en-GB" dirty="0"/>
          </a:p>
          <a:p>
            <a:pPr lvl="1"/>
            <a:r>
              <a:rPr lang="en-GB" dirty="0"/>
              <a:t>Wrap the return type in a </a:t>
            </a:r>
            <a:r>
              <a:rPr lang="en-GB" dirty="0">
                <a:latin typeface="Courier" pitchFamily="2" charset="0"/>
              </a:rPr>
              <a:t>Future</a:t>
            </a:r>
            <a:r>
              <a:rPr lang="en-GB" dirty="0"/>
              <a:t>:</a:t>
            </a:r>
            <a:br>
              <a:rPr lang="en-GB" dirty="0"/>
            </a:br>
            <a:br>
              <a:rPr lang="en-GB" b="1" dirty="0"/>
            </a:br>
            <a:r>
              <a:rPr lang="en-GB" b="1" dirty="0"/>
              <a:t>	</a:t>
            </a:r>
            <a:r>
              <a:rPr lang="en-GB" b="1" dirty="0">
                <a:latin typeface="Courier" pitchFamily="2" charset="0"/>
              </a:rPr>
              <a:t>Future&lt;void&gt; </a:t>
            </a:r>
            <a:r>
              <a:rPr lang="en-GB" dirty="0">
                <a:latin typeface="Courier" pitchFamily="2" charset="0"/>
              </a:rPr>
              <a:t>main() async {}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Now that you have a correctly defined async function, you can use the </a:t>
            </a:r>
            <a:r>
              <a:rPr lang="en-GB" dirty="0">
                <a:latin typeface="Courier" pitchFamily="2" charset="0"/>
              </a:rPr>
              <a:t>await</a:t>
            </a:r>
            <a:r>
              <a:rPr lang="en-GB" dirty="0"/>
              <a:t> keyword to wait for a future to complete:</a:t>
            </a:r>
          </a:p>
          <a:p>
            <a:endParaRPr lang="en-GB" dirty="0">
              <a:latin typeface="Courier" pitchFamily="2" charset="0"/>
            </a:endParaRPr>
          </a:p>
          <a:p>
            <a:pPr marL="914400" lvl="2" indent="0">
              <a:buNone/>
            </a:pPr>
            <a:r>
              <a:rPr lang="en-GB" b="1" dirty="0">
                <a:latin typeface="Courier" pitchFamily="2" charset="0"/>
              </a:rPr>
              <a:t>await</a:t>
            </a:r>
            <a:r>
              <a:rPr lang="en-GB" dirty="0">
                <a:latin typeface="Courier" pitchFamily="2" charset="0"/>
              </a:rPr>
              <a:t> </a:t>
            </a:r>
            <a:r>
              <a:rPr lang="en-GB" dirty="0" err="1">
                <a:latin typeface="Courier" pitchFamily="2" charset="0"/>
              </a:rPr>
              <a:t>fetchUserOrder</a:t>
            </a:r>
            <a:r>
              <a:rPr lang="en-GB" dirty="0">
                <a:latin typeface="Courier" pitchFamily="2" charset="0"/>
              </a:rPr>
              <a:t>();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 </a:t>
            </a:r>
          </a:p>
          <a:p>
            <a:pPr marL="457200" lvl="1" indent="0">
              <a:buNone/>
            </a:pPr>
            <a:endParaRPr lang="en-IT" dirty="0"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69866D-2F1E-A542-95E9-87D828F0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135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Fixing </a:t>
            </a:r>
            <a:r>
              <a:rPr lang="en-IT" dirty="0"/>
              <a:t>the fetchUserOrder function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A931C-E473-FE49-BB53-C08AAD60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247977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To fix the </a:t>
            </a:r>
            <a:r>
              <a:rPr lang="en-GB" dirty="0" err="1">
                <a:latin typeface="Courier" pitchFamily="2" charset="0"/>
              </a:rPr>
              <a:t>fetchUserOrder</a:t>
            </a:r>
            <a:r>
              <a:rPr lang="en-GB" dirty="0"/>
              <a:t> function we can proceed in a similar way</a:t>
            </a:r>
          </a:p>
          <a:p>
            <a:endParaRPr lang="en-GB" dirty="0">
              <a:latin typeface="Courier" pitchFamily="2" charset="0"/>
            </a:endParaRPr>
          </a:p>
          <a:p>
            <a:pPr lvl="1"/>
            <a:r>
              <a:rPr lang="en-GB" dirty="0"/>
              <a:t>First, add the </a:t>
            </a:r>
            <a:r>
              <a:rPr lang="en-GB" dirty="0">
                <a:latin typeface="Courier" pitchFamily="2" charset="0"/>
              </a:rPr>
              <a:t>async</a:t>
            </a:r>
            <a:r>
              <a:rPr lang="en-GB" dirty="0"/>
              <a:t> keyword before the function body</a:t>
            </a:r>
            <a:br>
              <a:rPr lang="en-GB" dirty="0"/>
            </a:br>
            <a:br>
              <a:rPr lang="en-GB" dirty="0"/>
            </a:br>
            <a:r>
              <a:rPr lang="en-GB" dirty="0"/>
              <a:t>	</a:t>
            </a:r>
            <a:r>
              <a:rPr lang="en-GB" dirty="0">
                <a:latin typeface="Courier" pitchFamily="2" charset="0"/>
              </a:rPr>
              <a:t>void </a:t>
            </a:r>
            <a:r>
              <a:rPr lang="en-GB" dirty="0" err="1">
                <a:latin typeface="Courier" pitchFamily="2" charset="0"/>
              </a:rPr>
              <a:t>fetchUserOrder</a:t>
            </a:r>
            <a:r>
              <a:rPr lang="en-GB" dirty="0">
                <a:latin typeface="Courier" pitchFamily="2" charset="0"/>
              </a:rPr>
              <a:t>() </a:t>
            </a:r>
            <a:r>
              <a:rPr lang="en-GB" b="1" dirty="0">
                <a:latin typeface="Courier" pitchFamily="2" charset="0"/>
              </a:rPr>
              <a:t>async</a:t>
            </a:r>
            <a:r>
              <a:rPr lang="en-GB" dirty="0">
                <a:latin typeface="Courier" pitchFamily="2" charset="0"/>
              </a:rPr>
              <a:t> {}</a:t>
            </a:r>
          </a:p>
          <a:p>
            <a:pPr lvl="2"/>
            <a:endParaRPr lang="en-GB" dirty="0"/>
          </a:p>
          <a:p>
            <a:pPr lvl="1"/>
            <a:r>
              <a:rPr lang="en-GB" dirty="0"/>
              <a:t>Wrap the return type in a </a:t>
            </a:r>
            <a:r>
              <a:rPr lang="en-GB" dirty="0">
                <a:latin typeface="Courier" pitchFamily="2" charset="0"/>
              </a:rPr>
              <a:t>Future:</a:t>
            </a:r>
            <a:br>
              <a:rPr lang="en-GB" dirty="0"/>
            </a:br>
            <a:br>
              <a:rPr lang="en-GB" b="1" dirty="0"/>
            </a:br>
            <a:r>
              <a:rPr lang="en-GB" b="1" dirty="0"/>
              <a:t>	</a:t>
            </a:r>
            <a:r>
              <a:rPr lang="en-GB" b="1" dirty="0">
                <a:latin typeface="Courier" pitchFamily="2" charset="0"/>
              </a:rPr>
              <a:t>Future&lt;void&gt; </a:t>
            </a:r>
            <a:r>
              <a:rPr lang="en-GB" dirty="0" err="1">
                <a:latin typeface="Courier" pitchFamily="2" charset="0"/>
              </a:rPr>
              <a:t>fetchUserOrder</a:t>
            </a:r>
            <a:r>
              <a:rPr lang="en-GB" dirty="0">
                <a:latin typeface="Courier" pitchFamily="2" charset="0"/>
              </a:rPr>
              <a:t>() async {}</a:t>
            </a:r>
          </a:p>
          <a:p>
            <a:pPr lvl="1"/>
            <a:endParaRPr lang="en-GB" dirty="0">
              <a:latin typeface="Courier" pitchFamily="2" charset="0"/>
            </a:endParaRPr>
          </a:p>
          <a:p>
            <a:pPr lvl="1"/>
            <a:r>
              <a:rPr lang="en-GB" dirty="0"/>
              <a:t>Then, </a:t>
            </a:r>
            <a:r>
              <a:rPr lang="en-GB" dirty="0">
                <a:latin typeface="Courier" pitchFamily="2" charset="0"/>
              </a:rPr>
              <a:t>await</a:t>
            </a:r>
            <a:r>
              <a:rPr lang="en-GB" dirty="0"/>
              <a:t> the end of the asynchronous operation:</a:t>
            </a:r>
            <a:br>
              <a:rPr lang="en-GB" dirty="0"/>
            </a:br>
            <a:br>
              <a:rPr lang="en-GB" b="1" dirty="0"/>
            </a:br>
            <a:r>
              <a:rPr lang="en-GB" b="1" dirty="0"/>
              <a:t>	</a:t>
            </a:r>
            <a:r>
              <a:rPr lang="en-GB" b="1" dirty="0">
                <a:latin typeface="Courier" pitchFamily="2" charset="0"/>
              </a:rPr>
              <a:t>await </a:t>
            </a:r>
            <a:r>
              <a:rPr lang="en-GB" b="1" dirty="0" err="1">
                <a:latin typeface="Courier" pitchFamily="2" charset="0"/>
              </a:rPr>
              <a:t>Future.delayed</a:t>
            </a:r>
            <a:r>
              <a:rPr lang="en-GB" b="1" dirty="0">
                <a:latin typeface="Courier" pitchFamily="2" charset="0"/>
              </a:rPr>
              <a:t>...</a:t>
            </a:r>
            <a:endParaRPr lang="en-GB" dirty="0">
              <a:latin typeface="Courier" pitchFamily="2" charset="0"/>
            </a:endParaRPr>
          </a:p>
          <a:p>
            <a:endParaRPr lang="en-GB" dirty="0">
              <a:latin typeface="Courier" pitchFamily="2" charset="0"/>
            </a:endParaRP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 </a:t>
            </a:r>
          </a:p>
          <a:p>
            <a:pPr marL="457200" lvl="1" indent="0">
              <a:buNone/>
            </a:pPr>
            <a:endParaRPr lang="en-IT" dirty="0"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700353-C90C-C04C-AA57-1BB6F8C5D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674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Future (correct example)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A931C-E473-FE49-BB53-C08AAD60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701" y="1361167"/>
            <a:ext cx="7187970" cy="53349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>
                <a:latin typeface="Courier" pitchFamily="2" charset="0"/>
              </a:rPr>
              <a:t>Future&lt;void&gt; </a:t>
            </a:r>
            <a:r>
              <a:rPr lang="en-GB" sz="2000" dirty="0" err="1">
                <a:latin typeface="Courier" pitchFamily="2" charset="0"/>
              </a:rPr>
              <a:t>fetchUserOrder</a:t>
            </a:r>
            <a:r>
              <a:rPr lang="en-GB" sz="2000" dirty="0">
                <a:latin typeface="Courier" pitchFamily="2" charset="0"/>
              </a:rPr>
              <a:t>() </a:t>
            </a:r>
            <a:r>
              <a:rPr lang="en-GB" sz="2000" b="1" dirty="0">
                <a:latin typeface="Courier" pitchFamily="2" charset="0"/>
              </a:rPr>
              <a:t>async</a:t>
            </a:r>
            <a:r>
              <a:rPr lang="en-GB" sz="2000" dirty="0"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GB" sz="2000" dirty="0">
                <a:latin typeface="Courier" pitchFamily="2" charset="0"/>
              </a:rPr>
              <a:t>  </a:t>
            </a:r>
            <a:r>
              <a:rPr lang="en-GB" sz="2000" b="1" dirty="0">
                <a:latin typeface="Courier" pitchFamily="2" charset="0"/>
              </a:rPr>
              <a:t>await</a:t>
            </a:r>
            <a:r>
              <a:rPr lang="en-GB" sz="2000" dirty="0">
                <a:latin typeface="Courier" pitchFamily="2" charset="0"/>
              </a:rPr>
              <a:t> </a:t>
            </a:r>
            <a:r>
              <a:rPr lang="en-GB" sz="2000" b="1" dirty="0" err="1">
                <a:latin typeface="Courier" pitchFamily="2" charset="0"/>
              </a:rPr>
              <a:t>Future</a:t>
            </a:r>
            <a:r>
              <a:rPr lang="en-GB" sz="2000" dirty="0" err="1">
                <a:latin typeface="Courier" pitchFamily="2" charset="0"/>
              </a:rPr>
              <a:t>.delayed</a:t>
            </a:r>
            <a:r>
              <a:rPr lang="en-GB" sz="2000" dirty="0">
                <a:latin typeface="Courier" pitchFamily="2" charset="0"/>
              </a:rPr>
              <a:t>(</a:t>
            </a:r>
            <a:r>
              <a:rPr lang="en-GB" sz="2000" dirty="0" err="1">
                <a:latin typeface="Courier" pitchFamily="2" charset="0"/>
              </a:rPr>
              <a:t>const</a:t>
            </a:r>
            <a:r>
              <a:rPr lang="en-GB" sz="2000" dirty="0">
                <a:latin typeface="Courier" pitchFamily="2" charset="0"/>
              </a:rPr>
              <a:t> 	Duration(seconds: 2), () =&gt; 	print('Large Latte'));</a:t>
            </a:r>
          </a:p>
          <a:p>
            <a:pPr marL="0" indent="0">
              <a:buNone/>
            </a:pPr>
            <a:r>
              <a:rPr lang="en-GB" sz="2000" dirty="0">
                <a:latin typeface="Courier" pitchFamily="2" charset="0"/>
              </a:rPr>
              <a:t>}//</a:t>
            </a:r>
            <a:r>
              <a:rPr lang="en-GB" sz="2000" dirty="0" err="1">
                <a:latin typeface="Courier" pitchFamily="2" charset="0"/>
              </a:rPr>
              <a:t>fetchUserOrder</a:t>
            </a:r>
            <a:endParaRPr lang="en-GB" sz="2000" dirty="0">
              <a:latin typeface="Courier" pitchFamily="2" charset="0"/>
            </a:endParaRPr>
          </a:p>
          <a:p>
            <a:pPr marL="0" indent="0">
              <a:buNone/>
            </a:pPr>
            <a:br>
              <a:rPr lang="en-GB" sz="2000" dirty="0">
                <a:latin typeface="Courier" pitchFamily="2" charset="0"/>
              </a:rPr>
            </a:br>
            <a:r>
              <a:rPr lang="en-GB" sz="2000" b="1" dirty="0">
                <a:latin typeface="Courier" pitchFamily="2" charset="0"/>
              </a:rPr>
              <a:t>Future&lt;void&gt;</a:t>
            </a:r>
            <a:r>
              <a:rPr lang="en-GB" sz="2000" dirty="0">
                <a:latin typeface="Courier" pitchFamily="2" charset="0"/>
              </a:rPr>
              <a:t> main() </a:t>
            </a:r>
            <a:r>
              <a:rPr lang="en-GB" sz="2000" b="1" dirty="0">
                <a:latin typeface="Courier" pitchFamily="2" charset="0"/>
              </a:rPr>
              <a:t>async</a:t>
            </a:r>
            <a:r>
              <a:rPr lang="en-GB" sz="2000" dirty="0">
                <a:latin typeface="Courier" pitchFamily="2" charset="0"/>
              </a:rPr>
              <a:t>{</a:t>
            </a:r>
          </a:p>
          <a:p>
            <a:pPr marL="0" indent="0">
              <a:buNone/>
            </a:pPr>
            <a:br>
              <a:rPr lang="en-GB" sz="2000" dirty="0">
                <a:latin typeface="Courier" pitchFamily="2" charset="0"/>
              </a:rPr>
            </a:br>
            <a:r>
              <a:rPr lang="en-GB" sz="2000" dirty="0">
                <a:latin typeface="Courier" pitchFamily="2" charset="0"/>
              </a:rPr>
              <a:t>  print('Fetching user order...’);</a:t>
            </a:r>
          </a:p>
          <a:p>
            <a:pPr marL="0" indent="0">
              <a:buNone/>
            </a:pPr>
            <a:r>
              <a:rPr lang="en-GB" sz="2000" dirty="0">
                <a:latin typeface="Courier" pitchFamily="2" charset="0"/>
              </a:rPr>
              <a:t>  </a:t>
            </a:r>
            <a:r>
              <a:rPr lang="en-GB" sz="2000" b="1" dirty="0">
                <a:latin typeface="Courier" pitchFamily="2" charset="0"/>
              </a:rPr>
              <a:t>await</a:t>
            </a:r>
            <a:r>
              <a:rPr lang="en-GB" sz="2000" dirty="0">
                <a:latin typeface="Courier" pitchFamily="2" charset="0"/>
              </a:rPr>
              <a:t> </a:t>
            </a:r>
            <a:r>
              <a:rPr lang="en-GB" sz="2000" dirty="0" err="1">
                <a:latin typeface="Courier" pitchFamily="2" charset="0"/>
              </a:rPr>
              <a:t>fetchUserOrder</a:t>
            </a:r>
            <a:r>
              <a:rPr lang="en-GB" sz="2000" dirty="0">
                <a:latin typeface="Courier" pitchFamily="2" charset="0"/>
              </a:rPr>
              <a:t>();</a:t>
            </a:r>
          </a:p>
          <a:p>
            <a:pPr marL="0" indent="0">
              <a:buNone/>
            </a:pPr>
            <a:r>
              <a:rPr lang="en-GB" sz="2000" dirty="0">
                <a:latin typeface="Courier" pitchFamily="2" charset="0"/>
              </a:rPr>
              <a:t>  print('Done');</a:t>
            </a:r>
          </a:p>
          <a:p>
            <a:pPr marL="0" indent="0">
              <a:buNone/>
            </a:pPr>
            <a:br>
              <a:rPr lang="en-GB" sz="2000" dirty="0">
                <a:latin typeface="Courier" pitchFamily="2" charset="0"/>
              </a:rPr>
            </a:br>
            <a:r>
              <a:rPr lang="en-GB" sz="2000" dirty="0">
                <a:latin typeface="Courier" pitchFamily="2" charset="0"/>
              </a:rPr>
              <a:t>}//main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BDFAD6-B102-244F-A33F-943F158CF0A1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in lab_06-navigation/02-async_and_await.dart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615AD4-39E3-F34B-9EA2-8300DA21DF57}"/>
              </a:ext>
            </a:extLst>
          </p:cNvPr>
          <p:cNvSpPr/>
          <p:nvPr/>
        </p:nvSpPr>
        <p:spPr>
          <a:xfrm>
            <a:off x="8267961" y="4250338"/>
            <a:ext cx="3164305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>
                <a:latin typeface="Aptos" panose="020B0004020202020204" pitchFamily="34" charset="0"/>
              </a:rPr>
              <a:t>Note</a:t>
            </a:r>
            <a:r>
              <a:rPr lang="en-GB" dirty="0">
                <a:latin typeface="Aptos" panose="020B0004020202020204" pitchFamily="34" charset="0"/>
              </a:rPr>
              <a:t>: Now ‘Done’ will be print  AFTER ‘Large latte’.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2D9358-749C-7F4E-A88B-58E7FF00D449}"/>
              </a:ext>
            </a:extLst>
          </p:cNvPr>
          <p:cNvCxnSpPr>
            <a:cxnSpLocks/>
          </p:cNvCxnSpPr>
          <p:nvPr/>
        </p:nvCxnSpPr>
        <p:spPr>
          <a:xfrm flipV="1">
            <a:off x="2825930" y="4573503"/>
            <a:ext cx="5253199" cy="521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5DE5B7-4833-1548-A5DC-5FE26EFF0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63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Asynchrony</a:t>
            </a:r>
            <a:endParaRPr lang="en-GB" b="1" dirty="0"/>
          </a:p>
          <a:p>
            <a:r>
              <a:rPr lang="en-GB" b="1" dirty="0"/>
              <a:t>Navigator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Navigate to a new screen and back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Named routes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Passing argument to a route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Returning an argument from a route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9E2B7-20F7-1C47-8496-8F860DC27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553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168110" cy="4858203"/>
          </a:xfrm>
        </p:spPr>
        <p:txBody>
          <a:bodyPr>
            <a:normAutofit/>
          </a:bodyPr>
          <a:lstStyle/>
          <a:p>
            <a:r>
              <a:rPr lang="en-IT" dirty="0"/>
              <a:t>In general, apps are made of multiple screens (called </a:t>
            </a:r>
            <a:r>
              <a:rPr lang="en-IT" b="1" dirty="0"/>
              <a:t>routes</a:t>
            </a:r>
            <a:r>
              <a:rPr lang="en-IT" dirty="0"/>
              <a:t>) </a:t>
            </a:r>
          </a:p>
          <a:p>
            <a:endParaRPr lang="en-IT" dirty="0"/>
          </a:p>
          <a:p>
            <a:r>
              <a:rPr lang="en-IT" dirty="0"/>
              <a:t>How to navigate through routes?</a:t>
            </a:r>
          </a:p>
          <a:p>
            <a:endParaRPr lang="en-IT" dirty="0"/>
          </a:p>
          <a:p>
            <a:r>
              <a:rPr lang="en-IT" dirty="0"/>
              <a:t>How to pass things to routes and get values back from them?</a:t>
            </a:r>
          </a:p>
          <a:p>
            <a:endParaRPr lang="en-IT" dirty="0">
              <a:latin typeface="Courier" pitchFamily="2" charset="0"/>
            </a:endParaRPr>
          </a:p>
          <a:p>
            <a:r>
              <a:rPr lang="en-IT" dirty="0">
                <a:latin typeface="Courier" pitchFamily="2" charset="0"/>
              </a:rPr>
              <a:t>Navigator</a:t>
            </a:r>
            <a:r>
              <a:rPr lang="en-IT" dirty="0"/>
              <a:t> is a special class that allows to manage all of this</a:t>
            </a:r>
          </a:p>
          <a:p>
            <a:endParaRPr lang="en-IT" dirty="0"/>
          </a:p>
          <a:p>
            <a:endParaRPr lang="en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B49552-EC7B-3445-8FB3-7A2FA4203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808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Asynchrony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Navigator</a:t>
            </a:r>
          </a:p>
          <a:p>
            <a:r>
              <a:rPr lang="en-GB" b="1" dirty="0"/>
              <a:t>Navigate to a new screen and back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Named routes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Passing argument to a named routes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Returning an argument from a named route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EBEA5-13FB-0E44-99BF-9F9DA57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643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rectangular object with purple text&#10;&#10;Description automatically generated">
            <a:extLst>
              <a:ext uri="{FF2B5EF4-FFF2-40B4-BE49-F238E27FC236}">
                <a16:creationId xmlns:a16="http://schemas.microsoft.com/office/drawing/2014/main" id="{F5D76B75-9BE7-53D6-1C9C-C1AB40A60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2802" y="1225548"/>
            <a:ext cx="2535675" cy="5495927"/>
          </a:xfrm>
          <a:prstGeom prst="rect">
            <a:avLst/>
          </a:prstGeom>
        </p:spPr>
      </p:pic>
      <p:pic>
        <p:nvPicPr>
          <p:cNvPr id="5" name="Picture 4" descr="A white rectangular object with purple text&#10;&#10;Description automatically generated">
            <a:extLst>
              <a:ext uri="{FF2B5EF4-FFF2-40B4-BE49-F238E27FC236}">
                <a16:creationId xmlns:a16="http://schemas.microsoft.com/office/drawing/2014/main" id="{2DBCE1F0-13B5-8BC1-5551-C435120EA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749" y="1225548"/>
            <a:ext cx="2535675" cy="54959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basics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4625091" cy="4858203"/>
          </a:xfrm>
        </p:spPr>
        <p:txBody>
          <a:bodyPr>
            <a:normAutofit fontScale="92500"/>
          </a:bodyPr>
          <a:lstStyle/>
          <a:p>
            <a:r>
              <a:rPr lang="en-IT" dirty="0"/>
              <a:t>First let’s see how to move between two routes</a:t>
            </a:r>
          </a:p>
          <a:p>
            <a:pPr marL="0" indent="0">
              <a:buNone/>
            </a:pPr>
            <a:endParaRPr lang="en-IT" dirty="0"/>
          </a:p>
          <a:p>
            <a:r>
              <a:rPr lang="en-IT" dirty="0"/>
              <a:t>We will start from creating a simple two-routes app where the first route will act as homepage and the second will represent the route that will ideally contain the info on the user profile.</a:t>
            </a:r>
          </a:p>
          <a:p>
            <a:endParaRPr lang="en-IT" dirty="0"/>
          </a:p>
          <a:p>
            <a:r>
              <a:rPr lang="en-IT" dirty="0"/>
              <a:t>When the user taps the button on the homepage it will be directed to the profile page and viceversa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79C211A-705D-6546-9E60-9C871D9F1097}"/>
              </a:ext>
            </a:extLst>
          </p:cNvPr>
          <p:cNvCxnSpPr>
            <a:cxnSpLocks/>
          </p:cNvCxnSpPr>
          <p:nvPr/>
        </p:nvCxnSpPr>
        <p:spPr>
          <a:xfrm flipV="1">
            <a:off x="6962987" y="1923627"/>
            <a:ext cx="3237653" cy="23638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1EAC90E-B4CA-D640-9D8F-EB2205814982}"/>
              </a:ext>
            </a:extLst>
          </p:cNvPr>
          <p:cNvCxnSpPr>
            <a:cxnSpLocks/>
          </p:cNvCxnSpPr>
          <p:nvPr/>
        </p:nvCxnSpPr>
        <p:spPr>
          <a:xfrm flipH="1" flipV="1">
            <a:off x="6522720" y="1923627"/>
            <a:ext cx="3237653" cy="23638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AD1BE7E-31FC-2F4F-B1AA-08AABBF3791F}"/>
              </a:ext>
            </a:extLst>
          </p:cNvPr>
          <p:cNvCxnSpPr>
            <a:cxnSpLocks/>
          </p:cNvCxnSpPr>
          <p:nvPr/>
        </p:nvCxnSpPr>
        <p:spPr>
          <a:xfrm flipH="1">
            <a:off x="7823201" y="1693333"/>
            <a:ext cx="10430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61D35E-C19B-1D4B-A56A-A9D111C26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98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422709" cy="5334907"/>
          </a:xfrm>
        </p:spPr>
        <p:txBody>
          <a:bodyPr>
            <a:normAutofit/>
          </a:bodyPr>
          <a:lstStyle/>
          <a:p>
            <a:r>
              <a:rPr lang="en-IT" dirty="0">
                <a:latin typeface="Courier" pitchFamily="2" charset="0"/>
              </a:rPr>
              <a:t>Navigator</a:t>
            </a:r>
            <a:r>
              <a:rPr lang="en-IT" dirty="0"/>
              <a:t> is in charge of managing the navigation through the app</a:t>
            </a:r>
          </a:p>
          <a:p>
            <a:r>
              <a:rPr lang="en-IT" dirty="0"/>
              <a:t>To do so, </a:t>
            </a:r>
            <a:r>
              <a:rPr lang="en-IT" dirty="0">
                <a:latin typeface="Courier" pitchFamily="2" charset="0"/>
              </a:rPr>
              <a:t>Navigator</a:t>
            </a:r>
            <a:r>
              <a:rPr lang="en-IT" dirty="0"/>
              <a:t> uses a </a:t>
            </a:r>
            <a:r>
              <a:rPr lang="en-IT" b="1" dirty="0"/>
              <a:t>stack-like</a:t>
            </a:r>
            <a:r>
              <a:rPr lang="en-IT" dirty="0"/>
              <a:t> </a:t>
            </a:r>
            <a:r>
              <a:rPr lang="en-IT" b="1" dirty="0"/>
              <a:t>structure</a:t>
            </a:r>
            <a:r>
              <a:rPr lang="en-IT" dirty="0"/>
              <a:t>. The user sees the “top” of the stack</a:t>
            </a:r>
          </a:p>
          <a:p>
            <a:r>
              <a:rPr lang="en-IT" dirty="0"/>
              <a:t>When you go to a new route, you are ”pushing” it into the stack</a:t>
            </a:r>
          </a:p>
          <a:p>
            <a:r>
              <a:rPr lang="en-IT" dirty="0"/>
              <a:t>When you go back, you are “popping” the route out of the </a:t>
            </a:r>
            <a:r>
              <a:rPr lang="en-IT" dirty="0">
                <a:latin typeface="Courier" pitchFamily="2" charset="0"/>
              </a:rPr>
              <a:t>Navigator</a:t>
            </a:r>
            <a:endParaRPr lang="en-IT" dirty="0"/>
          </a:p>
          <a:p>
            <a:endParaRPr lang="en-IT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629AB-4658-6443-A7C6-B52E011176C4}"/>
              </a:ext>
            </a:extLst>
          </p:cNvPr>
          <p:cNvSpPr/>
          <p:nvPr/>
        </p:nvSpPr>
        <p:spPr>
          <a:xfrm>
            <a:off x="618665" y="5974958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149A3C-371D-D64A-95B2-62167F560E6E}"/>
              </a:ext>
            </a:extLst>
          </p:cNvPr>
          <p:cNvSpPr/>
          <p:nvPr/>
        </p:nvSpPr>
        <p:spPr>
          <a:xfrm>
            <a:off x="5080810" y="5974957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ProfilePage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487763-12BB-9644-8999-8E469261AB4C}"/>
              </a:ext>
            </a:extLst>
          </p:cNvPr>
          <p:cNvSpPr/>
          <p:nvPr/>
        </p:nvSpPr>
        <p:spPr>
          <a:xfrm>
            <a:off x="657454" y="5228482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5D1BF9-F1AC-814F-AFB6-0C7F7B7F21BE}"/>
              </a:ext>
            </a:extLst>
          </p:cNvPr>
          <p:cNvCxnSpPr>
            <a:cxnSpLocks/>
            <a:stCxn id="10" idx="3"/>
            <a:endCxn id="17" idx="1"/>
          </p:cNvCxnSpPr>
          <p:nvPr/>
        </p:nvCxnSpPr>
        <p:spPr>
          <a:xfrm flipV="1">
            <a:off x="2378921" y="6201045"/>
            <a:ext cx="270188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D94AB5-6899-5946-9BC8-DEF717FC9EAE}"/>
              </a:ext>
            </a:extLst>
          </p:cNvPr>
          <p:cNvCxnSpPr>
            <a:cxnSpLocks/>
            <a:stCxn id="17" idx="3"/>
            <a:endCxn id="33" idx="1"/>
          </p:cNvCxnSpPr>
          <p:nvPr/>
        </p:nvCxnSpPr>
        <p:spPr>
          <a:xfrm>
            <a:off x="6841066" y="6201045"/>
            <a:ext cx="2583006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B478F22-7AA8-864E-AC3D-6651A9EC06BE}"/>
              </a:ext>
            </a:extLst>
          </p:cNvPr>
          <p:cNvSpPr/>
          <p:nvPr/>
        </p:nvSpPr>
        <p:spPr>
          <a:xfrm>
            <a:off x="9424072" y="5974959"/>
            <a:ext cx="1760257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3B4CA5B-B3A7-0E42-A757-90477F30B604}"/>
              </a:ext>
            </a:extLst>
          </p:cNvPr>
          <p:cNvSpPr/>
          <p:nvPr/>
        </p:nvSpPr>
        <p:spPr>
          <a:xfrm>
            <a:off x="5080810" y="5227893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6E08C6D-0EF6-DE4D-9D30-055B3C439283}"/>
              </a:ext>
            </a:extLst>
          </p:cNvPr>
          <p:cNvSpPr/>
          <p:nvPr/>
        </p:nvSpPr>
        <p:spPr>
          <a:xfrm>
            <a:off x="5080809" y="4662674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ProfilePage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FF25CDF-1795-494B-9739-DA61E3B43F68}"/>
              </a:ext>
            </a:extLst>
          </p:cNvPr>
          <p:cNvSpPr/>
          <p:nvPr/>
        </p:nvSpPr>
        <p:spPr>
          <a:xfrm>
            <a:off x="9424073" y="5227893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7160820-7F38-C445-A84B-5870E2F92D0B}"/>
              </a:ext>
            </a:extLst>
          </p:cNvPr>
          <p:cNvSpPr/>
          <p:nvPr/>
        </p:nvSpPr>
        <p:spPr>
          <a:xfrm>
            <a:off x="4877204" y="4234045"/>
            <a:ext cx="2167466" cy="15714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3DE415-DBEB-394F-86F8-34A804ED7C8F}"/>
              </a:ext>
            </a:extLst>
          </p:cNvPr>
          <p:cNvSpPr/>
          <p:nvPr/>
        </p:nvSpPr>
        <p:spPr>
          <a:xfrm>
            <a:off x="9220467" y="4234044"/>
            <a:ext cx="2167466" cy="15714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F84F0A7-ACC9-C544-AD04-CB2C1EC20201}"/>
              </a:ext>
            </a:extLst>
          </p:cNvPr>
          <p:cNvSpPr/>
          <p:nvPr/>
        </p:nvSpPr>
        <p:spPr>
          <a:xfrm>
            <a:off x="485222" y="4234044"/>
            <a:ext cx="2167466" cy="15714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08BAA83-7B84-7F4C-8D48-15A26E3A1E1F}"/>
              </a:ext>
            </a:extLst>
          </p:cNvPr>
          <p:cNvSpPr/>
          <p:nvPr/>
        </p:nvSpPr>
        <p:spPr>
          <a:xfrm>
            <a:off x="2774895" y="5805457"/>
            <a:ext cx="1932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Go to ProfilePage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C6B6B24-671D-284B-9059-61AA785CCA8E}"/>
              </a:ext>
            </a:extLst>
          </p:cNvPr>
          <p:cNvSpPr/>
          <p:nvPr/>
        </p:nvSpPr>
        <p:spPr>
          <a:xfrm>
            <a:off x="7169248" y="5805457"/>
            <a:ext cx="19053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Go to HomePage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82511-6934-BA46-B95A-F13217D7B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35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basics - Preparation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 dirty="0"/>
              <a:t>Create a new project called ‘there_and_back_again’</a:t>
            </a:r>
          </a:p>
          <a:p>
            <a:r>
              <a:rPr lang="en-IT" dirty="0"/>
              <a:t>Create the </a:t>
            </a:r>
            <a:r>
              <a:rPr lang="en-IT" dirty="0">
                <a:latin typeface="Courier" pitchFamily="2" charset="0"/>
              </a:rPr>
              <a:t>lib/screens/ </a:t>
            </a:r>
            <a:r>
              <a:rPr lang="en-IT" dirty="0"/>
              <a:t>folder </a:t>
            </a:r>
          </a:p>
          <a:p>
            <a:r>
              <a:rPr lang="en-IT" dirty="0"/>
              <a:t>Create two files in the </a:t>
            </a:r>
            <a:r>
              <a:rPr lang="en-IT" dirty="0">
                <a:latin typeface="Courier" pitchFamily="2" charset="0"/>
              </a:rPr>
              <a:t>lib/screens/ </a:t>
            </a:r>
            <a:r>
              <a:rPr lang="en-IT" dirty="0"/>
              <a:t>folder just created and rename them as ’homePage.dart’ and ‘profilePage.dart’</a:t>
            </a:r>
          </a:p>
          <a:p>
            <a:r>
              <a:rPr lang="en-IT" dirty="0"/>
              <a:t>The project </a:t>
            </a:r>
            <a:r>
              <a:rPr lang="en-IT" dirty="0">
                <a:latin typeface="Courier" pitchFamily="2" charset="0"/>
              </a:rPr>
              <a:t>lib</a:t>
            </a:r>
            <a:r>
              <a:rPr lang="en-IT" dirty="0"/>
              <a:t> folder should look like this: </a:t>
            </a:r>
          </a:p>
        </p:txBody>
      </p:sp>
      <p:pic>
        <p:nvPicPr>
          <p:cNvPr id="27" name="Picture 26" descr="A picture containing text, device, display, meter&#10;&#10;Description automatically generated">
            <a:extLst>
              <a:ext uri="{FF2B5EF4-FFF2-40B4-BE49-F238E27FC236}">
                <a16:creationId xmlns:a16="http://schemas.microsoft.com/office/drawing/2014/main" id="{A7206A60-ED30-9841-8758-9786F10F5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954" y="4014917"/>
            <a:ext cx="5038750" cy="220445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FC22BB-2C97-F449-A673-81511DFCD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25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basics – homePage.dart boilerplate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146281" cy="5053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import '</a:t>
            </a:r>
            <a:r>
              <a:rPr lang="en-GB" sz="1600" dirty="0" err="1">
                <a:latin typeface="Courier" pitchFamily="2" charset="0"/>
              </a:rPr>
              <a:t>package:flutter</a:t>
            </a:r>
            <a:r>
              <a:rPr lang="en-GB" sz="1600" dirty="0">
                <a:latin typeface="Courier" pitchFamily="2" charset="0"/>
              </a:rPr>
              <a:t>/</a:t>
            </a:r>
            <a:r>
              <a:rPr lang="en-GB" sz="1600" dirty="0" err="1">
                <a:latin typeface="Courier" pitchFamily="2" charset="0"/>
              </a:rPr>
              <a:t>material.dart</a:t>
            </a:r>
            <a:r>
              <a:rPr lang="en-GB" sz="1600" dirty="0">
                <a:latin typeface="Courier" pitchFamily="2" charset="0"/>
              </a:rPr>
              <a:t>';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class </a:t>
            </a:r>
            <a:r>
              <a:rPr lang="en-GB" sz="1600" dirty="0" err="1">
                <a:latin typeface="Courier" pitchFamily="2" charset="0"/>
              </a:rPr>
              <a:t>HomePage</a:t>
            </a:r>
            <a:r>
              <a:rPr lang="en-GB" sz="1600" dirty="0">
                <a:latin typeface="Courier" pitchFamily="2" charset="0"/>
              </a:rPr>
              <a:t> extends </a:t>
            </a:r>
            <a:r>
              <a:rPr lang="en-GB" sz="1600" dirty="0" err="1">
                <a:latin typeface="Courier" pitchFamily="2" charset="0"/>
              </a:rPr>
              <a:t>StatelessWidget</a:t>
            </a:r>
            <a:r>
              <a:rPr lang="en-GB" sz="1600" dirty="0"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const</a:t>
            </a:r>
            <a:r>
              <a:rPr lang="en-GB" sz="1600" dirty="0">
                <a:latin typeface="Courier" pitchFamily="2" charset="0"/>
              </a:rPr>
              <a:t> </a:t>
            </a:r>
            <a:r>
              <a:rPr lang="en-GB" sz="1600" dirty="0" err="1">
                <a:latin typeface="Courier" pitchFamily="2" charset="0"/>
              </a:rPr>
              <a:t>HomePage</a:t>
            </a:r>
            <a:r>
              <a:rPr lang="en-GB" sz="1600" dirty="0">
                <a:latin typeface="Courier" pitchFamily="2" charset="0"/>
              </a:rPr>
              <a:t>({Key? key}) : super(key: key);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static </a:t>
            </a:r>
            <a:r>
              <a:rPr lang="en-GB" sz="1600" dirty="0" err="1">
                <a:latin typeface="Courier" pitchFamily="2" charset="0"/>
              </a:rPr>
              <a:t>const</a:t>
            </a:r>
            <a:r>
              <a:rPr lang="en-GB" sz="1600" dirty="0">
                <a:latin typeface="Courier" pitchFamily="2" charset="0"/>
              </a:rPr>
              <a:t> </a:t>
            </a:r>
            <a:r>
              <a:rPr lang="en-GB" sz="1600" dirty="0" err="1">
                <a:latin typeface="Courier" pitchFamily="2" charset="0"/>
              </a:rPr>
              <a:t>routename</a:t>
            </a:r>
            <a:r>
              <a:rPr lang="en-GB" sz="1600" dirty="0">
                <a:latin typeface="Courier" pitchFamily="2" charset="0"/>
              </a:rPr>
              <a:t> = 'Homepage';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@override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Widget build(</a:t>
            </a:r>
            <a:r>
              <a:rPr lang="en-GB" sz="1600" dirty="0" err="1">
                <a:latin typeface="Courier" pitchFamily="2" charset="0"/>
              </a:rPr>
              <a:t>BuildContext</a:t>
            </a:r>
            <a:r>
              <a:rPr lang="en-GB" sz="1600" dirty="0">
                <a:latin typeface="Courier" pitchFamily="2" charset="0"/>
              </a:rPr>
              <a:t> context) {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return Scaffold(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</a:t>
            </a:r>
            <a:r>
              <a:rPr lang="en-GB" sz="1600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: </a:t>
            </a:r>
            <a:r>
              <a:rPr lang="en-GB" sz="1600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  title: Text(</a:t>
            </a:r>
            <a:r>
              <a:rPr lang="en-GB" sz="1600" dirty="0" err="1">
                <a:latin typeface="Courier" pitchFamily="2" charset="0"/>
              </a:rPr>
              <a:t>HomePage.routename</a:t>
            </a:r>
            <a:r>
              <a:rPr lang="en-GB" sz="1600" dirty="0">
                <a:latin typeface="Courier" pitchFamily="2" charset="0"/>
              </a:rPr>
              <a:t>),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),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...</a:t>
            </a:r>
            <a:endParaRPr lang="en-IT" sz="1600" dirty="0">
              <a:latin typeface="Courier" pitchFamily="2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CD0E24D-F407-C340-8481-9E200196E293}"/>
              </a:ext>
            </a:extLst>
          </p:cNvPr>
          <p:cNvSpPr txBox="1">
            <a:spLocks/>
          </p:cNvSpPr>
          <p:nvPr/>
        </p:nvSpPr>
        <p:spPr>
          <a:xfrm>
            <a:off x="6317585" y="1892873"/>
            <a:ext cx="5146281" cy="5053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body: </a:t>
            </a:r>
            <a:r>
              <a:rPr lang="en-GB" sz="1600" dirty="0" err="1">
                <a:latin typeface="Courier" pitchFamily="2" charset="0"/>
              </a:rPr>
              <a:t>Center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  child: </a:t>
            </a:r>
            <a:r>
              <a:rPr lang="en-GB" sz="1600" dirty="0" err="1">
                <a:latin typeface="Courier" pitchFamily="2" charset="0"/>
              </a:rPr>
              <a:t>ElevatedButton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    child: Text('To the profile'),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    </a:t>
            </a:r>
            <a:r>
              <a:rPr lang="en-GB" sz="1600" dirty="0" err="1">
                <a:latin typeface="Courier" pitchFamily="2" charset="0"/>
              </a:rPr>
              <a:t>onPressed</a:t>
            </a:r>
            <a:r>
              <a:rPr lang="en-GB" sz="1600" dirty="0">
                <a:latin typeface="Courier" pitchFamily="2" charset="0"/>
              </a:rPr>
              <a:t>: ()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b="1" dirty="0">
                <a:highlight>
                  <a:srgbClr val="FFFF00"/>
                </a:highlight>
                <a:latin typeface="Courier" pitchFamily="2" charset="0"/>
              </a:rPr>
              <a:t>//TODO: implement the navigation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   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  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} //build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} //</a:t>
            </a:r>
            <a:r>
              <a:rPr lang="en-GB" sz="1600" dirty="0" err="1">
                <a:latin typeface="Courier" pitchFamily="2" charset="0"/>
              </a:rPr>
              <a:t>HomePage</a:t>
            </a:r>
            <a:endParaRPr lang="en-IT" sz="1600" dirty="0"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B2C557-26F1-654F-B142-2DD059D7B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630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basics – profilePage.dart boilerplate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498495" cy="5053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import '</a:t>
            </a:r>
            <a:r>
              <a:rPr lang="en-GB" sz="1600" dirty="0" err="1">
                <a:latin typeface="Courier" pitchFamily="2" charset="0"/>
              </a:rPr>
              <a:t>package:flutter</a:t>
            </a:r>
            <a:r>
              <a:rPr lang="en-GB" sz="1600" dirty="0">
                <a:latin typeface="Courier" pitchFamily="2" charset="0"/>
              </a:rPr>
              <a:t>/</a:t>
            </a:r>
            <a:r>
              <a:rPr lang="en-GB" sz="1600" dirty="0" err="1">
                <a:latin typeface="Courier" pitchFamily="2" charset="0"/>
              </a:rPr>
              <a:t>material.dart</a:t>
            </a:r>
            <a:r>
              <a:rPr lang="en-GB" sz="1600" dirty="0">
                <a:latin typeface="Courier" pitchFamily="2" charset="0"/>
              </a:rPr>
              <a:t>';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class </a:t>
            </a:r>
            <a:r>
              <a:rPr lang="en-GB" sz="1600" dirty="0" err="1">
                <a:latin typeface="Courier" pitchFamily="2" charset="0"/>
              </a:rPr>
              <a:t>ProfilePage</a:t>
            </a:r>
            <a:r>
              <a:rPr lang="en-GB" sz="1600" dirty="0">
                <a:latin typeface="Courier" pitchFamily="2" charset="0"/>
              </a:rPr>
              <a:t> extends </a:t>
            </a:r>
            <a:r>
              <a:rPr lang="en-GB" sz="1600" dirty="0" err="1">
                <a:latin typeface="Courier" pitchFamily="2" charset="0"/>
              </a:rPr>
              <a:t>StatelessWidget</a:t>
            </a:r>
            <a:r>
              <a:rPr lang="en-GB" sz="1600" dirty="0"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const</a:t>
            </a:r>
            <a:r>
              <a:rPr lang="en-GB" sz="1600" dirty="0">
                <a:latin typeface="Courier" pitchFamily="2" charset="0"/>
              </a:rPr>
              <a:t> </a:t>
            </a:r>
            <a:r>
              <a:rPr lang="en-GB" sz="1600" dirty="0" err="1">
                <a:latin typeface="Courier" pitchFamily="2" charset="0"/>
              </a:rPr>
              <a:t>ProfilePage</a:t>
            </a:r>
            <a:r>
              <a:rPr lang="en-GB" sz="1600" dirty="0">
                <a:latin typeface="Courier" pitchFamily="2" charset="0"/>
              </a:rPr>
              <a:t>({Key? key}) : super(key: key);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static </a:t>
            </a:r>
            <a:r>
              <a:rPr lang="en-GB" sz="1600" dirty="0" err="1">
                <a:latin typeface="Courier" pitchFamily="2" charset="0"/>
              </a:rPr>
              <a:t>const</a:t>
            </a:r>
            <a:r>
              <a:rPr lang="en-GB" sz="1600" dirty="0">
                <a:latin typeface="Courier" pitchFamily="2" charset="0"/>
              </a:rPr>
              <a:t> </a:t>
            </a:r>
            <a:r>
              <a:rPr lang="en-GB" sz="1600" dirty="0" err="1">
                <a:latin typeface="Courier" pitchFamily="2" charset="0"/>
              </a:rPr>
              <a:t>routename</a:t>
            </a:r>
            <a:r>
              <a:rPr lang="en-GB" sz="1600" dirty="0">
                <a:latin typeface="Courier" pitchFamily="2" charset="0"/>
              </a:rPr>
              <a:t> = '</a:t>
            </a:r>
            <a:r>
              <a:rPr lang="en-GB" sz="1600" dirty="0" err="1">
                <a:latin typeface="Courier" pitchFamily="2" charset="0"/>
              </a:rPr>
              <a:t>ProfilePage</a:t>
            </a:r>
            <a:r>
              <a:rPr lang="en-GB" sz="1600" dirty="0">
                <a:latin typeface="Courier" pitchFamily="2" charset="0"/>
              </a:rPr>
              <a:t>';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@override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Widget build(</a:t>
            </a:r>
            <a:r>
              <a:rPr lang="en-GB" sz="1600" dirty="0" err="1">
                <a:latin typeface="Courier" pitchFamily="2" charset="0"/>
              </a:rPr>
              <a:t>BuildContext</a:t>
            </a:r>
            <a:r>
              <a:rPr lang="en-GB" sz="1600" dirty="0">
                <a:latin typeface="Courier" pitchFamily="2" charset="0"/>
              </a:rPr>
              <a:t> context) {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return Scaffold(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</a:t>
            </a:r>
            <a:r>
              <a:rPr lang="en-GB" sz="1600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: </a:t>
            </a:r>
            <a:r>
              <a:rPr lang="en-GB" sz="1600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  title: Text(</a:t>
            </a:r>
            <a:r>
              <a:rPr lang="en-GB" sz="1600" dirty="0" err="1">
                <a:latin typeface="Courier" pitchFamily="2" charset="0"/>
              </a:rPr>
              <a:t>HomePage.routename</a:t>
            </a:r>
            <a:r>
              <a:rPr lang="en-GB" sz="1600" dirty="0">
                <a:latin typeface="Courier" pitchFamily="2" charset="0"/>
              </a:rPr>
              <a:t>),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),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...</a:t>
            </a:r>
            <a:endParaRPr lang="en-IT" sz="1600" dirty="0">
              <a:latin typeface="Courier" pitchFamily="2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CD0E24D-F407-C340-8481-9E200196E293}"/>
              </a:ext>
            </a:extLst>
          </p:cNvPr>
          <p:cNvSpPr txBox="1">
            <a:spLocks/>
          </p:cNvSpPr>
          <p:nvPr/>
        </p:nvSpPr>
        <p:spPr>
          <a:xfrm>
            <a:off x="6317585" y="1892873"/>
            <a:ext cx="5146281" cy="5053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body: </a:t>
            </a:r>
            <a:r>
              <a:rPr lang="en-GB" sz="1600" dirty="0" err="1">
                <a:latin typeface="Courier" pitchFamily="2" charset="0"/>
              </a:rPr>
              <a:t>Center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  child: </a:t>
            </a:r>
            <a:r>
              <a:rPr lang="en-GB" sz="1600" dirty="0" err="1">
                <a:latin typeface="Courier" pitchFamily="2" charset="0"/>
              </a:rPr>
              <a:t>ElevatedButton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    child: Text('To the home'),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    </a:t>
            </a:r>
            <a:r>
              <a:rPr lang="en-GB" sz="1600" dirty="0" err="1">
                <a:latin typeface="Courier" pitchFamily="2" charset="0"/>
              </a:rPr>
              <a:t>onPressed</a:t>
            </a:r>
            <a:r>
              <a:rPr lang="en-GB" sz="1600" dirty="0">
                <a:latin typeface="Courier" pitchFamily="2" charset="0"/>
              </a:rPr>
              <a:t>: ()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b="1" dirty="0">
                <a:highlight>
                  <a:srgbClr val="FFFF00"/>
                </a:highlight>
                <a:latin typeface="Courier" pitchFamily="2" charset="0"/>
              </a:rPr>
              <a:t>//TODO: implement the navigation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   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  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} //build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} //</a:t>
            </a:r>
            <a:r>
              <a:rPr lang="en-GB" sz="1600" dirty="0" err="1">
                <a:latin typeface="Courier" pitchFamily="2" charset="0"/>
              </a:rPr>
              <a:t>ProfilePage</a:t>
            </a:r>
            <a:endParaRPr lang="en-IT" sz="1600" dirty="0"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64796E-1C23-914E-8970-BF747B147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695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basics – main.dart boilerplate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6643188" cy="51751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import '</a:t>
            </a:r>
            <a:r>
              <a:rPr lang="en-GB" sz="1600" dirty="0" err="1">
                <a:latin typeface="Courier" pitchFamily="2" charset="0"/>
              </a:rPr>
              <a:t>package:flutter</a:t>
            </a:r>
            <a:r>
              <a:rPr lang="en-GB" sz="1600" dirty="0">
                <a:latin typeface="Courier" pitchFamily="2" charset="0"/>
              </a:rPr>
              <a:t>/</a:t>
            </a:r>
            <a:r>
              <a:rPr lang="en-GB" sz="1600" dirty="0" err="1">
                <a:latin typeface="Courier" pitchFamily="2" charset="0"/>
              </a:rPr>
              <a:t>material.dart</a:t>
            </a:r>
            <a:r>
              <a:rPr lang="en-GB" sz="1600" dirty="0">
                <a:latin typeface="Courier" pitchFamily="2" charset="0"/>
              </a:rPr>
              <a:t>';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import '</a:t>
            </a:r>
            <a:r>
              <a:rPr lang="en-GB" sz="1600" dirty="0" err="1">
                <a:latin typeface="Courier" pitchFamily="2" charset="0"/>
              </a:rPr>
              <a:t>package:there_and_back_again</a:t>
            </a:r>
            <a:r>
              <a:rPr lang="en-GB" sz="1600" dirty="0">
                <a:latin typeface="Courier" pitchFamily="2" charset="0"/>
              </a:rPr>
              <a:t>/screens/</a:t>
            </a:r>
            <a:r>
              <a:rPr lang="en-GB" sz="1600" dirty="0" err="1">
                <a:latin typeface="Courier" pitchFamily="2" charset="0"/>
              </a:rPr>
              <a:t>homepage.dart</a:t>
            </a:r>
            <a:r>
              <a:rPr lang="en-GB" sz="1600" dirty="0">
                <a:latin typeface="Courier" pitchFamily="2" charset="0"/>
              </a:rPr>
              <a:t>';</a:t>
            </a:r>
          </a:p>
          <a:p>
            <a:pPr marL="0" indent="0">
              <a:buNone/>
            </a:pPr>
            <a:endParaRPr lang="en-GB" sz="16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void main() {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runApp</a:t>
            </a:r>
            <a:r>
              <a:rPr lang="en-GB" sz="1600" dirty="0">
                <a:latin typeface="Courier" pitchFamily="2" charset="0"/>
              </a:rPr>
              <a:t>(</a:t>
            </a:r>
            <a:r>
              <a:rPr lang="en-GB" sz="1600" dirty="0" err="1">
                <a:latin typeface="Courier" pitchFamily="2" charset="0"/>
              </a:rPr>
              <a:t>const</a:t>
            </a:r>
            <a:r>
              <a:rPr lang="en-GB" sz="1600" dirty="0">
                <a:latin typeface="Courier" pitchFamily="2" charset="0"/>
              </a:rPr>
              <a:t> 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());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} //main</a:t>
            </a:r>
          </a:p>
          <a:p>
            <a:pPr marL="0" indent="0">
              <a:buNone/>
            </a:pPr>
            <a:endParaRPr lang="en-GB" sz="16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class 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 extends </a:t>
            </a:r>
            <a:r>
              <a:rPr lang="en-GB" sz="1600" dirty="0" err="1">
                <a:latin typeface="Courier" pitchFamily="2" charset="0"/>
              </a:rPr>
              <a:t>StatelessWidget</a:t>
            </a:r>
            <a:r>
              <a:rPr lang="en-GB" sz="1600" dirty="0"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const</a:t>
            </a:r>
            <a:r>
              <a:rPr lang="en-GB" sz="1600" dirty="0">
                <a:latin typeface="Courier" pitchFamily="2" charset="0"/>
              </a:rPr>
              <a:t> 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({Key? key}) : super(key: key);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@override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Widget build(</a:t>
            </a:r>
            <a:r>
              <a:rPr lang="en-GB" sz="1600" dirty="0" err="1">
                <a:latin typeface="Courier" pitchFamily="2" charset="0"/>
              </a:rPr>
              <a:t>BuildContext</a:t>
            </a:r>
            <a:r>
              <a:rPr lang="en-GB" sz="1600" dirty="0">
                <a:latin typeface="Courier" pitchFamily="2" charset="0"/>
              </a:rPr>
              <a:t> context) {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return </a:t>
            </a:r>
            <a:r>
              <a:rPr lang="en-GB" sz="1600" dirty="0" err="1">
                <a:latin typeface="Courier" pitchFamily="2" charset="0"/>
              </a:rPr>
              <a:t>MaterialApp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home: </a:t>
            </a:r>
            <a:r>
              <a:rPr lang="en-GB" sz="1600" b="1" dirty="0" err="1">
                <a:highlight>
                  <a:srgbClr val="FFFF00"/>
                </a:highlight>
                <a:latin typeface="Courier" pitchFamily="2" charset="0"/>
              </a:rPr>
              <a:t>HomePage</a:t>
            </a:r>
            <a:r>
              <a:rPr lang="en-GB" sz="1600" b="1" dirty="0">
                <a:highlight>
                  <a:srgbClr val="FFFF00"/>
                </a:highlight>
                <a:latin typeface="Courier" pitchFamily="2" charset="0"/>
              </a:rPr>
              <a:t>()</a:t>
            </a:r>
            <a:r>
              <a:rPr lang="en-GB" sz="1600" b="1" dirty="0">
                <a:latin typeface="Courier" pitchFamily="2" charset="0"/>
              </a:rPr>
              <a:t>,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);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} //build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}//</a:t>
            </a:r>
            <a:r>
              <a:rPr lang="en-GB" sz="1600" dirty="0" err="1">
                <a:latin typeface="Courier" pitchFamily="2" charset="0"/>
              </a:rPr>
              <a:t>MyApp</a:t>
            </a:r>
            <a:endParaRPr lang="en-GB" sz="1600" dirty="0"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AE08FD-DFA2-404D-B75D-D2BD33598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295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basics – push and pop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CD0E24D-F407-C340-8481-9E200196E293}"/>
              </a:ext>
            </a:extLst>
          </p:cNvPr>
          <p:cNvSpPr txBox="1">
            <a:spLocks/>
          </p:cNvSpPr>
          <p:nvPr/>
        </p:nvSpPr>
        <p:spPr>
          <a:xfrm>
            <a:off x="428171" y="4913260"/>
            <a:ext cx="11110202" cy="2414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 err="1">
                <a:latin typeface="Courier" pitchFamily="2" charset="0"/>
              </a:rPr>
              <a:t>onPressed</a:t>
            </a:r>
            <a:r>
              <a:rPr lang="en-GB" sz="1600" dirty="0">
                <a:latin typeface="Courier" pitchFamily="2" charset="0"/>
              </a:rPr>
              <a:t>: () {</a:t>
            </a:r>
          </a:p>
          <a:p>
            <a:pPr marL="0" indent="0">
              <a:buNone/>
            </a:pPr>
            <a:r>
              <a:rPr lang="en-GB" sz="1600" b="1" dirty="0">
                <a:latin typeface="Courier" pitchFamily="2" charset="0"/>
              </a:rPr>
              <a:t>  </a:t>
            </a:r>
            <a:r>
              <a:rPr lang="en-GB" sz="1600" b="1" dirty="0" err="1">
                <a:latin typeface="Courier" pitchFamily="2" charset="0"/>
              </a:rPr>
              <a:t>Navigator.pop</a:t>
            </a:r>
            <a:r>
              <a:rPr lang="en-GB" sz="1600" b="1" dirty="0">
                <a:latin typeface="Courier" pitchFamily="2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E04DA-B0B0-E54E-9960-4AE739BD5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8"/>
            <a:ext cx="11282921" cy="603099"/>
          </a:xfrm>
        </p:spPr>
        <p:txBody>
          <a:bodyPr/>
          <a:lstStyle/>
          <a:p>
            <a:r>
              <a:rPr lang="en-IT" dirty="0"/>
              <a:t>To go to the ProfilePage route, simply invoke </a:t>
            </a:r>
            <a:r>
              <a:rPr lang="en-IT" dirty="0">
                <a:latin typeface="Courier" pitchFamily="2" charset="0"/>
              </a:rPr>
              <a:t>Navigator.push()</a:t>
            </a:r>
            <a:r>
              <a:rPr lang="en-IT" dirty="0"/>
              <a:t>: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B4DC18-BE30-9646-A902-864A61958DC6}"/>
              </a:ext>
            </a:extLst>
          </p:cNvPr>
          <p:cNvCxnSpPr>
            <a:cxnSpLocks/>
          </p:cNvCxnSpPr>
          <p:nvPr/>
        </p:nvCxnSpPr>
        <p:spPr>
          <a:xfrm flipV="1">
            <a:off x="3025509" y="2887133"/>
            <a:ext cx="0" cy="425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AD298FF-DC85-3043-AB63-78839672E083}"/>
              </a:ext>
            </a:extLst>
          </p:cNvPr>
          <p:cNvSpPr/>
          <p:nvPr/>
        </p:nvSpPr>
        <p:spPr>
          <a:xfrm>
            <a:off x="2011096" y="3400661"/>
            <a:ext cx="27029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Current</a:t>
            </a:r>
            <a:r>
              <a:rPr lang="en-IT" dirty="0">
                <a:latin typeface="Palatino Linotype" panose="02040502050505030304" pitchFamily="18" charset="0"/>
              </a:rPr>
              <a:t> </a:t>
            </a:r>
            <a:r>
              <a:rPr lang="en-IT" dirty="0">
                <a:latin typeface="Courier" pitchFamily="2" charset="0"/>
              </a:rPr>
              <a:t>BuildContext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B7ED5E-E7DD-9242-A8EC-8BE6E22E2432}"/>
              </a:ext>
            </a:extLst>
          </p:cNvPr>
          <p:cNvSpPr/>
          <p:nvPr/>
        </p:nvSpPr>
        <p:spPr>
          <a:xfrm>
            <a:off x="5043940" y="3405926"/>
            <a:ext cx="62616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The new </a:t>
            </a:r>
            <a:r>
              <a:rPr lang="en-IT" dirty="0">
                <a:latin typeface="Courier" pitchFamily="2" charset="0"/>
              </a:rPr>
              <a:t>MaterialPageRoute</a:t>
            </a:r>
            <a:r>
              <a:rPr lang="en-IT" dirty="0">
                <a:latin typeface="Palatino Linotype" panose="02040502050505030304" pitchFamily="18" charset="0"/>
              </a:rPr>
              <a:t> </a:t>
            </a:r>
            <a:r>
              <a:rPr lang="en-IT" dirty="0">
                <a:latin typeface="Aptos" panose="020B0004020202020204" pitchFamily="34" charset="0"/>
              </a:rPr>
              <a:t>to be pushed into the stack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61CE1D-26BC-2C4A-B277-1577DF879065}"/>
              </a:ext>
            </a:extLst>
          </p:cNvPr>
          <p:cNvCxnSpPr>
            <a:cxnSpLocks/>
          </p:cNvCxnSpPr>
          <p:nvPr/>
        </p:nvCxnSpPr>
        <p:spPr>
          <a:xfrm flipV="1">
            <a:off x="7458656" y="2887133"/>
            <a:ext cx="0" cy="425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49DA7251-B1A7-1940-8B79-1AA4A69B43DA}"/>
              </a:ext>
            </a:extLst>
          </p:cNvPr>
          <p:cNvSpPr txBox="1">
            <a:spLocks/>
          </p:cNvSpPr>
          <p:nvPr/>
        </p:nvSpPr>
        <p:spPr>
          <a:xfrm>
            <a:off x="428171" y="4321834"/>
            <a:ext cx="11282921" cy="60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To pop the ProfilePage route, simply invoke </a:t>
            </a:r>
            <a:r>
              <a:rPr lang="en-IT" dirty="0">
                <a:latin typeface="Courier" pitchFamily="2" charset="0"/>
              </a:rPr>
              <a:t>Navigator.pop()</a:t>
            </a:r>
            <a:r>
              <a:rPr lang="en-IT" dirty="0"/>
              <a:t>: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DF5792CB-C0EA-8D4F-A147-F612F2DC4997}"/>
              </a:ext>
            </a:extLst>
          </p:cNvPr>
          <p:cNvSpPr txBox="1">
            <a:spLocks/>
          </p:cNvSpPr>
          <p:nvPr/>
        </p:nvSpPr>
        <p:spPr>
          <a:xfrm>
            <a:off x="580572" y="1971401"/>
            <a:ext cx="11110202" cy="16598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 err="1">
                <a:latin typeface="Courier" pitchFamily="2" charset="0"/>
              </a:rPr>
              <a:t>onPressed</a:t>
            </a:r>
            <a:r>
              <a:rPr lang="en-GB" sz="1600" dirty="0">
                <a:latin typeface="Courier" pitchFamily="2" charset="0"/>
              </a:rPr>
              <a:t>: () {</a:t>
            </a:r>
          </a:p>
          <a:p>
            <a:pPr marL="0" indent="0">
              <a:buNone/>
            </a:pPr>
            <a:r>
              <a:rPr lang="en-GB" sz="1600" b="1" dirty="0">
                <a:latin typeface="Courier" pitchFamily="2" charset="0"/>
              </a:rPr>
              <a:t>  </a:t>
            </a:r>
            <a:r>
              <a:rPr lang="en-GB" sz="1600" b="1" dirty="0" err="1">
                <a:latin typeface="Courier" pitchFamily="2" charset="0"/>
              </a:rPr>
              <a:t>Navigator.push</a:t>
            </a:r>
            <a:r>
              <a:rPr lang="en-GB" sz="1600" b="1" dirty="0">
                <a:latin typeface="Courier" pitchFamily="2" charset="0"/>
              </a:rPr>
              <a:t>(context, </a:t>
            </a:r>
            <a:r>
              <a:rPr lang="en-GB" sz="1600" b="1" dirty="0" err="1">
                <a:latin typeface="Courier" pitchFamily="2" charset="0"/>
              </a:rPr>
              <a:t>MaterialPageRoute</a:t>
            </a:r>
            <a:r>
              <a:rPr lang="en-GB" sz="1600" b="1" dirty="0">
                <a:latin typeface="Courier" pitchFamily="2" charset="0"/>
              </a:rPr>
              <a:t>(builder: (context) =&gt; </a:t>
            </a:r>
            <a:r>
              <a:rPr lang="en-GB" sz="1600" b="1" dirty="0" err="1">
                <a:latin typeface="Courier" pitchFamily="2" charset="0"/>
              </a:rPr>
              <a:t>ProfilePage</a:t>
            </a:r>
            <a:r>
              <a:rPr lang="en-GB" sz="1600" b="1" dirty="0">
                <a:latin typeface="Courier" pitchFamily="2" charset="0"/>
              </a:rPr>
              <a:t>()));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DA721F-E70E-C347-B7D0-47517B086BCB}"/>
              </a:ext>
            </a:extLst>
          </p:cNvPr>
          <p:cNvSpPr/>
          <p:nvPr/>
        </p:nvSpPr>
        <p:spPr>
          <a:xfrm>
            <a:off x="3461537" y="6074423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A019A9-43A3-1345-9C06-C3F54EBAAE24}"/>
              </a:ext>
            </a:extLst>
          </p:cNvPr>
          <p:cNvSpPr/>
          <p:nvPr/>
        </p:nvSpPr>
        <p:spPr>
          <a:xfrm>
            <a:off x="6755178" y="6073833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779BE5-60BD-2F4A-A7DE-AD5B5C9FF50C}"/>
              </a:ext>
            </a:extLst>
          </p:cNvPr>
          <p:cNvSpPr/>
          <p:nvPr/>
        </p:nvSpPr>
        <p:spPr>
          <a:xfrm>
            <a:off x="6755177" y="5508614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ProfilePage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4BC24B-6456-D941-B446-503392B74B2C}"/>
              </a:ext>
            </a:extLst>
          </p:cNvPr>
          <p:cNvSpPr/>
          <p:nvPr/>
        </p:nvSpPr>
        <p:spPr>
          <a:xfrm>
            <a:off x="10035036" y="6073834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104D43-8051-9941-A269-9AA95646B7B3}"/>
              </a:ext>
            </a:extLst>
          </p:cNvPr>
          <p:cNvSpPr/>
          <p:nvPr/>
        </p:nvSpPr>
        <p:spPr>
          <a:xfrm>
            <a:off x="6551572" y="5079985"/>
            <a:ext cx="2167466" cy="15714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F3DC5D-8D9D-E743-B174-29CE6C7435E8}"/>
              </a:ext>
            </a:extLst>
          </p:cNvPr>
          <p:cNvSpPr/>
          <p:nvPr/>
        </p:nvSpPr>
        <p:spPr>
          <a:xfrm>
            <a:off x="9831430" y="5079985"/>
            <a:ext cx="2167466" cy="15714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596E71-32B5-F944-993F-2EA73EF12563}"/>
              </a:ext>
            </a:extLst>
          </p:cNvPr>
          <p:cNvSpPr/>
          <p:nvPr/>
        </p:nvSpPr>
        <p:spPr>
          <a:xfrm>
            <a:off x="3289305" y="5079985"/>
            <a:ext cx="2167466" cy="15714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03ECF7-5D7A-BC46-9F13-44B474691122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8719038" y="5865692"/>
            <a:ext cx="1112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0A49F6-8049-214A-B49A-77D773384C0E}"/>
              </a:ext>
            </a:extLst>
          </p:cNvPr>
          <p:cNvCxnSpPr>
            <a:cxnSpLocks/>
            <a:stCxn id="22" idx="3"/>
            <a:endCxn id="20" idx="1"/>
          </p:cNvCxnSpPr>
          <p:nvPr/>
        </p:nvCxnSpPr>
        <p:spPr>
          <a:xfrm>
            <a:off x="5456771" y="5865692"/>
            <a:ext cx="1094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B094480-44F9-3A40-9BA9-5893E2FFA73A}"/>
              </a:ext>
            </a:extLst>
          </p:cNvPr>
          <p:cNvSpPr/>
          <p:nvPr/>
        </p:nvSpPr>
        <p:spPr>
          <a:xfrm>
            <a:off x="8745694" y="5950312"/>
            <a:ext cx="105907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100" dirty="0">
                <a:latin typeface="Courier" pitchFamily="2" charset="0"/>
              </a:rPr>
              <a:t>Navigator.pop()</a:t>
            </a:r>
            <a:endParaRPr lang="en-IT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03780B-8568-6A4C-B596-6F662F9B4AB5}"/>
              </a:ext>
            </a:extLst>
          </p:cNvPr>
          <p:cNvSpPr/>
          <p:nvPr/>
        </p:nvSpPr>
        <p:spPr>
          <a:xfrm>
            <a:off x="5510084" y="5988346"/>
            <a:ext cx="105907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100" dirty="0">
                <a:latin typeface="Courier" pitchFamily="2" charset="0"/>
              </a:rPr>
              <a:t>Navigator.push()</a:t>
            </a:r>
            <a:endParaRPr lang="en-IT" sz="11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DFD127-88C2-C642-9D87-5BF9F2019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615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basics – push and pop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E04DA-B0B0-E54E-9960-4AE739BD5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8"/>
            <a:ext cx="11282921" cy="5095050"/>
          </a:xfrm>
        </p:spPr>
        <p:txBody>
          <a:bodyPr>
            <a:normAutofit/>
          </a:bodyPr>
          <a:lstStyle/>
          <a:p>
            <a:r>
              <a:rPr lang="en-IT" dirty="0"/>
              <a:t>Note that you could have used </a:t>
            </a:r>
            <a:r>
              <a:rPr lang="en-IT" dirty="0">
                <a:latin typeface="Courier" pitchFamily="2" charset="0"/>
              </a:rPr>
              <a:t>Navigator.push()</a:t>
            </a:r>
            <a:r>
              <a:rPr lang="en-IT" dirty="0"/>
              <a:t> to go back to the </a:t>
            </a:r>
            <a:r>
              <a:rPr lang="en-IT" dirty="0">
                <a:latin typeface="Courier" pitchFamily="2" charset="0"/>
              </a:rPr>
              <a:t>HomePage</a:t>
            </a:r>
            <a:r>
              <a:rPr lang="en-IT" dirty="0"/>
              <a:t> but this would have been result:</a:t>
            </a:r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pPr marL="0" indent="0">
              <a:buNone/>
            </a:pPr>
            <a:endParaRPr lang="en-IT" dirty="0"/>
          </a:p>
          <a:p>
            <a:r>
              <a:rPr lang="en-IT" dirty="0"/>
              <a:t>Very messy situation. </a:t>
            </a:r>
            <a:r>
              <a:rPr lang="en-GB" dirty="0"/>
              <a:t>T</a:t>
            </a:r>
            <a:r>
              <a:rPr lang="en-IT" dirty="0"/>
              <a:t>he stack will grow indefinetely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DA721F-E70E-C347-B7D0-47517B086BCB}"/>
              </a:ext>
            </a:extLst>
          </p:cNvPr>
          <p:cNvSpPr/>
          <p:nvPr/>
        </p:nvSpPr>
        <p:spPr>
          <a:xfrm>
            <a:off x="1276183" y="4743751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A019A9-43A3-1345-9C06-C3F54EBAAE24}"/>
              </a:ext>
            </a:extLst>
          </p:cNvPr>
          <p:cNvSpPr/>
          <p:nvPr/>
        </p:nvSpPr>
        <p:spPr>
          <a:xfrm>
            <a:off x="4538450" y="4743750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779BE5-60BD-2F4A-A7DE-AD5B5C9FF50C}"/>
              </a:ext>
            </a:extLst>
          </p:cNvPr>
          <p:cNvSpPr/>
          <p:nvPr/>
        </p:nvSpPr>
        <p:spPr>
          <a:xfrm>
            <a:off x="4538450" y="4095251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ProfilePage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4BC24B-6456-D941-B446-503392B74B2C}"/>
              </a:ext>
            </a:extLst>
          </p:cNvPr>
          <p:cNvSpPr/>
          <p:nvPr/>
        </p:nvSpPr>
        <p:spPr>
          <a:xfrm>
            <a:off x="7818308" y="4743749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104D43-8051-9941-A269-9AA95646B7B3}"/>
              </a:ext>
            </a:extLst>
          </p:cNvPr>
          <p:cNvSpPr/>
          <p:nvPr/>
        </p:nvSpPr>
        <p:spPr>
          <a:xfrm>
            <a:off x="4334845" y="2340461"/>
            <a:ext cx="2167466" cy="299466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F3DC5D-8D9D-E743-B174-29CE6C7435E8}"/>
              </a:ext>
            </a:extLst>
          </p:cNvPr>
          <p:cNvSpPr/>
          <p:nvPr/>
        </p:nvSpPr>
        <p:spPr>
          <a:xfrm>
            <a:off x="7614703" y="2340461"/>
            <a:ext cx="2167466" cy="299466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596E71-32B5-F944-993F-2EA73EF12563}"/>
              </a:ext>
            </a:extLst>
          </p:cNvPr>
          <p:cNvSpPr/>
          <p:nvPr/>
        </p:nvSpPr>
        <p:spPr>
          <a:xfrm>
            <a:off x="1072578" y="2340461"/>
            <a:ext cx="2167466" cy="299466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03ECF7-5D7A-BC46-9F13-44B474691122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6502311" y="3837791"/>
            <a:ext cx="1112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0A49F6-8049-214A-B49A-77D773384C0E}"/>
              </a:ext>
            </a:extLst>
          </p:cNvPr>
          <p:cNvCxnSpPr>
            <a:cxnSpLocks/>
            <a:stCxn id="22" idx="3"/>
            <a:endCxn id="20" idx="1"/>
          </p:cNvCxnSpPr>
          <p:nvPr/>
        </p:nvCxnSpPr>
        <p:spPr>
          <a:xfrm>
            <a:off x="3240044" y="3837791"/>
            <a:ext cx="1094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B094480-44F9-3A40-9BA9-5893E2FFA73A}"/>
              </a:ext>
            </a:extLst>
          </p:cNvPr>
          <p:cNvSpPr/>
          <p:nvPr/>
        </p:nvSpPr>
        <p:spPr>
          <a:xfrm>
            <a:off x="6555624" y="3911758"/>
            <a:ext cx="105907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100" dirty="0">
                <a:latin typeface="Courier" pitchFamily="2" charset="0"/>
              </a:rPr>
              <a:t>Navigator.push()</a:t>
            </a:r>
            <a:endParaRPr lang="en-IT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03780B-8568-6A4C-B596-6F662F9B4AB5}"/>
              </a:ext>
            </a:extLst>
          </p:cNvPr>
          <p:cNvSpPr/>
          <p:nvPr/>
        </p:nvSpPr>
        <p:spPr>
          <a:xfrm>
            <a:off x="3293357" y="3911759"/>
            <a:ext cx="105907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100" dirty="0">
                <a:latin typeface="Courier" pitchFamily="2" charset="0"/>
              </a:rPr>
              <a:t>Navigator.push()</a:t>
            </a:r>
            <a:endParaRPr lang="en-IT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FC374F-CD60-634A-B112-FFF119F72AB1}"/>
              </a:ext>
            </a:extLst>
          </p:cNvPr>
          <p:cNvSpPr/>
          <p:nvPr/>
        </p:nvSpPr>
        <p:spPr>
          <a:xfrm>
            <a:off x="7846967" y="4095251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ProfilePage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E4F77D-9E56-D442-A807-7527CB50B16B}"/>
              </a:ext>
            </a:extLst>
          </p:cNvPr>
          <p:cNvSpPr/>
          <p:nvPr/>
        </p:nvSpPr>
        <p:spPr>
          <a:xfrm>
            <a:off x="7846967" y="3432397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9E1271-A494-ED44-AB27-D181BD3A1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233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Asynchrony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Navigator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Navigate to a new screen and back</a:t>
            </a:r>
          </a:p>
          <a:p>
            <a:r>
              <a:rPr lang="en-GB" b="1" dirty="0"/>
              <a:t>Named routes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Passing argument to a route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Returning an argument from a route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42D93-64B8-AA4E-9B71-607EA3D5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832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Another approach: Named 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336811" cy="5334907"/>
          </a:xfrm>
        </p:spPr>
        <p:txBody>
          <a:bodyPr>
            <a:normAutofit/>
          </a:bodyPr>
          <a:lstStyle/>
          <a:p>
            <a:r>
              <a:rPr lang="en-GB" dirty="0"/>
              <a:t>An alternative approach to </a:t>
            </a:r>
            <a:r>
              <a:rPr lang="en-GB" dirty="0" err="1">
                <a:latin typeface="Courier" pitchFamily="2" charset="0"/>
              </a:rPr>
              <a:t>Navigator.push</a:t>
            </a:r>
            <a:r>
              <a:rPr lang="en-GB" dirty="0">
                <a:latin typeface="Courier" pitchFamily="2" charset="0"/>
              </a:rPr>
              <a:t>()</a:t>
            </a:r>
            <a:r>
              <a:rPr lang="en-GB" dirty="0"/>
              <a:t> is </a:t>
            </a:r>
            <a:r>
              <a:rPr lang="en-GB" dirty="0" err="1">
                <a:latin typeface="Courier" pitchFamily="2" charset="0"/>
              </a:rPr>
              <a:t>Navigator.pushNamed</a:t>
            </a:r>
            <a:r>
              <a:rPr lang="en-GB" dirty="0">
                <a:latin typeface="Courier" pitchFamily="2" charset="0"/>
              </a:rPr>
              <a:t>()</a:t>
            </a:r>
          </a:p>
          <a:p>
            <a:endParaRPr lang="en-GB" dirty="0"/>
          </a:p>
          <a:p>
            <a:r>
              <a:rPr lang="en-GB" dirty="0"/>
              <a:t>This solution consists of </a:t>
            </a:r>
            <a:r>
              <a:rPr lang="en-GB" b="1" dirty="0"/>
              <a:t>associating names to each route </a:t>
            </a:r>
            <a:r>
              <a:rPr lang="en-GB" dirty="0"/>
              <a:t>and use the names for navigation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Let’s see how to convert the previous example using this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FC86B-EC6C-4344-AA70-A15054DA4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23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7E6DC-34C5-B2FE-E557-83E00BCD9190}"/>
              </a:ext>
            </a:extLst>
          </p:cNvPr>
          <p:cNvSpPr txBox="1"/>
          <p:nvPr/>
        </p:nvSpPr>
        <p:spPr>
          <a:xfrm>
            <a:off x="10381670" y="407381"/>
            <a:ext cx="126538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IT" dirty="0">
                <a:latin typeface="Aptos" panose="020B0004020202020204" pitchFamily="34" charset="0"/>
                <a:ea typeface="Palatino" pitchFamily="2" charset="77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1075219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Named navigation –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336811" cy="5334907"/>
          </a:xfrm>
        </p:spPr>
        <p:txBody>
          <a:bodyPr>
            <a:normAutofit lnSpcReduction="10000"/>
          </a:bodyPr>
          <a:lstStyle/>
          <a:p>
            <a:r>
              <a:rPr lang="en-GB" dirty="0"/>
              <a:t>If you want to implement this approach, you need to specify, from the beginning, the name of each route.</a:t>
            </a:r>
          </a:p>
          <a:p>
            <a:endParaRPr lang="en-GB" dirty="0"/>
          </a:p>
          <a:p>
            <a:r>
              <a:rPr lang="en-GB" dirty="0"/>
              <a:t>This is done via the </a:t>
            </a:r>
            <a:r>
              <a:rPr lang="en-GB" dirty="0" err="1">
                <a:latin typeface="Courier" pitchFamily="2" charset="0"/>
              </a:rPr>
              <a:t>initialRoute</a:t>
            </a:r>
            <a:r>
              <a:rPr lang="en-GB" dirty="0"/>
              <a:t> and </a:t>
            </a:r>
            <a:r>
              <a:rPr lang="en-GB" dirty="0">
                <a:latin typeface="Courier" pitchFamily="2" charset="0"/>
              </a:rPr>
              <a:t>routes</a:t>
            </a:r>
            <a:r>
              <a:rPr lang="en-GB" dirty="0"/>
              <a:t> named parameters of </a:t>
            </a:r>
            <a:r>
              <a:rPr lang="en-GB" dirty="0" err="1">
                <a:latin typeface="Courier" pitchFamily="2" charset="0"/>
              </a:rPr>
              <a:t>MaterialApp</a:t>
            </a:r>
            <a:r>
              <a:rPr lang="en-GB" dirty="0"/>
              <a:t>: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 err="1">
                <a:latin typeface="Courier" pitchFamily="2" charset="0"/>
              </a:rPr>
              <a:t>MaterialApp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pPr marL="0" indent="0">
              <a:buNone/>
            </a:pPr>
            <a:r>
              <a:rPr lang="en-GB" b="1" dirty="0">
                <a:latin typeface="Courier" pitchFamily="2" charset="0"/>
              </a:rPr>
              <a:t>  </a:t>
            </a:r>
            <a:r>
              <a:rPr lang="en-GB" b="1" dirty="0" err="1">
                <a:latin typeface="Courier" pitchFamily="2" charset="0"/>
              </a:rPr>
              <a:t>initialRoute</a:t>
            </a:r>
            <a:r>
              <a:rPr lang="en-GB" dirty="0">
                <a:latin typeface="Courier" pitchFamily="2" charset="0"/>
              </a:rPr>
              <a:t>: '/’,</a:t>
            </a:r>
          </a:p>
          <a:p>
            <a:pPr marL="0" indent="0">
              <a:buNone/>
            </a:pPr>
            <a:r>
              <a:rPr lang="en-GB" b="1" dirty="0">
                <a:latin typeface="Courier" pitchFamily="2" charset="0"/>
              </a:rPr>
              <a:t>  routes</a:t>
            </a:r>
            <a:r>
              <a:rPr lang="en-GB" dirty="0">
                <a:latin typeface="Courier" pitchFamily="2" charset="0"/>
              </a:rPr>
              <a:t>: {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    '/' : (context) =&gt; </a:t>
            </a:r>
            <a:r>
              <a:rPr lang="en-GB" dirty="0" err="1">
                <a:latin typeface="Courier" pitchFamily="2" charset="0"/>
              </a:rPr>
              <a:t>HomePage</a:t>
            </a:r>
            <a:r>
              <a:rPr lang="en-GB" dirty="0">
                <a:latin typeface="Courier" pitchFamily="2" charset="0"/>
              </a:rPr>
              <a:t>(),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    '/profile/': (context) =&gt; </a:t>
            </a:r>
            <a:r>
              <a:rPr lang="en-GB" dirty="0" err="1">
                <a:latin typeface="Courier" pitchFamily="2" charset="0"/>
              </a:rPr>
              <a:t>ProfilePage</a:t>
            </a:r>
            <a:r>
              <a:rPr lang="en-GB" dirty="0">
                <a:latin typeface="Courier" pitchFamily="2" charset="0"/>
              </a:rPr>
              <a:t>(), 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  },</a:t>
            </a:r>
          </a:p>
          <a:p>
            <a:pPr marL="0" indent="0">
              <a:buNone/>
            </a:pPr>
            <a:r>
              <a:rPr lang="en-GB" dirty="0">
                <a:latin typeface="Courier" pitchFamily="2" charset="0"/>
              </a:rPr>
              <a:t>);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5449B2-1776-7943-83E6-F63FDFD5661F}"/>
              </a:ext>
            </a:extLst>
          </p:cNvPr>
          <p:cNvSpPr/>
          <p:nvPr/>
        </p:nvSpPr>
        <p:spPr>
          <a:xfrm>
            <a:off x="7151371" y="4317415"/>
            <a:ext cx="45300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This maps names to the corresponding routes within the app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FD041E-6B02-E941-8CA2-ED4EE902113D}"/>
              </a:ext>
            </a:extLst>
          </p:cNvPr>
          <p:cNvSpPr/>
          <p:nvPr/>
        </p:nvSpPr>
        <p:spPr>
          <a:xfrm>
            <a:off x="7151371" y="3429000"/>
            <a:ext cx="4221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This specifies the app entry point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94F4F2C-4A9E-6D4A-961C-18CFFCC8B225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206240" y="3613666"/>
            <a:ext cx="2945131" cy="535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603C3DD-0BDC-EC4A-8DBD-1314986D70EE}"/>
              </a:ext>
            </a:extLst>
          </p:cNvPr>
          <p:cNvCxnSpPr>
            <a:cxnSpLocks/>
          </p:cNvCxnSpPr>
          <p:nvPr/>
        </p:nvCxnSpPr>
        <p:spPr>
          <a:xfrm flipH="1">
            <a:off x="2663190" y="4480561"/>
            <a:ext cx="4488181" cy="171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BED1D-48FE-0A4C-9B90-AAF72EB5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24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B6B573-EEED-C992-1993-867923D78AA2}"/>
              </a:ext>
            </a:extLst>
          </p:cNvPr>
          <p:cNvSpPr txBox="1"/>
          <p:nvPr/>
        </p:nvSpPr>
        <p:spPr>
          <a:xfrm>
            <a:off x="10381670" y="407381"/>
            <a:ext cx="126538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IT" dirty="0">
                <a:latin typeface="Aptos" panose="020B0004020202020204" pitchFamily="34" charset="0"/>
                <a:ea typeface="Palatino" pitchFamily="2" charset="77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153611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Named navigation – pushNamed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CD0E24D-F407-C340-8481-9E200196E293}"/>
              </a:ext>
            </a:extLst>
          </p:cNvPr>
          <p:cNvSpPr txBox="1">
            <a:spLocks/>
          </p:cNvSpPr>
          <p:nvPr/>
        </p:nvSpPr>
        <p:spPr>
          <a:xfrm>
            <a:off x="428171" y="4913260"/>
            <a:ext cx="11110202" cy="2414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 err="1">
                <a:latin typeface="Courier" pitchFamily="2" charset="0"/>
              </a:rPr>
              <a:t>onPressed</a:t>
            </a:r>
            <a:r>
              <a:rPr lang="en-GB" sz="1600" dirty="0">
                <a:latin typeface="Courier" pitchFamily="2" charset="0"/>
              </a:rPr>
              <a:t>: () {</a:t>
            </a:r>
          </a:p>
          <a:p>
            <a:pPr marL="0" indent="0">
              <a:buNone/>
            </a:pPr>
            <a:r>
              <a:rPr lang="en-GB" sz="1600" b="1" dirty="0">
                <a:latin typeface="Courier" pitchFamily="2" charset="0"/>
              </a:rPr>
              <a:t>  </a:t>
            </a:r>
            <a:r>
              <a:rPr lang="en-GB" sz="1600" b="1" dirty="0" err="1">
                <a:latin typeface="Courier" pitchFamily="2" charset="0"/>
              </a:rPr>
              <a:t>Navigator.pop</a:t>
            </a:r>
            <a:r>
              <a:rPr lang="en-GB" sz="1600" b="1" dirty="0">
                <a:latin typeface="Courier" pitchFamily="2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E04DA-B0B0-E54E-9960-4AE739BD5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8"/>
            <a:ext cx="11282921" cy="603099"/>
          </a:xfrm>
        </p:spPr>
        <p:txBody>
          <a:bodyPr>
            <a:normAutofit fontScale="92500"/>
          </a:bodyPr>
          <a:lstStyle/>
          <a:p>
            <a:r>
              <a:rPr lang="en-IT" dirty="0"/>
              <a:t>To go to the </a:t>
            </a:r>
            <a:r>
              <a:rPr lang="en-IT" dirty="0">
                <a:latin typeface="Courier" pitchFamily="2" charset="0"/>
              </a:rPr>
              <a:t>ProfilePage</a:t>
            </a:r>
            <a:r>
              <a:rPr lang="en-IT" dirty="0"/>
              <a:t> route, now you can invoke </a:t>
            </a:r>
            <a:r>
              <a:rPr lang="en-IT" dirty="0">
                <a:latin typeface="Courier" pitchFamily="2" charset="0"/>
              </a:rPr>
              <a:t>Navigator.pushNamed()</a:t>
            </a:r>
            <a:r>
              <a:rPr lang="en-IT" dirty="0"/>
              <a:t>: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B4DC18-BE30-9646-A902-864A61958DC6}"/>
              </a:ext>
            </a:extLst>
          </p:cNvPr>
          <p:cNvCxnSpPr>
            <a:cxnSpLocks/>
          </p:cNvCxnSpPr>
          <p:nvPr/>
        </p:nvCxnSpPr>
        <p:spPr>
          <a:xfrm flipV="1">
            <a:off x="3461537" y="2903221"/>
            <a:ext cx="218923" cy="408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AD298FF-DC85-3043-AB63-78839672E083}"/>
              </a:ext>
            </a:extLst>
          </p:cNvPr>
          <p:cNvSpPr/>
          <p:nvPr/>
        </p:nvSpPr>
        <p:spPr>
          <a:xfrm>
            <a:off x="2011096" y="3441002"/>
            <a:ext cx="27029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dirty="0">
                <a:latin typeface="Palatino Linotype" panose="02040502050505030304" pitchFamily="18" charset="0"/>
              </a:rPr>
              <a:t>Current </a:t>
            </a:r>
            <a:r>
              <a:rPr lang="en-IT" dirty="0">
                <a:latin typeface="Courier" pitchFamily="2" charset="0"/>
              </a:rPr>
              <a:t>BuildContext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B7ED5E-E7DD-9242-A8EC-8BE6E22E2432}"/>
              </a:ext>
            </a:extLst>
          </p:cNvPr>
          <p:cNvSpPr/>
          <p:nvPr/>
        </p:nvSpPr>
        <p:spPr>
          <a:xfrm>
            <a:off x="5043940" y="3446267"/>
            <a:ext cx="5227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T" dirty="0">
                <a:latin typeface="Palatino Linotype" panose="02040502050505030304" pitchFamily="18" charset="0"/>
              </a:rPr>
              <a:t>The name of the route to be pushed into the stack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61CE1D-26BC-2C4A-B277-1577DF879065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5221795" y="2983231"/>
            <a:ext cx="2436002" cy="463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49DA7251-B1A7-1940-8B79-1AA4A69B43DA}"/>
              </a:ext>
            </a:extLst>
          </p:cNvPr>
          <p:cNvSpPr txBox="1">
            <a:spLocks/>
          </p:cNvSpPr>
          <p:nvPr/>
        </p:nvSpPr>
        <p:spPr>
          <a:xfrm>
            <a:off x="428171" y="4321834"/>
            <a:ext cx="11282921" cy="60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To pop the </a:t>
            </a:r>
            <a:r>
              <a:rPr lang="en-IT">
                <a:latin typeface="Courier" pitchFamily="2" charset="0"/>
              </a:rPr>
              <a:t>ProfilePage</a:t>
            </a:r>
            <a:r>
              <a:rPr lang="en-IT"/>
              <a:t> </a:t>
            </a:r>
            <a:r>
              <a:rPr lang="en-IT" dirty="0">
                <a:latin typeface="Aptos" panose="020B0004020202020204" pitchFamily="34" charset="0"/>
              </a:rPr>
              <a:t>route, you can still use </a:t>
            </a:r>
            <a:r>
              <a:rPr lang="en-IT">
                <a:latin typeface="Courier" pitchFamily="2" charset="0"/>
              </a:rPr>
              <a:t>Navigator</a:t>
            </a:r>
            <a:r>
              <a:rPr lang="en-IT" dirty="0">
                <a:latin typeface="Courier" pitchFamily="2" charset="0"/>
              </a:rPr>
              <a:t>.pop()</a:t>
            </a:r>
            <a:r>
              <a:rPr lang="en-IT" dirty="0"/>
              <a:t>: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DF5792CB-C0EA-8D4F-A147-F612F2DC4997}"/>
              </a:ext>
            </a:extLst>
          </p:cNvPr>
          <p:cNvSpPr txBox="1">
            <a:spLocks/>
          </p:cNvSpPr>
          <p:nvPr/>
        </p:nvSpPr>
        <p:spPr>
          <a:xfrm>
            <a:off x="580572" y="1971401"/>
            <a:ext cx="11110202" cy="16598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 err="1">
                <a:latin typeface="Courier" pitchFamily="2" charset="0"/>
              </a:rPr>
              <a:t>onPressed</a:t>
            </a:r>
            <a:r>
              <a:rPr lang="en-GB" sz="1600" dirty="0">
                <a:latin typeface="Courier" pitchFamily="2" charset="0"/>
              </a:rPr>
              <a:t>: () {</a:t>
            </a:r>
          </a:p>
          <a:p>
            <a:pPr marL="0" indent="0">
              <a:buNone/>
            </a:pPr>
            <a:r>
              <a:rPr lang="en-GB" sz="1600" b="1" dirty="0">
                <a:latin typeface="Courier" pitchFamily="2" charset="0"/>
              </a:rPr>
              <a:t>  </a:t>
            </a:r>
            <a:r>
              <a:rPr lang="en-GB" sz="1600" b="1" dirty="0" err="1">
                <a:latin typeface="Courier" pitchFamily="2" charset="0"/>
              </a:rPr>
              <a:t>Navigator.pushNamed</a:t>
            </a:r>
            <a:r>
              <a:rPr lang="en-GB" sz="1600" b="1" dirty="0">
                <a:latin typeface="Courier" pitchFamily="2" charset="0"/>
              </a:rPr>
              <a:t>(context,’/profile/’);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DA721F-E70E-C347-B7D0-47517B086BCB}"/>
              </a:ext>
            </a:extLst>
          </p:cNvPr>
          <p:cNvSpPr/>
          <p:nvPr/>
        </p:nvSpPr>
        <p:spPr>
          <a:xfrm>
            <a:off x="3461537" y="6074423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A019A9-43A3-1345-9C06-C3F54EBAAE24}"/>
              </a:ext>
            </a:extLst>
          </p:cNvPr>
          <p:cNvSpPr/>
          <p:nvPr/>
        </p:nvSpPr>
        <p:spPr>
          <a:xfrm>
            <a:off x="6755178" y="6073833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779BE5-60BD-2F4A-A7DE-AD5B5C9FF50C}"/>
              </a:ext>
            </a:extLst>
          </p:cNvPr>
          <p:cNvSpPr/>
          <p:nvPr/>
        </p:nvSpPr>
        <p:spPr>
          <a:xfrm>
            <a:off x="6755177" y="5508614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ProfilePage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4BC24B-6456-D941-B446-503392B74B2C}"/>
              </a:ext>
            </a:extLst>
          </p:cNvPr>
          <p:cNvSpPr/>
          <p:nvPr/>
        </p:nvSpPr>
        <p:spPr>
          <a:xfrm>
            <a:off x="10035036" y="6073834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104D43-8051-9941-A269-9AA95646B7B3}"/>
              </a:ext>
            </a:extLst>
          </p:cNvPr>
          <p:cNvSpPr/>
          <p:nvPr/>
        </p:nvSpPr>
        <p:spPr>
          <a:xfrm>
            <a:off x="6551572" y="5079985"/>
            <a:ext cx="2167466" cy="15714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F3DC5D-8D9D-E743-B174-29CE6C7435E8}"/>
              </a:ext>
            </a:extLst>
          </p:cNvPr>
          <p:cNvSpPr/>
          <p:nvPr/>
        </p:nvSpPr>
        <p:spPr>
          <a:xfrm>
            <a:off x="9831430" y="5079985"/>
            <a:ext cx="2167466" cy="15714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596E71-32B5-F944-993F-2EA73EF12563}"/>
              </a:ext>
            </a:extLst>
          </p:cNvPr>
          <p:cNvSpPr/>
          <p:nvPr/>
        </p:nvSpPr>
        <p:spPr>
          <a:xfrm>
            <a:off x="3289305" y="5079985"/>
            <a:ext cx="2167466" cy="15714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03ECF7-5D7A-BC46-9F13-44B474691122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8719038" y="5865692"/>
            <a:ext cx="1112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0A49F6-8049-214A-B49A-77D773384C0E}"/>
              </a:ext>
            </a:extLst>
          </p:cNvPr>
          <p:cNvCxnSpPr>
            <a:cxnSpLocks/>
            <a:stCxn id="22" idx="3"/>
            <a:endCxn id="20" idx="1"/>
          </p:cNvCxnSpPr>
          <p:nvPr/>
        </p:nvCxnSpPr>
        <p:spPr>
          <a:xfrm>
            <a:off x="5456771" y="5865692"/>
            <a:ext cx="1094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B094480-44F9-3A40-9BA9-5893E2FFA73A}"/>
              </a:ext>
            </a:extLst>
          </p:cNvPr>
          <p:cNvSpPr/>
          <p:nvPr/>
        </p:nvSpPr>
        <p:spPr>
          <a:xfrm>
            <a:off x="8745694" y="5950312"/>
            <a:ext cx="105907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100" dirty="0">
                <a:latin typeface="Courier" pitchFamily="2" charset="0"/>
              </a:rPr>
              <a:t>Navigator.pop()</a:t>
            </a:r>
            <a:endParaRPr lang="en-IT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03780B-8568-6A4C-B596-6F662F9B4AB5}"/>
              </a:ext>
            </a:extLst>
          </p:cNvPr>
          <p:cNvSpPr/>
          <p:nvPr/>
        </p:nvSpPr>
        <p:spPr>
          <a:xfrm>
            <a:off x="5436823" y="5958463"/>
            <a:ext cx="121655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100" dirty="0">
                <a:latin typeface="Courier" pitchFamily="2" charset="0"/>
              </a:rPr>
              <a:t>Navigator.pushNamed()</a:t>
            </a:r>
            <a:endParaRPr lang="en-IT" sz="11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D1818D-4C05-5242-900B-869A1A18C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25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17FB71-C47E-CF79-2EB6-388F16B3CDA7}"/>
              </a:ext>
            </a:extLst>
          </p:cNvPr>
          <p:cNvSpPr txBox="1"/>
          <p:nvPr/>
        </p:nvSpPr>
        <p:spPr>
          <a:xfrm>
            <a:off x="10381670" y="407381"/>
            <a:ext cx="126538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IT" dirty="0">
                <a:latin typeface="Aptos" panose="020B0004020202020204" pitchFamily="34" charset="0"/>
                <a:ea typeface="Palatino" pitchFamily="2" charset="77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4276745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Asynchrony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Navigator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Navigate to a new screen and back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Named routes </a:t>
            </a:r>
          </a:p>
          <a:p>
            <a:r>
              <a:rPr lang="en-GB" b="1" dirty="0"/>
              <a:t>Passing argument to a route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Returning an argument from a route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FC48C-46D7-164D-B8A5-DF6FF27A4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813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message&#10;&#10;Description automatically generated">
            <a:extLst>
              <a:ext uri="{FF2B5EF4-FFF2-40B4-BE49-F238E27FC236}">
                <a16:creationId xmlns:a16="http://schemas.microsoft.com/office/drawing/2014/main" id="{AA5C381D-F3BF-82CB-40F3-78AACCCCD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1287" y="1199241"/>
            <a:ext cx="2536093" cy="5496833"/>
          </a:xfrm>
          <a:prstGeom prst="rect">
            <a:avLst/>
          </a:prstGeom>
        </p:spPr>
      </p:pic>
      <p:pic>
        <p:nvPicPr>
          <p:cNvPr id="8" name="Picture 7" descr="A screenshot of a phone&#10;&#10;Description automatically generated">
            <a:extLst>
              <a:ext uri="{FF2B5EF4-FFF2-40B4-BE49-F238E27FC236}">
                <a16:creationId xmlns:a16="http://schemas.microsoft.com/office/drawing/2014/main" id="{3ED73714-DF7A-7FC8-B0E0-2008AF0CB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534" y="1225549"/>
            <a:ext cx="2535674" cy="54959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– Passing an argument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4625091" cy="4858203"/>
          </a:xfrm>
        </p:spPr>
        <p:txBody>
          <a:bodyPr>
            <a:normAutofit/>
          </a:bodyPr>
          <a:lstStyle/>
          <a:p>
            <a:r>
              <a:rPr lang="en-IT" dirty="0"/>
              <a:t>It is (of course) possible to pass arguments to the new route that can be used for several purposes.</a:t>
            </a:r>
          </a:p>
          <a:p>
            <a:endParaRPr lang="en-IT" dirty="0"/>
          </a:p>
          <a:p>
            <a:r>
              <a:rPr lang="en-IT" dirty="0"/>
              <a:t>To demonstrate how, let’s expand the app with another route </a:t>
            </a:r>
            <a:r>
              <a:rPr lang="en-IT" dirty="0">
                <a:latin typeface="Courier" pitchFamily="2" charset="0"/>
              </a:rPr>
              <a:t>MessagePage</a:t>
            </a:r>
            <a:r>
              <a:rPr lang="en-IT" dirty="0"/>
              <a:t> that will get an argument from the </a:t>
            </a:r>
            <a:r>
              <a:rPr lang="en-IT" dirty="0">
                <a:latin typeface="Courier" pitchFamily="2" charset="0"/>
              </a:rPr>
              <a:t>HomePage </a:t>
            </a:r>
            <a:r>
              <a:rPr lang="en-IT" dirty="0"/>
              <a:t>and will show it in the center of the screen.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79C211A-705D-6546-9E60-9C871D9F1097}"/>
              </a:ext>
            </a:extLst>
          </p:cNvPr>
          <p:cNvCxnSpPr>
            <a:cxnSpLocks/>
          </p:cNvCxnSpPr>
          <p:nvPr/>
        </p:nvCxnSpPr>
        <p:spPr>
          <a:xfrm flipV="1">
            <a:off x="7052310" y="1923628"/>
            <a:ext cx="3148330" cy="24997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1EAC90E-B4CA-D640-9D8F-EB2205814982}"/>
              </a:ext>
            </a:extLst>
          </p:cNvPr>
          <p:cNvCxnSpPr>
            <a:cxnSpLocks/>
          </p:cNvCxnSpPr>
          <p:nvPr/>
        </p:nvCxnSpPr>
        <p:spPr>
          <a:xfrm flipH="1" flipV="1">
            <a:off x="6522720" y="1923627"/>
            <a:ext cx="3237653" cy="23638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AD1BE7E-31FC-2F4F-B1AA-08AABBF3791F}"/>
              </a:ext>
            </a:extLst>
          </p:cNvPr>
          <p:cNvCxnSpPr>
            <a:cxnSpLocks/>
          </p:cNvCxnSpPr>
          <p:nvPr/>
        </p:nvCxnSpPr>
        <p:spPr>
          <a:xfrm flipH="1">
            <a:off x="7823201" y="1693333"/>
            <a:ext cx="10430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F0D3FF-3086-0A41-BE91-8A14CECCE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506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Passing arguments – messagePage.dart boilerplate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498495" cy="5053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import '</a:t>
            </a:r>
            <a:r>
              <a:rPr lang="en-GB" sz="1600" dirty="0" err="1">
                <a:latin typeface="Courier" pitchFamily="2" charset="0"/>
              </a:rPr>
              <a:t>package:flutter</a:t>
            </a:r>
            <a:r>
              <a:rPr lang="en-GB" sz="1600" dirty="0">
                <a:latin typeface="Courier" pitchFamily="2" charset="0"/>
              </a:rPr>
              <a:t>/</a:t>
            </a:r>
            <a:r>
              <a:rPr lang="en-GB" sz="1600" dirty="0" err="1">
                <a:latin typeface="Courier" pitchFamily="2" charset="0"/>
              </a:rPr>
              <a:t>material.dart</a:t>
            </a:r>
            <a:r>
              <a:rPr lang="en-GB" sz="1600" dirty="0">
                <a:latin typeface="Courier" pitchFamily="2" charset="0"/>
              </a:rPr>
              <a:t>';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class </a:t>
            </a:r>
            <a:r>
              <a:rPr lang="en-GB" sz="1600" dirty="0" err="1">
                <a:latin typeface="Courier" pitchFamily="2" charset="0"/>
              </a:rPr>
              <a:t>MessagePage</a:t>
            </a:r>
            <a:r>
              <a:rPr lang="en-GB" sz="1600" dirty="0">
                <a:latin typeface="Courier" pitchFamily="2" charset="0"/>
              </a:rPr>
              <a:t> extends </a:t>
            </a:r>
            <a:r>
              <a:rPr lang="en-GB" sz="1600" dirty="0" err="1">
                <a:latin typeface="Courier" pitchFamily="2" charset="0"/>
              </a:rPr>
              <a:t>StatelessWidget</a:t>
            </a:r>
            <a:r>
              <a:rPr lang="en-GB" sz="1600" dirty="0"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</a:t>
            </a:r>
            <a:r>
              <a:rPr lang="en-GB" sz="1600" dirty="0" err="1">
                <a:latin typeface="Courier" pitchFamily="2" charset="0"/>
              </a:rPr>
              <a:t>MessagePage</a:t>
            </a:r>
            <a:r>
              <a:rPr lang="en-GB" sz="1600" dirty="0">
                <a:latin typeface="Courier" pitchFamily="2" charset="0"/>
              </a:rPr>
              <a:t>({Key? key}) : super(key: key);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static </a:t>
            </a:r>
            <a:r>
              <a:rPr lang="en-GB" sz="1600" dirty="0" err="1">
                <a:latin typeface="Courier" pitchFamily="2" charset="0"/>
              </a:rPr>
              <a:t>const</a:t>
            </a:r>
            <a:r>
              <a:rPr lang="en-GB" sz="1600" dirty="0">
                <a:latin typeface="Courier" pitchFamily="2" charset="0"/>
              </a:rPr>
              <a:t> </a:t>
            </a:r>
            <a:r>
              <a:rPr lang="en-GB" sz="1600" dirty="0" err="1">
                <a:latin typeface="Courier" pitchFamily="2" charset="0"/>
              </a:rPr>
              <a:t>routename</a:t>
            </a:r>
            <a:r>
              <a:rPr lang="en-GB" sz="1600" dirty="0">
                <a:latin typeface="Courier" pitchFamily="2" charset="0"/>
              </a:rPr>
              <a:t> = '</a:t>
            </a:r>
            <a:r>
              <a:rPr lang="en-GB" sz="1600" dirty="0" err="1">
                <a:latin typeface="Courier" pitchFamily="2" charset="0"/>
              </a:rPr>
              <a:t>MessagePage</a:t>
            </a:r>
            <a:r>
              <a:rPr lang="en-GB" sz="1600" dirty="0">
                <a:latin typeface="Courier" pitchFamily="2" charset="0"/>
              </a:rPr>
              <a:t>';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@override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Widget build(</a:t>
            </a:r>
            <a:r>
              <a:rPr lang="en-GB" sz="1600" dirty="0" err="1">
                <a:latin typeface="Courier" pitchFamily="2" charset="0"/>
              </a:rPr>
              <a:t>BuildContext</a:t>
            </a:r>
            <a:r>
              <a:rPr lang="en-GB" sz="1600" dirty="0">
                <a:latin typeface="Courier" pitchFamily="2" charset="0"/>
              </a:rPr>
              <a:t> context) {</a:t>
            </a:r>
          </a:p>
          <a:p>
            <a:pPr marL="0" indent="0">
              <a:buNone/>
            </a:pPr>
            <a:r>
              <a:rPr lang="en-GB" sz="1600" b="1" dirty="0">
                <a:highlight>
                  <a:srgbClr val="FFFF00"/>
                </a:highlight>
                <a:latin typeface="Courier" pitchFamily="2" charset="0"/>
              </a:rPr>
              <a:t>    //TODO: get the message from </a:t>
            </a:r>
            <a:r>
              <a:rPr lang="en-GB" sz="1600" b="1" dirty="0" err="1">
                <a:highlight>
                  <a:srgbClr val="FFFF00"/>
                </a:highlight>
                <a:latin typeface="Courier" pitchFamily="2" charset="0"/>
              </a:rPr>
              <a:t>HomePage</a:t>
            </a:r>
            <a:endParaRPr lang="en-GB" sz="1600" b="1" dirty="0">
              <a:highlight>
                <a:srgbClr val="FFFF00"/>
              </a:highlight>
              <a:latin typeface="Courier" pitchFamily="2" charset="0"/>
            </a:endParaRP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return Scaffold(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</a:t>
            </a:r>
            <a:r>
              <a:rPr lang="en-GB" sz="1600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: </a:t>
            </a:r>
            <a:r>
              <a:rPr lang="en-GB" sz="1600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  title: Text(</a:t>
            </a:r>
            <a:r>
              <a:rPr lang="en-GB" sz="1600" dirty="0" err="1">
                <a:latin typeface="Courier" pitchFamily="2" charset="0"/>
              </a:rPr>
              <a:t>MessagePage.routename</a:t>
            </a:r>
            <a:r>
              <a:rPr lang="en-GB" sz="1600" dirty="0">
                <a:latin typeface="Courier" pitchFamily="2" charset="0"/>
              </a:rPr>
              <a:t>),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),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...</a:t>
            </a:r>
            <a:endParaRPr lang="en-IT" sz="1600" dirty="0">
              <a:latin typeface="Courier" pitchFamily="2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CD0E24D-F407-C340-8481-9E200196E293}"/>
              </a:ext>
            </a:extLst>
          </p:cNvPr>
          <p:cNvSpPr txBox="1">
            <a:spLocks/>
          </p:cNvSpPr>
          <p:nvPr/>
        </p:nvSpPr>
        <p:spPr>
          <a:xfrm>
            <a:off x="6317585" y="1361167"/>
            <a:ext cx="5478901" cy="558488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body: </a:t>
            </a:r>
            <a:r>
              <a:rPr lang="en-GB" sz="1600" dirty="0" err="1">
                <a:latin typeface="Courier" pitchFamily="2" charset="0"/>
              </a:rPr>
              <a:t>Center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  child: Column(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    </a:t>
            </a:r>
            <a:r>
              <a:rPr lang="en-GB" sz="1600" dirty="0" err="1">
                <a:latin typeface="Courier" pitchFamily="2" charset="0"/>
              </a:rPr>
              <a:t>mainAxisAlignment</a:t>
            </a:r>
            <a:r>
              <a:rPr lang="en-GB" sz="1600" dirty="0">
                <a:latin typeface="Courier" pitchFamily="2" charset="0"/>
              </a:rPr>
              <a:t>: </a:t>
            </a:r>
            <a:r>
              <a:rPr lang="en-GB" sz="1600" dirty="0" err="1">
                <a:latin typeface="Courier" pitchFamily="2" charset="0"/>
              </a:rPr>
              <a:t>MainAxisAlignment.center</a:t>
            </a:r>
            <a:r>
              <a:rPr lang="en-GB" sz="1600" dirty="0">
                <a:latin typeface="Courier" pitchFamily="2" charset="0"/>
              </a:rPr>
              <a:t>,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    children: [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     </a:t>
            </a:r>
            <a:r>
              <a:rPr lang="en-GB" sz="1600" b="1" dirty="0">
                <a:latin typeface="Courier" pitchFamily="2" charset="0"/>
              </a:rPr>
              <a:t> </a:t>
            </a:r>
            <a:r>
              <a:rPr lang="en-GB" sz="1600" b="1" dirty="0">
                <a:highlight>
                  <a:srgbClr val="FFFF00"/>
                </a:highlight>
                <a:latin typeface="Courier" pitchFamily="2" charset="0"/>
              </a:rPr>
              <a:t>Text(’’), //TODO: put the message inside the Text here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dirty="0" err="1">
                <a:latin typeface="Courier" pitchFamily="2" charset="0"/>
              </a:rPr>
              <a:t>ElevatedButton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        child: Text('To the home'),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        </a:t>
            </a:r>
            <a:r>
              <a:rPr lang="en-GB" sz="1600" dirty="0" err="1">
                <a:latin typeface="Courier" pitchFamily="2" charset="0"/>
              </a:rPr>
              <a:t>onPressed</a:t>
            </a:r>
            <a:r>
              <a:rPr lang="en-GB" sz="1600" dirty="0">
                <a:latin typeface="Courier" pitchFamily="2" charset="0"/>
              </a:rPr>
              <a:t>: () {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          </a:t>
            </a:r>
            <a:r>
              <a:rPr lang="en-GB" sz="1600" dirty="0" err="1">
                <a:latin typeface="Courier" pitchFamily="2" charset="0"/>
              </a:rPr>
              <a:t>Navigator.pop</a:t>
            </a:r>
            <a:r>
              <a:rPr lang="en-GB" sz="1600" dirty="0">
                <a:latin typeface="Courier" pitchFamily="2" charset="0"/>
              </a:rPr>
              <a:t>(context);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        },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      ),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    ],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  ),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} //build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} // </a:t>
            </a:r>
            <a:r>
              <a:rPr lang="en-GB" sz="1600" dirty="0" err="1">
                <a:latin typeface="Courier" pitchFamily="2" charset="0"/>
              </a:rPr>
              <a:t>MessagePage</a:t>
            </a:r>
            <a:endParaRPr lang="en-IT" sz="1600" dirty="0"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9FB28B-B6BD-794F-BB0D-C712EDE4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194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Passing arguments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E04DA-B0B0-E54E-9960-4AE739BD5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8"/>
            <a:ext cx="11282921" cy="603099"/>
          </a:xfrm>
        </p:spPr>
        <p:txBody>
          <a:bodyPr>
            <a:normAutofit fontScale="92500" lnSpcReduction="20000"/>
          </a:bodyPr>
          <a:lstStyle/>
          <a:p>
            <a:r>
              <a:rPr lang="en-IT" dirty="0"/>
              <a:t>To pass an argument to the </a:t>
            </a:r>
            <a:r>
              <a:rPr lang="en-IT" dirty="0">
                <a:latin typeface="Courier" pitchFamily="2" charset="0"/>
              </a:rPr>
              <a:t>MessagePage</a:t>
            </a:r>
            <a:r>
              <a:rPr lang="en-IT" dirty="0"/>
              <a:t> route, now you can invoke </a:t>
            </a:r>
            <a:r>
              <a:rPr lang="en-IT" dirty="0">
                <a:latin typeface="Courier" pitchFamily="2" charset="0"/>
              </a:rPr>
              <a:t>Navigator.pushNamed()</a:t>
            </a:r>
            <a:r>
              <a:rPr lang="en-IT" dirty="0"/>
              <a:t> as: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49DA7251-B1A7-1940-8B79-1AA4A69B43DA}"/>
              </a:ext>
            </a:extLst>
          </p:cNvPr>
          <p:cNvSpPr txBox="1">
            <a:spLocks/>
          </p:cNvSpPr>
          <p:nvPr/>
        </p:nvSpPr>
        <p:spPr>
          <a:xfrm>
            <a:off x="407853" y="3743152"/>
            <a:ext cx="11282921" cy="60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sz="2200" dirty="0">
                <a:latin typeface="Aptos" panose="020B0004020202020204" pitchFamily="34" charset="0"/>
              </a:rPr>
              <a:t>Note: to make this work we need to modify the constructor of </a:t>
            </a:r>
            <a:r>
              <a:rPr lang="en-IT" sz="2000" dirty="0">
                <a:latin typeface="Courier" pitchFamily="2" charset="0"/>
              </a:rPr>
              <a:t>MessagePage:</a:t>
            </a:r>
            <a:endParaRPr lang="en-IT" sz="2200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DF5792CB-C0EA-8D4F-A147-F612F2DC4997}"/>
              </a:ext>
            </a:extLst>
          </p:cNvPr>
          <p:cNvSpPr txBox="1">
            <a:spLocks/>
          </p:cNvSpPr>
          <p:nvPr/>
        </p:nvSpPr>
        <p:spPr>
          <a:xfrm>
            <a:off x="653626" y="1894421"/>
            <a:ext cx="11110202" cy="17260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 err="1">
                <a:latin typeface="Courier" pitchFamily="2" charset="0"/>
              </a:rPr>
              <a:t>onPressed</a:t>
            </a:r>
            <a:r>
              <a:rPr lang="en-GB" sz="1600" dirty="0">
                <a:latin typeface="Courier" pitchFamily="2" charset="0"/>
              </a:rPr>
              <a:t>: () {</a:t>
            </a:r>
          </a:p>
          <a:p>
            <a:pPr marL="0" indent="0">
              <a:buNone/>
            </a:pPr>
            <a:r>
              <a:rPr lang="en-GB" sz="1600" b="1" dirty="0">
                <a:latin typeface="Courier" pitchFamily="2" charset="0"/>
              </a:rPr>
              <a:t>  </a:t>
            </a:r>
            <a:r>
              <a:rPr lang="en-GB" sz="1600" b="1" dirty="0" err="1">
                <a:latin typeface="Courier" pitchFamily="2" charset="0"/>
              </a:rPr>
              <a:t>Navigator.push</a:t>
            </a:r>
            <a:r>
              <a:rPr lang="en-GB" sz="1600" b="1" dirty="0">
                <a:latin typeface="Courier" pitchFamily="2" charset="0"/>
              </a:rPr>
              <a:t>(context, </a:t>
            </a:r>
            <a:r>
              <a:rPr lang="en-GB" sz="1600" b="1" dirty="0" err="1">
                <a:latin typeface="Courier" pitchFamily="2" charset="0"/>
              </a:rPr>
              <a:t>MaterialPageRoute</a:t>
            </a:r>
            <a:r>
              <a:rPr lang="en-GB" sz="1600" b="1" dirty="0">
                <a:latin typeface="Courier" pitchFamily="2" charset="0"/>
              </a:rPr>
              <a:t>(builder: (context) =&gt; </a:t>
            </a:r>
            <a:r>
              <a:rPr lang="en-GB" sz="1600" b="1" dirty="0" err="1">
                <a:latin typeface="Courier" pitchFamily="2" charset="0"/>
              </a:rPr>
              <a:t>MessagePage</a:t>
            </a:r>
            <a:r>
              <a:rPr lang="en-GB" sz="1600" b="1" dirty="0">
                <a:latin typeface="Courier" pitchFamily="2" charset="0"/>
              </a:rPr>
              <a:t>(message: 'Hello!',)));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73C37A-26D0-E144-8144-A6E0A8E1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29</a:t>
            </a:fld>
            <a:endParaRPr lang="en-GB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9DEA2C91-2D1C-3C3D-3720-976920A57FA0}"/>
              </a:ext>
            </a:extLst>
          </p:cNvPr>
          <p:cNvSpPr txBox="1">
            <a:spLocks/>
          </p:cNvSpPr>
          <p:nvPr/>
        </p:nvSpPr>
        <p:spPr>
          <a:xfrm>
            <a:off x="600891" y="4193767"/>
            <a:ext cx="11110202" cy="1726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 err="1">
                <a:latin typeface="Courier" pitchFamily="2" charset="0"/>
              </a:rPr>
              <a:t>MessagePage</a:t>
            </a:r>
            <a:r>
              <a:rPr lang="en-GB" sz="1600" dirty="0">
                <a:latin typeface="Courier" pitchFamily="2" charset="0"/>
              </a:rPr>
              <a:t>({Key? key, </a:t>
            </a:r>
            <a:r>
              <a:rPr lang="en-GB" sz="1600" b="1" dirty="0">
                <a:latin typeface="Courier" pitchFamily="2" charset="0"/>
              </a:rPr>
              <a:t>required </a:t>
            </a:r>
            <a:r>
              <a:rPr lang="en-GB" sz="1600" b="1" dirty="0" err="1">
                <a:latin typeface="Courier" pitchFamily="2" charset="0"/>
              </a:rPr>
              <a:t>this.message</a:t>
            </a:r>
            <a:r>
              <a:rPr lang="en-GB" sz="1600" dirty="0">
                <a:latin typeface="Courier" pitchFamily="2" charset="0"/>
              </a:rPr>
              <a:t>}) : super(key: key);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b="1" dirty="0">
                <a:latin typeface="Courier" pitchFamily="2" charset="0"/>
              </a:rPr>
              <a:t>final String message;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918D4AA0-3830-7961-BE2B-F187B194A7A2}"/>
              </a:ext>
            </a:extLst>
          </p:cNvPr>
          <p:cNvSpPr txBox="1">
            <a:spLocks/>
          </p:cNvSpPr>
          <p:nvPr/>
        </p:nvSpPr>
        <p:spPr>
          <a:xfrm>
            <a:off x="308188" y="5492929"/>
            <a:ext cx="11282921" cy="60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sz="2200" dirty="0">
                <a:latin typeface="Aptos" panose="020B0004020202020204" pitchFamily="34" charset="0"/>
              </a:rPr>
              <a:t>Then, we can finally show the message: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4019F8D8-4B70-395B-7E59-F2583E429E2C}"/>
              </a:ext>
            </a:extLst>
          </p:cNvPr>
          <p:cNvSpPr txBox="1">
            <a:spLocks/>
          </p:cNvSpPr>
          <p:nvPr/>
        </p:nvSpPr>
        <p:spPr>
          <a:xfrm>
            <a:off x="673945" y="5831922"/>
            <a:ext cx="11110202" cy="1726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b="1" dirty="0">
                <a:latin typeface="Courier" pitchFamily="2" charset="0"/>
              </a:rPr>
              <a:t>Text(‘This is the message: $message’),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5732548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Asynchrony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Navigator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Navigate to a new screen and back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Named routes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Passing argument to a named routes</a:t>
            </a:r>
          </a:p>
          <a:p>
            <a:r>
              <a:rPr lang="en-GB" b="1" dirty="0"/>
              <a:t>Returning an argument from a named route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FE927-2862-6948-8C70-BE9C6A34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5484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phone&#10;&#10;Description automatically generated">
            <a:extLst>
              <a:ext uri="{FF2B5EF4-FFF2-40B4-BE49-F238E27FC236}">
                <a16:creationId xmlns:a16="http://schemas.microsoft.com/office/drawing/2014/main" id="{87F5C41C-5A5E-F29A-0094-972B8616D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272" y="1187447"/>
            <a:ext cx="2535674" cy="5495926"/>
          </a:xfrm>
          <a:prstGeom prst="rect">
            <a:avLst/>
          </a:prstGeom>
        </p:spPr>
      </p:pic>
      <p:pic>
        <p:nvPicPr>
          <p:cNvPr id="9" name="Picture 8" descr="A white rectangular object with purple text&#10;&#10;Description automatically generated">
            <a:extLst>
              <a:ext uri="{FF2B5EF4-FFF2-40B4-BE49-F238E27FC236}">
                <a16:creationId xmlns:a16="http://schemas.microsoft.com/office/drawing/2014/main" id="{2F859568-9F08-21F8-7BDE-BDE4A3E63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154" y="1187447"/>
            <a:ext cx="2535674" cy="54959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– Returning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4625091" cy="4858203"/>
          </a:xfrm>
        </p:spPr>
        <p:txBody>
          <a:bodyPr>
            <a:normAutofit/>
          </a:bodyPr>
          <a:lstStyle/>
          <a:p>
            <a:r>
              <a:rPr lang="en-IT" dirty="0"/>
              <a:t>It is (of course) also possible to return data from a route.</a:t>
            </a:r>
          </a:p>
          <a:p>
            <a:endParaRPr lang="en-IT" dirty="0"/>
          </a:p>
          <a:p>
            <a:r>
              <a:rPr lang="en-IT" dirty="0"/>
              <a:t>To demonstrate how, let’s expand the app with another route </a:t>
            </a:r>
            <a:r>
              <a:rPr lang="en-IT" dirty="0">
                <a:latin typeface="Courier" pitchFamily="2" charset="0"/>
              </a:rPr>
              <a:t>PickValuePage</a:t>
            </a:r>
            <a:r>
              <a:rPr lang="en-IT" dirty="0"/>
              <a:t> that will provide a value to the </a:t>
            </a:r>
            <a:r>
              <a:rPr lang="en-IT" dirty="0">
                <a:latin typeface="Courier" pitchFamily="2" charset="0"/>
              </a:rPr>
              <a:t>HomePage </a:t>
            </a:r>
            <a:r>
              <a:rPr lang="en-IT" dirty="0"/>
              <a:t>which will be in charge of showing it via a </a:t>
            </a:r>
            <a:r>
              <a:rPr lang="en-IT" dirty="0">
                <a:latin typeface="Courier" pitchFamily="2" charset="0"/>
              </a:rPr>
              <a:t>ScaffoldMessenger</a:t>
            </a:r>
            <a:r>
              <a:rPr lang="en-IT" dirty="0"/>
              <a:t>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79C211A-705D-6546-9E60-9C871D9F1097}"/>
              </a:ext>
            </a:extLst>
          </p:cNvPr>
          <p:cNvCxnSpPr>
            <a:cxnSpLocks/>
          </p:cNvCxnSpPr>
          <p:nvPr/>
        </p:nvCxnSpPr>
        <p:spPr>
          <a:xfrm flipV="1">
            <a:off x="6972300" y="1923628"/>
            <a:ext cx="3228340" cy="25941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1EAC90E-B4CA-D640-9D8F-EB2205814982}"/>
              </a:ext>
            </a:extLst>
          </p:cNvPr>
          <p:cNvCxnSpPr>
            <a:cxnSpLocks/>
          </p:cNvCxnSpPr>
          <p:nvPr/>
        </p:nvCxnSpPr>
        <p:spPr>
          <a:xfrm flipH="1" flipV="1">
            <a:off x="6522720" y="1923627"/>
            <a:ext cx="3237653" cy="23638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AD1BE7E-31FC-2F4F-B1AA-08AABBF3791F}"/>
              </a:ext>
            </a:extLst>
          </p:cNvPr>
          <p:cNvCxnSpPr>
            <a:cxnSpLocks/>
          </p:cNvCxnSpPr>
          <p:nvPr/>
        </p:nvCxnSpPr>
        <p:spPr>
          <a:xfrm flipH="1">
            <a:off x="7960361" y="1659043"/>
            <a:ext cx="10430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BB0005-6D8A-4A4F-8EDA-C60CE722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118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Returning data – pickValuePage.dart boilerplate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778318" cy="5053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import '</a:t>
            </a:r>
            <a:r>
              <a:rPr lang="en-GB" sz="1600" dirty="0" err="1">
                <a:latin typeface="Courier" pitchFamily="2" charset="0"/>
              </a:rPr>
              <a:t>package:flutter</a:t>
            </a:r>
            <a:r>
              <a:rPr lang="en-GB" sz="1600" dirty="0">
                <a:latin typeface="Courier" pitchFamily="2" charset="0"/>
              </a:rPr>
              <a:t>/</a:t>
            </a:r>
            <a:r>
              <a:rPr lang="en-GB" sz="1600" dirty="0" err="1">
                <a:latin typeface="Courier" pitchFamily="2" charset="0"/>
              </a:rPr>
              <a:t>material.dart</a:t>
            </a:r>
            <a:r>
              <a:rPr lang="en-GB" sz="1600" dirty="0">
                <a:latin typeface="Courier" pitchFamily="2" charset="0"/>
              </a:rPr>
              <a:t>';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class </a:t>
            </a:r>
            <a:r>
              <a:rPr lang="en-GB" sz="1600" dirty="0" err="1">
                <a:latin typeface="Courier" pitchFamily="2" charset="0"/>
              </a:rPr>
              <a:t>PickValuePage</a:t>
            </a:r>
            <a:r>
              <a:rPr lang="en-GB" sz="1600" dirty="0">
                <a:latin typeface="Courier" pitchFamily="2" charset="0"/>
              </a:rPr>
              <a:t> extends </a:t>
            </a:r>
            <a:r>
              <a:rPr lang="en-GB" sz="1600" dirty="0" err="1">
                <a:latin typeface="Courier" pitchFamily="2" charset="0"/>
              </a:rPr>
              <a:t>StatelessWidget</a:t>
            </a:r>
            <a:r>
              <a:rPr lang="en-GB" sz="1600" dirty="0"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</a:t>
            </a:r>
            <a:r>
              <a:rPr lang="en-GB" sz="1600" dirty="0" err="1">
                <a:latin typeface="Courier" pitchFamily="2" charset="0"/>
              </a:rPr>
              <a:t>PickValuePage</a:t>
            </a:r>
            <a:r>
              <a:rPr lang="en-GB" sz="1600" dirty="0">
                <a:latin typeface="Courier" pitchFamily="2" charset="0"/>
              </a:rPr>
              <a:t>({Key? key}) : super(key: key);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static </a:t>
            </a:r>
            <a:r>
              <a:rPr lang="en-GB" sz="1600" dirty="0" err="1">
                <a:latin typeface="Courier" pitchFamily="2" charset="0"/>
              </a:rPr>
              <a:t>const</a:t>
            </a:r>
            <a:r>
              <a:rPr lang="en-GB" sz="1600" dirty="0">
                <a:latin typeface="Courier" pitchFamily="2" charset="0"/>
              </a:rPr>
              <a:t> </a:t>
            </a:r>
            <a:r>
              <a:rPr lang="en-GB" sz="1600" dirty="0" err="1">
                <a:latin typeface="Courier" pitchFamily="2" charset="0"/>
              </a:rPr>
              <a:t>routename</a:t>
            </a:r>
            <a:r>
              <a:rPr lang="en-GB" sz="1600" dirty="0">
                <a:latin typeface="Courier" pitchFamily="2" charset="0"/>
              </a:rPr>
              <a:t> = ‘</a:t>
            </a:r>
            <a:r>
              <a:rPr lang="en-GB" sz="1600" dirty="0" err="1">
                <a:latin typeface="Courier" pitchFamily="2" charset="0"/>
              </a:rPr>
              <a:t>PickValuePage</a:t>
            </a:r>
            <a:r>
              <a:rPr lang="en-GB" sz="1600" dirty="0">
                <a:latin typeface="Courier" pitchFamily="2" charset="0"/>
              </a:rPr>
              <a:t>';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@override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Widget build(</a:t>
            </a:r>
            <a:r>
              <a:rPr lang="en-GB" sz="1600" dirty="0" err="1">
                <a:latin typeface="Courier" pitchFamily="2" charset="0"/>
              </a:rPr>
              <a:t>BuildContext</a:t>
            </a:r>
            <a:r>
              <a:rPr lang="en-GB" sz="1600" dirty="0">
                <a:latin typeface="Courier" pitchFamily="2" charset="0"/>
              </a:rPr>
              <a:t> context) {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return Scaffold(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</a:t>
            </a:r>
            <a:r>
              <a:rPr lang="en-GB" sz="1600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: </a:t>
            </a:r>
            <a:r>
              <a:rPr lang="en-GB" sz="1600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  title: Text(</a:t>
            </a:r>
            <a:r>
              <a:rPr lang="en-GB" sz="1600" dirty="0" err="1">
                <a:latin typeface="Courier" pitchFamily="2" charset="0"/>
              </a:rPr>
              <a:t>PickValuePage.routename</a:t>
            </a:r>
            <a:r>
              <a:rPr lang="en-GB" sz="1600" dirty="0">
                <a:latin typeface="Courier" pitchFamily="2" charset="0"/>
              </a:rPr>
              <a:t>),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),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  ...</a:t>
            </a:r>
            <a:endParaRPr lang="en-IT" sz="1600" dirty="0">
              <a:latin typeface="Courier" pitchFamily="2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CD0E24D-F407-C340-8481-9E200196E293}"/>
              </a:ext>
            </a:extLst>
          </p:cNvPr>
          <p:cNvSpPr txBox="1">
            <a:spLocks/>
          </p:cNvSpPr>
          <p:nvPr/>
        </p:nvSpPr>
        <p:spPr>
          <a:xfrm>
            <a:off x="6317585" y="1892873"/>
            <a:ext cx="5146281" cy="5053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body: </a:t>
            </a:r>
            <a:r>
              <a:rPr lang="en-GB" sz="1600" dirty="0" err="1">
                <a:latin typeface="Courier" pitchFamily="2" charset="0"/>
              </a:rPr>
              <a:t>Center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  child: </a:t>
            </a:r>
            <a:r>
              <a:rPr lang="en-GB" sz="1600" dirty="0" err="1">
                <a:latin typeface="Courier" pitchFamily="2" charset="0"/>
              </a:rPr>
              <a:t>ElevatedButton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    child: Text('To the home'),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    </a:t>
            </a:r>
            <a:r>
              <a:rPr lang="en-GB" sz="1600" dirty="0" err="1">
                <a:latin typeface="Courier" pitchFamily="2" charset="0"/>
              </a:rPr>
              <a:t>onPressed</a:t>
            </a:r>
            <a:r>
              <a:rPr lang="en-GB" sz="1600" dirty="0">
                <a:latin typeface="Courier" pitchFamily="2" charset="0"/>
              </a:rPr>
              <a:t>: ()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b="1" dirty="0">
                <a:highlight>
                  <a:srgbClr val="FFFF00"/>
                </a:highlight>
                <a:latin typeface="Courier" pitchFamily="2" charset="0"/>
              </a:rPr>
              <a:t>//TODO: implement the navigation + return the data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   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  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  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  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  } //build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} //</a:t>
            </a:r>
            <a:r>
              <a:rPr lang="en-GB" sz="1600" dirty="0" err="1">
                <a:latin typeface="Courier" pitchFamily="2" charset="0"/>
              </a:rPr>
              <a:t>PickValuePage</a:t>
            </a:r>
            <a:endParaRPr lang="en-IT" sz="1600" dirty="0"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ABA87C-B8B5-3C46-B596-05058C085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7862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Returning arguments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E04DA-B0B0-E54E-9960-4AE739BD5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8"/>
            <a:ext cx="11282921" cy="603099"/>
          </a:xfrm>
        </p:spPr>
        <p:txBody>
          <a:bodyPr>
            <a:normAutofit fontScale="92500"/>
          </a:bodyPr>
          <a:lstStyle/>
          <a:p>
            <a:r>
              <a:rPr lang="en-IT" dirty="0"/>
              <a:t>To return an argument to the </a:t>
            </a:r>
            <a:r>
              <a:rPr lang="en-IT" dirty="0">
                <a:latin typeface="Courier" pitchFamily="2" charset="0"/>
              </a:rPr>
              <a:t>HomePage</a:t>
            </a:r>
            <a:r>
              <a:rPr lang="en-IT" dirty="0"/>
              <a:t> route, you can invoke </a:t>
            </a:r>
            <a:r>
              <a:rPr lang="en-IT" dirty="0">
                <a:latin typeface="Courier" pitchFamily="2" charset="0"/>
              </a:rPr>
              <a:t>Navigator.pop()</a:t>
            </a:r>
            <a:r>
              <a:rPr lang="en-IT" dirty="0"/>
              <a:t> as: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B4DC18-BE30-9646-A902-864A61958DC6}"/>
              </a:ext>
            </a:extLst>
          </p:cNvPr>
          <p:cNvCxnSpPr>
            <a:cxnSpLocks/>
          </p:cNvCxnSpPr>
          <p:nvPr/>
        </p:nvCxnSpPr>
        <p:spPr>
          <a:xfrm flipV="1">
            <a:off x="3234690" y="3108961"/>
            <a:ext cx="1005840" cy="937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AD298FF-DC85-3043-AB63-78839672E083}"/>
              </a:ext>
            </a:extLst>
          </p:cNvPr>
          <p:cNvSpPr/>
          <p:nvPr/>
        </p:nvSpPr>
        <p:spPr>
          <a:xfrm>
            <a:off x="2136827" y="4100644"/>
            <a:ext cx="74912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The</a:t>
            </a:r>
            <a:r>
              <a:rPr lang="en-IT">
                <a:latin typeface="Palatino Linotype" panose="02040502050505030304" pitchFamily="18" charset="0"/>
              </a:rPr>
              <a:t> </a:t>
            </a:r>
            <a:r>
              <a:rPr lang="en-IT" dirty="0">
                <a:latin typeface="Aptos" panose="020B0004020202020204" pitchFamily="34" charset="0"/>
              </a:rPr>
              <a:t>value that will return to the </a:t>
            </a:r>
            <a:r>
              <a:rPr lang="en-IT">
                <a:latin typeface="Courier" pitchFamily="2" charset="0"/>
              </a:rPr>
              <a:t>HomePage</a:t>
            </a:r>
            <a:r>
              <a:rPr lang="en-IT">
                <a:latin typeface="Palatino Linotype" panose="02040502050505030304" pitchFamily="18" charset="0"/>
              </a:rPr>
              <a:t> </a:t>
            </a:r>
            <a:r>
              <a:rPr lang="en-IT" dirty="0">
                <a:latin typeface="Aptos" panose="020B0004020202020204" pitchFamily="34" charset="0"/>
              </a:rPr>
              <a:t>once</a:t>
            </a:r>
            <a:r>
              <a:rPr lang="en-IT">
                <a:latin typeface="Palatino Linotype" panose="02040502050505030304" pitchFamily="18" charset="0"/>
              </a:rPr>
              <a:t> </a:t>
            </a:r>
            <a:r>
              <a:rPr lang="en-IT" dirty="0">
                <a:latin typeface="Courier" pitchFamily="2" charset="0"/>
              </a:rPr>
              <a:t>PickValuePage</a:t>
            </a:r>
            <a:r>
              <a:rPr lang="en-IT" dirty="0">
                <a:latin typeface="Palatino Linotype" panose="02040502050505030304" pitchFamily="18" charset="0"/>
              </a:rPr>
              <a:t> </a:t>
            </a:r>
            <a:r>
              <a:rPr lang="en-IT">
                <a:latin typeface="Palatino Linotype" panose="02040502050505030304" pitchFamily="18" charset="0"/>
              </a:rPr>
              <a:t>is </a:t>
            </a:r>
            <a:r>
              <a:rPr lang="en-IT" dirty="0">
                <a:latin typeface="Aptos" panose="020B0004020202020204" pitchFamily="34" charset="0"/>
              </a:rPr>
              <a:t>popped out from the stack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DF5792CB-C0EA-8D4F-A147-F612F2DC4997}"/>
              </a:ext>
            </a:extLst>
          </p:cNvPr>
          <p:cNvSpPr txBox="1">
            <a:spLocks/>
          </p:cNvSpPr>
          <p:nvPr/>
        </p:nvSpPr>
        <p:spPr>
          <a:xfrm>
            <a:off x="580572" y="1971400"/>
            <a:ext cx="11110202" cy="2922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  <a:p>
            <a:pPr marL="0" indent="0">
              <a:buNone/>
            </a:pPr>
            <a:r>
              <a:rPr lang="en-GB" sz="1600" dirty="0" err="1">
                <a:latin typeface="Courier" pitchFamily="2" charset="0"/>
              </a:rPr>
              <a:t>onPressed</a:t>
            </a:r>
            <a:r>
              <a:rPr lang="en-GB" sz="1600" dirty="0">
                <a:latin typeface="Courier" pitchFamily="2" charset="0"/>
              </a:rPr>
              <a:t>: () {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Navigator.pop</a:t>
            </a:r>
            <a:r>
              <a:rPr lang="en-GB" sz="1600" dirty="0">
                <a:latin typeface="Courier" pitchFamily="2" charset="0"/>
              </a:rPr>
              <a:t>(context, 'This is the value');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},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1354000-91BF-0049-A86C-ACE7BEA0BAB9}"/>
              </a:ext>
            </a:extLst>
          </p:cNvPr>
          <p:cNvSpPr txBox="1">
            <a:spLocks/>
          </p:cNvSpPr>
          <p:nvPr/>
        </p:nvSpPr>
        <p:spPr>
          <a:xfrm>
            <a:off x="428171" y="5428195"/>
            <a:ext cx="11282921" cy="60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sz="2000" dirty="0">
                <a:latin typeface="Aptos" panose="020B0004020202020204" pitchFamily="34" charset="0"/>
              </a:rPr>
              <a:t>Note that you can return ANYTHING, not just a </a:t>
            </a:r>
            <a:r>
              <a:rPr lang="en-IT">
                <a:latin typeface="Courier" pitchFamily="2" charset="0"/>
              </a:rPr>
              <a:t>String</a:t>
            </a:r>
            <a:r>
              <a:rPr lang="en-IT" dirty="0"/>
              <a:t>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636188-5303-C44D-84F6-5A6F3285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66402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Returning arguments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E04DA-B0B0-E54E-9960-4AE739BD5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8"/>
            <a:ext cx="11282921" cy="603099"/>
          </a:xfrm>
        </p:spPr>
        <p:txBody>
          <a:bodyPr>
            <a:normAutofit/>
          </a:bodyPr>
          <a:lstStyle/>
          <a:p>
            <a:r>
              <a:rPr lang="en-IT" dirty="0"/>
              <a:t>To get the result, the </a:t>
            </a:r>
            <a:r>
              <a:rPr lang="en-IT" dirty="0">
                <a:latin typeface="Courier" pitchFamily="2" charset="0"/>
              </a:rPr>
              <a:t>HomePage</a:t>
            </a:r>
            <a:r>
              <a:rPr lang="en-IT" dirty="0"/>
              <a:t> must be patient and </a:t>
            </a:r>
            <a:r>
              <a:rPr lang="en-IT" i="1" dirty="0"/>
              <a:t>await</a:t>
            </a:r>
            <a:r>
              <a:rPr lang="en-IT" dirty="0"/>
              <a:t> for it::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B4DC18-BE30-9646-A902-864A61958DC6}"/>
              </a:ext>
            </a:extLst>
          </p:cNvPr>
          <p:cNvCxnSpPr>
            <a:cxnSpLocks/>
          </p:cNvCxnSpPr>
          <p:nvPr/>
        </p:nvCxnSpPr>
        <p:spPr>
          <a:xfrm flipH="1">
            <a:off x="2875935" y="2592989"/>
            <a:ext cx="2176125" cy="533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AD298FF-DC85-3043-AB63-78839672E083}"/>
              </a:ext>
            </a:extLst>
          </p:cNvPr>
          <p:cNvSpPr/>
          <p:nvPr/>
        </p:nvSpPr>
        <p:spPr>
          <a:xfrm>
            <a:off x="5052060" y="2152393"/>
            <a:ext cx="48271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Await means async stuff. The </a:t>
            </a:r>
            <a:r>
              <a:rPr lang="en-IT">
                <a:latin typeface="Courier" pitchFamily="2" charset="0"/>
              </a:rPr>
              <a:t>onPressed</a:t>
            </a:r>
            <a:r>
              <a:rPr lang="en-IT">
                <a:latin typeface="Palatino Linotype" panose="02040502050505030304" pitchFamily="18" charset="0"/>
              </a:rPr>
              <a:t> </a:t>
            </a:r>
            <a:r>
              <a:rPr lang="en-IT" dirty="0">
                <a:latin typeface="Aptos" panose="020B0004020202020204" pitchFamily="34" charset="0"/>
              </a:rPr>
              <a:t>function become asynchronous as well so…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DF5792CB-C0EA-8D4F-A147-F612F2DC4997}"/>
              </a:ext>
            </a:extLst>
          </p:cNvPr>
          <p:cNvSpPr txBox="1">
            <a:spLocks/>
          </p:cNvSpPr>
          <p:nvPr/>
        </p:nvSpPr>
        <p:spPr>
          <a:xfrm>
            <a:off x="600891" y="2762525"/>
            <a:ext cx="11110202" cy="29223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  <a:p>
            <a:pPr marL="0" indent="0">
              <a:buNone/>
            </a:pPr>
            <a:r>
              <a:rPr lang="en-GB" sz="1600" dirty="0" err="1">
                <a:latin typeface="Courier" pitchFamily="2" charset="0"/>
              </a:rPr>
              <a:t>onPressed</a:t>
            </a:r>
            <a:r>
              <a:rPr lang="en-GB" sz="1600" dirty="0">
                <a:latin typeface="Courier" pitchFamily="2" charset="0"/>
              </a:rPr>
              <a:t>: () </a:t>
            </a:r>
            <a:r>
              <a:rPr lang="en-GB" sz="1600" b="1" dirty="0">
                <a:latin typeface="Courier" pitchFamily="2" charset="0"/>
              </a:rPr>
              <a:t>async</a:t>
            </a:r>
            <a:r>
              <a:rPr lang="en-GB" sz="1600" dirty="0">
                <a:latin typeface="Courier" pitchFamily="2" charset="0"/>
              </a:rPr>
              <a:t> {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b="1" dirty="0">
                <a:latin typeface="Courier" pitchFamily="2" charset="0"/>
              </a:rPr>
              <a:t>final result = await</a:t>
            </a:r>
            <a:r>
              <a:rPr lang="en-GB" sz="1600" dirty="0">
                <a:latin typeface="Courier" pitchFamily="2" charset="0"/>
              </a:rPr>
              <a:t> </a:t>
            </a:r>
            <a:r>
              <a:rPr lang="en-GB" sz="1600" dirty="0" err="1">
                <a:latin typeface="Courier" pitchFamily="2" charset="0"/>
              </a:rPr>
              <a:t>Navigator.push</a:t>
            </a:r>
            <a:r>
              <a:rPr lang="en-GB" sz="1600" dirty="0">
                <a:latin typeface="Courier" pitchFamily="2" charset="0"/>
              </a:rPr>
              <a:t>(context, </a:t>
            </a:r>
            <a:r>
              <a:rPr lang="en-GB" sz="1600" dirty="0" err="1">
                <a:latin typeface="Courier" pitchFamily="2" charset="0"/>
              </a:rPr>
              <a:t>MaterialPageRoute</a:t>
            </a:r>
            <a:r>
              <a:rPr lang="en-GB" sz="1600" dirty="0">
                <a:latin typeface="Courier" pitchFamily="2" charset="0"/>
              </a:rPr>
              <a:t>(builder: (context) =&gt; </a:t>
            </a:r>
            <a:r>
              <a:rPr lang="en-GB" sz="1600" dirty="0" err="1">
                <a:latin typeface="Courier" pitchFamily="2" charset="0"/>
              </a:rPr>
              <a:t>PickValuePage</a:t>
            </a:r>
            <a:r>
              <a:rPr lang="en-GB" sz="1600" dirty="0">
                <a:latin typeface="Courier" pitchFamily="2" charset="0"/>
              </a:rPr>
              <a:t>()));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ScaffoldMessenger.of</a:t>
            </a:r>
            <a:r>
              <a:rPr lang="en-GB" sz="1600" dirty="0">
                <a:latin typeface="Courier" pitchFamily="2" charset="0"/>
              </a:rPr>
              <a:t>(context)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..</a:t>
            </a:r>
            <a:r>
              <a:rPr lang="en-GB" sz="1600" dirty="0" err="1">
                <a:latin typeface="Courier" pitchFamily="2" charset="0"/>
              </a:rPr>
              <a:t>removeCurrentSnackBar</a:t>
            </a:r>
            <a:r>
              <a:rPr lang="en-GB" sz="1600" dirty="0">
                <a:latin typeface="Courier" pitchFamily="2" charset="0"/>
              </a:rPr>
              <a:t>()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    ..</a:t>
            </a:r>
            <a:r>
              <a:rPr lang="en-GB" sz="1600" dirty="0" err="1">
                <a:latin typeface="Courier" pitchFamily="2" charset="0"/>
              </a:rPr>
              <a:t>showSnackBar</a:t>
            </a:r>
            <a:r>
              <a:rPr lang="en-GB" sz="1600" dirty="0">
                <a:latin typeface="Courier" pitchFamily="2" charset="0"/>
              </a:rPr>
              <a:t>(</a:t>
            </a:r>
            <a:r>
              <a:rPr lang="en-GB" sz="1600" dirty="0" err="1">
                <a:latin typeface="Courier" pitchFamily="2" charset="0"/>
              </a:rPr>
              <a:t>SnackBar</a:t>
            </a:r>
            <a:r>
              <a:rPr lang="en-GB" sz="1600" dirty="0">
                <a:latin typeface="Courier" pitchFamily="2" charset="0"/>
              </a:rPr>
              <a:t>(content: Text('$result')));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},</a:t>
            </a:r>
          </a:p>
          <a:p>
            <a:pPr marL="0" indent="0">
              <a:buNone/>
            </a:pPr>
            <a:r>
              <a:rPr lang="en-GB" sz="1600" dirty="0">
                <a:latin typeface="Courier" pitchFamily="2" charset="0"/>
              </a:rPr>
              <a:t>...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25A70A-3561-394F-A6C7-F05A93227FC3}"/>
              </a:ext>
            </a:extLst>
          </p:cNvPr>
          <p:cNvCxnSpPr>
            <a:cxnSpLocks/>
          </p:cNvCxnSpPr>
          <p:nvPr/>
        </p:nvCxnSpPr>
        <p:spPr>
          <a:xfrm flipH="1">
            <a:off x="3394710" y="2762525"/>
            <a:ext cx="1657350" cy="664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E96B7C4-C3C0-E546-815F-F587BA72164F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in lab_06-navigation/there_and_back_again/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5E451F-5C66-C44E-BE18-C94ECA55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3563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 final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336811" cy="5334907"/>
          </a:xfrm>
        </p:spPr>
        <p:txBody>
          <a:bodyPr>
            <a:normAutofit/>
          </a:bodyPr>
          <a:lstStyle/>
          <a:p>
            <a:r>
              <a:rPr lang="en-GB" dirty="0"/>
              <a:t>There are other approaches: </a:t>
            </a:r>
          </a:p>
          <a:p>
            <a:endParaRPr lang="en-GB" dirty="0"/>
          </a:p>
          <a:p>
            <a:pPr lvl="1"/>
            <a:r>
              <a:rPr lang="en-GB" dirty="0"/>
              <a:t>You can push “replacements”: </a:t>
            </a:r>
            <a:r>
              <a:rPr lang="en-GB" dirty="0" err="1">
                <a:latin typeface="Courier" pitchFamily="2" charset="0"/>
              </a:rPr>
              <a:t>Navigator.pushReplacement</a:t>
            </a:r>
            <a:r>
              <a:rPr lang="en-GB" dirty="0">
                <a:latin typeface="Courier" pitchFamily="2" charset="0"/>
              </a:rPr>
              <a:t>()</a:t>
            </a:r>
            <a:r>
              <a:rPr lang="en-GB" dirty="0"/>
              <a:t> / </a:t>
            </a:r>
            <a:r>
              <a:rPr lang="en-GB" dirty="0" err="1">
                <a:latin typeface="Courier" pitchFamily="2" charset="0"/>
              </a:rPr>
              <a:t>Navigator.pushReplacementNamed</a:t>
            </a:r>
            <a:r>
              <a:rPr lang="en-GB" dirty="0">
                <a:latin typeface="Courier" pitchFamily="2" charset="0"/>
              </a:rPr>
              <a:t>()</a:t>
            </a:r>
            <a:r>
              <a:rPr lang="en-GB" dirty="0"/>
              <a:t> 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There is a new </a:t>
            </a:r>
            <a:r>
              <a:rPr lang="en-GB" dirty="0">
                <a:latin typeface="Courier" pitchFamily="2" charset="0"/>
              </a:rPr>
              <a:t>Navigator</a:t>
            </a:r>
            <a:r>
              <a:rPr lang="en-GB" dirty="0"/>
              <a:t>: Navigator 2.0 -&gt; </a:t>
            </a:r>
            <a:r>
              <a:rPr lang="en-GB" dirty="0">
                <a:hlinkClick r:id="rId3"/>
              </a:rPr>
              <a:t>https://blog.codemagic.io/flutter-navigator2/</a:t>
            </a:r>
            <a:r>
              <a:rPr lang="en-GB" dirty="0"/>
              <a:t> 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…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	</a:t>
            </a:r>
          </a:p>
          <a:p>
            <a:r>
              <a:rPr lang="en-GB" dirty="0"/>
              <a:t>The usual rationale: they all have their pros and cons. Choose the approach you prefer!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FC86B-EC6C-4344-AA70-A15054DA4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35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7E6DC-34C5-B2FE-E557-83E00BCD9190}"/>
              </a:ext>
            </a:extLst>
          </p:cNvPr>
          <p:cNvSpPr txBox="1"/>
          <p:nvPr/>
        </p:nvSpPr>
        <p:spPr>
          <a:xfrm>
            <a:off x="10381670" y="407381"/>
            <a:ext cx="126538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IT" dirty="0">
                <a:latin typeface="Aptos" panose="020B0004020202020204" pitchFamily="34" charset="0"/>
                <a:ea typeface="Palatino" pitchFamily="2" charset="77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25410730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Asynchrony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Navigator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Navigate to a new screen and back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Named routes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Passing argument to a named routes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Returning an argument from a named route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b="1" dirty="0"/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2D939-F8DA-2243-8E3D-55072F9F7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3691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IT" dirty="0"/>
              <a:t>Exercise 06.01</a:t>
            </a:r>
          </a:p>
          <a:p>
            <a:pPr lvl="1"/>
            <a:r>
              <a:rPr lang="en-IT" dirty="0"/>
              <a:t>Write an asynchronous function fetchUserRole() that after 3 seconds returns the String ‘admin’. Then, use that function in the main function to print the provided and properly produce the following output:</a:t>
            </a:r>
          </a:p>
          <a:p>
            <a:pPr marL="914400" lvl="2" indent="0">
              <a:buNone/>
            </a:pPr>
            <a:r>
              <a:rPr lang="en-IT" dirty="0">
                <a:latin typeface="Courier" pitchFamily="2" charset="0"/>
              </a:rPr>
              <a:t>Fetching user role…</a:t>
            </a:r>
            <a:br>
              <a:rPr lang="en-IT" dirty="0">
                <a:latin typeface="Courier" pitchFamily="2" charset="0"/>
              </a:rPr>
            </a:br>
            <a:r>
              <a:rPr lang="en-IT" dirty="0">
                <a:latin typeface="Courier" pitchFamily="2" charset="0"/>
              </a:rPr>
              <a:t>The user is an admin.</a:t>
            </a:r>
          </a:p>
          <a:p>
            <a:pPr lvl="1"/>
            <a:endParaRPr lang="en-IT" dirty="0"/>
          </a:p>
          <a:p>
            <a:r>
              <a:rPr lang="en-IT" dirty="0"/>
              <a:t>Exercise 06.02</a:t>
            </a:r>
          </a:p>
          <a:p>
            <a:pPr lvl="1"/>
            <a:r>
              <a:rPr lang="en-IT" dirty="0"/>
              <a:t>Use the fetchUserRole() function developed in 06.01 to create a new function isAdminUser() that checks if the string provided by fetchUserRole() is ‘admin’ and returns the respective boolean. Use t</a:t>
            </a:r>
            <a:r>
              <a:rPr lang="en-GB" dirty="0"/>
              <a:t>he</a:t>
            </a:r>
            <a:r>
              <a:rPr lang="en-IT" dirty="0"/>
              <a:t> new function in the main to produce the following output:</a:t>
            </a:r>
          </a:p>
          <a:p>
            <a:pPr marL="914400" lvl="2" indent="0">
              <a:buNone/>
            </a:pPr>
            <a:r>
              <a:rPr lang="en-IT" dirty="0">
                <a:latin typeface="Courier" pitchFamily="2" charset="0"/>
              </a:rPr>
              <a:t>Checking if user is an admin…</a:t>
            </a:r>
            <a:br>
              <a:rPr lang="en-IT" dirty="0">
                <a:latin typeface="Courier" pitchFamily="2" charset="0"/>
              </a:rPr>
            </a:br>
            <a:r>
              <a:rPr lang="en-IT" dirty="0">
                <a:latin typeface="Courier" pitchFamily="2" charset="0"/>
              </a:rPr>
              <a:t>Ok, access granted! </a:t>
            </a:r>
            <a:r>
              <a:rPr lang="en-IT" dirty="0"/>
              <a:t>(if the user is an admin)</a:t>
            </a:r>
            <a:br>
              <a:rPr lang="en-IT" dirty="0"/>
            </a:br>
            <a:r>
              <a:rPr lang="en-IT" dirty="0">
                <a:latin typeface="Courier" pitchFamily="2" charset="0"/>
              </a:rPr>
              <a:t>Access denied! </a:t>
            </a:r>
            <a:r>
              <a:rPr lang="en-IT" dirty="0"/>
              <a:t>(if the user is not an admin)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FD9F2-A816-7349-8A40-B768E58EE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58093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787277" cy="5334907"/>
          </a:xfrm>
        </p:spPr>
        <p:txBody>
          <a:bodyPr>
            <a:normAutofit/>
          </a:bodyPr>
          <a:lstStyle/>
          <a:p>
            <a:r>
              <a:rPr lang="en-GB" dirty="0"/>
              <a:t>Exercise 06.03 (easy)</a:t>
            </a:r>
          </a:p>
          <a:p>
            <a:endParaRPr lang="en-GB" dirty="0"/>
          </a:p>
          <a:p>
            <a:pPr lvl="1"/>
            <a:r>
              <a:rPr lang="en-US" dirty="0"/>
              <a:t>Create a new project ‘</a:t>
            </a:r>
            <a:r>
              <a:rPr lang="en-US" dirty="0" err="1"/>
              <a:t>reproduce_structure</a:t>
            </a:r>
            <a:r>
              <a:rPr lang="en-US" dirty="0"/>
              <a:t>’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Reproduce the app navigation structure on the right.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3C729A-7A00-C248-89B9-49537842BCA2}"/>
              </a:ext>
            </a:extLst>
          </p:cNvPr>
          <p:cNvSpPr/>
          <p:nvPr/>
        </p:nvSpPr>
        <p:spPr>
          <a:xfrm>
            <a:off x="8452757" y="1914897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LoginPage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1DB30-3370-FD48-AC07-F3F0CE007AB0}"/>
              </a:ext>
            </a:extLst>
          </p:cNvPr>
          <p:cNvSpPr/>
          <p:nvPr/>
        </p:nvSpPr>
        <p:spPr>
          <a:xfrm>
            <a:off x="8452757" y="2850832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C98D65-4CAB-B84C-8419-D74D3B3167A8}"/>
              </a:ext>
            </a:extLst>
          </p:cNvPr>
          <p:cNvSpPr/>
          <p:nvPr/>
        </p:nvSpPr>
        <p:spPr>
          <a:xfrm>
            <a:off x="7429817" y="3802532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ProfilePage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FAFEAB-15F5-A347-A171-BEDCFE4C3825}"/>
              </a:ext>
            </a:extLst>
          </p:cNvPr>
          <p:cNvSpPr/>
          <p:nvPr/>
        </p:nvSpPr>
        <p:spPr>
          <a:xfrm>
            <a:off x="9472365" y="4738464"/>
            <a:ext cx="200028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EditEventPage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E25B9F-C10C-C647-8007-6D80A539C9A2}"/>
              </a:ext>
            </a:extLst>
          </p:cNvPr>
          <p:cNvSpPr/>
          <p:nvPr/>
        </p:nvSpPr>
        <p:spPr>
          <a:xfrm>
            <a:off x="9472365" y="3802532"/>
            <a:ext cx="1885155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CalendarPage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CC1CBB-CDD3-D940-8578-D95C7B635C8C}"/>
              </a:ext>
            </a:extLst>
          </p:cNvPr>
          <p:cNvSpPr/>
          <p:nvPr/>
        </p:nvSpPr>
        <p:spPr>
          <a:xfrm>
            <a:off x="6824588" y="4706882"/>
            <a:ext cx="2415812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EditProfilePage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9F225E-8A04-A341-B114-5139B0EE971F}"/>
              </a:ext>
            </a:extLst>
          </p:cNvPr>
          <p:cNvCxnSpPr>
            <a:cxnSpLocks/>
          </p:cNvCxnSpPr>
          <p:nvPr/>
        </p:nvCxnSpPr>
        <p:spPr>
          <a:xfrm flipV="1">
            <a:off x="9039497" y="2367073"/>
            <a:ext cx="0" cy="483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16A1D1-461C-494C-A59E-87CD8EBBA963}"/>
              </a:ext>
            </a:extLst>
          </p:cNvPr>
          <p:cNvCxnSpPr>
            <a:cxnSpLocks/>
          </p:cNvCxnSpPr>
          <p:nvPr/>
        </p:nvCxnSpPr>
        <p:spPr>
          <a:xfrm>
            <a:off x="9692640" y="2367072"/>
            <a:ext cx="0" cy="483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7949AA7-E049-F04C-B70F-BD310DA8CD21}"/>
              </a:ext>
            </a:extLst>
          </p:cNvPr>
          <p:cNvCxnSpPr>
            <a:cxnSpLocks/>
          </p:cNvCxnSpPr>
          <p:nvPr/>
        </p:nvCxnSpPr>
        <p:spPr>
          <a:xfrm flipV="1">
            <a:off x="8654687" y="3318773"/>
            <a:ext cx="0" cy="483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3190F5F-4C7C-DC49-972F-8A26B4AFCA49}"/>
              </a:ext>
            </a:extLst>
          </p:cNvPr>
          <p:cNvCxnSpPr>
            <a:cxnSpLocks/>
          </p:cNvCxnSpPr>
          <p:nvPr/>
        </p:nvCxnSpPr>
        <p:spPr>
          <a:xfrm>
            <a:off x="8907780" y="3318772"/>
            <a:ext cx="0" cy="483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D440F0-754C-5042-8B9C-EE0D31BEE65F}"/>
              </a:ext>
            </a:extLst>
          </p:cNvPr>
          <p:cNvCxnSpPr>
            <a:cxnSpLocks/>
          </p:cNvCxnSpPr>
          <p:nvPr/>
        </p:nvCxnSpPr>
        <p:spPr>
          <a:xfrm flipV="1">
            <a:off x="9732917" y="3303008"/>
            <a:ext cx="0" cy="483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0DFE7A5-070B-5C4A-97C4-E9DF540FE663}"/>
              </a:ext>
            </a:extLst>
          </p:cNvPr>
          <p:cNvCxnSpPr>
            <a:cxnSpLocks/>
          </p:cNvCxnSpPr>
          <p:nvPr/>
        </p:nvCxnSpPr>
        <p:spPr>
          <a:xfrm>
            <a:off x="9986010" y="3303007"/>
            <a:ext cx="0" cy="483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3AD212-909A-6847-AB43-026A4A9E4345}"/>
              </a:ext>
            </a:extLst>
          </p:cNvPr>
          <p:cNvCxnSpPr>
            <a:cxnSpLocks/>
          </p:cNvCxnSpPr>
          <p:nvPr/>
        </p:nvCxnSpPr>
        <p:spPr>
          <a:xfrm flipV="1">
            <a:off x="7923167" y="4254707"/>
            <a:ext cx="0" cy="452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B6E80AF-9140-7D45-BA5F-0C27B22C944A}"/>
              </a:ext>
            </a:extLst>
          </p:cNvPr>
          <p:cNvCxnSpPr>
            <a:cxnSpLocks/>
          </p:cNvCxnSpPr>
          <p:nvPr/>
        </p:nvCxnSpPr>
        <p:spPr>
          <a:xfrm>
            <a:off x="8576310" y="4254706"/>
            <a:ext cx="0" cy="452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06FD408-0556-9546-B3CC-BE634CCF3DCE}"/>
              </a:ext>
            </a:extLst>
          </p:cNvPr>
          <p:cNvCxnSpPr>
            <a:cxnSpLocks/>
          </p:cNvCxnSpPr>
          <p:nvPr/>
        </p:nvCxnSpPr>
        <p:spPr>
          <a:xfrm flipV="1">
            <a:off x="10037717" y="4254706"/>
            <a:ext cx="0" cy="483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3A934E7-C2EC-8E48-A4A1-EF9D6854FB8A}"/>
              </a:ext>
            </a:extLst>
          </p:cNvPr>
          <p:cNvCxnSpPr>
            <a:cxnSpLocks/>
          </p:cNvCxnSpPr>
          <p:nvPr/>
        </p:nvCxnSpPr>
        <p:spPr>
          <a:xfrm>
            <a:off x="10690860" y="4254705"/>
            <a:ext cx="0" cy="483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536EB-A6E3-4947-B493-DEACE36B8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310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61167"/>
            <a:ext cx="6280043" cy="5334907"/>
          </a:xfrm>
        </p:spPr>
        <p:txBody>
          <a:bodyPr>
            <a:normAutofit/>
          </a:bodyPr>
          <a:lstStyle/>
          <a:p>
            <a:r>
              <a:rPr lang="en-GB" sz="1800" dirty="0"/>
              <a:t>Exercise 06.04 (medium)</a:t>
            </a:r>
          </a:p>
          <a:p>
            <a:endParaRPr lang="en-GB" sz="1800" dirty="0"/>
          </a:p>
          <a:p>
            <a:pPr lvl="1"/>
            <a:r>
              <a:rPr lang="en-US" sz="1600" dirty="0"/>
              <a:t>Create a new project ‘</a:t>
            </a:r>
            <a:r>
              <a:rPr lang="en-US" sz="1600" dirty="0" err="1"/>
              <a:t>login_flow</a:t>
            </a:r>
            <a:r>
              <a:rPr lang="en-US" sz="1600" dirty="0"/>
              <a:t>’</a:t>
            </a:r>
          </a:p>
          <a:p>
            <a:pPr lvl="1"/>
            <a:r>
              <a:rPr lang="en-US" sz="1600" dirty="0"/>
              <a:t>Reproduce the app navigation structure on the right.</a:t>
            </a:r>
          </a:p>
          <a:p>
            <a:pPr lvl="1"/>
            <a:r>
              <a:rPr lang="en-US" sz="1600" dirty="0"/>
              <a:t>The login page consists of a form with two textboxes (one for the username and the other for the password) and a button.</a:t>
            </a:r>
          </a:p>
          <a:p>
            <a:pPr lvl="1"/>
            <a:r>
              <a:rPr lang="en-US" sz="1600" dirty="0"/>
              <a:t>When the user types “</a:t>
            </a:r>
            <a:r>
              <a:rPr lang="en-US" sz="1600" dirty="0" err="1"/>
              <a:t>bug@expert.com</a:t>
            </a:r>
            <a:r>
              <a:rPr lang="en-US" sz="1600" dirty="0"/>
              <a:t>” in the username textbox and “5TrNgP5Wd” in the password textbox, and taps the button, the user is redirected to the Homepage. If the credentials are wrong, a </a:t>
            </a:r>
            <a:r>
              <a:rPr lang="en-US" sz="1600" dirty="0" err="1">
                <a:latin typeface="Courier" pitchFamily="2" charset="0"/>
              </a:rPr>
              <a:t>ScaffoldMessenger</a:t>
            </a:r>
            <a:r>
              <a:rPr lang="en-US" sz="1600" dirty="0"/>
              <a:t> is showed for 2 seconds saying “Wrong credentials”.</a:t>
            </a:r>
          </a:p>
          <a:p>
            <a:pPr lvl="1"/>
            <a:endParaRPr lang="en-US" sz="1600" dirty="0"/>
          </a:p>
          <a:p>
            <a:pPr lvl="1"/>
            <a:r>
              <a:rPr lang="en-US" sz="1600" b="1" dirty="0"/>
              <a:t>Hint #1</a:t>
            </a:r>
            <a:r>
              <a:rPr lang="en-US" sz="1600" dirty="0"/>
              <a:t>: you need to instantiate a </a:t>
            </a:r>
            <a:r>
              <a:rPr lang="en-US" sz="1600" dirty="0" err="1"/>
              <a:t>TextEditingController</a:t>
            </a:r>
            <a:r>
              <a:rPr lang="en-US" sz="1600" dirty="0"/>
              <a:t> as state variable</a:t>
            </a:r>
          </a:p>
          <a:p>
            <a:pPr lvl="1"/>
            <a:r>
              <a:rPr lang="en-US" sz="1600" b="1" dirty="0"/>
              <a:t>Hint #2</a:t>
            </a:r>
            <a:r>
              <a:rPr lang="en-US" sz="1600" dirty="0"/>
              <a:t>: you need to use a </a:t>
            </a:r>
            <a:r>
              <a:rPr lang="en-US" sz="1600" dirty="0" err="1"/>
              <a:t>TextField</a:t>
            </a:r>
            <a:r>
              <a:rPr lang="en-US" sz="1600" dirty="0"/>
              <a:t> in you UI</a:t>
            </a:r>
          </a:p>
          <a:p>
            <a:pPr lvl="1"/>
            <a:r>
              <a:rPr lang="en-US" sz="1600" b="1" dirty="0"/>
              <a:t>Hint #3</a:t>
            </a:r>
            <a:r>
              <a:rPr lang="en-US" sz="1600" dirty="0"/>
              <a:t>: then, you can access to the text value using</a:t>
            </a:r>
            <a:endParaRPr lang="en-US" sz="16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3C729A-7A00-C248-89B9-49537842BCA2}"/>
              </a:ext>
            </a:extLst>
          </p:cNvPr>
          <p:cNvSpPr/>
          <p:nvPr/>
        </p:nvSpPr>
        <p:spPr>
          <a:xfrm>
            <a:off x="6734638" y="1222049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LoginPage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1DB30-3370-FD48-AC07-F3F0CE007AB0}"/>
              </a:ext>
            </a:extLst>
          </p:cNvPr>
          <p:cNvSpPr/>
          <p:nvPr/>
        </p:nvSpPr>
        <p:spPr>
          <a:xfrm>
            <a:off x="6734638" y="2157984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HomePage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9F225E-8A04-A341-B114-5139B0EE971F}"/>
              </a:ext>
            </a:extLst>
          </p:cNvPr>
          <p:cNvCxnSpPr>
            <a:cxnSpLocks/>
          </p:cNvCxnSpPr>
          <p:nvPr/>
        </p:nvCxnSpPr>
        <p:spPr>
          <a:xfrm flipV="1">
            <a:off x="7321378" y="1674225"/>
            <a:ext cx="0" cy="483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16A1D1-461C-494C-A59E-87CD8EBBA963}"/>
              </a:ext>
            </a:extLst>
          </p:cNvPr>
          <p:cNvCxnSpPr>
            <a:cxnSpLocks/>
          </p:cNvCxnSpPr>
          <p:nvPr/>
        </p:nvCxnSpPr>
        <p:spPr>
          <a:xfrm>
            <a:off x="7974521" y="1674224"/>
            <a:ext cx="0" cy="483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53CEF-F50A-E24A-A446-2E46FF5C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39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70A44A-55CA-337C-30FB-66C6F0D5FE27}"/>
              </a:ext>
            </a:extLst>
          </p:cNvPr>
          <p:cNvSpPr txBox="1"/>
          <p:nvPr/>
        </p:nvSpPr>
        <p:spPr>
          <a:xfrm>
            <a:off x="6562398" y="4028620"/>
            <a:ext cx="35693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 err="1">
                <a:effectLst/>
                <a:latin typeface="Menlo" panose="020B0609030804020204" pitchFamily="49" charset="0"/>
              </a:rPr>
              <a:t>TextField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(</a:t>
            </a:r>
          </a:p>
          <a:p>
            <a:r>
              <a:rPr lang="en-US" sz="1200" b="0" dirty="0">
                <a:effectLst/>
                <a:latin typeface="Menlo" panose="020B0609030804020204" pitchFamily="49" charset="0"/>
              </a:rPr>
              <a:t>  </a:t>
            </a:r>
            <a:r>
              <a:rPr lang="en-US" sz="1200" b="0" dirty="0" err="1">
                <a:effectLst/>
                <a:latin typeface="Menlo" panose="020B0609030804020204" pitchFamily="49" charset="0"/>
              </a:rPr>
              <a:t>obscureText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: true,</a:t>
            </a:r>
          </a:p>
          <a:p>
            <a:r>
              <a:rPr lang="en-US" sz="1200" b="0" dirty="0">
                <a:effectLst/>
                <a:latin typeface="Menlo" panose="020B0609030804020204" pitchFamily="49" charset="0"/>
              </a:rPr>
              <a:t>  controller: </a:t>
            </a:r>
            <a:r>
              <a:rPr lang="en-US" sz="1200" b="0" dirty="0" err="1">
                <a:effectLst/>
                <a:latin typeface="Menlo" panose="020B0609030804020204" pitchFamily="49" charset="0"/>
              </a:rPr>
              <a:t>passwordController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-US" sz="1200" b="0" dirty="0">
                <a:effectLst/>
                <a:latin typeface="Menlo" panose="020B0609030804020204" pitchFamily="49" charset="0"/>
              </a:rPr>
              <a:t>  decoration: </a:t>
            </a:r>
            <a:r>
              <a:rPr lang="en-US" sz="1200" b="0" dirty="0" err="1">
                <a:effectLst/>
                <a:latin typeface="Menlo" panose="020B0609030804020204" pitchFamily="49" charset="0"/>
              </a:rPr>
              <a:t>InputDecoration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(</a:t>
            </a:r>
          </a:p>
          <a:p>
            <a:r>
              <a:rPr lang="en-US" sz="1200" b="0" dirty="0">
                <a:effectLst/>
                <a:latin typeface="Menlo" panose="020B0609030804020204" pitchFamily="49" charset="0"/>
              </a:rPr>
              <a:t>    border: </a:t>
            </a:r>
            <a:r>
              <a:rPr lang="en-US" sz="1200" b="0" dirty="0" err="1">
                <a:effectLst/>
                <a:latin typeface="Menlo" panose="020B0609030804020204" pitchFamily="49" charset="0"/>
              </a:rPr>
              <a:t>OutlineInputBorder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(),</a:t>
            </a:r>
          </a:p>
          <a:p>
            <a:r>
              <a:rPr lang="en-US" sz="1200" b="0" dirty="0">
                <a:effectLst/>
                <a:latin typeface="Menlo" panose="020B0609030804020204" pitchFamily="49" charset="0"/>
              </a:rPr>
              <a:t>    </a:t>
            </a:r>
            <a:r>
              <a:rPr lang="en-US" sz="1200" b="0" dirty="0" err="1">
                <a:effectLst/>
                <a:latin typeface="Menlo" panose="020B0609030804020204" pitchFamily="49" charset="0"/>
              </a:rPr>
              <a:t>labelText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: 'Password’,</a:t>
            </a:r>
          </a:p>
          <a:p>
            <a:r>
              <a:rPr lang="en-US" sz="1200" b="0" dirty="0">
                <a:effectLst/>
                <a:latin typeface="Menlo" panose="020B0609030804020204" pitchFamily="49" charset="0"/>
              </a:rPr>
              <a:t>    </a:t>
            </a:r>
            <a:r>
              <a:rPr lang="en-US" sz="1200" b="0" dirty="0" err="1">
                <a:effectLst/>
                <a:latin typeface="Menlo" panose="020B0609030804020204" pitchFamily="49" charset="0"/>
              </a:rPr>
              <a:t>hintText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: 'Enter password’</a:t>
            </a:r>
          </a:p>
          <a:p>
            <a:r>
              <a:rPr lang="en-US" sz="1200" b="0" dirty="0">
                <a:effectLst/>
                <a:latin typeface="Menlo" panose="020B0609030804020204" pitchFamily="49" charset="0"/>
              </a:rPr>
              <a:t>  ),</a:t>
            </a:r>
          </a:p>
          <a:p>
            <a:r>
              <a:rPr lang="en-US" sz="1200" b="0" dirty="0">
                <a:effectLst/>
                <a:latin typeface="Menlo" panose="020B0609030804020204" pitchFamily="49" charset="0"/>
              </a:rPr>
              <a:t>),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4CF76B-7C7A-22CB-FDE0-7BC6AEA66B7C}"/>
              </a:ext>
            </a:extLst>
          </p:cNvPr>
          <p:cNvSpPr txBox="1"/>
          <p:nvPr/>
        </p:nvSpPr>
        <p:spPr>
          <a:xfrm>
            <a:off x="6562398" y="2996224"/>
            <a:ext cx="3405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 err="1">
                <a:effectLst/>
                <a:latin typeface="Menlo" panose="020B0609030804020204" pitchFamily="49" charset="0"/>
              </a:rPr>
              <a:t>TextEditingController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 err="1">
                <a:effectLst/>
                <a:latin typeface="Menlo" panose="020B0609030804020204" pitchFamily="49" charset="0"/>
              </a:rPr>
              <a:t>passwordController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 err="1">
                <a:effectLst/>
                <a:latin typeface="Menlo" panose="020B0609030804020204" pitchFamily="49" charset="0"/>
              </a:rPr>
              <a:t>TextEditingController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();</a:t>
            </a:r>
          </a:p>
        </p:txBody>
      </p:sp>
      <p:pic>
        <p:nvPicPr>
          <p:cNvPr id="13" name="Picture 12" descr="A screenshot of a login form&#10;&#10;Description automatically generated">
            <a:extLst>
              <a:ext uri="{FF2B5EF4-FFF2-40B4-BE49-F238E27FC236}">
                <a16:creationId xmlns:a16="http://schemas.microsoft.com/office/drawing/2014/main" id="{6F79062D-F922-359C-0310-433D26B86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214" y="1677109"/>
            <a:ext cx="1929336" cy="4181724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220D260-183F-7EB5-5D8D-ECF4A46B049E}"/>
              </a:ext>
            </a:extLst>
          </p:cNvPr>
          <p:cNvCxnSpPr>
            <a:cxnSpLocks/>
          </p:cNvCxnSpPr>
          <p:nvPr/>
        </p:nvCxnSpPr>
        <p:spPr>
          <a:xfrm flipV="1">
            <a:off x="5878286" y="3642555"/>
            <a:ext cx="684112" cy="12144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0EE6B1-272E-BE8C-6826-0F34F965EB58}"/>
              </a:ext>
            </a:extLst>
          </p:cNvPr>
          <p:cNvCxnSpPr>
            <a:cxnSpLocks/>
          </p:cNvCxnSpPr>
          <p:nvPr/>
        </p:nvCxnSpPr>
        <p:spPr>
          <a:xfrm flipV="1">
            <a:off x="4999512" y="5201392"/>
            <a:ext cx="1562886" cy="2018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BC1F25C-8FC7-73F6-1EED-DCDBAED21024}"/>
              </a:ext>
            </a:extLst>
          </p:cNvPr>
          <p:cNvSpPr txBox="1"/>
          <p:nvPr/>
        </p:nvSpPr>
        <p:spPr>
          <a:xfrm>
            <a:off x="6602276" y="6084157"/>
            <a:ext cx="37852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 err="1">
                <a:effectLst/>
                <a:latin typeface="Menlo" panose="020B0609030804020204" pitchFamily="49" charset="0"/>
              </a:rPr>
              <a:t>passwordController.text</a:t>
            </a:r>
            <a:endParaRPr lang="en-US" sz="1400" b="0" dirty="0">
              <a:effectLst/>
              <a:latin typeface="Menlo" panose="020B0609030804020204" pitchFamily="49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0CB6D4B-1C3D-3A0E-9345-DCA48D6E5AD0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5486400" y="5719949"/>
            <a:ext cx="1115876" cy="5180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5147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phone&#10;&#10;Description automatically generated">
            <a:extLst>
              <a:ext uri="{FF2B5EF4-FFF2-40B4-BE49-F238E27FC236}">
                <a16:creationId xmlns:a16="http://schemas.microsoft.com/office/drawing/2014/main" id="{FB8EDD8C-3127-468F-854B-62C7445FF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051" y="1817146"/>
            <a:ext cx="3209337" cy="3744227"/>
          </a:xfrm>
          <a:prstGeom prst="rect">
            <a:avLst/>
          </a:prstGeom>
        </p:spPr>
      </p:pic>
      <p:pic>
        <p:nvPicPr>
          <p:cNvPr id="7" name="Picture 6" descr="A screenshot of a phone&#10;&#10;Description automatically generated">
            <a:extLst>
              <a:ext uri="{FF2B5EF4-FFF2-40B4-BE49-F238E27FC236}">
                <a16:creationId xmlns:a16="http://schemas.microsoft.com/office/drawing/2014/main" id="{0524971C-E8EC-BEA3-6012-05251999C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757" y="1776460"/>
            <a:ext cx="3191646" cy="37442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3" y="1361167"/>
            <a:ext cx="3835217" cy="5334907"/>
          </a:xfrm>
        </p:spPr>
        <p:txBody>
          <a:bodyPr>
            <a:normAutofit/>
          </a:bodyPr>
          <a:lstStyle/>
          <a:p>
            <a:r>
              <a:rPr lang="en-GB" dirty="0"/>
              <a:t>Exercise 06.05 (medium) </a:t>
            </a:r>
          </a:p>
          <a:p>
            <a:endParaRPr lang="en-GB" dirty="0"/>
          </a:p>
          <a:p>
            <a:pPr lvl="1"/>
            <a:r>
              <a:rPr lang="en-US" dirty="0"/>
              <a:t>Follow the cookbook </a:t>
            </a:r>
            <a:r>
              <a:rPr lang="en-US" dirty="0">
                <a:hlinkClick r:id="rId4"/>
              </a:rPr>
              <a:t>https://docs.flutter.dev/cookbook/navigation/passing-data</a:t>
            </a:r>
            <a:r>
              <a:rPr lang="en-US" dirty="0"/>
              <a:t> by the Flutter team to learn how to pass data to a route directly to its constructor.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(solution available from the Flutter team in the cookbook)</a:t>
            </a:r>
          </a:p>
          <a:p>
            <a:pPr lvl="1"/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30D77EA-26C0-8243-9FDF-E1F796E4D448}"/>
              </a:ext>
            </a:extLst>
          </p:cNvPr>
          <p:cNvCxnSpPr>
            <a:cxnSpLocks/>
          </p:cNvCxnSpPr>
          <p:nvPr/>
        </p:nvCxnSpPr>
        <p:spPr>
          <a:xfrm flipV="1">
            <a:off x="7514942" y="2434590"/>
            <a:ext cx="1766218" cy="9944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887961-70C4-9348-9977-B1D5A714FD76}"/>
              </a:ext>
            </a:extLst>
          </p:cNvPr>
          <p:cNvCxnSpPr>
            <a:cxnSpLocks/>
          </p:cNvCxnSpPr>
          <p:nvPr/>
        </p:nvCxnSpPr>
        <p:spPr>
          <a:xfrm flipH="1">
            <a:off x="7338060" y="2045970"/>
            <a:ext cx="12344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2DBDB-79EE-304F-8820-6D678EA9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4117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Navigator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Navigate to a new screen and back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Named routes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Passing argument to a named routes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Returning an argument from a named route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b="1" dirty="0"/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5D3AB-7ADF-DE4E-B760-7D6C21C93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2240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Homework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/>
              <a:t>Get familiar with Asynchrony and Navigator</a:t>
            </a:r>
            <a:br>
              <a:rPr lang="en-GB" dirty="0"/>
            </a:b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F2601-12EC-1B4E-8F13-1A6587DF4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3784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Navigator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Navigate to a new screen and back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Named routes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Passing argument to a named routes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Returning an argument from a named route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b="1" dirty="0"/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EC4BD-0471-3748-9E2B-909E0D4B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4502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5334907"/>
          </a:xfrm>
        </p:spPr>
        <p:txBody>
          <a:bodyPr>
            <a:normAutofit/>
          </a:bodyPr>
          <a:lstStyle/>
          <a:p>
            <a:endParaRPr lang="en-GB" dirty="0"/>
          </a:p>
          <a:p>
            <a:r>
              <a:rPr lang="en-GB" dirty="0"/>
              <a:t>Code repository of today’s lesson and exercises solution</a:t>
            </a:r>
          </a:p>
          <a:p>
            <a:pPr lvl="1"/>
            <a:r>
              <a:rPr lang="en-GB" dirty="0">
                <a:hlinkClick r:id="rId2"/>
              </a:rPr>
              <a:t>https://github.com/gcappon/bwthw/tree/master/lab_06-navigation</a:t>
            </a:r>
            <a:r>
              <a:rPr lang="en-GB" dirty="0"/>
              <a:t> </a:t>
            </a:r>
            <a:br>
              <a:rPr lang="en-GB" dirty="0"/>
            </a:br>
            <a:endParaRPr lang="en-GB" dirty="0"/>
          </a:p>
          <a:p>
            <a:r>
              <a:rPr lang="en-GB" dirty="0"/>
              <a:t>Async and await </a:t>
            </a:r>
            <a:r>
              <a:rPr lang="en-GB" dirty="0" err="1"/>
              <a:t>codelabs</a:t>
            </a:r>
            <a:endParaRPr lang="en-GB" dirty="0"/>
          </a:p>
          <a:p>
            <a:pPr lvl="1"/>
            <a:r>
              <a:rPr lang="en-GB" dirty="0">
                <a:hlinkClick r:id="rId3"/>
              </a:rPr>
              <a:t>https://dart.dev/codelabs/async-await</a:t>
            </a:r>
            <a:r>
              <a:rPr lang="en-GB" dirty="0"/>
              <a:t> </a:t>
            </a:r>
          </a:p>
          <a:p>
            <a:endParaRPr lang="en-IT" dirty="0"/>
          </a:p>
          <a:p>
            <a:r>
              <a:rPr lang="en-IT" dirty="0"/>
              <a:t>Navigation Recipes</a:t>
            </a:r>
          </a:p>
          <a:p>
            <a:pPr lvl="1"/>
            <a:r>
              <a:rPr lang="en-GB" dirty="0">
                <a:hlinkClick r:id="rId4"/>
              </a:rPr>
              <a:t>https://docs.flutter.dev/cookbook/navigation</a:t>
            </a:r>
            <a:r>
              <a:rPr lang="en-GB" dirty="0"/>
              <a:t> 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AD94D-1F09-934E-96DC-60957E97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71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15526</TotalTime>
  <Words>3229</Words>
  <Application>Microsoft Macintosh PowerPoint</Application>
  <PresentationFormat>Widescreen</PresentationFormat>
  <Paragraphs>609</Paragraphs>
  <Slides>44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4" baseType="lpstr">
      <vt:lpstr>Aptos</vt:lpstr>
      <vt:lpstr>Arial</vt:lpstr>
      <vt:lpstr>Calibri</vt:lpstr>
      <vt:lpstr>Courier</vt:lpstr>
      <vt:lpstr>Courier New</vt:lpstr>
      <vt:lpstr>Menlo</vt:lpstr>
      <vt:lpstr>Palatino Linotype</vt:lpstr>
      <vt:lpstr>Times New Roman</vt:lpstr>
      <vt:lpstr>Wingdings</vt:lpstr>
      <vt:lpstr>Tema di Office</vt:lpstr>
      <vt:lpstr>Giacomo Cappon</vt:lpstr>
      <vt:lpstr>Outline</vt:lpstr>
      <vt:lpstr>New concept: asynchrony</vt:lpstr>
      <vt:lpstr>Key terms</vt:lpstr>
      <vt:lpstr>Future</vt:lpstr>
      <vt:lpstr>Future (wrong example)</vt:lpstr>
      <vt:lpstr>Async and Await</vt:lpstr>
      <vt:lpstr>Fixing the main function</vt:lpstr>
      <vt:lpstr>Fixing the fetchUserOrder function</vt:lpstr>
      <vt:lpstr>Future (correct example)</vt:lpstr>
      <vt:lpstr>Outline</vt:lpstr>
      <vt:lpstr>Navigator</vt:lpstr>
      <vt:lpstr>Outline</vt:lpstr>
      <vt:lpstr>Navigator basics</vt:lpstr>
      <vt:lpstr>Navigator rationale</vt:lpstr>
      <vt:lpstr>Navigator basics - Preparation</vt:lpstr>
      <vt:lpstr>Navigator basics – homePage.dart boilerplate</vt:lpstr>
      <vt:lpstr>Navigator basics – profilePage.dart boilerplate</vt:lpstr>
      <vt:lpstr>Navigator basics – main.dart boilerplate</vt:lpstr>
      <vt:lpstr>Navigator basics – push and pop</vt:lpstr>
      <vt:lpstr>Navigator basics – push and pop</vt:lpstr>
      <vt:lpstr>Outline</vt:lpstr>
      <vt:lpstr>Another approach: Named routes</vt:lpstr>
      <vt:lpstr>Named navigation – Preparation</vt:lpstr>
      <vt:lpstr>Named navigation – pushNamed</vt:lpstr>
      <vt:lpstr>Outline</vt:lpstr>
      <vt:lpstr>Navigator – Passing an argument</vt:lpstr>
      <vt:lpstr>Passing arguments – messagePage.dart boilerplate</vt:lpstr>
      <vt:lpstr>Passing arguments</vt:lpstr>
      <vt:lpstr>Outline</vt:lpstr>
      <vt:lpstr>Navigator – Returning data</vt:lpstr>
      <vt:lpstr>Returning data – pickValuePage.dart boilerplate</vt:lpstr>
      <vt:lpstr>Returning arguments</vt:lpstr>
      <vt:lpstr>Returning arguments</vt:lpstr>
      <vt:lpstr>A final note</vt:lpstr>
      <vt:lpstr>Outline</vt:lpstr>
      <vt:lpstr>Exercises</vt:lpstr>
      <vt:lpstr>Exercise</vt:lpstr>
      <vt:lpstr>Exercise</vt:lpstr>
      <vt:lpstr>Exercise</vt:lpstr>
      <vt:lpstr>Outline</vt:lpstr>
      <vt:lpstr>Homework </vt:lpstr>
      <vt:lpstr>Outline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211</cp:revision>
  <dcterms:created xsi:type="dcterms:W3CDTF">2021-07-19T09:08:13Z</dcterms:created>
  <dcterms:modified xsi:type="dcterms:W3CDTF">2025-04-07T16:05:02Z</dcterms:modified>
</cp:coreProperties>
</file>