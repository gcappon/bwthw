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421" r:id="rId3"/>
    <p:sldId id="418" r:id="rId4"/>
    <p:sldId id="391" r:id="rId5"/>
    <p:sldId id="392" r:id="rId6"/>
    <p:sldId id="393" r:id="rId7"/>
    <p:sldId id="378" r:id="rId8"/>
    <p:sldId id="422" r:id="rId9"/>
    <p:sldId id="349" r:id="rId10"/>
    <p:sldId id="419" r:id="rId11"/>
    <p:sldId id="417" r:id="rId12"/>
    <p:sldId id="347" r:id="rId13"/>
    <p:sldId id="420" r:id="rId14"/>
    <p:sldId id="423" r:id="rId15"/>
    <p:sldId id="303" r:id="rId16"/>
    <p:sldId id="424" r:id="rId17"/>
    <p:sldId id="30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31" autoAdjust="0"/>
    <p:restoredTop sz="87755"/>
  </p:normalViewPr>
  <p:slideViewPr>
    <p:cSldViewPr snapToGrid="0">
      <p:cViewPr varScale="1">
        <p:scale>
          <a:sx n="112" d="100"/>
          <a:sy n="112" d="100"/>
        </p:scale>
        <p:origin x="174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2/18/26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9378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59943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8204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F432-DB2F-0A64-1F3E-DB59FDC71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805BF-0EF6-7070-3E6E-7BC251A6D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46598-2E60-F2FE-3008-5BE976C37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977CA-28C5-A580-3DA5-354D242C0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50077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lutter-community/making-sense-all-of-those-flutter-providers-e842e18f45dd" TargetMode="External"/><Relationship Id="rId2" Type="http://schemas.openxmlformats.org/officeDocument/2006/relationships/hyperlink" Target="https://docs.flutter.dev/development/data-and-backend/state-mgmt/intro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development/data-and-backend/state-mgmt/op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IT"/>
              <a:t>State </a:t>
            </a:r>
            <a:r>
              <a:rPr lang="en-IT" dirty="0"/>
              <a:t>Management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B9B9-1F56-9BFE-C16A-0FEF9E1B4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8C18-3E5A-5687-E4C9-5D2289DF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1AA0F-381F-2A02-37E3-7A85588FF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 on Provider and 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3DD90-396C-98C6-1397-3EFCC9D3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84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r>
              <a:rPr lang="en-IT"/>
              <a:t>: </a:t>
            </a:r>
            <a:r>
              <a:rPr lang="en-IT" dirty="0"/>
              <a:t>Provider (core) 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61167"/>
            <a:ext cx="5894344" cy="5153933"/>
          </a:xfrm>
        </p:spPr>
        <p:txBody>
          <a:bodyPr>
            <a:normAutofit/>
          </a:bodyPr>
          <a:lstStyle/>
          <a:p>
            <a:pPr marL="457200"/>
            <a:endParaRPr lang="en-IT" dirty="0"/>
          </a:p>
          <a:p>
            <a:endParaRPr lang="en-IT" dirty="0"/>
          </a:p>
        </p:txBody>
      </p:sp>
      <p:pic>
        <p:nvPicPr>
          <p:cNvPr id="7" name="Graphic 6" descr="Bell outline">
            <a:extLst>
              <a:ext uri="{FF2B5EF4-FFF2-40B4-BE49-F238E27FC236}">
                <a16:creationId xmlns:a16="http://schemas.microsoft.com/office/drawing/2014/main" id="{25DCBBD3-6E78-9141-9E2C-341174CD8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9839" y="1863628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311616-F193-6E49-89E0-0FF273168CC9}"/>
              </a:ext>
            </a:extLst>
          </p:cNvPr>
          <p:cNvSpPr/>
          <p:nvPr/>
        </p:nvSpPr>
        <p:spPr>
          <a:xfrm>
            <a:off x="6890250" y="1166722"/>
            <a:ext cx="2543852" cy="1596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AD37F-8378-DB48-A962-465066E6F1DF}"/>
              </a:ext>
            </a:extLst>
          </p:cNvPr>
          <p:cNvSpPr txBox="1"/>
          <p:nvPr/>
        </p:nvSpPr>
        <p:spPr>
          <a:xfrm>
            <a:off x="6871322" y="1248655"/>
            <a:ext cx="2560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ClassImplementingChangeNotifier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E1531-BA3E-7A40-BAFD-4ED44A86B181}"/>
              </a:ext>
            </a:extLst>
          </p:cNvPr>
          <p:cNvSpPr txBox="1"/>
          <p:nvPr/>
        </p:nvSpPr>
        <p:spPr>
          <a:xfrm>
            <a:off x="7353072" y="4670627"/>
            <a:ext cx="22831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IT" sz="16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IT" sz="1600">
                <a:latin typeface="Courier" pitchFamily="2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4C8E7-89C0-8D41-AE8C-0860C5F9D2C3}"/>
              </a:ext>
            </a:extLst>
          </p:cNvPr>
          <p:cNvSpPr txBox="1"/>
          <p:nvPr/>
        </p:nvSpPr>
        <p:spPr>
          <a:xfrm>
            <a:off x="7642036" y="5519616"/>
            <a:ext cx="17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>
                <a:latin typeface="Aptos" panose="020B0004020202020204" pitchFamily="34" charset="0"/>
              </a:rPr>
              <a:t>Call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builder</a:t>
            </a:r>
            <a:r>
              <a:rPr lang="en-IT">
                <a:latin typeface="Courier" pitchFamily="2" charset="0"/>
              </a:rPr>
              <a:t> </a:t>
            </a:r>
            <a:r>
              <a:rPr lang="en-IT">
                <a:latin typeface="Aptos" panose="020B0004020202020204" pitchFamily="34" charset="0"/>
              </a:rPr>
              <a:t>method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ADE902-AE76-0C4E-8A9B-DCD0A5F12B87}"/>
              </a:ext>
            </a:extLst>
          </p:cNvPr>
          <p:cNvSpPr/>
          <p:nvPr/>
        </p:nvSpPr>
        <p:spPr>
          <a:xfrm>
            <a:off x="4003336" y="3276426"/>
            <a:ext cx="3292848" cy="341964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2208B6-FB17-3948-9E81-98C671A17004}"/>
              </a:ext>
            </a:extLst>
          </p:cNvPr>
          <p:cNvSpPr txBox="1"/>
          <p:nvPr/>
        </p:nvSpPr>
        <p:spPr>
          <a:xfrm>
            <a:off x="3934689" y="3291279"/>
            <a:ext cx="342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BF5486-046D-DD4C-9FA3-4F1EB2ADFB39}"/>
              </a:ext>
            </a:extLst>
          </p:cNvPr>
          <p:cNvSpPr/>
          <p:nvPr/>
        </p:nvSpPr>
        <p:spPr>
          <a:xfrm>
            <a:off x="4246867" y="4451253"/>
            <a:ext cx="2701073" cy="218189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3A7DB7-662A-9B4B-A09C-2CA0EC3B77D6}"/>
              </a:ext>
            </a:extLst>
          </p:cNvPr>
          <p:cNvSpPr/>
          <p:nvPr/>
        </p:nvSpPr>
        <p:spPr>
          <a:xfrm>
            <a:off x="4621209" y="4963015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20CA3D-51F2-484F-9B03-A9633F5E3F42}"/>
              </a:ext>
            </a:extLst>
          </p:cNvPr>
          <p:cNvSpPr/>
          <p:nvPr/>
        </p:nvSpPr>
        <p:spPr>
          <a:xfrm>
            <a:off x="4362713" y="5484578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E4FF2A-87B0-ED48-967C-6FBBBD92052F}"/>
              </a:ext>
            </a:extLst>
          </p:cNvPr>
          <p:cNvSpPr/>
          <p:nvPr/>
        </p:nvSpPr>
        <p:spPr>
          <a:xfrm>
            <a:off x="6170439" y="612051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895098-62E8-C041-82F9-E332E566B3CB}"/>
              </a:ext>
            </a:extLst>
          </p:cNvPr>
          <p:cNvSpPr/>
          <p:nvPr/>
        </p:nvSpPr>
        <p:spPr>
          <a:xfrm>
            <a:off x="5871093" y="5564273"/>
            <a:ext cx="348899" cy="305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98B04-41CF-9E42-8231-EFA0A9145AF7}"/>
              </a:ext>
            </a:extLst>
          </p:cNvPr>
          <p:cNvSpPr/>
          <p:nvPr/>
        </p:nvSpPr>
        <p:spPr>
          <a:xfrm>
            <a:off x="5548850" y="6119272"/>
            <a:ext cx="348899" cy="2824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1A2A9-9E71-E540-856F-EC184C65FCF4}"/>
              </a:ext>
            </a:extLst>
          </p:cNvPr>
          <p:cNvCxnSpPr>
            <a:cxnSpLocks/>
            <a:stCxn id="32" idx="2"/>
            <a:endCxn id="51" idx="1"/>
          </p:cNvCxnSpPr>
          <p:nvPr/>
        </p:nvCxnSpPr>
        <p:spPr>
          <a:xfrm>
            <a:off x="4795659" y="5245488"/>
            <a:ext cx="667473" cy="106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5546FED-A595-FE42-B624-547A60370B8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4537163" y="5245488"/>
            <a:ext cx="258496" cy="2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128583-786E-C740-B197-29B14CC6F4E9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flipH="1">
            <a:off x="5723300" y="5869289"/>
            <a:ext cx="322243" cy="24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36790-1ACF-7A48-9335-D6199B135726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>
            <a:off x="6045543" y="5869289"/>
            <a:ext cx="299346" cy="25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FDC46EE-BA82-A84A-8C63-0FE6DDEEDDBA}"/>
              </a:ext>
            </a:extLst>
          </p:cNvPr>
          <p:cNvSpPr txBox="1"/>
          <p:nvPr/>
        </p:nvSpPr>
        <p:spPr>
          <a:xfrm>
            <a:off x="4480402" y="4533619"/>
            <a:ext cx="196146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>
                <a:latin typeface="Aptos" panose="020B0004020202020204" pitchFamily="34" charset="0"/>
              </a:defRPr>
            </a:lvl1pPr>
          </a:lstStyle>
          <a:p>
            <a:r>
              <a:rPr lang="en-GB"/>
              <a:t>C</a:t>
            </a:r>
            <a:r>
              <a:rPr lang="en-IT" dirty="0"/>
              <a:t>hild widget tree </a:t>
            </a:r>
          </a:p>
        </p:txBody>
      </p:sp>
      <p:pic>
        <p:nvPicPr>
          <p:cNvPr id="46" name="Graphic 45" descr="Bell outline">
            <a:extLst>
              <a:ext uri="{FF2B5EF4-FFF2-40B4-BE49-F238E27FC236}">
                <a16:creationId xmlns:a16="http://schemas.microsoft.com/office/drawing/2014/main" id="{957D0E34-866D-654B-B441-327CDA4EC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9574" y="3740816"/>
            <a:ext cx="512445" cy="512445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BEB9512-370A-2747-AE18-DA13F29FBB8E}"/>
              </a:ext>
            </a:extLst>
          </p:cNvPr>
          <p:cNvSpPr/>
          <p:nvPr/>
        </p:nvSpPr>
        <p:spPr>
          <a:xfrm>
            <a:off x="6394013" y="3714460"/>
            <a:ext cx="727189" cy="56891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D35447-04B8-CE48-B390-EA9816DBD563}"/>
              </a:ext>
            </a:extLst>
          </p:cNvPr>
          <p:cNvSpPr/>
          <p:nvPr/>
        </p:nvSpPr>
        <p:spPr>
          <a:xfrm>
            <a:off x="4216449" y="3740816"/>
            <a:ext cx="13570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Inject an instance to</a:t>
            </a:r>
            <a:endParaRPr lang="en-IT" sz="1600" dirty="0">
              <a:latin typeface="Aptos" panose="020B0004020202020204" pitchFamily="34" charset="0"/>
            </a:endParaRP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95D4FF0-CF7C-144A-8AA9-703C2521D235}"/>
              </a:ext>
            </a:extLst>
          </p:cNvPr>
          <p:cNvCxnSpPr>
            <a:cxnSpLocks/>
            <a:stCxn id="47" idx="1"/>
            <a:endCxn id="31" idx="0"/>
          </p:cNvCxnSpPr>
          <p:nvPr/>
        </p:nvCxnSpPr>
        <p:spPr>
          <a:xfrm rot="10800000" flipV="1">
            <a:off x="5597405" y="3998915"/>
            <a:ext cx="796609" cy="4523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CEB6BB-98BF-6B47-A5D5-F167186A05BF}"/>
              </a:ext>
            </a:extLst>
          </p:cNvPr>
          <p:cNvCxnSpPr>
            <a:cxnSpLocks/>
            <a:stCxn id="7" idx="2"/>
            <a:endCxn id="47" idx="3"/>
          </p:cNvCxnSpPr>
          <p:nvPr/>
        </p:nvCxnSpPr>
        <p:spPr>
          <a:xfrm rot="5400000">
            <a:off x="7063677" y="2835554"/>
            <a:ext cx="1220888" cy="11058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33B8466-9178-3741-BAE3-6D71C8EE8F51}"/>
              </a:ext>
            </a:extLst>
          </p:cNvPr>
          <p:cNvSpPr/>
          <p:nvPr/>
        </p:nvSpPr>
        <p:spPr>
          <a:xfrm>
            <a:off x="5463132" y="5182651"/>
            <a:ext cx="11700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89D5534-B274-3842-9AD4-6B535139EDD8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7540902" y="3716901"/>
            <a:ext cx="190744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99AF843-0517-7842-8BD0-AC356B180D49}"/>
              </a:ext>
            </a:extLst>
          </p:cNvPr>
          <p:cNvSpPr/>
          <p:nvPr/>
        </p:nvSpPr>
        <p:spPr>
          <a:xfrm>
            <a:off x="5438763" y="5170315"/>
            <a:ext cx="1213557" cy="132475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4171B37-1BAF-E847-8A9F-13DDD5951959}"/>
              </a:ext>
            </a:extLst>
          </p:cNvPr>
          <p:cNvCxnSpPr>
            <a:cxnSpLocks/>
            <a:stCxn id="18" idx="1"/>
            <a:endCxn id="89" idx="3"/>
          </p:cNvCxnSpPr>
          <p:nvPr/>
        </p:nvCxnSpPr>
        <p:spPr>
          <a:xfrm flipH="1" flipV="1">
            <a:off x="6652320" y="5832693"/>
            <a:ext cx="989716" cy="1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EA29F2-86DD-5B4E-B5D7-1BC40D33D8C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8494624" y="5286180"/>
            <a:ext cx="1" cy="233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8A145D-8226-994F-B500-D78B3CF7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10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2981943" y="344039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>
            <a:off x="3862071" y="3892574"/>
            <a:ext cx="0" cy="1273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2652164" y="4290809"/>
            <a:ext cx="1099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Contains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C8BE3-6B94-BF4A-9C92-B44F7BA5562A}"/>
              </a:ext>
            </a:extLst>
          </p:cNvPr>
          <p:cNvSpPr/>
          <p:nvPr/>
        </p:nvSpPr>
        <p:spPr>
          <a:xfrm>
            <a:off x="5622327" y="342900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CartPage</a:t>
            </a:r>
          </a:p>
        </p:txBody>
      </p:sp>
      <p:pic>
        <p:nvPicPr>
          <p:cNvPr id="13" name="Graphic 12" descr="Shopping cart outline">
            <a:extLst>
              <a:ext uri="{FF2B5EF4-FFF2-40B4-BE49-F238E27FC236}">
                <a16:creationId xmlns:a16="http://schemas.microsoft.com/office/drawing/2014/main" id="{5ED6BD3A-A728-2D4C-A41D-91FD31802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1114" y="3532546"/>
            <a:ext cx="1982337" cy="198233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97BA39A-0FFD-7B40-9CC8-8FB9ED0218C2}"/>
              </a:ext>
            </a:extLst>
          </p:cNvPr>
          <p:cNvSpPr/>
          <p:nvPr/>
        </p:nvSpPr>
        <p:spPr>
          <a:xfrm>
            <a:off x="2981943" y="5166256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Catalog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88EDEB-D0A3-FA41-9240-F6B56E79E943}"/>
              </a:ext>
            </a:extLst>
          </p:cNvPr>
          <p:cNvSpPr/>
          <p:nvPr/>
        </p:nvSpPr>
        <p:spPr>
          <a:xfrm>
            <a:off x="5622327" y="5166255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E496F96-8DFD-6A40-9813-2AA199D498A7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4742199" y="5392343"/>
            <a:ext cx="8801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8DFFC5B-E1E0-0343-A4BA-0EE74BFFDAFD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>
            <a:off x="6502455" y="3881175"/>
            <a:ext cx="0" cy="128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3BB723B-7ADF-0249-A7DA-15680086270F}"/>
              </a:ext>
            </a:extLst>
          </p:cNvPr>
          <p:cNvSpPr/>
          <p:nvPr/>
        </p:nvSpPr>
        <p:spPr>
          <a:xfrm>
            <a:off x="3839547" y="5939878"/>
            <a:ext cx="2548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User chooses a product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0C5C2B-B6C8-1044-B398-6E4FEA2154CD}"/>
              </a:ext>
            </a:extLst>
          </p:cNvPr>
          <p:cNvSpPr/>
          <p:nvPr/>
        </p:nvSpPr>
        <p:spPr>
          <a:xfrm>
            <a:off x="7144820" y="4290809"/>
            <a:ext cx="1943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Visualizes/Clears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0807518" cy="1262112"/>
          </a:xfrm>
        </p:spPr>
        <p:txBody>
          <a:bodyPr>
            <a:normAutofit/>
          </a:bodyPr>
          <a:lstStyle/>
          <a:p>
            <a:r>
              <a:rPr lang="en-IT" dirty="0"/>
              <a:t>We will build a (too) simple e-commerce app. Users can choose, in the </a:t>
            </a:r>
            <a:r>
              <a:rPr lang="en-IT" dirty="0">
                <a:latin typeface="Courier" pitchFamily="2" charset="0"/>
              </a:rPr>
              <a:t>HomePage</a:t>
            </a:r>
            <a:r>
              <a:rPr lang="en-IT" dirty="0"/>
              <a:t>, products from a catalog and add them to the cart. In a different screen, </a:t>
            </a:r>
            <a:r>
              <a:rPr lang="en-IT" dirty="0">
                <a:latin typeface="Courier" pitchFamily="2" charset="0"/>
              </a:rPr>
              <a:t>CartPage</a:t>
            </a:r>
            <a:r>
              <a:rPr lang="en-IT" dirty="0"/>
              <a:t>, the number of items in the cart is visualized.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A1164-A62D-FE4C-851B-DE2158C2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0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– UI widget tree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5204154" y="2085428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0" idx="2"/>
            <a:endCxn id="24" idx="0"/>
          </p:cNvCxnSpPr>
          <p:nvPr/>
        </p:nvCxnSpPr>
        <p:spPr>
          <a:xfrm>
            <a:off x="6084282" y="2537603"/>
            <a:ext cx="1258087" cy="53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1518800" y="3393340"/>
            <a:ext cx="21140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To visualize the </a:t>
            </a:r>
            <a:r>
              <a:rPr lang="en-IT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Catalog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C8BE3-6B94-BF4A-9C92-B44F7BA5562A}"/>
              </a:ext>
            </a:extLst>
          </p:cNvPr>
          <p:cNvSpPr/>
          <p:nvPr/>
        </p:nvSpPr>
        <p:spPr>
          <a:xfrm>
            <a:off x="6462241" y="30719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CartPage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77" y="5244806"/>
            <a:ext cx="10807518" cy="1258265"/>
          </a:xfrm>
        </p:spPr>
        <p:txBody>
          <a:bodyPr>
            <a:normAutofit/>
          </a:bodyPr>
          <a:lstStyle/>
          <a:p>
            <a:r>
              <a:rPr lang="en-IT" dirty="0"/>
              <a:t>How to manage the catalog and the cart? With two class (model).</a:t>
            </a:r>
          </a:p>
          <a:p>
            <a:pPr lvl="1"/>
            <a:r>
              <a:rPr lang="en-IT" dirty="0"/>
              <a:t>No problems with </a:t>
            </a:r>
            <a:r>
              <a:rPr lang="en-IT"/>
              <a:t>the 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Catalog</a:t>
            </a:r>
            <a:r>
              <a:rPr lang="en-IT"/>
              <a:t> </a:t>
            </a:r>
            <a:r>
              <a:rPr lang="en-IT" dirty="0"/>
              <a:t>(Ephemeral state)…</a:t>
            </a:r>
          </a:p>
          <a:p>
            <a:pPr lvl="1"/>
            <a:r>
              <a:rPr lang="en-IT" dirty="0"/>
              <a:t>On the other hand</a:t>
            </a:r>
            <a:r>
              <a:rPr lang="en-IT"/>
              <a:t>,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</a:t>
            </a:r>
            <a:r>
              <a:rPr lang="en-IT"/>
              <a:t> </a:t>
            </a:r>
            <a:r>
              <a:rPr lang="en-IT" dirty="0"/>
              <a:t>must be shared (App state) Where to put it?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497ABF-258D-CD48-937C-291F5C90D631}"/>
              </a:ext>
            </a:extLst>
          </p:cNvPr>
          <p:cNvSpPr/>
          <p:nvPr/>
        </p:nvSpPr>
        <p:spPr>
          <a:xfrm>
            <a:off x="3821857" y="411112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A0DAF1-8248-8D40-A8AB-23489C738865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 flipH="1">
            <a:off x="4701985" y="2537603"/>
            <a:ext cx="1382297" cy="53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924C477-5BDD-6849-8A8F-7BB55B074500}"/>
              </a:ext>
            </a:extLst>
          </p:cNvPr>
          <p:cNvSpPr/>
          <p:nvPr/>
        </p:nvSpPr>
        <p:spPr>
          <a:xfrm>
            <a:off x="3821857" y="307195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5F7FE1-26AE-964D-91A9-B020EE0722BB}"/>
              </a:ext>
            </a:extLst>
          </p:cNvPr>
          <p:cNvCxnSpPr>
            <a:cxnSpLocks/>
            <a:stCxn id="26" idx="2"/>
            <a:endCxn id="19" idx="0"/>
          </p:cNvCxnSpPr>
          <p:nvPr/>
        </p:nvCxnSpPr>
        <p:spPr>
          <a:xfrm>
            <a:off x="4701985" y="3524125"/>
            <a:ext cx="0" cy="58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DC01C07-135D-E145-B1CB-98893686CA88}"/>
              </a:ext>
            </a:extLst>
          </p:cNvPr>
          <p:cNvSpPr/>
          <p:nvPr/>
        </p:nvSpPr>
        <p:spPr>
          <a:xfrm>
            <a:off x="6462241" y="4093556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D4445B-43C2-AA49-ACB6-6423F5A1A39F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>
            <a:off x="7342369" y="3524124"/>
            <a:ext cx="0" cy="56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6494B82-BFE7-5144-A6E0-276BB4EEB187}"/>
              </a:ext>
            </a:extLst>
          </p:cNvPr>
          <p:cNvSpPr/>
          <p:nvPr/>
        </p:nvSpPr>
        <p:spPr>
          <a:xfrm>
            <a:off x="8600456" y="3024009"/>
            <a:ext cx="21140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Aptos" panose="020B0004020202020204" pitchFamily="34" charset="0"/>
              </a:rPr>
              <a:t>To visualize the number of items in </a:t>
            </a:r>
            <a:r>
              <a:rPr lang="en-IT" sz="2400">
                <a:latin typeface="Aptos" panose="020B0004020202020204" pitchFamily="34" charset="0"/>
              </a:rPr>
              <a:t>the </a:t>
            </a:r>
            <a:r>
              <a:rPr lang="en-IT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CB48E9-95F6-1B49-B4FA-B5D7C372CB51}"/>
              </a:ext>
            </a:extLst>
          </p:cNvPr>
          <p:cNvSpPr/>
          <p:nvPr/>
        </p:nvSpPr>
        <p:spPr>
          <a:xfrm>
            <a:off x="10070894" y="5244806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Catalog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E172E9-3E1E-054B-90DB-1AE69078475B}"/>
              </a:ext>
            </a:extLst>
          </p:cNvPr>
          <p:cNvSpPr/>
          <p:nvPr/>
        </p:nvSpPr>
        <p:spPr>
          <a:xfrm>
            <a:off x="10070894" y="5927953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D16444-299D-F140-B4BC-91C99115532D}"/>
              </a:ext>
            </a:extLst>
          </p:cNvPr>
          <p:cNvSpPr/>
          <p:nvPr/>
        </p:nvSpPr>
        <p:spPr>
          <a:xfrm>
            <a:off x="5208377" y="127234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EA360D-23EA-EC44-B1C4-6D99236AE11C}"/>
              </a:ext>
            </a:extLst>
          </p:cNvPr>
          <p:cNvCxnSpPr>
            <a:cxnSpLocks/>
            <a:stCxn id="25" idx="2"/>
            <a:endCxn id="10" idx="0"/>
          </p:cNvCxnSpPr>
          <p:nvPr/>
        </p:nvCxnSpPr>
        <p:spPr>
          <a:xfrm flipH="1">
            <a:off x="6084282" y="1724518"/>
            <a:ext cx="4223" cy="360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81CBC-B992-EA4D-9D8A-EAAEA1CB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0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Lift the state up</a:t>
            </a:r>
          </a:p>
        </p:txBody>
      </p:sp>
      <p:sp>
        <p:nvSpPr>
          <p:cNvPr id="44" name="Content Placeholder 5">
            <a:extLst>
              <a:ext uri="{FF2B5EF4-FFF2-40B4-BE49-F238E27FC236}">
                <a16:creationId xmlns:a16="http://schemas.microsoft.com/office/drawing/2014/main" id="{E3B21885-D471-994E-89B5-32436DF22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38" y="1202704"/>
            <a:ext cx="7261395" cy="2051710"/>
          </a:xfrm>
        </p:spPr>
        <p:txBody>
          <a:bodyPr>
            <a:normAutofit/>
          </a:bodyPr>
          <a:lstStyle/>
          <a:p>
            <a:r>
              <a:rPr lang="en-IT" dirty="0"/>
              <a:t>The idea is “Lift the state up”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D0203B-B382-2541-88AB-6D10BAFB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257" y="901688"/>
            <a:ext cx="4313449" cy="15623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7E8F47-0BAE-094C-A209-93D4F52728B7}"/>
              </a:ext>
            </a:extLst>
          </p:cNvPr>
          <p:cNvSpPr/>
          <p:nvPr/>
        </p:nvSpPr>
        <p:spPr>
          <a:xfrm>
            <a:off x="5518947" y="382780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AC115E-CAA8-2343-9FFD-6FC090A689D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399075" y="4279984"/>
            <a:ext cx="1258087" cy="53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C06E0B-770C-3B45-B6E3-DB3659163968}"/>
              </a:ext>
            </a:extLst>
          </p:cNvPr>
          <p:cNvSpPr/>
          <p:nvPr/>
        </p:nvSpPr>
        <p:spPr>
          <a:xfrm>
            <a:off x="6777034" y="481433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FE9DE-49BC-9E4C-BFD4-DAF283F5781E}"/>
              </a:ext>
            </a:extLst>
          </p:cNvPr>
          <p:cNvSpPr/>
          <p:nvPr/>
        </p:nvSpPr>
        <p:spPr>
          <a:xfrm>
            <a:off x="4136650" y="585350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2D75B3-D74C-DE45-88EF-62B9FEB3A47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5016778" y="4279984"/>
            <a:ext cx="1382297" cy="53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6D2B558-3D7B-9844-ABD4-AFDA88BEA52F}"/>
              </a:ext>
            </a:extLst>
          </p:cNvPr>
          <p:cNvSpPr/>
          <p:nvPr/>
        </p:nvSpPr>
        <p:spPr>
          <a:xfrm>
            <a:off x="4136650" y="481433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0961CC-D043-2D4D-A591-A03064F5FA44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5016778" y="5266506"/>
            <a:ext cx="0" cy="58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D9E441E-79CE-BF47-98C3-D5DB269840CB}"/>
              </a:ext>
            </a:extLst>
          </p:cNvPr>
          <p:cNvSpPr/>
          <p:nvPr/>
        </p:nvSpPr>
        <p:spPr>
          <a:xfrm>
            <a:off x="6777034" y="583593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B8200B-C555-FF47-9960-F6AA380DF603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7657162" y="5266505"/>
            <a:ext cx="0" cy="56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CA44033-3107-9547-B58F-D34FCD0E263E}"/>
              </a:ext>
            </a:extLst>
          </p:cNvPr>
          <p:cNvSpPr/>
          <p:nvPr/>
        </p:nvSpPr>
        <p:spPr>
          <a:xfrm>
            <a:off x="2754353" y="3828233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Catalog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816016-EF7C-BC4E-96E8-CC83396D60A0}"/>
              </a:ext>
            </a:extLst>
          </p:cNvPr>
          <p:cNvSpPr/>
          <p:nvPr/>
        </p:nvSpPr>
        <p:spPr>
          <a:xfrm>
            <a:off x="8925113" y="2976825"/>
            <a:ext cx="1760256" cy="45217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74C110-C66C-8042-B2DD-572676AA942C}"/>
              </a:ext>
            </a:extLst>
          </p:cNvPr>
          <p:cNvCxnSpPr>
            <a:cxnSpLocks/>
            <a:stCxn id="17" idx="3"/>
            <a:endCxn id="5" idx="1"/>
          </p:cNvCxnSpPr>
          <p:nvPr/>
        </p:nvCxnSpPr>
        <p:spPr>
          <a:xfrm flipV="1">
            <a:off x="4514609" y="4053897"/>
            <a:ext cx="1004338" cy="4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8F6B4BE-2C0E-1240-B46B-F20A5D78BE04}"/>
              </a:ext>
            </a:extLst>
          </p:cNvPr>
          <p:cNvSpPr/>
          <p:nvPr/>
        </p:nvSpPr>
        <p:spPr>
          <a:xfrm>
            <a:off x="5518947" y="28628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EFB72A2-D2DA-1243-8DFE-E3EDC86F65C6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 flipV="1">
            <a:off x="6399075" y="3202913"/>
            <a:ext cx="2526038" cy="3467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3B6195-5264-664F-8AA5-26E090F92E0A}"/>
              </a:ext>
            </a:extLst>
          </p:cNvPr>
          <p:cNvCxnSpPr>
            <a:cxnSpLocks/>
            <a:stCxn id="22" idx="2"/>
            <a:endCxn id="5" idx="0"/>
          </p:cNvCxnSpPr>
          <p:nvPr/>
        </p:nvCxnSpPr>
        <p:spPr>
          <a:xfrm>
            <a:off x="6399075" y="3315024"/>
            <a:ext cx="0" cy="51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7F5C293-8BDA-B540-B710-438B13F37DCB}"/>
              </a:ext>
            </a:extLst>
          </p:cNvPr>
          <p:cNvSpPr/>
          <p:nvPr/>
        </p:nvSpPr>
        <p:spPr>
          <a:xfrm>
            <a:off x="8661500" y="3549655"/>
            <a:ext cx="25147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Cart</a:t>
            </a:r>
            <a:r>
              <a:rPr lang="en-IT" sz="2400" dirty="0">
                <a:latin typeface="Palatino Linotype" panose="02040502050505030304" pitchFamily="18" charset="0"/>
              </a:rPr>
              <a:t> </a:t>
            </a:r>
            <a:r>
              <a:rPr lang="en-IT" sz="2400" dirty="0">
                <a:latin typeface="Aptos" panose="020B0004020202020204" pitchFamily="34" charset="0"/>
              </a:rPr>
              <a:t>is injected through the tree.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8B966B-489A-EE4F-A4EC-21F379CF3524}"/>
              </a:ext>
            </a:extLst>
          </p:cNvPr>
          <p:cNvSpPr/>
          <p:nvPr/>
        </p:nvSpPr>
        <p:spPr>
          <a:xfrm>
            <a:off x="474231" y="4466791"/>
            <a:ext cx="25147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Catalog</a:t>
            </a:r>
            <a:r>
              <a:rPr lang="en-IT" sz="2400">
                <a:latin typeface="Palatino Linotype" panose="02040502050505030304" pitchFamily="18" charset="0"/>
              </a:rPr>
              <a:t> </a:t>
            </a:r>
            <a:r>
              <a:rPr lang="en-IT" sz="2400" dirty="0">
                <a:latin typeface="Aptos" panose="020B0004020202020204" pitchFamily="34" charset="0"/>
              </a:rPr>
              <a:t>is just a variable </a:t>
            </a:r>
            <a:r>
              <a:rPr lang="en-IT" sz="2400">
                <a:latin typeface="Aptos" panose="020B0004020202020204" pitchFamily="34" charset="0"/>
              </a:rPr>
              <a:t>of </a:t>
            </a:r>
            <a:r>
              <a:rPr lang="en-IT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 sz="2400">
                <a:latin typeface="Palatino Linotype" panose="02040502050505030304" pitchFamily="18" charset="0"/>
              </a:rPr>
              <a:t>. </a:t>
            </a:r>
            <a:endParaRPr lang="en-IT" sz="24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2F9D2-C34B-FC48-8479-31B23C14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79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/>
          </a:bodyPr>
          <a:lstStyle/>
          <a:p>
            <a:r>
              <a:rPr lang="en-IT" dirty="0"/>
              <a:t>Let’s create a new project “shopper” that implements the case of study and shows how to use Provider.</a:t>
            </a:r>
          </a:p>
          <a:p>
            <a:pPr marL="0" indent="0">
              <a:buNone/>
            </a:pPr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0FAA9D8-989B-9A4C-B4B2-521DD1517A4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esson_12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implementing_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state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_management/shopper/</a:t>
            </a:r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7F981D7F-3A97-6E4F-8332-D70128928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27" y="3141064"/>
            <a:ext cx="3683000" cy="2209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57D3A-122E-AE49-93FE-BF3A08EF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453415D-DD63-0170-C752-6EE3E990D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058" y="1214728"/>
            <a:ext cx="2445181" cy="5299789"/>
          </a:xfrm>
          <a:prstGeom prst="rect">
            <a:avLst/>
          </a:prstGeom>
        </p:spPr>
      </p:pic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17BD423-4FC5-9967-48E3-BD87C6DEF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607" y="1199338"/>
            <a:ext cx="2420879" cy="524711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D89783-726B-A416-3D79-64B3767FDE03}"/>
              </a:ext>
            </a:extLst>
          </p:cNvPr>
          <p:cNvCxnSpPr>
            <a:cxnSpLocks/>
          </p:cNvCxnSpPr>
          <p:nvPr/>
        </p:nvCxnSpPr>
        <p:spPr>
          <a:xfrm>
            <a:off x="8708434" y="1679466"/>
            <a:ext cx="133434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98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6D0F2-2F52-91EC-52E5-72382524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B77A8-9C72-5B31-262D-E4BD55C8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87B0-A440-FC89-0B05-1C6152785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 on Provider and 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1C2C5-8527-5479-4A6D-5B8119CF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73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814451" cy="5334907"/>
          </a:xfrm>
        </p:spPr>
        <p:txBody>
          <a:bodyPr>
            <a:normAutofit/>
          </a:bodyPr>
          <a:lstStyle/>
          <a:p>
            <a:r>
              <a:rPr lang="en-US" dirty="0"/>
              <a:t>Create a new project ‘</a:t>
            </a:r>
            <a:r>
              <a:rPr lang="en-US" dirty="0" err="1"/>
              <a:t>meal_manager</a:t>
            </a:r>
            <a:r>
              <a:rPr lang="en-US" dirty="0"/>
              <a:t>’, an app that stores the meal intakes of a user in terms of carbohydrate content and meal timing. </a:t>
            </a:r>
          </a:p>
          <a:p>
            <a:pPr lvl="1"/>
            <a:endParaRPr lang="en-US" dirty="0"/>
          </a:p>
          <a:p>
            <a:r>
              <a:rPr lang="en-US" dirty="0"/>
              <a:t>The app needs to implement the following functionalities: </a:t>
            </a:r>
          </a:p>
          <a:p>
            <a:pPr lvl="1"/>
            <a:r>
              <a:rPr lang="en-US" dirty="0"/>
              <a:t>When a user opens (or restarts) the app, an empty list is showed;</a:t>
            </a:r>
          </a:p>
          <a:p>
            <a:pPr lvl="1"/>
            <a:r>
              <a:rPr lang="en-US" dirty="0"/>
              <a:t>By tapping a button, the user navigates to another page where he can add a new meal (CHO content and timing). Once he/she is done, the user taps a button and navigates back to the home page. The home page must show the updated meal list with the new meal just created;</a:t>
            </a:r>
          </a:p>
          <a:p>
            <a:pPr lvl="1"/>
            <a:r>
              <a:rPr lang="en-US" dirty="0"/>
              <a:t>(Bonus) The user can select a meal from the list. If he/she does that, he/she navigates to another page where he/she can edit or delete the meal entry from the list.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65F5E-766B-8A46-BC7B-5551310C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643E-8A2E-B43B-87C5-C0194E05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B5D9-4130-3C10-3F87-F78DC7C4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– Suggested steps</a:t>
            </a:r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C520E-FC08-FBE5-2756-AA428B93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000FEE-3415-70EA-220C-8FBA1D84D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the UI with placeholders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class that extends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”Give” that class to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ChangeNotifierProvider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Implement the methods of the class created at step 2 (those that call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notifyListeners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Implement the part of the code that “calls” the methods you implemented at step 4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Integrate the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Consumer</a:t>
            </a:r>
            <a:r>
              <a:rPr lang="en-US" dirty="0"/>
              <a:t> where you need them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7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Exercise: here’s a possible idea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376DD2-D4AA-EC49-ABA3-50DB41E08529}"/>
              </a:ext>
            </a:extLst>
          </p:cNvPr>
          <p:cNvSpPr/>
          <p:nvPr/>
        </p:nvSpPr>
        <p:spPr>
          <a:xfrm>
            <a:off x="534413" y="5461054"/>
            <a:ext cx="20491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Homepage is initially empty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3D3E3-C557-EF43-8409-D2BE67BA5353}"/>
              </a:ext>
            </a:extLst>
          </p:cNvPr>
          <p:cNvSpPr/>
          <p:nvPr/>
        </p:nvSpPr>
        <p:spPr>
          <a:xfrm>
            <a:off x="2784310" y="5423575"/>
            <a:ext cx="20491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button is tapped the user navigates to another page where he/she can add a new meal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5CCD2-B1B2-EF4E-BCDC-258E9B2C88DD}"/>
              </a:ext>
            </a:extLst>
          </p:cNvPr>
          <p:cNvSpPr/>
          <p:nvPr/>
        </p:nvSpPr>
        <p:spPr>
          <a:xfrm>
            <a:off x="5189405" y="5423575"/>
            <a:ext cx="20491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</a:t>
            </a:r>
            <a:r>
              <a:rPr lang="en-IT" sz="1600">
                <a:latin typeface="Aptos" panose="020B0004020202020204" pitchFamily="34" charset="0"/>
              </a:rPr>
              <a:t>user </a:t>
            </a:r>
            <a:r>
              <a:rPr lang="en-US" sz="1600">
                <a:latin typeface="Aptos" panose="020B0004020202020204" pitchFamily="34" charset="0"/>
              </a:rPr>
              <a:t>finishes,</a:t>
            </a:r>
            <a:r>
              <a:rPr lang="en-IT" sz="1600">
                <a:latin typeface="Aptos" panose="020B0004020202020204" pitchFamily="34" charset="0"/>
              </a:rPr>
              <a:t> </a:t>
            </a:r>
            <a:r>
              <a:rPr lang="en-IT" sz="1600" dirty="0">
                <a:latin typeface="Aptos" panose="020B0004020202020204" pitchFamily="34" charset="0"/>
              </a:rPr>
              <a:t>the new meal is added to the list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B51B24-C99A-544D-9531-6DD27BC03D55}"/>
              </a:ext>
            </a:extLst>
          </p:cNvPr>
          <p:cNvSpPr/>
          <p:nvPr/>
        </p:nvSpPr>
        <p:spPr>
          <a:xfrm>
            <a:off x="7248780" y="5461054"/>
            <a:ext cx="20491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When the meal is tapped, the user navigates to a new screen where he/she can edit or delete 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488CCA-8AA7-A24E-84CB-726D1CD4AD9C}"/>
              </a:ext>
            </a:extLst>
          </p:cNvPr>
          <p:cNvSpPr/>
          <p:nvPr/>
        </p:nvSpPr>
        <p:spPr>
          <a:xfrm>
            <a:off x="9747368" y="5507220"/>
            <a:ext cx="20491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600" dirty="0">
                <a:latin typeface="Aptos" panose="020B0004020202020204" pitchFamily="34" charset="0"/>
              </a:rPr>
              <a:t>If the meal is edited/deleted the list is updated.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DE765-501F-6541-9A0D-1C7F8D96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9A8310B-DB16-045B-3EC4-406F5550B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13" y="1267254"/>
            <a:ext cx="1843131" cy="3994880"/>
          </a:xfrm>
          <a:prstGeom prst="rect">
            <a:avLst/>
          </a:prstGeom>
        </p:spPr>
      </p:pic>
      <p:pic>
        <p:nvPicPr>
          <p:cNvPr id="9" name="Picture 8" descr="A screenshot of a phone&#10;&#10;Description automatically generated">
            <a:extLst>
              <a:ext uri="{FF2B5EF4-FFF2-40B4-BE49-F238E27FC236}">
                <a16:creationId xmlns:a16="http://schemas.microsoft.com/office/drawing/2014/main" id="{D029C91F-511D-9666-827D-62D4ED27C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304" y="1244171"/>
            <a:ext cx="1843131" cy="3994880"/>
          </a:xfrm>
          <a:prstGeom prst="rect">
            <a:avLst/>
          </a:prstGeom>
        </p:spPr>
      </p:pic>
      <p:pic>
        <p:nvPicPr>
          <p:cNvPr id="11" name="Picture 10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A98B1D53-4ADE-7531-4B2B-E3E1E1196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398" y="1267254"/>
            <a:ext cx="1843131" cy="399488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58221F-8E69-FC96-117A-B35677389077}"/>
              </a:ext>
            </a:extLst>
          </p:cNvPr>
          <p:cNvCxnSpPr>
            <a:cxnSpLocks/>
          </p:cNvCxnSpPr>
          <p:nvPr/>
        </p:nvCxnSpPr>
        <p:spPr>
          <a:xfrm>
            <a:off x="4699416" y="1618950"/>
            <a:ext cx="936886" cy="1019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4E8FD3-9A05-D3D5-76F0-EA88063DC08A}"/>
              </a:ext>
            </a:extLst>
          </p:cNvPr>
          <p:cNvCxnSpPr>
            <a:cxnSpLocks/>
          </p:cNvCxnSpPr>
          <p:nvPr/>
        </p:nvCxnSpPr>
        <p:spPr>
          <a:xfrm flipV="1">
            <a:off x="2218544" y="2908092"/>
            <a:ext cx="944381" cy="19262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19" descr="A screenshot of a phone&#10;&#10;Description automatically generated">
            <a:extLst>
              <a:ext uri="{FF2B5EF4-FFF2-40B4-BE49-F238E27FC236}">
                <a16:creationId xmlns:a16="http://schemas.microsoft.com/office/drawing/2014/main" id="{2577ED07-9C84-AA09-2042-F7CB12150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3" y="1267253"/>
            <a:ext cx="1843132" cy="399488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6F3384-8B8C-0298-D3DF-04B21BB53A19}"/>
              </a:ext>
            </a:extLst>
          </p:cNvPr>
          <p:cNvCxnSpPr>
            <a:cxnSpLocks/>
          </p:cNvCxnSpPr>
          <p:nvPr/>
        </p:nvCxnSpPr>
        <p:spPr>
          <a:xfrm>
            <a:off x="6503205" y="1888773"/>
            <a:ext cx="1306670" cy="1094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4" name="Picture 2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5D4C093-F0ED-E881-DD97-573C818F51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507" y="1267253"/>
            <a:ext cx="1843132" cy="3994882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65A5E0-DD98-BFF5-AF5A-75E6B886B437}"/>
              </a:ext>
            </a:extLst>
          </p:cNvPr>
          <p:cNvCxnSpPr>
            <a:cxnSpLocks/>
          </p:cNvCxnSpPr>
          <p:nvPr/>
        </p:nvCxnSpPr>
        <p:spPr>
          <a:xfrm flipV="1">
            <a:off x="9158405" y="3800007"/>
            <a:ext cx="1207293" cy="11139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171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204337" cy="5334907"/>
          </a:xfrm>
        </p:spPr>
        <p:txBody>
          <a:bodyPr>
            <a:normAutofit/>
          </a:bodyPr>
          <a:lstStyle/>
          <a:p>
            <a:r>
              <a:rPr lang="en-US" dirty="0"/>
              <a:t>Create a new project “</a:t>
            </a:r>
            <a:r>
              <a:rPr lang="en-US" dirty="0" err="1"/>
              <a:t>dynamic_listview</a:t>
            </a:r>
            <a:r>
              <a:rPr lang="en-US" dirty="0"/>
              <a:t>” </a:t>
            </a:r>
          </a:p>
          <a:p>
            <a:endParaRPr lang="en-US" dirty="0"/>
          </a:p>
          <a:p>
            <a:r>
              <a:rPr lang="en-US" dirty="0"/>
              <a:t>Reproduce the UI in the screenshot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FloatingActionButton</a:t>
            </a:r>
            <a:r>
              <a:rPr lang="en-US" dirty="0"/>
              <a:t> on the bottom right has the following </a:t>
            </a:r>
            <a:r>
              <a:rPr lang="en-US" dirty="0" err="1"/>
              <a:t>behaviour</a:t>
            </a:r>
            <a:r>
              <a:rPr lang="en-US" dirty="0"/>
              <a:t>: whenever it is pushed, a new </a:t>
            </a:r>
            <a:r>
              <a:rPr lang="en-US" dirty="0" err="1"/>
              <a:t>ListTile</a:t>
            </a:r>
            <a:r>
              <a:rPr lang="en-US" dirty="0"/>
              <a:t> is added to the </a:t>
            </a:r>
            <a:r>
              <a:rPr lang="en-US" dirty="0" err="1"/>
              <a:t>ListView</a:t>
            </a:r>
            <a:r>
              <a:rPr lang="en-US" dirty="0"/>
              <a:t> and displayed to the user.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1E034-90B7-F04C-B06B-B432CA91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 descr="A white background with pink and black lines&#10;&#10;AI-generated content may be incorrect.">
            <a:extLst>
              <a:ext uri="{FF2B5EF4-FFF2-40B4-BE49-F238E27FC236}">
                <a16:creationId xmlns:a16="http://schemas.microsoft.com/office/drawing/2014/main" id="{DA302FE6-338C-5E94-DC6A-81EC3276B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294" y="520519"/>
            <a:ext cx="2692497" cy="583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4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204337" cy="533490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Hint: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  <a:r>
              <a:rPr lang="en-US" dirty="0"/>
              <a:t> has not just 1 but 4 </a:t>
            </a:r>
            <a:r>
              <a:rPr lang="en-US" dirty="0" err="1"/>
              <a:t>constructurs</a:t>
            </a:r>
            <a:r>
              <a:rPr lang="en-US" dirty="0"/>
              <a:t>!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ListView.builder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/>
              <a:t>could be of help: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Note also that it is normal that when the app is reloaded or restarted, the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  <a:r>
              <a:rPr lang="en-US" dirty="0"/>
              <a:t> will look empty.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1E034-90B7-F04C-B06B-B432CA91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9B396-E45C-0FA2-5BC6-7BC65384F2F7}"/>
              </a:ext>
            </a:extLst>
          </p:cNvPr>
          <p:cNvSpPr txBox="1"/>
          <p:nvPr/>
        </p:nvSpPr>
        <p:spPr>
          <a:xfrm>
            <a:off x="789116" y="2932947"/>
            <a:ext cx="798494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List&lt;String&gt; items = [“1”, “2”, “3”, “a”, “b”, ”c”];</a:t>
            </a:r>
          </a:p>
          <a:p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ListView.builder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 </a:t>
            </a:r>
          </a:p>
          <a:p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itemCount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items.length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itemBuilder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(context, index) {</a:t>
            </a:r>
          </a:p>
          <a:p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return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(title: Text(items[index])); </a:t>
            </a:r>
          </a:p>
          <a:p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},</a:t>
            </a:r>
          </a:p>
          <a:p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endParaRPr lang="en-GB" sz="1600" b="1" dirty="0" err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9" name="Picture 8" descr="A white background with pink and black lines&#10;&#10;AI-generated content may be incorrect.">
            <a:extLst>
              <a:ext uri="{FF2B5EF4-FFF2-40B4-BE49-F238E27FC236}">
                <a16:creationId xmlns:a16="http://schemas.microsoft.com/office/drawing/2014/main" id="{B46C11F0-D356-2B84-4301-BE489A3E4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294" y="520519"/>
            <a:ext cx="2692497" cy="583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46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F2B6F-FFA1-0B98-25A4-079A9F83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81F1-D89E-27D3-CA85-B2A35D00B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4C689-81F3-8E9A-022D-2E87DFBBE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 on Provider and 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Exercises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E6965-3D17-945F-303D-43047730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659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Get familiar with Provider</a:t>
            </a:r>
          </a:p>
          <a:p>
            <a:endParaRPr lang="en-GB" dirty="0"/>
          </a:p>
          <a:p>
            <a:r>
              <a:rPr lang="en-GB" dirty="0"/>
              <a:t>Take a look to other approaches, e.g., </a:t>
            </a:r>
            <a:r>
              <a:rPr lang="en-GB" dirty="0" err="1"/>
              <a:t>Riverpod</a:t>
            </a:r>
            <a:r>
              <a:rPr lang="en-GB" dirty="0"/>
              <a:t> or </a:t>
            </a:r>
            <a:r>
              <a:rPr lang="en-GB" dirty="0" err="1"/>
              <a:t>BLoC</a:t>
            </a:r>
            <a:r>
              <a:rPr lang="en-GB" dirty="0"/>
              <a:t>. Maybe there is something that fits better your way of thinking!</a:t>
            </a:r>
          </a:p>
          <a:p>
            <a:endParaRPr lang="en-GB" dirty="0"/>
          </a:p>
          <a:p>
            <a:r>
              <a:rPr lang="en-GB" dirty="0"/>
              <a:t>Take a look at my solution. You will find some useful code.</a:t>
            </a: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CFC3E-1378-2647-904C-EBD658AA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E1EB-8C58-434F-984E-7F18D319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DD80-A40C-FF4E-0372-F79F0358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248F9-EBEF-91A5-60B0-788590E23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 on Provider and 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C5849-CF48-DE7D-4DA2-CF565F02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776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IT" dirty="0"/>
              <a:t>State management</a:t>
            </a:r>
          </a:p>
          <a:p>
            <a:pPr lvl="1"/>
            <a:r>
              <a:rPr lang="en-GB" dirty="0">
                <a:hlinkClick r:id="rId2"/>
              </a:rPr>
              <a:t>https://docs.flutter.dev/development/data-and-backend/state-mgmt/intro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Making sense of all those Flutter Providers</a:t>
            </a:r>
          </a:p>
          <a:p>
            <a:pPr lvl="1"/>
            <a:r>
              <a:rPr lang="en-GB" dirty="0">
                <a:hlinkClick r:id="rId3"/>
              </a:rPr>
              <a:t>https://medium.com/flutter-community/making-sense-all-of-those-flutter-providers-e842e18f45dd</a:t>
            </a:r>
            <a:r>
              <a:rPr lang="en-GB" dirty="0"/>
              <a:t>	</a:t>
            </a:r>
          </a:p>
          <a:p>
            <a:pPr lvl="1"/>
            <a:endParaRPr lang="en-GB" dirty="0"/>
          </a:p>
          <a:p>
            <a:r>
              <a:rPr lang="en-GB" dirty="0"/>
              <a:t>List of state management approaches</a:t>
            </a:r>
          </a:p>
          <a:p>
            <a:pPr lvl="1"/>
            <a:r>
              <a:rPr lang="en-GB" dirty="0">
                <a:hlinkClick r:id="rId4"/>
              </a:rPr>
              <a:t>https://docs.flutter.dev/development/data-and-backend/state-mgmt/options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5FD1-2BD8-A345-B072-D664E640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17778</TotalTime>
  <Words>846</Words>
  <Application>Microsoft Macintosh PowerPoint</Application>
  <PresentationFormat>Widescreen</PresentationFormat>
  <Paragraphs>152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Calibri</vt:lpstr>
      <vt:lpstr>Courier</vt:lpstr>
      <vt:lpstr>Courier New</vt:lpstr>
      <vt:lpstr>Menlo</vt:lpstr>
      <vt:lpstr>Palatino Linotype</vt:lpstr>
      <vt:lpstr>Times New Roman</vt:lpstr>
      <vt:lpstr>Wingdings</vt:lpstr>
      <vt:lpstr>Tema di Office</vt:lpstr>
      <vt:lpstr>Giacomo Cappon</vt:lpstr>
      <vt:lpstr>Outline</vt:lpstr>
      <vt:lpstr>Recap: Provider (core) flow</vt:lpstr>
      <vt:lpstr>Case of study</vt:lpstr>
      <vt:lpstr>Case of study – UI widget tree</vt:lpstr>
      <vt:lpstr>Lift the state up</vt:lpstr>
      <vt:lpstr>Case of study - Live</vt:lpstr>
      <vt:lpstr>Outline</vt:lpstr>
      <vt:lpstr>Exercise</vt:lpstr>
      <vt:lpstr>Exercise – Suggested steps</vt:lpstr>
      <vt:lpstr>Exercise: here’s a possible idea</vt:lpstr>
      <vt:lpstr>Exercise</vt:lpstr>
      <vt:lpstr>Exercise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260</cp:revision>
  <dcterms:created xsi:type="dcterms:W3CDTF">2021-07-19T09:08:13Z</dcterms:created>
  <dcterms:modified xsi:type="dcterms:W3CDTF">2026-02-18T13:37:26Z</dcterms:modified>
</cp:coreProperties>
</file>