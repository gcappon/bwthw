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9" r:id="rId4"/>
    <p:sldId id="267" r:id="rId5"/>
    <p:sldId id="280" r:id="rId6"/>
    <p:sldId id="260" r:id="rId7"/>
    <p:sldId id="271" r:id="rId8"/>
    <p:sldId id="270" r:id="rId9"/>
    <p:sldId id="268" r:id="rId10"/>
    <p:sldId id="272" r:id="rId11"/>
    <p:sldId id="261" r:id="rId12"/>
    <p:sldId id="263" r:id="rId13"/>
    <p:sldId id="262" r:id="rId14"/>
    <p:sldId id="264" r:id="rId15"/>
    <p:sldId id="275" r:id="rId16"/>
    <p:sldId id="276" r:id="rId17"/>
    <p:sldId id="277" r:id="rId18"/>
    <p:sldId id="278" r:id="rId19"/>
    <p:sldId id="279" r:id="rId20"/>
    <p:sldId id="282" r:id="rId21"/>
    <p:sldId id="258" r:id="rId22"/>
    <p:sldId id="283" r:id="rId23"/>
    <p:sldId id="266" r:id="rId24"/>
    <p:sldId id="284" r:id="rId25"/>
    <p:sldId id="285" r:id="rId26"/>
    <p:sldId id="286" r:id="rId27"/>
    <p:sldId id="287" r:id="rId28"/>
    <p:sldId id="288" r:id="rId29"/>
    <p:sldId id="289" r:id="rId30"/>
    <p:sldId id="28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a:srgbClr val="EBF1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Stile chiaro 3 - Color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11" autoAdjust="0"/>
    <p:restoredTop sz="94660"/>
  </p:normalViewPr>
  <p:slideViewPr>
    <p:cSldViewPr snapToGrid="0">
      <p:cViewPr varScale="1">
        <p:scale>
          <a:sx n="122" d="100"/>
          <a:sy n="122" d="100"/>
        </p:scale>
        <p:origin x="824" y="200"/>
      </p:cViewPr>
      <p:guideLst/>
    </p:cSldViewPr>
  </p:slideViewPr>
  <p:notesTextViewPr>
    <p:cViewPr>
      <p:scale>
        <a:sx n="1" d="1"/>
        <a:sy n="1" d="1"/>
      </p:scale>
      <p:origin x="0" y="0"/>
    </p:cViewPr>
  </p:notesTextViewPr>
  <p:notesViewPr>
    <p:cSldViewPr snapToGrid="0">
      <p:cViewPr varScale="1">
        <p:scale>
          <a:sx n="168" d="100"/>
          <a:sy n="168" d="100"/>
        </p:scale>
        <p:origin x="6640"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FBD0CA-8F9C-4380-8AFD-600A0D90DFDA}" type="datetimeFigureOut">
              <a:rPr lang="en-GB" smtClean="0"/>
              <a:t>11/03/2025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C5DFC-85A9-4C89-B923-D32D369DC18C}" type="slidenum">
              <a:rPr lang="en-GB" smtClean="0"/>
              <a:t>‹#›</a:t>
            </a:fld>
            <a:endParaRPr lang="en-GB"/>
          </a:p>
        </p:txBody>
      </p:sp>
    </p:spTree>
    <p:extLst>
      <p:ext uri="{BB962C8B-B14F-4D97-AF65-F5344CB8AC3E}">
        <p14:creationId xmlns:p14="http://schemas.microsoft.com/office/powerpoint/2010/main" val="2489753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21</a:t>
            </a:fld>
            <a:endParaRPr lang="en-GB"/>
          </a:p>
        </p:txBody>
      </p:sp>
    </p:spTree>
    <p:extLst>
      <p:ext uri="{BB962C8B-B14F-4D97-AF65-F5344CB8AC3E}">
        <p14:creationId xmlns:p14="http://schemas.microsoft.com/office/powerpoint/2010/main" val="2459488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452F5A9-226A-479A-BA7C-FE8E1E3031D5}" type="slidenum">
              <a:rPr lang="en-GB" smtClean="0"/>
              <a:t>22</a:t>
            </a:fld>
            <a:endParaRPr lang="en-GB"/>
          </a:p>
        </p:txBody>
      </p:sp>
    </p:spTree>
    <p:extLst>
      <p:ext uri="{BB962C8B-B14F-4D97-AF65-F5344CB8AC3E}">
        <p14:creationId xmlns:p14="http://schemas.microsoft.com/office/powerpoint/2010/main" val="3223293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24</a:t>
            </a:fld>
            <a:endParaRPr lang="en-GB"/>
          </a:p>
        </p:txBody>
      </p:sp>
    </p:spTree>
    <p:extLst>
      <p:ext uri="{BB962C8B-B14F-4D97-AF65-F5344CB8AC3E}">
        <p14:creationId xmlns:p14="http://schemas.microsoft.com/office/powerpoint/2010/main" val="432095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25</a:t>
            </a:fld>
            <a:endParaRPr lang="en-GB"/>
          </a:p>
        </p:txBody>
      </p:sp>
    </p:spTree>
    <p:extLst>
      <p:ext uri="{BB962C8B-B14F-4D97-AF65-F5344CB8AC3E}">
        <p14:creationId xmlns:p14="http://schemas.microsoft.com/office/powerpoint/2010/main" val="2361366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452F5A9-226A-479A-BA7C-FE8E1E3031D5}" type="slidenum">
              <a:rPr lang="en-GB" smtClean="0"/>
              <a:t>29</a:t>
            </a:fld>
            <a:endParaRPr lang="en-GB"/>
          </a:p>
        </p:txBody>
      </p:sp>
    </p:spTree>
    <p:extLst>
      <p:ext uri="{BB962C8B-B14F-4D97-AF65-F5344CB8AC3E}">
        <p14:creationId xmlns:p14="http://schemas.microsoft.com/office/powerpoint/2010/main" val="4040559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baseline="0" dirty="0">
                <a:latin typeface="Aptos" panose="020B0004020202020204" pitchFamily="34" charset="0"/>
              </a:rPr>
              <a:t>Giacomo Cappon</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DE2C5B-556E-47B8-A792-024C2FCA4ACC}" type="slidenum">
              <a:rPr lang="en-GB" smtClean="0"/>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Palatino Linotype" panose="02040502050505030304" pitchFamily="18"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Fundamentals of computer networks</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Computer networks</a:t>
            </a:r>
            <a:endParaRPr lang="en-GB" dirty="0">
              <a:latin typeface="Aptos" panose="020B0004020202020204" pitchFamily="34" charset="0"/>
            </a:endParaRPr>
          </a:p>
        </p:txBody>
      </p:sp>
      <p:sp>
        <p:nvSpPr>
          <p:cNvPr id="3" name="Segnaposto contenuto 2"/>
          <p:cNvSpPr>
            <a:spLocks noGrp="1"/>
          </p:cNvSpPr>
          <p:nvPr>
            <p:ph idx="1"/>
          </p:nvPr>
        </p:nvSpPr>
        <p:spPr>
          <a:xfrm>
            <a:off x="428172" y="1361167"/>
            <a:ext cx="9594717" cy="5352454"/>
          </a:xfrm>
        </p:spPr>
        <p:txBody>
          <a:bodyPr>
            <a:normAutofit/>
          </a:bodyPr>
          <a:lstStyle/>
          <a:p>
            <a:r>
              <a:rPr lang="en-US" dirty="0">
                <a:latin typeface="Aptos" panose="020B0004020202020204" pitchFamily="34" charset="0"/>
              </a:rPr>
              <a:t>Data collected by wearable IoT sensors are shared among different devices running over a computer network, typically the Internet.</a:t>
            </a:r>
          </a:p>
          <a:p>
            <a:endParaRPr lang="en-US" dirty="0">
              <a:latin typeface="Aptos" panose="020B0004020202020204" pitchFamily="34" charset="0"/>
            </a:endParaRPr>
          </a:p>
          <a:p>
            <a:r>
              <a:rPr lang="en-US" b="1" dirty="0">
                <a:latin typeface="Aptos" panose="020B0004020202020204" pitchFamily="34" charset="0"/>
              </a:rPr>
              <a:t>Computer network: </a:t>
            </a:r>
            <a:r>
              <a:rPr lang="en-US" dirty="0">
                <a:latin typeface="Aptos" panose="020B0004020202020204" pitchFamily="34" charset="0"/>
              </a:rPr>
              <a:t>a collection of autonomous computers (</a:t>
            </a:r>
            <a:r>
              <a:rPr lang="en-US" b="1" dirty="0">
                <a:latin typeface="Aptos" panose="020B0004020202020204" pitchFamily="34" charset="0"/>
              </a:rPr>
              <a:t>hosts</a:t>
            </a:r>
            <a:r>
              <a:rPr lang="en-US" dirty="0">
                <a:latin typeface="Aptos" panose="020B0004020202020204" pitchFamily="34" charset="0"/>
              </a:rPr>
              <a:t>) interconnected by a single technology. </a:t>
            </a:r>
          </a:p>
          <a:p>
            <a:endParaRPr lang="en-US" dirty="0">
              <a:latin typeface="Aptos" panose="020B0004020202020204" pitchFamily="34" charset="0"/>
            </a:endParaRPr>
          </a:p>
          <a:p>
            <a:r>
              <a:rPr lang="en-US" dirty="0">
                <a:latin typeface="Aptos" panose="020B0004020202020204" pitchFamily="34" charset="0"/>
              </a:rPr>
              <a:t>Two computers are said to be interconnected if they are able to exchange information.</a:t>
            </a:r>
          </a:p>
          <a:p>
            <a:endParaRPr lang="en-US" dirty="0">
              <a:latin typeface="Aptos" panose="020B0004020202020204" pitchFamily="34" charset="0"/>
            </a:endParaRPr>
          </a:p>
          <a:p>
            <a:r>
              <a:rPr lang="en-US" dirty="0">
                <a:latin typeface="Aptos" panose="020B0004020202020204" pitchFamily="34" charset="0"/>
                <a:sym typeface="Wingdings" panose="05000000000000000000" pitchFamily="2" charset="2"/>
              </a:rPr>
              <a:t>Purpose of computer networks: to </a:t>
            </a:r>
            <a:r>
              <a:rPr lang="en-US" b="1" dirty="0">
                <a:latin typeface="Aptos" panose="020B0004020202020204" pitchFamily="34" charset="0"/>
                <a:sym typeface="Wingdings" panose="05000000000000000000" pitchFamily="2" charset="2"/>
              </a:rPr>
              <a:t>share resources </a:t>
            </a:r>
            <a:r>
              <a:rPr lang="en-US" dirty="0">
                <a:latin typeface="Aptos" panose="020B0004020202020204" pitchFamily="34" charset="0"/>
                <a:sym typeface="Wingdings" panose="05000000000000000000" pitchFamily="2" charset="2"/>
              </a:rPr>
              <a:t>(e.g. data and applications). </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2</a:t>
            </a:fld>
            <a:endParaRPr lang="en-GB">
              <a:latin typeface="Aptos" panose="020B0004020202020204" pitchFamily="34" charset="0"/>
            </a:endParaRPr>
          </a:p>
        </p:txBody>
      </p:sp>
      <p:pic>
        <p:nvPicPr>
          <p:cNvPr id="6" name="Picture 5" descr="A computer and a computer tower&#10;&#10;Description automatically generated with medium confidence">
            <a:extLst>
              <a:ext uri="{FF2B5EF4-FFF2-40B4-BE49-F238E27FC236}">
                <a16:creationId xmlns:a16="http://schemas.microsoft.com/office/drawing/2014/main" id="{FCDAC03C-BF04-8EB4-6F5D-7E788711B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9799" y="4764165"/>
            <a:ext cx="1133199" cy="1133199"/>
          </a:xfrm>
          <a:prstGeom prst="rect">
            <a:avLst/>
          </a:prstGeom>
        </p:spPr>
      </p:pic>
      <p:pic>
        <p:nvPicPr>
          <p:cNvPr id="8" name="Picture 7" descr="A blue smart watch with a heart and a red heart&#10;&#10;Description automatically generated">
            <a:extLst>
              <a:ext uri="{FF2B5EF4-FFF2-40B4-BE49-F238E27FC236}">
                <a16:creationId xmlns:a16="http://schemas.microsoft.com/office/drawing/2014/main" id="{A03287B2-6208-3E25-C0B1-314A3C390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9799" y="1286037"/>
            <a:ext cx="1133198" cy="1133198"/>
          </a:xfrm>
          <a:prstGeom prst="rect">
            <a:avLst/>
          </a:prstGeom>
        </p:spPr>
      </p:pic>
      <p:pic>
        <p:nvPicPr>
          <p:cNvPr id="10" name="Picture 9" descr="A blue and yellow logo&#10;&#10;Description automatically generated">
            <a:extLst>
              <a:ext uri="{FF2B5EF4-FFF2-40B4-BE49-F238E27FC236}">
                <a16:creationId xmlns:a16="http://schemas.microsoft.com/office/drawing/2014/main" id="{393F22C5-FD28-C7A9-1830-EC4A7B1D8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9799" y="3025101"/>
            <a:ext cx="1133198" cy="1133198"/>
          </a:xfrm>
          <a:prstGeom prst="rect">
            <a:avLst/>
          </a:prstGeom>
        </p:spPr>
      </p:pic>
      <p:cxnSp>
        <p:nvCxnSpPr>
          <p:cNvPr id="12" name="Straight Arrow Connector 11">
            <a:extLst>
              <a:ext uri="{FF2B5EF4-FFF2-40B4-BE49-F238E27FC236}">
                <a16:creationId xmlns:a16="http://schemas.microsoft.com/office/drawing/2014/main" id="{4B0631BC-A5ED-6954-B3C3-10C3146145AF}"/>
              </a:ext>
            </a:extLst>
          </p:cNvPr>
          <p:cNvCxnSpPr/>
          <p:nvPr/>
        </p:nvCxnSpPr>
        <p:spPr>
          <a:xfrm>
            <a:off x="11066398" y="2539014"/>
            <a:ext cx="0" cy="3906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9D6E7B8-7C77-2FCA-4550-786C53EC25F9}"/>
              </a:ext>
            </a:extLst>
          </p:cNvPr>
          <p:cNvCxnSpPr/>
          <p:nvPr/>
        </p:nvCxnSpPr>
        <p:spPr>
          <a:xfrm>
            <a:off x="11066398" y="4289394"/>
            <a:ext cx="0" cy="3906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640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Types</a:t>
            </a:r>
            <a:r>
              <a:rPr lang="it-IT" dirty="0">
                <a:latin typeface="Aptos" panose="020B0004020202020204" pitchFamily="34" charset="0"/>
              </a:rPr>
              <a:t> of computer networks by </a:t>
            </a:r>
            <a:r>
              <a:rPr lang="it-IT" dirty="0" err="1">
                <a:latin typeface="Aptos" panose="020B0004020202020204" pitchFamily="34" charset="0"/>
              </a:rPr>
              <a:t>their</a:t>
            </a:r>
            <a:r>
              <a:rPr lang="it-IT" dirty="0">
                <a:latin typeface="Aptos" panose="020B0004020202020204" pitchFamily="34" charset="0"/>
              </a:rPr>
              <a:t> </a:t>
            </a:r>
            <a:r>
              <a:rPr lang="it-IT" dirty="0" err="1">
                <a:latin typeface="Aptos" panose="020B0004020202020204" pitchFamily="34" charset="0"/>
              </a:rPr>
              <a:t>extention</a:t>
            </a:r>
            <a:endParaRPr lang="en-GB" dirty="0">
              <a:latin typeface="Aptos" panose="020B0004020202020204" pitchFamily="34" charset="0"/>
            </a:endParaRPr>
          </a:p>
        </p:txBody>
      </p:sp>
      <p:sp>
        <p:nvSpPr>
          <p:cNvPr id="3" name="Segnaposto contenuto 2"/>
          <p:cNvSpPr>
            <a:spLocks noGrp="1"/>
          </p:cNvSpPr>
          <p:nvPr>
            <p:ph idx="1"/>
          </p:nvPr>
        </p:nvSpPr>
        <p:spPr>
          <a:xfrm>
            <a:off x="135096" y="1255660"/>
            <a:ext cx="8757188" cy="5465816"/>
          </a:xfrm>
        </p:spPr>
        <p:txBody>
          <a:bodyPr>
            <a:normAutofit fontScale="92500" lnSpcReduction="20000"/>
          </a:bodyPr>
          <a:lstStyle/>
          <a:p>
            <a:pPr>
              <a:spcAft>
                <a:spcPts val="600"/>
              </a:spcAft>
            </a:pPr>
            <a:r>
              <a:rPr lang="en-GB" sz="2200" b="1" dirty="0">
                <a:latin typeface="Aptos" panose="020B0004020202020204" pitchFamily="34" charset="0"/>
              </a:rPr>
              <a:t>Personal Area Network (PAN)</a:t>
            </a:r>
            <a:r>
              <a:rPr lang="en-GB" sz="2200" dirty="0">
                <a:latin typeface="Aptos" panose="020B0004020202020204" pitchFamily="34" charset="0"/>
              </a:rPr>
              <a:t>: it lets devices communicate over the range of a person (e.g., short-range Bluetooth networks).</a:t>
            </a:r>
          </a:p>
          <a:p>
            <a:pPr>
              <a:spcAft>
                <a:spcPts val="600"/>
              </a:spcAft>
            </a:pPr>
            <a:r>
              <a:rPr lang="en-GB" sz="2200" b="1" dirty="0">
                <a:latin typeface="Aptos" panose="020B0004020202020204" pitchFamily="34" charset="0"/>
              </a:rPr>
              <a:t>Local Area Network (LAN)</a:t>
            </a:r>
            <a:r>
              <a:rPr lang="en-GB" sz="2200" dirty="0">
                <a:latin typeface="Aptos" panose="020B0004020202020204" pitchFamily="34" charset="0"/>
              </a:rPr>
              <a:t>: a privately owned network that operates within and nearby a single building (e.g., the network of a company).</a:t>
            </a:r>
          </a:p>
          <a:p>
            <a:pPr>
              <a:spcAft>
                <a:spcPts val="600"/>
              </a:spcAft>
            </a:pPr>
            <a:r>
              <a:rPr lang="en-GB" sz="2200" b="1" dirty="0">
                <a:latin typeface="Aptos" panose="020B0004020202020204" pitchFamily="34" charset="0"/>
              </a:rPr>
              <a:t>Metropolitan Area Network (MAN)</a:t>
            </a:r>
            <a:r>
              <a:rPr lang="en-GB" sz="2200" dirty="0">
                <a:latin typeface="Aptos" panose="020B0004020202020204" pitchFamily="34" charset="0"/>
              </a:rPr>
              <a:t>: it covers a city (e.g. cable television networks available in many cities with poor over-the-air television reception).</a:t>
            </a:r>
          </a:p>
          <a:p>
            <a:pPr>
              <a:spcAft>
                <a:spcPts val="600"/>
              </a:spcAft>
            </a:pPr>
            <a:r>
              <a:rPr lang="en-GB" sz="2200" b="1" dirty="0">
                <a:latin typeface="Aptos" panose="020B0004020202020204" pitchFamily="34" charset="0"/>
              </a:rPr>
              <a:t>Wide Area Network (WAN)</a:t>
            </a:r>
            <a:r>
              <a:rPr lang="en-GB" sz="2200" dirty="0">
                <a:latin typeface="Aptos" panose="020B0004020202020204" pitchFamily="34" charset="0"/>
              </a:rPr>
              <a:t>: it spans a large geographical area, often a country or continent (e.g., a network of a company that has offices in different cities)</a:t>
            </a:r>
          </a:p>
          <a:p>
            <a:pPr>
              <a:spcAft>
                <a:spcPts val="600"/>
              </a:spcAft>
            </a:pPr>
            <a:r>
              <a:rPr lang="en-GB" sz="2200" b="1" dirty="0">
                <a:latin typeface="Aptos" panose="020B0004020202020204" pitchFamily="34" charset="0"/>
              </a:rPr>
              <a:t>Internetworks (internet): </a:t>
            </a:r>
            <a:r>
              <a:rPr lang="en-GB" sz="2200" dirty="0">
                <a:latin typeface="Aptos" panose="020B0004020202020204" pitchFamily="34" charset="0"/>
              </a:rPr>
              <a:t>a collection of interconnected networks, in which devices of different networks can exchange messages regardless of their underling network hardware</a:t>
            </a:r>
          </a:p>
          <a:p>
            <a:pPr lvl="1">
              <a:spcAft>
                <a:spcPts val="600"/>
              </a:spcAft>
            </a:pPr>
            <a:r>
              <a:rPr lang="en-GB" b="1" dirty="0">
                <a:latin typeface="Aptos" panose="020B0004020202020204" pitchFamily="34" charset="0"/>
              </a:rPr>
              <a:t>Gateway</a:t>
            </a:r>
            <a:r>
              <a:rPr lang="en-GB" dirty="0">
                <a:latin typeface="Aptos" panose="020B0004020202020204" pitchFamily="34" charset="0"/>
              </a:rPr>
              <a:t>: a machine that makes a connection between two or more networks and provides the necessary translation, both in terms of hardware and software</a:t>
            </a:r>
          </a:p>
          <a:p>
            <a:pPr lvl="1">
              <a:spcAft>
                <a:spcPts val="600"/>
              </a:spcAft>
            </a:pPr>
            <a:r>
              <a:rPr lang="it-IT" dirty="0">
                <a:latin typeface="Aptos" panose="020B0004020202020204" pitchFamily="34" charset="0"/>
              </a:rPr>
              <a:t>The </a:t>
            </a:r>
            <a:r>
              <a:rPr lang="it-IT" dirty="0" err="1">
                <a:latin typeface="Aptos" panose="020B0004020202020204" pitchFamily="34" charset="0"/>
              </a:rPr>
              <a:t>worldwide</a:t>
            </a:r>
            <a:r>
              <a:rPr lang="it-IT" dirty="0">
                <a:latin typeface="Aptos" panose="020B0004020202020204" pitchFamily="34" charset="0"/>
              </a:rPr>
              <a:t> </a:t>
            </a:r>
            <a:r>
              <a:rPr lang="it-IT" b="1" dirty="0">
                <a:latin typeface="Aptos" panose="020B0004020202020204" pitchFamily="34" charset="0"/>
              </a:rPr>
              <a:t>Internet</a:t>
            </a:r>
            <a:r>
              <a:rPr lang="it-IT" dirty="0">
                <a:latin typeface="Aptos" panose="020B0004020202020204" pitchFamily="34" charset="0"/>
              </a:rPr>
              <a:t> (with capital I) </a:t>
            </a:r>
            <a:r>
              <a:rPr lang="it-IT" dirty="0" err="1">
                <a:latin typeface="Aptos" panose="020B0004020202020204" pitchFamily="34" charset="0"/>
              </a:rPr>
              <a:t>is</a:t>
            </a:r>
            <a:r>
              <a:rPr lang="it-IT" dirty="0">
                <a:latin typeface="Aptos" panose="020B0004020202020204" pitchFamily="34" charset="0"/>
              </a:rPr>
              <a:t> the </a:t>
            </a:r>
            <a:r>
              <a:rPr lang="it-IT" dirty="0" err="1">
                <a:latin typeface="Aptos" panose="020B0004020202020204" pitchFamily="34" charset="0"/>
              </a:rPr>
              <a:t>most</a:t>
            </a:r>
            <a:r>
              <a:rPr lang="it-IT" dirty="0">
                <a:latin typeface="Aptos" panose="020B0004020202020204" pitchFamily="34" charset="0"/>
              </a:rPr>
              <a:t> </a:t>
            </a:r>
            <a:r>
              <a:rPr lang="it-IT" dirty="0" err="1">
                <a:latin typeface="Aptos" panose="020B0004020202020204" pitchFamily="34" charset="0"/>
              </a:rPr>
              <a:t>popular</a:t>
            </a:r>
            <a:r>
              <a:rPr lang="it-IT" dirty="0">
                <a:latin typeface="Aptos" panose="020B0004020202020204" pitchFamily="34" charset="0"/>
              </a:rPr>
              <a:t> </a:t>
            </a:r>
            <a:r>
              <a:rPr lang="it-IT" dirty="0" err="1">
                <a:latin typeface="Aptos" panose="020B0004020202020204" pitchFamily="34" charset="0"/>
              </a:rPr>
              <a:t>example</a:t>
            </a:r>
            <a:r>
              <a:rPr lang="it-IT" dirty="0">
                <a:latin typeface="Aptos" panose="020B0004020202020204" pitchFamily="34" charset="0"/>
              </a:rPr>
              <a:t> of internet</a:t>
            </a:r>
            <a:endParaRPr lang="en-GB" dirty="0">
              <a:latin typeface="Aptos" panose="020B0004020202020204" pitchFamily="34" charset="0"/>
            </a:endParaRPr>
          </a:p>
          <a:p>
            <a:endParaRPr lang="it-IT" dirty="0">
              <a:latin typeface="Aptos" panose="020B0004020202020204" pitchFamily="34" charset="0"/>
            </a:endParaRPr>
          </a:p>
          <a:p>
            <a:endParaRPr lang="en-GB" dirty="0">
              <a:latin typeface="Aptos" panose="020B0004020202020204" pitchFamily="34" charset="0"/>
            </a:endParaRPr>
          </a:p>
          <a:p>
            <a:endParaRPr lang="en-GB" dirty="0">
              <a:latin typeface="Aptos" panose="020B0004020202020204" pitchFamily="34" charset="0"/>
            </a:endParaRPr>
          </a:p>
          <a:p>
            <a:endParaRPr lang="it-IT"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3</a:t>
            </a:fld>
            <a:endParaRPr lang="en-GB" dirty="0">
              <a:latin typeface="Aptos" panose="020B0004020202020204" pitchFamily="34" charset="0"/>
            </a:endParaRPr>
          </a:p>
        </p:txBody>
      </p:sp>
      <p:sp>
        <p:nvSpPr>
          <p:cNvPr id="5" name="Oval 4">
            <a:extLst>
              <a:ext uri="{FF2B5EF4-FFF2-40B4-BE49-F238E27FC236}">
                <a16:creationId xmlns:a16="http://schemas.microsoft.com/office/drawing/2014/main" id="{BE2EE7E4-E347-0A9B-8A3E-6CCDCA361004}"/>
              </a:ext>
            </a:extLst>
          </p:cNvPr>
          <p:cNvSpPr/>
          <p:nvPr/>
        </p:nvSpPr>
        <p:spPr>
          <a:xfrm>
            <a:off x="9223997" y="1416591"/>
            <a:ext cx="2325950" cy="3204839"/>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WAN</a:t>
            </a:r>
          </a:p>
        </p:txBody>
      </p:sp>
      <p:sp>
        <p:nvSpPr>
          <p:cNvPr id="6" name="Oval 5">
            <a:extLst>
              <a:ext uri="{FF2B5EF4-FFF2-40B4-BE49-F238E27FC236}">
                <a16:creationId xmlns:a16="http://schemas.microsoft.com/office/drawing/2014/main" id="{98ACE102-6A2F-F409-5DB7-4E353047E85C}"/>
              </a:ext>
            </a:extLst>
          </p:cNvPr>
          <p:cNvSpPr/>
          <p:nvPr/>
        </p:nvSpPr>
        <p:spPr>
          <a:xfrm>
            <a:off x="9442240" y="2216758"/>
            <a:ext cx="1889463" cy="2262630"/>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MAN</a:t>
            </a:r>
          </a:p>
        </p:txBody>
      </p:sp>
      <p:sp>
        <p:nvSpPr>
          <p:cNvPr id="7" name="Oval 6">
            <a:extLst>
              <a:ext uri="{FF2B5EF4-FFF2-40B4-BE49-F238E27FC236}">
                <a16:creationId xmlns:a16="http://schemas.microsoft.com/office/drawing/2014/main" id="{4DAF9050-01A0-10ED-114E-9BE5145F5791}"/>
              </a:ext>
            </a:extLst>
          </p:cNvPr>
          <p:cNvSpPr/>
          <p:nvPr/>
        </p:nvSpPr>
        <p:spPr>
          <a:xfrm>
            <a:off x="9697843" y="2970184"/>
            <a:ext cx="1372710" cy="1393794"/>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LAN</a:t>
            </a:r>
          </a:p>
        </p:txBody>
      </p:sp>
      <p:sp>
        <p:nvSpPr>
          <p:cNvPr id="8" name="Oval 7">
            <a:extLst>
              <a:ext uri="{FF2B5EF4-FFF2-40B4-BE49-F238E27FC236}">
                <a16:creationId xmlns:a16="http://schemas.microsoft.com/office/drawing/2014/main" id="{084119C4-43DF-80F7-20E5-D868E655C029}"/>
              </a:ext>
            </a:extLst>
          </p:cNvPr>
          <p:cNvSpPr/>
          <p:nvPr/>
        </p:nvSpPr>
        <p:spPr>
          <a:xfrm>
            <a:off x="9885014" y="3582277"/>
            <a:ext cx="998367" cy="597298"/>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PAN</a:t>
            </a:r>
          </a:p>
        </p:txBody>
      </p:sp>
      <p:sp>
        <p:nvSpPr>
          <p:cNvPr id="9" name="Oval 8">
            <a:extLst>
              <a:ext uri="{FF2B5EF4-FFF2-40B4-BE49-F238E27FC236}">
                <a16:creationId xmlns:a16="http://schemas.microsoft.com/office/drawing/2014/main" id="{12D79D85-2A83-946A-A3E2-C21DF3A11280}"/>
              </a:ext>
            </a:extLst>
          </p:cNvPr>
          <p:cNvSpPr/>
          <p:nvPr/>
        </p:nvSpPr>
        <p:spPr>
          <a:xfrm>
            <a:off x="8780318" y="4983045"/>
            <a:ext cx="3276587" cy="1738429"/>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internet</a:t>
            </a:r>
          </a:p>
        </p:txBody>
      </p:sp>
      <p:sp>
        <p:nvSpPr>
          <p:cNvPr id="10" name="Oval 9">
            <a:extLst>
              <a:ext uri="{FF2B5EF4-FFF2-40B4-BE49-F238E27FC236}">
                <a16:creationId xmlns:a16="http://schemas.microsoft.com/office/drawing/2014/main" id="{D30ABB6E-73C7-CD57-CFB8-39A4D0B7FE7E}"/>
              </a:ext>
            </a:extLst>
          </p:cNvPr>
          <p:cNvSpPr/>
          <p:nvPr/>
        </p:nvSpPr>
        <p:spPr>
          <a:xfrm>
            <a:off x="8895000" y="5556184"/>
            <a:ext cx="1018296" cy="55631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N1</a:t>
            </a:r>
          </a:p>
        </p:txBody>
      </p:sp>
      <p:sp>
        <p:nvSpPr>
          <p:cNvPr id="11" name="Oval 10">
            <a:extLst>
              <a:ext uri="{FF2B5EF4-FFF2-40B4-BE49-F238E27FC236}">
                <a16:creationId xmlns:a16="http://schemas.microsoft.com/office/drawing/2014/main" id="{8092700B-A9B6-E791-49DA-57FB1D1C15D8}"/>
              </a:ext>
            </a:extLst>
          </p:cNvPr>
          <p:cNvSpPr/>
          <p:nvPr/>
        </p:nvSpPr>
        <p:spPr>
          <a:xfrm>
            <a:off x="10881949" y="5769430"/>
            <a:ext cx="1018296" cy="556317"/>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Aptos" panose="020B0004020202020204" pitchFamily="34" charset="0"/>
              </a:rPr>
              <a:t>N2</a:t>
            </a:r>
          </a:p>
        </p:txBody>
      </p:sp>
      <p:cxnSp>
        <p:nvCxnSpPr>
          <p:cNvPr id="13" name="Straight Arrow Connector 12">
            <a:extLst>
              <a:ext uri="{FF2B5EF4-FFF2-40B4-BE49-F238E27FC236}">
                <a16:creationId xmlns:a16="http://schemas.microsoft.com/office/drawing/2014/main" id="{8A49C387-6472-64ED-7262-C2ACD74DF55C}"/>
              </a:ext>
            </a:extLst>
          </p:cNvPr>
          <p:cNvCxnSpPr>
            <a:cxnSpLocks/>
            <a:stCxn id="10" idx="6"/>
            <a:endCxn id="11" idx="2"/>
          </p:cNvCxnSpPr>
          <p:nvPr/>
        </p:nvCxnSpPr>
        <p:spPr>
          <a:xfrm>
            <a:off x="9913296" y="5834343"/>
            <a:ext cx="968653" cy="21324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F426392C-E530-8FE6-68AD-0ED183EAC26C}"/>
              </a:ext>
            </a:extLst>
          </p:cNvPr>
          <p:cNvSpPr txBox="1"/>
          <p:nvPr/>
        </p:nvSpPr>
        <p:spPr>
          <a:xfrm>
            <a:off x="9791365" y="5971717"/>
            <a:ext cx="6099462" cy="369332"/>
          </a:xfrm>
          <a:prstGeom prst="rect">
            <a:avLst/>
          </a:prstGeom>
          <a:noFill/>
        </p:spPr>
        <p:txBody>
          <a:bodyPr wrap="square">
            <a:spAutoFit/>
          </a:bodyPr>
          <a:lstStyle/>
          <a:p>
            <a:r>
              <a:rPr lang="en-GB" b="1" dirty="0"/>
              <a:t>Gateway</a:t>
            </a:r>
            <a:endParaRPr lang="en-US" dirty="0"/>
          </a:p>
        </p:txBody>
      </p:sp>
    </p:spTree>
    <p:extLst>
      <p:ext uri="{BB962C8B-B14F-4D97-AF65-F5344CB8AC3E}">
        <p14:creationId xmlns:p14="http://schemas.microsoft.com/office/powerpoint/2010/main" val="141442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Client-server</a:t>
            </a:r>
            <a:r>
              <a:rPr lang="it-IT" dirty="0">
                <a:latin typeface="Aptos" panose="020B0004020202020204" pitchFamily="34" charset="0"/>
              </a:rPr>
              <a:t> model</a:t>
            </a:r>
            <a:endParaRPr lang="en-GB" dirty="0">
              <a:latin typeface="Aptos" panose="020B0004020202020204" pitchFamily="34" charset="0"/>
            </a:endParaRPr>
          </a:p>
        </p:txBody>
      </p:sp>
      <p:sp>
        <p:nvSpPr>
          <p:cNvPr id="3" name="Segnaposto contenuto 2"/>
          <p:cNvSpPr>
            <a:spLocks noGrp="1"/>
          </p:cNvSpPr>
          <p:nvPr>
            <p:ph idx="1"/>
          </p:nvPr>
        </p:nvSpPr>
        <p:spPr/>
        <p:txBody>
          <a:bodyPr/>
          <a:lstStyle/>
          <a:p>
            <a:r>
              <a:rPr lang="en-GB" b="1" dirty="0">
                <a:latin typeface="Aptos" panose="020B0004020202020204" pitchFamily="34" charset="0"/>
              </a:rPr>
              <a:t>Client-server model: </a:t>
            </a:r>
            <a:r>
              <a:rPr lang="en-GB" dirty="0">
                <a:latin typeface="Aptos" panose="020B0004020202020204" pitchFamily="34" charset="0"/>
              </a:rPr>
              <a:t>a network structure that partitions tasks between the providers of a resource or service, called servers, and service requesters, called clients.</a:t>
            </a:r>
          </a:p>
          <a:p>
            <a:r>
              <a:rPr lang="en-GB" dirty="0">
                <a:latin typeface="Aptos" panose="020B0004020202020204" pitchFamily="34" charset="0"/>
              </a:rPr>
              <a:t>The server is often designed to operate as a centralized system that serves many clients. The computing power, memory and storage requirements of a server must be scaled appropriately to the expected workload. </a:t>
            </a:r>
          </a:p>
          <a:p>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4</a:t>
            </a:fld>
            <a:endParaRPr lang="en-GB">
              <a:latin typeface="Aptos" panose="020B0004020202020204" pitchFamily="34" charset="0"/>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302" y="3624006"/>
            <a:ext cx="5962214" cy="3097469"/>
          </a:xfrm>
          <a:prstGeom prst="rect">
            <a:avLst/>
          </a:prstGeom>
        </p:spPr>
      </p:pic>
    </p:spTree>
    <p:extLst>
      <p:ext uri="{BB962C8B-B14F-4D97-AF65-F5344CB8AC3E}">
        <p14:creationId xmlns:p14="http://schemas.microsoft.com/office/powerpoint/2010/main" val="1878179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Peer-to-peer model</a:t>
            </a:r>
            <a:endParaRPr lang="en-GB" dirty="0">
              <a:latin typeface="Aptos" panose="020B0004020202020204" pitchFamily="34" charset="0"/>
            </a:endParaRPr>
          </a:p>
        </p:txBody>
      </p:sp>
      <p:sp>
        <p:nvSpPr>
          <p:cNvPr id="3" name="Segnaposto contenuto 2"/>
          <p:cNvSpPr>
            <a:spLocks noGrp="1"/>
          </p:cNvSpPr>
          <p:nvPr>
            <p:ph idx="1"/>
          </p:nvPr>
        </p:nvSpPr>
        <p:spPr/>
        <p:txBody>
          <a:bodyPr/>
          <a:lstStyle/>
          <a:p>
            <a:r>
              <a:rPr lang="en-GB" b="1" dirty="0">
                <a:latin typeface="Aptos" panose="020B0004020202020204" pitchFamily="34" charset="0"/>
              </a:rPr>
              <a:t>Peer-to-peer model: </a:t>
            </a:r>
            <a:r>
              <a:rPr lang="en-GB" dirty="0">
                <a:latin typeface="Aptos" panose="020B0004020202020204" pitchFamily="34" charset="0"/>
              </a:rPr>
              <a:t>a network structure that partitions tasks or workloads between peers. Peers are equally privileged, equipotent participants in the application.</a:t>
            </a:r>
          </a:p>
          <a:p>
            <a:r>
              <a:rPr lang="en-GB" dirty="0">
                <a:latin typeface="Aptos" panose="020B0004020202020204" pitchFamily="34" charset="0"/>
              </a:rPr>
              <a:t>Every hosts can communicate with one or more other hosts.</a:t>
            </a:r>
          </a:p>
          <a:p>
            <a:r>
              <a:rPr lang="en-GB" dirty="0">
                <a:latin typeface="Aptos" panose="020B0004020202020204" pitchFamily="34" charset="0"/>
              </a:rPr>
              <a:t>No fixed division into clients and servers (they are all peers).</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5</a:t>
            </a:fld>
            <a:endParaRPr lang="en-GB">
              <a:latin typeface="Aptos" panose="020B0004020202020204" pitchFamily="34" charset="0"/>
            </a:endParaRPr>
          </a:p>
        </p:txBody>
      </p:sp>
      <p:pic>
        <p:nvPicPr>
          <p:cNvPr id="6" name="Immagin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6017" y="3336430"/>
            <a:ext cx="7452624" cy="3521570"/>
          </a:xfrm>
          <a:prstGeom prst="rect">
            <a:avLst/>
          </a:prstGeom>
        </p:spPr>
      </p:pic>
    </p:spTree>
    <p:extLst>
      <p:ext uri="{BB962C8B-B14F-4D97-AF65-F5344CB8AC3E}">
        <p14:creationId xmlns:p14="http://schemas.microsoft.com/office/powerpoint/2010/main" val="1570790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Network software: </a:t>
            </a:r>
            <a:r>
              <a:rPr lang="it-IT" dirty="0" err="1">
                <a:latin typeface="Aptos" panose="020B0004020202020204" pitchFamily="34" charset="0"/>
              </a:rPr>
              <a:t>protocol</a:t>
            </a:r>
            <a:r>
              <a:rPr lang="it-IT" dirty="0">
                <a:latin typeface="Aptos" panose="020B0004020202020204" pitchFamily="34" charset="0"/>
              </a:rPr>
              <a:t> </a:t>
            </a:r>
            <a:r>
              <a:rPr lang="it-IT" dirty="0" err="1">
                <a:latin typeface="Aptos" panose="020B0004020202020204" pitchFamily="34" charset="0"/>
              </a:rPr>
              <a:t>hierarchies</a:t>
            </a:r>
            <a:endParaRPr lang="en-GB" dirty="0">
              <a:latin typeface="Aptos" panose="020B0004020202020204" pitchFamily="34" charset="0"/>
            </a:endParaRPr>
          </a:p>
        </p:txBody>
      </p:sp>
      <p:sp>
        <p:nvSpPr>
          <p:cNvPr id="3" name="Segnaposto contenuto 2"/>
          <p:cNvSpPr>
            <a:spLocks noGrp="1"/>
          </p:cNvSpPr>
          <p:nvPr>
            <p:ph idx="1"/>
          </p:nvPr>
        </p:nvSpPr>
        <p:spPr>
          <a:xfrm>
            <a:off x="428172" y="1554896"/>
            <a:ext cx="5561923" cy="4876901"/>
          </a:xfrm>
        </p:spPr>
        <p:txBody>
          <a:bodyPr>
            <a:normAutofit/>
          </a:bodyPr>
          <a:lstStyle/>
          <a:p>
            <a:r>
              <a:rPr lang="en-GB" dirty="0">
                <a:latin typeface="Aptos" panose="020B0004020202020204" pitchFamily="34" charset="0"/>
              </a:rPr>
              <a:t>To reduce their design complexity, most networks are organized as a stack of </a:t>
            </a:r>
            <a:r>
              <a:rPr lang="en-GB" b="1" dirty="0">
                <a:latin typeface="Aptos" panose="020B0004020202020204" pitchFamily="34" charset="0"/>
              </a:rPr>
              <a:t>layers </a:t>
            </a:r>
            <a:r>
              <a:rPr lang="en-GB" dirty="0">
                <a:latin typeface="Aptos" panose="020B0004020202020204" pitchFamily="34" charset="0"/>
              </a:rPr>
              <a:t>or </a:t>
            </a:r>
            <a:r>
              <a:rPr lang="en-GB" b="1" dirty="0">
                <a:latin typeface="Aptos" panose="020B0004020202020204" pitchFamily="34" charset="0"/>
              </a:rPr>
              <a:t>levels</a:t>
            </a:r>
            <a:r>
              <a:rPr lang="en-GB" dirty="0">
                <a:latin typeface="Aptos" panose="020B0004020202020204" pitchFamily="34" charset="0"/>
              </a:rPr>
              <a:t>, each one built upon the one below it.</a:t>
            </a:r>
          </a:p>
          <a:p>
            <a:r>
              <a:rPr lang="en-GB" dirty="0">
                <a:latin typeface="Aptos" panose="020B0004020202020204" pitchFamily="34" charset="0"/>
              </a:rPr>
              <a:t>The purpose of each layer is to offer certain services to the higher layers while shielding those layers from the details of how the offered services are actually implemented.</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603" y="1310491"/>
            <a:ext cx="5949632" cy="4959554"/>
          </a:xfrm>
          <a:prstGeom prst="rect">
            <a:avLst/>
          </a:prstGeom>
        </p:spPr>
      </p:pic>
      <p:sp>
        <p:nvSpPr>
          <p:cNvPr id="8" name="Segnaposto numero diapositiva 7"/>
          <p:cNvSpPr>
            <a:spLocks noGrp="1"/>
          </p:cNvSpPr>
          <p:nvPr>
            <p:ph type="sldNum" sz="quarter" idx="12"/>
          </p:nvPr>
        </p:nvSpPr>
        <p:spPr/>
        <p:txBody>
          <a:bodyPr/>
          <a:lstStyle/>
          <a:p>
            <a:fld id="{31DE2C5B-556E-47B8-A792-024C2FCA4ACC}" type="slidenum">
              <a:rPr lang="en-GB" smtClean="0">
                <a:latin typeface="Aptos" panose="020B0004020202020204" pitchFamily="34" charset="0"/>
              </a:rPr>
              <a:t>6</a:t>
            </a:fld>
            <a:endParaRPr lang="en-GB">
              <a:latin typeface="Aptos" panose="020B0004020202020204" pitchFamily="34" charset="0"/>
            </a:endParaRPr>
          </a:p>
        </p:txBody>
      </p:sp>
    </p:spTree>
    <p:extLst>
      <p:ext uri="{BB962C8B-B14F-4D97-AF65-F5344CB8AC3E}">
        <p14:creationId xmlns:p14="http://schemas.microsoft.com/office/powerpoint/2010/main" val="2668826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Network software: </a:t>
            </a:r>
            <a:r>
              <a:rPr lang="it-IT" dirty="0" err="1">
                <a:latin typeface="Aptos" panose="020B0004020202020204" pitchFamily="34" charset="0"/>
              </a:rPr>
              <a:t>protocol</a:t>
            </a:r>
            <a:r>
              <a:rPr lang="it-IT" dirty="0">
                <a:latin typeface="Aptos" panose="020B0004020202020204" pitchFamily="34" charset="0"/>
              </a:rPr>
              <a:t> </a:t>
            </a:r>
            <a:r>
              <a:rPr lang="it-IT" dirty="0" err="1">
                <a:latin typeface="Aptos" panose="020B0004020202020204" pitchFamily="34" charset="0"/>
              </a:rPr>
              <a:t>hierarchies</a:t>
            </a:r>
            <a:endParaRPr lang="en-GB" dirty="0">
              <a:latin typeface="Aptos" panose="020B0004020202020204" pitchFamily="34" charset="0"/>
            </a:endParaRPr>
          </a:p>
        </p:txBody>
      </p:sp>
      <p:sp>
        <p:nvSpPr>
          <p:cNvPr id="3" name="Segnaposto contenuto 2"/>
          <p:cNvSpPr>
            <a:spLocks noGrp="1"/>
          </p:cNvSpPr>
          <p:nvPr>
            <p:ph idx="1"/>
          </p:nvPr>
        </p:nvSpPr>
        <p:spPr>
          <a:xfrm>
            <a:off x="428172" y="1554896"/>
            <a:ext cx="5561923" cy="4876901"/>
          </a:xfrm>
        </p:spPr>
        <p:txBody>
          <a:bodyPr>
            <a:normAutofit/>
          </a:bodyPr>
          <a:lstStyle/>
          <a:p>
            <a:r>
              <a:rPr lang="en-GB" dirty="0">
                <a:latin typeface="Aptos" panose="020B0004020202020204" pitchFamily="34" charset="0"/>
              </a:rPr>
              <a:t>Two entities of the same layer on different machines are called </a:t>
            </a:r>
            <a:r>
              <a:rPr lang="en-GB" b="1" dirty="0">
                <a:latin typeface="Aptos" panose="020B0004020202020204" pitchFamily="34" charset="0"/>
              </a:rPr>
              <a:t>peers.</a:t>
            </a:r>
            <a:endParaRPr lang="en-GB" dirty="0">
              <a:latin typeface="Aptos" panose="020B0004020202020204" pitchFamily="34" charset="0"/>
            </a:endParaRPr>
          </a:p>
          <a:p>
            <a:r>
              <a:rPr lang="en-GB" dirty="0">
                <a:latin typeface="Aptos" panose="020B0004020202020204" pitchFamily="34" charset="0"/>
              </a:rPr>
              <a:t>When two peers of layer n communicate, the rules and conventions used in this conversation constitute the layer n protocol.</a:t>
            </a:r>
          </a:p>
          <a:p>
            <a:r>
              <a:rPr lang="en-GB" b="1" dirty="0">
                <a:latin typeface="Aptos" panose="020B0004020202020204" pitchFamily="34" charset="0"/>
              </a:rPr>
              <a:t>Protocol: </a:t>
            </a:r>
            <a:r>
              <a:rPr lang="en-GB" dirty="0">
                <a:latin typeface="Aptos" panose="020B0004020202020204" pitchFamily="34" charset="0"/>
              </a:rPr>
              <a:t>agreement between the communicating parties on how communication is to proceed.</a:t>
            </a:r>
          </a:p>
          <a:p>
            <a:r>
              <a:rPr lang="en-GB" dirty="0">
                <a:latin typeface="Aptos" panose="020B0004020202020204" pitchFamily="34" charset="0"/>
              </a:rPr>
              <a:t>Layers and protocols form the </a:t>
            </a:r>
            <a:r>
              <a:rPr lang="en-GB" b="1" dirty="0">
                <a:latin typeface="Aptos" panose="020B0004020202020204" pitchFamily="34" charset="0"/>
              </a:rPr>
              <a:t>network architecture</a:t>
            </a:r>
            <a:r>
              <a:rPr lang="en-GB" dirty="0">
                <a:latin typeface="Aptos" panose="020B0004020202020204" pitchFamily="34" charset="0"/>
              </a:rPr>
              <a:t>.</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603" y="1310491"/>
            <a:ext cx="5949632" cy="4959554"/>
          </a:xfrm>
          <a:prstGeom prst="rect">
            <a:avLst/>
          </a:prstGeom>
        </p:spPr>
      </p:pic>
      <p:sp>
        <p:nvSpPr>
          <p:cNvPr id="7" name="Cornice 6"/>
          <p:cNvSpPr/>
          <p:nvPr/>
        </p:nvSpPr>
        <p:spPr>
          <a:xfrm>
            <a:off x="7160217" y="3215899"/>
            <a:ext cx="4554784" cy="658678"/>
          </a:xfrm>
          <a:prstGeom prst="frame">
            <a:avLst>
              <a:gd name="adj1" fmla="val 6466"/>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7</a:t>
            </a:fld>
            <a:endParaRPr lang="en-GB">
              <a:latin typeface="Aptos" panose="020B0004020202020204" pitchFamily="34" charset="0"/>
            </a:endParaRPr>
          </a:p>
        </p:txBody>
      </p:sp>
    </p:spTree>
    <p:extLst>
      <p:ext uri="{BB962C8B-B14F-4D97-AF65-F5344CB8AC3E}">
        <p14:creationId xmlns:p14="http://schemas.microsoft.com/office/powerpoint/2010/main" val="293919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Network software: </a:t>
            </a:r>
            <a:r>
              <a:rPr lang="it-IT" dirty="0" err="1">
                <a:latin typeface="Aptos" panose="020B0004020202020204" pitchFamily="34" charset="0"/>
              </a:rPr>
              <a:t>protocol</a:t>
            </a:r>
            <a:r>
              <a:rPr lang="it-IT" dirty="0">
                <a:latin typeface="Aptos" panose="020B0004020202020204" pitchFamily="34" charset="0"/>
              </a:rPr>
              <a:t> </a:t>
            </a:r>
            <a:r>
              <a:rPr lang="it-IT" dirty="0" err="1">
                <a:latin typeface="Aptos" panose="020B0004020202020204" pitchFamily="34" charset="0"/>
              </a:rPr>
              <a:t>hierarchies</a:t>
            </a:r>
            <a:endParaRPr lang="en-GB" dirty="0">
              <a:latin typeface="Aptos" panose="020B0004020202020204" pitchFamily="34" charset="0"/>
            </a:endParaRPr>
          </a:p>
        </p:txBody>
      </p:sp>
      <p:sp>
        <p:nvSpPr>
          <p:cNvPr id="3" name="Segnaposto contenuto 2"/>
          <p:cNvSpPr>
            <a:spLocks noGrp="1"/>
          </p:cNvSpPr>
          <p:nvPr>
            <p:ph idx="1"/>
          </p:nvPr>
        </p:nvSpPr>
        <p:spPr>
          <a:xfrm>
            <a:off x="428172" y="1554896"/>
            <a:ext cx="5561923" cy="5233362"/>
          </a:xfrm>
        </p:spPr>
        <p:txBody>
          <a:bodyPr>
            <a:normAutofit lnSpcReduction="10000"/>
          </a:bodyPr>
          <a:lstStyle/>
          <a:p>
            <a:r>
              <a:rPr lang="en-GB" dirty="0">
                <a:latin typeface="Aptos" panose="020B0004020202020204" pitchFamily="34" charset="0"/>
              </a:rPr>
              <a:t>In reality, no data are directly transferred from layer </a:t>
            </a:r>
            <a:r>
              <a:rPr lang="en-GB" i="1" dirty="0">
                <a:latin typeface="Aptos" panose="020B0004020202020204" pitchFamily="34" charset="0"/>
              </a:rPr>
              <a:t>n </a:t>
            </a:r>
            <a:r>
              <a:rPr lang="en-GB" dirty="0">
                <a:latin typeface="Aptos" panose="020B0004020202020204" pitchFamily="34" charset="0"/>
              </a:rPr>
              <a:t>on one machine to layer </a:t>
            </a:r>
            <a:r>
              <a:rPr lang="en-GB" i="1" dirty="0">
                <a:latin typeface="Aptos" panose="020B0004020202020204" pitchFamily="34" charset="0"/>
              </a:rPr>
              <a:t>n </a:t>
            </a:r>
            <a:r>
              <a:rPr lang="en-GB" dirty="0">
                <a:latin typeface="Aptos" panose="020B0004020202020204" pitchFamily="34" charset="0"/>
              </a:rPr>
              <a:t>on another machine.</a:t>
            </a:r>
          </a:p>
          <a:p>
            <a:r>
              <a:rPr lang="en-GB" dirty="0">
                <a:latin typeface="Aptos" panose="020B0004020202020204" pitchFamily="34" charset="0"/>
              </a:rPr>
              <a:t>Each layer passes data to the layer immediately below it, until the lowest layer is reached. </a:t>
            </a:r>
          </a:p>
          <a:p>
            <a:r>
              <a:rPr lang="en-GB" dirty="0">
                <a:latin typeface="Aptos" panose="020B0004020202020204" pitchFamily="34" charset="0"/>
              </a:rPr>
              <a:t>Layer 1 passes data to the </a:t>
            </a:r>
            <a:r>
              <a:rPr lang="en-GB" b="1" dirty="0">
                <a:latin typeface="Aptos" panose="020B0004020202020204" pitchFamily="34" charset="0"/>
              </a:rPr>
              <a:t>physical medium </a:t>
            </a:r>
            <a:r>
              <a:rPr lang="en-GB" dirty="0">
                <a:latin typeface="Aptos" panose="020B0004020202020204" pitchFamily="34" charset="0"/>
              </a:rPr>
              <a:t>through which actual communication occurs.</a:t>
            </a:r>
          </a:p>
          <a:p>
            <a:r>
              <a:rPr lang="en-GB" dirty="0">
                <a:latin typeface="Aptos" panose="020B0004020202020204" pitchFamily="34" charset="0"/>
              </a:rPr>
              <a:t>An </a:t>
            </a:r>
            <a:r>
              <a:rPr lang="en-GB" b="1" dirty="0">
                <a:latin typeface="Aptos" panose="020B0004020202020204" pitchFamily="34" charset="0"/>
              </a:rPr>
              <a:t>interface</a:t>
            </a:r>
            <a:r>
              <a:rPr lang="en-GB" dirty="0">
                <a:latin typeface="Aptos" panose="020B0004020202020204" pitchFamily="34" charset="0"/>
              </a:rPr>
              <a:t> between each pair of adjacent layers defines which primitive operations and services the lower layer makes available to the upper one.</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603" y="1310491"/>
            <a:ext cx="5949632" cy="4959554"/>
          </a:xfrm>
          <a:prstGeom prst="rect">
            <a:avLst/>
          </a:prstGeom>
        </p:spPr>
      </p:pic>
      <p:sp>
        <p:nvSpPr>
          <p:cNvPr id="5" name="Cornice 4"/>
          <p:cNvSpPr/>
          <p:nvPr/>
        </p:nvSpPr>
        <p:spPr>
          <a:xfrm>
            <a:off x="7683282" y="2086826"/>
            <a:ext cx="166609" cy="524638"/>
          </a:xfrm>
          <a:prstGeom prst="frame">
            <a:avLst>
              <a:gd name="adj1" fmla="val 6466"/>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7" name="Rettangolo 6"/>
          <p:cNvSpPr/>
          <p:nvPr/>
        </p:nvSpPr>
        <p:spPr>
          <a:xfrm>
            <a:off x="5165872" y="1332476"/>
            <a:ext cx="1770680" cy="75435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latin typeface="Aptos" panose="020B0004020202020204" pitchFamily="34" charset="0"/>
              </a:rPr>
              <a:t>Physical</a:t>
            </a:r>
            <a:r>
              <a:rPr lang="it-IT" dirty="0">
                <a:latin typeface="Aptos" panose="020B0004020202020204" pitchFamily="34" charset="0"/>
              </a:rPr>
              <a:t> </a:t>
            </a:r>
            <a:r>
              <a:rPr lang="it-IT" dirty="0" err="1">
                <a:latin typeface="Aptos" panose="020B0004020202020204" pitchFamily="34" charset="0"/>
              </a:rPr>
              <a:t>communication</a:t>
            </a:r>
            <a:endParaRPr lang="en-GB" dirty="0">
              <a:latin typeface="Aptos" panose="020B0004020202020204" pitchFamily="34" charset="0"/>
            </a:endParaRPr>
          </a:p>
        </p:txBody>
      </p:sp>
      <p:sp>
        <p:nvSpPr>
          <p:cNvPr id="8" name="Cornice 7"/>
          <p:cNvSpPr/>
          <p:nvPr/>
        </p:nvSpPr>
        <p:spPr>
          <a:xfrm>
            <a:off x="8097864" y="1875295"/>
            <a:ext cx="2696705" cy="189546"/>
          </a:xfrm>
          <a:prstGeom prst="frame">
            <a:avLst>
              <a:gd name="adj1" fmla="val 6466"/>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9" name="Rettangolo 8"/>
          <p:cNvSpPr/>
          <p:nvPr/>
        </p:nvSpPr>
        <p:spPr>
          <a:xfrm>
            <a:off x="10215737" y="592047"/>
            <a:ext cx="1770680" cy="75435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latin typeface="Aptos" panose="020B0004020202020204" pitchFamily="34" charset="0"/>
              </a:rPr>
              <a:t>Virtual </a:t>
            </a:r>
            <a:r>
              <a:rPr lang="it-IT" dirty="0" err="1">
                <a:latin typeface="Aptos" panose="020B0004020202020204" pitchFamily="34" charset="0"/>
              </a:rPr>
              <a:t>communication</a:t>
            </a:r>
            <a:endParaRPr lang="en-GB" dirty="0">
              <a:latin typeface="Aptos" panose="020B0004020202020204" pitchFamily="34" charset="0"/>
            </a:endParaRPr>
          </a:p>
        </p:txBody>
      </p:sp>
      <p:cxnSp>
        <p:nvCxnSpPr>
          <p:cNvPr id="11" name="Connettore 2 10"/>
          <p:cNvCxnSpPr/>
          <p:nvPr/>
        </p:nvCxnSpPr>
        <p:spPr>
          <a:xfrm>
            <a:off x="6954105" y="1952020"/>
            <a:ext cx="662550" cy="2696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p:cNvCxnSpPr/>
          <p:nvPr/>
        </p:nvCxnSpPr>
        <p:spPr>
          <a:xfrm flipH="1">
            <a:off x="10215738" y="1352771"/>
            <a:ext cx="168126" cy="448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Segnaposto numero diapositiva 14"/>
          <p:cNvSpPr>
            <a:spLocks noGrp="1"/>
          </p:cNvSpPr>
          <p:nvPr>
            <p:ph type="sldNum" sz="quarter" idx="12"/>
          </p:nvPr>
        </p:nvSpPr>
        <p:spPr/>
        <p:txBody>
          <a:bodyPr/>
          <a:lstStyle/>
          <a:p>
            <a:fld id="{31DE2C5B-556E-47B8-A792-024C2FCA4ACC}" type="slidenum">
              <a:rPr lang="en-GB" smtClean="0">
                <a:latin typeface="Aptos" panose="020B0004020202020204" pitchFamily="34" charset="0"/>
              </a:rPr>
              <a:t>8</a:t>
            </a:fld>
            <a:endParaRPr lang="en-GB">
              <a:latin typeface="Aptos" panose="020B0004020202020204" pitchFamily="34" charset="0"/>
            </a:endParaRPr>
          </a:p>
        </p:txBody>
      </p:sp>
    </p:spTree>
    <p:extLst>
      <p:ext uri="{BB962C8B-B14F-4D97-AF65-F5344CB8AC3E}">
        <p14:creationId xmlns:p14="http://schemas.microsoft.com/office/powerpoint/2010/main" val="158856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Example</a:t>
            </a:r>
            <a:r>
              <a:rPr lang="it-IT" dirty="0">
                <a:latin typeface="Aptos" panose="020B0004020202020204" pitchFamily="34" charset="0"/>
              </a:rPr>
              <a:t> of network </a:t>
            </a:r>
            <a:r>
              <a:rPr lang="it-IT" dirty="0" err="1">
                <a:latin typeface="Aptos" panose="020B0004020202020204" pitchFamily="34" charset="0"/>
              </a:rPr>
              <a:t>architecture</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9</a:t>
            </a:fld>
            <a:endParaRPr lang="en-GB" dirty="0">
              <a:latin typeface="Aptos" panose="020B0004020202020204" pitchFamily="34" charset="0"/>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2545" y="1361167"/>
            <a:ext cx="8190193" cy="5097917"/>
          </a:xfrm>
          <a:prstGeom prst="rect">
            <a:avLst/>
          </a:prstGeom>
        </p:spPr>
      </p:pic>
      <p:graphicFrame>
        <p:nvGraphicFramePr>
          <p:cNvPr id="7" name="Tabella 6"/>
          <p:cNvGraphicFramePr>
            <a:graphicFrameLocks noGrp="1"/>
          </p:cNvGraphicFramePr>
          <p:nvPr>
            <p:extLst>
              <p:ext uri="{D42A27DB-BD31-4B8C-83A1-F6EECF244321}">
                <p14:modId xmlns:p14="http://schemas.microsoft.com/office/powerpoint/2010/main" val="2184364381"/>
              </p:ext>
            </p:extLst>
          </p:nvPr>
        </p:nvGraphicFramePr>
        <p:xfrm>
          <a:off x="271068" y="1361167"/>
          <a:ext cx="3330413" cy="4754880"/>
        </p:xfrm>
        <a:graphic>
          <a:graphicData uri="http://schemas.openxmlformats.org/drawingml/2006/table">
            <a:tbl>
              <a:tblPr firstRow="1" bandRow="1">
                <a:tableStyleId>{16D9F66E-5EB9-4882-86FB-DCBF35E3C3E4}</a:tableStyleId>
              </a:tblPr>
              <a:tblGrid>
                <a:gridCol w="3330413">
                  <a:extLst>
                    <a:ext uri="{9D8B030D-6E8A-4147-A177-3AD203B41FA5}">
                      <a16:colId xmlns:a16="http://schemas.microsoft.com/office/drawing/2014/main" val="679406831"/>
                    </a:ext>
                  </a:extLst>
                </a:gridCol>
              </a:tblGrid>
              <a:tr h="370840">
                <a:tc>
                  <a:txBody>
                    <a:bodyPr/>
                    <a:lstStyle/>
                    <a:p>
                      <a:r>
                        <a:rPr lang="en-US" b="0" noProof="0" dirty="0">
                          <a:latin typeface="Aptos" panose="020B0004020202020204" pitchFamily="34" charset="0"/>
                        </a:rPr>
                        <a:t>A message M is produced</a:t>
                      </a:r>
                      <a:r>
                        <a:rPr lang="en-US" b="0" baseline="0" noProof="0" dirty="0">
                          <a:latin typeface="Aptos" panose="020B0004020202020204" pitchFamily="34" charset="0"/>
                        </a:rPr>
                        <a:t> by an application running on layer 5 and given to layer 4 for transmission.</a:t>
                      </a:r>
                      <a:endParaRPr lang="en-US" b="0" noProof="0" dirty="0">
                        <a:latin typeface="Aptos" panose="020B0004020202020204" pitchFamily="34" charset="0"/>
                      </a:endParaRPr>
                    </a:p>
                  </a:txBody>
                  <a:tcPr/>
                </a:tc>
                <a:extLst>
                  <a:ext uri="{0D108BD9-81ED-4DB2-BD59-A6C34878D82A}">
                    <a16:rowId xmlns:a16="http://schemas.microsoft.com/office/drawing/2014/main" val="3002652260"/>
                  </a:ext>
                </a:extLst>
              </a:tr>
              <a:tr h="370840">
                <a:tc>
                  <a:txBody>
                    <a:bodyPr/>
                    <a:lstStyle/>
                    <a:p>
                      <a:r>
                        <a:rPr lang="en-US" b="0" noProof="0" dirty="0">
                          <a:latin typeface="Aptos" panose="020B0004020202020204" pitchFamily="34" charset="0"/>
                        </a:rPr>
                        <a:t>Layer 4 puts a header (e.g. address)</a:t>
                      </a:r>
                      <a:r>
                        <a:rPr lang="en-US" b="0" baseline="0" noProof="0" dirty="0">
                          <a:latin typeface="Aptos" panose="020B0004020202020204" pitchFamily="34" charset="0"/>
                        </a:rPr>
                        <a:t> </a:t>
                      </a:r>
                      <a:r>
                        <a:rPr lang="en-US" b="0" noProof="0" dirty="0">
                          <a:latin typeface="Aptos" panose="020B0004020202020204" pitchFamily="34" charset="0"/>
                        </a:rPr>
                        <a:t>in front</a:t>
                      </a:r>
                      <a:r>
                        <a:rPr lang="en-US" b="0" baseline="0" noProof="0" dirty="0">
                          <a:latin typeface="Aptos" panose="020B0004020202020204" pitchFamily="34" charset="0"/>
                        </a:rPr>
                        <a:t> of M to identify it and then pass it to layer 3.</a:t>
                      </a:r>
                    </a:p>
                  </a:txBody>
                  <a:tcPr/>
                </a:tc>
                <a:extLst>
                  <a:ext uri="{0D108BD9-81ED-4DB2-BD59-A6C34878D82A}">
                    <a16:rowId xmlns:a16="http://schemas.microsoft.com/office/drawing/2014/main" val="2879673925"/>
                  </a:ext>
                </a:extLst>
              </a:tr>
              <a:tr h="370840">
                <a:tc>
                  <a:txBody>
                    <a:bodyPr/>
                    <a:lstStyle/>
                    <a:p>
                      <a:r>
                        <a:rPr lang="en-US" b="0" noProof="0" dirty="0">
                          <a:latin typeface="Aptos" panose="020B0004020202020204" pitchFamily="34" charset="0"/>
                        </a:rPr>
                        <a:t>Layer 3 breaks</a:t>
                      </a:r>
                      <a:r>
                        <a:rPr lang="en-US" b="0" baseline="0" noProof="0" dirty="0">
                          <a:latin typeface="Aptos" panose="020B0004020202020204" pitchFamily="34" charset="0"/>
                        </a:rPr>
                        <a:t> M into smaller packets (M1 and M2) and add headers to each packet which are passed to layer 2.</a:t>
                      </a:r>
                      <a:endParaRPr lang="en-US" b="0" noProof="0" dirty="0">
                        <a:latin typeface="Aptos" panose="020B0004020202020204" pitchFamily="34" charset="0"/>
                      </a:endParaRPr>
                    </a:p>
                  </a:txBody>
                  <a:tcPr/>
                </a:tc>
                <a:extLst>
                  <a:ext uri="{0D108BD9-81ED-4DB2-BD59-A6C34878D82A}">
                    <a16:rowId xmlns:a16="http://schemas.microsoft.com/office/drawing/2014/main" val="3478019471"/>
                  </a:ext>
                </a:extLst>
              </a:tr>
              <a:tr h="370840">
                <a:tc>
                  <a:txBody>
                    <a:bodyPr/>
                    <a:lstStyle/>
                    <a:p>
                      <a:r>
                        <a:rPr lang="en-US" b="0" noProof="0" dirty="0">
                          <a:latin typeface="Aptos" panose="020B0004020202020204" pitchFamily="34" charset="0"/>
                        </a:rPr>
                        <a:t>Layer 2 adds</a:t>
                      </a:r>
                      <a:r>
                        <a:rPr lang="en-US" b="0" baseline="0" noProof="0" dirty="0">
                          <a:latin typeface="Aptos" panose="020B0004020202020204" pitchFamily="34" charset="0"/>
                        </a:rPr>
                        <a:t> a header and a trailer to each packet and then pass them to layer 1 for physical transmission to the destination machine. </a:t>
                      </a:r>
                      <a:endParaRPr lang="en-US" b="0" noProof="0" dirty="0">
                        <a:latin typeface="Aptos" panose="020B0004020202020204" pitchFamily="34" charset="0"/>
                      </a:endParaRPr>
                    </a:p>
                  </a:txBody>
                  <a:tcPr/>
                </a:tc>
                <a:extLst>
                  <a:ext uri="{0D108BD9-81ED-4DB2-BD59-A6C34878D82A}">
                    <a16:rowId xmlns:a16="http://schemas.microsoft.com/office/drawing/2014/main" val="2378358837"/>
                  </a:ext>
                </a:extLst>
              </a:tr>
            </a:tbl>
          </a:graphicData>
        </a:graphic>
      </p:graphicFrame>
      <p:sp>
        <p:nvSpPr>
          <p:cNvPr id="8" name="Rettangolo 7"/>
          <p:cNvSpPr/>
          <p:nvPr/>
        </p:nvSpPr>
        <p:spPr>
          <a:xfrm>
            <a:off x="8460000" y="5112973"/>
            <a:ext cx="3603402" cy="646331"/>
          </a:xfrm>
          <a:prstGeom prst="rect">
            <a:avLst/>
          </a:prstGeom>
          <a:solidFill>
            <a:srgbClr val="EBF1E9"/>
          </a:solidFill>
          <a:ln>
            <a:solidFill>
              <a:srgbClr val="70AD47"/>
            </a:solidFill>
          </a:ln>
        </p:spPr>
        <p:txBody>
          <a:bodyPr wrap="square">
            <a:spAutoFit/>
          </a:bodyPr>
          <a:lstStyle/>
          <a:p>
            <a:pPr algn="ctr"/>
            <a:r>
              <a:rPr lang="en-GB" dirty="0">
                <a:latin typeface="Aptos" panose="020B0004020202020204" pitchFamily="34" charset="0"/>
              </a:rPr>
              <a:t>None of the headers for layers below </a:t>
            </a:r>
            <a:r>
              <a:rPr lang="en-GB" i="1" dirty="0">
                <a:latin typeface="Aptos" panose="020B0004020202020204" pitchFamily="34" charset="0"/>
              </a:rPr>
              <a:t>n </a:t>
            </a:r>
            <a:r>
              <a:rPr lang="en-GB" dirty="0">
                <a:latin typeface="Aptos" panose="020B0004020202020204" pitchFamily="34" charset="0"/>
              </a:rPr>
              <a:t>are passed up to layer </a:t>
            </a:r>
            <a:r>
              <a:rPr lang="en-GB" i="1" dirty="0">
                <a:latin typeface="Aptos" panose="020B0004020202020204" pitchFamily="34" charset="0"/>
              </a:rPr>
              <a:t>n.</a:t>
            </a:r>
            <a:endParaRPr lang="en-GB" dirty="0">
              <a:latin typeface="Aptos" panose="020B0004020202020204" pitchFamily="34" charset="0"/>
            </a:endParaRPr>
          </a:p>
        </p:txBody>
      </p:sp>
    </p:spTree>
    <p:extLst>
      <p:ext uri="{BB962C8B-B14F-4D97-AF65-F5344CB8AC3E}">
        <p14:creationId xmlns:p14="http://schemas.microsoft.com/office/powerpoint/2010/main" val="1119130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Services and </a:t>
            </a:r>
            <a:r>
              <a:rPr lang="it-IT" dirty="0" err="1">
                <a:latin typeface="Aptos" panose="020B0004020202020204" pitchFamily="34" charset="0"/>
              </a:rPr>
              <a:t>primitives</a:t>
            </a:r>
            <a:endParaRPr lang="en-GB" dirty="0">
              <a:latin typeface="Aptos" panose="020B0004020202020204" pitchFamily="34" charset="0"/>
            </a:endParaRPr>
          </a:p>
        </p:txBody>
      </p:sp>
      <p:sp>
        <p:nvSpPr>
          <p:cNvPr id="3" name="Segnaposto contenuto 2"/>
          <p:cNvSpPr>
            <a:spLocks noGrp="1"/>
          </p:cNvSpPr>
          <p:nvPr>
            <p:ph idx="1"/>
          </p:nvPr>
        </p:nvSpPr>
        <p:spPr/>
        <p:txBody>
          <a:bodyPr/>
          <a:lstStyle/>
          <a:p>
            <a:r>
              <a:rPr lang="en-GB" b="1" dirty="0">
                <a:latin typeface="Aptos" panose="020B0004020202020204" pitchFamily="34" charset="0"/>
              </a:rPr>
              <a:t>Service: </a:t>
            </a:r>
            <a:r>
              <a:rPr lang="en-GB" dirty="0">
                <a:latin typeface="Aptos" panose="020B0004020202020204" pitchFamily="34" charset="0"/>
              </a:rPr>
              <a:t>a set of primitives (operations) that a layer provides to the layer above.</a:t>
            </a:r>
          </a:p>
          <a:p>
            <a:pPr lvl="1"/>
            <a:r>
              <a:rPr lang="en-GB" dirty="0">
                <a:latin typeface="Aptos" panose="020B0004020202020204" pitchFamily="34" charset="0"/>
              </a:rPr>
              <a:t>What operations the layer is prepared to perform on behalf of its users</a:t>
            </a:r>
          </a:p>
          <a:p>
            <a:pPr lvl="1"/>
            <a:r>
              <a:rPr lang="en-GB" dirty="0">
                <a:latin typeface="Aptos" panose="020B0004020202020204" pitchFamily="34" charset="0"/>
              </a:rPr>
              <a:t>No information about how these operations are implemented. </a:t>
            </a:r>
          </a:p>
          <a:p>
            <a:pPr lvl="1"/>
            <a:r>
              <a:rPr lang="en-GB" dirty="0">
                <a:latin typeface="Aptos" panose="020B0004020202020204" pitchFamily="34" charset="0"/>
              </a:rPr>
              <a:t>It relates to an interface between two layers, with the lower layer being the service provider and the upper layer being the service user.</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10</a:t>
            </a:fld>
            <a:endParaRPr lang="en-GB">
              <a:latin typeface="Aptos" panose="020B0004020202020204" pitchFamily="34" charset="0"/>
            </a:endParaRPr>
          </a:p>
        </p:txBody>
      </p:sp>
      <p:graphicFrame>
        <p:nvGraphicFramePr>
          <p:cNvPr id="5" name="Tabella 4"/>
          <p:cNvGraphicFramePr>
            <a:graphicFrameLocks noGrp="1"/>
          </p:cNvGraphicFramePr>
          <p:nvPr>
            <p:extLst>
              <p:ext uri="{D42A27DB-BD31-4B8C-83A1-F6EECF244321}">
                <p14:modId xmlns:p14="http://schemas.microsoft.com/office/powerpoint/2010/main" val="2391186040"/>
              </p:ext>
            </p:extLst>
          </p:nvPr>
        </p:nvGraphicFramePr>
        <p:xfrm>
          <a:off x="2326099" y="3735182"/>
          <a:ext cx="7572457" cy="2773680"/>
        </p:xfrm>
        <a:graphic>
          <a:graphicData uri="http://schemas.openxmlformats.org/drawingml/2006/table">
            <a:tbl>
              <a:tblPr firstRow="1" bandRow="1">
                <a:tableStyleId>{93296810-A885-4BE3-A3E7-6D5BEEA58F35}</a:tableStyleId>
              </a:tblPr>
              <a:tblGrid>
                <a:gridCol w="2057511">
                  <a:extLst>
                    <a:ext uri="{9D8B030D-6E8A-4147-A177-3AD203B41FA5}">
                      <a16:colId xmlns:a16="http://schemas.microsoft.com/office/drawing/2014/main" val="2484700247"/>
                    </a:ext>
                  </a:extLst>
                </a:gridCol>
                <a:gridCol w="5514946">
                  <a:extLst>
                    <a:ext uri="{9D8B030D-6E8A-4147-A177-3AD203B41FA5}">
                      <a16:colId xmlns:a16="http://schemas.microsoft.com/office/drawing/2014/main" val="2495377281"/>
                    </a:ext>
                  </a:extLst>
                </a:gridCol>
              </a:tblGrid>
              <a:tr h="370840">
                <a:tc>
                  <a:txBody>
                    <a:bodyPr/>
                    <a:lstStyle/>
                    <a:p>
                      <a:pPr algn="ctr"/>
                      <a:r>
                        <a:rPr lang="it-IT" sz="2000" dirty="0">
                          <a:latin typeface="Aptos" panose="020B0004020202020204" pitchFamily="34" charset="0"/>
                        </a:rPr>
                        <a:t>Primitive</a:t>
                      </a:r>
                      <a:endParaRPr lang="en-GB" sz="2000" dirty="0">
                        <a:latin typeface="Aptos" panose="020B0004020202020204" pitchFamily="34" charset="0"/>
                      </a:endParaRPr>
                    </a:p>
                  </a:txBody>
                  <a:tcPr/>
                </a:tc>
                <a:tc>
                  <a:txBody>
                    <a:bodyPr/>
                    <a:lstStyle/>
                    <a:p>
                      <a:pPr algn="ctr"/>
                      <a:r>
                        <a:rPr lang="it-IT" sz="2000" dirty="0" err="1">
                          <a:latin typeface="Aptos" panose="020B0004020202020204" pitchFamily="34" charset="0"/>
                        </a:rPr>
                        <a:t>Meaning</a:t>
                      </a:r>
                      <a:endParaRPr lang="en-GB" sz="2000" dirty="0">
                        <a:latin typeface="Aptos" panose="020B0004020202020204" pitchFamily="34" charset="0"/>
                      </a:endParaRPr>
                    </a:p>
                  </a:txBody>
                  <a:tcPr/>
                </a:tc>
                <a:extLst>
                  <a:ext uri="{0D108BD9-81ED-4DB2-BD59-A6C34878D82A}">
                    <a16:rowId xmlns:a16="http://schemas.microsoft.com/office/drawing/2014/main" val="1473213367"/>
                  </a:ext>
                </a:extLst>
              </a:tr>
              <a:tr h="370840">
                <a:tc>
                  <a:txBody>
                    <a:bodyPr/>
                    <a:lstStyle/>
                    <a:p>
                      <a:r>
                        <a:rPr lang="it-IT" sz="2000" dirty="0">
                          <a:latin typeface="Aptos" panose="020B0004020202020204" pitchFamily="34" charset="0"/>
                        </a:rPr>
                        <a:t>LISTEN</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Block waiting for an incoming connection</a:t>
                      </a:r>
                      <a:endParaRPr lang="en-GB" sz="2000" dirty="0">
                        <a:latin typeface="Aptos" panose="020B0004020202020204" pitchFamily="34" charset="0"/>
                      </a:endParaRPr>
                    </a:p>
                  </a:txBody>
                  <a:tcPr/>
                </a:tc>
                <a:extLst>
                  <a:ext uri="{0D108BD9-81ED-4DB2-BD59-A6C34878D82A}">
                    <a16:rowId xmlns:a16="http://schemas.microsoft.com/office/drawing/2014/main" val="1044071627"/>
                  </a:ext>
                </a:extLst>
              </a:tr>
              <a:tr h="370840">
                <a:tc>
                  <a:txBody>
                    <a:bodyPr/>
                    <a:lstStyle/>
                    <a:p>
                      <a:r>
                        <a:rPr lang="it-IT" sz="2000" dirty="0">
                          <a:latin typeface="Aptos" panose="020B0004020202020204" pitchFamily="34" charset="0"/>
                        </a:rPr>
                        <a:t>CONNECT</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Establish a connection with a waiting peer</a:t>
                      </a:r>
                      <a:endParaRPr lang="en-GB" sz="2000" dirty="0">
                        <a:latin typeface="Aptos" panose="020B0004020202020204" pitchFamily="34" charset="0"/>
                      </a:endParaRPr>
                    </a:p>
                  </a:txBody>
                  <a:tcPr/>
                </a:tc>
                <a:extLst>
                  <a:ext uri="{0D108BD9-81ED-4DB2-BD59-A6C34878D82A}">
                    <a16:rowId xmlns:a16="http://schemas.microsoft.com/office/drawing/2014/main" val="1754100155"/>
                  </a:ext>
                </a:extLst>
              </a:tr>
              <a:tr h="370840">
                <a:tc>
                  <a:txBody>
                    <a:bodyPr/>
                    <a:lstStyle/>
                    <a:p>
                      <a:r>
                        <a:rPr lang="it-IT" sz="2000" dirty="0">
                          <a:latin typeface="Aptos" panose="020B0004020202020204" pitchFamily="34" charset="0"/>
                        </a:rPr>
                        <a:t>ACCEPT</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Accept an incoming connection from a peer</a:t>
                      </a:r>
                      <a:endParaRPr lang="en-GB" sz="2000" dirty="0">
                        <a:latin typeface="Aptos" panose="020B0004020202020204" pitchFamily="34" charset="0"/>
                      </a:endParaRPr>
                    </a:p>
                  </a:txBody>
                  <a:tcPr/>
                </a:tc>
                <a:extLst>
                  <a:ext uri="{0D108BD9-81ED-4DB2-BD59-A6C34878D82A}">
                    <a16:rowId xmlns:a16="http://schemas.microsoft.com/office/drawing/2014/main" val="2331133742"/>
                  </a:ext>
                </a:extLst>
              </a:tr>
              <a:tr h="370840">
                <a:tc>
                  <a:txBody>
                    <a:bodyPr/>
                    <a:lstStyle/>
                    <a:p>
                      <a:r>
                        <a:rPr lang="it-IT" sz="2000" dirty="0">
                          <a:latin typeface="Aptos" panose="020B0004020202020204" pitchFamily="34" charset="0"/>
                        </a:rPr>
                        <a:t>RECEIVE</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Block waiting for an incoming message</a:t>
                      </a:r>
                      <a:endParaRPr lang="en-GB" sz="2000" dirty="0">
                        <a:latin typeface="Aptos" panose="020B0004020202020204" pitchFamily="34" charset="0"/>
                      </a:endParaRPr>
                    </a:p>
                  </a:txBody>
                  <a:tcPr/>
                </a:tc>
                <a:extLst>
                  <a:ext uri="{0D108BD9-81ED-4DB2-BD59-A6C34878D82A}">
                    <a16:rowId xmlns:a16="http://schemas.microsoft.com/office/drawing/2014/main" val="2213472570"/>
                  </a:ext>
                </a:extLst>
              </a:tr>
              <a:tr h="370840">
                <a:tc>
                  <a:txBody>
                    <a:bodyPr/>
                    <a:lstStyle/>
                    <a:p>
                      <a:r>
                        <a:rPr lang="it-IT" sz="2000" dirty="0">
                          <a:latin typeface="Aptos" panose="020B0004020202020204" pitchFamily="34" charset="0"/>
                        </a:rPr>
                        <a:t>SEND</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Send a message to the peer</a:t>
                      </a:r>
                      <a:endParaRPr lang="en-GB" sz="2000" dirty="0">
                        <a:latin typeface="Aptos" panose="020B0004020202020204" pitchFamily="34" charset="0"/>
                      </a:endParaRPr>
                    </a:p>
                  </a:txBody>
                  <a:tcPr/>
                </a:tc>
                <a:extLst>
                  <a:ext uri="{0D108BD9-81ED-4DB2-BD59-A6C34878D82A}">
                    <a16:rowId xmlns:a16="http://schemas.microsoft.com/office/drawing/2014/main" val="1594829731"/>
                  </a:ext>
                </a:extLst>
              </a:tr>
              <a:tr h="370840">
                <a:tc>
                  <a:txBody>
                    <a:bodyPr/>
                    <a:lstStyle/>
                    <a:p>
                      <a:r>
                        <a:rPr lang="it-IT" sz="2000" dirty="0">
                          <a:latin typeface="Aptos" panose="020B0004020202020204" pitchFamily="34" charset="0"/>
                        </a:rPr>
                        <a:t>DISCONNECT</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Terminate a connection</a:t>
                      </a:r>
                      <a:endParaRPr lang="en-GB" sz="2000" dirty="0">
                        <a:latin typeface="Aptos" panose="020B0004020202020204" pitchFamily="34" charset="0"/>
                      </a:endParaRPr>
                    </a:p>
                  </a:txBody>
                  <a:tcPr/>
                </a:tc>
                <a:extLst>
                  <a:ext uri="{0D108BD9-81ED-4DB2-BD59-A6C34878D82A}">
                    <a16:rowId xmlns:a16="http://schemas.microsoft.com/office/drawing/2014/main" val="2518255275"/>
                  </a:ext>
                </a:extLst>
              </a:tr>
            </a:tbl>
          </a:graphicData>
        </a:graphic>
      </p:graphicFrame>
      <p:sp>
        <p:nvSpPr>
          <p:cNvPr id="6" name="CasellaDiTesto 5"/>
          <p:cNvSpPr txBox="1"/>
          <p:nvPr/>
        </p:nvSpPr>
        <p:spPr>
          <a:xfrm>
            <a:off x="2326099" y="3316909"/>
            <a:ext cx="7572457" cy="400110"/>
          </a:xfrm>
          <a:prstGeom prst="rect">
            <a:avLst/>
          </a:prstGeom>
          <a:noFill/>
        </p:spPr>
        <p:txBody>
          <a:bodyPr wrap="square" rtlCol="0">
            <a:spAutoFit/>
          </a:bodyPr>
          <a:lstStyle/>
          <a:p>
            <a:pPr algn="ctr"/>
            <a:r>
              <a:rPr lang="en-US" sz="2000" dirty="0">
                <a:latin typeface="Aptos" panose="020B0004020202020204" pitchFamily="34" charset="0"/>
              </a:rPr>
              <a:t>Examples of primitives for a simple connection-oriented service</a:t>
            </a:r>
          </a:p>
        </p:txBody>
      </p:sp>
    </p:spTree>
    <p:extLst>
      <p:ext uri="{BB962C8B-B14F-4D97-AF65-F5344CB8AC3E}">
        <p14:creationId xmlns:p14="http://schemas.microsoft.com/office/powerpoint/2010/main" val="1389862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Connection-</a:t>
            </a:r>
            <a:r>
              <a:rPr lang="it-IT" dirty="0" err="1">
                <a:latin typeface="Aptos" panose="020B0004020202020204" pitchFamily="34" charset="0"/>
              </a:rPr>
              <a:t>oriented</a:t>
            </a:r>
            <a:r>
              <a:rPr lang="it-IT" dirty="0">
                <a:latin typeface="Aptos" panose="020B0004020202020204" pitchFamily="34" charset="0"/>
              </a:rPr>
              <a:t> vs </a:t>
            </a:r>
            <a:r>
              <a:rPr lang="it-IT" dirty="0" err="1">
                <a:latin typeface="Aptos" panose="020B0004020202020204" pitchFamily="34" charset="0"/>
              </a:rPr>
              <a:t>connectionless</a:t>
            </a:r>
            <a:r>
              <a:rPr lang="it-IT" dirty="0">
                <a:latin typeface="Aptos" panose="020B0004020202020204" pitchFamily="34" charset="0"/>
              </a:rPr>
              <a:t> </a:t>
            </a:r>
            <a:r>
              <a:rPr lang="it-IT" dirty="0" err="1">
                <a:latin typeface="Aptos" panose="020B0004020202020204" pitchFamily="34" charset="0"/>
              </a:rPr>
              <a:t>services</a:t>
            </a:r>
            <a:endParaRPr lang="en-GB" dirty="0">
              <a:latin typeface="Aptos" panose="020B0004020202020204" pitchFamily="34" charset="0"/>
            </a:endParaRPr>
          </a:p>
        </p:txBody>
      </p:sp>
      <p:sp>
        <p:nvSpPr>
          <p:cNvPr id="3" name="Segnaposto contenuto 2"/>
          <p:cNvSpPr>
            <a:spLocks noGrp="1"/>
          </p:cNvSpPr>
          <p:nvPr>
            <p:ph idx="1"/>
          </p:nvPr>
        </p:nvSpPr>
        <p:spPr>
          <a:xfrm>
            <a:off x="428172" y="1361167"/>
            <a:ext cx="11502160" cy="4858203"/>
          </a:xfrm>
        </p:spPr>
        <p:txBody>
          <a:bodyPr>
            <a:normAutofit/>
          </a:bodyPr>
          <a:lstStyle/>
          <a:p>
            <a:pPr marL="0" indent="0">
              <a:buNone/>
            </a:pPr>
            <a:r>
              <a:rPr lang="en-GB" b="1" dirty="0">
                <a:latin typeface="Aptos" panose="020B0004020202020204" pitchFamily="34" charset="0"/>
              </a:rPr>
              <a:t>Two types of service</a:t>
            </a:r>
            <a:r>
              <a:rPr lang="en-GB" dirty="0">
                <a:latin typeface="Aptos" panose="020B0004020202020204" pitchFamily="34" charset="0"/>
              </a:rPr>
              <a:t>:</a:t>
            </a:r>
          </a:p>
          <a:p>
            <a:pPr marL="0" indent="0">
              <a:buNone/>
            </a:pPr>
            <a:endParaRPr lang="en-GB" dirty="0">
              <a:latin typeface="Aptos" panose="020B0004020202020204" pitchFamily="34" charset="0"/>
            </a:endParaRPr>
          </a:p>
          <a:p>
            <a:r>
              <a:rPr lang="en-GB" b="1" dirty="0">
                <a:latin typeface="Aptos" panose="020B0004020202020204" pitchFamily="34" charset="0"/>
              </a:rPr>
              <a:t>Connection-oriented service: </a:t>
            </a:r>
            <a:r>
              <a:rPr lang="en-GB" dirty="0">
                <a:latin typeface="Aptos" panose="020B0004020202020204" pitchFamily="34" charset="0"/>
              </a:rPr>
              <a:t>the service user first establishes a connection with the receiver, then it uses the connection to send data, and finally it releases the connection (like in a telephone communication).</a:t>
            </a:r>
          </a:p>
          <a:p>
            <a:pPr lvl="1"/>
            <a:r>
              <a:rPr lang="en-GB" dirty="0">
                <a:latin typeface="Aptos" panose="020B0004020202020204" pitchFamily="34" charset="0"/>
              </a:rPr>
              <a:t>In most cases the order of data bits is preserved </a:t>
            </a:r>
            <a:r>
              <a:rPr lang="en-GB" dirty="0">
                <a:latin typeface="Aptos" panose="020B0004020202020204" pitchFamily="34" charset="0"/>
                <a:sym typeface="Wingdings" panose="05000000000000000000" pitchFamily="2" charset="2"/>
              </a:rPr>
              <a:t></a:t>
            </a:r>
            <a:r>
              <a:rPr lang="en-GB" dirty="0">
                <a:latin typeface="Aptos" panose="020B0004020202020204" pitchFamily="34" charset="0"/>
              </a:rPr>
              <a:t> bits arrive in the same order they were sent.</a:t>
            </a:r>
          </a:p>
          <a:p>
            <a:pPr lvl="1"/>
            <a:endParaRPr lang="en-GB" dirty="0">
              <a:latin typeface="Aptos" panose="020B0004020202020204" pitchFamily="34" charset="0"/>
            </a:endParaRPr>
          </a:p>
          <a:p>
            <a:r>
              <a:rPr lang="en-GB" b="1" dirty="0">
                <a:latin typeface="Aptos" panose="020B0004020202020204" pitchFamily="34" charset="0"/>
              </a:rPr>
              <a:t>Connectionless</a:t>
            </a:r>
            <a:r>
              <a:rPr lang="en-GB" dirty="0">
                <a:latin typeface="Aptos" panose="020B0004020202020204" pitchFamily="34" charset="0"/>
              </a:rPr>
              <a:t> </a:t>
            </a:r>
            <a:r>
              <a:rPr lang="en-GB" b="1" dirty="0">
                <a:latin typeface="Aptos" panose="020B0004020202020204" pitchFamily="34" charset="0"/>
              </a:rPr>
              <a:t>service</a:t>
            </a:r>
            <a:r>
              <a:rPr lang="en-GB" dirty="0">
                <a:latin typeface="Aptos" panose="020B0004020202020204" pitchFamily="34" charset="0"/>
              </a:rPr>
              <a:t>: each message carries the full destination address and each one is sent independently on the subsequent messages (like in postal system). </a:t>
            </a:r>
          </a:p>
          <a:p>
            <a:pPr lvl="1"/>
            <a:r>
              <a:rPr lang="en-GB" dirty="0">
                <a:latin typeface="Aptos" panose="020B0004020202020204" pitchFamily="34" charset="0"/>
              </a:rPr>
              <a:t>Normally, when two messages are sent to the same destination, the first one sent will be the first one to arrive. However, it is possible that the first one sent can be delayed so that the second one arrives first.</a:t>
            </a:r>
          </a:p>
          <a:p>
            <a:pPr lvl="1"/>
            <a:r>
              <a:rPr lang="it-IT" dirty="0">
                <a:latin typeface="Aptos" panose="020B0004020202020204" pitchFamily="34" charset="0"/>
              </a:rPr>
              <a:t>The </a:t>
            </a:r>
            <a:r>
              <a:rPr lang="it-IT" dirty="0" err="1">
                <a:latin typeface="Aptos" panose="020B0004020202020204" pitchFamily="34" charset="0"/>
              </a:rPr>
              <a:t>messages</a:t>
            </a:r>
            <a:r>
              <a:rPr lang="it-IT" dirty="0">
                <a:latin typeface="Aptos" panose="020B0004020202020204" pitchFamily="34" charset="0"/>
              </a:rPr>
              <a:t> in a </a:t>
            </a:r>
            <a:r>
              <a:rPr lang="it-IT" dirty="0" err="1">
                <a:latin typeface="Aptos" panose="020B0004020202020204" pitchFamily="34" charset="0"/>
              </a:rPr>
              <a:t>connectionless</a:t>
            </a:r>
            <a:r>
              <a:rPr lang="it-IT" dirty="0">
                <a:latin typeface="Aptos" panose="020B0004020202020204" pitchFamily="34" charset="0"/>
              </a:rPr>
              <a:t> service are </a:t>
            </a:r>
            <a:r>
              <a:rPr lang="it-IT" dirty="0" err="1">
                <a:latin typeface="Aptos" panose="020B0004020202020204" pitchFamily="34" charset="0"/>
              </a:rPr>
              <a:t>also</a:t>
            </a:r>
            <a:r>
              <a:rPr lang="it-IT" dirty="0">
                <a:latin typeface="Aptos" panose="020B0004020202020204" pitchFamily="34" charset="0"/>
              </a:rPr>
              <a:t> </a:t>
            </a:r>
            <a:r>
              <a:rPr lang="it-IT" dirty="0" err="1">
                <a:latin typeface="Aptos" panose="020B0004020202020204" pitchFamily="34" charset="0"/>
              </a:rPr>
              <a:t>called</a:t>
            </a:r>
            <a:r>
              <a:rPr lang="it-IT" dirty="0">
                <a:latin typeface="Aptos" panose="020B0004020202020204" pitchFamily="34" charset="0"/>
              </a:rPr>
              <a:t> </a:t>
            </a:r>
            <a:r>
              <a:rPr lang="it-IT" b="1" dirty="0" err="1">
                <a:latin typeface="Aptos" panose="020B0004020202020204" pitchFamily="34" charset="0"/>
              </a:rPr>
              <a:t>datagram</a:t>
            </a:r>
            <a:r>
              <a:rPr lang="it-IT" dirty="0">
                <a:latin typeface="Aptos" panose="020B0004020202020204" pitchFamily="34" charset="0"/>
              </a:rPr>
              <a:t>.</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11</a:t>
            </a:fld>
            <a:endParaRPr lang="en-GB">
              <a:latin typeface="Aptos" panose="020B0004020202020204" pitchFamily="34" charset="0"/>
            </a:endParaRPr>
          </a:p>
        </p:txBody>
      </p:sp>
    </p:spTree>
    <p:extLst>
      <p:ext uri="{BB962C8B-B14F-4D97-AF65-F5344CB8AC3E}">
        <p14:creationId xmlns:p14="http://schemas.microsoft.com/office/powerpoint/2010/main" val="2897012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3466" y="3429000"/>
            <a:ext cx="6085380" cy="3111322"/>
          </a:xfrm>
          <a:prstGeom prst="rect">
            <a:avLst/>
          </a:prstGeom>
        </p:spPr>
      </p:pic>
      <p:sp>
        <p:nvSpPr>
          <p:cNvPr id="2" name="Titolo 1"/>
          <p:cNvSpPr>
            <a:spLocks noGrp="1"/>
          </p:cNvSpPr>
          <p:nvPr>
            <p:ph type="title"/>
          </p:nvPr>
        </p:nvSpPr>
        <p:spPr/>
        <p:txBody>
          <a:bodyPr/>
          <a:lstStyle/>
          <a:p>
            <a:r>
              <a:rPr lang="it-IT" dirty="0" err="1">
                <a:latin typeface="Aptos" panose="020B0004020202020204" pitchFamily="34" charset="0"/>
              </a:rPr>
              <a:t>Reliable</a:t>
            </a:r>
            <a:r>
              <a:rPr lang="it-IT" dirty="0">
                <a:latin typeface="Aptos" panose="020B0004020202020204" pitchFamily="34" charset="0"/>
              </a:rPr>
              <a:t> vs. </a:t>
            </a:r>
            <a:r>
              <a:rPr lang="it-IT" dirty="0" err="1">
                <a:latin typeface="Aptos" panose="020B0004020202020204" pitchFamily="34" charset="0"/>
              </a:rPr>
              <a:t>unrealiable</a:t>
            </a:r>
            <a:r>
              <a:rPr lang="it-IT" dirty="0">
                <a:latin typeface="Aptos" panose="020B0004020202020204" pitchFamily="34" charset="0"/>
              </a:rPr>
              <a:t> </a:t>
            </a:r>
            <a:r>
              <a:rPr lang="it-IT" dirty="0" err="1">
                <a:latin typeface="Aptos" panose="020B0004020202020204" pitchFamily="34" charset="0"/>
              </a:rPr>
              <a:t>services</a:t>
            </a:r>
            <a:endParaRPr lang="en-GB" dirty="0">
              <a:latin typeface="Aptos" panose="020B0004020202020204" pitchFamily="34" charset="0"/>
            </a:endParaRPr>
          </a:p>
        </p:txBody>
      </p:sp>
      <p:sp>
        <p:nvSpPr>
          <p:cNvPr id="3" name="Segnaposto contenuto 2"/>
          <p:cNvSpPr>
            <a:spLocks noGrp="1"/>
          </p:cNvSpPr>
          <p:nvPr>
            <p:ph idx="1"/>
          </p:nvPr>
        </p:nvSpPr>
        <p:spPr>
          <a:xfrm>
            <a:off x="428172" y="1202739"/>
            <a:ext cx="11495028" cy="4858203"/>
          </a:xfrm>
        </p:spPr>
        <p:txBody>
          <a:bodyPr/>
          <a:lstStyle/>
          <a:p>
            <a:r>
              <a:rPr lang="it-IT" sz="2200" dirty="0">
                <a:latin typeface="Aptos" panose="020B0004020202020204" pitchFamily="34" charset="0"/>
              </a:rPr>
              <a:t>A </a:t>
            </a:r>
            <a:r>
              <a:rPr lang="it-IT" sz="2200" b="1" dirty="0" err="1">
                <a:latin typeface="Aptos" panose="020B0004020202020204" pitchFamily="34" charset="0"/>
              </a:rPr>
              <a:t>reliable</a:t>
            </a:r>
            <a:r>
              <a:rPr lang="it-IT" sz="2200" dirty="0">
                <a:latin typeface="Aptos" panose="020B0004020202020204" pitchFamily="34" charset="0"/>
              </a:rPr>
              <a:t> service </a:t>
            </a:r>
            <a:r>
              <a:rPr lang="it-IT" sz="2200" dirty="0" err="1">
                <a:latin typeface="Aptos" panose="020B0004020202020204" pitchFamily="34" charset="0"/>
              </a:rPr>
              <a:t>never</a:t>
            </a:r>
            <a:r>
              <a:rPr lang="it-IT" sz="2200" dirty="0">
                <a:latin typeface="Aptos" panose="020B0004020202020204" pitchFamily="34" charset="0"/>
              </a:rPr>
              <a:t> </a:t>
            </a:r>
            <a:r>
              <a:rPr lang="it-IT" sz="2200" dirty="0" err="1">
                <a:latin typeface="Aptos" panose="020B0004020202020204" pitchFamily="34" charset="0"/>
              </a:rPr>
              <a:t>looses</a:t>
            </a:r>
            <a:r>
              <a:rPr lang="it-IT" sz="2200" dirty="0">
                <a:latin typeface="Aptos" panose="020B0004020202020204" pitchFamily="34" charset="0"/>
              </a:rPr>
              <a:t> data: </a:t>
            </a:r>
            <a:r>
              <a:rPr lang="en-GB" sz="2200" dirty="0">
                <a:latin typeface="Aptos" panose="020B0004020202020204" pitchFamily="34" charset="0"/>
              </a:rPr>
              <a:t>the receiver acknowledges the receipt of each message so the sender is sure that it arrived. </a:t>
            </a:r>
          </a:p>
          <a:p>
            <a:r>
              <a:rPr lang="en-GB" sz="2200" dirty="0">
                <a:latin typeface="Aptos" panose="020B0004020202020204" pitchFamily="34" charset="0"/>
              </a:rPr>
              <a:t>The acknowledgement process introduces overhead and delays, sometimes undesirable.</a:t>
            </a:r>
          </a:p>
          <a:p>
            <a:pPr lvl="1"/>
            <a:r>
              <a:rPr lang="en-GB" dirty="0">
                <a:latin typeface="Aptos" panose="020B0004020202020204" pitchFamily="34" charset="0"/>
              </a:rPr>
              <a:t>E.g. in a telephone communication it is less disruptive to hear a bit of noise on the line from time to time than to experience a delay waiting for acknowledgements.</a:t>
            </a:r>
          </a:p>
          <a:p>
            <a:r>
              <a:rPr lang="it-IT" sz="2200" dirty="0">
                <a:latin typeface="Aptos" panose="020B0004020202020204" pitchFamily="34" charset="0"/>
              </a:rPr>
              <a:t>An </a:t>
            </a:r>
            <a:r>
              <a:rPr lang="it-IT" sz="2200" b="1" dirty="0" err="1">
                <a:latin typeface="Aptos" panose="020B0004020202020204" pitchFamily="34" charset="0"/>
              </a:rPr>
              <a:t>unreliable</a:t>
            </a:r>
            <a:r>
              <a:rPr lang="it-IT" sz="2200" dirty="0">
                <a:latin typeface="Aptos" panose="020B0004020202020204" pitchFamily="34" charset="0"/>
              </a:rPr>
              <a:t> service </a:t>
            </a:r>
            <a:r>
              <a:rPr lang="it-IT" sz="2200" dirty="0" err="1">
                <a:latin typeface="Aptos" panose="020B0004020202020204" pitchFamily="34" charset="0"/>
              </a:rPr>
              <a:t>does</a:t>
            </a:r>
            <a:r>
              <a:rPr lang="it-IT" sz="2200" dirty="0">
                <a:latin typeface="Aptos" panose="020B0004020202020204" pitchFamily="34" charset="0"/>
              </a:rPr>
              <a:t> </a:t>
            </a:r>
            <a:r>
              <a:rPr lang="it-IT" sz="2200" dirty="0" err="1">
                <a:latin typeface="Aptos" panose="020B0004020202020204" pitchFamily="34" charset="0"/>
              </a:rPr>
              <a:t>not</a:t>
            </a:r>
            <a:r>
              <a:rPr lang="it-IT" sz="2200" dirty="0">
                <a:latin typeface="Aptos" panose="020B0004020202020204" pitchFamily="34" charset="0"/>
              </a:rPr>
              <a:t> </a:t>
            </a:r>
            <a:r>
              <a:rPr lang="it-IT" sz="2200" dirty="0" err="1">
                <a:latin typeface="Aptos" panose="020B0004020202020204" pitchFamily="34" charset="0"/>
              </a:rPr>
              <a:t>return</a:t>
            </a:r>
            <a:r>
              <a:rPr lang="it-IT" sz="2200" dirty="0">
                <a:latin typeface="Aptos" panose="020B0004020202020204" pitchFamily="34" charset="0"/>
              </a:rPr>
              <a:t> an </a:t>
            </a:r>
            <a:r>
              <a:rPr lang="en-GB" sz="2200" dirty="0">
                <a:latin typeface="Aptos" panose="020B0004020202020204" pitchFamily="34" charset="0"/>
              </a:rPr>
              <a:t>acknowledgement to the sender</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12</a:t>
            </a:fld>
            <a:endParaRPr lang="en-GB">
              <a:latin typeface="Aptos" panose="020B0004020202020204" pitchFamily="34" charset="0"/>
            </a:endParaRPr>
          </a:p>
        </p:txBody>
      </p:sp>
    </p:spTree>
    <p:extLst>
      <p:ext uri="{BB962C8B-B14F-4D97-AF65-F5344CB8AC3E}">
        <p14:creationId xmlns:p14="http://schemas.microsoft.com/office/powerpoint/2010/main" val="608118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latin typeface="Aptos" panose="020B0004020202020204" pitchFamily="34" charset="0"/>
              </a:rPr>
              <a:t>Protocol vs. service</a:t>
            </a:r>
          </a:p>
        </p:txBody>
      </p:sp>
      <p:sp>
        <p:nvSpPr>
          <p:cNvPr id="3" name="Segnaposto contenuto 2"/>
          <p:cNvSpPr>
            <a:spLocks noGrp="1"/>
          </p:cNvSpPr>
          <p:nvPr>
            <p:ph idx="1"/>
          </p:nvPr>
        </p:nvSpPr>
        <p:spPr/>
        <p:txBody>
          <a:bodyPr>
            <a:normAutofit/>
          </a:bodyPr>
          <a:lstStyle/>
          <a:p>
            <a:r>
              <a:rPr lang="it-IT" b="1" dirty="0" err="1">
                <a:latin typeface="Aptos" panose="020B0004020202020204" pitchFamily="34" charset="0"/>
              </a:rPr>
              <a:t>Protocol</a:t>
            </a:r>
            <a:r>
              <a:rPr lang="it-IT" dirty="0">
                <a:latin typeface="Aptos" panose="020B0004020202020204" pitchFamily="34" charset="0"/>
              </a:rPr>
              <a:t>: </a:t>
            </a:r>
            <a:r>
              <a:rPr lang="en-GB" dirty="0">
                <a:latin typeface="Aptos" panose="020B0004020202020204" pitchFamily="34" charset="0"/>
              </a:rPr>
              <a:t>The set of rules governing the format and meaning of the packets, or messages that are exchanged by the </a:t>
            </a:r>
            <a:r>
              <a:rPr lang="en-GB" u="sng" dirty="0">
                <a:latin typeface="Aptos" panose="020B0004020202020204" pitchFamily="34" charset="0"/>
              </a:rPr>
              <a:t>peer entities within a layer</a:t>
            </a:r>
            <a:r>
              <a:rPr lang="en-GB" dirty="0">
                <a:latin typeface="Aptos" panose="020B0004020202020204" pitchFamily="34" charset="0"/>
              </a:rPr>
              <a:t>.</a:t>
            </a:r>
          </a:p>
          <a:p>
            <a:r>
              <a:rPr lang="en-GB" b="1" dirty="0">
                <a:latin typeface="Aptos" panose="020B0004020202020204" pitchFamily="34" charset="0"/>
              </a:rPr>
              <a:t>Service:</a:t>
            </a:r>
            <a:r>
              <a:rPr lang="en-GB" i="1" dirty="0">
                <a:latin typeface="Aptos" panose="020B0004020202020204" pitchFamily="34" charset="0"/>
              </a:rPr>
              <a:t> </a:t>
            </a:r>
            <a:r>
              <a:rPr lang="en-GB" dirty="0">
                <a:latin typeface="Aptos" panose="020B0004020202020204" pitchFamily="34" charset="0"/>
              </a:rPr>
              <a:t>the set of primitives (operations) that a layer provides to the layer above it. They are related to the </a:t>
            </a:r>
            <a:r>
              <a:rPr lang="en-GB" u="sng" dirty="0">
                <a:latin typeface="Aptos" panose="020B0004020202020204" pitchFamily="34" charset="0"/>
              </a:rPr>
              <a:t>interfaces between layers</a:t>
            </a:r>
            <a:r>
              <a:rPr lang="en-GB" dirty="0">
                <a:latin typeface="Aptos" panose="020B0004020202020204" pitchFamily="34" charset="0"/>
              </a:rPr>
              <a:t>. </a:t>
            </a:r>
          </a:p>
          <a:p>
            <a:r>
              <a:rPr lang="en-GB" dirty="0">
                <a:latin typeface="Aptos" panose="020B0004020202020204" pitchFamily="34" charset="0"/>
              </a:rPr>
              <a:t>The protocol of layer k defines the implementation details of services which layer k provides to users of layer k+1; such details are not visible to users of layer k+1. </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13</a:t>
            </a:fld>
            <a:endParaRPr lang="en-GB">
              <a:latin typeface="Aptos" panose="020B0004020202020204" pitchFamily="34" charset="0"/>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8044" y="3790268"/>
            <a:ext cx="6348570" cy="2883600"/>
          </a:xfrm>
          <a:prstGeom prst="rect">
            <a:avLst/>
          </a:prstGeom>
        </p:spPr>
      </p:pic>
    </p:spTree>
    <p:extLst>
      <p:ext uri="{BB962C8B-B14F-4D97-AF65-F5344CB8AC3E}">
        <p14:creationId xmlns:p14="http://schemas.microsoft.com/office/powerpoint/2010/main" val="3082954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3" name="Segnaposto contenuto 2"/>
          <p:cNvSpPr>
            <a:spLocks noGrp="1"/>
          </p:cNvSpPr>
          <p:nvPr>
            <p:ph idx="1"/>
          </p:nvPr>
        </p:nvSpPr>
        <p:spPr>
          <a:xfrm>
            <a:off x="3955473" y="2057152"/>
            <a:ext cx="7896431" cy="2802030"/>
          </a:xfrm>
        </p:spPr>
        <p:txBody>
          <a:bodyPr>
            <a:normAutofit/>
          </a:bodyPr>
          <a:lstStyle/>
          <a:p>
            <a:r>
              <a:rPr lang="en-GB" b="1" dirty="0">
                <a:latin typeface="Aptos" panose="020B0004020202020204" pitchFamily="34" charset="0"/>
              </a:rPr>
              <a:t>Worldwide Internet</a:t>
            </a:r>
            <a:r>
              <a:rPr lang="en-GB" dirty="0">
                <a:latin typeface="Aptos" panose="020B0004020202020204" pitchFamily="34" charset="0"/>
              </a:rPr>
              <a:t>: the global system of interconnected computer networks that uses the Internet protocol suite (TCP/IP) to communicate between networks and devices.</a:t>
            </a:r>
            <a:endParaRPr lang="it-IT" dirty="0">
              <a:latin typeface="Aptos" panose="020B0004020202020204" pitchFamily="34" charset="0"/>
            </a:endParaRPr>
          </a:p>
          <a:p>
            <a:r>
              <a:rPr lang="it-IT" dirty="0">
                <a:latin typeface="Aptos" panose="020B0004020202020204" pitchFamily="34" charset="0"/>
              </a:rPr>
              <a:t>The </a:t>
            </a:r>
            <a:r>
              <a:rPr lang="it-IT" dirty="0" err="1">
                <a:latin typeface="Aptos" panose="020B0004020202020204" pitchFamily="34" charset="0"/>
              </a:rPr>
              <a:t>reference</a:t>
            </a:r>
            <a:r>
              <a:rPr lang="it-IT" dirty="0">
                <a:latin typeface="Aptos" panose="020B0004020202020204" pitchFamily="34" charset="0"/>
              </a:rPr>
              <a:t> model </a:t>
            </a:r>
            <a:r>
              <a:rPr lang="it-IT" dirty="0" err="1">
                <a:latin typeface="Aptos" panose="020B0004020202020204" pitchFamily="34" charset="0"/>
              </a:rPr>
              <a:t>used</a:t>
            </a:r>
            <a:r>
              <a:rPr lang="it-IT" dirty="0">
                <a:latin typeface="Aptos" panose="020B0004020202020204" pitchFamily="34" charset="0"/>
              </a:rPr>
              <a:t> by the </a:t>
            </a:r>
            <a:r>
              <a:rPr lang="it-IT" dirty="0" err="1">
                <a:latin typeface="Aptos" panose="020B0004020202020204" pitchFamily="34" charset="0"/>
              </a:rPr>
              <a:t>worldwide</a:t>
            </a:r>
            <a:r>
              <a:rPr lang="it-IT" dirty="0">
                <a:latin typeface="Aptos" panose="020B0004020202020204" pitchFamily="34" charset="0"/>
              </a:rPr>
              <a:t> Internet </a:t>
            </a:r>
            <a:r>
              <a:rPr lang="it-IT" dirty="0" err="1">
                <a:latin typeface="Aptos" panose="020B0004020202020204" pitchFamily="34" charset="0"/>
              </a:rPr>
              <a:t>is</a:t>
            </a:r>
            <a:r>
              <a:rPr lang="it-IT" dirty="0">
                <a:latin typeface="Aptos" panose="020B0004020202020204" pitchFamily="34" charset="0"/>
              </a:rPr>
              <a:t> </a:t>
            </a:r>
            <a:r>
              <a:rPr lang="it-IT" dirty="0" err="1">
                <a:latin typeface="Aptos" panose="020B0004020202020204" pitchFamily="34" charset="0"/>
              </a:rPr>
              <a:t>called</a:t>
            </a:r>
            <a:r>
              <a:rPr lang="it-IT" dirty="0">
                <a:latin typeface="Aptos" panose="020B0004020202020204" pitchFamily="34" charset="0"/>
              </a:rPr>
              <a:t> </a:t>
            </a:r>
            <a:r>
              <a:rPr lang="it-IT" b="1" dirty="0">
                <a:latin typeface="Aptos" panose="020B0004020202020204" pitchFamily="34" charset="0"/>
              </a:rPr>
              <a:t>TCP/IP </a:t>
            </a:r>
            <a:r>
              <a:rPr lang="it-IT" b="1" dirty="0" err="1">
                <a:latin typeface="Aptos" panose="020B0004020202020204" pitchFamily="34" charset="0"/>
              </a:rPr>
              <a:t>reference</a:t>
            </a:r>
            <a:r>
              <a:rPr lang="it-IT" b="1" dirty="0">
                <a:latin typeface="Aptos" panose="020B0004020202020204" pitchFamily="34" charset="0"/>
              </a:rPr>
              <a:t> model </a:t>
            </a:r>
            <a:r>
              <a:rPr lang="it-IT" dirty="0">
                <a:latin typeface="Aptos" panose="020B0004020202020204" pitchFamily="34" charset="0"/>
              </a:rPr>
              <a:t>and </a:t>
            </a:r>
            <a:r>
              <a:rPr lang="it-IT" dirty="0" err="1">
                <a:latin typeface="Aptos" panose="020B0004020202020204" pitchFamily="34" charset="0"/>
              </a:rPr>
              <a:t>it</a:t>
            </a:r>
            <a:r>
              <a:rPr lang="it-IT" dirty="0">
                <a:latin typeface="Aptos" panose="020B0004020202020204" pitchFamily="34" charset="0"/>
              </a:rPr>
              <a:t> </a:t>
            </a:r>
            <a:r>
              <a:rPr lang="it-IT" dirty="0" err="1">
                <a:latin typeface="Aptos" panose="020B0004020202020204" pitchFamily="34" charset="0"/>
              </a:rPr>
              <a:t>was</a:t>
            </a:r>
            <a:r>
              <a:rPr lang="it-IT" dirty="0">
                <a:latin typeface="Aptos" panose="020B0004020202020204" pitchFamily="34" charset="0"/>
              </a:rPr>
              <a:t> </a:t>
            </a:r>
            <a:r>
              <a:rPr lang="it-IT" dirty="0" err="1">
                <a:latin typeface="Aptos" panose="020B0004020202020204" pitchFamily="34" charset="0"/>
              </a:rPr>
              <a:t>introduced</a:t>
            </a:r>
            <a:r>
              <a:rPr lang="it-IT" dirty="0">
                <a:latin typeface="Aptos" panose="020B0004020202020204" pitchFamily="34" charset="0"/>
              </a:rPr>
              <a:t> by </a:t>
            </a:r>
            <a:r>
              <a:rPr lang="en-GB" dirty="0">
                <a:latin typeface="Aptos" panose="020B0004020202020204" pitchFamily="34" charset="0"/>
              </a:rPr>
              <a:t>Cerf and Kahn in 1974.</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14</a:t>
            </a:fld>
            <a:endParaRPr lang="en-GB">
              <a:latin typeface="Aptos" panose="020B0004020202020204" pitchFamily="34" charset="0"/>
            </a:endParaRPr>
          </a:p>
        </p:txBody>
      </p:sp>
      <p:sp>
        <p:nvSpPr>
          <p:cNvPr id="5" name="Rettangolo arrotondato 4"/>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6" name="Rettangolo arrotondato 5"/>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7" name="Rettangolo arrotondato 6"/>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8" name="Rettangolo arrotondato 7"/>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3" name="Rettangolo arrotondato 12"/>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Tree>
    <p:extLst>
      <p:ext uri="{BB962C8B-B14F-4D97-AF65-F5344CB8AC3E}">
        <p14:creationId xmlns:p14="http://schemas.microsoft.com/office/powerpoint/2010/main" val="3747566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15</a:t>
            </a:fld>
            <a:endParaRPr lang="en-GB">
              <a:latin typeface="Aptos" panose="020B0004020202020204" pitchFamily="34" charset="0"/>
            </a:endParaRPr>
          </a:p>
        </p:txBody>
      </p:sp>
      <p:sp>
        <p:nvSpPr>
          <p:cNvPr id="10" name="Rettangolo arrotondato 9"/>
          <p:cNvSpPr/>
          <p:nvPr/>
        </p:nvSpPr>
        <p:spPr>
          <a:xfrm>
            <a:off x="4495799" y="1574365"/>
            <a:ext cx="6830291" cy="2588926"/>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It includes the protocols used by applications running on different hosts to communicate</a:t>
            </a:r>
            <a:endParaRPr lang="en-GB" sz="2400" dirty="0">
              <a:latin typeface="Aptos" panose="020B0004020202020204" pitchFamily="34" charset="0"/>
            </a:endParaRPr>
          </a:p>
          <a:p>
            <a:pPr marL="285750" indent="-285750">
              <a:buClr>
                <a:srgbClr val="00B050"/>
              </a:buClr>
              <a:buFont typeface="Wingdings" panose="05000000000000000000" pitchFamily="2" charset="2"/>
              <a:buChar char="Ø"/>
            </a:pPr>
            <a:r>
              <a:rPr lang="it-IT" sz="2400" dirty="0" err="1">
                <a:latin typeface="Aptos" panose="020B0004020202020204" pitchFamily="34" charset="0"/>
              </a:rPr>
              <a:t>Example</a:t>
            </a:r>
            <a:r>
              <a:rPr lang="it-IT" sz="2400" dirty="0">
                <a:latin typeface="Aptos" panose="020B0004020202020204" pitchFamily="34" charset="0"/>
              </a:rPr>
              <a:t>: A Web browser can </a:t>
            </a:r>
            <a:r>
              <a:rPr lang="it-IT" sz="2400" dirty="0" err="1">
                <a:latin typeface="Aptos" panose="020B0004020202020204" pitchFamily="34" charset="0"/>
              </a:rPr>
              <a:t>send</a:t>
            </a:r>
            <a:r>
              <a:rPr lang="it-IT" sz="2400" dirty="0">
                <a:latin typeface="Aptos" panose="020B0004020202020204" pitchFamily="34" charset="0"/>
              </a:rPr>
              <a:t> </a:t>
            </a:r>
            <a:r>
              <a:rPr lang="it-IT" sz="2400" dirty="0" err="1">
                <a:latin typeface="Aptos" panose="020B0004020202020204" pitchFamily="34" charset="0"/>
              </a:rPr>
              <a:t>requests</a:t>
            </a:r>
            <a:r>
              <a:rPr lang="it-IT" sz="2400" dirty="0">
                <a:latin typeface="Aptos" panose="020B0004020202020204" pitchFamily="34" charset="0"/>
              </a:rPr>
              <a:t> to a Web server </a:t>
            </a:r>
            <a:r>
              <a:rPr lang="it-IT" sz="2400" dirty="0" err="1">
                <a:latin typeface="Aptos" panose="020B0004020202020204" pitchFamily="34" charset="0"/>
              </a:rPr>
              <a:t>using</a:t>
            </a:r>
            <a:r>
              <a:rPr lang="it-IT" sz="2400" dirty="0">
                <a:latin typeface="Aptos" panose="020B0004020202020204" pitchFamily="34" charset="0"/>
              </a:rPr>
              <a:t> the </a:t>
            </a:r>
            <a:r>
              <a:rPr lang="it-IT" sz="2400" b="1" dirty="0">
                <a:latin typeface="Aptos" panose="020B0004020202020204" pitchFamily="34" charset="0"/>
              </a:rPr>
              <a:t>HTTP </a:t>
            </a:r>
            <a:r>
              <a:rPr lang="it-IT" sz="2400" b="1" dirty="0" err="1">
                <a:latin typeface="Aptos" panose="020B0004020202020204" pitchFamily="34" charset="0"/>
              </a:rPr>
              <a:t>protocol</a:t>
            </a:r>
            <a:r>
              <a:rPr lang="it-IT" sz="2400" dirty="0">
                <a:latin typeface="Aptos" panose="020B0004020202020204" pitchFamily="34" charset="0"/>
              </a:rPr>
              <a:t>, </a:t>
            </a:r>
            <a:r>
              <a:rPr lang="it-IT" sz="2400" dirty="0" err="1">
                <a:latin typeface="Aptos" panose="020B0004020202020204" pitchFamily="34" charset="0"/>
              </a:rPr>
              <a:t>which</a:t>
            </a:r>
            <a:r>
              <a:rPr lang="it-IT" sz="2400" dirty="0">
                <a:latin typeface="Aptos" panose="020B0004020202020204" pitchFamily="34" charset="0"/>
              </a:rPr>
              <a:t> </a:t>
            </a:r>
            <a:r>
              <a:rPr lang="it-IT" sz="2400" dirty="0" err="1">
                <a:latin typeface="Aptos" panose="020B0004020202020204" pitchFamily="34" charset="0"/>
              </a:rPr>
              <a:t>is</a:t>
            </a:r>
            <a:r>
              <a:rPr lang="it-IT" sz="2400" dirty="0">
                <a:latin typeface="Aptos" panose="020B0004020202020204" pitchFamily="34" charset="0"/>
              </a:rPr>
              <a:t> a </a:t>
            </a:r>
            <a:r>
              <a:rPr lang="it-IT" sz="2400" dirty="0" err="1">
                <a:latin typeface="Aptos" panose="020B0004020202020204" pitchFamily="34" charset="0"/>
              </a:rPr>
              <a:t>protocol</a:t>
            </a:r>
            <a:r>
              <a:rPr lang="it-IT" sz="2400" dirty="0">
                <a:latin typeface="Aptos" panose="020B0004020202020204" pitchFamily="34" charset="0"/>
              </a:rPr>
              <a:t> of the </a:t>
            </a:r>
            <a:r>
              <a:rPr lang="it-IT" sz="2400" dirty="0" err="1">
                <a:latin typeface="Aptos" panose="020B0004020202020204" pitchFamily="34" charset="0"/>
              </a:rPr>
              <a:t>application</a:t>
            </a:r>
            <a:r>
              <a:rPr lang="it-IT" sz="2400" dirty="0">
                <a:latin typeface="Aptos" panose="020B0004020202020204" pitchFamily="34" charset="0"/>
              </a:rPr>
              <a:t> </a:t>
            </a:r>
            <a:r>
              <a:rPr lang="it-IT" sz="2400" dirty="0" err="1">
                <a:latin typeface="Aptos" panose="020B0004020202020204" pitchFamily="34" charset="0"/>
              </a:rPr>
              <a:t>layer</a:t>
            </a:r>
            <a:endParaRPr lang="en-GB" sz="2400" dirty="0">
              <a:latin typeface="Aptos" panose="020B0004020202020204" pitchFamily="34" charset="0"/>
            </a:endParaRPr>
          </a:p>
        </p:txBody>
      </p:sp>
      <p:cxnSp>
        <p:nvCxnSpPr>
          <p:cNvPr id="14" name="Connettore 2 13"/>
          <p:cNvCxnSpPr/>
          <p:nvPr/>
        </p:nvCxnSpPr>
        <p:spPr>
          <a:xfrm>
            <a:off x="3373582" y="1919965"/>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ttangolo arrotondato 15"/>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9" name="Rettangolo arrotondato 18"/>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a:solidFill>
                  <a:sysClr val="windowText" lastClr="000000"/>
                </a:solidFill>
                <a:latin typeface="Aptos" panose="020B0004020202020204" pitchFamily="34" charset="0"/>
              </a:rPr>
              <a:t>Application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20" name="Rettangolo arrotondato 19"/>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Tree>
    <p:extLst>
      <p:ext uri="{BB962C8B-B14F-4D97-AF65-F5344CB8AC3E}">
        <p14:creationId xmlns:p14="http://schemas.microsoft.com/office/powerpoint/2010/main" val="271189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arrotondato 2"/>
          <p:cNvSpPr/>
          <p:nvPr/>
        </p:nvSpPr>
        <p:spPr>
          <a:xfrm>
            <a:off x="6984460" y="5760699"/>
            <a:ext cx="2879388" cy="7782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16</a:t>
            </a:fld>
            <a:endParaRPr lang="en-GB">
              <a:latin typeface="Aptos" panose="020B0004020202020204" pitchFamily="34" charset="0"/>
            </a:endParaRPr>
          </a:p>
        </p:txBody>
      </p:sp>
      <p:sp>
        <p:nvSpPr>
          <p:cNvPr id="10" name="Rettangolo arrotondato 9"/>
          <p:cNvSpPr/>
          <p:nvPr/>
        </p:nvSpPr>
        <p:spPr>
          <a:xfrm>
            <a:off x="4494827" y="1265361"/>
            <a:ext cx="6830291" cy="4289842"/>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It creates and maintain conversations between applications on two hosts</a:t>
            </a:r>
            <a:endParaRPr lang="en-GB" sz="2400" dirty="0">
              <a:latin typeface="Aptos" panose="020B0004020202020204" pitchFamily="34" charset="0"/>
            </a:endParaRPr>
          </a:p>
          <a:p>
            <a:pPr marL="285750" indent="-285750">
              <a:buClr>
                <a:srgbClr val="00B050"/>
              </a:buClr>
              <a:buFont typeface="Wingdings" panose="05000000000000000000" pitchFamily="2" charset="2"/>
              <a:buChar char="Ø"/>
            </a:pPr>
            <a:r>
              <a:rPr lang="it-IT" sz="2400" dirty="0" err="1">
                <a:latin typeface="Aptos" panose="020B0004020202020204" pitchFamily="34" charset="0"/>
              </a:rPr>
              <a:t>Two</a:t>
            </a:r>
            <a:r>
              <a:rPr lang="it-IT" sz="2400" dirty="0">
                <a:latin typeface="Aptos" panose="020B0004020202020204" pitchFamily="34" charset="0"/>
              </a:rPr>
              <a:t> </a:t>
            </a:r>
            <a:r>
              <a:rPr lang="it-IT" sz="2400" dirty="0" err="1">
                <a:latin typeface="Aptos" panose="020B0004020202020204" pitchFamily="34" charset="0"/>
              </a:rPr>
              <a:t>transport</a:t>
            </a:r>
            <a:r>
              <a:rPr lang="it-IT" sz="2400" dirty="0">
                <a:latin typeface="Aptos" panose="020B0004020202020204" pitchFamily="34" charset="0"/>
              </a:rPr>
              <a:t> </a:t>
            </a:r>
            <a:r>
              <a:rPr lang="it-IT" sz="2400" dirty="0" err="1">
                <a:latin typeface="Aptos" panose="020B0004020202020204" pitchFamily="34" charset="0"/>
              </a:rPr>
              <a:t>protocols</a:t>
            </a:r>
            <a:r>
              <a:rPr lang="it-IT" sz="2400" dirty="0">
                <a:latin typeface="Aptos" panose="020B0004020202020204" pitchFamily="34" charset="0"/>
              </a:rPr>
              <a:t> </a:t>
            </a:r>
            <a:r>
              <a:rPr lang="it-IT" sz="2400" dirty="0" err="1">
                <a:latin typeface="Aptos" panose="020B0004020202020204" pitchFamily="34" charset="0"/>
              </a:rPr>
              <a:t>have</a:t>
            </a:r>
            <a:r>
              <a:rPr lang="it-IT" sz="2400" dirty="0">
                <a:latin typeface="Aptos" panose="020B0004020202020204" pitchFamily="34" charset="0"/>
              </a:rPr>
              <a:t> </a:t>
            </a:r>
            <a:r>
              <a:rPr lang="it-IT" sz="2400" dirty="0" err="1">
                <a:latin typeface="Aptos" panose="020B0004020202020204" pitchFamily="34" charset="0"/>
              </a:rPr>
              <a:t>been</a:t>
            </a:r>
            <a:r>
              <a:rPr lang="it-IT" sz="2400" dirty="0">
                <a:latin typeface="Aptos" panose="020B0004020202020204" pitchFamily="34" charset="0"/>
              </a:rPr>
              <a:t> </a:t>
            </a:r>
            <a:r>
              <a:rPr lang="it-IT" sz="2400" dirty="0" err="1">
                <a:latin typeface="Aptos" panose="020B0004020202020204" pitchFamily="34" charset="0"/>
              </a:rPr>
              <a:t>defined</a:t>
            </a:r>
            <a:r>
              <a:rPr lang="it-IT" sz="2400" dirty="0">
                <a:latin typeface="Aptos" panose="020B0004020202020204" pitchFamily="34" charset="0"/>
              </a:rPr>
              <a:t>: </a:t>
            </a:r>
          </a:p>
          <a:p>
            <a:pPr marL="742950" lvl="1" indent="-285750">
              <a:buClr>
                <a:srgbClr val="00B050"/>
              </a:buClr>
              <a:buFont typeface="Wingdings" panose="05000000000000000000" pitchFamily="2" charset="2"/>
              <a:buChar char="Ø"/>
            </a:pPr>
            <a:r>
              <a:rPr lang="it-IT" sz="2200" b="1" dirty="0" err="1">
                <a:latin typeface="Aptos" panose="020B0004020202020204" pitchFamily="34" charset="0"/>
              </a:rPr>
              <a:t>Transmission</a:t>
            </a:r>
            <a:r>
              <a:rPr lang="it-IT" sz="2200" b="1" dirty="0">
                <a:latin typeface="Aptos" panose="020B0004020202020204" pitchFamily="34" charset="0"/>
              </a:rPr>
              <a:t> control </a:t>
            </a:r>
            <a:r>
              <a:rPr lang="it-IT" sz="2200" b="1" dirty="0" err="1">
                <a:latin typeface="Aptos" panose="020B0004020202020204" pitchFamily="34" charset="0"/>
              </a:rPr>
              <a:t>protocol</a:t>
            </a:r>
            <a:r>
              <a:rPr lang="it-IT" sz="2200" b="1" dirty="0">
                <a:latin typeface="Aptos" panose="020B0004020202020204" pitchFamily="34" charset="0"/>
              </a:rPr>
              <a:t> (TCP)</a:t>
            </a:r>
            <a:r>
              <a:rPr lang="it-IT" sz="2200" dirty="0">
                <a:latin typeface="Aptos" panose="020B0004020202020204" pitchFamily="34" charset="0"/>
              </a:rPr>
              <a:t>: </a:t>
            </a:r>
            <a:r>
              <a:rPr lang="en-GB" sz="2200" dirty="0">
                <a:latin typeface="Aptos" panose="020B0004020202020204" pitchFamily="34" charset="0"/>
              </a:rPr>
              <a:t>a reliable connection-oriented protocol that allows a byte stream delivery without </a:t>
            </a:r>
            <a:r>
              <a:rPr lang="en-GB" sz="2200" dirty="0">
                <a:solidFill>
                  <a:srgbClr val="FF0000"/>
                </a:solidFill>
                <a:latin typeface="Aptos" panose="020B0004020202020204" pitchFamily="34" charset="0"/>
              </a:rPr>
              <a:t>errors.</a:t>
            </a:r>
            <a:r>
              <a:rPr lang="it-IT" sz="2200" dirty="0">
                <a:latin typeface="Aptos" panose="020B0004020202020204" pitchFamily="34" charset="0"/>
              </a:rPr>
              <a:t> </a:t>
            </a:r>
          </a:p>
          <a:p>
            <a:pPr marL="742950" lvl="1" indent="-285750">
              <a:buClr>
                <a:srgbClr val="00B050"/>
              </a:buClr>
              <a:buFont typeface="Wingdings" panose="05000000000000000000" pitchFamily="2" charset="2"/>
              <a:buChar char="Ø"/>
            </a:pPr>
            <a:r>
              <a:rPr lang="en-GB" sz="2200" b="1" dirty="0">
                <a:latin typeface="Aptos" panose="020B0004020202020204" pitchFamily="34" charset="0"/>
              </a:rPr>
              <a:t>User Datagram Protocol (UDP)</a:t>
            </a:r>
            <a:r>
              <a:rPr lang="en-GB" sz="2200" dirty="0">
                <a:latin typeface="Aptos" panose="020B0004020202020204" pitchFamily="34" charset="0"/>
              </a:rPr>
              <a:t>: an unreliable, connectionless protocol for applications in which prompt delivery is more important than accurate delivery (e.g., speech or video).</a:t>
            </a:r>
            <a:endParaRPr lang="it-IT" sz="2200" dirty="0">
              <a:latin typeface="Aptos" panose="020B0004020202020204" pitchFamily="34" charset="0"/>
            </a:endParaRPr>
          </a:p>
        </p:txBody>
      </p:sp>
      <p:cxnSp>
        <p:nvCxnSpPr>
          <p:cNvPr id="14" name="Connettore 2 13"/>
          <p:cNvCxnSpPr/>
          <p:nvPr/>
        </p:nvCxnSpPr>
        <p:spPr>
          <a:xfrm>
            <a:off x="3387436" y="2841293"/>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err="1">
                <a:solidFill>
                  <a:sysClr val="windowText" lastClr="000000"/>
                </a:solidFill>
                <a:latin typeface="Aptos" panose="020B0004020202020204" pitchFamily="34" charset="0"/>
              </a:rPr>
              <a:t>Transport</a:t>
            </a:r>
            <a:r>
              <a:rPr lang="it-IT" sz="2400" b="1" dirty="0">
                <a:solidFill>
                  <a:sysClr val="windowText" lastClr="000000"/>
                </a:solidFill>
                <a:latin typeface="Aptos" panose="020B0004020202020204" pitchFamily="34" charset="0"/>
              </a:rPr>
              <a:t>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8424154" y="5864207"/>
            <a:ext cx="1352144" cy="528791"/>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Data</a:t>
            </a:r>
            <a:endParaRPr lang="en-GB" dirty="0">
              <a:latin typeface="Aptos" panose="020B0004020202020204" pitchFamily="34" charset="0"/>
            </a:endParaRPr>
          </a:p>
        </p:txBody>
      </p:sp>
      <p:sp>
        <p:nvSpPr>
          <p:cNvPr id="19" name="Rettangolo arrotondato 18"/>
          <p:cNvSpPr/>
          <p:nvPr/>
        </p:nvSpPr>
        <p:spPr>
          <a:xfrm>
            <a:off x="7069724" y="5864207"/>
            <a:ext cx="1287147" cy="528791"/>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TCP/UDP </a:t>
            </a:r>
            <a:r>
              <a:rPr lang="it-IT" dirty="0" err="1">
                <a:latin typeface="Aptos" panose="020B0004020202020204" pitchFamily="34" charset="0"/>
              </a:rPr>
              <a:t>header</a:t>
            </a:r>
            <a:endParaRPr lang="en-GB" dirty="0">
              <a:latin typeface="Aptos" panose="020B0004020202020204" pitchFamily="34" charset="0"/>
            </a:endParaRPr>
          </a:p>
        </p:txBody>
      </p:sp>
      <p:sp>
        <p:nvSpPr>
          <p:cNvPr id="9" name="CasellaDiTesto 8"/>
          <p:cNvSpPr txBox="1"/>
          <p:nvPr/>
        </p:nvSpPr>
        <p:spPr>
          <a:xfrm>
            <a:off x="5455228" y="6023666"/>
            <a:ext cx="1428050" cy="369332"/>
          </a:xfrm>
          <a:prstGeom prst="rect">
            <a:avLst/>
          </a:prstGeom>
          <a:noFill/>
        </p:spPr>
        <p:txBody>
          <a:bodyPr wrap="square" rtlCol="0">
            <a:spAutoFit/>
          </a:bodyPr>
          <a:lstStyle/>
          <a:p>
            <a:r>
              <a:rPr lang="it-IT" dirty="0">
                <a:latin typeface="Aptos" panose="020B0004020202020204" pitchFamily="34" charset="0"/>
              </a:rPr>
              <a:t>SEGMENT</a:t>
            </a:r>
            <a:endParaRPr lang="en-GB" dirty="0">
              <a:latin typeface="Aptos" panose="020B0004020202020204" pitchFamily="34" charset="0"/>
            </a:endParaRPr>
          </a:p>
        </p:txBody>
      </p:sp>
    </p:spTree>
    <p:extLst>
      <p:ext uri="{BB962C8B-B14F-4D97-AF65-F5344CB8AC3E}">
        <p14:creationId xmlns:p14="http://schemas.microsoft.com/office/powerpoint/2010/main" val="2654208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17</a:t>
            </a:fld>
            <a:endParaRPr lang="en-GB" dirty="0">
              <a:latin typeface="Aptos" panose="020B0004020202020204" pitchFamily="34" charset="0"/>
            </a:endParaRPr>
          </a:p>
        </p:txBody>
      </p:sp>
      <p:sp>
        <p:nvSpPr>
          <p:cNvPr id="10" name="Rettangolo arrotondato 9"/>
          <p:cNvSpPr/>
          <p:nvPr/>
        </p:nvSpPr>
        <p:spPr>
          <a:xfrm>
            <a:off x="4478545" y="1548982"/>
            <a:ext cx="7397579" cy="4131792"/>
          </a:xfrm>
          <a:prstGeom prst="roundRect">
            <a:avLst>
              <a:gd name="adj" fmla="val 6798"/>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Finds the correct routing path, handles congestions and quality of service.</a:t>
            </a:r>
          </a:p>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Packets are sent independently to the destination by a certain path. </a:t>
            </a:r>
          </a:p>
          <a:p>
            <a:pPr marL="285750" indent="-285750">
              <a:buClr>
                <a:srgbClr val="00B050"/>
              </a:buClr>
              <a:buFont typeface="Wingdings" panose="05000000000000000000" pitchFamily="2" charset="2"/>
              <a:buChar char="Ø"/>
            </a:pPr>
            <a:r>
              <a:rPr lang="en-US" sz="2400" dirty="0">
                <a:solidFill>
                  <a:schemeClr val="tx1"/>
                </a:solidFill>
                <a:latin typeface="Aptos" panose="020B0004020202020204" pitchFamily="34" charset="0"/>
              </a:rPr>
              <a:t>This layer works with two protocols: </a:t>
            </a:r>
          </a:p>
          <a:p>
            <a:pPr marL="742950" lvl="1" indent="-285750">
              <a:buClr>
                <a:srgbClr val="00B050"/>
              </a:buClr>
              <a:buFont typeface="Wingdings" panose="05000000000000000000" pitchFamily="2" charset="2"/>
              <a:buChar char="Ø"/>
            </a:pPr>
            <a:r>
              <a:rPr lang="en-US" sz="2400" b="1" dirty="0">
                <a:solidFill>
                  <a:schemeClr val="tx1"/>
                </a:solidFill>
                <a:latin typeface="Aptos" panose="020B0004020202020204" pitchFamily="34" charset="0"/>
              </a:rPr>
              <a:t>Internet protocol (IP): </a:t>
            </a:r>
            <a:r>
              <a:rPr lang="en-US" sz="2400" dirty="0">
                <a:solidFill>
                  <a:schemeClr val="tx1"/>
                </a:solidFill>
                <a:latin typeface="Aptos" panose="020B0004020202020204" pitchFamily="34" charset="0"/>
              </a:rPr>
              <a:t>it defines the IP addresses, </a:t>
            </a:r>
            <a:r>
              <a:rPr lang="en-US" sz="2400" dirty="0" err="1">
                <a:solidFill>
                  <a:schemeClr val="tx1"/>
                </a:solidFill>
                <a:latin typeface="Aptos" panose="020B0004020202020204" pitchFamily="34" charset="0"/>
              </a:rPr>
              <a:t>i.e</a:t>
            </a:r>
            <a:r>
              <a:rPr lang="en-US" sz="2400" dirty="0">
                <a:solidFill>
                  <a:schemeClr val="tx1"/>
                </a:solidFill>
                <a:latin typeface="Aptos" panose="020B0004020202020204" pitchFamily="34" charset="0"/>
              </a:rPr>
              <a:t>,. </a:t>
            </a:r>
            <a:r>
              <a:rPr lang="en-US" sz="2400" dirty="0">
                <a:solidFill>
                  <a:prstClr val="black"/>
                </a:solidFill>
                <a:latin typeface="Aptos" panose="020B0004020202020204" pitchFamily="34" charset="0"/>
              </a:rPr>
              <a:t>that label (e.g., 192.0.2.1) that uniquely identifies a host connected to a computer network using the IP protocol. </a:t>
            </a:r>
            <a:endParaRPr lang="en-US" sz="2400" dirty="0">
              <a:solidFill>
                <a:schemeClr val="tx1"/>
              </a:solidFill>
              <a:latin typeface="Aptos" panose="020B0004020202020204" pitchFamily="34" charset="0"/>
            </a:endParaRPr>
          </a:p>
          <a:p>
            <a:pPr marL="742950" lvl="1" indent="-285750">
              <a:buClr>
                <a:srgbClr val="00B050"/>
              </a:buClr>
              <a:buFont typeface="Wingdings" panose="05000000000000000000" pitchFamily="2" charset="2"/>
              <a:buChar char="Ø"/>
            </a:pPr>
            <a:r>
              <a:rPr lang="en-US" sz="2400" b="1" dirty="0">
                <a:solidFill>
                  <a:schemeClr val="tx1"/>
                </a:solidFill>
                <a:latin typeface="Aptos" panose="020B0004020202020204" pitchFamily="34" charset="0"/>
              </a:rPr>
              <a:t>Internet Control Message Protocol (ICMP)</a:t>
            </a:r>
            <a:r>
              <a:rPr lang="en-US" sz="2400" dirty="0">
                <a:solidFill>
                  <a:schemeClr val="tx1"/>
                </a:solidFill>
                <a:latin typeface="Aptos" panose="020B0004020202020204" pitchFamily="34" charset="0"/>
              </a:rPr>
              <a:t>: it sends error and control messages.</a:t>
            </a:r>
          </a:p>
        </p:txBody>
      </p:sp>
      <p:cxnSp>
        <p:nvCxnSpPr>
          <p:cNvPr id="14" name="Connettore 2 13"/>
          <p:cNvCxnSpPr/>
          <p:nvPr/>
        </p:nvCxnSpPr>
        <p:spPr>
          <a:xfrm>
            <a:off x="3305827" y="3741838"/>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a:solidFill>
                  <a:sysClr val="windowText" lastClr="000000"/>
                </a:solidFill>
                <a:latin typeface="Aptos" panose="020B0004020202020204" pitchFamily="34" charset="0"/>
              </a:rPr>
              <a:t>Network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5963055" y="5967243"/>
            <a:ext cx="3871610" cy="7782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9" name="Rettangolo arrotondato 18"/>
          <p:cNvSpPr/>
          <p:nvPr/>
        </p:nvSpPr>
        <p:spPr>
          <a:xfrm>
            <a:off x="8394971" y="6084297"/>
            <a:ext cx="1352144"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Data</a:t>
            </a:r>
            <a:endParaRPr lang="en-GB" dirty="0">
              <a:latin typeface="Aptos" panose="020B0004020202020204" pitchFamily="34" charset="0"/>
            </a:endParaRPr>
          </a:p>
        </p:txBody>
      </p:sp>
      <p:sp>
        <p:nvSpPr>
          <p:cNvPr id="20" name="Rettangolo arrotondato 19"/>
          <p:cNvSpPr/>
          <p:nvPr/>
        </p:nvSpPr>
        <p:spPr>
          <a:xfrm>
            <a:off x="7052554" y="6084297"/>
            <a:ext cx="1304318"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TCP/UDC </a:t>
            </a:r>
            <a:r>
              <a:rPr lang="it-IT" dirty="0" err="1">
                <a:latin typeface="Aptos" panose="020B0004020202020204" pitchFamily="34" charset="0"/>
              </a:rPr>
              <a:t>header</a:t>
            </a:r>
            <a:endParaRPr lang="en-GB" dirty="0">
              <a:latin typeface="Aptos" panose="020B0004020202020204" pitchFamily="34" charset="0"/>
            </a:endParaRPr>
          </a:p>
        </p:txBody>
      </p:sp>
      <p:sp>
        <p:nvSpPr>
          <p:cNvPr id="21" name="CasellaDiTesto 20"/>
          <p:cNvSpPr txBox="1"/>
          <p:nvPr/>
        </p:nvSpPr>
        <p:spPr>
          <a:xfrm>
            <a:off x="4827389" y="6230210"/>
            <a:ext cx="1428050" cy="369332"/>
          </a:xfrm>
          <a:prstGeom prst="rect">
            <a:avLst/>
          </a:prstGeom>
          <a:noFill/>
        </p:spPr>
        <p:txBody>
          <a:bodyPr wrap="square" rtlCol="0">
            <a:spAutoFit/>
          </a:bodyPr>
          <a:lstStyle/>
          <a:p>
            <a:r>
              <a:rPr lang="it-IT" dirty="0">
                <a:latin typeface="Aptos" panose="020B0004020202020204" pitchFamily="34" charset="0"/>
              </a:rPr>
              <a:t>PACKET</a:t>
            </a:r>
            <a:endParaRPr lang="en-GB" dirty="0">
              <a:latin typeface="Aptos" panose="020B0004020202020204" pitchFamily="34" charset="0"/>
            </a:endParaRPr>
          </a:p>
        </p:txBody>
      </p:sp>
      <p:sp>
        <p:nvSpPr>
          <p:cNvPr id="22" name="Rettangolo arrotondato 21"/>
          <p:cNvSpPr/>
          <p:nvPr/>
        </p:nvSpPr>
        <p:spPr>
          <a:xfrm>
            <a:off x="6040395" y="6084297"/>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IP </a:t>
            </a:r>
            <a:r>
              <a:rPr lang="it-IT" dirty="0" err="1">
                <a:latin typeface="Aptos" panose="020B0004020202020204" pitchFamily="34" charset="0"/>
              </a:rPr>
              <a:t>header</a:t>
            </a:r>
            <a:endParaRPr lang="en-GB" dirty="0">
              <a:latin typeface="Aptos" panose="020B0004020202020204" pitchFamily="34" charset="0"/>
            </a:endParaRPr>
          </a:p>
        </p:txBody>
      </p:sp>
    </p:spTree>
    <p:extLst>
      <p:ext uri="{BB962C8B-B14F-4D97-AF65-F5344CB8AC3E}">
        <p14:creationId xmlns:p14="http://schemas.microsoft.com/office/powerpoint/2010/main" val="3554374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18</a:t>
            </a:fld>
            <a:endParaRPr lang="en-GB" dirty="0">
              <a:latin typeface="Aptos" panose="020B0004020202020204" pitchFamily="34" charset="0"/>
            </a:endParaRPr>
          </a:p>
        </p:txBody>
      </p:sp>
      <p:sp>
        <p:nvSpPr>
          <p:cNvPr id="10" name="Rettangolo arrotondato 9"/>
          <p:cNvSpPr/>
          <p:nvPr/>
        </p:nvSpPr>
        <p:spPr>
          <a:xfrm>
            <a:off x="4495799" y="3602181"/>
            <a:ext cx="7100456" cy="2445328"/>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It moves packets between the network layer and the physical layer. </a:t>
            </a:r>
          </a:p>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Not really a layer at all, but rather an interface between hosts and physical transmission links.</a:t>
            </a:r>
          </a:p>
        </p:txBody>
      </p:sp>
      <p:cxnSp>
        <p:nvCxnSpPr>
          <p:cNvPr id="14" name="Connettore 2 13"/>
          <p:cNvCxnSpPr/>
          <p:nvPr/>
        </p:nvCxnSpPr>
        <p:spPr>
          <a:xfrm>
            <a:off x="3395881" y="4628529"/>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a:solidFill>
                  <a:sysClr val="windowText" lastClr="000000"/>
                </a:solidFill>
                <a:latin typeface="Aptos" panose="020B0004020202020204" pitchFamily="34" charset="0"/>
              </a:rPr>
              <a:t>Link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5038927" y="2319374"/>
            <a:ext cx="6147881" cy="7782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9" name="Rettangolo arrotondato 18"/>
          <p:cNvSpPr/>
          <p:nvPr/>
        </p:nvSpPr>
        <p:spPr>
          <a:xfrm>
            <a:off x="8560341" y="2436428"/>
            <a:ext cx="1352144"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Data</a:t>
            </a:r>
            <a:endParaRPr lang="en-GB" dirty="0">
              <a:latin typeface="Aptos" panose="020B0004020202020204" pitchFamily="34" charset="0"/>
            </a:endParaRPr>
          </a:p>
        </p:txBody>
      </p:sp>
      <p:sp>
        <p:nvSpPr>
          <p:cNvPr id="20" name="Rettangolo arrotondato 19"/>
          <p:cNvSpPr/>
          <p:nvPr/>
        </p:nvSpPr>
        <p:spPr>
          <a:xfrm>
            <a:off x="7211699" y="2435915"/>
            <a:ext cx="1325683"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TCP/UDC </a:t>
            </a:r>
            <a:r>
              <a:rPr lang="it-IT" dirty="0" err="1">
                <a:latin typeface="Aptos" panose="020B0004020202020204" pitchFamily="34" charset="0"/>
              </a:rPr>
              <a:t>header</a:t>
            </a:r>
            <a:endParaRPr lang="en-GB" dirty="0">
              <a:latin typeface="Aptos" panose="020B0004020202020204" pitchFamily="34" charset="0"/>
            </a:endParaRPr>
          </a:p>
        </p:txBody>
      </p:sp>
      <p:sp>
        <p:nvSpPr>
          <p:cNvPr id="21" name="CasellaDiTesto 20"/>
          <p:cNvSpPr txBox="1"/>
          <p:nvPr/>
        </p:nvSpPr>
        <p:spPr>
          <a:xfrm>
            <a:off x="4019915" y="2543590"/>
            <a:ext cx="1428050" cy="369332"/>
          </a:xfrm>
          <a:prstGeom prst="rect">
            <a:avLst/>
          </a:prstGeom>
          <a:noFill/>
        </p:spPr>
        <p:txBody>
          <a:bodyPr wrap="square" rtlCol="0">
            <a:spAutoFit/>
          </a:bodyPr>
          <a:lstStyle/>
          <a:p>
            <a:r>
              <a:rPr lang="it-IT" dirty="0">
                <a:latin typeface="Aptos" panose="020B0004020202020204" pitchFamily="34" charset="0"/>
              </a:rPr>
              <a:t>FRAME</a:t>
            </a:r>
            <a:endParaRPr lang="en-GB" dirty="0">
              <a:latin typeface="Aptos" panose="020B0004020202020204" pitchFamily="34" charset="0"/>
            </a:endParaRPr>
          </a:p>
        </p:txBody>
      </p:sp>
      <p:sp>
        <p:nvSpPr>
          <p:cNvPr id="22" name="Rettangolo arrotondato 21"/>
          <p:cNvSpPr/>
          <p:nvPr/>
        </p:nvSpPr>
        <p:spPr>
          <a:xfrm>
            <a:off x="6205765" y="2436428"/>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IP </a:t>
            </a:r>
            <a:r>
              <a:rPr lang="it-IT" dirty="0" err="1">
                <a:latin typeface="Aptos" panose="020B0004020202020204" pitchFamily="34" charset="0"/>
              </a:rPr>
              <a:t>header</a:t>
            </a:r>
            <a:endParaRPr lang="en-GB" dirty="0">
              <a:latin typeface="Aptos" panose="020B0004020202020204" pitchFamily="34" charset="0"/>
            </a:endParaRPr>
          </a:p>
        </p:txBody>
      </p:sp>
      <p:sp>
        <p:nvSpPr>
          <p:cNvPr id="23" name="Rettangolo arrotondato 22"/>
          <p:cNvSpPr/>
          <p:nvPr/>
        </p:nvSpPr>
        <p:spPr>
          <a:xfrm>
            <a:off x="5165388" y="2450858"/>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Link </a:t>
            </a:r>
            <a:r>
              <a:rPr lang="it-IT" dirty="0" err="1">
                <a:latin typeface="Aptos" panose="020B0004020202020204" pitchFamily="34" charset="0"/>
              </a:rPr>
              <a:t>header</a:t>
            </a:r>
            <a:endParaRPr lang="en-GB" dirty="0">
              <a:latin typeface="Aptos" panose="020B0004020202020204" pitchFamily="34" charset="0"/>
            </a:endParaRPr>
          </a:p>
        </p:txBody>
      </p:sp>
      <p:sp>
        <p:nvSpPr>
          <p:cNvPr id="24" name="Rettangolo arrotondato 23"/>
          <p:cNvSpPr/>
          <p:nvPr/>
        </p:nvSpPr>
        <p:spPr>
          <a:xfrm>
            <a:off x="9979768" y="2436428"/>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Link trailer</a:t>
            </a:r>
            <a:endParaRPr lang="en-GB" dirty="0">
              <a:latin typeface="Aptos" panose="020B0004020202020204" pitchFamily="34" charset="0"/>
            </a:endParaRPr>
          </a:p>
        </p:txBody>
      </p:sp>
      <p:sp>
        <p:nvSpPr>
          <p:cNvPr id="25" name="CasellaDiTesto 24"/>
          <p:cNvSpPr txBox="1"/>
          <p:nvPr/>
        </p:nvSpPr>
        <p:spPr>
          <a:xfrm>
            <a:off x="9504070" y="1459714"/>
            <a:ext cx="1934370" cy="646331"/>
          </a:xfrm>
          <a:prstGeom prst="rect">
            <a:avLst/>
          </a:prstGeom>
          <a:noFill/>
        </p:spPr>
        <p:txBody>
          <a:bodyPr wrap="square" rtlCol="0">
            <a:spAutoFit/>
          </a:bodyPr>
          <a:lstStyle/>
          <a:p>
            <a:pPr algn="ctr"/>
            <a:r>
              <a:rPr lang="it-IT" dirty="0" err="1">
                <a:latin typeface="Aptos" panose="020B0004020202020204" pitchFamily="34" charset="0"/>
              </a:rPr>
              <a:t>Error</a:t>
            </a:r>
            <a:r>
              <a:rPr lang="it-IT" dirty="0">
                <a:latin typeface="Aptos" panose="020B0004020202020204" pitchFamily="34" charset="0"/>
              </a:rPr>
              <a:t> </a:t>
            </a:r>
            <a:r>
              <a:rPr lang="it-IT" dirty="0" err="1">
                <a:latin typeface="Aptos" panose="020B0004020202020204" pitchFamily="34" charset="0"/>
              </a:rPr>
              <a:t>checking</a:t>
            </a:r>
            <a:r>
              <a:rPr lang="it-IT" dirty="0">
                <a:latin typeface="Aptos" panose="020B0004020202020204" pitchFamily="34" charset="0"/>
              </a:rPr>
              <a:t> information</a:t>
            </a:r>
            <a:endParaRPr lang="en-GB" dirty="0">
              <a:latin typeface="Aptos" panose="020B0004020202020204" pitchFamily="34" charset="0"/>
            </a:endParaRPr>
          </a:p>
        </p:txBody>
      </p:sp>
      <p:sp>
        <p:nvSpPr>
          <p:cNvPr id="26" name="CasellaDiTesto 25"/>
          <p:cNvSpPr txBox="1"/>
          <p:nvPr/>
        </p:nvSpPr>
        <p:spPr>
          <a:xfrm>
            <a:off x="4350181" y="1182943"/>
            <a:ext cx="2604145" cy="923330"/>
          </a:xfrm>
          <a:prstGeom prst="rect">
            <a:avLst/>
          </a:prstGeom>
          <a:noFill/>
        </p:spPr>
        <p:txBody>
          <a:bodyPr wrap="square" rtlCol="0">
            <a:spAutoFit/>
          </a:bodyPr>
          <a:lstStyle/>
          <a:p>
            <a:pPr algn="ctr"/>
            <a:r>
              <a:rPr lang="it-IT" dirty="0">
                <a:latin typeface="Aptos" panose="020B0004020202020204" pitchFamily="34" charset="0"/>
              </a:rPr>
              <a:t>Source and </a:t>
            </a:r>
            <a:r>
              <a:rPr lang="it-IT" dirty="0" err="1">
                <a:latin typeface="Aptos" panose="020B0004020202020204" pitchFamily="34" charset="0"/>
              </a:rPr>
              <a:t>destination</a:t>
            </a:r>
            <a:r>
              <a:rPr lang="it-IT" dirty="0">
                <a:latin typeface="Aptos" panose="020B0004020202020204" pitchFamily="34" charset="0"/>
              </a:rPr>
              <a:t> MAC </a:t>
            </a:r>
            <a:r>
              <a:rPr lang="it-IT" dirty="0" err="1">
                <a:latin typeface="Aptos" panose="020B0004020202020204" pitchFamily="34" charset="0"/>
              </a:rPr>
              <a:t>address</a:t>
            </a:r>
            <a:r>
              <a:rPr lang="it-IT" dirty="0">
                <a:latin typeface="Aptos" panose="020B0004020202020204" pitchFamily="34" charset="0"/>
              </a:rPr>
              <a:t> (</a:t>
            </a:r>
            <a:r>
              <a:rPr lang="it-IT" dirty="0" err="1">
                <a:latin typeface="Aptos" panose="020B0004020202020204" pitchFamily="34" charset="0"/>
              </a:rPr>
              <a:t>local</a:t>
            </a:r>
            <a:r>
              <a:rPr lang="it-IT" dirty="0">
                <a:latin typeface="Aptos" panose="020B0004020202020204" pitchFamily="34" charset="0"/>
              </a:rPr>
              <a:t> </a:t>
            </a:r>
            <a:r>
              <a:rPr lang="it-IT" dirty="0" err="1">
                <a:latin typeface="Aptos" panose="020B0004020202020204" pitchFamily="34" charset="0"/>
              </a:rPr>
              <a:t>address</a:t>
            </a:r>
            <a:r>
              <a:rPr lang="it-IT" dirty="0">
                <a:latin typeface="Aptos" panose="020B0004020202020204" pitchFamily="34" charset="0"/>
              </a:rPr>
              <a:t> in a LAN)</a:t>
            </a:r>
            <a:endParaRPr lang="en-GB" dirty="0">
              <a:latin typeface="Aptos" panose="020B0004020202020204" pitchFamily="34" charset="0"/>
            </a:endParaRPr>
          </a:p>
        </p:txBody>
      </p:sp>
      <p:cxnSp>
        <p:nvCxnSpPr>
          <p:cNvPr id="9" name="Connettore 2 8"/>
          <p:cNvCxnSpPr>
            <a:stCxn id="26" idx="2"/>
            <a:endCxn id="23" idx="0"/>
          </p:cNvCxnSpPr>
          <p:nvPr/>
        </p:nvCxnSpPr>
        <p:spPr>
          <a:xfrm>
            <a:off x="5652254" y="2106273"/>
            <a:ext cx="4622" cy="3445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ttore 2 26"/>
          <p:cNvCxnSpPr/>
          <p:nvPr/>
        </p:nvCxnSpPr>
        <p:spPr>
          <a:xfrm>
            <a:off x="10471255" y="2052420"/>
            <a:ext cx="0" cy="213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955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19</a:t>
            </a:fld>
            <a:endParaRPr lang="en-GB" dirty="0">
              <a:latin typeface="Aptos" panose="020B0004020202020204" pitchFamily="34" charset="0"/>
            </a:endParaRPr>
          </a:p>
        </p:txBody>
      </p:sp>
      <p:sp>
        <p:nvSpPr>
          <p:cNvPr id="10" name="Rettangolo arrotondato 9"/>
          <p:cNvSpPr/>
          <p:nvPr/>
        </p:nvSpPr>
        <p:spPr>
          <a:xfrm>
            <a:off x="4497863" y="4414556"/>
            <a:ext cx="7100456" cy="2201327"/>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Clr>
                <a:srgbClr val="00B050"/>
              </a:buClr>
              <a:buFont typeface="Wingdings" panose="05000000000000000000" pitchFamily="2" charset="2"/>
              <a:buChar char="Ø"/>
            </a:pPr>
            <a:r>
              <a:rPr lang="it-IT" sz="2400" dirty="0" err="1">
                <a:solidFill>
                  <a:schemeClr val="tx1"/>
                </a:solidFill>
                <a:latin typeface="Aptos" panose="020B0004020202020204" pitchFamily="34" charset="0"/>
              </a:rPr>
              <a:t>It</a:t>
            </a:r>
            <a:r>
              <a:rPr lang="it-IT" sz="2400" dirty="0">
                <a:solidFill>
                  <a:schemeClr val="tx1"/>
                </a:solidFill>
                <a:latin typeface="Aptos" panose="020B0004020202020204" pitchFamily="34" charset="0"/>
              </a:rPr>
              <a:t> </a:t>
            </a:r>
            <a:r>
              <a:rPr lang="it-IT" sz="2400" dirty="0" err="1">
                <a:solidFill>
                  <a:schemeClr val="tx1"/>
                </a:solidFill>
                <a:latin typeface="Aptos" panose="020B0004020202020204" pitchFamily="34" charset="0"/>
              </a:rPr>
              <a:t>physically</a:t>
            </a:r>
            <a:r>
              <a:rPr lang="it-IT" sz="2400" dirty="0">
                <a:solidFill>
                  <a:schemeClr val="tx1"/>
                </a:solidFill>
                <a:latin typeface="Aptos" panose="020B0004020202020204" pitchFamily="34" charset="0"/>
              </a:rPr>
              <a:t> </a:t>
            </a:r>
            <a:r>
              <a:rPr lang="it-IT" sz="2400" dirty="0" err="1">
                <a:solidFill>
                  <a:schemeClr val="tx1"/>
                </a:solidFill>
                <a:latin typeface="Aptos" panose="020B0004020202020204" pitchFamily="34" charset="0"/>
              </a:rPr>
              <a:t>receives</a:t>
            </a:r>
            <a:r>
              <a:rPr lang="it-IT" sz="2400" dirty="0">
                <a:solidFill>
                  <a:schemeClr val="tx1"/>
                </a:solidFill>
                <a:latin typeface="Aptos" panose="020B0004020202020204" pitchFamily="34" charset="0"/>
              </a:rPr>
              <a:t> and </a:t>
            </a:r>
            <a:r>
              <a:rPr lang="it-IT" sz="2400" dirty="0" err="1">
                <a:solidFill>
                  <a:schemeClr val="tx1"/>
                </a:solidFill>
                <a:latin typeface="Aptos" panose="020B0004020202020204" pitchFamily="34" charset="0"/>
              </a:rPr>
              <a:t>transmit</a:t>
            </a:r>
            <a:r>
              <a:rPr lang="it-IT" sz="2400" dirty="0">
                <a:solidFill>
                  <a:schemeClr val="tx1"/>
                </a:solidFill>
                <a:latin typeface="Aptos" panose="020B0004020202020204" pitchFamily="34" charset="0"/>
              </a:rPr>
              <a:t> </a:t>
            </a:r>
            <a:r>
              <a:rPr lang="en-GB" sz="2400" dirty="0">
                <a:solidFill>
                  <a:schemeClr val="tx1"/>
                </a:solidFill>
                <a:latin typeface="Aptos" panose="020B0004020202020204" pitchFamily="34" charset="0"/>
              </a:rPr>
              <a:t>raw bits over a communication channel.</a:t>
            </a:r>
          </a:p>
          <a:p>
            <a:pPr marL="342900" indent="-342900">
              <a:buClr>
                <a:srgbClr val="00B050"/>
              </a:buClr>
              <a:buFont typeface="Wingdings" panose="05000000000000000000" pitchFamily="2" charset="2"/>
              <a:buChar char="Ø"/>
            </a:pPr>
            <a:r>
              <a:rPr lang="en-GB" sz="2400" dirty="0">
                <a:solidFill>
                  <a:schemeClr val="tx1"/>
                </a:solidFill>
                <a:latin typeface="Aptos" panose="020B0004020202020204" pitchFamily="34" charset="0"/>
              </a:rPr>
              <a:t>A standardized interface to the transmission medium (electrical, optical, or wireless communication).</a:t>
            </a:r>
          </a:p>
        </p:txBody>
      </p:sp>
      <p:cxnSp>
        <p:nvCxnSpPr>
          <p:cNvPr id="14" name="Connettore 2 13"/>
          <p:cNvCxnSpPr/>
          <p:nvPr/>
        </p:nvCxnSpPr>
        <p:spPr>
          <a:xfrm>
            <a:off x="3388954" y="5515220"/>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err="1">
                <a:solidFill>
                  <a:sysClr val="windowText" lastClr="000000"/>
                </a:solidFill>
                <a:latin typeface="Aptos" panose="020B0004020202020204" pitchFamily="34" charset="0"/>
              </a:rPr>
              <a:t>Physical</a:t>
            </a:r>
            <a:r>
              <a:rPr lang="it-IT" sz="2400" b="1" dirty="0">
                <a:solidFill>
                  <a:sysClr val="windowText" lastClr="000000"/>
                </a:solidFill>
                <a:latin typeface="Aptos" panose="020B0004020202020204" pitchFamily="34" charset="0"/>
              </a:rPr>
              <a:t>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8" name="Rettangolo arrotondato 17"/>
          <p:cNvSpPr/>
          <p:nvPr/>
        </p:nvSpPr>
        <p:spPr>
          <a:xfrm>
            <a:off x="5448773" y="3666515"/>
            <a:ext cx="5136205" cy="48674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3" name="CasellaDiTesto 2"/>
          <p:cNvSpPr txBox="1"/>
          <p:nvPr/>
        </p:nvSpPr>
        <p:spPr>
          <a:xfrm>
            <a:off x="5448773" y="3709830"/>
            <a:ext cx="5029201" cy="707886"/>
          </a:xfrm>
          <a:prstGeom prst="rect">
            <a:avLst/>
          </a:prstGeom>
          <a:noFill/>
        </p:spPr>
        <p:txBody>
          <a:bodyPr wrap="square" rtlCol="0">
            <a:spAutoFit/>
          </a:bodyPr>
          <a:lstStyle/>
          <a:p>
            <a:pPr algn="ctr"/>
            <a:r>
              <a:rPr lang="it-IT" sz="2000" dirty="0">
                <a:solidFill>
                  <a:schemeClr val="bg1"/>
                </a:solidFill>
                <a:latin typeface="Aptos" panose="020B0004020202020204" pitchFamily="34" charset="0"/>
              </a:rPr>
              <a:t>00010101110110101001100110101111010101</a:t>
            </a:r>
            <a:endParaRPr lang="en-GB" sz="2000" dirty="0">
              <a:solidFill>
                <a:schemeClr val="bg1"/>
              </a:solidFill>
              <a:latin typeface="Aptos" panose="020B0004020202020204" pitchFamily="34" charset="0"/>
            </a:endParaRPr>
          </a:p>
        </p:txBody>
      </p:sp>
    </p:spTree>
    <p:extLst>
      <p:ext uri="{BB962C8B-B14F-4D97-AF65-F5344CB8AC3E}">
        <p14:creationId xmlns:p14="http://schemas.microsoft.com/office/powerpoint/2010/main" val="3196508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World Wide Web</a:t>
            </a:r>
            <a:endParaRPr lang="en-GB" dirty="0">
              <a:latin typeface="Aptos" panose="020B0004020202020204" pitchFamily="34" charset="0"/>
            </a:endParaRPr>
          </a:p>
        </p:txBody>
      </p:sp>
      <p:sp>
        <p:nvSpPr>
          <p:cNvPr id="3" name="Segnaposto contenuto 2"/>
          <p:cNvSpPr>
            <a:spLocks noGrp="1"/>
          </p:cNvSpPr>
          <p:nvPr>
            <p:ph idx="1"/>
          </p:nvPr>
        </p:nvSpPr>
        <p:spPr>
          <a:xfrm>
            <a:off x="428172" y="1361168"/>
            <a:ext cx="11368314" cy="5376062"/>
          </a:xfrm>
        </p:spPr>
        <p:txBody>
          <a:bodyPr>
            <a:normAutofit/>
          </a:bodyPr>
          <a:lstStyle/>
          <a:p>
            <a:r>
              <a:rPr lang="en-GB" sz="2200" dirty="0">
                <a:latin typeface="Aptos" panose="020B0004020202020204" pitchFamily="34" charset="0"/>
              </a:rPr>
              <a:t>An architectural framework for accessing linked content spread out over millions of machines all over the Internet.</a:t>
            </a:r>
          </a:p>
          <a:p>
            <a:r>
              <a:rPr lang="it-IT" sz="2200" dirty="0">
                <a:latin typeface="Aptos" panose="020B0004020202020204" pitchFamily="34" charset="0"/>
              </a:rPr>
              <a:t>How the Web </a:t>
            </a:r>
            <a:r>
              <a:rPr lang="it-IT" sz="2200" dirty="0" err="1">
                <a:latin typeface="Aptos" panose="020B0004020202020204" pitchFamily="34" charset="0"/>
              </a:rPr>
              <a:t>was</a:t>
            </a:r>
            <a:r>
              <a:rPr lang="it-IT" sz="2200" dirty="0">
                <a:latin typeface="Aptos" panose="020B0004020202020204" pitchFamily="34" charset="0"/>
              </a:rPr>
              <a:t> </a:t>
            </a:r>
            <a:r>
              <a:rPr lang="it-IT" sz="2200" dirty="0" err="1">
                <a:latin typeface="Aptos" panose="020B0004020202020204" pitchFamily="34" charset="0"/>
              </a:rPr>
              <a:t>born</a:t>
            </a:r>
            <a:r>
              <a:rPr lang="it-IT" sz="2200" dirty="0">
                <a:latin typeface="Aptos" panose="020B0004020202020204" pitchFamily="34" charset="0"/>
              </a:rPr>
              <a:t>: </a:t>
            </a:r>
            <a:endParaRPr lang="en-GB" sz="2200" dirty="0">
              <a:latin typeface="Aptos" panose="020B0004020202020204" pitchFamily="34" charset="0"/>
            </a:endParaRPr>
          </a:p>
          <a:p>
            <a:pPr lvl="1"/>
            <a:r>
              <a:rPr lang="en-GB" sz="2200" dirty="0">
                <a:latin typeface="Aptos" panose="020B0004020202020204" pitchFamily="34" charset="0"/>
              </a:rPr>
              <a:t>1989, Geneva, CERN: the physicist Tim Berners-Lee proposed to develop a web of linked documents to help large research teams</a:t>
            </a:r>
          </a:p>
          <a:p>
            <a:pPr lvl="1"/>
            <a:r>
              <a:rPr lang="en-GB" sz="2200" dirty="0">
                <a:latin typeface="Aptos" panose="020B0004020202020204" pitchFamily="34" charset="0"/>
              </a:rPr>
              <a:t>1991, San Antonio, Texas: First prototype of Web presented at the Hypertext ’91 conference </a:t>
            </a:r>
          </a:p>
          <a:p>
            <a:pPr lvl="1"/>
            <a:r>
              <a:rPr lang="it-IT" sz="2200" dirty="0">
                <a:latin typeface="Aptos" panose="020B0004020202020204" pitchFamily="34" charset="0"/>
              </a:rPr>
              <a:t>1993, </a:t>
            </a:r>
            <a:r>
              <a:rPr lang="en-GB" sz="2200" dirty="0">
                <a:latin typeface="Aptos" panose="020B0004020202020204" pitchFamily="34" charset="0"/>
              </a:rPr>
              <a:t>Champaign, Illinois: First graphical browser (Mosaic) developed by Marc Andreessen (University of Illinois).</a:t>
            </a:r>
          </a:p>
          <a:p>
            <a:pPr lvl="1"/>
            <a:r>
              <a:rPr lang="it-IT" sz="2200" dirty="0">
                <a:latin typeface="Aptos" panose="020B0004020202020204" pitchFamily="34" charset="0"/>
              </a:rPr>
              <a:t>1994, Mountain </a:t>
            </a:r>
            <a:r>
              <a:rPr lang="it-IT" sz="2200" dirty="0" err="1">
                <a:latin typeface="Aptos" panose="020B0004020202020204" pitchFamily="34" charset="0"/>
              </a:rPr>
              <a:t>View</a:t>
            </a:r>
            <a:r>
              <a:rPr lang="it-IT" sz="2200" dirty="0">
                <a:latin typeface="Aptos" panose="020B0004020202020204" pitchFamily="34" charset="0"/>
              </a:rPr>
              <a:t>, California: </a:t>
            </a:r>
            <a:r>
              <a:rPr lang="en-GB" sz="2200" dirty="0">
                <a:latin typeface="Aptos" panose="020B0004020202020204" pitchFamily="34" charset="0"/>
              </a:rPr>
              <a:t>Marc Andreessen found the company Netscape Communications Corp., whose goal was to develop Web software. </a:t>
            </a:r>
          </a:p>
          <a:p>
            <a:pPr lvl="1"/>
            <a:r>
              <a:rPr lang="it-IT" sz="2200" dirty="0">
                <a:latin typeface="Aptos" panose="020B0004020202020204" pitchFamily="34" charset="0"/>
              </a:rPr>
              <a:t>1994: </a:t>
            </a:r>
            <a:r>
              <a:rPr lang="en-GB" sz="2200" dirty="0">
                <a:latin typeface="Aptos" panose="020B0004020202020204" pitchFamily="34" charset="0"/>
              </a:rPr>
              <a:t>CERN and M.I.T. Foundation of the World Wide Web Consortium (W3C), an organization devoted to further developing the Web, standardizing protocols, and encouraging interoperability between sites. </a:t>
            </a:r>
          </a:p>
          <a:p>
            <a:pPr lvl="1"/>
            <a:r>
              <a:rPr lang="en-GB" sz="2200" dirty="0">
                <a:latin typeface="Aptos" panose="020B0004020202020204" pitchFamily="34" charset="0"/>
              </a:rPr>
              <a:t>1994 - today: The Web has grown exponentially…</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20</a:t>
            </a:fld>
            <a:endParaRPr lang="en-GB">
              <a:latin typeface="Aptos" panose="020B0004020202020204" pitchFamily="34" charset="0"/>
            </a:endParaRPr>
          </a:p>
        </p:txBody>
      </p:sp>
    </p:spTree>
    <p:extLst>
      <p:ext uri="{BB962C8B-B14F-4D97-AF65-F5344CB8AC3E}">
        <p14:creationId xmlns:p14="http://schemas.microsoft.com/office/powerpoint/2010/main" val="774485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Architectural</a:t>
            </a:r>
            <a:r>
              <a:rPr lang="it-IT" dirty="0">
                <a:latin typeface="Aptos" panose="020B0004020202020204" pitchFamily="34" charset="0"/>
              </a:rPr>
              <a:t> </a:t>
            </a:r>
            <a:r>
              <a:rPr lang="it-IT" dirty="0" err="1">
                <a:latin typeface="Aptos" panose="020B0004020202020204" pitchFamily="34" charset="0"/>
              </a:rPr>
              <a:t>overview</a:t>
            </a:r>
            <a:endParaRPr lang="en-GB" dirty="0">
              <a:latin typeface="Aptos" panose="020B0004020202020204" pitchFamily="34" charset="0"/>
            </a:endParaRPr>
          </a:p>
        </p:txBody>
      </p:sp>
      <p:sp>
        <p:nvSpPr>
          <p:cNvPr id="3" name="Segnaposto contenuto 2"/>
          <p:cNvSpPr>
            <a:spLocks noGrp="1"/>
          </p:cNvSpPr>
          <p:nvPr>
            <p:ph idx="1"/>
          </p:nvPr>
        </p:nvSpPr>
        <p:spPr>
          <a:xfrm>
            <a:off x="428172" y="1388223"/>
            <a:ext cx="11261920" cy="5281935"/>
          </a:xfrm>
        </p:spPr>
        <p:txBody>
          <a:bodyPr>
            <a:noAutofit/>
          </a:bodyPr>
          <a:lstStyle/>
          <a:p>
            <a:r>
              <a:rPr lang="en-US" dirty="0">
                <a:latin typeface="Aptos" panose="020B0004020202020204" pitchFamily="34" charset="0"/>
              </a:rPr>
              <a:t>The Web is a vast, worldwide collection of contents in the form of </a:t>
            </a:r>
            <a:r>
              <a:rPr lang="en-US" b="1" dirty="0">
                <a:latin typeface="Aptos" panose="020B0004020202020204" pitchFamily="34" charset="0"/>
              </a:rPr>
              <a:t>Web pages</a:t>
            </a:r>
            <a:r>
              <a:rPr lang="en-US" dirty="0">
                <a:latin typeface="Aptos" panose="020B0004020202020204" pitchFamily="34" charset="0"/>
              </a:rPr>
              <a:t>, accessed and shared through the Internet according to a </a:t>
            </a:r>
            <a:r>
              <a:rPr lang="en-US" b="1" dirty="0">
                <a:latin typeface="Aptos" panose="020B0004020202020204" pitchFamily="34" charset="0"/>
              </a:rPr>
              <a:t>client-server architecture </a:t>
            </a:r>
            <a:r>
              <a:rPr lang="en-US" dirty="0">
                <a:latin typeface="Aptos" panose="020B0004020202020204" pitchFamily="34" charset="0"/>
              </a:rPr>
              <a:t>model. </a:t>
            </a:r>
          </a:p>
          <a:p>
            <a:pPr lvl="1"/>
            <a:r>
              <a:rPr lang="en-US" sz="2200" dirty="0">
                <a:latin typeface="Aptos" panose="020B0004020202020204" pitchFamily="34" charset="0"/>
              </a:rPr>
              <a:t>Pages can contain text, images, videos, programs that produce a graphical interface with which users can interact, etc.</a:t>
            </a:r>
            <a:endParaRPr lang="en-US" sz="2200" b="1" dirty="0">
              <a:latin typeface="Aptos" panose="020B0004020202020204" pitchFamily="34" charset="0"/>
            </a:endParaRPr>
          </a:p>
          <a:p>
            <a:r>
              <a:rPr lang="en-US" dirty="0">
                <a:latin typeface="Aptos" panose="020B0004020202020204" pitchFamily="34" charset="0"/>
              </a:rPr>
              <a:t>Each page may contain </a:t>
            </a:r>
            <a:r>
              <a:rPr lang="en-US" b="1" dirty="0">
                <a:latin typeface="Aptos" panose="020B0004020202020204" pitchFamily="34" charset="0"/>
              </a:rPr>
              <a:t>links</a:t>
            </a:r>
            <a:r>
              <a:rPr lang="en-US" dirty="0">
                <a:latin typeface="Aptos" panose="020B0004020202020204" pitchFamily="34" charset="0"/>
              </a:rPr>
              <a:t> to other pages. A piece of text, icon, image, etc. associated with another page is called a </a:t>
            </a:r>
            <a:r>
              <a:rPr lang="en-US" b="1" dirty="0">
                <a:latin typeface="Aptos" panose="020B0004020202020204" pitchFamily="34" charset="0"/>
              </a:rPr>
              <a:t>hyperlink. </a:t>
            </a:r>
          </a:p>
          <a:p>
            <a:r>
              <a:rPr lang="en-US" dirty="0">
                <a:latin typeface="Aptos" panose="020B0004020202020204" pitchFamily="34" charset="0"/>
              </a:rPr>
              <a:t>A page can be static or dynamic.</a:t>
            </a:r>
          </a:p>
          <a:p>
            <a:pPr lvl="1"/>
            <a:r>
              <a:rPr lang="en-US" sz="2200" b="1" dirty="0">
                <a:latin typeface="Aptos" panose="020B0004020202020204" pitchFamily="34" charset="0"/>
              </a:rPr>
              <a:t>Static page</a:t>
            </a:r>
            <a:r>
              <a:rPr lang="en-US" sz="2200" dirty="0">
                <a:latin typeface="Aptos" panose="020B0004020202020204" pitchFamily="34" charset="0"/>
              </a:rPr>
              <a:t>: a document that is the same every time it is displayed.</a:t>
            </a:r>
          </a:p>
          <a:p>
            <a:pPr lvl="1"/>
            <a:r>
              <a:rPr lang="en-US" sz="2200" b="1" dirty="0">
                <a:latin typeface="Aptos" panose="020B0004020202020204" pitchFamily="34" charset="0"/>
              </a:rPr>
              <a:t>Dynamic page</a:t>
            </a:r>
            <a:r>
              <a:rPr lang="en-US" sz="2200" dirty="0">
                <a:latin typeface="Aptos" panose="020B0004020202020204" pitchFamily="34" charset="0"/>
              </a:rPr>
              <a:t>: a page that contains a program generating dynamic content or that is generated on demand by a program.</a:t>
            </a:r>
          </a:p>
          <a:p>
            <a:r>
              <a:rPr lang="en-US" dirty="0">
                <a:latin typeface="Aptos" panose="020B0004020202020204" pitchFamily="34" charset="0"/>
              </a:rPr>
              <a:t>A </a:t>
            </a:r>
            <a:r>
              <a:rPr lang="en-US" b="1" dirty="0">
                <a:latin typeface="Aptos" panose="020B0004020202020204" pitchFamily="34" charset="0"/>
              </a:rPr>
              <a:t>Web site </a:t>
            </a:r>
            <a:r>
              <a:rPr lang="en-US" dirty="0">
                <a:latin typeface="Aptos" panose="020B0004020202020204" pitchFamily="34" charset="0"/>
              </a:rPr>
              <a:t>is a collection of Web pages.</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21</a:t>
            </a:fld>
            <a:endParaRPr lang="en-GB">
              <a:latin typeface="Aptos" panose="020B0004020202020204" pitchFamily="34" charset="0"/>
            </a:endParaRPr>
          </a:p>
        </p:txBody>
      </p:sp>
    </p:spTree>
    <p:extLst>
      <p:ext uri="{BB962C8B-B14F-4D97-AF65-F5344CB8AC3E}">
        <p14:creationId xmlns:p14="http://schemas.microsoft.com/office/powerpoint/2010/main" val="3765531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Architectural</a:t>
            </a:r>
            <a:r>
              <a:rPr lang="it-IT" dirty="0">
                <a:latin typeface="Aptos" panose="020B0004020202020204" pitchFamily="34" charset="0"/>
              </a:rPr>
              <a:t> </a:t>
            </a:r>
            <a:r>
              <a:rPr lang="it-IT" dirty="0" err="1">
                <a:latin typeface="Aptos" panose="020B0004020202020204" pitchFamily="34" charset="0"/>
              </a:rPr>
              <a:t>overview</a:t>
            </a:r>
            <a:endParaRPr lang="en-GB" dirty="0">
              <a:latin typeface="Aptos" panose="020B0004020202020204" pitchFamily="34" charset="0"/>
            </a:endParaRPr>
          </a:p>
        </p:txBody>
      </p:sp>
      <p:sp>
        <p:nvSpPr>
          <p:cNvPr id="3" name="Segnaposto contenuto 2"/>
          <p:cNvSpPr>
            <a:spLocks noGrp="1"/>
          </p:cNvSpPr>
          <p:nvPr>
            <p:ph idx="1"/>
          </p:nvPr>
        </p:nvSpPr>
        <p:spPr>
          <a:xfrm>
            <a:off x="428173" y="1361167"/>
            <a:ext cx="5010102" cy="4713567"/>
          </a:xfrm>
        </p:spPr>
        <p:txBody>
          <a:bodyPr>
            <a:normAutofit/>
          </a:bodyPr>
          <a:lstStyle/>
          <a:p>
            <a:r>
              <a:rPr lang="en-GB" sz="2200" b="1" dirty="0">
                <a:latin typeface="Aptos" panose="020B0004020202020204" pitchFamily="34" charset="0"/>
              </a:rPr>
              <a:t>Browser</a:t>
            </a:r>
            <a:r>
              <a:rPr lang="en-GB" sz="2200" dirty="0">
                <a:latin typeface="Aptos" panose="020B0004020202020204" pitchFamily="34" charset="0"/>
              </a:rPr>
              <a:t>: program running on the client to view Web pages </a:t>
            </a:r>
          </a:p>
          <a:p>
            <a:endParaRPr lang="en-GB" sz="2200" dirty="0">
              <a:latin typeface="Aptos" panose="020B0004020202020204" pitchFamily="34" charset="0"/>
            </a:endParaRPr>
          </a:p>
          <a:p>
            <a:r>
              <a:rPr lang="en-GB" sz="2200" dirty="0">
                <a:latin typeface="Aptos" panose="020B0004020202020204" pitchFamily="34" charset="0"/>
              </a:rPr>
              <a:t>The browser requests the page to the server, receives it, interprets the content, and displays the page, properly formatted, on the screen.</a:t>
            </a:r>
          </a:p>
          <a:p>
            <a:endParaRPr lang="en-GB" sz="2200" dirty="0">
              <a:latin typeface="Aptos" panose="020B0004020202020204" pitchFamily="34" charset="0"/>
            </a:endParaRPr>
          </a:p>
          <a:p>
            <a:r>
              <a:rPr lang="en-GB" sz="2200" dirty="0">
                <a:latin typeface="Aptos" panose="020B0004020202020204" pitchFamily="34" charset="0"/>
              </a:rPr>
              <a:t>The request-response application protocol for fetching pages is a simple text-based protocol that runs over TCP, called </a:t>
            </a:r>
            <a:r>
              <a:rPr lang="en-GB" sz="2200" b="1" dirty="0" err="1">
                <a:latin typeface="Aptos" panose="020B0004020202020204" pitchFamily="34" charset="0"/>
              </a:rPr>
              <a:t>HyperText</a:t>
            </a:r>
            <a:r>
              <a:rPr lang="en-GB" sz="2200" b="1" dirty="0">
                <a:latin typeface="Aptos" panose="020B0004020202020204" pitchFamily="34" charset="0"/>
              </a:rPr>
              <a:t> Transfer Protocol (HTTP).</a:t>
            </a:r>
          </a:p>
          <a:p>
            <a:endParaRPr lang="en-GB" sz="2200" dirty="0">
              <a:latin typeface="Aptos" panose="020B0004020202020204" pitchFamily="34" charset="0"/>
            </a:endParaRP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9581" y="1283868"/>
            <a:ext cx="6676055" cy="4407069"/>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22</a:t>
            </a:fld>
            <a:endParaRPr lang="en-GB">
              <a:latin typeface="Aptos" panose="020B0004020202020204" pitchFamily="34" charset="0"/>
            </a:endParaRPr>
          </a:p>
        </p:txBody>
      </p:sp>
    </p:spTree>
    <p:extLst>
      <p:ext uri="{BB962C8B-B14F-4D97-AF65-F5344CB8AC3E}">
        <p14:creationId xmlns:p14="http://schemas.microsoft.com/office/powerpoint/2010/main" val="1667196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The server </a:t>
            </a:r>
            <a:r>
              <a:rPr lang="it-IT" dirty="0" err="1">
                <a:latin typeface="Aptos" panose="020B0004020202020204" pitchFamily="34" charset="0"/>
              </a:rPr>
              <a:t>structure</a:t>
            </a:r>
            <a:endParaRPr lang="en-GB" dirty="0">
              <a:latin typeface="Aptos" panose="020B0004020202020204" pitchFamily="34" charset="0"/>
            </a:endParaRPr>
          </a:p>
        </p:txBody>
      </p:sp>
      <p:sp>
        <p:nvSpPr>
          <p:cNvPr id="3" name="Segnaposto contenuto 2"/>
          <p:cNvSpPr>
            <a:spLocks noGrp="1"/>
          </p:cNvSpPr>
          <p:nvPr>
            <p:ph idx="1"/>
          </p:nvPr>
        </p:nvSpPr>
        <p:spPr>
          <a:xfrm>
            <a:off x="428172" y="1361168"/>
            <a:ext cx="11368314" cy="2067832"/>
          </a:xfrm>
        </p:spPr>
        <p:txBody>
          <a:bodyPr>
            <a:normAutofit/>
          </a:bodyPr>
          <a:lstStyle/>
          <a:p>
            <a:r>
              <a:rPr lang="en-US" sz="2600" dirty="0">
                <a:latin typeface="Aptos" panose="020B0004020202020204" pitchFamily="34" charset="0"/>
              </a:rPr>
              <a:t>Web servers are designed with a </a:t>
            </a:r>
            <a:r>
              <a:rPr lang="en-US" sz="2600" b="1" dirty="0">
                <a:latin typeface="Aptos" panose="020B0004020202020204" pitchFamily="34" charset="0"/>
              </a:rPr>
              <a:t>multithreaded design </a:t>
            </a:r>
            <a:r>
              <a:rPr lang="en-US" sz="2600" dirty="0">
                <a:latin typeface="Aptos" panose="020B0004020202020204" pitchFamily="34" charset="0"/>
              </a:rPr>
              <a:t>to manage multiple requests at a time. </a:t>
            </a:r>
          </a:p>
          <a:p>
            <a:pPr lvl="1"/>
            <a:r>
              <a:rPr lang="en-GB" sz="2600" dirty="0">
                <a:latin typeface="Aptos" panose="020B0004020202020204" pitchFamily="34" charset="0"/>
              </a:rPr>
              <a:t>A front-end module that accepts all incoming requests and </a:t>
            </a:r>
            <a:r>
              <a:rPr lang="en-GB" sz="2600" i="1" dirty="0">
                <a:latin typeface="Aptos" panose="020B0004020202020204" pitchFamily="34" charset="0"/>
              </a:rPr>
              <a:t>k </a:t>
            </a:r>
            <a:r>
              <a:rPr lang="en-GB" sz="2600" dirty="0">
                <a:latin typeface="Aptos" panose="020B0004020202020204" pitchFamily="34" charset="0"/>
              </a:rPr>
              <a:t>parallel</a:t>
            </a:r>
            <a:r>
              <a:rPr lang="en-GB" sz="2600" i="1" dirty="0">
                <a:latin typeface="Aptos" panose="020B0004020202020204" pitchFamily="34" charset="0"/>
              </a:rPr>
              <a:t> </a:t>
            </a:r>
            <a:r>
              <a:rPr lang="en-GB" sz="2600" dirty="0">
                <a:latin typeface="Aptos" panose="020B0004020202020204" pitchFamily="34" charset="0"/>
              </a:rPr>
              <a:t>processing modules.</a:t>
            </a:r>
          </a:p>
          <a:p>
            <a:pPr lvl="1"/>
            <a:r>
              <a:rPr lang="en-US" sz="2600" dirty="0">
                <a:latin typeface="Aptos" panose="020B0004020202020204" pitchFamily="34" charset="0"/>
              </a:rPr>
              <a:t>The cache stores the most-recently read files. </a:t>
            </a:r>
          </a:p>
          <a:p>
            <a:endParaRPr lang="en-GB" dirty="0">
              <a:latin typeface="Aptos" panose="020B0004020202020204" pitchFamily="34" charset="0"/>
            </a:endParaRP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5964" y="3303059"/>
            <a:ext cx="8842051" cy="3554941"/>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23</a:t>
            </a:fld>
            <a:endParaRPr lang="en-GB">
              <a:latin typeface="Aptos" panose="020B0004020202020204" pitchFamily="34" charset="0"/>
            </a:endParaRPr>
          </a:p>
        </p:txBody>
      </p:sp>
    </p:spTree>
    <p:extLst>
      <p:ext uri="{BB962C8B-B14F-4D97-AF65-F5344CB8AC3E}">
        <p14:creationId xmlns:p14="http://schemas.microsoft.com/office/powerpoint/2010/main" val="1852368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err="1">
                <a:latin typeface="Aptos" panose="020B0004020202020204" pitchFamily="34" charset="0"/>
              </a:rPr>
              <a:t>HyperText</a:t>
            </a:r>
            <a:r>
              <a:rPr lang="en-GB" dirty="0">
                <a:latin typeface="Aptos" panose="020B0004020202020204" pitchFamily="34" charset="0"/>
              </a:rPr>
              <a:t> </a:t>
            </a:r>
            <a:r>
              <a:rPr lang="en-GB" dirty="0" err="1">
                <a:latin typeface="Aptos" panose="020B0004020202020204" pitchFamily="34" charset="0"/>
              </a:rPr>
              <a:t>Markup</a:t>
            </a:r>
            <a:r>
              <a:rPr lang="en-GB" dirty="0">
                <a:latin typeface="Aptos" panose="020B0004020202020204" pitchFamily="34" charset="0"/>
              </a:rPr>
              <a:t> Language (HTML)</a:t>
            </a:r>
          </a:p>
        </p:txBody>
      </p:sp>
      <p:sp>
        <p:nvSpPr>
          <p:cNvPr id="3" name="Segnaposto contenuto 2"/>
          <p:cNvSpPr>
            <a:spLocks noGrp="1"/>
          </p:cNvSpPr>
          <p:nvPr>
            <p:ph idx="1"/>
          </p:nvPr>
        </p:nvSpPr>
        <p:spPr>
          <a:xfrm>
            <a:off x="343111" y="1361167"/>
            <a:ext cx="7298154" cy="5004191"/>
          </a:xfrm>
        </p:spPr>
        <p:txBody>
          <a:bodyPr>
            <a:noAutofit/>
          </a:bodyPr>
          <a:lstStyle/>
          <a:p>
            <a:r>
              <a:rPr lang="en-US" sz="2200" dirty="0">
                <a:latin typeface="Aptos" panose="020B0004020202020204" pitchFamily="34" charset="0"/>
              </a:rPr>
              <a:t>Web pages are written in a </a:t>
            </a:r>
            <a:r>
              <a:rPr lang="en-US" sz="2200" b="1" dirty="0">
                <a:latin typeface="Aptos" panose="020B0004020202020204" pitchFamily="34" charset="0"/>
              </a:rPr>
              <a:t>HTML (</a:t>
            </a:r>
            <a:r>
              <a:rPr lang="en-US" sz="2200" b="1" dirty="0" err="1">
                <a:latin typeface="Aptos" panose="020B0004020202020204" pitchFamily="34" charset="0"/>
              </a:rPr>
              <a:t>HyperText</a:t>
            </a:r>
            <a:r>
              <a:rPr lang="en-US" sz="2200" b="1" dirty="0">
                <a:latin typeface="Aptos" panose="020B0004020202020204" pitchFamily="34" charset="0"/>
              </a:rPr>
              <a:t> Markup Language). </a:t>
            </a:r>
            <a:r>
              <a:rPr lang="en-US" sz="2200" dirty="0">
                <a:latin typeface="Aptos" panose="020B0004020202020204" pitchFamily="34" charset="0"/>
              </a:rPr>
              <a:t>HTML is a markup language: language for describing how documents are to be formatted.</a:t>
            </a:r>
          </a:p>
          <a:p>
            <a:r>
              <a:rPr lang="en-US" sz="2200" dirty="0">
                <a:latin typeface="Aptos" panose="020B0004020202020204" pitchFamily="34" charset="0"/>
              </a:rPr>
              <a:t>A browser is basically an HTML interpreter</a:t>
            </a:r>
          </a:p>
          <a:p>
            <a:r>
              <a:rPr lang="en-US" sz="2200" dirty="0">
                <a:latin typeface="Aptos" panose="020B0004020202020204" pitchFamily="34" charset="0"/>
              </a:rPr>
              <a:t>HTML pages can contain text and rich content elements (e.g., MPEG, JPEG, mp3).</a:t>
            </a:r>
          </a:p>
          <a:p>
            <a:r>
              <a:rPr lang="en-US" sz="2200" dirty="0">
                <a:latin typeface="Aptos" panose="020B0004020202020204" pitchFamily="34" charset="0"/>
              </a:rPr>
              <a:t>When a server returns a page, it also returns some information about the type of contents in the page (MIME type).</a:t>
            </a:r>
          </a:p>
          <a:p>
            <a:r>
              <a:rPr lang="en-US" sz="2200" dirty="0">
                <a:latin typeface="Aptos" panose="020B0004020202020204" pitchFamily="34" charset="0"/>
              </a:rPr>
              <a:t>If the page content is different from text/html, the browser resorts to a </a:t>
            </a:r>
            <a:r>
              <a:rPr lang="en-US" sz="2200" b="1" dirty="0">
                <a:latin typeface="Aptos" panose="020B0004020202020204" pitchFamily="34" charset="0"/>
              </a:rPr>
              <a:t>plug-in</a:t>
            </a:r>
            <a:r>
              <a:rPr lang="en-US" sz="2200" dirty="0">
                <a:latin typeface="Aptos" panose="020B0004020202020204" pitchFamily="34" charset="0"/>
              </a:rPr>
              <a:t>, i.e., a third-party code module that is installed as an extension to the browser, to interpret that content (e.g., plug-in for PDF). </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5130" y="1203158"/>
            <a:ext cx="4160996" cy="5654842"/>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24</a:t>
            </a:fld>
            <a:endParaRPr lang="en-GB">
              <a:latin typeface="Aptos" panose="020B0004020202020204" pitchFamily="34" charset="0"/>
            </a:endParaRPr>
          </a:p>
        </p:txBody>
      </p:sp>
    </p:spTree>
    <p:extLst>
      <p:ext uri="{BB962C8B-B14F-4D97-AF65-F5344CB8AC3E}">
        <p14:creationId xmlns:p14="http://schemas.microsoft.com/office/powerpoint/2010/main" val="245789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The client side</a:t>
            </a:r>
            <a:endParaRPr lang="en-GB" dirty="0">
              <a:latin typeface="Aptos" panose="020B0004020202020204" pitchFamily="34" charset="0"/>
            </a:endParaRPr>
          </a:p>
        </p:txBody>
      </p:sp>
      <p:sp>
        <p:nvSpPr>
          <p:cNvPr id="3" name="Segnaposto contenuto 2"/>
          <p:cNvSpPr>
            <a:spLocks noGrp="1"/>
          </p:cNvSpPr>
          <p:nvPr>
            <p:ph idx="1"/>
          </p:nvPr>
        </p:nvSpPr>
        <p:spPr>
          <a:xfrm>
            <a:off x="428172" y="1361168"/>
            <a:ext cx="11368314" cy="2831838"/>
          </a:xfrm>
        </p:spPr>
        <p:txBody>
          <a:bodyPr/>
          <a:lstStyle/>
          <a:p>
            <a:r>
              <a:rPr lang="en-US" sz="2000" dirty="0">
                <a:latin typeface="Aptos" panose="020B0004020202020204" pitchFamily="34" charset="0"/>
              </a:rPr>
              <a:t>How can the browser retrieve a page? </a:t>
            </a:r>
          </a:p>
          <a:p>
            <a:r>
              <a:rPr lang="en-US" sz="2000" dirty="0">
                <a:latin typeface="Aptos" panose="020B0004020202020204" pitchFamily="34" charset="0"/>
              </a:rPr>
              <a:t>Each page is assigned an identifier called </a:t>
            </a:r>
            <a:r>
              <a:rPr lang="en-US" sz="2000" b="1" dirty="0">
                <a:latin typeface="Aptos" panose="020B0004020202020204" pitchFamily="34" charset="0"/>
              </a:rPr>
              <a:t>Uniform </a:t>
            </a:r>
            <a:r>
              <a:rPr lang="en-US" sz="2000" b="1" dirty="0" err="1">
                <a:latin typeface="Aptos" panose="020B0004020202020204" pitchFamily="34" charset="0"/>
              </a:rPr>
              <a:t>Resourse</a:t>
            </a:r>
            <a:r>
              <a:rPr lang="en-US" sz="2000" b="1" dirty="0">
                <a:latin typeface="Aptos" panose="020B0004020202020204" pitchFamily="34" charset="0"/>
              </a:rPr>
              <a:t> Locator (URL)</a:t>
            </a:r>
          </a:p>
          <a:p>
            <a:r>
              <a:rPr lang="en-US" sz="2000" dirty="0">
                <a:latin typeface="Aptos" panose="020B0004020202020204" pitchFamily="34" charset="0"/>
              </a:rPr>
              <a:t>The URL includes three components: </a:t>
            </a:r>
          </a:p>
          <a:p>
            <a:pPr lvl="1"/>
            <a:r>
              <a:rPr lang="en-US" dirty="0">
                <a:latin typeface="Aptos" panose="020B0004020202020204" pitchFamily="34" charset="0"/>
              </a:rPr>
              <a:t>the communication protocol to access to the page</a:t>
            </a:r>
          </a:p>
          <a:p>
            <a:pPr lvl="1"/>
            <a:r>
              <a:rPr lang="en-US" dirty="0">
                <a:latin typeface="Aptos" panose="020B0004020202020204" pitchFamily="34" charset="0"/>
              </a:rPr>
              <a:t>the name of the server where the page is located</a:t>
            </a:r>
          </a:p>
          <a:p>
            <a:pPr lvl="1"/>
            <a:r>
              <a:rPr lang="en-US" dirty="0">
                <a:latin typeface="Aptos" panose="020B0004020202020204" pitchFamily="34" charset="0"/>
              </a:rPr>
              <a:t>the path identifying the page file on the server</a:t>
            </a:r>
          </a:p>
        </p:txBody>
      </p:sp>
      <p:sp>
        <p:nvSpPr>
          <p:cNvPr id="4" name="Rettangolo 3"/>
          <p:cNvSpPr/>
          <p:nvPr/>
        </p:nvSpPr>
        <p:spPr>
          <a:xfrm>
            <a:off x="3450896" y="3792896"/>
            <a:ext cx="4295278" cy="400110"/>
          </a:xfrm>
          <a:prstGeom prst="rect">
            <a:avLst/>
          </a:prstGeom>
        </p:spPr>
        <p:txBody>
          <a:bodyPr wrap="none">
            <a:spAutoFit/>
          </a:bodyPr>
          <a:lstStyle/>
          <a:p>
            <a:r>
              <a:rPr lang="en-GB" sz="2000" b="1" dirty="0">
                <a:latin typeface="Aptos" panose="020B0004020202020204" pitchFamily="34" charset="0"/>
              </a:rPr>
              <a:t>http://</a:t>
            </a:r>
            <a:r>
              <a:rPr lang="en-GB" sz="2000" b="1" dirty="0" err="1">
                <a:latin typeface="Aptos" panose="020B0004020202020204" pitchFamily="34" charset="0"/>
              </a:rPr>
              <a:t>www.dei.unipd.it</a:t>
            </a:r>
            <a:r>
              <a:rPr lang="en-GB" sz="2000" b="1" dirty="0">
                <a:latin typeface="Aptos" panose="020B0004020202020204" pitchFamily="34" charset="0"/>
              </a:rPr>
              <a:t>/</a:t>
            </a:r>
            <a:r>
              <a:rPr lang="en-GB" sz="2000" b="1" dirty="0" err="1">
                <a:latin typeface="Aptos" panose="020B0004020202020204" pitchFamily="34" charset="0"/>
              </a:rPr>
              <a:t>index.html</a:t>
            </a:r>
            <a:endParaRPr lang="en-GB" sz="2000" b="1" dirty="0">
              <a:latin typeface="Aptos" panose="020B0004020202020204" pitchFamily="34" charset="0"/>
            </a:endParaRPr>
          </a:p>
        </p:txBody>
      </p:sp>
      <p:graphicFrame>
        <p:nvGraphicFramePr>
          <p:cNvPr id="6" name="Tabella 5"/>
          <p:cNvGraphicFramePr>
            <a:graphicFrameLocks noGrp="1"/>
          </p:cNvGraphicFramePr>
          <p:nvPr>
            <p:extLst>
              <p:ext uri="{D42A27DB-BD31-4B8C-83A1-F6EECF244321}">
                <p14:modId xmlns:p14="http://schemas.microsoft.com/office/powerpoint/2010/main" val="3854839490"/>
              </p:ext>
            </p:extLst>
          </p:nvPr>
        </p:nvGraphicFramePr>
        <p:xfrm>
          <a:off x="1821448" y="4441768"/>
          <a:ext cx="8127999" cy="7416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971624290"/>
                    </a:ext>
                  </a:extLst>
                </a:gridCol>
                <a:gridCol w="2709333">
                  <a:extLst>
                    <a:ext uri="{9D8B030D-6E8A-4147-A177-3AD203B41FA5}">
                      <a16:colId xmlns:a16="http://schemas.microsoft.com/office/drawing/2014/main" val="3208827788"/>
                    </a:ext>
                  </a:extLst>
                </a:gridCol>
                <a:gridCol w="2709333">
                  <a:extLst>
                    <a:ext uri="{9D8B030D-6E8A-4147-A177-3AD203B41FA5}">
                      <a16:colId xmlns:a16="http://schemas.microsoft.com/office/drawing/2014/main" val="3811814885"/>
                    </a:ext>
                  </a:extLst>
                </a:gridCol>
              </a:tblGrid>
              <a:tr h="370840">
                <a:tc>
                  <a:txBody>
                    <a:bodyPr/>
                    <a:lstStyle/>
                    <a:p>
                      <a:pPr algn="ctr"/>
                      <a:r>
                        <a:rPr lang="it-IT" dirty="0">
                          <a:latin typeface="Aptos" panose="020B0004020202020204" pitchFamily="34" charset="0"/>
                        </a:rPr>
                        <a:t>http</a:t>
                      </a:r>
                      <a:endParaRPr lang="en-GB" dirty="0">
                        <a:latin typeface="Aptos" panose="020B0004020202020204" pitchFamily="34" charset="0"/>
                      </a:endParaRPr>
                    </a:p>
                  </a:txBody>
                  <a:tcPr/>
                </a:tc>
                <a:tc>
                  <a:txBody>
                    <a:bodyPr/>
                    <a:lstStyle/>
                    <a:p>
                      <a:pPr algn="ctr"/>
                      <a:r>
                        <a:rPr lang="en-GB" sz="1800" dirty="0" err="1">
                          <a:latin typeface="Aptos" panose="020B0004020202020204" pitchFamily="34" charset="0"/>
                        </a:rPr>
                        <a:t>www.dei.unipd.it</a:t>
                      </a:r>
                      <a:endParaRPr lang="en-GB" dirty="0">
                        <a:latin typeface="Aptos" panose="020B0004020202020204" pitchFamily="34" charset="0"/>
                      </a:endParaRPr>
                    </a:p>
                  </a:txBody>
                  <a:tcPr/>
                </a:tc>
                <a:tc>
                  <a:txBody>
                    <a:bodyPr/>
                    <a:lstStyle/>
                    <a:p>
                      <a:pPr algn="ctr"/>
                      <a:r>
                        <a:rPr lang="en-GB" sz="1800" dirty="0">
                          <a:latin typeface="Aptos" panose="020B0004020202020204" pitchFamily="34" charset="0"/>
                        </a:rPr>
                        <a:t>index.html</a:t>
                      </a:r>
                      <a:endParaRPr lang="en-GB" dirty="0">
                        <a:latin typeface="Aptos" panose="020B0004020202020204" pitchFamily="34" charset="0"/>
                      </a:endParaRPr>
                    </a:p>
                  </a:txBody>
                  <a:tcPr/>
                </a:tc>
                <a:extLst>
                  <a:ext uri="{0D108BD9-81ED-4DB2-BD59-A6C34878D82A}">
                    <a16:rowId xmlns:a16="http://schemas.microsoft.com/office/drawing/2014/main" val="3304135300"/>
                  </a:ext>
                </a:extLst>
              </a:tr>
              <a:tr h="370840">
                <a:tc>
                  <a:txBody>
                    <a:bodyPr/>
                    <a:lstStyle/>
                    <a:p>
                      <a:pPr algn="ctr"/>
                      <a:r>
                        <a:rPr lang="it-IT" dirty="0" err="1">
                          <a:latin typeface="Aptos" panose="020B0004020202020204" pitchFamily="34" charset="0"/>
                        </a:rPr>
                        <a:t>Protocol</a:t>
                      </a:r>
                      <a:endParaRPr lang="en-GB" dirty="0">
                        <a:latin typeface="Aptos" panose="020B0004020202020204" pitchFamily="34" charset="0"/>
                      </a:endParaRPr>
                    </a:p>
                  </a:txBody>
                  <a:tcPr/>
                </a:tc>
                <a:tc>
                  <a:txBody>
                    <a:bodyPr/>
                    <a:lstStyle/>
                    <a:p>
                      <a:pPr algn="ctr"/>
                      <a:r>
                        <a:rPr lang="it-IT" dirty="0" err="1">
                          <a:latin typeface="Aptos" panose="020B0004020202020204" pitchFamily="34" charset="0"/>
                        </a:rPr>
                        <a:t>Name</a:t>
                      </a:r>
                      <a:r>
                        <a:rPr lang="it-IT" dirty="0">
                          <a:latin typeface="Aptos" panose="020B0004020202020204" pitchFamily="34" charset="0"/>
                        </a:rPr>
                        <a:t> of the server</a:t>
                      </a:r>
                      <a:endParaRPr lang="en-GB" dirty="0">
                        <a:latin typeface="Aptos" panose="020B0004020202020204" pitchFamily="34" charset="0"/>
                      </a:endParaRPr>
                    </a:p>
                  </a:txBody>
                  <a:tcPr/>
                </a:tc>
                <a:tc>
                  <a:txBody>
                    <a:bodyPr/>
                    <a:lstStyle/>
                    <a:p>
                      <a:pPr algn="ctr"/>
                      <a:r>
                        <a:rPr lang="it-IT" dirty="0" err="1">
                          <a:latin typeface="Aptos" panose="020B0004020202020204" pitchFamily="34" charset="0"/>
                        </a:rPr>
                        <a:t>Path</a:t>
                      </a:r>
                      <a:r>
                        <a:rPr lang="it-IT" dirty="0">
                          <a:latin typeface="Aptos" panose="020B0004020202020204" pitchFamily="34" charset="0"/>
                        </a:rPr>
                        <a:t> of the page</a:t>
                      </a:r>
                      <a:endParaRPr lang="en-GB" dirty="0">
                        <a:latin typeface="Aptos" panose="020B0004020202020204" pitchFamily="34" charset="0"/>
                      </a:endParaRPr>
                    </a:p>
                  </a:txBody>
                  <a:tcPr/>
                </a:tc>
                <a:extLst>
                  <a:ext uri="{0D108BD9-81ED-4DB2-BD59-A6C34878D82A}">
                    <a16:rowId xmlns:a16="http://schemas.microsoft.com/office/drawing/2014/main" val="1142302420"/>
                  </a:ext>
                </a:extLst>
              </a:tr>
            </a:tbl>
          </a:graphicData>
        </a:graphic>
      </p:graphicFrame>
      <p:sp>
        <p:nvSpPr>
          <p:cNvPr id="7" name="Segnaposto contenuto 2"/>
          <p:cNvSpPr txBox="1">
            <a:spLocks/>
          </p:cNvSpPr>
          <p:nvPr/>
        </p:nvSpPr>
        <p:spPr>
          <a:xfrm>
            <a:off x="428172" y="5527449"/>
            <a:ext cx="11368314" cy="1097285"/>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ptos" panose="020B0004020202020204" pitchFamily="34" charset="0"/>
              </a:rPr>
              <a:t>But in order to send the request the browser needs to know the IP address of the server. </a:t>
            </a:r>
          </a:p>
          <a:p>
            <a:r>
              <a:rPr lang="en-US" sz="2000" dirty="0">
                <a:latin typeface="Aptos" panose="020B0004020202020204" pitchFamily="34" charset="0"/>
              </a:rPr>
              <a:t>This information is stored in a </a:t>
            </a:r>
            <a:r>
              <a:rPr lang="en-US" sz="2000" b="1" dirty="0">
                <a:latin typeface="Aptos" panose="020B0004020202020204" pitchFamily="34" charset="0"/>
              </a:rPr>
              <a:t>name server</a:t>
            </a:r>
            <a:r>
              <a:rPr lang="en-US" sz="2000" dirty="0">
                <a:latin typeface="Aptos" panose="020B0004020202020204" pitchFamily="34" charset="0"/>
              </a:rPr>
              <a:t>…</a:t>
            </a:r>
            <a:endParaRPr lang="en-US" sz="2000" b="1" dirty="0">
              <a:latin typeface="Aptos" panose="020B0004020202020204" pitchFamily="34" charset="0"/>
            </a:endParaRPr>
          </a:p>
        </p:txBody>
      </p:sp>
      <p:sp>
        <p:nvSpPr>
          <p:cNvPr id="5" name="Rettangolo 4"/>
          <p:cNvSpPr/>
          <p:nvPr/>
        </p:nvSpPr>
        <p:spPr>
          <a:xfrm>
            <a:off x="8591106" y="2468534"/>
            <a:ext cx="3352800" cy="1535037"/>
          </a:xfrm>
          <a:prstGeom prst="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solidFill>
                  <a:schemeClr val="tx1"/>
                </a:solidFill>
                <a:latin typeface="Aptos" panose="020B0004020202020204" pitchFamily="34" charset="0"/>
              </a:rPr>
              <a:t>Remember</a:t>
            </a:r>
            <a:r>
              <a:rPr lang="it-IT" dirty="0">
                <a:solidFill>
                  <a:schemeClr val="tx1"/>
                </a:solidFill>
                <a:latin typeface="Aptos" panose="020B0004020202020204" pitchFamily="34" charset="0"/>
              </a:rPr>
              <a:t>: The </a:t>
            </a:r>
            <a:r>
              <a:rPr lang="it-IT" b="1" dirty="0">
                <a:solidFill>
                  <a:schemeClr val="tx1"/>
                </a:solidFill>
                <a:latin typeface="Aptos" panose="020B0004020202020204" pitchFamily="34" charset="0"/>
              </a:rPr>
              <a:t>IP </a:t>
            </a:r>
            <a:r>
              <a:rPr lang="it-IT" b="1" dirty="0" err="1">
                <a:solidFill>
                  <a:schemeClr val="tx1"/>
                </a:solidFill>
                <a:latin typeface="Aptos" panose="020B0004020202020204" pitchFamily="34" charset="0"/>
              </a:rPr>
              <a:t>address</a:t>
            </a:r>
            <a:r>
              <a:rPr lang="it-IT" b="1" dirty="0">
                <a:solidFill>
                  <a:schemeClr val="tx1"/>
                </a:solidFill>
                <a:latin typeface="Aptos" panose="020B0004020202020204" pitchFamily="34" charset="0"/>
              </a:rPr>
              <a:t> </a:t>
            </a:r>
            <a:r>
              <a:rPr lang="it-IT" dirty="0" err="1">
                <a:solidFill>
                  <a:schemeClr val="tx1"/>
                </a:solidFill>
                <a:latin typeface="Aptos" panose="020B0004020202020204" pitchFamily="34" charset="0"/>
              </a:rPr>
              <a:t>is</a:t>
            </a:r>
            <a:r>
              <a:rPr lang="it-IT" dirty="0">
                <a:solidFill>
                  <a:schemeClr val="tx1"/>
                </a:solidFill>
                <a:latin typeface="Aptos" panose="020B0004020202020204" pitchFamily="34" charset="0"/>
              </a:rPr>
              <a:t> </a:t>
            </a:r>
            <a:r>
              <a:rPr lang="en-US" dirty="0">
                <a:solidFill>
                  <a:schemeClr val="tx1"/>
                </a:solidFill>
                <a:latin typeface="Aptos" panose="020B0004020202020204" pitchFamily="34" charset="0"/>
              </a:rPr>
              <a:t>that label (e.g. 192.0.2.1) which uniquely identifies a host connected to a computer network using the IP protocol.</a:t>
            </a:r>
            <a:endParaRPr lang="en-GB" dirty="0">
              <a:solidFill>
                <a:schemeClr val="tx1"/>
              </a:solidFill>
              <a:latin typeface="Aptos" panose="020B0004020202020204" pitchFamily="34" charset="0"/>
            </a:endParaRPr>
          </a:p>
        </p:txBody>
      </p:sp>
      <p:sp>
        <p:nvSpPr>
          <p:cNvPr id="8" name="Segnaposto numero diapositiva 7"/>
          <p:cNvSpPr>
            <a:spLocks noGrp="1"/>
          </p:cNvSpPr>
          <p:nvPr>
            <p:ph type="sldNum" sz="quarter" idx="12"/>
          </p:nvPr>
        </p:nvSpPr>
        <p:spPr/>
        <p:txBody>
          <a:bodyPr/>
          <a:lstStyle/>
          <a:p>
            <a:fld id="{31DE2C5B-556E-47B8-A792-024C2FCA4ACC}" type="slidenum">
              <a:rPr lang="en-GB" smtClean="0">
                <a:latin typeface="Aptos" panose="020B0004020202020204" pitchFamily="34" charset="0"/>
              </a:rPr>
              <a:t>25</a:t>
            </a:fld>
            <a:endParaRPr lang="en-GB">
              <a:latin typeface="Aptos" panose="020B0004020202020204" pitchFamily="34" charset="0"/>
            </a:endParaRPr>
          </a:p>
        </p:txBody>
      </p:sp>
    </p:spTree>
    <p:extLst>
      <p:ext uri="{BB962C8B-B14F-4D97-AF65-F5344CB8AC3E}">
        <p14:creationId xmlns:p14="http://schemas.microsoft.com/office/powerpoint/2010/main" val="2921871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Domain </a:t>
            </a:r>
            <a:r>
              <a:rPr lang="it-IT" dirty="0" err="1">
                <a:latin typeface="Aptos" panose="020B0004020202020204" pitchFamily="34" charset="0"/>
              </a:rPr>
              <a:t>Name</a:t>
            </a:r>
            <a:r>
              <a:rPr lang="it-IT" dirty="0">
                <a:latin typeface="Aptos" panose="020B0004020202020204" pitchFamily="34" charset="0"/>
              </a:rPr>
              <a:t> Space (DNS)</a:t>
            </a:r>
            <a:endParaRPr lang="en-GB" dirty="0">
              <a:latin typeface="Aptos" panose="020B0004020202020204" pitchFamily="34" charset="0"/>
            </a:endParaRPr>
          </a:p>
        </p:txBody>
      </p:sp>
      <p:sp>
        <p:nvSpPr>
          <p:cNvPr id="3" name="Segnaposto contenuto 2"/>
          <p:cNvSpPr>
            <a:spLocks noGrp="1"/>
          </p:cNvSpPr>
          <p:nvPr>
            <p:ph idx="1"/>
          </p:nvPr>
        </p:nvSpPr>
        <p:spPr>
          <a:xfrm>
            <a:off x="428172" y="1361168"/>
            <a:ext cx="11368314" cy="2500970"/>
          </a:xfrm>
        </p:spPr>
        <p:txBody>
          <a:bodyPr>
            <a:normAutofit lnSpcReduction="10000"/>
          </a:bodyPr>
          <a:lstStyle/>
          <a:p>
            <a:r>
              <a:rPr lang="en-GB" dirty="0">
                <a:latin typeface="Aptos" panose="020B0004020202020204" pitchFamily="34" charset="0"/>
              </a:rPr>
              <a:t>The </a:t>
            </a:r>
            <a:r>
              <a:rPr lang="en-GB" b="1" dirty="0">
                <a:latin typeface="Aptos" panose="020B0004020202020204" pitchFamily="34" charset="0"/>
              </a:rPr>
              <a:t>Domain Name Space (DNS) </a:t>
            </a:r>
            <a:r>
              <a:rPr lang="en-GB" dirty="0">
                <a:latin typeface="Aptos" panose="020B0004020202020204" pitchFamily="34" charset="0"/>
              </a:rPr>
              <a:t>is a hierarchical, domain-based naming scheme and a distributed database system used for mapping server names with their IP address. </a:t>
            </a:r>
          </a:p>
          <a:p>
            <a:r>
              <a:rPr lang="en-GB" dirty="0">
                <a:latin typeface="Aptos" panose="020B0004020202020204" pitchFamily="34" charset="0"/>
              </a:rPr>
              <a:t>The DNS is managed by an organization called </a:t>
            </a:r>
            <a:r>
              <a:rPr lang="en-GB" b="1" dirty="0">
                <a:latin typeface="Aptos" panose="020B0004020202020204" pitchFamily="34" charset="0"/>
              </a:rPr>
              <a:t>ICANN </a:t>
            </a:r>
            <a:r>
              <a:rPr lang="en-GB" dirty="0">
                <a:latin typeface="Aptos" panose="020B0004020202020204" pitchFamily="34" charset="0"/>
              </a:rPr>
              <a:t>(</a:t>
            </a:r>
            <a:r>
              <a:rPr lang="en-GB" b="1" dirty="0">
                <a:latin typeface="Aptos" panose="020B0004020202020204" pitchFamily="34" charset="0"/>
              </a:rPr>
              <a:t>Internet Corporation for Assigned Names and Numbers</a:t>
            </a:r>
            <a:r>
              <a:rPr lang="en-GB" dirty="0">
                <a:latin typeface="Aptos" panose="020B0004020202020204" pitchFamily="34" charset="0"/>
              </a:rPr>
              <a:t>). </a:t>
            </a:r>
          </a:p>
          <a:p>
            <a:r>
              <a:rPr lang="en-GB" dirty="0">
                <a:latin typeface="Aptos" panose="020B0004020202020204" pitchFamily="34" charset="0"/>
              </a:rPr>
              <a:t>There are top-level domains, each divided into subdomains according to a </a:t>
            </a:r>
            <a:r>
              <a:rPr lang="en-GB" dirty="0" err="1">
                <a:latin typeface="Aptos" panose="020B0004020202020204" pitchFamily="34" charset="0"/>
              </a:rPr>
              <a:t>hieararchical</a:t>
            </a:r>
            <a:r>
              <a:rPr lang="en-GB" dirty="0">
                <a:latin typeface="Aptos" panose="020B0004020202020204" pitchFamily="34" charset="0"/>
              </a:rPr>
              <a:t> structure.</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2581" y="3840752"/>
            <a:ext cx="7153440" cy="2916554"/>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26</a:t>
            </a:fld>
            <a:endParaRPr lang="en-GB">
              <a:latin typeface="Aptos" panose="020B0004020202020204" pitchFamily="34" charset="0"/>
            </a:endParaRPr>
          </a:p>
        </p:txBody>
      </p:sp>
    </p:spTree>
    <p:extLst>
      <p:ext uri="{BB962C8B-B14F-4D97-AF65-F5344CB8AC3E}">
        <p14:creationId xmlns:p14="http://schemas.microsoft.com/office/powerpoint/2010/main" val="3043607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The DNS database</a:t>
            </a:r>
            <a:endParaRPr lang="en-GB" dirty="0">
              <a:latin typeface="Aptos" panose="020B0004020202020204" pitchFamily="34" charset="0"/>
            </a:endParaRPr>
          </a:p>
        </p:txBody>
      </p:sp>
      <p:sp>
        <p:nvSpPr>
          <p:cNvPr id="3" name="Segnaposto contenuto 2"/>
          <p:cNvSpPr>
            <a:spLocks noGrp="1"/>
          </p:cNvSpPr>
          <p:nvPr>
            <p:ph idx="1"/>
          </p:nvPr>
        </p:nvSpPr>
        <p:spPr>
          <a:xfrm>
            <a:off x="428172" y="1361167"/>
            <a:ext cx="11368314" cy="2865393"/>
          </a:xfrm>
        </p:spPr>
        <p:txBody>
          <a:bodyPr>
            <a:normAutofit/>
          </a:bodyPr>
          <a:lstStyle/>
          <a:p>
            <a:r>
              <a:rPr lang="en-US" sz="2200" dirty="0">
                <a:latin typeface="Aptos" panose="020B0004020202020204" pitchFamily="34" charset="0"/>
              </a:rPr>
              <a:t>The DNS database stores information about each registered domain, including the IP address.</a:t>
            </a:r>
          </a:p>
          <a:p>
            <a:r>
              <a:rPr lang="en-US" sz="2200" dirty="0">
                <a:latin typeface="Aptos" panose="020B0004020202020204" pitchFamily="34" charset="0"/>
              </a:rPr>
              <a:t>The DNS database is not stored in a single server. It is divided into non-overlapping </a:t>
            </a:r>
            <a:r>
              <a:rPr lang="en-US" sz="2200" b="1" dirty="0">
                <a:latin typeface="Aptos" panose="020B0004020202020204" pitchFamily="34" charset="0"/>
              </a:rPr>
              <a:t>zones</a:t>
            </a:r>
            <a:r>
              <a:rPr lang="en-US" sz="2200" dirty="0">
                <a:latin typeface="Aptos" panose="020B0004020202020204" pitchFamily="34" charset="0"/>
              </a:rPr>
              <a:t> and each zone is associated to multiple servers.</a:t>
            </a:r>
          </a:p>
          <a:p>
            <a:r>
              <a:rPr lang="en-US" sz="2200" dirty="0">
                <a:latin typeface="Aptos" panose="020B0004020202020204" pitchFamily="34" charset="0"/>
              </a:rPr>
              <a:t>The process of looking up a domain name in the DNS database and finding its resource records (e.g., IP address) is called </a:t>
            </a:r>
            <a:r>
              <a:rPr lang="en-US" sz="2200" b="1" dirty="0">
                <a:latin typeface="Aptos" panose="020B0004020202020204" pitchFamily="34" charset="0"/>
              </a:rPr>
              <a:t>name resolution </a:t>
            </a:r>
            <a:r>
              <a:rPr lang="en-US" sz="2200" dirty="0">
                <a:latin typeface="Aptos" panose="020B0004020202020204" pitchFamily="34" charset="0"/>
              </a:rPr>
              <a:t>and it is performed by a program called </a:t>
            </a:r>
            <a:r>
              <a:rPr lang="en-US" sz="2200" b="1" dirty="0">
                <a:latin typeface="Aptos" panose="020B0004020202020204" pitchFamily="34" charset="0"/>
              </a:rPr>
              <a:t>resolver</a:t>
            </a:r>
            <a:r>
              <a:rPr lang="en-US" sz="2200" dirty="0">
                <a:latin typeface="Aptos" panose="020B0004020202020204" pitchFamily="34" charset="0"/>
              </a:rPr>
              <a:t>. </a:t>
            </a:r>
          </a:p>
          <a:p>
            <a:endParaRPr lang="en-US" sz="2200" dirty="0">
              <a:latin typeface="Aptos" panose="020B0004020202020204" pitchFamily="34" charset="0"/>
            </a:endParaRPr>
          </a:p>
          <a:p>
            <a:endParaRPr lang="en-US" dirty="0">
              <a:latin typeface="Aptos" panose="020B0004020202020204" pitchFamily="34" charset="0"/>
            </a:endParaRP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7412" y="3580564"/>
            <a:ext cx="7464953" cy="3115510"/>
          </a:xfrm>
          <a:prstGeom prst="rect">
            <a:avLst/>
          </a:prstGeom>
        </p:spPr>
      </p:pic>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27</a:t>
            </a:fld>
            <a:endParaRPr lang="en-GB">
              <a:latin typeface="Aptos" panose="020B0004020202020204" pitchFamily="34" charset="0"/>
            </a:endParaRPr>
          </a:p>
        </p:txBody>
      </p:sp>
    </p:spTree>
    <p:extLst>
      <p:ext uri="{BB962C8B-B14F-4D97-AF65-F5344CB8AC3E}">
        <p14:creationId xmlns:p14="http://schemas.microsoft.com/office/powerpoint/2010/main" val="1466926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latin typeface="Aptos" panose="020B0004020202020204" pitchFamily="34" charset="0"/>
              </a:rPr>
              <a:t>Browsing - the client side</a:t>
            </a:r>
          </a:p>
        </p:txBody>
      </p:sp>
      <p:sp>
        <p:nvSpPr>
          <p:cNvPr id="3" name="Segnaposto contenuto 2"/>
          <p:cNvSpPr>
            <a:spLocks noGrp="1"/>
          </p:cNvSpPr>
          <p:nvPr>
            <p:ph idx="1"/>
          </p:nvPr>
        </p:nvSpPr>
        <p:spPr>
          <a:xfrm>
            <a:off x="428172" y="1361166"/>
            <a:ext cx="11368314" cy="5289799"/>
          </a:xfrm>
        </p:spPr>
        <p:txBody>
          <a:bodyPr>
            <a:normAutofit lnSpcReduction="10000"/>
          </a:bodyPr>
          <a:lstStyle/>
          <a:p>
            <a:pPr marL="0" indent="0">
              <a:buNone/>
            </a:pPr>
            <a:r>
              <a:rPr lang="en-US" dirty="0">
                <a:latin typeface="Aptos" panose="020B0004020202020204" pitchFamily="34" charset="0"/>
              </a:rPr>
              <a:t>When the user click on a hyperlink linking the URL: </a:t>
            </a:r>
          </a:p>
          <a:p>
            <a:pPr marL="0" indent="0">
              <a:buNone/>
            </a:pPr>
            <a:r>
              <a:rPr lang="en-US" dirty="0">
                <a:latin typeface="Aptos" panose="020B0004020202020204" pitchFamily="34" charset="0"/>
              </a:rPr>
              <a:t>                                   </a:t>
            </a:r>
            <a:r>
              <a:rPr lang="en-US" b="1" dirty="0">
                <a:latin typeface="Aptos" panose="020B0004020202020204" pitchFamily="34" charset="0"/>
              </a:rPr>
              <a:t>http://</a:t>
            </a:r>
            <a:r>
              <a:rPr lang="en-US" b="1" dirty="0" err="1">
                <a:latin typeface="Aptos" panose="020B0004020202020204" pitchFamily="34" charset="0"/>
              </a:rPr>
              <a:t>www.dei.unipd.it</a:t>
            </a:r>
            <a:r>
              <a:rPr lang="en-US" b="1" dirty="0">
                <a:latin typeface="Aptos" panose="020B0004020202020204" pitchFamily="34" charset="0"/>
              </a:rPr>
              <a:t>/</a:t>
            </a:r>
            <a:r>
              <a:rPr lang="en-US" b="1" dirty="0" err="1">
                <a:latin typeface="Aptos" panose="020B0004020202020204" pitchFamily="34" charset="0"/>
              </a:rPr>
              <a:t>index.html</a:t>
            </a:r>
            <a:endParaRPr lang="en-US" b="1" dirty="0">
              <a:latin typeface="Aptos" panose="020B0004020202020204" pitchFamily="34" charset="0"/>
            </a:endParaRPr>
          </a:p>
          <a:p>
            <a:r>
              <a:rPr lang="en-US" dirty="0">
                <a:latin typeface="Aptos" panose="020B0004020202020204" pitchFamily="34" charset="0"/>
              </a:rPr>
              <a:t>The browser determines the linked URL (by seeing what was selected).</a:t>
            </a:r>
          </a:p>
          <a:p>
            <a:r>
              <a:rPr lang="en-US" dirty="0">
                <a:latin typeface="Aptos" panose="020B0004020202020204" pitchFamily="34" charset="0"/>
              </a:rPr>
              <a:t>The browser asks to the DNS resolver the IP address of the server </a:t>
            </a:r>
            <a:r>
              <a:rPr lang="en-US" i="1" dirty="0">
                <a:latin typeface="Aptos" panose="020B0004020202020204" pitchFamily="34" charset="0"/>
              </a:rPr>
              <a:t>www.dei.unipd.it</a:t>
            </a:r>
          </a:p>
          <a:p>
            <a:r>
              <a:rPr lang="en-US" dirty="0">
                <a:latin typeface="Aptos" panose="020B0004020202020204" pitchFamily="34" charset="0"/>
              </a:rPr>
              <a:t>The resolver replies with 147.162.2.199.</a:t>
            </a:r>
          </a:p>
          <a:p>
            <a:r>
              <a:rPr lang="en-US" dirty="0">
                <a:latin typeface="Aptos" panose="020B0004020202020204" pitchFamily="34" charset="0"/>
              </a:rPr>
              <a:t>The browser makes a TCP connection to 147.162.2.199 on port 80 (port for HTTP).</a:t>
            </a:r>
          </a:p>
          <a:p>
            <a:r>
              <a:rPr lang="en-US" dirty="0">
                <a:latin typeface="Aptos" panose="020B0004020202020204" pitchFamily="34" charset="0"/>
              </a:rPr>
              <a:t>It sends over an HTTP request asking for the page </a:t>
            </a:r>
            <a:r>
              <a:rPr lang="en-US" i="1" dirty="0">
                <a:latin typeface="Aptos" panose="020B0004020202020204" pitchFamily="34" charset="0"/>
              </a:rPr>
              <a:t>/</a:t>
            </a:r>
            <a:r>
              <a:rPr lang="en-US" i="1" dirty="0" err="1">
                <a:latin typeface="Aptos" panose="020B0004020202020204" pitchFamily="34" charset="0"/>
              </a:rPr>
              <a:t>index.html</a:t>
            </a:r>
            <a:r>
              <a:rPr lang="en-US" dirty="0">
                <a:latin typeface="Aptos" panose="020B0004020202020204" pitchFamily="34" charset="0"/>
              </a:rPr>
              <a:t>.</a:t>
            </a:r>
          </a:p>
          <a:p>
            <a:r>
              <a:rPr lang="en-US" dirty="0">
                <a:latin typeface="Aptos" panose="020B0004020202020204" pitchFamily="34" charset="0"/>
              </a:rPr>
              <a:t>The server </a:t>
            </a:r>
            <a:r>
              <a:rPr lang="en-US" i="1" dirty="0">
                <a:latin typeface="Aptos" panose="020B0004020202020204" pitchFamily="34" charset="0"/>
              </a:rPr>
              <a:t>www.dei.unipd.it </a:t>
            </a:r>
            <a:r>
              <a:rPr lang="en-US" dirty="0">
                <a:latin typeface="Aptos" panose="020B0004020202020204" pitchFamily="34" charset="0"/>
              </a:rPr>
              <a:t>sends the page </a:t>
            </a:r>
            <a:r>
              <a:rPr lang="en-US" i="1" dirty="0">
                <a:latin typeface="Aptos" panose="020B0004020202020204" pitchFamily="34" charset="0"/>
              </a:rPr>
              <a:t>/</a:t>
            </a:r>
            <a:r>
              <a:rPr lang="en-US" i="1" dirty="0" err="1">
                <a:latin typeface="Aptos" panose="020B0004020202020204" pitchFamily="34" charset="0"/>
              </a:rPr>
              <a:t>index.html</a:t>
            </a:r>
            <a:r>
              <a:rPr lang="en-US" i="1" dirty="0">
                <a:latin typeface="Aptos" panose="020B0004020202020204" pitchFamily="34" charset="0"/>
              </a:rPr>
              <a:t> </a:t>
            </a:r>
            <a:r>
              <a:rPr lang="en-US" dirty="0">
                <a:latin typeface="Aptos" panose="020B0004020202020204" pitchFamily="34" charset="0"/>
              </a:rPr>
              <a:t>as an HTTP response.</a:t>
            </a:r>
          </a:p>
          <a:p>
            <a:r>
              <a:rPr lang="en-US" dirty="0">
                <a:latin typeface="Aptos" panose="020B0004020202020204" pitchFamily="34" charset="0"/>
              </a:rPr>
              <a:t>If the page includes URLs that are needed for display, the browser fetches the other URLs using the same process.</a:t>
            </a:r>
          </a:p>
          <a:p>
            <a:r>
              <a:rPr lang="en-US" dirty="0">
                <a:latin typeface="Aptos" panose="020B0004020202020204" pitchFamily="34" charset="0"/>
              </a:rPr>
              <a:t>The browser displays the page. </a:t>
            </a:r>
          </a:p>
          <a:p>
            <a:r>
              <a:rPr lang="en-US" dirty="0">
                <a:latin typeface="Aptos" panose="020B0004020202020204" pitchFamily="34" charset="0"/>
              </a:rPr>
              <a:t>The TCP connection with </a:t>
            </a:r>
            <a:r>
              <a:rPr lang="en-US" i="1" dirty="0">
                <a:latin typeface="Aptos" panose="020B0004020202020204" pitchFamily="34" charset="0"/>
              </a:rPr>
              <a:t>www.dei.unipd.it </a:t>
            </a:r>
            <a:r>
              <a:rPr lang="en-US" dirty="0">
                <a:latin typeface="Aptos" panose="020B0004020202020204" pitchFamily="34" charset="0"/>
              </a:rPr>
              <a:t>is closed if there are no other requests for the same server for a short period.  </a:t>
            </a:r>
          </a:p>
          <a:p>
            <a:endParaRPr lang="en-GB" dirty="0">
              <a:latin typeface="Aptos" panose="020B0004020202020204" pitchFamily="34" charset="0"/>
            </a:endParaRPr>
          </a:p>
          <a:p>
            <a:pPr marL="0" indent="0">
              <a:buNone/>
            </a:pPr>
            <a:endParaRPr lang="en-GB" dirty="0">
              <a:latin typeface="Aptos" panose="020B0004020202020204" pitchFamily="34" charset="0"/>
            </a:endParaRPr>
          </a:p>
          <a:p>
            <a:endParaRPr lang="it-IT"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28</a:t>
            </a:fld>
            <a:endParaRPr lang="en-GB">
              <a:latin typeface="Aptos" panose="020B0004020202020204" pitchFamily="34" charset="0"/>
            </a:endParaRPr>
          </a:p>
        </p:txBody>
      </p:sp>
    </p:spTree>
    <p:extLst>
      <p:ext uri="{BB962C8B-B14F-4D97-AF65-F5344CB8AC3E}">
        <p14:creationId xmlns:p14="http://schemas.microsoft.com/office/powerpoint/2010/main" val="2388728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Browsing</a:t>
            </a:r>
            <a:r>
              <a:rPr lang="it-IT" dirty="0">
                <a:latin typeface="Aptos" panose="020B0004020202020204" pitchFamily="34" charset="0"/>
              </a:rPr>
              <a:t> – The server side</a:t>
            </a:r>
            <a:endParaRPr lang="en-GB" dirty="0">
              <a:latin typeface="Aptos" panose="020B0004020202020204" pitchFamily="34" charset="0"/>
            </a:endParaRPr>
          </a:p>
        </p:txBody>
      </p:sp>
      <p:sp>
        <p:nvSpPr>
          <p:cNvPr id="3" name="Segnaposto contenuto 2"/>
          <p:cNvSpPr>
            <a:spLocks noGrp="1"/>
          </p:cNvSpPr>
          <p:nvPr>
            <p:ph idx="1"/>
          </p:nvPr>
        </p:nvSpPr>
        <p:spPr>
          <a:xfrm>
            <a:off x="428172" y="1361167"/>
            <a:ext cx="11368314" cy="5246667"/>
          </a:xfrm>
        </p:spPr>
        <p:txBody>
          <a:bodyPr>
            <a:normAutofit/>
          </a:bodyPr>
          <a:lstStyle/>
          <a:p>
            <a:pPr marL="0" indent="0">
              <a:buNone/>
            </a:pPr>
            <a:r>
              <a:rPr lang="en-US" dirty="0">
                <a:latin typeface="Aptos" panose="020B0004020202020204" pitchFamily="34" charset="0"/>
              </a:rPr>
              <a:t>When the client sends a connection request to a server, the server:</a:t>
            </a:r>
          </a:p>
          <a:p>
            <a:r>
              <a:rPr lang="en-US" dirty="0">
                <a:latin typeface="Aptos" panose="020B0004020202020204" pitchFamily="34" charset="0"/>
              </a:rPr>
              <a:t>Accepts a TCP connection from a client (a browser).</a:t>
            </a:r>
          </a:p>
          <a:p>
            <a:r>
              <a:rPr lang="en-US" dirty="0">
                <a:latin typeface="Aptos" panose="020B0004020202020204" pitchFamily="34" charset="0"/>
              </a:rPr>
              <a:t>Resolves the name of the Web page requested (some incoming paths may contain build-in shortcuts that need to be parsed, e.g., empty file names to be expanded to a default file name). </a:t>
            </a:r>
          </a:p>
          <a:p>
            <a:r>
              <a:rPr lang="en-US" dirty="0">
                <a:latin typeface="Aptos" panose="020B0004020202020204" pitchFamily="34" charset="0"/>
              </a:rPr>
              <a:t>Performs access control on the Web page </a:t>
            </a:r>
            <a:r>
              <a:rPr lang="en-US" dirty="0">
                <a:latin typeface="Aptos" panose="020B0004020202020204" pitchFamily="34" charset="0"/>
                <a:sym typeface="Wingdings" panose="05000000000000000000" pitchFamily="2" charset="2"/>
              </a:rPr>
              <a:t></a:t>
            </a:r>
            <a:r>
              <a:rPr lang="en-US" dirty="0">
                <a:latin typeface="Aptos" panose="020B0004020202020204" pitchFamily="34" charset="0"/>
              </a:rPr>
              <a:t> checking access restrictions for the requested page. </a:t>
            </a:r>
          </a:p>
          <a:p>
            <a:r>
              <a:rPr lang="en-US" dirty="0">
                <a:latin typeface="Aptos" panose="020B0004020202020204" pitchFamily="34" charset="0"/>
              </a:rPr>
              <a:t>Fetches the requested page from disk or run a program to build it.</a:t>
            </a:r>
          </a:p>
          <a:p>
            <a:r>
              <a:rPr lang="en-US" dirty="0">
                <a:latin typeface="Aptos" panose="020B0004020202020204" pitchFamily="34" charset="0"/>
              </a:rPr>
              <a:t>Returns the response to the client. </a:t>
            </a:r>
          </a:p>
          <a:p>
            <a:r>
              <a:rPr lang="en-US" dirty="0">
                <a:latin typeface="Aptos" panose="020B0004020202020204" pitchFamily="34" charset="0"/>
              </a:rPr>
              <a:t>Makes an entry in the server log for administrative purposes. </a:t>
            </a:r>
          </a:p>
          <a:p>
            <a:pPr marL="0" indent="0">
              <a:buNone/>
            </a:pPr>
            <a:r>
              <a:rPr lang="en-US" dirty="0">
                <a:latin typeface="Aptos" panose="020B0004020202020204" pitchFamily="34" charset="0"/>
              </a:rPr>
              <a:t>To increase performance, a single TCP connection may be used by a client and server for multiple page fetches.</a:t>
            </a:r>
          </a:p>
          <a:p>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29</a:t>
            </a:fld>
            <a:endParaRPr lang="en-GB">
              <a:latin typeface="Aptos" panose="020B0004020202020204" pitchFamily="34" charset="0"/>
            </a:endParaRPr>
          </a:p>
        </p:txBody>
      </p:sp>
    </p:spTree>
    <p:extLst>
      <p:ext uri="{BB962C8B-B14F-4D97-AF65-F5344CB8AC3E}">
        <p14:creationId xmlns:p14="http://schemas.microsoft.com/office/powerpoint/2010/main" val="2558802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E89F-B9A3-3D02-754C-E50E8599E5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A0DABC-810F-DA4F-4AF9-D5A677B2AF46}"/>
              </a:ext>
            </a:extLst>
          </p:cNvPr>
          <p:cNvSpPr>
            <a:spLocks noGrp="1"/>
          </p:cNvSpPr>
          <p:nvPr>
            <p:ph type="title"/>
          </p:nvPr>
        </p:nvSpPr>
        <p:spPr/>
        <p:txBody>
          <a:bodyPr/>
          <a:lstStyle/>
          <a:p>
            <a:r>
              <a:rPr lang="it-IT" dirty="0" err="1">
                <a:latin typeface="Aptos" panose="020B0004020202020204" pitchFamily="34" charset="0"/>
              </a:rPr>
              <a:t>References</a:t>
            </a:r>
            <a:endParaRPr lang="it-IT" dirty="0">
              <a:latin typeface="Aptos" panose="020B0004020202020204" pitchFamily="34" charset="0"/>
            </a:endParaRPr>
          </a:p>
        </p:txBody>
      </p:sp>
      <p:sp>
        <p:nvSpPr>
          <p:cNvPr id="3" name="Segnaposto contenuto 2">
            <a:extLst>
              <a:ext uri="{FF2B5EF4-FFF2-40B4-BE49-F238E27FC236}">
                <a16:creationId xmlns:a16="http://schemas.microsoft.com/office/drawing/2014/main" id="{1E12B103-9FC0-1920-B60E-36BE844C7005}"/>
              </a:ext>
            </a:extLst>
          </p:cNvPr>
          <p:cNvSpPr>
            <a:spLocks noGrp="1"/>
          </p:cNvSpPr>
          <p:nvPr>
            <p:ph idx="1"/>
          </p:nvPr>
        </p:nvSpPr>
        <p:spPr/>
        <p:txBody>
          <a:bodyPr/>
          <a:lstStyle/>
          <a:p>
            <a:r>
              <a:rPr lang="it-IT" dirty="0" err="1">
                <a:latin typeface="Aptos" panose="020B0004020202020204" pitchFamily="34" charset="0"/>
              </a:rPr>
              <a:t>Tanenbaum</a:t>
            </a:r>
            <a:r>
              <a:rPr lang="it-IT" dirty="0">
                <a:latin typeface="Aptos" panose="020B0004020202020204" pitchFamily="34" charset="0"/>
              </a:rPr>
              <a:t>, </a:t>
            </a:r>
            <a:r>
              <a:rPr lang="it-IT" dirty="0" err="1">
                <a:latin typeface="Aptos" panose="020B0004020202020204" pitchFamily="34" charset="0"/>
              </a:rPr>
              <a:t>Wetherall</a:t>
            </a:r>
            <a:r>
              <a:rPr lang="it-IT" dirty="0">
                <a:latin typeface="Aptos" panose="020B0004020202020204" pitchFamily="34" charset="0"/>
              </a:rPr>
              <a:t> – Computer Networks – Fifth Edition</a:t>
            </a:r>
          </a:p>
          <a:p>
            <a:pPr lvl="1"/>
            <a:r>
              <a:rPr lang="it-IT" dirty="0" err="1">
                <a:latin typeface="Aptos" panose="020B0004020202020204" pitchFamily="34" charset="0"/>
              </a:rPr>
              <a:t>Chapter</a:t>
            </a:r>
            <a:r>
              <a:rPr lang="it-IT" dirty="0">
                <a:latin typeface="Aptos" panose="020B0004020202020204" pitchFamily="34" charset="0"/>
              </a:rPr>
              <a:t> 1 – </a:t>
            </a:r>
            <a:r>
              <a:rPr lang="it-IT" dirty="0" err="1">
                <a:latin typeface="Aptos" panose="020B0004020202020204" pitchFamily="34" charset="0"/>
              </a:rPr>
              <a:t>Introduction</a:t>
            </a:r>
            <a:endParaRPr lang="it-IT" dirty="0">
              <a:latin typeface="Aptos" panose="020B0004020202020204" pitchFamily="34" charset="0"/>
            </a:endParaRPr>
          </a:p>
          <a:p>
            <a:pPr lvl="1"/>
            <a:r>
              <a:rPr lang="it-IT" dirty="0" err="1">
                <a:latin typeface="Aptos" panose="020B0004020202020204" pitchFamily="34" charset="0"/>
              </a:rPr>
              <a:t>Chapter</a:t>
            </a:r>
            <a:r>
              <a:rPr lang="it-IT" dirty="0">
                <a:latin typeface="Aptos" panose="020B0004020202020204" pitchFamily="34" charset="0"/>
              </a:rPr>
              <a:t> 7 – The </a:t>
            </a:r>
            <a:r>
              <a:rPr lang="it-IT" dirty="0" err="1">
                <a:latin typeface="Aptos" panose="020B0004020202020204" pitchFamily="34" charset="0"/>
              </a:rPr>
              <a:t>application</a:t>
            </a:r>
            <a:r>
              <a:rPr lang="it-IT" dirty="0">
                <a:latin typeface="Aptos" panose="020B0004020202020204" pitchFamily="34" charset="0"/>
              </a:rPr>
              <a:t> </a:t>
            </a:r>
            <a:r>
              <a:rPr lang="it-IT" dirty="0" err="1">
                <a:latin typeface="Aptos" panose="020B0004020202020204" pitchFamily="34" charset="0"/>
              </a:rPr>
              <a:t>layer</a:t>
            </a:r>
            <a:r>
              <a:rPr lang="it-IT" dirty="0">
                <a:latin typeface="Aptos" panose="020B0004020202020204" pitchFamily="34" charset="0"/>
              </a:rPr>
              <a:t> </a:t>
            </a:r>
          </a:p>
          <a:p>
            <a:endParaRPr lang="it-IT" dirty="0">
              <a:latin typeface="Aptos" panose="020B0004020202020204" pitchFamily="34" charset="0"/>
            </a:endParaRPr>
          </a:p>
        </p:txBody>
      </p:sp>
      <p:sp>
        <p:nvSpPr>
          <p:cNvPr id="4" name="Segnaposto numero diapositiva 3">
            <a:extLst>
              <a:ext uri="{FF2B5EF4-FFF2-40B4-BE49-F238E27FC236}">
                <a16:creationId xmlns:a16="http://schemas.microsoft.com/office/drawing/2014/main" id="{B41B9853-564A-6BE5-D47A-51D4A09D5D0F}"/>
              </a:ext>
            </a:extLst>
          </p:cNvPr>
          <p:cNvSpPr>
            <a:spLocks noGrp="1"/>
          </p:cNvSpPr>
          <p:nvPr>
            <p:ph type="sldNum" sz="quarter" idx="12"/>
          </p:nvPr>
        </p:nvSpPr>
        <p:spPr/>
        <p:txBody>
          <a:bodyPr/>
          <a:lstStyle/>
          <a:p>
            <a:fld id="{31DE2C5B-556E-47B8-A792-024C2FCA4ACC}" type="slidenum">
              <a:rPr lang="en-GB" smtClean="0">
                <a:latin typeface="Aptos" panose="020B0004020202020204" pitchFamily="34" charset="0"/>
              </a:rPr>
              <a:t>30</a:t>
            </a:fld>
            <a:endParaRPr lang="en-GB">
              <a:latin typeface="Aptos" panose="020B0004020202020204" pitchFamily="34" charset="0"/>
            </a:endParaRPr>
          </a:p>
        </p:txBody>
      </p:sp>
    </p:spTree>
    <p:extLst>
      <p:ext uri="{BB962C8B-B14F-4D97-AF65-F5344CB8AC3E}">
        <p14:creationId xmlns:p14="http://schemas.microsoft.com/office/powerpoint/2010/main" val="371048431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TotalTime>
  <Words>2814</Words>
  <Application>Microsoft Macintosh PowerPoint</Application>
  <PresentationFormat>Widescreen</PresentationFormat>
  <Paragraphs>280</Paragraphs>
  <Slides>30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Arial</vt:lpstr>
      <vt:lpstr>Calibri</vt:lpstr>
      <vt:lpstr>Courier New</vt:lpstr>
      <vt:lpstr>Palatino Linotype</vt:lpstr>
      <vt:lpstr>Times New Roman</vt:lpstr>
      <vt:lpstr>Wingdings</vt:lpstr>
      <vt:lpstr>Tema di Office</vt:lpstr>
      <vt:lpstr>PowerPoint Presentation</vt:lpstr>
      <vt:lpstr>Computer networks</vt:lpstr>
      <vt:lpstr>Types of computer networks by their extention</vt:lpstr>
      <vt:lpstr>Client-server model</vt:lpstr>
      <vt:lpstr>Peer-to-peer model</vt:lpstr>
      <vt:lpstr>Network software: protocol hierarchies</vt:lpstr>
      <vt:lpstr>Network software: protocol hierarchies</vt:lpstr>
      <vt:lpstr>Network software: protocol hierarchies</vt:lpstr>
      <vt:lpstr>Example of network architecture</vt:lpstr>
      <vt:lpstr>Services and primitives</vt:lpstr>
      <vt:lpstr>Connection-oriented vs connectionless services</vt:lpstr>
      <vt:lpstr>Reliable vs. unrealiable services</vt:lpstr>
      <vt:lpstr>Protocol vs. service</vt:lpstr>
      <vt:lpstr>The TCP/IP reference model</vt:lpstr>
      <vt:lpstr>The TCP/IP reference model</vt:lpstr>
      <vt:lpstr>The TCP/IP reference model</vt:lpstr>
      <vt:lpstr>The TCP/IP reference model</vt:lpstr>
      <vt:lpstr>The TCP/IP reference model</vt:lpstr>
      <vt:lpstr>The TCP/IP reference model</vt:lpstr>
      <vt:lpstr>World Wide Web</vt:lpstr>
      <vt:lpstr>Architectural overview</vt:lpstr>
      <vt:lpstr>Architectural overview</vt:lpstr>
      <vt:lpstr>The server structure</vt:lpstr>
      <vt:lpstr>HyperText Markup Language (HTML)</vt:lpstr>
      <vt:lpstr>The client side</vt:lpstr>
      <vt:lpstr>Domain Name Space (DNS)</vt:lpstr>
      <vt:lpstr>The DNS database</vt:lpstr>
      <vt:lpstr>Browsing - the client side</vt:lpstr>
      <vt:lpstr>Browsing – The server side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323</cp:revision>
  <dcterms:created xsi:type="dcterms:W3CDTF">2021-07-19T09:08:13Z</dcterms:created>
  <dcterms:modified xsi:type="dcterms:W3CDTF">2025-03-11T15:14:31Z</dcterms:modified>
</cp:coreProperties>
</file>